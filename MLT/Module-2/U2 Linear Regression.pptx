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Inter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GpUuuJwUQ1ESRZQK3bkmzMKWJ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11" Type="http://schemas.openxmlformats.org/officeDocument/2006/relationships/slide" Target="slides/slide7.xml"/><Relationship Id="rId22" Type="http://schemas.openxmlformats.org/officeDocument/2006/relationships/font" Target="fonts/Inter-italic.fntdata"/><Relationship Id="rId10" Type="http://schemas.openxmlformats.org/officeDocument/2006/relationships/slide" Target="slides/slide6.xml"/><Relationship Id="rId21" Type="http://schemas.openxmlformats.org/officeDocument/2006/relationships/font" Target="fonts/Inter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1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vmlDrawing" Target="../drawings/vmlDrawing1.vml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oleObject" Target="../embeddings/oleObject1.bin"/><Relationship Id="rId7" Type="http://schemas.openxmlformats.org/officeDocument/2006/relationships/oleObject" Target="../embeddings/oleObject1.bin"/><Relationship Id="rId8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/>
              <a:t>Module II Supervised and Unsupervised Learning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864076"/>
            <a:ext cx="9144000" cy="13937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>
                <a:solidFill>
                  <a:srgbClr val="FF0000"/>
                </a:solidFill>
              </a:rPr>
              <a:t>Linear Regression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Linear Regression </a:t>
            </a:r>
            <a:endParaRPr b="1"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Linear Regression is a supervised learning algorithm that is used to model the relationship between a dependent variable and an independent variable.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algorithm finds the best fit straightline relationship (linear equation) between the two variables.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This statistical method is then used to predict the outcome of future events and is quite useful for predictive analysis.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Ex:determine the salary of a person based on the number of years of work experience they have.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Linear Regression Importance</a:t>
            </a:r>
            <a:br>
              <a:rPr b="1" lang="en-US"/>
            </a:br>
            <a:endParaRPr b="1"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starting point for machine learning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helps in predictive analysis 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computationally efficient making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Real-World Applications of Linear Regression</a:t>
            </a:r>
            <a:br>
              <a:rPr b="1" lang="en-US"/>
            </a:br>
            <a:endParaRPr b="1"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real estate, the algorithm can help you predict house prices based on the size of the house, number of bedrooms, location, and access to other facilities.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marketing, linear regression used to predict the sales volume based on seasonal shifts, past purchasing trends advertising costs, etc.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Linear Regression 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Linear regression makes predictions for continuous/real or numeric variables such as sales, salary, age, product price, etc.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Linear regression algorithm shows a linear relationship between a dependent (y) and one or more independent (y) variables, hence called as linear regression.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linear regression shows the linear relationship, which means it finds how the value of the dependent variable is changing according to the value of the independent variable.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linear regression model provides a sloped straight line representing the relationship between the variables.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Contd.,</a:t>
            </a:r>
            <a:endParaRPr/>
          </a:p>
        </p:txBody>
      </p:sp>
      <p:pic>
        <p:nvPicPr>
          <p:cNvPr id="115" name="Google Shape;115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136" y="2585883"/>
            <a:ext cx="8288594" cy="311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 txBox="1"/>
          <p:nvPr/>
        </p:nvSpPr>
        <p:spPr>
          <a:xfrm>
            <a:off x="838199" y="1849764"/>
            <a:ext cx="95446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3838"/>
                </a:solidFill>
                <a:latin typeface="Inter"/>
                <a:ea typeface="Inter"/>
                <a:cs typeface="Inter"/>
                <a:sym typeface="Inter"/>
              </a:rPr>
              <a:t>The graph below presents the linear relationship between the output(y) and predictor(X) variables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linear regression as</a:t>
            </a:r>
            <a:r>
              <a:rPr lang="en-US">
                <a:solidFill>
                  <a:srgbClr val="FF0000"/>
                </a:solidFill>
              </a:rPr>
              <a:t>: y= a0+a1x+ ε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Here, Y= Dependent Variable (Target Variable)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X= Independent Variable (predictor Variable)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a0= intercept of the line (Gives an additional degree of freedom)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a1 = Linear regression coefficient (scale factor to each input value).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ε = random error The values for x and y variables are training datasets for Linear Regression model representation.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Types of Linear Regression</a:t>
            </a:r>
            <a:endParaRPr b="1"/>
          </a:p>
        </p:txBody>
      </p:sp>
      <p:sp>
        <p:nvSpPr>
          <p:cNvPr id="128" name="Google Shape;128;p8"/>
          <p:cNvSpPr txBox="1"/>
          <p:nvPr>
            <p:ph idx="1" type="body"/>
          </p:nvPr>
        </p:nvSpPr>
        <p:spPr>
          <a:xfrm>
            <a:off x="838200" y="1514168"/>
            <a:ext cx="10515600" cy="466279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21" r="0" t="-209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Objective of Linear Regression</a:t>
            </a:r>
            <a:br>
              <a:rPr b="1" lang="en-US"/>
            </a:br>
            <a:endParaRPr/>
          </a:p>
        </p:txBody>
      </p:sp>
      <p:sp>
        <p:nvSpPr>
          <p:cNvPr id="134" name="Google Shape;134;p9"/>
          <p:cNvSpPr txBox="1"/>
          <p:nvPr>
            <p:ph idx="1" type="body"/>
          </p:nvPr>
        </p:nvSpPr>
        <p:spPr>
          <a:xfrm>
            <a:off x="975852" y="1117703"/>
            <a:ext cx="10515600" cy="53751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To find the </a:t>
            </a:r>
            <a:r>
              <a:rPr b="1" lang="en-US"/>
              <a:t>best-fit line</a:t>
            </a:r>
            <a:r>
              <a:rPr lang="en-US"/>
              <a:t> that minimizes the </a:t>
            </a:r>
            <a:r>
              <a:rPr b="1" lang="en-US"/>
              <a:t>difference between actual and predicted values</a:t>
            </a:r>
            <a:r>
              <a:rPr lang="en-US"/>
              <a:t>.</a:t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Linear Regression Line </a:t>
            </a:r>
            <a:r>
              <a:rPr lang="en-US"/>
              <a:t>A linear line showing the relationship between the dependent and independent variables is called a regression line. </a:t>
            </a:r>
            <a:r>
              <a:rPr b="1" lang="en-US"/>
              <a:t>Positive Linear Relationship</a:t>
            </a:r>
            <a:r>
              <a:rPr lang="en-US"/>
              <a:t>Negative Linear Relationship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br>
              <a:rPr lang="en-US"/>
            </a:b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is achieved by minimizing the </a:t>
            </a:r>
            <a:r>
              <a:rPr b="1" lang="en-US"/>
              <a:t>cost function</a:t>
            </a:r>
            <a:r>
              <a:rPr lang="en-US"/>
              <a:t>.</a:t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35" name="Google Shape;13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626" y="2907240"/>
            <a:ext cx="5277587" cy="2715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3213" y="2615381"/>
            <a:ext cx="5023180" cy="3006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Cost function-</a:t>
            </a:r>
            <a:endParaRPr/>
          </a:p>
        </p:txBody>
      </p:sp>
      <p:sp>
        <p:nvSpPr>
          <p:cNvPr id="142" name="Google Shape;142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Cost function optimizes the regression coefficients or weights. It measures how a linear regression model is performing.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most commonly used cost function is </a:t>
            </a:r>
            <a:r>
              <a:rPr b="1" lang="en-US"/>
              <a:t>Mean Squared Error (MSE)</a:t>
            </a:r>
            <a:r>
              <a:rPr lang="en-US"/>
              <a:t>: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Penalizes large errors more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Forms a convex curve → single global minimum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43" name="Google Shape;1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0031" y="3107772"/>
            <a:ext cx="6468378" cy="203863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Google Shape;144;p10"/>
          <p:cNvCxnSpPr/>
          <p:nvPr/>
        </p:nvCxnSpPr>
        <p:spPr>
          <a:xfrm>
            <a:off x="8347587" y="3107772"/>
            <a:ext cx="0" cy="726809"/>
          </a:xfrm>
          <a:prstGeom prst="straightConnector1">
            <a:avLst/>
          </a:prstGeom>
          <a:noFill/>
          <a:ln cap="flat" cmpd="sng" w="571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Gradient Descent </a:t>
            </a:r>
            <a:endParaRPr/>
          </a:p>
        </p:txBody>
      </p:sp>
      <p:sp>
        <p:nvSpPr>
          <p:cNvPr id="150" name="Google Shape;150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Gradient Descent is an </a:t>
            </a:r>
            <a:r>
              <a:rPr b="1" lang="en-US"/>
              <a:t>optimization technique</a:t>
            </a:r>
            <a:r>
              <a:rPr lang="en-US"/>
              <a:t> used to </a:t>
            </a:r>
            <a:r>
              <a:rPr b="1" lang="en-US"/>
              <a:t>minimize the Mean Squared Error (MSE)</a:t>
            </a:r>
            <a:r>
              <a:rPr lang="en-US"/>
              <a:t> of a regression model.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works by computing the </a:t>
            </a:r>
            <a:r>
              <a:rPr b="1" lang="en-US"/>
              <a:t>gradient (slope)</a:t>
            </a:r>
            <a:r>
              <a:rPr lang="en-US"/>
              <a:t> of the cost function.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regression model </a:t>
            </a:r>
            <a:r>
              <a:rPr b="1" lang="en-US"/>
              <a:t>updates the line parameters (slope and intercept)</a:t>
            </a:r>
            <a:r>
              <a:rPr lang="en-US"/>
              <a:t> in the direction that reduces the error.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algorithm </a:t>
            </a:r>
            <a:r>
              <a:rPr b="1" lang="en-US"/>
              <a:t>starts with randomly chosen coefficient values</a:t>
            </a:r>
            <a:r>
              <a:rPr lang="en-US"/>
              <a:t> and repeatedly updates them.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iterative process continues until the </a:t>
            </a:r>
            <a:r>
              <a:rPr b="1" lang="en-US"/>
              <a:t>minimum error (lowest cost)</a:t>
            </a:r>
            <a:r>
              <a:rPr lang="en-US"/>
              <a:t> is reached.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Example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house price prediction, gradient descent gradually adjusts the regression line so that the </a:t>
            </a:r>
            <a:r>
              <a:rPr b="1" lang="en-US"/>
              <a:t>difference between predicted and actual house prices becomes minimum</a:t>
            </a:r>
            <a:r>
              <a:rPr lang="en-US"/>
              <a:t>.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Gradient Descent </a:t>
            </a:r>
            <a:endParaRPr/>
          </a:p>
        </p:txBody>
      </p:sp>
      <p:pic>
        <p:nvPicPr>
          <p:cNvPr id="156" name="Google Shape;156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6891" y="1690688"/>
            <a:ext cx="9916909" cy="146375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2"/>
          <p:cNvSpPr txBox="1"/>
          <p:nvPr/>
        </p:nvSpPr>
        <p:spPr>
          <a:xfrm>
            <a:off x="2153263" y="3741345"/>
            <a:ext cx="7561007" cy="147732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783" l="-643" r="0" t="-247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Model Performance</a:t>
            </a:r>
            <a:br>
              <a:rPr b="1" lang="en-US"/>
            </a:br>
            <a:endParaRPr/>
          </a:p>
        </p:txBody>
      </p:sp>
      <p:sp>
        <p:nvSpPr>
          <p:cNvPr id="163" name="Google Shape;163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Model performance indicates </a:t>
            </a:r>
            <a:r>
              <a:rPr b="1" lang="en-US"/>
              <a:t>how well the regression line fits the given data points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good model produces predictions that are </a:t>
            </a:r>
            <a:r>
              <a:rPr b="1" lang="en-US"/>
              <a:t>very close to actual values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Selecting the best model from several possible models is called </a:t>
            </a:r>
            <a:r>
              <a:rPr b="1" lang="en-US"/>
              <a:t>optimization</a:t>
            </a:r>
            <a:r>
              <a:rPr lang="en-US"/>
              <a:t>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Optimization Using R-Squared Method</a:t>
            </a:r>
            <a:br>
              <a:rPr b="1" lang="en-US"/>
            </a:br>
            <a:r>
              <a:rPr b="1" lang="en-US"/>
              <a:t>R-Squared (R²) Method</a:t>
            </a:r>
            <a:br>
              <a:rPr b="1" lang="en-US"/>
            </a:br>
            <a:endParaRPr/>
          </a:p>
        </p:txBody>
      </p:sp>
      <p:sp>
        <p:nvSpPr>
          <p:cNvPr id="169" name="Google Shape;169;p14"/>
          <p:cNvSpPr txBox="1"/>
          <p:nvPr>
            <p:ph idx="1" type="body"/>
          </p:nvPr>
        </p:nvSpPr>
        <p:spPr>
          <a:xfrm>
            <a:off x="838200" y="1363509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R-squared is a </a:t>
            </a:r>
            <a:r>
              <a:rPr b="1" lang="en-US"/>
              <a:t>statistical measure</a:t>
            </a:r>
            <a:r>
              <a:rPr lang="en-US"/>
              <a:t> used to evaluate the </a:t>
            </a:r>
            <a:r>
              <a:rPr b="1" lang="en-US"/>
              <a:t>goodness of fit</a:t>
            </a:r>
            <a:r>
              <a:rPr lang="en-US"/>
              <a:t> of a regression model.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indicates how strongly the </a:t>
            </a:r>
            <a:r>
              <a:rPr b="1" lang="en-US"/>
              <a:t>independent variables influence the dependent variable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value of R² lies between </a:t>
            </a:r>
            <a:r>
              <a:rPr b="1" lang="en-US"/>
              <a:t>0 and 1</a:t>
            </a:r>
            <a:r>
              <a:rPr lang="en-US"/>
              <a:t> (or </a:t>
            </a:r>
            <a:r>
              <a:rPr b="1" lang="en-US"/>
              <a:t>0% to 100%</a:t>
            </a:r>
            <a:r>
              <a:rPr lang="en-US"/>
              <a:t>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</a:t>
            </a:r>
            <a:r>
              <a:rPr b="1" lang="en-US"/>
              <a:t>higher R² value</a:t>
            </a:r>
            <a:r>
              <a:rPr lang="en-US"/>
              <a:t> means the model explains more variation in the output.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Interpretation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R² = 0.90 (90%)</a:t>
            </a:r>
            <a:r>
              <a:rPr lang="en-US"/>
              <a:t> → The model explains 90% of the variation → </a:t>
            </a:r>
            <a:r>
              <a:rPr b="1" lang="en-US"/>
              <a:t>Very good fit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R² = 0.30 (30%)</a:t>
            </a:r>
            <a:r>
              <a:rPr lang="en-US"/>
              <a:t> → Poor explanation → </a:t>
            </a:r>
            <a:r>
              <a:rPr b="1" lang="en-US"/>
              <a:t>Weak model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70" name="Google Shape;17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7795" y="5494491"/>
            <a:ext cx="5039428" cy="819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5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1861" y="999879"/>
            <a:ext cx="7068536" cy="1676634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5"/>
          <p:cNvSpPr txBox="1"/>
          <p:nvPr/>
        </p:nvSpPr>
        <p:spPr>
          <a:xfrm>
            <a:off x="2074607" y="2945846"/>
            <a:ext cx="6096000" cy="183646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4318" l="-799" r="0" t="-165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177" name="Google Shape;177;p15"/>
          <p:cNvGraphicFramePr/>
          <p:nvPr/>
        </p:nvGraphicFramePr>
        <p:xfrm>
          <a:off x="3376716" y="5599358"/>
          <a:ext cx="4272781" cy="517525"/>
        </p:xfrm>
        <a:graphic>
          <a:graphicData uri="http://schemas.openxmlformats.org/presentationml/2006/ole">
            <mc:AlternateContent>
              <mc:Choice Requires="v">
                <p:oleObj r:id="rId6" imgH="517525" imgW="4272781" progId="Package" spid="_x0000_s1">
                  <p:embed/>
                </p:oleObj>
              </mc:Choice>
              <mc:Fallback>
                <p:oleObj r:id="rId7" imgH="517525" imgW="4272781" progId="Package">
                  <p:embed/>
                  <p:pic>
                    <p:nvPicPr>
                      <p:cNvPr id="177" name="Google Shape;177;p15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376716" y="5599358"/>
                        <a:ext cx="4272781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" name="Google Shape;178;p15"/>
          <p:cNvSpPr txBox="1"/>
          <p:nvPr/>
        </p:nvSpPr>
        <p:spPr>
          <a:xfrm>
            <a:off x="1986116" y="5368413"/>
            <a:ext cx="15043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 code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2026-01-10T08:37:42Z</dcterms:created>
  <dc:creator>p keerthana</dc:creator>
</cp:coreProperties>
</file>