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23DC-ED22-0DC7-B841-8B7E0FE41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A9BB0-3EBC-0664-A1BD-E67781787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12110-83EC-2DFA-6703-457F02DE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5F87-F9A5-0D1F-3395-73D0C31F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4DC75-5142-3217-54AD-ADE32537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519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2803-17EA-319E-1CD2-37AD937E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40FA2-F553-651D-B288-699D259EF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B6E01-EB22-50D0-8657-8FFF6ED6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57B1A-C116-D67B-03FA-67C29EBF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C246-5868-7F68-9928-53875954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8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887AF-1BB1-0F2E-39B3-0DEB14CE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4A889-97B3-0D2A-A749-1CE0ACB67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D1545-1D49-5FB7-49BE-0E295EB8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40F4-B708-0581-6813-C2A49A83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0A9D2-3A0E-99E8-05D8-8924143E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5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E2F4-6C58-88F4-9E1E-7B3D8DD5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B6AF-EF4A-4AB0-CA61-AFD41AF6A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8A5C2-AC3A-366F-EA1D-1D4D219EA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7F66F-9790-3EF8-7A32-F7DF2C2D7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225-2DE0-BB81-167D-AEEBDF7F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2DA20-01E5-528A-A1CB-4033EDE3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71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08C0-A124-6E42-70B6-5D70FFC4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A5248-E6EA-378E-1E09-AC369917F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709F0-2E70-156E-6B84-022C6645B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975FC-2BBE-7FCE-7C5C-9802E51D6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887D9-95D6-5D2E-4C9C-A71B321B9D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A59C9D-2E2C-BE1B-E3DF-26838BC29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F9004-E39C-DA43-C6F0-C1BC4AF3A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87655-BB23-843F-2635-D69F3625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13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E8B8-3397-E0D7-7EFE-EFEFC99A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51CBA-1A4F-BD3F-25F5-56A2F947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EDFCF-2219-6F7C-1E1D-2FDD70672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9870D-F1C7-F2D4-84AA-B8907DA6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20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4536C-38D4-F3A9-B69E-F4550628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FC93A-6214-3F10-6A7E-D29A76244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E1385-C5DC-BA13-8B42-75669FC3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03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BE31-E3AF-7B00-BB53-D025FA30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D911F-EEDA-1034-02B4-0A8698E79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7F518-FC03-B72E-83F9-651E1AA1D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E4319-DFCE-C649-AEF9-506E6068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49373-C02E-5FAD-C7C0-DF8F7456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9E449-C343-D9BD-463B-8B3C39B7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0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6161-F666-A392-CBCA-0E7436C54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4EC0F3-1B48-3FAA-358D-4B22AD5DD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30950-B1E9-BC40-993E-BE259A9C6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AD632-C000-F6B8-B5B2-BFDF6345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59032-677D-0B26-84B9-092F6D1E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C499B-86CE-A9DE-DABE-B3ED1093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24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0D40-B007-676E-DB2E-F4F9984B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696695-E223-2EA3-A6BD-5CBCAB12E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851AB-7A45-06C7-1C6E-D631B21A6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19ED-D686-3DFC-C191-EE6C5AA8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5A12-F463-AE21-0543-D9D8F00A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9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106B4-9B14-F2F8-1E1E-981B5EE05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1C228-0D6C-EC60-3E8C-8067242E6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6EC9E-EF9A-AE70-32A3-CF032C71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FDD48-5B79-AFE2-4D89-9AD0A659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F11E6-8ADC-72C8-C6AE-A22CB86A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70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DCA0F9-31F5-20F3-1F48-83931641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CE312-8BFB-351B-DB20-C3F6BA3FD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E3632-8E55-88C7-C121-D49C52D75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148B6-ACCE-46A9-9AEE-3F66D518DEB3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3A15D-4B04-AF24-C59F-837979101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5E75-5AF8-7F90-B806-F74B6ECED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061DA-9215-4E65-AEF5-95169198B3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75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25738-709A-8D8D-1F0F-87E706812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20" y="4176405"/>
            <a:ext cx="9144000" cy="1081395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b="1" dirty="0"/>
              <a:t>Module II Supervised and Unsupervised Learning</a:t>
            </a:r>
            <a:br>
              <a:rPr lang="en-IN" sz="4400" dirty="0"/>
            </a:br>
            <a:br>
              <a:rPr lang="en-IN" sz="4400" dirty="0"/>
            </a:br>
            <a:r>
              <a:rPr lang="en-IN" sz="4000" dirty="0">
                <a:solidFill>
                  <a:srgbClr val="FF0000"/>
                </a:solidFill>
              </a:rPr>
              <a:t>Kernel Methods – Instance-Based Methods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59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2926B-71A4-DD92-6EEB-E6FCAF88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 for Kernel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54FC-D134-36D7-8767-A836D4E0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with Linear Models</a:t>
            </a:r>
          </a:p>
          <a:p>
            <a:r>
              <a:rPr lang="en-US" dirty="0"/>
              <a:t>Linear classifiers draw straight lines or planes</a:t>
            </a:r>
          </a:p>
          <a:p>
            <a:r>
              <a:rPr lang="en-US" dirty="0"/>
              <a:t>Fail when data has </a:t>
            </a:r>
            <a:r>
              <a:rPr lang="en-US" b="1" dirty="0"/>
              <a:t>non-linear patterns</a:t>
            </a:r>
          </a:p>
          <a:p>
            <a:endParaRPr lang="en-US" dirty="0"/>
          </a:p>
          <a:p>
            <a:r>
              <a:rPr lang="en-US" b="1" dirty="0"/>
              <a:t>Solution</a:t>
            </a:r>
          </a:p>
          <a:p>
            <a:r>
              <a:rPr lang="en-US" dirty="0"/>
              <a:t>Map data to a </a:t>
            </a:r>
            <a:r>
              <a:rPr lang="en-US" b="1" dirty="0"/>
              <a:t>higher-dimensional feature space</a:t>
            </a:r>
            <a:endParaRPr lang="en-US" dirty="0"/>
          </a:p>
          <a:p>
            <a:r>
              <a:rPr lang="en-US" dirty="0"/>
              <a:t>Make data </a:t>
            </a:r>
            <a:r>
              <a:rPr lang="en-US" b="1" dirty="0"/>
              <a:t>linearly separable</a:t>
            </a:r>
            <a:r>
              <a:rPr lang="en-US" dirty="0"/>
              <a:t> in that space</a:t>
            </a:r>
          </a:p>
          <a:p>
            <a:r>
              <a:rPr lang="en-US" dirty="0"/>
              <a:t>However, explicit transformation is computationally 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70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FEBE-FD9E-F0AD-6FE6-D83EBE963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Kernel Methods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151F8-F500-625D-5597-8747B9A97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8361"/>
                <a:ext cx="11127658" cy="490860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Kernel Methods</a:t>
                </a:r>
                <a:r>
                  <a:rPr lang="en-US" dirty="0"/>
                  <a:t> are techniques in machine learning that enable algorithms to learn </a:t>
                </a:r>
                <a:r>
                  <a:rPr lang="en-US" b="1" dirty="0"/>
                  <a:t>non-linear patterns</a:t>
                </a:r>
                <a:r>
                  <a:rPr lang="en-US" dirty="0"/>
                  <a:t> by implicitly mapping input data into a </a:t>
                </a:r>
                <a:r>
                  <a:rPr lang="en-US" b="1" dirty="0"/>
                  <a:t>higher-dimensional feature space</a:t>
                </a:r>
              </a:p>
              <a:p>
                <a:r>
                  <a:rPr lang="en-US" dirty="0"/>
                  <a:t>Kernel methods use a </a:t>
                </a:r>
                <a:r>
                  <a:rPr lang="en-US" b="1" dirty="0"/>
                  <a:t>kernel function</a:t>
                </a:r>
                <a:r>
                  <a:rPr lang="en-US" dirty="0"/>
                  <a:t> to calculate the inner product in the transformed space directly.</a:t>
                </a:r>
              </a:p>
              <a:p>
                <a:r>
                  <a:rPr lang="en-US" dirty="0"/>
                  <a:t>This approach is known as the </a:t>
                </a:r>
                <a:r>
                  <a:rPr lang="en-US" b="1" dirty="0"/>
                  <a:t>kernel trick</a:t>
                </a:r>
                <a:r>
                  <a:rPr lang="en-US" dirty="0"/>
                  <a:t>, which allows complex decision boundaries to be learned using linear algorithms, especially </a:t>
                </a:r>
                <a:r>
                  <a:rPr lang="en-US" b="1" dirty="0"/>
                  <a:t>Support Vector Machines (SVMs)</a:t>
                </a:r>
              </a:p>
              <a:p>
                <a:r>
                  <a:rPr lang="en-IN" dirty="0"/>
                  <a:t>kernel function replaces the dot product: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i="1"/>
                        <m:t>𝐾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  <m:e>
                          <m:r>
                            <a:rPr lang="ar-AE" i="1"/>
                            <m:t>𝑧</m:t>
                          </m:r>
                        </m:e>
                      </m:d>
                      <m:r>
                        <a:rPr lang="ar-AE"/>
                        <m:t>=</m:t>
                      </m:r>
                      <m:r>
                        <a:rPr lang="ar-AE" i="1"/>
                        <m:t>𝜙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  <m:r>
                        <a:rPr lang="ar-AE"/>
                        <m:t>⋅</m:t>
                      </m:r>
                      <m:r>
                        <a:rPr lang="ar-AE" i="1"/>
                        <m:t>𝜙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𝑧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457200" lvl="1" indent="0"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/>
                      <m:t>𝜙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is a feature mapping to a higher-dimensional space.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C151F8-F500-625D-5597-8747B9A97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8361"/>
                <a:ext cx="11127658" cy="4908602"/>
              </a:xfrm>
              <a:blipFill>
                <a:blip r:embed="rId2"/>
                <a:stretch>
                  <a:fillRect l="-986" t="-1988" r="-1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74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4FD3-DDAB-74C1-92AF-9A61B9AE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B2473-7370-B37D-F4C1-ECE3F2CCB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491328"/>
            <a:ext cx="10515600" cy="4535846"/>
          </a:xfrm>
        </p:spPr>
        <p:txBody>
          <a:bodyPr>
            <a:normAutofit/>
          </a:bodyPr>
          <a:lstStyle/>
          <a:p>
            <a:r>
              <a:rPr lang="en-US" dirty="0"/>
              <a:t>By using kernel functions, data that is </a:t>
            </a:r>
            <a:r>
              <a:rPr lang="en-US" b="1" dirty="0"/>
              <a:t>not linearly separable in the original space</a:t>
            </a:r>
            <a:r>
              <a:rPr lang="en-US" dirty="0"/>
              <a:t> becomes separable in the transformed space, enabling effective classification and regression.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44682-85B9-3B6C-7C24-450DA7C0F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0" y="2816891"/>
            <a:ext cx="6725264" cy="35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4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A369-A9B7-7A4C-4862-AFD3FF28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Kernel Methods in SVM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D3496-1B43-2820-EB57-5F65F5ABF0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In SVM classification:</a:t>
                </a:r>
              </a:p>
              <a:p>
                <a:pPr lvl="1"/>
                <a:r>
                  <a:rPr lang="en-IN" dirty="0"/>
                  <a:t>Decision boundary depends on </a:t>
                </a:r>
                <a:r>
                  <a:rPr lang="en-IN" b="1" dirty="0"/>
                  <a:t>dot products</a:t>
                </a:r>
                <a:endParaRPr lang="en-IN" dirty="0"/>
              </a:p>
              <a:p>
                <a:pPr lvl="1"/>
                <a:r>
                  <a:rPr lang="en-IN" dirty="0"/>
                  <a:t>Dot products are replaced with </a:t>
                </a:r>
                <a:r>
                  <a:rPr lang="en-IN" b="1" dirty="0"/>
                  <a:t>kernel functions</a:t>
                </a:r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𝑓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𝑥</m:t>
                          </m:r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∑"/>
                          <m:grow m:val="on"/>
                          <m:subHide m:val="on"/>
                          <m:supHide m:val="on"/>
                          <m:ctrlPr>
                            <a:rPr lang="ar-AE" i="1"/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𝛼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𝑦</m:t>
                          </m:r>
                        </m:e>
                        <m:sub>
                          <m:r>
                            <a:rPr lang="ar-AE" i="1"/>
                            <m:t>𝑖</m:t>
                          </m:r>
                        </m:sub>
                      </m:sSub>
                      <m:r>
                        <a:rPr lang="ar-AE" i="1"/>
                        <m:t>𝐾</m:t>
                      </m:r>
                      <m:d>
                        <m:dPr>
                          <m:sepChr m:val=","/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𝑥</m:t>
                              </m:r>
                            </m:e>
                            <m:sub>
                              <m:r>
                                <a:rPr lang="ar-AE" i="1"/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ar-AE" i="1"/>
                            <m:t>𝑥</m:t>
                          </m:r>
                        </m:e>
                      </m:d>
                      <m:r>
                        <a:rPr lang="ar-AE"/>
                        <m:t>+</m:t>
                      </m:r>
                      <m:r>
                        <a:rPr lang="ar-AE" i="1"/>
                        <m:t>𝑏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Thus, SVM becomes capable of </a:t>
                </a:r>
                <a:r>
                  <a:rPr lang="en-IN" b="1" dirty="0"/>
                  <a:t>non-linear classification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D3496-1B43-2820-EB57-5F65F5ABF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488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FE833-412B-42F0-89FB-71984ADF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Kernel Functions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54E44-9DDA-144D-E6AE-FF0EA3650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93809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v"/>
            </a:pPr>
            <a:r>
              <a:rPr lang="en-IN" b="1" dirty="0"/>
              <a:t>Linear Kernel-</a:t>
            </a:r>
            <a:r>
              <a:rPr lang="nn-NO" dirty="0"/>
              <a:t>K(x,x′)=x⋅x′</a:t>
            </a:r>
            <a:endParaRPr lang="en-IN" b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b="1" dirty="0"/>
              <a:t>Polynomial Kernel-</a:t>
            </a:r>
            <a:r>
              <a:rPr lang="nn-NO" dirty="0"/>
              <a:t>K(x,x′)=(x⋅x′+c)d</a:t>
            </a:r>
          </a:p>
          <a:p>
            <a:pPr marL="457200" lvl="1" indent="0">
              <a:buNone/>
            </a:pPr>
            <a:r>
              <a:rPr lang="nn-NO" dirty="0"/>
              <a:t>				(</a:t>
            </a:r>
            <a:r>
              <a:rPr lang="en-IN" dirty="0"/>
              <a:t>d = degree of polynomial)</a:t>
            </a:r>
            <a:endParaRPr lang="en-IN" b="1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b="1" dirty="0"/>
              <a:t>Radial Basis Function (RBF) Kernel</a:t>
            </a:r>
            <a:r>
              <a:rPr lang="en-IN" dirty="0"/>
              <a:t> -K(</a:t>
            </a:r>
            <a:r>
              <a:rPr lang="en-IN" dirty="0" err="1"/>
              <a:t>x,x</a:t>
            </a:r>
            <a:r>
              <a:rPr lang="en-IN" dirty="0"/>
              <a:t>′)=exp(−</a:t>
            </a:r>
            <a:r>
              <a:rPr lang="el-GR" dirty="0"/>
              <a:t>γ∣∣</a:t>
            </a:r>
            <a:r>
              <a:rPr lang="en-IN" dirty="0"/>
              <a:t>x−x′∣∣2)</a:t>
            </a:r>
          </a:p>
          <a:p>
            <a:pPr marL="457200" lvl="1" indent="0">
              <a:buNone/>
            </a:pPr>
            <a:r>
              <a:rPr lang="en-IN" dirty="0"/>
              <a:t>				</a:t>
            </a:r>
            <a:r>
              <a:rPr lang="en-US" dirty="0"/>
              <a:t>γ controls influence of points</a:t>
            </a:r>
            <a:endParaRPr lang="en-IN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IN" b="1" dirty="0"/>
              <a:t>Sigmoid Kernel-</a:t>
            </a:r>
            <a:r>
              <a:rPr lang="en-IN" dirty="0"/>
              <a:t>K(</a:t>
            </a:r>
            <a:r>
              <a:rPr lang="en-IN" dirty="0" err="1"/>
              <a:t>x,x</a:t>
            </a:r>
            <a:r>
              <a:rPr lang="en-IN" dirty="0"/>
              <a:t>′)=tanh(</a:t>
            </a:r>
            <a:r>
              <a:rPr lang="el-GR" dirty="0"/>
              <a:t>α</a:t>
            </a:r>
            <a:r>
              <a:rPr lang="en-IN" dirty="0" err="1"/>
              <a:t>x⋅x</a:t>
            </a:r>
            <a:r>
              <a:rPr lang="en-IN" dirty="0"/>
              <a:t>′+c)</a:t>
            </a:r>
            <a:endParaRPr lang="en-US" dirty="0"/>
          </a:p>
          <a:p>
            <a:r>
              <a:rPr lang="en-US" dirty="0"/>
              <a:t>These kernels allow algorithms like Support Vector Machines (SVM) to perform classification and regression tasks in a high-dimensional space efficiently.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43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15165-6087-471C-B86D-B50F85F6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Kernel Methods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A30B-9D8A-293F-B761-E9DF9005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Kernel SVM</a:t>
            </a:r>
          </a:p>
          <a:p>
            <a:r>
              <a:rPr lang="en-IN" dirty="0"/>
              <a:t>Kernel Ridge Regression</a:t>
            </a:r>
          </a:p>
          <a:p>
            <a:r>
              <a:rPr lang="en-IN" dirty="0"/>
              <a:t>Kernel PCA</a:t>
            </a:r>
          </a:p>
          <a:p>
            <a:r>
              <a:rPr lang="en-IN" dirty="0"/>
              <a:t>Gaussian Process Regression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91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62C5-51F3-C870-562B-7A6E6BD5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Kernel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C483-61E1-E776-05AE-CDF1802F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computational cost for large datasets</a:t>
            </a:r>
          </a:p>
          <a:p>
            <a:r>
              <a:rPr lang="en-US" dirty="0"/>
              <a:t>Kernel and parameter selection is challenging</a:t>
            </a:r>
          </a:p>
          <a:p>
            <a:r>
              <a:rPr lang="en-US" dirty="0"/>
              <a:t>Less interpretable than linear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6983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B61F-2888-19E3-996B-32D27785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 of Kernel Methods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3800-C5AF-B2D9-515F-32BEB5880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</a:p>
          <a:p>
            <a:r>
              <a:rPr lang="en-US" dirty="0"/>
              <a:t>Text categorization</a:t>
            </a:r>
          </a:p>
          <a:p>
            <a:r>
              <a:rPr lang="en-US" dirty="0"/>
              <a:t>Bioinformatics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Pattern recognition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35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447A-2059-CD78-18DD-1FF618EE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Instance-Based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EB79-A499-8D11-1E43-0D8B481ED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Instance-Based Learning</a:t>
            </a:r>
            <a:r>
              <a:rPr lang="en-US" dirty="0"/>
              <a:t> stores training examples instead of building an explicit global model.</a:t>
            </a:r>
          </a:p>
          <a:p>
            <a:r>
              <a:rPr lang="en-US" dirty="0"/>
              <a:t>Also known as </a:t>
            </a:r>
            <a:r>
              <a:rPr lang="en-US" b="1" dirty="0"/>
              <a:t>lazy learning</a:t>
            </a:r>
            <a:r>
              <a:rPr lang="en-US" dirty="0"/>
              <a:t>, they make predictions by finding similar instances in the training data.</a:t>
            </a:r>
          </a:p>
          <a:p>
            <a:r>
              <a:rPr lang="en-US" b="1" dirty="0"/>
              <a:t>Key Characteristics</a:t>
            </a:r>
          </a:p>
          <a:p>
            <a:pPr lvl="1"/>
            <a:r>
              <a:rPr lang="en-US" dirty="0"/>
              <a:t>Store all training data</a:t>
            </a:r>
          </a:p>
          <a:p>
            <a:pPr lvl="1"/>
            <a:r>
              <a:rPr lang="en-US" dirty="0"/>
              <a:t>No explicit training phase</a:t>
            </a:r>
          </a:p>
          <a:p>
            <a:pPr lvl="1"/>
            <a:r>
              <a:rPr lang="en-US" dirty="0"/>
              <a:t>Local approximation</a:t>
            </a:r>
          </a:p>
          <a:p>
            <a:pPr lvl="1"/>
            <a:r>
              <a:rPr lang="en-US" dirty="0"/>
              <a:t>Computationally intensive at prediction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79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E0E13-2068-6E3A-DF61-F8A50FB8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Cont.,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FE0815-D7DC-67C4-59D4-471A4F95BA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2"/>
            <a:ext cx="991829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are made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approximations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rather than a single global hypothesis.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query instance may result in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approximation of the target function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Instance-based methods are effective when the target function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 but locally simple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methods assume instances can be represented as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in a Euclidean space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456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D781-CB6F-D107-1DF7-99D31D57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instance-based techniques include: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89B98-7447-C22E-4FA6-2D1A88B1F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Nearest Neighbor</a:t>
            </a:r>
            <a:endParaRPr lang="en-US" dirty="0"/>
          </a:p>
          <a:p>
            <a:r>
              <a:rPr lang="en-US" b="1" dirty="0"/>
              <a:t>k-Nearest Neighbor</a:t>
            </a:r>
            <a:endParaRPr lang="en-US" dirty="0"/>
          </a:p>
          <a:p>
            <a:r>
              <a:rPr lang="en-US" b="1" dirty="0"/>
              <a:t>Locally Weighted Regression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58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F561-CB0F-8766-130E-41F485516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K-Nearest </a:t>
            </a:r>
            <a:r>
              <a:rPr lang="en-IN" b="1" dirty="0" err="1"/>
              <a:t>Neighbors</a:t>
            </a:r>
            <a:r>
              <a:rPr lang="en-IN" b="1" dirty="0"/>
              <a:t> (KNN)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51733-79CE-4C20-3D6A-C1DBD7401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most popular instance-based method classifies new data points based on the majority class of their K nearest neighbors.</a:t>
            </a:r>
          </a:p>
          <a:p>
            <a:r>
              <a:rPr lang="en-US" b="1" dirty="0"/>
              <a:t>Store Training Data</a:t>
            </a:r>
          </a:p>
          <a:p>
            <a:pPr lvl="1"/>
            <a:r>
              <a:rPr lang="en-US" dirty="0"/>
              <a:t>Keep all labeled examples in memory</a:t>
            </a:r>
          </a:p>
          <a:p>
            <a:r>
              <a:rPr lang="en-US" b="1" dirty="0"/>
              <a:t>Calculate Distance</a:t>
            </a:r>
          </a:p>
          <a:p>
            <a:pPr lvl="1"/>
            <a:r>
              <a:rPr lang="en-US" dirty="0"/>
              <a:t>Measure similarity to all stored instances</a:t>
            </a:r>
          </a:p>
          <a:p>
            <a:r>
              <a:rPr lang="en-US" b="1" dirty="0"/>
              <a:t>Find K Neighbors</a:t>
            </a:r>
          </a:p>
          <a:p>
            <a:pPr lvl="1"/>
            <a:r>
              <a:rPr lang="en-US" dirty="0"/>
              <a:t>Identify the K closest training examples</a:t>
            </a:r>
          </a:p>
          <a:p>
            <a:r>
              <a:rPr lang="en-US" b="1" dirty="0"/>
              <a:t>Vote &amp; Classify</a:t>
            </a:r>
          </a:p>
          <a:p>
            <a:pPr lvl="1"/>
            <a:r>
              <a:rPr lang="en-US" dirty="0"/>
              <a:t>Assign class based on majority vote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4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948A-C62E-247A-638C-2029E01B5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Distance Metrics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188DF-9CBB-D7C4-C79A-AD4F5410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1422503"/>
            <a:ext cx="10515600" cy="4351338"/>
          </a:xfrm>
        </p:spPr>
        <p:txBody>
          <a:bodyPr/>
          <a:lstStyle/>
          <a:p>
            <a:r>
              <a:rPr lang="en-US" dirty="0"/>
              <a:t>Instance-based methods rely on distance functions to measure similarity between data points.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2EDB6-B746-732F-FF4A-CB4B35D0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22"/>
          <a:stretch>
            <a:fillRect/>
          </a:stretch>
        </p:blipFill>
        <p:spPr>
          <a:xfrm>
            <a:off x="350773" y="2648763"/>
            <a:ext cx="11841227" cy="34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98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CD43-19C2-180B-A023-13A872F9B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36CE93-3924-E583-6195-212728293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1880" y="365124"/>
            <a:ext cx="10511257" cy="549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3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0801-5E17-BB6F-9E07-95F0D270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Advanced Variations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F2AD-0BCA-0AF1-7E74-3DAFFD22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Weighted KNN</a:t>
            </a:r>
          </a:p>
          <a:p>
            <a:pPr lvl="1"/>
            <a:r>
              <a:rPr lang="en-US" dirty="0"/>
              <a:t>Assigns higher importance to closer neighbors using distance-based weights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Radius-Based</a:t>
            </a:r>
          </a:p>
          <a:p>
            <a:pPr lvl="1"/>
            <a:r>
              <a:rPr lang="en-US" dirty="0"/>
              <a:t>Considers all neighbors within a fixed radius instead of K nearest</a:t>
            </a:r>
          </a:p>
          <a:p>
            <a:r>
              <a:rPr lang="en-US" b="1" dirty="0"/>
              <a:t>Condensed KNN</a:t>
            </a:r>
          </a:p>
          <a:p>
            <a:pPr lvl="1"/>
            <a:r>
              <a:rPr lang="en-US" dirty="0"/>
              <a:t>Reduces storage by keeping only boundary instances that affect classification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E84448-2CED-FDC6-7CDE-B0AA91088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017" y="2741443"/>
            <a:ext cx="214342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3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C5CC-1C89-BB06-7C91-433231A2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Case-Based Reasoning (CBR)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C0411-0A5D-F132-015A-97614AC79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approaches use </a:t>
            </a:r>
            <a:r>
              <a:rPr lang="en-US" b="1" dirty="0"/>
              <a:t>symbolic representations</a:t>
            </a:r>
            <a:r>
              <a:rPr lang="en-US" dirty="0"/>
              <a:t>, known as </a:t>
            </a:r>
            <a:r>
              <a:rPr lang="en-US" b="1" dirty="0"/>
              <a:t>Case-Based Reasoning (CBR)</a:t>
            </a:r>
            <a:r>
              <a:rPr lang="en-US" dirty="0"/>
              <a:t>.</a:t>
            </a:r>
          </a:p>
          <a:p>
            <a:r>
              <a:rPr lang="en-US" dirty="0"/>
              <a:t>Case-based reasoning reuses </a:t>
            </a:r>
            <a:r>
              <a:rPr lang="en-US" b="1" dirty="0"/>
              <a:t>previously solved cases</a:t>
            </a:r>
            <a:r>
              <a:rPr lang="en-US" dirty="0"/>
              <a:t> to solve new problems.</a:t>
            </a:r>
          </a:p>
          <a:p>
            <a:r>
              <a:rPr lang="en-US" dirty="0"/>
              <a:t>Applications of case-based reasoning include:</a:t>
            </a:r>
          </a:p>
          <a:p>
            <a:pPr lvl="1"/>
            <a:r>
              <a:rPr lang="en-US" dirty="0"/>
              <a:t>Help-desk support systems</a:t>
            </a:r>
          </a:p>
          <a:p>
            <a:pPr lvl="1"/>
            <a:r>
              <a:rPr lang="en-US" dirty="0"/>
              <a:t>Legal reasoning using past cases</a:t>
            </a:r>
          </a:p>
          <a:p>
            <a:pPr lvl="1"/>
            <a:r>
              <a:rPr lang="en-US" dirty="0"/>
              <a:t>Scheduling and planning problems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98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679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     Module II Supervised and Unsupervised Learning  Kernel Methods – Instance-Based Methods </vt:lpstr>
      <vt:lpstr>Need for Kernel Methods </vt:lpstr>
      <vt:lpstr>Kernel Methods</vt:lpstr>
      <vt:lpstr>Cont.,</vt:lpstr>
      <vt:lpstr>Kernel Methods in SVM</vt:lpstr>
      <vt:lpstr>Common Kernel Functions </vt:lpstr>
      <vt:lpstr>Types of Kernel Methods </vt:lpstr>
      <vt:lpstr>Limitations of Kernel Methods </vt:lpstr>
      <vt:lpstr>Applications of Kernel Methods </vt:lpstr>
      <vt:lpstr>Instance-Based Methods</vt:lpstr>
      <vt:lpstr>Cont.,</vt:lpstr>
      <vt:lpstr>Common instance-based techniques include: </vt:lpstr>
      <vt:lpstr>K-Nearest Neighbors (KNN) </vt:lpstr>
      <vt:lpstr>Distance Metrics </vt:lpstr>
      <vt:lpstr>PowerPoint Presentation</vt:lpstr>
      <vt:lpstr>Advanced Variations </vt:lpstr>
      <vt:lpstr>Case-Based Reasoning (CBR).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keerthana</dc:creator>
  <cp:lastModifiedBy>p keerthana</cp:lastModifiedBy>
  <cp:revision>44</cp:revision>
  <dcterms:created xsi:type="dcterms:W3CDTF">2026-01-11T09:59:06Z</dcterms:created>
  <dcterms:modified xsi:type="dcterms:W3CDTF">2026-01-11T10:54:41Z</dcterms:modified>
</cp:coreProperties>
</file>