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0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E2306-28B4-6CF1-C392-5FFB5827AA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53342E-FC33-8415-48E7-AABE0CB60B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47CADC-2626-0CDA-7128-2A13CE2BC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F3765-6DBA-4CF3-B8E2-86281AAD2619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9D619C-5F03-EC32-CDBD-748C02181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F343BF-A0AA-12FF-A474-105801F9B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4539F-6AF2-4FEB-BBB5-F6CB7AF85B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46428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3B6DD-3912-1AD1-F186-15F870AE2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2438FA-5579-0613-E1A1-FEA104B1E5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47911B-F301-1DB0-2B5C-EC42AB72A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F3765-6DBA-4CF3-B8E2-86281AAD2619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8130A8-D951-09F1-1C5C-D4C07DD5D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7CAE00-C61A-DAD6-28A5-9550DF948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4539F-6AF2-4FEB-BBB5-F6CB7AF85B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67983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23504-1F2C-8C9B-0AE0-834539CC4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81464D-4F82-0305-CCC7-D719F73529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DB6C28-9025-F9E3-1131-04F1F7292D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F3765-6DBA-4CF3-B8E2-86281AAD2619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85383C-DE9F-3A2E-5B41-6AB6C71D7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9F7780-00AE-D649-158B-8F36674B5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4539F-6AF2-4FEB-BBB5-F6CB7AF85B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64870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DF362-E477-2B27-1E68-DFCB111C4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F42194-0949-3229-DDB8-F197A5D610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9B52F3-FC3B-6AAD-1A66-D7656C9BB4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6C086F-EB24-F141-FB28-AE8EDC7E9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F3765-6DBA-4CF3-B8E2-86281AAD2619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21C636-BBD9-BA84-292B-996BEC2E61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57E861-1379-D05D-DFD0-6DCD90991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4539F-6AF2-4FEB-BBB5-F6CB7AF85B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4919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3F80A-A130-F444-9702-357770FA2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DE02FD-B0FD-74DB-1343-28B4D31FEF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862FE1-3678-4410-B4AF-358D21592A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00CF30-6DE9-CC1B-D8F4-7996E32915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064960-0862-752A-F0B9-FA204E3F5B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8772EF-A5A1-43D0-2807-79DFA474F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F3765-6DBA-4CF3-B8E2-86281AAD2619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5F3D91-7C21-9584-9AFA-3298859A7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2384787-CE2E-9D05-F1B3-034BED5D3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4539F-6AF2-4FEB-BBB5-F6CB7AF85B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14166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FFA58-2438-435B-C275-CD8D64996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3D40CA-2FB0-7E61-D362-2C19B97B1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F3765-6DBA-4CF3-B8E2-86281AAD2619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EF8C92-B978-7A45-A2B4-55890A6F0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7FAE5B-778A-AC26-CE4B-3C3189E29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4539F-6AF2-4FEB-BBB5-F6CB7AF85B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49514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81A297-BE57-3FCD-CD60-A8925231B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F3765-6DBA-4CF3-B8E2-86281AAD2619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0A3A5C-AE75-4279-5C74-A7CA602F9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3328CE-22B0-4FE9-ED13-7E40D87A9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4539F-6AF2-4FEB-BBB5-F6CB7AF85B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68516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0EF39-BB51-B03A-E86B-00D424CB1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CB58B7-D3D1-95FC-56AB-E7B49E47F6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4D1B4C-C387-87D5-C513-E44B4AA9A7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C0C50E-1AEE-A933-5D92-EF0CC830D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F3765-6DBA-4CF3-B8E2-86281AAD2619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9ED2D7-6D7D-04DA-F0E1-9BC0CEE4A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08D540-FC0E-1FF6-8224-83DE87CD2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4539F-6AF2-4FEB-BBB5-F6CB7AF85B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4155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85923-8BE0-C42F-496C-C3DD9018D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AE5EC67-943A-8DF5-7AC8-564FDAF02A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81D4DB-04E1-DDD2-F804-F905114755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7C30BF-063B-EC21-B268-C84818B24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F3765-6DBA-4CF3-B8E2-86281AAD2619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E27072-984F-D537-7EC2-7D5DE3898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4D52A4-8608-0D73-3702-0C876040C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4539F-6AF2-4FEB-BBB5-F6CB7AF85B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8798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EA3FE-B502-C703-CF72-CE1E3D955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44C8E4-C8C6-F058-2A2D-37EF98202C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9D2965-EDA7-35E2-5862-4667E3917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F3765-6DBA-4CF3-B8E2-86281AAD2619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513163-C0E4-150D-DBFF-C5F7DE76F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CEC50A-4C3B-5BE8-442F-70F3E7382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4539F-6AF2-4FEB-BBB5-F6CB7AF85B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20391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68C87B9-7018-1597-67B6-A1A5B2258A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6B5ACB-6DF2-545C-7BCA-B29D6308AE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563A57-933E-D08E-B2ED-88959AD6C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F3765-6DBA-4CF3-B8E2-86281AAD2619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ADA22B-DD10-76EA-9AC6-8A4F6E15E8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BDAB11-DEB8-4802-48C8-BC0613483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4539F-6AF2-4FEB-BBB5-F6CB7AF85B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65145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C00E056-8C48-1211-E39D-441D29546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38BACC-8D67-CD0E-7069-E8AA27E5C4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41C6DD-AB5B-188A-16C2-128247434F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FF3765-6DBA-4CF3-B8E2-86281AAD2619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EA69AA-2599-11AA-6C84-A1777838B0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B7C265-1C50-3E37-B539-69F4F14221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54539F-6AF2-4FEB-BBB5-F6CB7AF85B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1376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AF37A-3DBB-184C-46D6-2B5376354A0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/>
              <a:t>Module II Supervised and Unsupervised Learning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D5CF0B-2D1C-0029-1561-5AFB67A9B4E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Tree-Based Methods</a:t>
            </a:r>
          </a:p>
        </p:txBody>
      </p:sp>
    </p:spTree>
    <p:extLst>
      <p:ext uri="{BB962C8B-B14F-4D97-AF65-F5344CB8AC3E}">
        <p14:creationId xmlns:p14="http://schemas.microsoft.com/office/powerpoint/2010/main" val="10161830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5992A-B70C-DB5D-CAB8-E0D531CD4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Tree-Based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2567CF-9F59-EB9B-0A86-47E09C0088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Tree-Based Methods</a:t>
            </a:r>
            <a:r>
              <a:rPr lang="en-US" dirty="0"/>
              <a:t> are </a:t>
            </a:r>
            <a:r>
              <a:rPr lang="en-US" b="1" dirty="0"/>
              <a:t>supervised learning algorithms</a:t>
            </a:r>
            <a:r>
              <a:rPr lang="en-US" dirty="0"/>
              <a:t> that perform classification by </a:t>
            </a:r>
            <a:r>
              <a:rPr lang="en-US" b="1" dirty="0"/>
              <a:t>recursively splitting the dataset</a:t>
            </a:r>
            <a:r>
              <a:rPr lang="en-US" dirty="0"/>
              <a:t> into subsets based on feature values.</a:t>
            </a:r>
          </a:p>
          <a:p>
            <a:r>
              <a:rPr lang="en-US" dirty="0"/>
              <a:t>The model is represented in the form of a </a:t>
            </a:r>
            <a:r>
              <a:rPr lang="en-US" b="1" dirty="0"/>
              <a:t>decision tree</a:t>
            </a:r>
            <a:r>
              <a:rPr lang="en-US" dirty="0"/>
              <a:t>, where internal nodes represent decisions, branches represent outcomes, and leaf nodes represent class labels.</a:t>
            </a:r>
          </a:p>
          <a:p>
            <a:r>
              <a:rPr lang="en-US" dirty="0"/>
              <a:t>These methods excel at capturing non-linear relationships and interactions between features without requiring explicit feature engineering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87405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D817F-CE72-B1E4-B3AB-755A9C679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Decision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D11C33-533C-7552-4C93-0F46699270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Decision Tree</a:t>
            </a:r>
            <a:r>
              <a:rPr lang="en-IN" dirty="0"/>
              <a:t> is a flowchart-like structure used for classification:</a:t>
            </a:r>
          </a:p>
          <a:p>
            <a:r>
              <a:rPr lang="en-IN" b="1" dirty="0"/>
              <a:t>Root node</a:t>
            </a:r>
            <a:r>
              <a:rPr lang="en-IN" dirty="0"/>
              <a:t> → represents the entire dataset</a:t>
            </a:r>
          </a:p>
          <a:p>
            <a:r>
              <a:rPr lang="en-IN" b="1" dirty="0"/>
              <a:t>Internal nodes</a:t>
            </a:r>
            <a:r>
              <a:rPr lang="en-IN" dirty="0"/>
              <a:t> → represent feature tests</a:t>
            </a:r>
          </a:p>
          <a:p>
            <a:r>
              <a:rPr lang="en-IN" b="1" dirty="0"/>
              <a:t>Branches</a:t>
            </a:r>
            <a:r>
              <a:rPr lang="en-IN" dirty="0"/>
              <a:t> → outcomes of tests</a:t>
            </a:r>
          </a:p>
          <a:p>
            <a:r>
              <a:rPr lang="en-IN" b="1" dirty="0"/>
              <a:t>Leaf nodes</a:t>
            </a:r>
            <a:r>
              <a:rPr lang="en-IN" dirty="0"/>
              <a:t> → predicted class labels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E6F2DC-B46A-8D85-C2CE-3FC1090662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8884" y="3038167"/>
            <a:ext cx="4529562" cy="3559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4857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D04A0-0C2C-45B0-052A-75DB0E9B3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Working Principle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55B568-7858-2603-C185-9E7F360DA6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0046" y="1127535"/>
            <a:ext cx="10515600" cy="4351338"/>
          </a:xfrm>
        </p:spPr>
        <p:txBody>
          <a:bodyPr/>
          <a:lstStyle/>
          <a:p>
            <a:r>
              <a:rPr lang="en-US" dirty="0"/>
              <a:t>Select the best feature to split the data</a:t>
            </a:r>
          </a:p>
          <a:p>
            <a:r>
              <a:rPr lang="en-US" dirty="0"/>
              <a:t>Split the dataset into subsets</a:t>
            </a:r>
          </a:p>
          <a:p>
            <a:r>
              <a:rPr lang="en-US" dirty="0"/>
              <a:t>Repeat recursively for each subset</a:t>
            </a:r>
          </a:p>
          <a:p>
            <a:r>
              <a:rPr lang="en-US" dirty="0"/>
              <a:t>Stop when a stopping condition is met</a:t>
            </a:r>
          </a:p>
          <a:p>
            <a:r>
              <a:rPr lang="en-US" dirty="0"/>
              <a:t>Assign class labels at leaf nodes</a:t>
            </a:r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F731D83-4C93-3FF1-97A4-1F485AD194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3381" y="3303203"/>
            <a:ext cx="6218775" cy="3189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48265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A96D2-F1AD-8DE0-CA76-2F9AC92A1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Example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3578D6E-23ED-D12E-31CE-26E03B09E3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1380" y="1825625"/>
            <a:ext cx="1026241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0131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9E0F9-1FB7-2BB0-0A1C-E4F185875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Attribute Selection Measures</a:t>
            </a:r>
            <a:br>
              <a:rPr lang="en-IN" b="1" dirty="0"/>
            </a:b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DD6219-EE9A-14E3-8502-5D3A056E0D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8038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To choose the best split, decision trees use </a:t>
            </a:r>
            <a:r>
              <a:rPr lang="en-US" b="1" dirty="0"/>
              <a:t>impurity measures</a:t>
            </a:r>
            <a:r>
              <a:rPr lang="en-US" dirty="0"/>
              <a:t>:</a:t>
            </a:r>
          </a:p>
          <a:p>
            <a:r>
              <a:rPr lang="en-US" b="1" dirty="0"/>
              <a:t>Information Gain (ID3)</a:t>
            </a:r>
          </a:p>
          <a:p>
            <a:pPr lvl="1"/>
            <a:r>
              <a:rPr lang="en-US" b="1" dirty="0"/>
              <a:t>Based on Entropy</a:t>
            </a:r>
          </a:p>
          <a:p>
            <a:pPr lvl="2"/>
            <a:r>
              <a:rPr lang="en-IN" dirty="0"/>
              <a:t>Measures impurity or randomness:</a:t>
            </a:r>
          </a:p>
          <a:p>
            <a:pPr lvl="1"/>
            <a:endParaRPr lang="en-US" b="1" dirty="0"/>
          </a:p>
          <a:p>
            <a:pPr marL="457200" lvl="1" indent="0">
              <a:buNone/>
            </a:pPr>
            <a:endParaRPr lang="en-US" b="1" dirty="0"/>
          </a:p>
          <a:p>
            <a:pPr lvl="1"/>
            <a:r>
              <a:rPr lang="en-US" b="1" dirty="0"/>
              <a:t>Information Gain</a:t>
            </a:r>
          </a:p>
          <a:p>
            <a:pPr lvl="2"/>
            <a:r>
              <a:rPr lang="en-US" dirty="0"/>
              <a:t>Reduction in entropy after a split</a:t>
            </a:r>
          </a:p>
          <a:p>
            <a:pPr lvl="2"/>
            <a:endParaRPr lang="en-US" dirty="0"/>
          </a:p>
          <a:p>
            <a:pPr lvl="2"/>
            <a:endParaRPr lang="en-IN" b="1" dirty="0"/>
          </a:p>
          <a:p>
            <a:pPr lvl="2"/>
            <a:endParaRPr lang="en-IN" b="1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23D19E-83CB-D726-CC2E-74645B8D9CE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7974"/>
          <a:stretch>
            <a:fillRect/>
          </a:stretch>
        </p:blipFill>
        <p:spPr>
          <a:xfrm>
            <a:off x="2409268" y="2930938"/>
            <a:ext cx="7516274" cy="56307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D549D47-B6A0-7722-4293-CD03AEE84E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2743" y="4402598"/>
            <a:ext cx="6982799" cy="657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4797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B64BAC-272E-8437-6CA4-7B82793B3A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86581"/>
            <a:ext cx="10515600" cy="5390382"/>
          </a:xfrm>
        </p:spPr>
        <p:txBody>
          <a:bodyPr>
            <a:normAutofit fontScale="92500" lnSpcReduction="20000"/>
          </a:bodyPr>
          <a:lstStyle/>
          <a:p>
            <a:pPr lvl="1">
              <a:lnSpc>
                <a:spcPct val="110000"/>
              </a:lnSpc>
            </a:pPr>
            <a:r>
              <a:rPr lang="en-IN" sz="2800" b="1" dirty="0"/>
              <a:t>Mean Squared Error</a:t>
            </a:r>
          </a:p>
          <a:p>
            <a:pPr lvl="2"/>
            <a:r>
              <a:rPr lang="en-US" dirty="0"/>
              <a:t>Measures average squared difference between predicted and actual values.</a:t>
            </a:r>
          </a:p>
          <a:p>
            <a:pPr lvl="2"/>
            <a:endParaRPr lang="en-US" dirty="0"/>
          </a:p>
          <a:p>
            <a:pPr lvl="1"/>
            <a:endParaRPr lang="en-US" dirty="0"/>
          </a:p>
          <a:p>
            <a:pPr lvl="1"/>
            <a:endParaRPr lang="en-IN" b="1" dirty="0"/>
          </a:p>
          <a:p>
            <a:pPr lvl="1"/>
            <a:endParaRPr lang="en-IN" b="1" dirty="0"/>
          </a:p>
          <a:p>
            <a:pPr lvl="1"/>
            <a:endParaRPr lang="en-IN" b="1" dirty="0"/>
          </a:p>
          <a:p>
            <a:pPr lvl="1">
              <a:lnSpc>
                <a:spcPct val="110000"/>
              </a:lnSpc>
            </a:pPr>
            <a:r>
              <a:rPr lang="en-IN" sz="2800" b="1" dirty="0"/>
              <a:t>Gini Index (CART)</a:t>
            </a:r>
          </a:p>
          <a:p>
            <a:pPr lvl="2"/>
            <a:r>
              <a:rPr lang="en-US" dirty="0"/>
              <a:t>Measures the probability of incorrect classification:</a:t>
            </a:r>
          </a:p>
          <a:p>
            <a:pPr lvl="1"/>
            <a:endParaRPr lang="en-IN" dirty="0"/>
          </a:p>
          <a:p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r>
              <a:rPr lang="en-US" b="1" dirty="0"/>
              <a:t>Gain Ratio (C4.5)</a:t>
            </a:r>
          </a:p>
          <a:p>
            <a:pPr lvl="1"/>
            <a:r>
              <a:rPr lang="en-US" dirty="0"/>
              <a:t>Normalized Information Gain</a:t>
            </a:r>
          </a:p>
          <a:p>
            <a:pPr lvl="1"/>
            <a:r>
              <a:rPr lang="en-US" dirty="0"/>
              <a:t>Reduces bias toward multi-valued attributes</a:t>
            </a:r>
          </a:p>
          <a:p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E008D11-B8E6-A041-5D3D-B109445B6B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0335" y="1437775"/>
            <a:ext cx="3343742" cy="105742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53D8209-D025-2D09-03DD-337A3A8631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8977" y="3733721"/>
            <a:ext cx="2114845" cy="819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78017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3F55D-2819-BC19-E6AA-B6B91CED48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Popular Tree-Based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B3E625-45EC-B59D-49FD-BA9F2708D3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ID3 (Iterative </a:t>
            </a:r>
            <a:r>
              <a:rPr lang="en-US" b="1" dirty="0" err="1"/>
              <a:t>Dichotomiser</a:t>
            </a:r>
            <a:r>
              <a:rPr lang="en-US" b="1" dirty="0"/>
              <a:t> 3)</a:t>
            </a:r>
          </a:p>
          <a:p>
            <a:pPr lvl="1"/>
            <a:r>
              <a:rPr lang="en-US" dirty="0"/>
              <a:t>Uses </a:t>
            </a:r>
            <a:r>
              <a:rPr lang="en-US" b="1" dirty="0"/>
              <a:t>Information Gain</a:t>
            </a:r>
            <a:endParaRPr lang="en-US" dirty="0"/>
          </a:p>
          <a:p>
            <a:pPr lvl="1"/>
            <a:r>
              <a:rPr lang="en-US" dirty="0"/>
              <a:t>Works with categorical data</a:t>
            </a:r>
          </a:p>
          <a:p>
            <a:pPr lvl="1"/>
            <a:r>
              <a:rPr lang="en-US" dirty="0"/>
              <a:t>No pruning</a:t>
            </a:r>
            <a:endParaRPr lang="en-IN" dirty="0"/>
          </a:p>
          <a:p>
            <a:pPr lvl="1"/>
            <a:r>
              <a:rPr lang="en-US" dirty="0"/>
              <a:t>It builds trees by selecting attributes that best split the data based on information gain</a:t>
            </a:r>
          </a:p>
          <a:p>
            <a:pPr lvl="1"/>
            <a:r>
              <a:rPr lang="en-IN" b="1" dirty="0"/>
              <a:t>Mathematical Foundation</a:t>
            </a:r>
          </a:p>
          <a:p>
            <a:pPr lvl="2"/>
            <a:r>
              <a:rPr lang="en-IN" b="1" dirty="0"/>
              <a:t>Entropy</a:t>
            </a:r>
          </a:p>
          <a:p>
            <a:pPr lvl="2"/>
            <a:r>
              <a:rPr lang="en-IN" b="1" dirty="0"/>
              <a:t>Information Gain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85141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67A07-0C38-13CA-35B7-115555C60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How ID3 Works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EA7467-1636-1D76-FA8F-DA7F7851FE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b="1" dirty="0"/>
              <a:t>Calculate Entropy</a:t>
            </a:r>
          </a:p>
          <a:p>
            <a:pPr lvl="1"/>
            <a:r>
              <a:rPr lang="en-IN" dirty="0"/>
              <a:t>Compute entropy for the entire dataset to measure initial impurity</a:t>
            </a:r>
          </a:p>
          <a:p>
            <a:r>
              <a:rPr lang="en-IN" b="1" dirty="0"/>
              <a:t>Compute Information Gain</a:t>
            </a:r>
          </a:p>
          <a:p>
            <a:pPr lvl="1"/>
            <a:r>
              <a:rPr lang="en-IN" dirty="0"/>
              <a:t>Calculate information gain for each attribute to find best split</a:t>
            </a:r>
          </a:p>
          <a:p>
            <a:r>
              <a:rPr lang="en-IN" b="1" dirty="0"/>
              <a:t>Select Best Attribute</a:t>
            </a:r>
          </a:p>
          <a:p>
            <a:pPr lvl="1"/>
            <a:r>
              <a:rPr lang="en-IN" dirty="0"/>
              <a:t>Choose attribute with highest information gain as decision node</a:t>
            </a:r>
          </a:p>
          <a:p>
            <a:r>
              <a:rPr lang="en-IN" b="1" dirty="0"/>
              <a:t>Split Dataset</a:t>
            </a:r>
          </a:p>
          <a:p>
            <a:pPr lvl="1"/>
            <a:r>
              <a:rPr lang="en-IN" dirty="0"/>
              <a:t>Partition data based on selected attribute values</a:t>
            </a:r>
          </a:p>
          <a:p>
            <a:r>
              <a:rPr lang="en-IN" b="1" dirty="0"/>
              <a:t>Recurse</a:t>
            </a:r>
          </a:p>
          <a:p>
            <a:pPr lvl="1"/>
            <a:r>
              <a:rPr lang="en-IN" dirty="0"/>
              <a:t>Repeat process for each subset until pure nodes or stopping criteria met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409951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8CA7B-96DA-5E3D-D1A7-4D68DED40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ID3 Decision Tree Structure</a:t>
            </a:r>
            <a:br>
              <a:rPr lang="en-IN" b="1" dirty="0"/>
            </a:b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020A349-087A-F04B-877D-D8B37953C9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34490" y="1825625"/>
            <a:ext cx="912302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01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52AB2-9919-5171-ABD9-72A849C426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</a:t>
            </a:r>
            <a:r>
              <a:rPr lang="en-US" b="1" dirty="0">
                <a:effectLst/>
              </a:rPr>
              <a:t>imitations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BA022A-E8A6-FA3E-7CE2-C1B288B53B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Prone to overfitting</a:t>
            </a:r>
          </a:p>
          <a:p>
            <a:r>
              <a:rPr lang="en-US" dirty="0"/>
              <a:t>Only handles categorical data</a:t>
            </a:r>
          </a:p>
          <a:p>
            <a:r>
              <a:rPr lang="en-US" dirty="0"/>
              <a:t>Biased toward multi-valued attributes</a:t>
            </a:r>
          </a:p>
          <a:p>
            <a:r>
              <a:rPr lang="en-US" dirty="0"/>
              <a:t>Cannot handle missing values</a:t>
            </a:r>
          </a:p>
          <a:p>
            <a:r>
              <a:rPr lang="en-US" dirty="0"/>
              <a:t>Greedy algorithm (local optimum)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14040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CDFF9E-5857-F69B-642D-B03853D31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Real-Time Machine Learning Uses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AF2F9-A6A6-502A-4F4F-D7E62889B1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Medical Diagnosis</a:t>
            </a:r>
          </a:p>
          <a:p>
            <a:pPr lvl="1"/>
            <a:r>
              <a:rPr lang="en-IN" dirty="0"/>
              <a:t>Classifying diseases based on patient symptoms and test results</a:t>
            </a:r>
          </a:p>
          <a:p>
            <a:r>
              <a:rPr lang="en-IN" b="1" dirty="0"/>
              <a:t>Fraud Detection</a:t>
            </a:r>
          </a:p>
          <a:p>
            <a:pPr lvl="1"/>
            <a:r>
              <a:rPr lang="en-IN" dirty="0"/>
              <a:t>Identifying fraudulent transactions in real-time banking systems</a:t>
            </a:r>
          </a:p>
          <a:p>
            <a:r>
              <a:rPr lang="en-IN" b="1" dirty="0"/>
              <a:t>Customer Segmentation</a:t>
            </a:r>
          </a:p>
          <a:p>
            <a:pPr lvl="1"/>
            <a:r>
              <a:rPr lang="en-IN" dirty="0"/>
              <a:t>Categorizing customers for targeted marketing campaigns</a:t>
            </a:r>
          </a:p>
          <a:p>
            <a:r>
              <a:rPr lang="en-IN" b="1" dirty="0"/>
              <a:t>Email Filtering</a:t>
            </a:r>
          </a:p>
          <a:p>
            <a:pPr lvl="1"/>
            <a:r>
              <a:rPr lang="en-IN" dirty="0"/>
              <a:t>Classifying emails as spam or legitimate messages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047881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12EE40-F47C-0797-C190-A98830B4F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CART (Classification and Regression Trees)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D4296F-C5CA-35B0-F7D9-6E5FEE3BB3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38865"/>
            <a:ext cx="10515600" cy="493809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Uses </a:t>
            </a:r>
            <a:r>
              <a:rPr lang="en-US" b="1" dirty="0"/>
              <a:t>Gini Index</a:t>
            </a:r>
            <a:endParaRPr lang="en-US" dirty="0"/>
          </a:p>
          <a:p>
            <a:r>
              <a:rPr lang="en-US" dirty="0"/>
              <a:t>Supports classification and regression</a:t>
            </a:r>
          </a:p>
          <a:p>
            <a:r>
              <a:rPr lang="en-US" dirty="0"/>
              <a:t>Produces </a:t>
            </a:r>
            <a:r>
              <a:rPr lang="en-US" b="1" dirty="0"/>
              <a:t>binary trees</a:t>
            </a:r>
            <a:endParaRPr lang="en-US" dirty="0"/>
          </a:p>
          <a:p>
            <a:r>
              <a:rPr lang="en-US" b="1" dirty="0"/>
              <a:t>Decision Trees</a:t>
            </a:r>
          </a:p>
          <a:p>
            <a:pPr lvl="1"/>
            <a:r>
              <a:rPr lang="en-US" dirty="0"/>
              <a:t>CART builds binary trees by recursively splitting data based on feature values to make predictions.</a:t>
            </a:r>
          </a:p>
          <a:p>
            <a:r>
              <a:rPr lang="en-US" b="1" dirty="0"/>
              <a:t>Dual Purpose</a:t>
            </a:r>
          </a:p>
          <a:p>
            <a:pPr lvl="1"/>
            <a:r>
              <a:rPr lang="en-US" dirty="0"/>
              <a:t>Handles both classification (categorical outcomes) and regression (continuous values) problems.</a:t>
            </a:r>
          </a:p>
          <a:p>
            <a:r>
              <a:rPr lang="en-US" b="1" dirty="0"/>
              <a:t>Interpretable</a:t>
            </a:r>
          </a:p>
          <a:p>
            <a:pPr lvl="1"/>
            <a:r>
              <a:rPr lang="en-US" dirty="0"/>
              <a:t>Creates transparent, easy-to-understand models that mirror human decision-making processes.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345073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5B623-1615-3D0D-6A92-01778FDF5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How CART Works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5D221D-A427-A639-E3C5-57C17A63C5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81548"/>
            <a:ext cx="10515600" cy="5095415"/>
          </a:xfrm>
        </p:spPr>
        <p:txBody>
          <a:bodyPr>
            <a:normAutofit/>
          </a:bodyPr>
          <a:lstStyle/>
          <a:p>
            <a:r>
              <a:rPr lang="en-US" b="1" dirty="0"/>
              <a:t>Select Best Split</a:t>
            </a:r>
          </a:p>
          <a:p>
            <a:pPr lvl="1"/>
            <a:r>
              <a:rPr lang="en-US" dirty="0"/>
              <a:t>Algorithm evaluates all features and thresholds to find the split that maximizes information gain or minimizes impurity.</a:t>
            </a:r>
          </a:p>
          <a:p>
            <a:r>
              <a:rPr lang="en-US" b="1" dirty="0"/>
              <a:t>Partition Data</a:t>
            </a:r>
          </a:p>
          <a:p>
            <a:pPr lvl="1"/>
            <a:r>
              <a:rPr lang="en-US" dirty="0"/>
              <a:t>Data is divided into two subsets based on the chosen feature and threshold value.</a:t>
            </a:r>
          </a:p>
          <a:p>
            <a:r>
              <a:rPr lang="en-US" b="1" dirty="0"/>
              <a:t>Recursive Splitting</a:t>
            </a:r>
          </a:p>
          <a:p>
            <a:pPr lvl="1"/>
            <a:r>
              <a:rPr lang="en-US" dirty="0"/>
              <a:t>Process repeats on each subset, creating child nodes until stopping criteria are met.</a:t>
            </a:r>
          </a:p>
          <a:p>
            <a:r>
              <a:rPr lang="en-US" b="1" dirty="0"/>
              <a:t>Pruning</a:t>
            </a:r>
          </a:p>
          <a:p>
            <a:pPr lvl="1"/>
            <a:r>
              <a:rPr lang="en-US" dirty="0"/>
              <a:t>Tree is trimmed back to prevent overfitting and improve generalization to new data.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480816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E93B1-A51A-316C-DC83-E063A4FD0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Splitting Criteria Equations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9D205E-FC65-68CB-8706-2AEB1CAA1E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/>
          <a:lstStyle/>
          <a:p>
            <a:r>
              <a:rPr lang="en-US" b="1" dirty="0"/>
              <a:t>Mean Squared Error (Regression)</a:t>
            </a:r>
          </a:p>
          <a:p>
            <a:pPr lvl="1"/>
            <a:r>
              <a:rPr lang="en-US" dirty="0"/>
              <a:t>For regression tasks, CART minimizes MSE where represents actual values and is the predicted mean.</a:t>
            </a:r>
          </a:p>
          <a:p>
            <a:endParaRPr lang="en-US" dirty="0"/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Entropy (Classification)</a:t>
            </a:r>
          </a:p>
          <a:p>
            <a:pPr lvl="1"/>
            <a:r>
              <a:rPr lang="en-US" dirty="0"/>
              <a:t>Entropy measures disorder in the dataset, with being the proportion of class samples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444063-2A07-BBA9-EA28-38F6DC04CC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1856" y="2533097"/>
            <a:ext cx="2896004" cy="111458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3DA9045-F87D-EC30-8E63-FB71B73F23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2261" y="5182794"/>
            <a:ext cx="3067478" cy="933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2857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D12F9-9A9C-94AE-1ED5-6C05FC05D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CART Algorithm Block Diagram</a:t>
            </a:r>
            <a:br>
              <a:rPr lang="en-IN" b="1" dirty="0"/>
            </a:b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FC286A0-D4BF-0A42-92C6-8A60816A4B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86907" y="1825625"/>
            <a:ext cx="981818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16362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7F3DF-DFD2-2A13-6C8E-3CF863B6B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Key Advantages of CART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BAC215-F187-B342-98D9-CD97CEA1C2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>
            <a:normAutofit/>
          </a:bodyPr>
          <a:lstStyle/>
          <a:p>
            <a:r>
              <a:rPr lang="en-US" b="1" dirty="0"/>
              <a:t>Interpretability</a:t>
            </a:r>
          </a:p>
          <a:p>
            <a:r>
              <a:rPr lang="en-US" b="1" dirty="0"/>
              <a:t>Minimal Preprocessing</a:t>
            </a:r>
          </a:p>
          <a:p>
            <a:r>
              <a:rPr lang="en-US" b="1" dirty="0"/>
              <a:t>Feature Importance</a:t>
            </a:r>
          </a:p>
          <a:p>
            <a:r>
              <a:rPr lang="en-US" b="1" dirty="0"/>
              <a:t>Fast Predictions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343687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3609A-8C59-2646-2B71-850F89B45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C4.5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DB767B-3CD8-46FB-7222-FD039928E9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Extension of ID3</a:t>
            </a:r>
          </a:p>
          <a:p>
            <a:r>
              <a:rPr lang="en-US" dirty="0"/>
              <a:t>Uses </a:t>
            </a:r>
            <a:r>
              <a:rPr lang="en-US" b="1" dirty="0"/>
              <a:t>Gain Ratio</a:t>
            </a:r>
            <a:endParaRPr lang="en-US" dirty="0"/>
          </a:p>
          <a:p>
            <a:r>
              <a:rPr lang="en-US" dirty="0"/>
              <a:t>Handles missing values</a:t>
            </a:r>
          </a:p>
          <a:p>
            <a:r>
              <a:rPr lang="en-US" dirty="0"/>
              <a:t>Supports pruning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334536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71A33-73A8-47E2-C4B8-EC47C8FA8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Tree-Based Classification Example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B354BE-0D01-EEC0-2AB8-E036143F5A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Problem:</a:t>
            </a:r>
            <a:br>
              <a:rPr lang="en-US" dirty="0"/>
            </a:br>
            <a:r>
              <a:rPr lang="en-US" dirty="0"/>
              <a:t>Classify students as </a:t>
            </a:r>
            <a:r>
              <a:rPr lang="en-US" i="1" dirty="0"/>
              <a:t>Pass</a:t>
            </a:r>
            <a:r>
              <a:rPr lang="en-US" dirty="0"/>
              <a:t> or </a:t>
            </a:r>
            <a:r>
              <a:rPr lang="en-US" i="1" dirty="0"/>
              <a:t>Fail</a:t>
            </a:r>
            <a:r>
              <a:rPr lang="en-US" dirty="0"/>
              <a:t> based on:</a:t>
            </a:r>
          </a:p>
          <a:p>
            <a:pPr lvl="1"/>
            <a:r>
              <a:rPr lang="en-US" dirty="0"/>
              <a:t>Attendance</a:t>
            </a:r>
          </a:p>
          <a:p>
            <a:pPr lvl="1"/>
            <a:r>
              <a:rPr lang="en-US" dirty="0"/>
              <a:t>Internal marks</a:t>
            </a:r>
          </a:p>
          <a:p>
            <a:r>
              <a:rPr lang="en-US" dirty="0"/>
              <a:t>The tree splits data based on the most informative attribute at each level.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039687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4476D-EEDA-FCD9-3612-9DB4475D6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Overfitting Control in Decision Trees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93865A-FD91-A56E-8985-7E0A6424CA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Pruning</a:t>
            </a:r>
            <a:r>
              <a:rPr lang="en-IN" dirty="0"/>
              <a:t> (pre-pruning / post-pruning)</a:t>
            </a:r>
          </a:p>
          <a:p>
            <a:r>
              <a:rPr lang="en-IN" dirty="0"/>
              <a:t>Limiting tree depth</a:t>
            </a:r>
          </a:p>
          <a:p>
            <a:r>
              <a:rPr lang="en-IN" dirty="0"/>
              <a:t>Minimum samples per node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243057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99083-E30B-F707-582A-CC6EAB703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Applications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56D81E-50C3-7F82-C0F3-DAC4892C7A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Medical diagnosis</a:t>
            </a:r>
          </a:p>
          <a:p>
            <a:r>
              <a:rPr lang="en-US" dirty="0"/>
              <a:t>Credit approval systems</a:t>
            </a:r>
          </a:p>
          <a:p>
            <a:r>
              <a:rPr lang="en-US" dirty="0"/>
              <a:t>Customer churn prediction</a:t>
            </a:r>
          </a:p>
          <a:p>
            <a:r>
              <a:rPr lang="en-US" dirty="0"/>
              <a:t>Fraud detection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890912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671</Words>
  <Application>Microsoft Office PowerPoint</Application>
  <PresentationFormat>Widescreen</PresentationFormat>
  <Paragraphs>133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Calibri Light</vt:lpstr>
      <vt:lpstr>Office Theme</vt:lpstr>
      <vt:lpstr>Module II Supervised and Unsupervised Learning</vt:lpstr>
      <vt:lpstr>Tree-Based Methods</vt:lpstr>
      <vt:lpstr>Decision Tree</vt:lpstr>
      <vt:lpstr>Working Principle </vt:lpstr>
      <vt:lpstr>Example</vt:lpstr>
      <vt:lpstr>Attribute Selection Measures </vt:lpstr>
      <vt:lpstr>PowerPoint Presentation</vt:lpstr>
      <vt:lpstr>Popular Tree-Based Algorithms</vt:lpstr>
      <vt:lpstr>How ID3 Works </vt:lpstr>
      <vt:lpstr>ID3 Decision Tree Structure </vt:lpstr>
      <vt:lpstr>Limitations </vt:lpstr>
      <vt:lpstr>Real-Time Machine Learning Uses </vt:lpstr>
      <vt:lpstr>CART (Classification and Regression Trees) </vt:lpstr>
      <vt:lpstr>How CART Works </vt:lpstr>
      <vt:lpstr>Splitting Criteria Equations </vt:lpstr>
      <vt:lpstr>CART Algorithm Block Diagram </vt:lpstr>
      <vt:lpstr>Key Advantages of CART </vt:lpstr>
      <vt:lpstr>C4.5 </vt:lpstr>
      <vt:lpstr>Tree-Based Classification Example </vt:lpstr>
      <vt:lpstr>Overfitting Control in Decision Trees </vt:lpstr>
      <vt:lpstr>Applications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 keerthana</dc:creator>
  <cp:lastModifiedBy>p keerthana</cp:lastModifiedBy>
  <cp:revision>38</cp:revision>
  <dcterms:created xsi:type="dcterms:W3CDTF">2026-01-11T10:55:17Z</dcterms:created>
  <dcterms:modified xsi:type="dcterms:W3CDTF">2026-01-11T11:38:22Z</dcterms:modified>
</cp:coreProperties>
</file>