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ADABD-0F84-07E7-FB86-F920C20DE5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6F43F-0184-14B8-215B-2301083EA0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DAFDB-70C6-39A6-D9C0-FED0370A5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A729-A9C4-430D-B76F-31338A2A86E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72158-A256-3E3D-8AFD-BA6989F66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9CBBB-9FA2-569C-3F18-21316342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03B2F-3E4F-454C-9F21-81447219A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153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9E308-FF26-84DC-2BAC-11EAE7AF0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E2EE97-2890-6BA6-F4F2-43B555C13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CB773-A4B5-FF86-1C0B-2A3550091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A729-A9C4-430D-B76F-31338A2A86E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2DE12-D30E-B903-21EA-4A91327D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28476-117B-A61B-71AF-8973EE88B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03B2F-3E4F-454C-9F21-81447219A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1940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7458C-E871-37A6-077B-77FCDA075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E179A-4A67-0191-723C-7340E964AA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D0EE8-AABD-4F22-1A4B-3F0BE47F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A729-A9C4-430D-B76F-31338A2A86E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53252-D511-9B04-E140-32E2DD705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C35885-D0B1-7C43-5877-CF6FF217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03B2F-3E4F-454C-9F21-81447219A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3595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99D61-A502-0247-A453-7DE347DD2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02C47-02E1-A5F9-C32B-34A529E0F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30EEF-D21D-C227-E725-99610C2376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4BB6A-3945-6597-E206-2C6BEA575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A729-A9C4-430D-B76F-31338A2A86E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FCC612-F2A6-1679-0157-31E22A8B6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CBF22-DE63-0A83-9F0D-E2E2CBA35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03B2F-3E4F-454C-9F21-81447219A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114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9CE6-DD5E-09E0-D031-9E16B6597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80377-C5F1-7313-DB99-B3799F2AE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C2462-B05F-6869-B801-DD6DD35CD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C94412-8AAF-33DE-12F8-C74B54A4A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3469B6-10BB-A2D6-AF64-9888CA3600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A5E499-4A87-1AE2-3340-A1D394DCA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A729-A9C4-430D-B76F-31338A2A86E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CB3034-A2C4-EB92-45F8-6DB533CC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40004E-AABD-0B19-F0D8-EDFDD637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03B2F-3E4F-454C-9F21-81447219A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878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0D4F-2F8B-E349-CDBF-354213493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F42B9E-8252-779F-3840-55455E1BF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A729-A9C4-430D-B76F-31338A2A86E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FC7AF-A973-DA10-CDA6-0BD2C8A4F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3E117-9C4A-7C2F-F8A3-9EFBB1C3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03B2F-3E4F-454C-9F21-81447219A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62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16723B-28CC-D9EB-556A-3FD89EC89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A729-A9C4-430D-B76F-31338A2A86E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D41261-6A90-45F4-1AEA-9D522DC71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4E008-608D-825A-8672-156D9C60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03B2F-3E4F-454C-9F21-81447219A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989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C96C7-F8C2-739A-41CA-65CFFF898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19E83-FCF3-6641-812E-A138C85D9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3901E1-1CE0-91A6-AA6B-536413041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43A9F-A8FC-5754-02D6-B0AE97EDC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A729-A9C4-430D-B76F-31338A2A86E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4E6E3-351E-DAE4-FEDC-F455DB9C9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CDD4F-3D2E-B753-3CEE-5273BC48E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03B2F-3E4F-454C-9F21-81447219A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410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BFF88-A66F-B9F1-BC2F-F304B8197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1F5415-E7E6-9CB9-79E0-BCC06576E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8789DA-C904-606D-8A7A-F69E8E775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0D190-64A8-95CB-E8E3-052F28183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A729-A9C4-430D-B76F-31338A2A86E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B6229-3BC8-8F9B-7A0B-CEDAEB0AA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ADA3A-4FB0-031B-FFCC-B57DC4418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03B2F-3E4F-454C-9F21-81447219A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04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C78CA-658B-9423-4675-C22574795A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3A8434-F3F3-E41C-1C4A-920BF3E92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50FDA-508F-51B0-A447-B04E54695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A729-A9C4-430D-B76F-31338A2A86E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D5314-D9DB-EE07-81C0-5675D40F9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C4EF4-A3CE-D8CF-ACE3-45BD73C86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03B2F-3E4F-454C-9F21-81447219A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868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874672-CC79-FE41-BAD5-DD00CA6F73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7B221F-4063-8CC7-4F79-E2777944A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19C8D-F8D6-43E3-ABD9-A66DCED4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EA729-A9C4-430D-B76F-31338A2A86E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76596-8C2D-37E5-E552-706D04F60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A6E11-9EA4-9BAD-FC1B-8A51D9BCA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003B2F-3E4F-454C-9F21-81447219A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115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F76DE5-E6A8-1D84-10A8-A683D25EA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80764-F0F5-4F55-DA0B-786E8BE40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16003-4A4D-87CE-EFC7-A00DAA76CC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1EA729-A9C4-430D-B76F-31338A2A86E0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84108-5C97-B564-21E0-94E349BF72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9CE6C-AA50-4750-333D-F80F1EB36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003B2F-3E4F-454C-9F21-81447219ABB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686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D2DD7-E6B9-7F59-BD0F-C3D0283703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Module II Supervised and Unsupervised Learning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7A04DD-4DAE-B540-F0CC-90FE4E223E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Least Squares </a:t>
            </a:r>
            <a:r>
              <a:rPr lang="en-IN" dirty="0">
                <a:solidFill>
                  <a:srgbClr val="FF0000"/>
                </a:solidFill>
              </a:rPr>
              <a:t>,</a:t>
            </a:r>
            <a:r>
              <a:rPr lang="en-IN" b="1" dirty="0">
                <a:solidFill>
                  <a:srgbClr val="FF0000"/>
                </a:solidFill>
              </a:rPr>
              <a:t> Under-fitting / Overfitting, Cross Validation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D6B55F-A76B-F8CC-7792-DEC342CF3010}"/>
              </a:ext>
            </a:extLst>
          </p:cNvPr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940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4EE7F-48BC-2939-5456-008CB6FC9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Least Squares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31F15-B10F-34BE-7D26-33EDF14BD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328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Least Squares Method</a:t>
            </a:r>
            <a:r>
              <a:rPr lang="en-US" dirty="0"/>
              <a:t> is a standard statistical technique used to find the best-fit line or curve by minimizing the sum of squared deviations between observed and predicted values.</a:t>
            </a:r>
          </a:p>
          <a:p>
            <a:r>
              <a:rPr lang="en-US" dirty="0"/>
              <a:t>The best fit is obtained by </a:t>
            </a:r>
            <a:r>
              <a:rPr lang="en-US" b="1" dirty="0"/>
              <a:t>minimizing the sum of the squares of the residuals</a:t>
            </a:r>
            <a:r>
              <a:rPr lang="en-US" dirty="0"/>
              <a:t>, where a residual is the difference between the observed value and the value predicted by the model.</a:t>
            </a:r>
          </a:p>
          <a:p>
            <a:r>
              <a:rPr lang="en-US" dirty="0"/>
              <a:t>The least squares method is extensively applied in </a:t>
            </a:r>
            <a:r>
              <a:rPr lang="en-US" b="1" dirty="0"/>
              <a:t>data fitting, regression analysis, and machine learning models</a:t>
            </a:r>
            <a:r>
              <a:rPr lang="en-US" dirty="0"/>
              <a:t>, especially when the number of equations exceeds the number of unknowns. </a:t>
            </a:r>
          </a:p>
          <a:p>
            <a:r>
              <a:rPr lang="en-US" dirty="0"/>
              <a:t>It provides an optimal solution by minimizing errors and is commonly used in both </a:t>
            </a:r>
            <a:r>
              <a:rPr lang="en-US" b="1" dirty="0"/>
              <a:t>linear and non-linear regression problems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4068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6CE57-DF25-E14E-7FB3-C32594491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Least Squares Means in ML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BC6F7-1B90-EC4D-6429-AB9F7C078C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07026" y="1253331"/>
                <a:ext cx="10515600" cy="4351338"/>
              </a:xfrm>
            </p:spPr>
            <p:txBody>
              <a:bodyPr/>
              <a:lstStyle/>
              <a:p>
                <a:r>
                  <a:rPr lang="en-IN" dirty="0"/>
                  <a:t>In </a:t>
                </a:r>
                <a:r>
                  <a:rPr lang="en-IN" b="1" dirty="0"/>
                  <a:t>machine learning regression</a:t>
                </a:r>
                <a:r>
                  <a:rPr lang="en-IN" dirty="0"/>
                  <a:t>, the goal is to </a:t>
                </a:r>
                <a:r>
                  <a:rPr lang="en-IN" b="1" dirty="0"/>
                  <a:t>learn a function</a:t>
                </a:r>
                <a:r>
                  <a:rPr lang="en-IN" dirty="0"/>
                  <a:t> that maps inputs </a:t>
                </a:r>
                <a:r>
                  <a:rPr lang="en-IN" b="1" dirty="0"/>
                  <a:t>X</a:t>
                </a:r>
                <a:r>
                  <a:rPr lang="en-IN" dirty="0"/>
                  <a:t> to outputs </a:t>
                </a:r>
                <a:r>
                  <a:rPr lang="en-IN" b="1" dirty="0"/>
                  <a:t>y</a:t>
                </a:r>
                <a:r>
                  <a:rPr lang="en-IN" dirty="0"/>
                  <a:t>.</a:t>
                </a:r>
              </a:p>
              <a:p>
                <a:r>
                  <a:rPr lang="en-IN" dirty="0"/>
                  <a:t>For </a:t>
                </a:r>
                <a:r>
                  <a:rPr lang="en-IN" b="1" dirty="0"/>
                  <a:t>Linear Regression</a:t>
                </a:r>
                <a:r>
                  <a:rPr lang="en-IN" dirty="0"/>
                  <a:t>, the model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acc>
                      <m:r>
                        <a:rPr lang="ar-AE" b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ar-AE" b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ar-AE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ar-AE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ar-AE" b="1" i="1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ar-AE" b="1" dirty="0"/>
              </a:p>
              <a:p>
                <a:r>
                  <a:rPr lang="en-IN" dirty="0"/>
                  <a:t>The model learns 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ar-AE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by </a:t>
                </a:r>
                <a:r>
                  <a:rPr lang="en-IN" b="1" dirty="0"/>
                  <a:t>minimizing error</a:t>
                </a:r>
                <a:r>
                  <a:rPr lang="en-IN" dirty="0"/>
                  <a:t>.</a:t>
                </a:r>
              </a:p>
              <a:p>
                <a:r>
                  <a:rPr lang="en-IN" b="1" dirty="0"/>
                  <a:t>Error for one data point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b="0"/>
                        <m:t>Error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ar-AE" b="0" dirty="0"/>
              </a:p>
              <a:p>
                <a:r>
                  <a:rPr lang="en-US" dirty="0"/>
                  <a:t>An error is simply the difference between the </a:t>
                </a:r>
                <a:r>
                  <a:rPr lang="en-US" b="1" dirty="0"/>
                  <a:t>actual</a:t>
                </a:r>
                <a:r>
                  <a:rPr lang="en-US" dirty="0"/>
                  <a:t> and</a:t>
                </a:r>
                <a:r>
                  <a:rPr lang="en-US" b="1" dirty="0"/>
                  <a:t> predicted value.</a:t>
                </a:r>
                <a:r>
                  <a:rPr lang="en-US" dirty="0"/>
                  <a:t> 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7BBC6F7-1B90-EC4D-6429-AB9F7C078C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7026" y="1253331"/>
                <a:ext cx="10515600" cy="4351338"/>
              </a:xfrm>
              <a:blipFill>
                <a:blip r:embed="rId2"/>
                <a:stretch>
                  <a:fillRect l="-1043" t="-23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1281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4718F-CB78-901A-8B2B-52F5EA589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Least Squares Principle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326D10-DBC7-49B1-2A66-8EAA951945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Instead of minimizing raw error (which can cancel out), ML minimizes </a:t>
                </a:r>
                <a:r>
                  <a:rPr lang="en-IN" b="1" dirty="0"/>
                  <a:t>squared error</a:t>
                </a:r>
                <a:r>
                  <a:rPr lang="en-IN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endChr m:val=""/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sSup>
                            <m:sSup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"/>
                                  <m:endChr m:val=""/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ar-AE" dirty="0"/>
              </a:p>
              <a:p>
                <a:r>
                  <a:rPr lang="en-IN" b="1" dirty="0"/>
                  <a:t>Loss Function in ML</a:t>
                </a:r>
              </a:p>
              <a:p>
                <a:pPr marL="0" indent="0" algn="ctr">
                  <a:buNone/>
                </a:pPr>
                <a:r>
                  <a:rPr lang="en-US" dirty="0"/>
                  <a:t>Mean Squared Error (MSE)=</a:t>
                </a:r>
              </a:p>
              <a:p>
                <a:pPr marL="0" indent="0">
                  <a:buNone/>
                </a:pPr>
                <a:r>
                  <a:rPr lang="en-IN" dirty="0"/>
                  <a:t>➡ This is called the </a:t>
                </a:r>
                <a:r>
                  <a:rPr lang="en-IN" b="1" dirty="0"/>
                  <a:t>Least Squares Loss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326D10-DBC7-49B1-2A66-8EAA951945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8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7E4559A-5E1A-BEFA-DB69-627346219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507" y="3363030"/>
            <a:ext cx="1810003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580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A801C-A7AE-674E-4325-C7AB8D672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Squaring the Error?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E9DD6-7D47-D4A1-E5B3-7B6062531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Avoids positive &amp; negative cancellation</a:t>
            </a:r>
          </a:p>
          <a:p>
            <a:r>
              <a:rPr lang="en-US" dirty="0"/>
              <a:t>Penalizes large errors heavily</a:t>
            </a:r>
          </a:p>
          <a:p>
            <a:r>
              <a:rPr lang="en-US" dirty="0"/>
              <a:t>Differentiable → easy optimization using Gradient Descent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9236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B891-7C66-E3BA-C687-EED6320D6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ML Training Workflow (Least Squares)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65B00-3FF0-BB2F-DAD9-FC9B25BE2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Initialize model parameters</a:t>
            </a:r>
          </a:p>
          <a:p>
            <a:r>
              <a:rPr lang="en-US" dirty="0"/>
              <a:t>Predict output</a:t>
            </a:r>
          </a:p>
          <a:p>
            <a:r>
              <a:rPr lang="en-US" dirty="0"/>
              <a:t>Calculate </a:t>
            </a:r>
            <a:r>
              <a:rPr lang="en-US" b="1" dirty="0"/>
              <a:t>Least Squares loss (MSE)</a:t>
            </a:r>
            <a:endParaRPr lang="en-US" dirty="0"/>
          </a:p>
          <a:p>
            <a:r>
              <a:rPr lang="en-US" dirty="0"/>
              <a:t>Update parameters to reduce loss</a:t>
            </a:r>
          </a:p>
          <a:p>
            <a:r>
              <a:rPr lang="en-US" dirty="0"/>
              <a:t>Repeat until loss is minimized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6861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6C01D-6434-2EB4-FB03-DB4277FFD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Under-fitting / 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8BB09-40EE-181B-F72A-E73B7CE9F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Overfitting and underfitting are common challenges in machine learning. </a:t>
            </a:r>
          </a:p>
          <a:p>
            <a:pPr fontAlgn="base"/>
            <a:r>
              <a:rPr lang="en-US" dirty="0"/>
              <a:t>To evaluate a model’s performance, dataset categorized into:</a:t>
            </a:r>
          </a:p>
          <a:p>
            <a:pPr lvl="1" fontAlgn="base"/>
            <a:r>
              <a:rPr lang="en-US" b="1" dirty="0"/>
              <a:t>Training Set:</a:t>
            </a:r>
            <a:r>
              <a:rPr lang="en-US" dirty="0"/>
              <a:t> Used to train the model.</a:t>
            </a:r>
          </a:p>
          <a:p>
            <a:pPr lvl="1" fontAlgn="base"/>
            <a:r>
              <a:rPr lang="en-US" b="1" dirty="0"/>
              <a:t>Testing Set:</a:t>
            </a:r>
            <a:r>
              <a:rPr lang="en-US" dirty="0"/>
              <a:t> Used to evaluate how well the model generalizes.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2819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A62EE-844B-8375-0CB3-9C4388F6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Underfitting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53A2FE-154E-6A78-4253-28092F8A5D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4300" y="2571533"/>
            <a:ext cx="7343400" cy="36227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15DB31-AA0B-094D-139F-9811A816B8A1}"/>
              </a:ext>
            </a:extLst>
          </p:cNvPr>
          <p:cNvSpPr txBox="1"/>
          <p:nvPr/>
        </p:nvSpPr>
        <p:spPr>
          <a:xfrm>
            <a:off x="1288025" y="1371204"/>
            <a:ext cx="917349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Underfitting</a:t>
            </a:r>
            <a:r>
              <a:rPr lang="en-US" dirty="0"/>
              <a:t> happens when: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 is </a:t>
            </a:r>
            <a:r>
              <a:rPr lang="en-US" b="1" dirty="0"/>
              <a:t>too simple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Cannot learn patterns in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Performs poorly on </a:t>
            </a:r>
            <a:r>
              <a:rPr lang="en-US" b="1" dirty="0"/>
              <a:t>both training &amp; testing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106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CA17A-3733-EC4C-41EE-7D6F48AD9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Characteristics of Underfitting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A715D6D-B333-6BC0-1F5A-49F394BC2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2735" y="1501160"/>
            <a:ext cx="86688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632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06B6-B084-BA13-D42D-2CE6A640C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Mathematical View</a:t>
            </a:r>
            <a:br>
              <a:rPr lang="en-IN" b="1" dirty="0"/>
            </a:b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04FA2E-A606-B791-0EAA-2BB2998B3C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30710"/>
                <a:ext cx="10515600" cy="504625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dirty="0"/>
                  <a:t>True relationship: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ar-AE" dirty="0"/>
              </a:p>
              <a:p>
                <a:r>
                  <a:rPr lang="en-IN" dirty="0"/>
                  <a:t>Model assumes: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𝑤𝑥</m:t>
                      </m:r>
                      <m:r>
                        <a:rPr lang="en-IN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➡ Mismatch between </a:t>
                </a:r>
                <a:r>
                  <a:rPr lang="en-IN" b="1" dirty="0"/>
                  <a:t>model capacity</a:t>
                </a:r>
                <a:r>
                  <a:rPr lang="en-IN" dirty="0"/>
                  <a:t> and </a:t>
                </a:r>
                <a:r>
                  <a:rPr lang="en-IN" b="1" dirty="0"/>
                  <a:t>data complexity</a:t>
                </a:r>
              </a:p>
              <a:p>
                <a:pPr marL="0" indent="0">
                  <a:buNone/>
                </a:pPr>
                <a:endParaRPr lang="en-IN" b="1" dirty="0"/>
              </a:p>
              <a:p>
                <a:r>
                  <a:rPr lang="en-US" b="1" dirty="0"/>
                  <a:t>Summary</a:t>
                </a:r>
              </a:p>
              <a:p>
                <a:r>
                  <a:rPr lang="en-US" dirty="0"/>
                  <a:t>Linear line cannot follow curve</a:t>
                </a:r>
              </a:p>
              <a:p>
                <a:r>
                  <a:rPr lang="en-US" dirty="0"/>
                  <a:t>Training MSE → high</a:t>
                </a:r>
              </a:p>
              <a:p>
                <a:r>
                  <a:rPr lang="en-US" dirty="0"/>
                  <a:t>Testing MSE → high</a:t>
                </a:r>
              </a:p>
              <a:p>
                <a:r>
                  <a:rPr lang="en-US" dirty="0"/>
                  <a:t>Model fails to learn pattern</a:t>
                </a:r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FF0000"/>
                    </a:solidFill>
                  </a:rPr>
                  <a:t>➡ </a:t>
                </a:r>
                <a:r>
                  <a:rPr lang="en-US" b="1" dirty="0">
                    <a:solidFill>
                      <a:srgbClr val="FF0000"/>
                    </a:solidFill>
                  </a:rPr>
                  <a:t>Underfitting confirmed</a:t>
                </a: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404FA2E-A606-B791-0EAA-2BB2998B3C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30710"/>
                <a:ext cx="10515600" cy="5046253"/>
              </a:xfrm>
              <a:blipFill>
                <a:blip r:embed="rId2"/>
                <a:stretch>
                  <a:fillRect l="-1043" t="-30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60022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BD0D8-6120-F9B4-6607-22BAABA3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98436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Overfitting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6DC94-6D00-DC4B-5E79-F80EC4990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3562"/>
            <a:ext cx="10515600" cy="4351338"/>
          </a:xfrm>
        </p:spPr>
        <p:txBody>
          <a:bodyPr/>
          <a:lstStyle/>
          <a:p>
            <a:r>
              <a:rPr lang="en-US" b="1" dirty="0"/>
              <a:t>Overfitting</a:t>
            </a:r>
            <a:r>
              <a:rPr lang="en-US" dirty="0"/>
              <a:t> occurs when:</a:t>
            </a:r>
          </a:p>
          <a:p>
            <a:pPr lvl="1"/>
            <a:r>
              <a:rPr lang="en-US" dirty="0"/>
              <a:t>Model is </a:t>
            </a:r>
            <a:r>
              <a:rPr lang="en-US" b="1" dirty="0"/>
              <a:t>too complex</a:t>
            </a:r>
            <a:endParaRPr lang="en-US" dirty="0"/>
          </a:p>
          <a:p>
            <a:pPr lvl="1"/>
            <a:r>
              <a:rPr lang="en-US" dirty="0"/>
              <a:t>Learns noise instead of pattern</a:t>
            </a:r>
          </a:p>
          <a:p>
            <a:pPr lvl="1"/>
            <a:r>
              <a:rPr lang="en-US" dirty="0"/>
              <a:t>Very low training error</a:t>
            </a:r>
          </a:p>
          <a:p>
            <a:pPr lvl="1"/>
            <a:r>
              <a:rPr lang="en-US" dirty="0"/>
              <a:t>Very high testing error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80134-CC12-90E2-CCE3-7CCABE0EE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530" y="2900516"/>
            <a:ext cx="6862916" cy="348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81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8DA5-67BA-955C-7181-0A4072154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Characteristics of Overfitting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1BCF1D-7747-ECC3-D6B1-7C64C9984A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8194" y="1406013"/>
            <a:ext cx="8695313" cy="477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103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76B27-3F0F-42CC-8060-F6F7E51F1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Bias-Variance Tradeoff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2C362-B202-4315-5D36-E19EFD1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57032"/>
            <a:ext cx="10515600" cy="4351338"/>
          </a:xfrm>
        </p:spPr>
        <p:txBody>
          <a:bodyPr/>
          <a:lstStyle/>
          <a:p>
            <a:pPr fontAlgn="base"/>
            <a:r>
              <a:rPr lang="en-US" dirty="0"/>
              <a:t>The </a:t>
            </a:r>
            <a:r>
              <a:rPr lang="en-US" b="1" dirty="0"/>
              <a:t>bias-variance tradeoff</a:t>
            </a:r>
            <a:r>
              <a:rPr lang="en-US" dirty="0"/>
              <a:t>  It represents the relationship between a model’s complexity and its ability to generalize well.</a:t>
            </a:r>
          </a:p>
          <a:p>
            <a:pPr fontAlgn="base"/>
            <a:r>
              <a:rPr lang="en-US" b="1" dirty="0"/>
              <a:t>High Bias (Underfitting):</a:t>
            </a:r>
            <a:r>
              <a:rPr lang="en-US" dirty="0"/>
              <a:t> The model makes strong assumptions about the data and fails to capture patterns.</a:t>
            </a:r>
          </a:p>
          <a:p>
            <a:pPr fontAlgn="base"/>
            <a:r>
              <a:rPr lang="en-US" b="1" dirty="0"/>
              <a:t>High Variance (Overfitting):</a:t>
            </a:r>
            <a:r>
              <a:rPr lang="en-US" dirty="0"/>
              <a:t> The model is too sensitive to small fluctuations in the data, leading to poor generalization.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2BA34-594A-E422-2AED-C4B7E623E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853" y="3795250"/>
            <a:ext cx="7096294" cy="269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006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423D6-686E-2773-510C-5FA95FEF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Graphical Representation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48C8BE-BEF2-2B9C-BC6D-7EE37CD18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091"/>
          <a:stretch>
            <a:fillRect/>
          </a:stretch>
        </p:blipFill>
        <p:spPr bwMode="auto">
          <a:xfrm>
            <a:off x="2172929" y="1690688"/>
            <a:ext cx="7649497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757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500AD-C81B-CFBE-91DB-42E25B724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Techniques to Overcome Underfitting and Overfitting</a:t>
            </a:r>
            <a:br>
              <a:rPr lang="en-US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A6B54EC-DF9F-4291-72C2-456FC0198A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645" y="1690688"/>
            <a:ext cx="6253315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4D8AFF-C0EA-0E9F-E02E-48B683A26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34065"/>
            <a:ext cx="5756527" cy="521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2195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E3016-9D0C-5FCC-F9FB-E6F17CF63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Applications</a:t>
            </a:r>
            <a:br>
              <a:rPr lang="en-IN" b="1" dirty="0"/>
            </a:b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8E7E74-C7C3-4E78-DB55-54E8D2D2C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5494" y="1052053"/>
            <a:ext cx="7421011" cy="452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0628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BCB59-C5D9-7B83-0C08-537FF3932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304B6-312D-62D6-7DEC-79ED39F74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Cross-Validation</a:t>
            </a:r>
            <a:r>
              <a:rPr lang="en-US" dirty="0"/>
              <a:t> is a technique used to </a:t>
            </a:r>
            <a:r>
              <a:rPr lang="en-US" b="1" dirty="0"/>
              <a:t>evaluate and improve model generalization</a:t>
            </a:r>
            <a:r>
              <a:rPr lang="en-US" dirty="0"/>
              <a:t> by testing it on multiple data splits.</a:t>
            </a:r>
          </a:p>
          <a:p>
            <a:r>
              <a:rPr lang="en-US" b="1" dirty="0"/>
              <a:t>Need of cross validation</a:t>
            </a:r>
          </a:p>
          <a:p>
            <a:pPr lvl="1"/>
            <a:r>
              <a:rPr lang="en-US" dirty="0"/>
              <a:t>Detects overfitting</a:t>
            </a:r>
          </a:p>
          <a:p>
            <a:pPr lvl="1"/>
            <a:r>
              <a:rPr lang="en-US" dirty="0"/>
              <a:t>Ensures model reliability</a:t>
            </a:r>
          </a:p>
          <a:p>
            <a:pPr lvl="1"/>
            <a:r>
              <a:rPr lang="en-US" dirty="0"/>
              <a:t>Uses data efficiently</a:t>
            </a:r>
          </a:p>
          <a:p>
            <a:r>
              <a:rPr lang="en-US" b="1" dirty="0"/>
              <a:t>Cross-validation ensures:</a:t>
            </a:r>
          </a:p>
          <a:p>
            <a:pPr lvl="1"/>
            <a:r>
              <a:rPr lang="en-US" dirty="0"/>
              <a:t>Better use of available data</a:t>
            </a:r>
          </a:p>
          <a:p>
            <a:pPr lvl="1"/>
            <a:r>
              <a:rPr lang="en-US" dirty="0"/>
              <a:t>Stable and unbiased performance estimation</a:t>
            </a:r>
          </a:p>
          <a:p>
            <a:pPr lvl="1"/>
            <a:r>
              <a:rPr lang="en-US" dirty="0"/>
              <a:t>Reliable model selection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1653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6D0F1-3AE6-4E50-DB87-F3B35603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Cross-Validation Works 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7A0B4-59A6-3382-D7CF-0C421908EE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is divided into multiple parts (folds)</a:t>
            </a:r>
          </a:p>
          <a:p>
            <a:r>
              <a:rPr lang="en-US" dirty="0"/>
              <a:t>Model is trained on some folds</a:t>
            </a:r>
          </a:p>
          <a:p>
            <a:r>
              <a:rPr lang="en-US" dirty="0"/>
              <a:t>Model is tested on the remaining fold</a:t>
            </a:r>
          </a:p>
          <a:p>
            <a:r>
              <a:rPr lang="en-US" dirty="0"/>
              <a:t>This process is repeated multiple times</a:t>
            </a:r>
          </a:p>
          <a:p>
            <a:r>
              <a:rPr lang="en-US" dirty="0"/>
              <a:t>Final performance = </a:t>
            </a:r>
            <a:r>
              <a:rPr lang="en-US" b="1" dirty="0"/>
              <a:t>average of all test results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3675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4DC95-5767-6501-548A-946567AB5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Cross-Validation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D8F40-5281-72A2-49B3-7CD1AE0F5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Hold-Out Validation (Basic)</a:t>
            </a:r>
          </a:p>
          <a:p>
            <a:pPr lvl="1"/>
            <a:r>
              <a:rPr lang="en-US" dirty="0"/>
              <a:t>Data split once into training and testing sets</a:t>
            </a:r>
            <a:endParaRPr lang="en-IN" dirty="0"/>
          </a:p>
          <a:p>
            <a:r>
              <a:rPr lang="en-IN" dirty="0"/>
              <a:t>K-Fold Cross-Validation</a:t>
            </a:r>
          </a:p>
          <a:p>
            <a:pPr lvl="1"/>
            <a:r>
              <a:rPr lang="en-US" dirty="0"/>
              <a:t>In </a:t>
            </a:r>
            <a:r>
              <a:rPr lang="en-US" b="1" dirty="0"/>
              <a:t>K-Fold Cross-Validation</a:t>
            </a:r>
            <a:r>
              <a:rPr lang="en-US" dirty="0"/>
              <a:t>, the dataset is divided into </a:t>
            </a:r>
            <a:r>
              <a:rPr lang="en-US" b="1" dirty="0"/>
              <a:t>K equal-sized folds</a:t>
            </a:r>
            <a:r>
              <a:rPr lang="en-US" dirty="0"/>
              <a:t>.</a:t>
            </a:r>
            <a:endParaRPr lang="en-IN" dirty="0"/>
          </a:p>
          <a:p>
            <a:r>
              <a:rPr lang="en-IN" dirty="0"/>
              <a:t>Stratified K-Fold (Classification)</a:t>
            </a:r>
          </a:p>
          <a:p>
            <a:pPr lvl="1"/>
            <a:r>
              <a:rPr lang="en-IN" dirty="0"/>
              <a:t>Useful for </a:t>
            </a:r>
            <a:r>
              <a:rPr lang="en-IN" b="1" dirty="0"/>
              <a:t>imbalanced datasets</a:t>
            </a:r>
            <a:endParaRPr lang="en-IN" dirty="0"/>
          </a:p>
          <a:p>
            <a:r>
              <a:rPr lang="en-IN" dirty="0"/>
              <a:t>Leave-One-Out Cross-Validation (LOOCV)</a:t>
            </a:r>
          </a:p>
          <a:p>
            <a:pPr lvl="1"/>
            <a:r>
              <a:rPr lang="en-US" dirty="0"/>
              <a:t>Train on all except one sample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6278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D1BEE-C905-64B8-6215-29E57FF9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Cross-Validation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A8005-C8AD-A881-52B2-A21BB333E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859" y="143233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Efficient use of limited data</a:t>
            </a:r>
          </a:p>
          <a:p>
            <a:r>
              <a:rPr lang="en-US" dirty="0"/>
              <a:t>Reliable performance estimation</a:t>
            </a:r>
          </a:p>
          <a:p>
            <a:r>
              <a:rPr lang="en-US" dirty="0"/>
              <a:t>Helps detect overfitting</a:t>
            </a:r>
          </a:p>
          <a:p>
            <a:r>
              <a:rPr lang="en-US" dirty="0"/>
              <a:t>Improves model selection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62810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F3389-FF34-E6F4-B88F-2266473EC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 of Cross-Validation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9C0C8-B3F3-4BE1-0E1F-13CC5C94A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6187" y="1176696"/>
            <a:ext cx="10515600" cy="4351338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Computationally expensive</a:t>
            </a:r>
          </a:p>
          <a:p>
            <a:r>
              <a:rPr lang="en-US" dirty="0"/>
              <a:t>Not ideal for very large datasets</a:t>
            </a:r>
          </a:p>
          <a:p>
            <a:r>
              <a:rPr lang="en-US" dirty="0"/>
              <a:t>Complex models increase training time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7515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690</Words>
  <Application>Microsoft Office PowerPoint</Application>
  <PresentationFormat>Widescreen</PresentationFormat>
  <Paragraphs>105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 Theme</vt:lpstr>
      <vt:lpstr>Module II Supervised and Unsupervised Learning </vt:lpstr>
      <vt:lpstr>Least Squares</vt:lpstr>
      <vt:lpstr>Least Squares Means in ML </vt:lpstr>
      <vt:lpstr>Least Squares Principle </vt:lpstr>
      <vt:lpstr>Why Squaring the Error? </vt:lpstr>
      <vt:lpstr>ML Training Workflow (Least Squares) </vt:lpstr>
      <vt:lpstr>Under-fitting / Overfitting</vt:lpstr>
      <vt:lpstr>Underfitting </vt:lpstr>
      <vt:lpstr>Characteristics of Underfitting </vt:lpstr>
      <vt:lpstr>Mathematical View </vt:lpstr>
      <vt:lpstr>Overfitting</vt:lpstr>
      <vt:lpstr>Characteristics of Overfitting</vt:lpstr>
      <vt:lpstr>The Bias-Variance Tradeoff </vt:lpstr>
      <vt:lpstr>Graphical Representation</vt:lpstr>
      <vt:lpstr>Techniques to Overcome Underfitting and Overfitting </vt:lpstr>
      <vt:lpstr>Real-World Applications </vt:lpstr>
      <vt:lpstr>Cross-Validation</vt:lpstr>
      <vt:lpstr>Cross-Validation Works  </vt:lpstr>
      <vt:lpstr>Types of Cross-Validation</vt:lpstr>
      <vt:lpstr>Advantages of Cross-Validation </vt:lpstr>
      <vt:lpstr>Limitations of Cross-Validation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keerthana</dc:creator>
  <cp:lastModifiedBy>p keerthana</cp:lastModifiedBy>
  <cp:revision>58</cp:revision>
  <dcterms:created xsi:type="dcterms:W3CDTF">2026-01-10T10:25:30Z</dcterms:created>
  <dcterms:modified xsi:type="dcterms:W3CDTF">2026-01-11T05:47:14Z</dcterms:modified>
</cp:coreProperties>
</file>