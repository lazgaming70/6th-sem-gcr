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29.xml"/>
  <Override ContentType="application/vnd.openxmlformats-officedocument.presentationml.notesSlide+xml" PartName="/ppt/notesSlides/notesSlide32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28.xml"/>
  <Override ContentType="application/vnd.openxmlformats-officedocument.presentationml.notesSlide+xml" PartName="/ppt/notesSlides/notesSlide33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34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0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35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31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10.xml"/>
  <Override ContentType="application/vnd.openxmlformats-officedocument.custom-properties+xml" PartName="/docProps/custom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.xml"/>
  <Override ContentType="application/vnd.openxmlformats-officedocument.presentationml.slideMaster+xml" PartName="/ppt/slideMasters/slideMaster3.xml"/>
  <Override ContentType="application/vnd.openxmlformats-officedocument.presentationml.slideMaster+xml" PartName="/ppt/slideMasters/slideMaster2.xml"/>
  <Override ContentType="application/vnd.openxmlformats-officedocument.presentationml.slideMaster+xml" PartName="/ppt/slideMasters/slideMaster1.xml"/>
  <Override ContentType="application/vnd.openxmlformats-officedocument.presentationml.slideMaster+xml" PartName="/ppt/slideMasters/slideMaster4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30.xml"/>
  <Override ContentType="application/vnd.openxmlformats-officedocument.presentationml.slide+xml" PartName="/ppt/slides/slide22.xml"/>
  <Override ContentType="application/vnd.openxmlformats-officedocument.presentationml.slide+xml" PartName="/ppt/slides/slide35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5.xml"/>
  <Override ContentType="application/vnd.openxmlformats-officedocument.presentationml.slide+xml" PartName="/ppt/slides/slide34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33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29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32.xml"/>
  <Override ContentType="application/vnd.openxmlformats-officedocument.presentationml.slide+xml" PartName="/ppt/slides/slide1.xml"/>
  <Override ContentType="application/vnd.openxmlformats-officedocument.presentationml.slide+xml" PartName="/ppt/slides/slide28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31.xml"/>
  <Override ContentType="application/vnd.openxmlformats-officedocument.presentationml.slide+xml" PartName="/ppt/slides/slide23.xml"/>
  <Override ContentType="application/vnd.openxmlformats-officedocument.presentationml.slide+xml" PartName="/ppt/slides/slide2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theme+xml" PartName="/ppt/theme/theme3.xml"/>
  <Override ContentType="application/vnd.openxmlformats-officedocument.theme+xml" PartName="/ppt/theme/theme4.xml"/>
  <Override ContentType="application/vnd.openxmlformats-officedocument.theme+xml" PartName="/ppt/theme/theme5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custom-properties" Target="docProps/custom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8" r:id="rId4"/>
    <p:sldMasterId id="2147483650" r:id="rId5"/>
    <p:sldMasterId id="2147483652" r:id="rId6"/>
    <p:sldMasterId id="2147483654" r:id="rId7"/>
  </p:sldMasterIdLst>
  <p:notesMasterIdLst>
    <p:notesMasterId r:id="rId8"/>
  </p:notesMasterIdLst>
  <p:sldIdLst>
    <p:sldId id="256" r:id="rId9"/>
    <p:sldId id="257" r:id="rId10"/>
    <p:sldId id="258" r:id="rId11"/>
    <p:sldId id="259" r:id="rId12"/>
    <p:sldId id="260" r:id="rId13"/>
    <p:sldId id="261" r:id="rId14"/>
    <p:sldId id="262" r:id="rId15"/>
    <p:sldId id="263" r:id="rId16"/>
    <p:sldId id="264" r:id="rId17"/>
    <p:sldId id="265" r:id="rId18"/>
    <p:sldId id="266" r:id="rId19"/>
    <p:sldId id="267" r:id="rId20"/>
    <p:sldId id="268" r:id="rId21"/>
    <p:sldId id="269" r:id="rId22"/>
    <p:sldId id="270" r:id="rId23"/>
    <p:sldId id="271" r:id="rId24"/>
    <p:sldId id="272" r:id="rId25"/>
    <p:sldId id="273" r:id="rId26"/>
    <p:sldId id="274" r:id="rId27"/>
    <p:sldId id="275" r:id="rId28"/>
    <p:sldId id="276" r:id="rId29"/>
    <p:sldId id="277" r:id="rId30"/>
    <p:sldId id="278" r:id="rId31"/>
    <p:sldId id="279" r:id="rId32"/>
    <p:sldId id="280" r:id="rId33"/>
    <p:sldId id="281" r:id="rId34"/>
    <p:sldId id="282" r:id="rId35"/>
    <p:sldId id="283" r:id="rId36"/>
    <p:sldId id="284" r:id="rId37"/>
    <p:sldId id="285" r:id="rId38"/>
    <p:sldId id="286" r:id="rId39"/>
    <p:sldId id="287" r:id="rId40"/>
    <p:sldId id="288" r:id="rId41"/>
    <p:sldId id="289" r:id="rId42"/>
    <p:sldId id="290" r:id="rId43"/>
  </p:sldIdLst>
  <p:sldSz cy="68580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  <p:ext uri="GoogleSlidesCustomDataVersion2">
      <go:slidesCustomData xmlns:go="http://customooxmlschemas.google.com/" r:id="rId44" roundtripDataSignature="AMtx7mgTyPctfcoOKD9DJRRRNxR5D40znA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slide" Target="slides/slide32.xml"/><Relationship Id="rId20" Type="http://schemas.openxmlformats.org/officeDocument/2006/relationships/slide" Target="slides/slide12.xml"/><Relationship Id="rId42" Type="http://schemas.openxmlformats.org/officeDocument/2006/relationships/slide" Target="slides/slide34.xml"/><Relationship Id="rId41" Type="http://schemas.openxmlformats.org/officeDocument/2006/relationships/slide" Target="slides/slide33.xml"/><Relationship Id="rId22" Type="http://schemas.openxmlformats.org/officeDocument/2006/relationships/slide" Target="slides/slide14.xml"/><Relationship Id="rId44" Type="http://customschemas.google.com/relationships/presentationmetadata" Target="metadata"/><Relationship Id="rId21" Type="http://schemas.openxmlformats.org/officeDocument/2006/relationships/slide" Target="slides/slide13.xml"/><Relationship Id="rId43" Type="http://schemas.openxmlformats.org/officeDocument/2006/relationships/slide" Target="slides/slide35.xml"/><Relationship Id="rId24" Type="http://schemas.openxmlformats.org/officeDocument/2006/relationships/slide" Target="slides/slide16.xml"/><Relationship Id="rId23" Type="http://schemas.openxmlformats.org/officeDocument/2006/relationships/slide" Target="slides/slide15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1.xml"/><Relationship Id="rId26" Type="http://schemas.openxmlformats.org/officeDocument/2006/relationships/slide" Target="slides/slide18.xml"/><Relationship Id="rId25" Type="http://schemas.openxmlformats.org/officeDocument/2006/relationships/slide" Target="slides/slide17.xml"/><Relationship Id="rId28" Type="http://schemas.openxmlformats.org/officeDocument/2006/relationships/slide" Target="slides/slide20.xml"/><Relationship Id="rId27" Type="http://schemas.openxmlformats.org/officeDocument/2006/relationships/slide" Target="slides/slide19.xml"/><Relationship Id="rId5" Type="http://schemas.openxmlformats.org/officeDocument/2006/relationships/slideMaster" Target="slideMasters/slideMaster2.xml"/><Relationship Id="rId6" Type="http://schemas.openxmlformats.org/officeDocument/2006/relationships/slideMaster" Target="slideMasters/slideMaster3.xml"/><Relationship Id="rId29" Type="http://schemas.openxmlformats.org/officeDocument/2006/relationships/slide" Target="slides/slide21.xml"/><Relationship Id="rId7" Type="http://schemas.openxmlformats.org/officeDocument/2006/relationships/slideMaster" Target="slideMasters/slideMaster4.xml"/><Relationship Id="rId8" Type="http://schemas.openxmlformats.org/officeDocument/2006/relationships/notesMaster" Target="notesMasters/notesMaster1.xml"/><Relationship Id="rId31" Type="http://schemas.openxmlformats.org/officeDocument/2006/relationships/slide" Target="slides/slide23.xml"/><Relationship Id="rId30" Type="http://schemas.openxmlformats.org/officeDocument/2006/relationships/slide" Target="slides/slide22.xml"/><Relationship Id="rId11" Type="http://schemas.openxmlformats.org/officeDocument/2006/relationships/slide" Target="slides/slide3.xml"/><Relationship Id="rId33" Type="http://schemas.openxmlformats.org/officeDocument/2006/relationships/slide" Target="slides/slide25.xml"/><Relationship Id="rId10" Type="http://schemas.openxmlformats.org/officeDocument/2006/relationships/slide" Target="slides/slide2.xml"/><Relationship Id="rId32" Type="http://schemas.openxmlformats.org/officeDocument/2006/relationships/slide" Target="slides/slide24.xml"/><Relationship Id="rId13" Type="http://schemas.openxmlformats.org/officeDocument/2006/relationships/slide" Target="slides/slide5.xml"/><Relationship Id="rId35" Type="http://schemas.openxmlformats.org/officeDocument/2006/relationships/slide" Target="slides/slide27.xml"/><Relationship Id="rId12" Type="http://schemas.openxmlformats.org/officeDocument/2006/relationships/slide" Target="slides/slide4.xml"/><Relationship Id="rId34" Type="http://schemas.openxmlformats.org/officeDocument/2006/relationships/slide" Target="slides/slide26.xml"/><Relationship Id="rId15" Type="http://schemas.openxmlformats.org/officeDocument/2006/relationships/slide" Target="slides/slide7.xml"/><Relationship Id="rId37" Type="http://schemas.openxmlformats.org/officeDocument/2006/relationships/slide" Target="slides/slide29.xml"/><Relationship Id="rId14" Type="http://schemas.openxmlformats.org/officeDocument/2006/relationships/slide" Target="slides/slide6.xml"/><Relationship Id="rId36" Type="http://schemas.openxmlformats.org/officeDocument/2006/relationships/slide" Target="slides/slide28.xml"/><Relationship Id="rId17" Type="http://schemas.openxmlformats.org/officeDocument/2006/relationships/slide" Target="slides/slide9.xml"/><Relationship Id="rId39" Type="http://schemas.openxmlformats.org/officeDocument/2006/relationships/slide" Target="slides/slide31.xml"/><Relationship Id="rId16" Type="http://schemas.openxmlformats.org/officeDocument/2006/relationships/slide" Target="slides/slide8.xml"/><Relationship Id="rId38" Type="http://schemas.openxmlformats.org/officeDocument/2006/relationships/slide" Target="slides/slide30.xml"/><Relationship Id="rId19" Type="http://schemas.openxmlformats.org/officeDocument/2006/relationships/slide" Target="slides/slide11.xml"/><Relationship Id="rId18" Type="http://schemas.openxmlformats.org/officeDocument/2006/relationships/slide" Target="slides/slide10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0000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2" y="0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1371600" y="1143000"/>
            <a:ext cx="41148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2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2" y="8685212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b="0" i="0" lang="en-US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" name="Google Shape;46;p2:notes"/>
          <p:cNvSpPr/>
          <p:nvPr>
            <p:ph idx="2" type="sldImg"/>
          </p:nvPr>
        </p:nvSpPr>
        <p:spPr>
          <a:xfrm>
            <a:off x="1371600" y="1143000"/>
            <a:ext cx="41148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3:notes"/>
          <p:cNvSpPr/>
          <p:nvPr>
            <p:ph idx="2" type="sldImg"/>
          </p:nvPr>
        </p:nvSpPr>
        <p:spPr>
          <a:xfrm>
            <a:off x="1371600" y="1143000"/>
            <a:ext cx="41148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524288"/>
            <a:headEnd len="sm" w="sm" type="none"/>
            <a:tailEnd len="sm" w="sm" type="none"/>
          </a:ln>
        </p:spPr>
      </p:sp>
      <p:sp>
        <p:nvSpPr>
          <p:cNvPr id="52" name="Google Shape;52;p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3" name="Google Shape;53;p3:notes"/>
          <p:cNvSpPr txBox="1"/>
          <p:nvPr/>
        </p:nvSpPr>
        <p:spPr>
          <a:xfrm>
            <a:off x="3884612" y="8685212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</a:pPr>
            <a:fld id="{00000000-1234-1234-1234-123412341234}" type="slidenum">
              <a:rPr b="0" i="0" lang="en-US" sz="1200" u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/>
          </a:p>
        </p:txBody>
      </p:sp>
      <p:sp>
        <p:nvSpPr>
          <p:cNvPr id="54" name="Google Shape;54;p3:notes"/>
          <p:cNvSpPr txBox="1"/>
          <p:nvPr/>
        </p:nvSpPr>
        <p:spPr>
          <a:xfrm>
            <a:off x="0" y="8685212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</a:pPr>
            <a:r>
              <a:rPr b="0" i="0" lang="en-US" sz="1200" u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Session1                        Ms.Dhivyaprabha E.</a:t>
            </a:r>
            <a:endParaRPr/>
          </a:p>
        </p:txBody>
      </p:sp>
      <p:sp>
        <p:nvSpPr>
          <p:cNvPr id="55" name="Google Shape;55;p3:notes"/>
          <p:cNvSpPr txBox="1"/>
          <p:nvPr/>
        </p:nvSpPr>
        <p:spPr>
          <a:xfrm>
            <a:off x="0" y="0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</a:pPr>
            <a:r>
              <a:rPr b="0" i="0" lang="en-US" sz="1200" u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18CS202 - PYTHON PROGRAMMING</a:t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4:notes"/>
          <p:cNvSpPr/>
          <p:nvPr>
            <p:ph idx="2" type="sldImg"/>
          </p:nvPr>
        </p:nvSpPr>
        <p:spPr>
          <a:xfrm>
            <a:off x="1371600" y="1143000"/>
            <a:ext cx="41148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524288"/>
            <a:headEnd len="sm" w="sm" type="none"/>
            <a:tailEnd len="sm" w="sm" type="none"/>
          </a:ln>
        </p:spPr>
      </p:sp>
      <p:sp>
        <p:nvSpPr>
          <p:cNvPr id="63" name="Google Shape;63;p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4" name="Google Shape;64;p4:notes"/>
          <p:cNvSpPr txBox="1"/>
          <p:nvPr/>
        </p:nvSpPr>
        <p:spPr>
          <a:xfrm>
            <a:off x="3884612" y="8685212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</a:pPr>
            <a:fld id="{00000000-1234-1234-1234-123412341234}" type="slidenum">
              <a:rPr b="0" i="0" lang="en-US" sz="1200" u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/>
          </a:p>
        </p:txBody>
      </p:sp>
      <p:sp>
        <p:nvSpPr>
          <p:cNvPr id="65" name="Google Shape;65;p4:notes"/>
          <p:cNvSpPr txBox="1"/>
          <p:nvPr/>
        </p:nvSpPr>
        <p:spPr>
          <a:xfrm>
            <a:off x="0" y="8685212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</a:pPr>
            <a:r>
              <a:rPr b="0" i="0" lang="en-US" sz="1200" u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Session1                        Ms.Dhivyaprabha E.</a:t>
            </a:r>
            <a:endParaRPr/>
          </a:p>
        </p:txBody>
      </p:sp>
      <p:sp>
        <p:nvSpPr>
          <p:cNvPr id="66" name="Google Shape;66;p4:notes"/>
          <p:cNvSpPr txBox="1"/>
          <p:nvPr/>
        </p:nvSpPr>
        <p:spPr>
          <a:xfrm>
            <a:off x="0" y="0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</a:pPr>
            <a:r>
              <a:rPr b="0" i="0" lang="en-US" sz="1200" u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18CS202 - PYTHON PROGRAMMING</a:t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p5:notes"/>
          <p:cNvSpPr/>
          <p:nvPr>
            <p:ph idx="2" type="sldImg"/>
          </p:nvPr>
        </p:nvSpPr>
        <p:spPr>
          <a:xfrm>
            <a:off x="1371600" y="1143000"/>
            <a:ext cx="41148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524288"/>
            <a:headEnd len="sm" w="sm" type="none"/>
            <a:tailEnd len="sm" w="sm" type="none"/>
          </a:ln>
        </p:spPr>
      </p:sp>
      <p:sp>
        <p:nvSpPr>
          <p:cNvPr id="77" name="Google Shape;77;p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8" name="Google Shape;78;p5:notes"/>
          <p:cNvSpPr txBox="1"/>
          <p:nvPr/>
        </p:nvSpPr>
        <p:spPr>
          <a:xfrm>
            <a:off x="3884612" y="8685212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</a:pPr>
            <a:fld id="{00000000-1234-1234-1234-123412341234}" type="slidenum">
              <a:rPr b="0" i="0" lang="en-US" sz="1200" u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/>
          </a:p>
        </p:txBody>
      </p:sp>
      <p:sp>
        <p:nvSpPr>
          <p:cNvPr id="79" name="Google Shape;79;p5:notes"/>
          <p:cNvSpPr txBox="1"/>
          <p:nvPr/>
        </p:nvSpPr>
        <p:spPr>
          <a:xfrm>
            <a:off x="0" y="8685212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</a:pPr>
            <a:r>
              <a:rPr b="0" i="0" lang="en-US" sz="1200" u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Session1                        Ms.Dhivyaprabha E.</a:t>
            </a:r>
            <a:endParaRPr/>
          </a:p>
        </p:txBody>
      </p:sp>
      <p:sp>
        <p:nvSpPr>
          <p:cNvPr id="80" name="Google Shape;80;p5:notes"/>
          <p:cNvSpPr txBox="1"/>
          <p:nvPr/>
        </p:nvSpPr>
        <p:spPr>
          <a:xfrm>
            <a:off x="0" y="0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</a:pPr>
            <a:r>
              <a:rPr b="0" i="0" lang="en-US" sz="1200" u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18CS202 - PYTHON PROGRAMMING</a:t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6:notes"/>
          <p:cNvSpPr/>
          <p:nvPr>
            <p:ph idx="2" type="sldImg"/>
          </p:nvPr>
        </p:nvSpPr>
        <p:spPr>
          <a:xfrm>
            <a:off x="1371600" y="1143000"/>
            <a:ext cx="41148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524288"/>
            <a:headEnd len="sm" w="sm" type="none"/>
            <a:tailEnd len="sm" w="sm" type="none"/>
          </a:ln>
        </p:spPr>
      </p:sp>
      <p:sp>
        <p:nvSpPr>
          <p:cNvPr id="97" name="Google Shape;97;p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8" name="Google Shape;98;p6:notes"/>
          <p:cNvSpPr txBox="1"/>
          <p:nvPr/>
        </p:nvSpPr>
        <p:spPr>
          <a:xfrm>
            <a:off x="3884612" y="8685212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</a:pPr>
            <a:fld id="{00000000-1234-1234-1234-123412341234}" type="slidenum">
              <a:rPr b="0" i="0" lang="en-US" sz="1200" u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/>
          </a:p>
        </p:txBody>
      </p:sp>
      <p:sp>
        <p:nvSpPr>
          <p:cNvPr id="99" name="Google Shape;99;p6:notes"/>
          <p:cNvSpPr txBox="1"/>
          <p:nvPr/>
        </p:nvSpPr>
        <p:spPr>
          <a:xfrm>
            <a:off x="0" y="8685212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</a:pPr>
            <a:r>
              <a:rPr b="0" i="0" lang="en-US" sz="1200" u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Session1                        Ms.Dhivyaprabha E.</a:t>
            </a:r>
            <a:endParaRPr/>
          </a:p>
        </p:txBody>
      </p:sp>
      <p:sp>
        <p:nvSpPr>
          <p:cNvPr id="100" name="Google Shape;100;p6:notes"/>
          <p:cNvSpPr txBox="1"/>
          <p:nvPr/>
        </p:nvSpPr>
        <p:spPr>
          <a:xfrm>
            <a:off x="0" y="0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</a:pPr>
            <a:r>
              <a:rPr b="0" i="0" lang="en-US" sz="1200" u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18CS202 - PYTHON PROGRAMMING</a:t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5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p7:notes"/>
          <p:cNvSpPr/>
          <p:nvPr>
            <p:ph idx="2" type="sldImg"/>
          </p:nvPr>
        </p:nvSpPr>
        <p:spPr>
          <a:xfrm>
            <a:off x="1371600" y="1143000"/>
            <a:ext cx="41148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524288"/>
            <a:headEnd len="sm" w="sm" type="none"/>
            <a:tailEnd len="sm" w="sm" type="none"/>
          </a:ln>
        </p:spPr>
      </p:sp>
      <p:sp>
        <p:nvSpPr>
          <p:cNvPr id="117" name="Google Shape;117;p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8" name="Google Shape;118;p7:notes"/>
          <p:cNvSpPr txBox="1"/>
          <p:nvPr/>
        </p:nvSpPr>
        <p:spPr>
          <a:xfrm>
            <a:off x="3884612" y="8685212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</a:pPr>
            <a:fld id="{00000000-1234-1234-1234-123412341234}" type="slidenum">
              <a:rPr b="0" i="0" lang="en-US" sz="1200" u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/>
          </a:p>
        </p:txBody>
      </p:sp>
      <p:sp>
        <p:nvSpPr>
          <p:cNvPr id="119" name="Google Shape;119;p7:notes"/>
          <p:cNvSpPr txBox="1"/>
          <p:nvPr/>
        </p:nvSpPr>
        <p:spPr>
          <a:xfrm>
            <a:off x="0" y="8685212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</a:pPr>
            <a:r>
              <a:rPr b="0" i="0" lang="en-US" sz="1200" u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Session1                        Ms.Dhivyaprabha E.</a:t>
            </a:r>
            <a:endParaRPr/>
          </a:p>
        </p:txBody>
      </p:sp>
      <p:sp>
        <p:nvSpPr>
          <p:cNvPr id="120" name="Google Shape;120;p7:notes"/>
          <p:cNvSpPr txBox="1"/>
          <p:nvPr/>
        </p:nvSpPr>
        <p:spPr>
          <a:xfrm>
            <a:off x="0" y="0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</a:pPr>
            <a:r>
              <a:rPr b="0" i="0" lang="en-US" sz="1200" u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18CS202 - PYTHON PROGRAMMING</a:t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6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p8:notes"/>
          <p:cNvSpPr/>
          <p:nvPr>
            <p:ph idx="2" type="sldImg"/>
          </p:nvPr>
        </p:nvSpPr>
        <p:spPr>
          <a:xfrm>
            <a:off x="1371600" y="1143000"/>
            <a:ext cx="41148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524288"/>
            <a:headEnd len="sm" w="sm" type="none"/>
            <a:tailEnd len="sm" w="sm" type="none"/>
          </a:ln>
        </p:spPr>
      </p:sp>
      <p:sp>
        <p:nvSpPr>
          <p:cNvPr id="138" name="Google Shape;138;p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9" name="Google Shape;139;p8:notes"/>
          <p:cNvSpPr txBox="1"/>
          <p:nvPr/>
        </p:nvSpPr>
        <p:spPr>
          <a:xfrm>
            <a:off x="3884612" y="8685212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</a:pPr>
            <a:fld id="{00000000-1234-1234-1234-123412341234}" type="slidenum">
              <a:rPr b="0" i="0" lang="en-US" sz="1200" u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/>
          </a:p>
        </p:txBody>
      </p:sp>
      <p:sp>
        <p:nvSpPr>
          <p:cNvPr id="140" name="Google Shape;140;p8:notes"/>
          <p:cNvSpPr txBox="1"/>
          <p:nvPr/>
        </p:nvSpPr>
        <p:spPr>
          <a:xfrm>
            <a:off x="0" y="8685212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</a:pPr>
            <a:r>
              <a:rPr b="0" i="0" lang="en-US" sz="1200" u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Session1                        Ms.Dhivyaprabha E.</a:t>
            </a:r>
            <a:endParaRPr/>
          </a:p>
        </p:txBody>
      </p:sp>
      <p:sp>
        <p:nvSpPr>
          <p:cNvPr id="141" name="Google Shape;141;p8:notes"/>
          <p:cNvSpPr txBox="1"/>
          <p:nvPr/>
        </p:nvSpPr>
        <p:spPr>
          <a:xfrm>
            <a:off x="0" y="0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</a:pPr>
            <a:r>
              <a:rPr b="0" i="0" lang="en-US" sz="1200" u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18CS202 - PYTHON PROGRAMMING</a:t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6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Google Shape;157;p9:notes"/>
          <p:cNvSpPr/>
          <p:nvPr>
            <p:ph idx="2" type="sldImg"/>
          </p:nvPr>
        </p:nvSpPr>
        <p:spPr>
          <a:xfrm>
            <a:off x="1371600" y="1143000"/>
            <a:ext cx="41148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524288"/>
            <a:headEnd len="sm" w="sm" type="none"/>
            <a:tailEnd len="sm" w="sm" type="none"/>
          </a:ln>
        </p:spPr>
      </p:sp>
      <p:sp>
        <p:nvSpPr>
          <p:cNvPr id="158" name="Google Shape;158;p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9" name="Google Shape;159;p9:notes"/>
          <p:cNvSpPr txBox="1"/>
          <p:nvPr/>
        </p:nvSpPr>
        <p:spPr>
          <a:xfrm>
            <a:off x="3884612" y="8685212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</a:pPr>
            <a:fld id="{00000000-1234-1234-1234-123412341234}" type="slidenum">
              <a:rPr b="0" i="0" lang="en-US" sz="1200" u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/>
          </a:p>
        </p:txBody>
      </p:sp>
      <p:sp>
        <p:nvSpPr>
          <p:cNvPr id="160" name="Google Shape;160;p9:notes"/>
          <p:cNvSpPr txBox="1"/>
          <p:nvPr/>
        </p:nvSpPr>
        <p:spPr>
          <a:xfrm>
            <a:off x="0" y="8685212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</a:pPr>
            <a:r>
              <a:rPr b="0" i="0" lang="en-US" sz="1200" u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Session1                        Ms.Dhivyaprabha E.</a:t>
            </a:r>
            <a:endParaRPr/>
          </a:p>
        </p:txBody>
      </p:sp>
      <p:sp>
        <p:nvSpPr>
          <p:cNvPr id="161" name="Google Shape;161;p9:notes"/>
          <p:cNvSpPr txBox="1"/>
          <p:nvPr/>
        </p:nvSpPr>
        <p:spPr>
          <a:xfrm>
            <a:off x="0" y="0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</a:pPr>
            <a:r>
              <a:rPr b="0" i="0" lang="en-US" sz="1200" u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18CS202 - PYTHON PROGRAMMING</a:t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3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Google Shape;174;p10:notes"/>
          <p:cNvSpPr/>
          <p:nvPr>
            <p:ph idx="2" type="sldImg"/>
          </p:nvPr>
        </p:nvSpPr>
        <p:spPr>
          <a:xfrm>
            <a:off x="1371600" y="1143000"/>
            <a:ext cx="41148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524288"/>
            <a:headEnd len="sm" w="sm" type="none"/>
            <a:tailEnd len="sm" w="sm" type="none"/>
          </a:ln>
        </p:spPr>
      </p:sp>
      <p:sp>
        <p:nvSpPr>
          <p:cNvPr id="175" name="Google Shape;175;p1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6" name="Google Shape;176;p10:notes"/>
          <p:cNvSpPr txBox="1"/>
          <p:nvPr/>
        </p:nvSpPr>
        <p:spPr>
          <a:xfrm>
            <a:off x="3884612" y="8685212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</a:pPr>
            <a:fld id="{00000000-1234-1234-1234-123412341234}" type="slidenum">
              <a:rPr b="0" i="0" lang="en-US" sz="1200" u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/>
          </a:p>
        </p:txBody>
      </p:sp>
      <p:sp>
        <p:nvSpPr>
          <p:cNvPr id="177" name="Google Shape;177;p10:notes"/>
          <p:cNvSpPr txBox="1"/>
          <p:nvPr/>
        </p:nvSpPr>
        <p:spPr>
          <a:xfrm>
            <a:off x="0" y="8685212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</a:pPr>
            <a:r>
              <a:rPr b="0" i="0" lang="en-US" sz="1200" u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Session1                        Ms.Dhivyaprabha E.</a:t>
            </a:r>
            <a:endParaRPr/>
          </a:p>
        </p:txBody>
      </p:sp>
      <p:sp>
        <p:nvSpPr>
          <p:cNvPr id="178" name="Google Shape;178;p10:notes"/>
          <p:cNvSpPr txBox="1"/>
          <p:nvPr/>
        </p:nvSpPr>
        <p:spPr>
          <a:xfrm>
            <a:off x="0" y="0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</a:pPr>
            <a:r>
              <a:rPr b="0" i="0" lang="en-US" sz="1200" u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18CS202 - PYTHON PROGRAMMING</a:t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0" name="Shape 1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" name="Google Shape;191;p11:notes"/>
          <p:cNvSpPr/>
          <p:nvPr>
            <p:ph idx="2" type="sldImg"/>
          </p:nvPr>
        </p:nvSpPr>
        <p:spPr>
          <a:xfrm>
            <a:off x="1371600" y="1143000"/>
            <a:ext cx="41148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92" name="Google Shape;192;p1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3" name="Google Shape;193;p11:notes"/>
          <p:cNvSpPr txBox="1"/>
          <p:nvPr/>
        </p:nvSpPr>
        <p:spPr>
          <a:xfrm>
            <a:off x="3884612" y="8685212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b="0" i="0" lang="en-US" sz="120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5" name="Shape 2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" name="Google Shape;206;p12:notes"/>
          <p:cNvSpPr/>
          <p:nvPr>
            <p:ph idx="2" type="sldImg"/>
          </p:nvPr>
        </p:nvSpPr>
        <p:spPr>
          <a:xfrm>
            <a:off x="1371600" y="1143000"/>
            <a:ext cx="41148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07" name="Google Shape;207;p1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8" name="Google Shape;208;p12:notes"/>
          <p:cNvSpPr txBox="1"/>
          <p:nvPr/>
        </p:nvSpPr>
        <p:spPr>
          <a:xfrm>
            <a:off x="3884612" y="8685212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b="0" i="0" lang="en-US" sz="120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0" name="Shape 2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1" name="Google Shape;221;p13:notes"/>
          <p:cNvSpPr/>
          <p:nvPr>
            <p:ph idx="2" type="sldImg"/>
          </p:nvPr>
        </p:nvSpPr>
        <p:spPr>
          <a:xfrm>
            <a:off x="1371600" y="1143000"/>
            <a:ext cx="41148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22" name="Google Shape;222;p1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3" name="Google Shape;223;p13:notes"/>
          <p:cNvSpPr txBox="1"/>
          <p:nvPr/>
        </p:nvSpPr>
        <p:spPr>
          <a:xfrm>
            <a:off x="3884612" y="8685212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b="0" i="0" lang="en-US" sz="120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5" name="Shape 2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6" name="Google Shape;236;p14:notes"/>
          <p:cNvSpPr/>
          <p:nvPr>
            <p:ph idx="2" type="sldImg"/>
          </p:nvPr>
        </p:nvSpPr>
        <p:spPr>
          <a:xfrm>
            <a:off x="1371600" y="1143000"/>
            <a:ext cx="41148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37" name="Google Shape;237;p1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8" name="Google Shape;238;p14:notes"/>
          <p:cNvSpPr txBox="1"/>
          <p:nvPr/>
        </p:nvSpPr>
        <p:spPr>
          <a:xfrm>
            <a:off x="3884612" y="8685212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b="0" i="0" lang="en-US" sz="120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0" name="Shape 2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1" name="Google Shape;251;p15:notes"/>
          <p:cNvSpPr/>
          <p:nvPr>
            <p:ph idx="2" type="sldImg"/>
          </p:nvPr>
        </p:nvSpPr>
        <p:spPr>
          <a:xfrm>
            <a:off x="1371600" y="1143000"/>
            <a:ext cx="41148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52" name="Google Shape;252;p1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3" name="Google Shape;253;p15:notes"/>
          <p:cNvSpPr txBox="1"/>
          <p:nvPr/>
        </p:nvSpPr>
        <p:spPr>
          <a:xfrm>
            <a:off x="3884612" y="8685212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b="0" i="0" lang="en-US" sz="120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5" name="Shape 2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" name="Google Shape;266;p16:notes"/>
          <p:cNvSpPr/>
          <p:nvPr>
            <p:ph idx="2" type="sldImg"/>
          </p:nvPr>
        </p:nvSpPr>
        <p:spPr>
          <a:xfrm>
            <a:off x="1371600" y="1143000"/>
            <a:ext cx="41148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67" name="Google Shape;267;p1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8" name="Google Shape;268;p16:notes"/>
          <p:cNvSpPr txBox="1"/>
          <p:nvPr/>
        </p:nvSpPr>
        <p:spPr>
          <a:xfrm>
            <a:off x="3884612" y="8685212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b="0" i="0" lang="en-US" sz="120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0" name="Shape 2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1" name="Google Shape;281;p17:notes"/>
          <p:cNvSpPr/>
          <p:nvPr>
            <p:ph idx="2" type="sldImg"/>
          </p:nvPr>
        </p:nvSpPr>
        <p:spPr>
          <a:xfrm>
            <a:off x="1371600" y="1143000"/>
            <a:ext cx="41148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82" name="Google Shape;282;p1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3" name="Google Shape;283;p17:notes"/>
          <p:cNvSpPr txBox="1"/>
          <p:nvPr/>
        </p:nvSpPr>
        <p:spPr>
          <a:xfrm>
            <a:off x="3884612" y="8685212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b="0" i="0" lang="en-US" sz="120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5" name="Shape 2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" name="Google Shape;296;p18:notes"/>
          <p:cNvSpPr/>
          <p:nvPr>
            <p:ph idx="2" type="sldImg"/>
          </p:nvPr>
        </p:nvSpPr>
        <p:spPr>
          <a:xfrm>
            <a:off x="1371600" y="1143000"/>
            <a:ext cx="41148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97" name="Google Shape;297;p1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8" name="Google Shape;298;p18:notes"/>
          <p:cNvSpPr txBox="1"/>
          <p:nvPr/>
        </p:nvSpPr>
        <p:spPr>
          <a:xfrm>
            <a:off x="3884612" y="8685212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b="0" i="0" lang="en-US" sz="120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0" name="Shape 3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1" name="Google Shape;311;p19:notes"/>
          <p:cNvSpPr/>
          <p:nvPr>
            <p:ph idx="2" type="sldImg"/>
          </p:nvPr>
        </p:nvSpPr>
        <p:spPr>
          <a:xfrm>
            <a:off x="1371600" y="1143000"/>
            <a:ext cx="41148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312" name="Google Shape;312;p1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3" name="Google Shape;313;p19:notes"/>
          <p:cNvSpPr txBox="1"/>
          <p:nvPr/>
        </p:nvSpPr>
        <p:spPr>
          <a:xfrm>
            <a:off x="3884612" y="8685212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b="0" i="0" lang="en-US" sz="120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5" name="Shape 3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6" name="Google Shape;326;p20:notes"/>
          <p:cNvSpPr/>
          <p:nvPr>
            <p:ph idx="2" type="sldImg"/>
          </p:nvPr>
        </p:nvSpPr>
        <p:spPr>
          <a:xfrm>
            <a:off x="1371600" y="1143000"/>
            <a:ext cx="41148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327" name="Google Shape;327;p2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8" name="Google Shape;328;p20:notes"/>
          <p:cNvSpPr txBox="1"/>
          <p:nvPr/>
        </p:nvSpPr>
        <p:spPr>
          <a:xfrm>
            <a:off x="3884612" y="8685212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b="0" i="0" lang="en-US" sz="120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0" name="Shape 3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1" name="Google Shape;341;p21:notes"/>
          <p:cNvSpPr/>
          <p:nvPr>
            <p:ph idx="2" type="sldImg"/>
          </p:nvPr>
        </p:nvSpPr>
        <p:spPr>
          <a:xfrm>
            <a:off x="1371600" y="1143000"/>
            <a:ext cx="41148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342" name="Google Shape;342;p2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3" name="Google Shape;343;p21:notes"/>
          <p:cNvSpPr txBox="1"/>
          <p:nvPr/>
        </p:nvSpPr>
        <p:spPr>
          <a:xfrm>
            <a:off x="3884612" y="8685212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b="0" i="0" lang="en-US" sz="120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5" name="Shape 3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6" name="Google Shape;356;p22:notes"/>
          <p:cNvSpPr/>
          <p:nvPr>
            <p:ph idx="2" type="sldImg"/>
          </p:nvPr>
        </p:nvSpPr>
        <p:spPr>
          <a:xfrm>
            <a:off x="1371600" y="1143000"/>
            <a:ext cx="41148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357" name="Google Shape;357;p2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8" name="Google Shape;358;p22:notes"/>
          <p:cNvSpPr txBox="1"/>
          <p:nvPr/>
        </p:nvSpPr>
        <p:spPr>
          <a:xfrm>
            <a:off x="3884612" y="8685212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b="0" i="0" lang="en-US" sz="120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70" name="Shape 3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1" name="Google Shape;371;p23:notes"/>
          <p:cNvSpPr/>
          <p:nvPr>
            <p:ph idx="2" type="sldImg"/>
          </p:nvPr>
        </p:nvSpPr>
        <p:spPr>
          <a:xfrm>
            <a:off x="1371600" y="1143000"/>
            <a:ext cx="41148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372" name="Google Shape;372;p2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3" name="Google Shape;373;p23:notes"/>
          <p:cNvSpPr txBox="1"/>
          <p:nvPr/>
        </p:nvSpPr>
        <p:spPr>
          <a:xfrm>
            <a:off x="3884612" y="8685212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b="0" i="0" lang="en-US" sz="120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85" name="Shape 3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6" name="Google Shape;386;p24:notes"/>
          <p:cNvSpPr/>
          <p:nvPr>
            <p:ph idx="2" type="sldImg"/>
          </p:nvPr>
        </p:nvSpPr>
        <p:spPr>
          <a:xfrm>
            <a:off x="1371600" y="1143000"/>
            <a:ext cx="41148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387" name="Google Shape;387;p2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8" name="Google Shape;388;p24:notes"/>
          <p:cNvSpPr txBox="1"/>
          <p:nvPr/>
        </p:nvSpPr>
        <p:spPr>
          <a:xfrm>
            <a:off x="3884612" y="8685212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b="0" i="0" lang="en-US" sz="120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00" name="Shape 4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1" name="Google Shape;401;p25:notes"/>
          <p:cNvSpPr/>
          <p:nvPr>
            <p:ph idx="2" type="sldImg"/>
          </p:nvPr>
        </p:nvSpPr>
        <p:spPr>
          <a:xfrm>
            <a:off x="1371600" y="1143000"/>
            <a:ext cx="41148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402" name="Google Shape;402;p2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3" name="Google Shape;403;p25:notes"/>
          <p:cNvSpPr txBox="1"/>
          <p:nvPr/>
        </p:nvSpPr>
        <p:spPr>
          <a:xfrm>
            <a:off x="3884612" y="8685212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b="0" i="0" lang="en-US" sz="120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16" name="Shape 4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7" name="Google Shape;417;p26:notes"/>
          <p:cNvSpPr/>
          <p:nvPr>
            <p:ph idx="2" type="sldImg"/>
          </p:nvPr>
        </p:nvSpPr>
        <p:spPr>
          <a:xfrm>
            <a:off x="1371600" y="1143000"/>
            <a:ext cx="41148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418" name="Google Shape;418;p2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9" name="Google Shape;419;p26:notes"/>
          <p:cNvSpPr txBox="1"/>
          <p:nvPr/>
        </p:nvSpPr>
        <p:spPr>
          <a:xfrm>
            <a:off x="3884612" y="8685212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b="0" i="0" lang="en-US" sz="120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29" name="Shape 4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" name="Google Shape;430;p27:notes"/>
          <p:cNvSpPr/>
          <p:nvPr>
            <p:ph idx="2" type="sldImg"/>
          </p:nvPr>
        </p:nvSpPr>
        <p:spPr>
          <a:xfrm>
            <a:off x="1371600" y="1143000"/>
            <a:ext cx="41148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431" name="Google Shape;431;p2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2" name="Google Shape;432;p27:notes"/>
          <p:cNvSpPr txBox="1"/>
          <p:nvPr/>
        </p:nvSpPr>
        <p:spPr>
          <a:xfrm>
            <a:off x="3884612" y="8685212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b="0" i="0" lang="en-US" sz="120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38" name="Shape 4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9" name="Google Shape;439;p28:notes"/>
          <p:cNvSpPr/>
          <p:nvPr>
            <p:ph idx="2" type="sldImg"/>
          </p:nvPr>
        </p:nvSpPr>
        <p:spPr>
          <a:xfrm>
            <a:off x="1371600" y="1143000"/>
            <a:ext cx="41148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440" name="Google Shape;440;p2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1" name="Google Shape;441;p28:notes"/>
          <p:cNvSpPr txBox="1"/>
          <p:nvPr/>
        </p:nvSpPr>
        <p:spPr>
          <a:xfrm>
            <a:off x="3884612" y="8685212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b="0" i="0" lang="en-US" sz="120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46" name="Shape 4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7" name="Google Shape;447;p29:notes"/>
          <p:cNvSpPr/>
          <p:nvPr>
            <p:ph idx="2" type="sldImg"/>
          </p:nvPr>
        </p:nvSpPr>
        <p:spPr>
          <a:xfrm>
            <a:off x="1371600" y="1143000"/>
            <a:ext cx="41148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448" name="Google Shape;448;p2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9" name="Google Shape;449;p29:notes"/>
          <p:cNvSpPr txBox="1"/>
          <p:nvPr/>
        </p:nvSpPr>
        <p:spPr>
          <a:xfrm>
            <a:off x="3884612" y="8685212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b="0" i="0" lang="en-US" sz="120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54" name="Shape 4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5" name="Google Shape;455;p30:notes"/>
          <p:cNvSpPr/>
          <p:nvPr>
            <p:ph idx="2" type="sldImg"/>
          </p:nvPr>
        </p:nvSpPr>
        <p:spPr>
          <a:xfrm>
            <a:off x="1371600" y="1143000"/>
            <a:ext cx="41148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456" name="Google Shape;456;p3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7" name="Google Shape;457;p30:notes"/>
          <p:cNvSpPr txBox="1"/>
          <p:nvPr/>
        </p:nvSpPr>
        <p:spPr>
          <a:xfrm>
            <a:off x="3884612" y="8685212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b="0" i="0" lang="en-US" sz="120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62" name="Shape 4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3" name="Google Shape;463;p31:notes"/>
          <p:cNvSpPr/>
          <p:nvPr>
            <p:ph idx="2" type="sldImg"/>
          </p:nvPr>
        </p:nvSpPr>
        <p:spPr>
          <a:xfrm>
            <a:off x="1371600" y="1143000"/>
            <a:ext cx="41148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464" name="Google Shape;464;p3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5" name="Google Shape;465;p31:notes"/>
          <p:cNvSpPr txBox="1"/>
          <p:nvPr/>
        </p:nvSpPr>
        <p:spPr>
          <a:xfrm>
            <a:off x="3884612" y="8685212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b="0" i="0" lang="en-US" sz="120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70" name="Shape 4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" name="Google Shape;471;p32:notes"/>
          <p:cNvSpPr/>
          <p:nvPr>
            <p:ph idx="2" type="sldImg"/>
          </p:nvPr>
        </p:nvSpPr>
        <p:spPr>
          <a:xfrm>
            <a:off x="1371600" y="1143000"/>
            <a:ext cx="41148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472" name="Google Shape;472;p3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73" name="Google Shape;473;p32:notes"/>
          <p:cNvSpPr txBox="1"/>
          <p:nvPr/>
        </p:nvSpPr>
        <p:spPr>
          <a:xfrm>
            <a:off x="3884612" y="8685212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b="0" i="0" lang="en-US" sz="120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78" name="Shape 4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9" name="Google Shape;479;p33:notes"/>
          <p:cNvSpPr/>
          <p:nvPr>
            <p:ph idx="2" type="sldImg"/>
          </p:nvPr>
        </p:nvSpPr>
        <p:spPr>
          <a:xfrm>
            <a:off x="1371600" y="1143000"/>
            <a:ext cx="41148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480" name="Google Shape;480;p3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81" name="Google Shape;481;p33:notes"/>
          <p:cNvSpPr txBox="1"/>
          <p:nvPr/>
        </p:nvSpPr>
        <p:spPr>
          <a:xfrm>
            <a:off x="3884612" y="8685212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b="0" i="0" lang="en-US" sz="120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86" name="Shape 4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7" name="Google Shape;487;p34:notes"/>
          <p:cNvSpPr/>
          <p:nvPr>
            <p:ph idx="2" type="sldImg"/>
          </p:nvPr>
        </p:nvSpPr>
        <p:spPr>
          <a:xfrm>
            <a:off x="1371600" y="1143000"/>
            <a:ext cx="41148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488" name="Google Shape;488;p3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89" name="Google Shape;489;p34:notes"/>
          <p:cNvSpPr txBox="1"/>
          <p:nvPr/>
        </p:nvSpPr>
        <p:spPr>
          <a:xfrm>
            <a:off x="3884612" y="8685212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b="0" i="0" lang="en-US" sz="120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94" name="Shape 4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5" name="Google Shape;495;p35:notes"/>
          <p:cNvSpPr/>
          <p:nvPr>
            <p:ph idx="2" type="sldImg"/>
          </p:nvPr>
        </p:nvSpPr>
        <p:spPr>
          <a:xfrm>
            <a:off x="1371600" y="1143000"/>
            <a:ext cx="41148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496" name="Google Shape;496;p3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97" name="Google Shape;497;p35:notes"/>
          <p:cNvSpPr txBox="1"/>
          <p:nvPr/>
        </p:nvSpPr>
        <p:spPr>
          <a:xfrm>
            <a:off x="3884612" y="8685212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b="0" i="0" lang="en-US" sz="120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2" name="Shape 5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3" name="Google Shape;503;p36:notes"/>
          <p:cNvSpPr/>
          <p:nvPr>
            <p:ph idx="2" type="sldImg"/>
          </p:nvPr>
        </p:nvSpPr>
        <p:spPr>
          <a:xfrm>
            <a:off x="1371600" y="1143000"/>
            <a:ext cx="41148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504" name="Google Shape;504;p3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05" name="Google Shape;505;p36:notes"/>
          <p:cNvSpPr txBox="1"/>
          <p:nvPr/>
        </p:nvSpPr>
        <p:spPr>
          <a:xfrm>
            <a:off x="3884612" y="8685212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b="0" i="0" lang="en-US" sz="120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able" type="tbl">
  <p:cSld name="TABLE">
    <p:spTree>
      <p:nvGrpSpPr>
        <p:cNvPr id="12" name="Shape 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Google Shape;13;p38"/>
          <p:cNvSpPr txBox="1"/>
          <p:nvPr>
            <p:ph type="title"/>
          </p:nvPr>
        </p:nvSpPr>
        <p:spPr>
          <a:xfrm>
            <a:off x="457200" y="457200"/>
            <a:ext cx="8229600" cy="1371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4" name="Google Shape;14;p38"/>
          <p:cNvSpPr/>
          <p:nvPr>
            <p:ph idx="2" type="tbl"/>
          </p:nvPr>
        </p:nvSpPr>
        <p:spPr>
          <a:xfrm>
            <a:off x="457200" y="1981200"/>
            <a:ext cx="8229600" cy="3886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Text, and Content" type="txAndObj">
  <p:cSld name="TEXT_AND_OBJECT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40"/>
          <p:cNvSpPr txBox="1"/>
          <p:nvPr>
            <p:ph type="title"/>
          </p:nvPr>
        </p:nvSpPr>
        <p:spPr>
          <a:xfrm>
            <a:off x="457200" y="457200"/>
            <a:ext cx="8229600" cy="1371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23" name="Google Shape;23;p40"/>
          <p:cNvSpPr txBox="1"/>
          <p:nvPr>
            <p:ph idx="1" type="body"/>
          </p:nvPr>
        </p:nvSpPr>
        <p:spPr>
          <a:xfrm>
            <a:off x="457200" y="1981200"/>
            <a:ext cx="4038600" cy="3886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81000" lvl="0" marL="457200" marR="0" rtl="0" algn="l">
              <a:spcBef>
                <a:spcPts val="640"/>
              </a:spcBef>
              <a:spcAft>
                <a:spcPts val="0"/>
              </a:spcAft>
              <a:buClr>
                <a:schemeClr val="lt2"/>
              </a:buClr>
              <a:buSzPts val="2400"/>
              <a:buFont typeface="Noto Sans Symbols"/>
              <a:buChar char="■"/>
              <a:defRPr b="0" i="0" sz="3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7084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accent2"/>
              </a:buClr>
              <a:buSzPts val="2240"/>
              <a:buFont typeface="Noto Sans Symbols"/>
              <a:buChar char="◻"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2766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lt2"/>
              </a:buClr>
              <a:buSzPts val="1560"/>
              <a:buFont typeface="Noto Sans Symbols"/>
              <a:buChar char="■"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175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accent2"/>
              </a:buClr>
              <a:buSzPts val="1400"/>
              <a:buFont typeface="Noto Sans Symbols"/>
              <a:buChar char="◻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lt2"/>
              </a:buClr>
              <a:buSzPts val="2000"/>
              <a:buFont typeface="Noto Sans Symbols"/>
              <a:buChar char="▪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24" name="Google Shape;24;p40"/>
          <p:cNvSpPr txBox="1"/>
          <p:nvPr>
            <p:ph idx="2" type="body"/>
          </p:nvPr>
        </p:nvSpPr>
        <p:spPr>
          <a:xfrm>
            <a:off x="4648200" y="1981200"/>
            <a:ext cx="4038600" cy="3886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81000" lvl="0" marL="457200" marR="0" rtl="0" algn="l">
              <a:spcBef>
                <a:spcPts val="640"/>
              </a:spcBef>
              <a:spcAft>
                <a:spcPts val="0"/>
              </a:spcAft>
              <a:buClr>
                <a:schemeClr val="lt2"/>
              </a:buClr>
              <a:buSzPts val="2400"/>
              <a:buFont typeface="Noto Sans Symbols"/>
              <a:buChar char="■"/>
              <a:defRPr b="0" i="0" sz="3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7084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accent2"/>
              </a:buClr>
              <a:buSzPts val="2240"/>
              <a:buFont typeface="Noto Sans Symbols"/>
              <a:buChar char="◻"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2766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lt2"/>
              </a:buClr>
              <a:buSzPts val="1560"/>
              <a:buFont typeface="Noto Sans Symbols"/>
              <a:buChar char="■"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175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accent2"/>
              </a:buClr>
              <a:buSzPts val="1400"/>
              <a:buFont typeface="Noto Sans Symbols"/>
              <a:buChar char="◻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lt2"/>
              </a:buClr>
              <a:buSzPts val="2000"/>
              <a:buFont typeface="Noto Sans Symbols"/>
              <a:buChar char="▪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25" name="Google Shape;25;p40"/>
          <p:cNvSpPr txBox="1"/>
          <p:nvPr>
            <p:ph idx="11" type="ftr"/>
          </p:nvPr>
        </p:nvSpPr>
        <p:spPr>
          <a:xfrm>
            <a:off x="304800" y="6248400"/>
            <a:ext cx="5715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40"/>
          <p:cNvSpPr txBox="1"/>
          <p:nvPr>
            <p:ph idx="12" type="sldNum"/>
          </p:nvPr>
        </p:nvSpPr>
        <p:spPr>
          <a:xfrm>
            <a:off x="6553200" y="6248400"/>
            <a:ext cx="2133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b="0" i="0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b="0" i="0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b="0" i="0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b="0" i="0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b="0" i="0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b="0" i="0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b="0" i="0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b="0" i="0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b="0" i="0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27" name="Google Shape;27;p40"/>
          <p:cNvSpPr txBox="1"/>
          <p:nvPr>
            <p:ph idx="10" type="dt"/>
          </p:nvPr>
        </p:nvSpPr>
        <p:spPr>
          <a:xfrm>
            <a:off x="457200" y="6245225"/>
            <a:ext cx="2133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34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Google Shape;35;p42"/>
          <p:cNvSpPr txBox="1"/>
          <p:nvPr>
            <p:ph type="title"/>
          </p:nvPr>
        </p:nvSpPr>
        <p:spPr>
          <a:xfrm>
            <a:off x="457200" y="457200"/>
            <a:ext cx="8229600" cy="1371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36" name="Google Shape;36;p42"/>
          <p:cNvSpPr txBox="1"/>
          <p:nvPr>
            <p:ph idx="1" type="body"/>
          </p:nvPr>
        </p:nvSpPr>
        <p:spPr>
          <a:xfrm>
            <a:off x="457200" y="1981200"/>
            <a:ext cx="8229600" cy="3886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81000" lvl="0" marL="457200" marR="0" rtl="0" algn="l">
              <a:spcBef>
                <a:spcPts val="640"/>
              </a:spcBef>
              <a:spcAft>
                <a:spcPts val="0"/>
              </a:spcAft>
              <a:buClr>
                <a:schemeClr val="lt2"/>
              </a:buClr>
              <a:buSzPts val="2400"/>
              <a:buFont typeface="Noto Sans Symbols"/>
              <a:buChar char="■"/>
              <a:defRPr b="0" i="0" sz="3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7084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accent2"/>
              </a:buClr>
              <a:buSzPts val="2240"/>
              <a:buFont typeface="Noto Sans Symbols"/>
              <a:buChar char="◻"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2766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lt2"/>
              </a:buClr>
              <a:buSzPts val="1560"/>
              <a:buFont typeface="Noto Sans Symbols"/>
              <a:buChar char="■"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175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accent2"/>
              </a:buClr>
              <a:buSzPts val="1400"/>
              <a:buFont typeface="Noto Sans Symbols"/>
              <a:buChar char="◻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lt2"/>
              </a:buClr>
              <a:buSzPts val="2000"/>
              <a:buFont typeface="Noto Sans Symbols"/>
              <a:buChar char="▪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37" name="Google Shape;37;p42"/>
          <p:cNvSpPr txBox="1"/>
          <p:nvPr>
            <p:ph idx="11" type="ftr"/>
          </p:nvPr>
        </p:nvSpPr>
        <p:spPr>
          <a:xfrm>
            <a:off x="304800" y="6248400"/>
            <a:ext cx="5715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42"/>
          <p:cNvSpPr txBox="1"/>
          <p:nvPr>
            <p:ph idx="12" type="sldNum"/>
          </p:nvPr>
        </p:nvSpPr>
        <p:spPr>
          <a:xfrm>
            <a:off x="6553200" y="6248400"/>
            <a:ext cx="2133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b="0" i="0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b="0" i="0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b="0" i="0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b="0" i="0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b="0" i="0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b="0" i="0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b="0" i="0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b="0" i="0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b="0" i="0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39" name="Google Shape;39;p42"/>
          <p:cNvSpPr txBox="1"/>
          <p:nvPr>
            <p:ph idx="10" type="dt"/>
          </p:nvPr>
        </p:nvSpPr>
        <p:spPr>
          <a:xfrm>
            <a:off x="457200" y="6245225"/>
            <a:ext cx="2133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EFAULT">
  <p:cSld name="DEFAULT">
    <p:spTree>
      <p:nvGrpSpPr>
        <p:cNvPr id="43" name="Shape 43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_rels/slideMaster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theme" Target="../theme/theme4.xml"/></Relationships>
</file>

<file path=ppt/slideMasters/_rels/slideMaster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theme" Target="../theme/theme5.xml"/></Relationships>
</file>

<file path=ppt/slideMasters/_rels/slideMaster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37"/>
          <p:cNvSpPr txBox="1"/>
          <p:nvPr/>
        </p:nvSpPr>
        <p:spPr>
          <a:xfrm>
            <a:off x="0" y="6464300"/>
            <a:ext cx="9144000" cy="387350"/>
          </a:xfrm>
          <a:prstGeom prst="rect">
            <a:avLst/>
          </a:prstGeom>
          <a:gradFill>
            <a:gsLst>
              <a:gs pos="0">
                <a:srgbClr val="A7A7FF"/>
              </a:gs>
              <a:gs pos="50000">
                <a:srgbClr val="9494FF"/>
              </a:gs>
              <a:gs pos="100000">
                <a:srgbClr val="7B7BE5"/>
              </a:gs>
            </a:gsLst>
            <a:lin ang="5400000" scaled="0"/>
          </a:gradFill>
          <a:ln cap="flat" cmpd="sng" w="9525">
            <a:solidFill>
              <a:schemeClr val="accent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1800"/>
              <a:buFont typeface="Times New Roman"/>
              <a:buNone/>
            </a:pPr>
            <a:r>
              <a:rPr b="1" i="0" lang="en-US" sz="1800" u="none" cap="none" strike="noStrike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MODULE I-INTRODUCTION AND MATHEMATICAL FOUNDATIONS </a:t>
            </a:r>
            <a:endParaRPr/>
          </a:p>
        </p:txBody>
      </p:sp>
      <p:sp>
        <p:nvSpPr>
          <p:cNvPr id="11" name="Google Shape;11;p37"/>
          <p:cNvSpPr txBox="1"/>
          <p:nvPr/>
        </p:nvSpPr>
        <p:spPr>
          <a:xfrm>
            <a:off x="0" y="-33337"/>
            <a:ext cx="9144000" cy="385762"/>
          </a:xfrm>
          <a:prstGeom prst="rect">
            <a:avLst/>
          </a:prstGeom>
          <a:gradFill>
            <a:gsLst>
              <a:gs pos="0">
                <a:srgbClr val="A7A7FF"/>
              </a:gs>
              <a:gs pos="50000">
                <a:srgbClr val="9494FF"/>
              </a:gs>
              <a:gs pos="100000">
                <a:srgbClr val="7B7BE5"/>
              </a:gs>
            </a:gsLst>
            <a:lin ang="5400000" scaled="0"/>
          </a:gradFill>
          <a:ln cap="flat" cmpd="sng" w="9525">
            <a:solidFill>
              <a:schemeClr val="accent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t/>
            </a:r>
            <a:endParaRPr b="1" i="0" sz="1800" u="none" cap="none" strike="noStrike">
              <a:solidFill>
                <a:srgbClr val="FF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1800"/>
              <a:buFont typeface="Times New Roman"/>
              <a:buNone/>
            </a:pPr>
            <a:r>
              <a:rPr b="1" i="0" lang="en-US" sz="1800" u="none" cap="none" strike="noStrike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				23CSC02 - MACHINE LEARNING TECHNIQUES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i="0" sz="1800" u="none">
              <a:solidFill>
                <a:srgbClr val="FF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9"/>
          <p:cNvSpPr txBox="1"/>
          <p:nvPr/>
        </p:nvSpPr>
        <p:spPr>
          <a:xfrm>
            <a:off x="0" y="6464300"/>
            <a:ext cx="9144000" cy="387350"/>
          </a:xfrm>
          <a:prstGeom prst="rect">
            <a:avLst/>
          </a:prstGeom>
          <a:gradFill>
            <a:gsLst>
              <a:gs pos="0">
                <a:srgbClr val="A7A7FF"/>
              </a:gs>
              <a:gs pos="50000">
                <a:srgbClr val="9494FF"/>
              </a:gs>
              <a:gs pos="100000">
                <a:srgbClr val="7B7BE5"/>
              </a:gs>
            </a:gsLst>
            <a:lin ang="5400000" scaled="0"/>
          </a:gradFill>
          <a:ln cap="flat" cmpd="sng" w="9525">
            <a:solidFill>
              <a:schemeClr val="accent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1800"/>
              <a:buFont typeface="Times New Roman"/>
              <a:buNone/>
            </a:pPr>
            <a:r>
              <a:rPr b="1" i="0" lang="en-US" sz="1800" u="none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MODULE I-INTRODUCTION AND MATHEMATICAL FOUNDATIONS </a:t>
            </a:r>
            <a:endParaRPr/>
          </a:p>
        </p:txBody>
      </p:sp>
      <p:sp>
        <p:nvSpPr>
          <p:cNvPr id="17" name="Google Shape;17;p39"/>
          <p:cNvSpPr txBox="1"/>
          <p:nvPr/>
        </p:nvSpPr>
        <p:spPr>
          <a:xfrm>
            <a:off x="0" y="-33337"/>
            <a:ext cx="9144000" cy="385762"/>
          </a:xfrm>
          <a:prstGeom prst="rect">
            <a:avLst/>
          </a:prstGeom>
          <a:gradFill>
            <a:gsLst>
              <a:gs pos="0">
                <a:srgbClr val="A7A7FF"/>
              </a:gs>
              <a:gs pos="50000">
                <a:srgbClr val="9494FF"/>
              </a:gs>
              <a:gs pos="100000">
                <a:srgbClr val="7B7BE5"/>
              </a:gs>
            </a:gsLst>
            <a:lin ang="5400000" scaled="0"/>
          </a:gradFill>
          <a:ln cap="flat" cmpd="sng" w="9525">
            <a:solidFill>
              <a:schemeClr val="accent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t/>
            </a:r>
            <a:endParaRPr b="1" i="0" sz="1800" u="none">
              <a:solidFill>
                <a:srgbClr val="FF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1800"/>
              <a:buFont typeface="Times New Roman"/>
              <a:buNone/>
            </a:pPr>
            <a:r>
              <a:rPr b="1" i="0" lang="en-US" sz="1800" u="none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				23CSC02 - MACHINE LEARNING TECHNIQUES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i="0" sz="1800" u="none">
              <a:solidFill>
                <a:srgbClr val="FF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8" name="Google Shape;18;p39"/>
          <p:cNvSpPr txBox="1"/>
          <p:nvPr>
            <p:ph idx="11" type="ftr"/>
          </p:nvPr>
        </p:nvSpPr>
        <p:spPr>
          <a:xfrm>
            <a:off x="304800" y="6248400"/>
            <a:ext cx="5715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9" name="Google Shape;19;p39"/>
          <p:cNvSpPr txBox="1"/>
          <p:nvPr>
            <p:ph idx="12" type="sldNum"/>
          </p:nvPr>
        </p:nvSpPr>
        <p:spPr>
          <a:xfrm>
            <a:off x="6553200" y="6248400"/>
            <a:ext cx="2133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b="0" i="0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b="0" i="0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b="0" i="0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b="0" i="0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b="0" i="0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b="0" i="0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b="0" i="0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b="0" i="0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b="0" i="0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 sz="1400">
              <a:solidFill>
                <a:srgbClr val="000000"/>
              </a:solidFill>
            </a:endParaRPr>
          </a:p>
        </p:txBody>
      </p:sp>
      <p:sp>
        <p:nvSpPr>
          <p:cNvPr id="20" name="Google Shape;20;p39"/>
          <p:cNvSpPr txBox="1"/>
          <p:nvPr>
            <p:ph idx="10" type="dt"/>
          </p:nvPr>
        </p:nvSpPr>
        <p:spPr>
          <a:xfrm>
            <a:off x="457200" y="6245225"/>
            <a:ext cx="2133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51" r:id="rId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41"/>
          <p:cNvSpPr txBox="1"/>
          <p:nvPr/>
        </p:nvSpPr>
        <p:spPr>
          <a:xfrm>
            <a:off x="0" y="6464300"/>
            <a:ext cx="9144000" cy="387350"/>
          </a:xfrm>
          <a:prstGeom prst="rect">
            <a:avLst/>
          </a:prstGeom>
          <a:gradFill>
            <a:gsLst>
              <a:gs pos="0">
                <a:srgbClr val="A7A7FF"/>
              </a:gs>
              <a:gs pos="50000">
                <a:srgbClr val="9494FF"/>
              </a:gs>
              <a:gs pos="100000">
                <a:srgbClr val="7B7BE5"/>
              </a:gs>
            </a:gsLst>
            <a:lin ang="5400000" scaled="0"/>
          </a:gradFill>
          <a:ln cap="flat" cmpd="sng" w="9525">
            <a:solidFill>
              <a:schemeClr val="accent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1800"/>
              <a:buFont typeface="Times New Roman"/>
              <a:buNone/>
            </a:pPr>
            <a:r>
              <a:rPr b="1" i="0" lang="en-US" sz="1800" u="none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MODULE I-INTRODUCTION AND MATHEMATICAL FOUNDATIONS </a:t>
            </a:r>
            <a:endParaRPr/>
          </a:p>
        </p:txBody>
      </p:sp>
      <p:sp>
        <p:nvSpPr>
          <p:cNvPr id="30" name="Google Shape;30;p41"/>
          <p:cNvSpPr txBox="1"/>
          <p:nvPr/>
        </p:nvSpPr>
        <p:spPr>
          <a:xfrm>
            <a:off x="0" y="-33337"/>
            <a:ext cx="9144000" cy="385762"/>
          </a:xfrm>
          <a:prstGeom prst="rect">
            <a:avLst/>
          </a:prstGeom>
          <a:gradFill>
            <a:gsLst>
              <a:gs pos="0">
                <a:srgbClr val="A7A7FF"/>
              </a:gs>
              <a:gs pos="50000">
                <a:srgbClr val="9494FF"/>
              </a:gs>
              <a:gs pos="100000">
                <a:srgbClr val="7B7BE5"/>
              </a:gs>
            </a:gsLst>
            <a:lin ang="5400000" scaled="0"/>
          </a:gradFill>
          <a:ln cap="flat" cmpd="sng" w="9525">
            <a:solidFill>
              <a:schemeClr val="accent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t/>
            </a:r>
            <a:endParaRPr b="1" i="0" sz="1800" u="none">
              <a:solidFill>
                <a:srgbClr val="FF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1800"/>
              <a:buFont typeface="Times New Roman"/>
              <a:buNone/>
            </a:pPr>
            <a:r>
              <a:rPr b="1" i="0" lang="en-US" sz="1800" u="none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				23CSC02 - MACHINE LEARNING TECHNIQUES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i="0" sz="1800" u="none">
              <a:solidFill>
                <a:srgbClr val="FF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1" name="Google Shape;31;p41"/>
          <p:cNvSpPr txBox="1"/>
          <p:nvPr>
            <p:ph idx="11" type="ftr"/>
          </p:nvPr>
        </p:nvSpPr>
        <p:spPr>
          <a:xfrm>
            <a:off x="304800" y="6248400"/>
            <a:ext cx="5715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32" name="Google Shape;32;p41"/>
          <p:cNvSpPr txBox="1"/>
          <p:nvPr>
            <p:ph idx="12" type="sldNum"/>
          </p:nvPr>
        </p:nvSpPr>
        <p:spPr>
          <a:xfrm>
            <a:off x="6553200" y="6248400"/>
            <a:ext cx="2133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b="0" i="0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b="0" i="0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b="0" i="0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b="0" i="0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b="0" i="0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b="0" i="0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b="0" i="0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b="0" i="0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b="0" i="0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 sz="1400">
              <a:solidFill>
                <a:srgbClr val="000000"/>
              </a:solidFill>
            </a:endParaRPr>
          </a:p>
        </p:txBody>
      </p:sp>
      <p:sp>
        <p:nvSpPr>
          <p:cNvPr id="33" name="Google Shape;33;p41"/>
          <p:cNvSpPr txBox="1"/>
          <p:nvPr>
            <p:ph idx="10" type="dt"/>
          </p:nvPr>
        </p:nvSpPr>
        <p:spPr>
          <a:xfrm>
            <a:off x="457200" y="6245225"/>
            <a:ext cx="2133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53" r:id="rId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43"/>
          <p:cNvSpPr txBox="1"/>
          <p:nvPr/>
        </p:nvSpPr>
        <p:spPr>
          <a:xfrm>
            <a:off x="0" y="6464300"/>
            <a:ext cx="9144000" cy="387350"/>
          </a:xfrm>
          <a:prstGeom prst="rect">
            <a:avLst/>
          </a:prstGeom>
          <a:gradFill>
            <a:gsLst>
              <a:gs pos="0">
                <a:srgbClr val="A7A7FF"/>
              </a:gs>
              <a:gs pos="50000">
                <a:srgbClr val="9494FF"/>
              </a:gs>
              <a:gs pos="100000">
                <a:srgbClr val="7B7BE5"/>
              </a:gs>
            </a:gsLst>
            <a:lin ang="5400000" scaled="0"/>
          </a:gradFill>
          <a:ln cap="flat" cmpd="sng" w="9525">
            <a:solidFill>
              <a:schemeClr val="accent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1800"/>
              <a:buFont typeface="Times New Roman"/>
              <a:buNone/>
            </a:pPr>
            <a:r>
              <a:rPr b="1" i="0" lang="en-US" sz="1800" u="none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MODULE I-INTRODUCTION AND MATHEMATICAL FOUNDATIONS </a:t>
            </a:r>
            <a:endParaRPr/>
          </a:p>
        </p:txBody>
      </p:sp>
      <p:sp>
        <p:nvSpPr>
          <p:cNvPr id="42" name="Google Shape;42;p43"/>
          <p:cNvSpPr txBox="1"/>
          <p:nvPr/>
        </p:nvSpPr>
        <p:spPr>
          <a:xfrm>
            <a:off x="0" y="-33337"/>
            <a:ext cx="9144000" cy="385762"/>
          </a:xfrm>
          <a:prstGeom prst="rect">
            <a:avLst/>
          </a:prstGeom>
          <a:gradFill>
            <a:gsLst>
              <a:gs pos="0">
                <a:srgbClr val="A7A7FF"/>
              </a:gs>
              <a:gs pos="50000">
                <a:srgbClr val="9494FF"/>
              </a:gs>
              <a:gs pos="100000">
                <a:srgbClr val="7B7BE5"/>
              </a:gs>
            </a:gsLst>
            <a:lin ang="5400000" scaled="0"/>
          </a:gradFill>
          <a:ln cap="flat" cmpd="sng" w="9525">
            <a:solidFill>
              <a:schemeClr val="accent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t/>
            </a:r>
            <a:endParaRPr b="1" i="0" sz="1800" u="none">
              <a:solidFill>
                <a:srgbClr val="FF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1800"/>
              <a:buFont typeface="Times New Roman"/>
              <a:buNone/>
            </a:pPr>
            <a:r>
              <a:rPr b="1" i="0" lang="en-US" sz="1800" u="none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				23CSC02 - MACHINE LEARNING TECHNIQUES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i="0" sz="1800" u="none">
              <a:solidFill>
                <a:srgbClr val="FF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55" r:id="rId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30.xml"/></Relationships>
</file>

<file path=ppt/slides/_rels/slide3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31.xml"/></Relationships>
</file>

<file path=ppt/slides/_rels/slide3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32.xml"/></Relationships>
</file>

<file path=ppt/slides/_rels/slide3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33.xml"/></Relationships>
</file>

<file path=ppt/slides/_rels/slide3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34.xml"/></Relationships>
</file>

<file path=ppt/slides/_rels/slide3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35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7" name="Shape 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Google Shape;48;p2"/>
          <p:cNvSpPr txBox="1"/>
          <p:nvPr/>
        </p:nvSpPr>
        <p:spPr>
          <a:xfrm>
            <a:off x="1524000" y="762000"/>
            <a:ext cx="4900612" cy="11318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2400"/>
              <a:buFont typeface="Arial"/>
              <a:buNone/>
            </a:pPr>
            <a:r>
              <a:rPr b="1" i="0" lang="en-US" sz="2400" u="non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                    Session Outline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i="0" sz="2400" u="none">
              <a:solidFill>
                <a:srgbClr val="FF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49" name="Google Shape;49;p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98450" y="1652587"/>
            <a:ext cx="8443912" cy="366236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3"/>
          <p:cNvSpPr txBox="1"/>
          <p:nvPr/>
        </p:nvSpPr>
        <p:spPr>
          <a:xfrm>
            <a:off x="5657850" y="876300"/>
            <a:ext cx="3486150" cy="64611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None/>
            </a:pPr>
            <a:r>
              <a:rPr b="1" i="0" lang="en-US" sz="1800" u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23CSC02– MACHINE LEARNING TECHNIQUES</a:t>
            </a:r>
            <a:endParaRPr/>
          </a:p>
        </p:txBody>
      </p:sp>
      <p:sp>
        <p:nvSpPr>
          <p:cNvPr id="58" name="Google Shape;58;p3"/>
          <p:cNvSpPr txBox="1"/>
          <p:nvPr/>
        </p:nvSpPr>
        <p:spPr>
          <a:xfrm>
            <a:off x="0" y="903287"/>
            <a:ext cx="979487" cy="2762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Arial"/>
              <a:buNone/>
            </a:pPr>
            <a:r>
              <a:rPr b="1" i="0" lang="en-US" sz="12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MODULE 1</a:t>
            </a:r>
            <a:endParaRPr/>
          </a:p>
        </p:txBody>
      </p:sp>
      <p:sp>
        <p:nvSpPr>
          <p:cNvPr id="59" name="Google Shape;59;p3"/>
          <p:cNvSpPr txBox="1"/>
          <p:nvPr>
            <p:ph type="title"/>
          </p:nvPr>
        </p:nvSpPr>
        <p:spPr>
          <a:xfrm>
            <a:off x="481012" y="903287"/>
            <a:ext cx="7886700" cy="4635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2400"/>
              <a:buFont typeface="Arial"/>
              <a:buNone/>
            </a:pPr>
            <a:r>
              <a:rPr b="1" i="0" lang="en-US" sz="2400" u="non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Maths in ML</a:t>
            </a:r>
            <a:endParaRPr/>
          </a:p>
        </p:txBody>
      </p:sp>
      <p:sp>
        <p:nvSpPr>
          <p:cNvPr id="60" name="Google Shape;60;p3"/>
          <p:cNvSpPr txBox="1"/>
          <p:nvPr>
            <p:ph idx="1" type="body"/>
          </p:nvPr>
        </p:nvSpPr>
        <p:spPr>
          <a:xfrm>
            <a:off x="266700" y="1905000"/>
            <a:ext cx="8610600" cy="34686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marR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50"/>
              <a:buFont typeface="Noto Sans Symbols"/>
              <a:buChar char="❖"/>
            </a:pPr>
            <a:r>
              <a:rPr b="1" i="0" lang="en-US" sz="1800" u="none" cap="none" strike="noStrike">
                <a:solidFill>
                  <a:srgbClr val="00B050"/>
                </a:solidFill>
                <a:latin typeface="Arial"/>
                <a:ea typeface="Arial"/>
                <a:cs typeface="Arial"/>
                <a:sym typeface="Arial"/>
              </a:rPr>
              <a:t>Vectors &amp; Vector Operations</a:t>
            </a:r>
            <a:endParaRPr/>
          </a:p>
          <a:p>
            <a:pPr indent="-342900" lvl="0" marL="342900" marR="0" rtl="0" algn="just">
              <a:lnSpc>
                <a:spcPct val="150000"/>
              </a:lnSpc>
              <a:spcBef>
                <a:spcPts val="360"/>
              </a:spcBef>
              <a:spcAft>
                <a:spcPts val="0"/>
              </a:spcAft>
              <a:buClr>
                <a:schemeClr val="lt2"/>
              </a:buClr>
              <a:buSzPts val="1350"/>
              <a:buFont typeface="Noto Sans Symbols"/>
              <a:buChar char="❖"/>
            </a:pPr>
            <a:r>
              <a:rPr b="1" i="0" lang="en-US" sz="1800" u="none" cap="none" strike="noStrike">
                <a:solidFill>
                  <a:srgbClr val="00B050"/>
                </a:solidFill>
                <a:latin typeface="Arial"/>
                <a:ea typeface="Arial"/>
                <a:cs typeface="Arial"/>
                <a:sym typeface="Arial"/>
              </a:rPr>
              <a:t>Dot Product &amp; Cross Product</a:t>
            </a:r>
            <a:endParaRPr/>
          </a:p>
          <a:p>
            <a:pPr indent="-342900" lvl="0" marL="342900" marR="0" rtl="0" algn="just">
              <a:lnSpc>
                <a:spcPct val="150000"/>
              </a:lnSpc>
              <a:spcBef>
                <a:spcPts val="360"/>
              </a:spcBef>
              <a:spcAft>
                <a:spcPts val="0"/>
              </a:spcAft>
              <a:buClr>
                <a:schemeClr val="lt2"/>
              </a:buClr>
              <a:buSzPts val="1350"/>
              <a:buFont typeface="Noto Sans Symbols"/>
              <a:buChar char="❖"/>
            </a:pPr>
            <a:r>
              <a:rPr b="1" i="0" lang="en-US" sz="1800" u="none" cap="none" strike="noStrike">
                <a:solidFill>
                  <a:srgbClr val="00B050"/>
                </a:solidFill>
                <a:latin typeface="Arial"/>
                <a:ea typeface="Arial"/>
                <a:cs typeface="Arial"/>
                <a:sym typeface="Arial"/>
              </a:rPr>
              <a:t>Matrices &amp; Matrix Operations</a:t>
            </a:r>
            <a:endParaRPr/>
          </a:p>
          <a:p>
            <a:pPr indent="-342900" lvl="0" marL="342900" marR="0" rtl="0" algn="just">
              <a:lnSpc>
                <a:spcPct val="150000"/>
              </a:lnSpc>
              <a:spcBef>
                <a:spcPts val="360"/>
              </a:spcBef>
              <a:spcAft>
                <a:spcPts val="0"/>
              </a:spcAft>
              <a:buClr>
                <a:schemeClr val="lt2"/>
              </a:buClr>
              <a:buSzPts val="1350"/>
              <a:buFont typeface="Noto Sans Symbols"/>
              <a:buChar char="❖"/>
            </a:pPr>
            <a:r>
              <a:rPr b="1" i="0" lang="en-US" sz="1800" u="none" cap="none" strike="noStrike">
                <a:solidFill>
                  <a:srgbClr val="00B050"/>
                </a:solidFill>
                <a:latin typeface="Arial"/>
                <a:ea typeface="Arial"/>
                <a:cs typeface="Arial"/>
                <a:sym typeface="Arial"/>
              </a:rPr>
              <a:t>Eigenvalues &amp; Eigenvectors</a:t>
            </a:r>
            <a:endParaRPr/>
          </a:p>
          <a:p>
            <a:pPr indent="-342900" lvl="0" marL="342900" marR="0" rtl="0" algn="just">
              <a:lnSpc>
                <a:spcPct val="150000"/>
              </a:lnSpc>
              <a:spcBef>
                <a:spcPts val="360"/>
              </a:spcBef>
              <a:spcAft>
                <a:spcPts val="0"/>
              </a:spcAft>
              <a:buClr>
                <a:schemeClr val="lt2"/>
              </a:buClr>
              <a:buSzPts val="1350"/>
              <a:buFont typeface="Noto Sans Symbols"/>
              <a:buChar char="❖"/>
            </a:pPr>
            <a:r>
              <a:rPr b="1" i="0" lang="en-US" sz="1800" u="none" cap="none" strike="noStrike">
                <a:solidFill>
                  <a:srgbClr val="00B050"/>
                </a:solidFill>
                <a:latin typeface="Arial"/>
                <a:ea typeface="Arial"/>
                <a:cs typeface="Arial"/>
                <a:sym typeface="Arial"/>
              </a:rPr>
              <a:t>Matrix Decomposition (SVD, QR)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7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p4"/>
          <p:cNvSpPr txBox="1"/>
          <p:nvPr/>
        </p:nvSpPr>
        <p:spPr>
          <a:xfrm>
            <a:off x="5657850" y="876300"/>
            <a:ext cx="3486150" cy="64611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None/>
            </a:pPr>
            <a:r>
              <a:rPr b="1" i="0" lang="en-US" sz="1800" u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23CSC02– MACHINE LEARNING TECHNIQUES</a:t>
            </a:r>
            <a:endParaRPr/>
          </a:p>
        </p:txBody>
      </p:sp>
      <p:sp>
        <p:nvSpPr>
          <p:cNvPr id="69" name="Google Shape;69;p4"/>
          <p:cNvSpPr txBox="1"/>
          <p:nvPr/>
        </p:nvSpPr>
        <p:spPr>
          <a:xfrm>
            <a:off x="0" y="903287"/>
            <a:ext cx="979487" cy="2762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Arial"/>
              <a:buNone/>
            </a:pPr>
            <a:r>
              <a:rPr b="1" i="0" lang="en-US" sz="12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MODULE 1</a:t>
            </a:r>
            <a:endParaRPr/>
          </a:p>
        </p:txBody>
      </p:sp>
      <p:sp>
        <p:nvSpPr>
          <p:cNvPr id="70" name="Google Shape;70;p4"/>
          <p:cNvSpPr txBox="1"/>
          <p:nvPr>
            <p:ph type="title"/>
          </p:nvPr>
        </p:nvSpPr>
        <p:spPr>
          <a:xfrm>
            <a:off x="527050" y="412750"/>
            <a:ext cx="7886700" cy="4635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2400"/>
              <a:buFont typeface="Arial"/>
              <a:buNone/>
            </a:pPr>
            <a:r>
              <a:rPr b="1" i="0" lang="en-US" sz="2400" u="non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Vectors &amp; Vector Operations</a:t>
            </a:r>
            <a:endParaRPr/>
          </a:p>
        </p:txBody>
      </p:sp>
      <p:sp>
        <p:nvSpPr>
          <p:cNvPr id="71" name="Google Shape;71;p4"/>
          <p:cNvSpPr txBox="1"/>
          <p:nvPr>
            <p:ph idx="1" type="body"/>
          </p:nvPr>
        </p:nvSpPr>
        <p:spPr>
          <a:xfrm>
            <a:off x="165100" y="876300"/>
            <a:ext cx="8610600" cy="34686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50"/>
              <a:buFont typeface="Noto Sans Symbols"/>
              <a:buNone/>
            </a:pPr>
            <a:r>
              <a:rPr b="1" i="0" lang="en-US" sz="1800" u="none" cap="none" strike="noStrike">
                <a:solidFill>
                  <a:srgbClr val="00B050"/>
                </a:solidFill>
                <a:latin typeface="Arial"/>
                <a:ea typeface="Arial"/>
                <a:cs typeface="Arial"/>
                <a:sym typeface="Arial"/>
              </a:rPr>
              <a:t>Machine Learning = Algorithms + Data + Math</a:t>
            </a:r>
            <a:endParaRPr/>
          </a:p>
        </p:txBody>
      </p:sp>
      <p:sp>
        <p:nvSpPr>
          <p:cNvPr id="72" name="Google Shape;72;p4"/>
          <p:cNvSpPr txBox="1"/>
          <p:nvPr/>
        </p:nvSpPr>
        <p:spPr>
          <a:xfrm>
            <a:off x="165100" y="1458912"/>
            <a:ext cx="4603750" cy="368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8BDF8"/>
              </a:buClr>
              <a:buSzPts val="1800"/>
              <a:buFont typeface="Arial"/>
              <a:buNone/>
            </a:pPr>
            <a:r>
              <a:rPr b="1" i="0" lang="en-US" sz="1800" u="none">
                <a:solidFill>
                  <a:srgbClr val="38BDF8"/>
                </a:solidFill>
                <a:latin typeface="Arial"/>
                <a:ea typeface="Arial"/>
                <a:cs typeface="Arial"/>
                <a:sym typeface="Arial"/>
              </a:rPr>
              <a:t>Vectors: Definition &amp; Representation</a:t>
            </a:r>
            <a:endParaRPr/>
          </a:p>
        </p:txBody>
      </p:sp>
      <p:sp>
        <p:nvSpPr>
          <p:cNvPr id="73" name="Google Shape;73;p4"/>
          <p:cNvSpPr txBox="1"/>
          <p:nvPr/>
        </p:nvSpPr>
        <p:spPr>
          <a:xfrm>
            <a:off x="452437" y="1963737"/>
            <a:ext cx="8158162" cy="3698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b="0" i="0" lang="en-US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Definition: Ordered collection of numbers (features) in n-dimensional space.</a:t>
            </a:r>
            <a:endParaRPr/>
          </a:p>
        </p:txBody>
      </p:sp>
      <p:sp>
        <p:nvSpPr>
          <p:cNvPr id="74" name="Google Shape;74;p4"/>
          <p:cNvSpPr txBox="1"/>
          <p:nvPr/>
        </p:nvSpPr>
        <p:spPr>
          <a:xfrm>
            <a:off x="820737" y="2368550"/>
            <a:ext cx="8158162" cy="4940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b="0" i="0" lang="en-US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v = [v₁, v₂, ..., vₙ]ᵀ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b="0" i="0" lang="en-US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ML Context: Each element represents a feature; entire vector = one data point</a:t>
            </a:r>
            <a:endParaRPr/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b="0" i="0" lang="en-US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Math Concept: v ∈ ℝⁿ (n-dimensional Euclidean space)</a:t>
            </a:r>
            <a:endParaRPr/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b="0" i="0" lang="en-US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• Key Point 1: Column vector (m×1) used in feature matrices X</a:t>
            </a:r>
            <a:endParaRPr/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b="0" i="0" lang="en-US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• Key Point 2: Feature scaling requires understanding vector magnitude</a:t>
            </a:r>
            <a:endParaRPr/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b="0" i="0" lang="en-US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• Key Point 3: Vector position in space determines similarity/distance to other data points</a:t>
            </a:r>
            <a:endParaRPr/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b="0" i="0" lang="en-US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• Key Point 4: Basis vectors span the feature space (e.g., pixel values in images)</a:t>
            </a:r>
            <a:endParaRPr/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p5"/>
          <p:cNvSpPr txBox="1"/>
          <p:nvPr/>
        </p:nvSpPr>
        <p:spPr>
          <a:xfrm>
            <a:off x="5657850" y="876300"/>
            <a:ext cx="3486150" cy="64611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None/>
            </a:pPr>
            <a:r>
              <a:rPr b="1" i="0" lang="en-US" sz="1800" u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23CSC02– MACHINE LEARNING TECHNIQUES</a:t>
            </a:r>
            <a:endParaRPr/>
          </a:p>
        </p:txBody>
      </p:sp>
      <p:sp>
        <p:nvSpPr>
          <p:cNvPr id="83" name="Google Shape;83;p5"/>
          <p:cNvSpPr txBox="1"/>
          <p:nvPr/>
        </p:nvSpPr>
        <p:spPr>
          <a:xfrm>
            <a:off x="0" y="903287"/>
            <a:ext cx="979487" cy="2762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Arial"/>
              <a:buNone/>
            </a:pPr>
            <a:r>
              <a:rPr b="1" i="0" lang="en-US" sz="12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MODULE 1</a:t>
            </a:r>
            <a:endParaRPr/>
          </a:p>
        </p:txBody>
      </p:sp>
      <p:sp>
        <p:nvSpPr>
          <p:cNvPr id="84" name="Google Shape;84;p5"/>
          <p:cNvSpPr txBox="1"/>
          <p:nvPr>
            <p:ph type="title"/>
          </p:nvPr>
        </p:nvSpPr>
        <p:spPr>
          <a:xfrm>
            <a:off x="490537" y="576262"/>
            <a:ext cx="7886700" cy="46513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2400"/>
              <a:buFont typeface="Arial"/>
              <a:buNone/>
            </a:pPr>
            <a:r>
              <a:rPr b="1" i="0" lang="en-US" sz="2400" u="non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Vectors &amp; Vector Operations</a:t>
            </a:r>
            <a:endParaRPr/>
          </a:p>
        </p:txBody>
      </p:sp>
      <p:sp>
        <p:nvSpPr>
          <p:cNvPr id="85" name="Google Shape;85;p5"/>
          <p:cNvSpPr txBox="1"/>
          <p:nvPr/>
        </p:nvSpPr>
        <p:spPr>
          <a:xfrm>
            <a:off x="685800" y="1135062"/>
            <a:ext cx="8083550" cy="412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77777"/>
              </a:lnSpc>
              <a:spcBef>
                <a:spcPts val="0"/>
              </a:spcBef>
              <a:spcAft>
                <a:spcPts val="0"/>
              </a:spcAft>
              <a:buClr>
                <a:srgbClr val="38BDF8"/>
              </a:buClr>
              <a:buSzPts val="1800"/>
              <a:buFont typeface="Arial"/>
              <a:buNone/>
            </a:pPr>
            <a:r>
              <a:rPr b="1" i="0" lang="en-US" sz="1800" u="none">
                <a:solidFill>
                  <a:srgbClr val="38BDF8"/>
                </a:solidFill>
                <a:latin typeface="Arial"/>
                <a:ea typeface="Arial"/>
                <a:cs typeface="Arial"/>
                <a:sym typeface="Arial"/>
              </a:rPr>
              <a:t>Vector Operations: Addition &amp; Scaling</a:t>
            </a:r>
            <a:endParaRPr/>
          </a:p>
        </p:txBody>
      </p:sp>
      <p:sp>
        <p:nvSpPr>
          <p:cNvPr id="86" name="Google Shape;86;p5"/>
          <p:cNvSpPr txBox="1"/>
          <p:nvPr/>
        </p:nvSpPr>
        <p:spPr>
          <a:xfrm>
            <a:off x="854075" y="1762125"/>
            <a:ext cx="8083550" cy="21431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88888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1800"/>
              <a:buFont typeface="Arial"/>
              <a:buNone/>
            </a:pPr>
            <a:r>
              <a:rPr b="1" i="0" lang="en-US" sz="1800" u="non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Vector Addition: u + v = [u₁+v₁, u₂+v₂, ..., uₙ+vₙ]</a:t>
            </a:r>
            <a:endParaRPr/>
          </a:p>
        </p:txBody>
      </p:sp>
      <p:sp>
        <p:nvSpPr>
          <p:cNvPr id="87" name="Google Shape;87;p5"/>
          <p:cNvSpPr txBox="1"/>
          <p:nvPr/>
        </p:nvSpPr>
        <p:spPr>
          <a:xfrm>
            <a:off x="762000" y="2179637"/>
            <a:ext cx="8159750" cy="2127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88888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b="1" i="0" lang="en-US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• ML:</a:t>
            </a:r>
            <a:r>
              <a:rPr b="0" i="0" lang="en-US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Combining feature vectors (e.g., ensemble predictions: avg = (v₁+v₂+...)/n)</a:t>
            </a:r>
            <a:endParaRPr/>
          </a:p>
        </p:txBody>
      </p:sp>
      <p:sp>
        <p:nvSpPr>
          <p:cNvPr id="88" name="Google Shape;88;p5"/>
          <p:cNvSpPr txBox="1"/>
          <p:nvPr/>
        </p:nvSpPr>
        <p:spPr>
          <a:xfrm>
            <a:off x="800100" y="3087687"/>
            <a:ext cx="8083550" cy="2127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88888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b="1" i="0" lang="en-US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• Math:</a:t>
            </a:r>
            <a:r>
              <a:rPr b="0" i="0" lang="en-US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Commutative (u+v=v+u), associative, closure property in ℝⁿ</a:t>
            </a:r>
            <a:endParaRPr/>
          </a:p>
        </p:txBody>
      </p:sp>
      <p:sp>
        <p:nvSpPr>
          <p:cNvPr id="89" name="Google Shape;89;p5"/>
          <p:cNvSpPr txBox="1"/>
          <p:nvPr/>
        </p:nvSpPr>
        <p:spPr>
          <a:xfrm>
            <a:off x="838200" y="2646362"/>
            <a:ext cx="8083550" cy="21431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88888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1800"/>
              <a:buFont typeface="Arial"/>
              <a:buNone/>
            </a:pPr>
            <a:r>
              <a:rPr b="1" i="0" lang="en-US" sz="1800" u="non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Scalar Multiplication: c·v = [c·v₁, c·v₂, ..., c·vₙ]</a:t>
            </a:r>
            <a:endParaRPr/>
          </a:p>
        </p:txBody>
      </p:sp>
      <p:sp>
        <p:nvSpPr>
          <p:cNvPr id="90" name="Google Shape;90;p5"/>
          <p:cNvSpPr txBox="1"/>
          <p:nvPr/>
        </p:nvSpPr>
        <p:spPr>
          <a:xfrm>
            <a:off x="795337" y="3448050"/>
            <a:ext cx="8083550" cy="2127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88888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b="1" i="0" lang="en-US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• ML:</a:t>
            </a:r>
            <a:r>
              <a:rPr b="0" i="0" lang="en-US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Feature scaling/normalization (standardization: v' = (v-μ)/σ)</a:t>
            </a:r>
            <a:endParaRPr/>
          </a:p>
        </p:txBody>
      </p:sp>
      <p:sp>
        <p:nvSpPr>
          <p:cNvPr id="91" name="Google Shape;91;p5"/>
          <p:cNvSpPr txBox="1"/>
          <p:nvPr/>
        </p:nvSpPr>
        <p:spPr>
          <a:xfrm>
            <a:off x="795337" y="3781425"/>
            <a:ext cx="8083550" cy="2127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88888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b="1" i="0" lang="en-US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• Math:</a:t>
            </a:r>
            <a:r>
              <a:rPr b="0" i="0" lang="en-US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Distributes over addition: c(u+v) = cu+cv</a:t>
            </a:r>
            <a:endParaRPr/>
          </a:p>
        </p:txBody>
      </p:sp>
      <p:sp>
        <p:nvSpPr>
          <p:cNvPr id="92" name="Google Shape;92;p5"/>
          <p:cNvSpPr txBox="1"/>
          <p:nvPr/>
        </p:nvSpPr>
        <p:spPr>
          <a:xfrm>
            <a:off x="838200" y="4257675"/>
            <a:ext cx="8083550" cy="21431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88888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1800"/>
              <a:buFont typeface="Arial"/>
              <a:buNone/>
            </a:pPr>
            <a:r>
              <a:rPr b="1" i="0" lang="en-US" sz="1800" u="non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Linear Combination: w = c₁v₁ + c₂v₂ + ... + cₙvₙ</a:t>
            </a:r>
            <a:endParaRPr/>
          </a:p>
        </p:txBody>
      </p:sp>
      <p:sp>
        <p:nvSpPr>
          <p:cNvPr id="93" name="Google Shape;93;p5"/>
          <p:cNvSpPr txBox="1"/>
          <p:nvPr/>
        </p:nvSpPr>
        <p:spPr>
          <a:xfrm>
            <a:off x="795337" y="4806950"/>
            <a:ext cx="8083550" cy="21431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88888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b="1" i="0" lang="en-US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• ML:</a:t>
            </a:r>
            <a:r>
              <a:rPr b="0" i="0" lang="en-US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Neural network output (y = w·x + b), Decision boundary in SVM</a:t>
            </a:r>
            <a:endParaRPr/>
          </a:p>
        </p:txBody>
      </p:sp>
      <p:sp>
        <p:nvSpPr>
          <p:cNvPr id="94" name="Google Shape;94;p5"/>
          <p:cNvSpPr txBox="1"/>
          <p:nvPr/>
        </p:nvSpPr>
        <p:spPr>
          <a:xfrm>
            <a:off x="784225" y="5141912"/>
            <a:ext cx="8083550" cy="2127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88888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b="1" i="0" lang="en-US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• Math:</a:t>
            </a:r>
            <a:r>
              <a:rPr b="0" i="0" lang="en-US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Any vector expressible as linear combo of basis vectors</a:t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6"/>
          <p:cNvSpPr txBox="1"/>
          <p:nvPr/>
        </p:nvSpPr>
        <p:spPr>
          <a:xfrm>
            <a:off x="5565775" y="876300"/>
            <a:ext cx="3578225" cy="27781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Arial"/>
              <a:buNone/>
            </a:pPr>
            <a:r>
              <a:rPr b="1" i="0" lang="en-US" sz="12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23CSC02– MACHINE LEARNING TECHNIQUES</a:t>
            </a:r>
            <a:endParaRPr/>
          </a:p>
        </p:txBody>
      </p:sp>
      <p:sp>
        <p:nvSpPr>
          <p:cNvPr id="103" name="Google Shape;103;p6"/>
          <p:cNvSpPr txBox="1"/>
          <p:nvPr/>
        </p:nvSpPr>
        <p:spPr>
          <a:xfrm>
            <a:off x="0" y="903287"/>
            <a:ext cx="979487" cy="2762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Arial"/>
              <a:buNone/>
            </a:pPr>
            <a:r>
              <a:rPr b="1" i="0" lang="en-US" sz="12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MODULE 1</a:t>
            </a:r>
            <a:endParaRPr/>
          </a:p>
        </p:txBody>
      </p:sp>
      <p:sp>
        <p:nvSpPr>
          <p:cNvPr descr="why_machine_learning_matters_.webp" id="104" name="Google Shape;104;p6"/>
          <p:cNvSpPr txBox="1"/>
          <p:nvPr/>
        </p:nvSpPr>
        <p:spPr>
          <a:xfrm>
            <a:off x="3251200" y="2108200"/>
            <a:ext cx="1435100" cy="14351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5" name="Google Shape;105;p6"/>
          <p:cNvSpPr txBox="1"/>
          <p:nvPr/>
        </p:nvSpPr>
        <p:spPr>
          <a:xfrm>
            <a:off x="639762" y="630237"/>
            <a:ext cx="8083550" cy="41116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33333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2400"/>
              <a:buFont typeface="Arial"/>
              <a:buNone/>
            </a:pPr>
            <a:r>
              <a:rPr b="1" i="0" lang="en-US" sz="2400" u="non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Dot Product: Similarity &amp; Projection</a:t>
            </a:r>
            <a:endParaRPr/>
          </a:p>
        </p:txBody>
      </p:sp>
      <p:sp>
        <p:nvSpPr>
          <p:cNvPr id="106" name="Google Shape;106;p6"/>
          <p:cNvSpPr txBox="1"/>
          <p:nvPr/>
        </p:nvSpPr>
        <p:spPr>
          <a:xfrm>
            <a:off x="604837" y="1400175"/>
            <a:ext cx="8083550" cy="21431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88888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1800"/>
              <a:buFont typeface="Arial"/>
              <a:buNone/>
            </a:pPr>
            <a:r>
              <a:rPr b="1" i="0" lang="en-US" sz="1800" u="non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Algebraic Formula: a·b = a₁b₁ + a₂b₂ + ... + aₙbₙ</a:t>
            </a:r>
            <a:endParaRPr/>
          </a:p>
        </p:txBody>
      </p:sp>
      <p:sp>
        <p:nvSpPr>
          <p:cNvPr id="107" name="Google Shape;107;p6"/>
          <p:cNvSpPr txBox="1"/>
          <p:nvPr/>
        </p:nvSpPr>
        <p:spPr>
          <a:xfrm>
            <a:off x="979487" y="1873250"/>
            <a:ext cx="8083550" cy="21431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88888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b="1" i="0" lang="en-US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• ML:</a:t>
            </a:r>
            <a:r>
              <a:rPr b="0" i="0" lang="en-US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Similarity scoring (tf-idf, word2vec); Neural net computation wᵀx</a:t>
            </a:r>
            <a:endParaRPr/>
          </a:p>
        </p:txBody>
      </p:sp>
      <p:sp>
        <p:nvSpPr>
          <p:cNvPr id="108" name="Google Shape;108;p6"/>
          <p:cNvSpPr txBox="1"/>
          <p:nvPr/>
        </p:nvSpPr>
        <p:spPr>
          <a:xfrm>
            <a:off x="979487" y="2270125"/>
            <a:ext cx="8083550" cy="21431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88888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b="1" i="0" lang="en-US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• Math:</a:t>
            </a:r>
            <a:r>
              <a:rPr b="0" i="0" lang="en-US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Sum of element-wise products; Kernel trick in SVM uses dot products</a:t>
            </a:r>
            <a:endParaRPr/>
          </a:p>
        </p:txBody>
      </p:sp>
      <p:sp>
        <p:nvSpPr>
          <p:cNvPr id="109" name="Google Shape;109;p6"/>
          <p:cNvSpPr txBox="1"/>
          <p:nvPr/>
        </p:nvSpPr>
        <p:spPr>
          <a:xfrm>
            <a:off x="619125" y="2647950"/>
            <a:ext cx="8083550" cy="2127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88888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1800"/>
              <a:buFont typeface="Arial"/>
              <a:buNone/>
            </a:pPr>
            <a:r>
              <a:rPr b="1" i="0" lang="en-US" sz="1800" u="non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Geometric Interpretation: a·b = ||a|| ||b|| cos(θ)</a:t>
            </a:r>
            <a:endParaRPr/>
          </a:p>
        </p:txBody>
      </p:sp>
      <p:sp>
        <p:nvSpPr>
          <p:cNvPr id="110" name="Google Shape;110;p6"/>
          <p:cNvSpPr txBox="1"/>
          <p:nvPr/>
        </p:nvSpPr>
        <p:spPr>
          <a:xfrm>
            <a:off x="979487" y="3200400"/>
            <a:ext cx="8083550" cy="21431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88888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b="1" i="0" lang="en-US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• ML:</a:t>
            </a:r>
            <a:r>
              <a:rPr b="0" i="0" lang="en-US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Cosine similarity for measuring document/vector resemblance (θ=0 → </a:t>
            </a:r>
            <a:endParaRPr/>
          </a:p>
          <a:p>
            <a:pPr indent="0" lvl="0" marL="0" marR="0" rtl="0" algn="l">
              <a:lnSpc>
                <a:spcPct val="88888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88888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b="0" i="0" lang="en-US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identical)</a:t>
            </a:r>
            <a:endParaRPr/>
          </a:p>
        </p:txBody>
      </p:sp>
      <p:sp>
        <p:nvSpPr>
          <p:cNvPr id="111" name="Google Shape;111;p6"/>
          <p:cNvSpPr txBox="1"/>
          <p:nvPr/>
        </p:nvSpPr>
        <p:spPr>
          <a:xfrm>
            <a:off x="979487" y="4065587"/>
            <a:ext cx="8083550" cy="2127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88888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b="1" i="0" lang="en-US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• Math:</a:t>
            </a:r>
            <a:r>
              <a:rPr b="0" i="0" lang="en-US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θ determines alignment; θ=90° → orthogonal (independent features)</a:t>
            </a:r>
            <a:endParaRPr/>
          </a:p>
        </p:txBody>
      </p:sp>
      <p:sp>
        <p:nvSpPr>
          <p:cNvPr id="112" name="Google Shape;112;p6"/>
          <p:cNvSpPr txBox="1"/>
          <p:nvPr/>
        </p:nvSpPr>
        <p:spPr>
          <a:xfrm>
            <a:off x="674687" y="4586287"/>
            <a:ext cx="8083550" cy="21431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88888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1800"/>
              <a:buFont typeface="Arial"/>
              <a:buNone/>
            </a:pPr>
            <a:r>
              <a:rPr b="1" i="0" lang="en-US" sz="1800" u="non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Orthogonality:</a:t>
            </a:r>
            <a:r>
              <a:rPr b="0" i="0" lang="en-US" sz="1800" u="non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 If a·b = 0, vectors are perpendicular (θ=90°)</a:t>
            </a:r>
            <a:endParaRPr/>
          </a:p>
        </p:txBody>
      </p:sp>
      <p:sp>
        <p:nvSpPr>
          <p:cNvPr id="113" name="Google Shape;113;p6"/>
          <p:cNvSpPr txBox="1"/>
          <p:nvPr/>
        </p:nvSpPr>
        <p:spPr>
          <a:xfrm>
            <a:off x="979487" y="4975225"/>
            <a:ext cx="8083550" cy="21431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88888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b="1" i="0" lang="en-US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• ML:</a:t>
            </a:r>
            <a:r>
              <a:rPr b="0" i="0" lang="en-US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Uncorrelated features (zero covariance); PCA finds orthogonal directions</a:t>
            </a:r>
            <a:endParaRPr/>
          </a:p>
        </p:txBody>
      </p:sp>
      <p:sp>
        <p:nvSpPr>
          <p:cNvPr id="114" name="Google Shape;114;p6"/>
          <p:cNvSpPr txBox="1"/>
          <p:nvPr/>
        </p:nvSpPr>
        <p:spPr>
          <a:xfrm>
            <a:off x="958850" y="5391150"/>
            <a:ext cx="8083550" cy="2127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88888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b="1" i="0" lang="en-US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• Math:</a:t>
            </a:r>
            <a:r>
              <a:rPr b="0" i="0" lang="en-US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Projection of a onto b is zero when orthogonal; Used in QR </a:t>
            </a:r>
            <a:endParaRPr/>
          </a:p>
          <a:p>
            <a:pPr indent="0" lvl="0" marL="0" marR="0" rtl="0" algn="l">
              <a:lnSpc>
                <a:spcPct val="88888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88888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b="0" i="0" lang="en-US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decomposition</a:t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p7"/>
          <p:cNvSpPr txBox="1"/>
          <p:nvPr/>
        </p:nvSpPr>
        <p:spPr>
          <a:xfrm>
            <a:off x="5565775" y="876300"/>
            <a:ext cx="3578225" cy="27781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Arial"/>
              <a:buNone/>
            </a:pPr>
            <a:r>
              <a:rPr b="1" i="0" lang="en-US" sz="12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23CSC02– MACHINE LEARNING TECHNIQUES</a:t>
            </a:r>
            <a:endParaRPr/>
          </a:p>
        </p:txBody>
      </p:sp>
      <p:sp>
        <p:nvSpPr>
          <p:cNvPr id="123" name="Google Shape;123;p7"/>
          <p:cNvSpPr txBox="1"/>
          <p:nvPr/>
        </p:nvSpPr>
        <p:spPr>
          <a:xfrm>
            <a:off x="0" y="903287"/>
            <a:ext cx="979487" cy="2762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Arial"/>
              <a:buNone/>
            </a:pPr>
            <a:r>
              <a:rPr b="1" i="0" lang="en-US" sz="12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MODULE 1</a:t>
            </a:r>
            <a:endParaRPr/>
          </a:p>
        </p:txBody>
      </p:sp>
      <p:sp>
        <p:nvSpPr>
          <p:cNvPr descr="why_machine_learning_matters_.webp" id="124" name="Google Shape;124;p7"/>
          <p:cNvSpPr txBox="1"/>
          <p:nvPr/>
        </p:nvSpPr>
        <p:spPr>
          <a:xfrm>
            <a:off x="3251200" y="2108200"/>
            <a:ext cx="1435100" cy="14351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5" name="Google Shape;125;p7"/>
          <p:cNvSpPr txBox="1"/>
          <p:nvPr/>
        </p:nvSpPr>
        <p:spPr>
          <a:xfrm>
            <a:off x="4457700" y="3314700"/>
            <a:ext cx="2286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6" name="Google Shape;126;p7"/>
          <p:cNvSpPr txBox="1"/>
          <p:nvPr/>
        </p:nvSpPr>
        <p:spPr>
          <a:xfrm>
            <a:off x="644525" y="871537"/>
            <a:ext cx="8083550" cy="41116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77777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1800"/>
              <a:buFont typeface="Arial"/>
              <a:buNone/>
            </a:pPr>
            <a:r>
              <a:rPr b="1" i="0" lang="en-US" sz="1800" u="non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Cross Product &amp; Vector Projection</a:t>
            </a:r>
            <a:endParaRPr/>
          </a:p>
        </p:txBody>
      </p:sp>
      <p:sp>
        <p:nvSpPr>
          <p:cNvPr id="127" name="Google Shape;127;p7"/>
          <p:cNvSpPr txBox="1"/>
          <p:nvPr/>
        </p:nvSpPr>
        <p:spPr>
          <a:xfrm>
            <a:off x="942975" y="1416050"/>
            <a:ext cx="8083550" cy="21431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88888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1800"/>
              <a:buFont typeface="Arial"/>
              <a:buNone/>
            </a:pPr>
            <a:r>
              <a:rPr b="1" i="0" lang="en-US" sz="1800" u="non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Cross Product (3D):</a:t>
            </a:r>
            <a:r>
              <a:rPr b="0" i="0" lang="en-US" sz="1800" u="non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 a×b = ||a|| ||b|| sin(θ) n̂</a:t>
            </a:r>
            <a:endParaRPr/>
          </a:p>
        </p:txBody>
      </p:sp>
      <p:sp>
        <p:nvSpPr>
          <p:cNvPr id="128" name="Google Shape;128;p7"/>
          <p:cNvSpPr txBox="1"/>
          <p:nvPr/>
        </p:nvSpPr>
        <p:spPr>
          <a:xfrm>
            <a:off x="762000" y="1917700"/>
            <a:ext cx="8083550" cy="21431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88888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b="1" i="0" lang="en-US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• ML:</a:t>
            </a:r>
            <a:r>
              <a:rPr b="0" i="0" lang="en-US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Used in 3D computer vision, camera calibration, rotation matrices</a:t>
            </a:r>
            <a:endParaRPr/>
          </a:p>
        </p:txBody>
      </p:sp>
      <p:sp>
        <p:nvSpPr>
          <p:cNvPr id="129" name="Google Shape;129;p7"/>
          <p:cNvSpPr txBox="1"/>
          <p:nvPr/>
        </p:nvSpPr>
        <p:spPr>
          <a:xfrm>
            <a:off x="762000" y="2317750"/>
            <a:ext cx="8083550" cy="2127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88888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b="1" i="0" lang="en-US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• Math:</a:t>
            </a:r>
            <a:r>
              <a:rPr b="0" i="0" lang="en-US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Perpendicular to both vectors; magnitude = area of parallelogram</a:t>
            </a:r>
            <a:endParaRPr/>
          </a:p>
        </p:txBody>
      </p:sp>
      <p:sp>
        <p:nvSpPr>
          <p:cNvPr id="130" name="Google Shape;130;p7"/>
          <p:cNvSpPr txBox="1"/>
          <p:nvPr/>
        </p:nvSpPr>
        <p:spPr>
          <a:xfrm>
            <a:off x="979487" y="2782887"/>
            <a:ext cx="8083550" cy="2127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88888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1800"/>
              <a:buFont typeface="Arial"/>
              <a:buNone/>
            </a:pPr>
            <a:r>
              <a:rPr b="1" i="0" lang="en-US" sz="1800" u="non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Vector Projection:</a:t>
            </a:r>
            <a:r>
              <a:rPr b="0" i="0" lang="en-US" sz="1800" u="non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 projᵇ(a) = (a·b / ||b||²)·b</a:t>
            </a:r>
            <a:endParaRPr/>
          </a:p>
        </p:txBody>
      </p:sp>
      <p:sp>
        <p:nvSpPr>
          <p:cNvPr id="131" name="Google Shape;131;p7"/>
          <p:cNvSpPr txBox="1"/>
          <p:nvPr/>
        </p:nvSpPr>
        <p:spPr>
          <a:xfrm>
            <a:off x="762000" y="3248025"/>
            <a:ext cx="8083550" cy="2127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88888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b="1" i="0" lang="en-US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• ML:</a:t>
            </a:r>
            <a:r>
              <a:rPr b="0" i="0" lang="en-US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Component of feature a along direction b; Used in Gram-Schmidt </a:t>
            </a:r>
            <a:endParaRPr/>
          </a:p>
          <a:p>
            <a:pPr indent="0" lvl="0" marL="0" marR="0" rtl="0" algn="l">
              <a:lnSpc>
                <a:spcPct val="88888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88888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b="0" i="0" lang="en-US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orthogonalization</a:t>
            </a:r>
            <a:endParaRPr/>
          </a:p>
        </p:txBody>
      </p:sp>
      <p:sp>
        <p:nvSpPr>
          <p:cNvPr id="132" name="Google Shape;132;p7"/>
          <p:cNvSpPr txBox="1"/>
          <p:nvPr/>
        </p:nvSpPr>
        <p:spPr>
          <a:xfrm>
            <a:off x="792162" y="4027487"/>
            <a:ext cx="8083550" cy="2127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88888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b="1" i="0" lang="en-US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• Math:</a:t>
            </a:r>
            <a:r>
              <a:rPr b="0" i="0" lang="en-US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(a·b)/||b|| = length of projection; Orthonormalization foundation</a:t>
            </a:r>
            <a:endParaRPr/>
          </a:p>
        </p:txBody>
      </p:sp>
      <p:sp>
        <p:nvSpPr>
          <p:cNvPr id="133" name="Google Shape;133;p7"/>
          <p:cNvSpPr txBox="1"/>
          <p:nvPr/>
        </p:nvSpPr>
        <p:spPr>
          <a:xfrm>
            <a:off x="979487" y="4494212"/>
            <a:ext cx="8083550" cy="2127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88888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1800"/>
              <a:buFont typeface="Arial"/>
              <a:buNone/>
            </a:pPr>
            <a:r>
              <a:rPr b="1" i="0" lang="en-US" sz="1800" u="non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Orthogonal Complement:</a:t>
            </a:r>
            <a:r>
              <a:rPr b="0" i="0" lang="en-US" sz="1800" u="non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 a⊥ = a - projᵇ(a)</a:t>
            </a:r>
            <a:endParaRPr/>
          </a:p>
        </p:txBody>
      </p:sp>
      <p:sp>
        <p:nvSpPr>
          <p:cNvPr id="134" name="Google Shape;134;p7"/>
          <p:cNvSpPr txBox="1"/>
          <p:nvPr/>
        </p:nvSpPr>
        <p:spPr>
          <a:xfrm>
            <a:off x="933450" y="4846637"/>
            <a:ext cx="8083550" cy="2127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88888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b="1" i="0" lang="en-US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• ML:</a:t>
            </a:r>
            <a:r>
              <a:rPr b="0" i="0" lang="en-US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Finding residual/error component; Least squares regression uses this </a:t>
            </a:r>
            <a:endParaRPr/>
          </a:p>
          <a:p>
            <a:pPr indent="0" lvl="0" marL="0" marR="0" rtl="0" algn="l">
              <a:lnSpc>
                <a:spcPct val="88888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88888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b="0" i="0" lang="en-US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concept</a:t>
            </a:r>
            <a:endParaRPr/>
          </a:p>
        </p:txBody>
      </p:sp>
      <p:sp>
        <p:nvSpPr>
          <p:cNvPr id="135" name="Google Shape;135;p7"/>
          <p:cNvSpPr txBox="1"/>
          <p:nvPr/>
        </p:nvSpPr>
        <p:spPr>
          <a:xfrm>
            <a:off x="944562" y="5559425"/>
            <a:ext cx="8083550" cy="2127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88888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b="1" i="0" lang="en-US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• Math:</a:t>
            </a:r>
            <a:r>
              <a:rPr b="0" i="0" lang="en-US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Decomposes vector into parallel + perpendicular parts (x = x∥ + x⊥)</a:t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2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p8"/>
          <p:cNvSpPr txBox="1"/>
          <p:nvPr/>
        </p:nvSpPr>
        <p:spPr>
          <a:xfrm>
            <a:off x="6429375" y="876300"/>
            <a:ext cx="2714625" cy="64611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None/>
            </a:pPr>
            <a:r>
              <a:rPr b="1" i="0" lang="en-US" sz="1800" u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23CSC02– MACHINE LEARNING TECHNIQUES</a:t>
            </a:r>
            <a:endParaRPr/>
          </a:p>
        </p:txBody>
      </p:sp>
      <p:sp>
        <p:nvSpPr>
          <p:cNvPr id="144" name="Google Shape;144;p8"/>
          <p:cNvSpPr txBox="1"/>
          <p:nvPr/>
        </p:nvSpPr>
        <p:spPr>
          <a:xfrm>
            <a:off x="0" y="903287"/>
            <a:ext cx="1377950" cy="368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None/>
            </a:pPr>
            <a:r>
              <a:rPr b="1" i="0" lang="en-US" sz="18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MODULE 1</a:t>
            </a:r>
            <a:endParaRPr/>
          </a:p>
        </p:txBody>
      </p:sp>
      <p:sp>
        <p:nvSpPr>
          <p:cNvPr id="145" name="Google Shape;145;p8"/>
          <p:cNvSpPr txBox="1"/>
          <p:nvPr>
            <p:ph idx="1" type="body"/>
          </p:nvPr>
        </p:nvSpPr>
        <p:spPr>
          <a:xfrm>
            <a:off x="628650" y="2020887"/>
            <a:ext cx="7886700" cy="34686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400"/>
              <a:buFont typeface="Noto Sans Symbols"/>
              <a:buNone/>
            </a:pPr>
            <a:r>
              <a:rPr b="0" i="0" lang="en-US" sz="3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		</a:t>
            </a:r>
            <a:endParaRPr/>
          </a:p>
          <a:p>
            <a:pPr indent="-190500" lvl="0" marL="342900" marR="0" rtl="0" algn="l">
              <a:spcBef>
                <a:spcPts val="640"/>
              </a:spcBef>
              <a:spcAft>
                <a:spcPts val="0"/>
              </a:spcAft>
              <a:buClr>
                <a:schemeClr val="lt2"/>
              </a:buClr>
              <a:buSzPts val="2400"/>
              <a:buFont typeface="Noto Sans Symbols"/>
              <a:buNone/>
            </a:pPr>
            <a:r>
              <a:t/>
            </a:r>
            <a:endParaRPr b="0" i="0" sz="320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6" name="Google Shape;146;p8"/>
          <p:cNvSpPr txBox="1"/>
          <p:nvPr/>
        </p:nvSpPr>
        <p:spPr>
          <a:xfrm>
            <a:off x="609600" y="609600"/>
            <a:ext cx="8083550" cy="41116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33333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2400"/>
              <a:buFont typeface="Arial"/>
              <a:buNone/>
            </a:pPr>
            <a:r>
              <a:rPr b="1" i="0" lang="en-US" sz="2400" u="non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Matrices: Structure &amp; Properties</a:t>
            </a:r>
            <a:endParaRPr/>
          </a:p>
        </p:txBody>
      </p:sp>
      <p:sp>
        <p:nvSpPr>
          <p:cNvPr id="147" name="Google Shape;147;p8"/>
          <p:cNvSpPr txBox="1"/>
          <p:nvPr/>
        </p:nvSpPr>
        <p:spPr>
          <a:xfrm>
            <a:off x="530225" y="1287462"/>
            <a:ext cx="8083550" cy="21431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88888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1800"/>
              <a:buFont typeface="Arial"/>
              <a:buNone/>
            </a:pPr>
            <a:r>
              <a:rPr b="1" i="0" lang="en-US" sz="1800" u="non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Definition (m×n): A = [aᵢⱼ]; i∈{1,...,m}, j∈{1,...,n}</a:t>
            </a:r>
            <a:endParaRPr/>
          </a:p>
        </p:txBody>
      </p:sp>
      <p:sp>
        <p:nvSpPr>
          <p:cNvPr id="148" name="Google Shape;148;p8"/>
          <p:cNvSpPr txBox="1"/>
          <p:nvPr/>
        </p:nvSpPr>
        <p:spPr>
          <a:xfrm>
            <a:off x="838200" y="1808162"/>
            <a:ext cx="8083550" cy="2127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88888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b="1" i="0" lang="en-US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• ML:</a:t>
            </a:r>
            <a:r>
              <a:rPr b="0" i="0" lang="en-US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Feature matrix X (n_samples × n_features); Weight matrix W in neural </a:t>
            </a:r>
            <a:endParaRPr/>
          </a:p>
          <a:p>
            <a:pPr indent="0" lvl="0" marL="0" marR="0" rtl="0" algn="l">
              <a:lnSpc>
                <a:spcPct val="88888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88888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b="0" i="0" lang="en-US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nets</a:t>
            </a:r>
            <a:endParaRPr/>
          </a:p>
        </p:txBody>
      </p:sp>
      <p:sp>
        <p:nvSpPr>
          <p:cNvPr id="149" name="Google Shape;149;p8"/>
          <p:cNvSpPr txBox="1"/>
          <p:nvPr/>
        </p:nvSpPr>
        <p:spPr>
          <a:xfrm>
            <a:off x="838200" y="2459037"/>
            <a:ext cx="8083550" cy="2127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88888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b="1" i="0" lang="en-US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• Math:</a:t>
            </a:r>
            <a:r>
              <a:rPr b="0" i="0" lang="en-US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Linear map from ℝⁿ→ℝᵐ; Rank reveals dimensionality of image space</a:t>
            </a:r>
            <a:endParaRPr/>
          </a:p>
        </p:txBody>
      </p:sp>
      <p:sp>
        <p:nvSpPr>
          <p:cNvPr id="150" name="Google Shape;150;p8"/>
          <p:cNvSpPr txBox="1"/>
          <p:nvPr/>
        </p:nvSpPr>
        <p:spPr>
          <a:xfrm>
            <a:off x="1219200" y="2876550"/>
            <a:ext cx="8083550" cy="2127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88888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1800"/>
              <a:buFont typeface="Arial"/>
              <a:buNone/>
            </a:pPr>
            <a:r>
              <a:rPr b="1" i="0" lang="en-US" sz="1800" u="non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Identity Matrix I:</a:t>
            </a:r>
            <a:r>
              <a:rPr b="0" i="0" lang="en-US" sz="1800" u="non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 I·A = A·I = A</a:t>
            </a:r>
            <a:endParaRPr/>
          </a:p>
        </p:txBody>
      </p:sp>
      <p:sp>
        <p:nvSpPr>
          <p:cNvPr id="151" name="Google Shape;151;p8"/>
          <p:cNvSpPr txBox="1"/>
          <p:nvPr/>
        </p:nvSpPr>
        <p:spPr>
          <a:xfrm>
            <a:off x="838200" y="3314700"/>
            <a:ext cx="8083550" cy="2127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88888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b="1" i="0" lang="en-US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• ML:</a:t>
            </a:r>
            <a:r>
              <a:rPr b="0" i="0" lang="en-US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Neutral element; A⁻¹·A = I (inverse relationship)</a:t>
            </a:r>
            <a:endParaRPr/>
          </a:p>
        </p:txBody>
      </p:sp>
      <p:sp>
        <p:nvSpPr>
          <p:cNvPr id="152" name="Google Shape;152;p8"/>
          <p:cNvSpPr txBox="1"/>
          <p:nvPr/>
        </p:nvSpPr>
        <p:spPr>
          <a:xfrm>
            <a:off x="874712" y="3778250"/>
            <a:ext cx="8083550" cy="2127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88888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b="1" i="0" lang="en-US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• Math:</a:t>
            </a:r>
            <a:r>
              <a:rPr b="0" i="0" lang="en-US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Diagonal ones, zeros elsewhere; Basis for ℝⁿ when columns form      </a:t>
            </a:r>
            <a:endParaRPr/>
          </a:p>
          <a:p>
            <a:pPr indent="0" lvl="0" marL="0" marR="0" rtl="0" algn="l">
              <a:lnSpc>
                <a:spcPct val="88888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88888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b="0" i="0" lang="en-US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standard basis</a:t>
            </a:r>
            <a:endParaRPr/>
          </a:p>
        </p:txBody>
      </p:sp>
      <p:sp>
        <p:nvSpPr>
          <p:cNvPr id="153" name="Google Shape;153;p8"/>
          <p:cNvSpPr txBox="1"/>
          <p:nvPr/>
        </p:nvSpPr>
        <p:spPr>
          <a:xfrm>
            <a:off x="1219200" y="4624387"/>
            <a:ext cx="8083550" cy="2127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88888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1800"/>
              <a:buFont typeface="Arial"/>
              <a:buNone/>
            </a:pPr>
            <a:r>
              <a:rPr b="1" i="0" lang="en-US" sz="1800" u="non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Transpose Aᵀ:</a:t>
            </a:r>
            <a:r>
              <a:rPr b="0" i="0" lang="en-US" sz="1800" u="non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 Rows ↔ Columns</a:t>
            </a:r>
            <a:endParaRPr/>
          </a:p>
        </p:txBody>
      </p:sp>
      <p:sp>
        <p:nvSpPr>
          <p:cNvPr id="154" name="Google Shape;154;p8"/>
          <p:cNvSpPr txBox="1"/>
          <p:nvPr/>
        </p:nvSpPr>
        <p:spPr>
          <a:xfrm>
            <a:off x="874712" y="5056187"/>
            <a:ext cx="8083550" cy="21431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88888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b="1" i="0" lang="en-US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• ML:</a:t>
            </a:r>
            <a:r>
              <a:rPr b="0" i="0" lang="en-US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Covariance = (1/n)XᵀX; Gradient descent uses ∂L/∂W calculation</a:t>
            </a:r>
            <a:endParaRPr/>
          </a:p>
        </p:txBody>
      </p:sp>
      <p:sp>
        <p:nvSpPr>
          <p:cNvPr id="155" name="Google Shape;155;p8"/>
          <p:cNvSpPr txBox="1"/>
          <p:nvPr/>
        </p:nvSpPr>
        <p:spPr>
          <a:xfrm>
            <a:off x="874712" y="5556250"/>
            <a:ext cx="8083550" cy="2127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88888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b="1" i="0" lang="en-US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• Math:</a:t>
            </a:r>
            <a:r>
              <a:rPr b="0" i="0" lang="en-US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(AB)ᵀ = BᵀAᵀ; Symmetric if Aᵀ=A (covariance matrices)</a:t>
            </a: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2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Google Shape;163;p9"/>
          <p:cNvSpPr txBox="1"/>
          <p:nvPr/>
        </p:nvSpPr>
        <p:spPr>
          <a:xfrm>
            <a:off x="609600" y="609600"/>
            <a:ext cx="8083550" cy="41116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33333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2400"/>
              <a:buFont typeface="Arial"/>
              <a:buNone/>
            </a:pPr>
            <a:r>
              <a:rPr b="1" i="0" lang="en-US" sz="2400" u="non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Matrix Operations: Arithmetic</a:t>
            </a:r>
            <a:endParaRPr/>
          </a:p>
        </p:txBody>
      </p:sp>
      <p:sp>
        <p:nvSpPr>
          <p:cNvPr id="164" name="Google Shape;164;p9"/>
          <p:cNvSpPr txBox="1"/>
          <p:nvPr/>
        </p:nvSpPr>
        <p:spPr>
          <a:xfrm>
            <a:off x="762000" y="1374775"/>
            <a:ext cx="8083550" cy="21431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88888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1800"/>
              <a:buFont typeface="Arial"/>
              <a:buNone/>
            </a:pPr>
            <a:r>
              <a:rPr b="1" i="0" lang="en-US" sz="1800" u="non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Matrix Addition:</a:t>
            </a:r>
            <a:r>
              <a:rPr b="0" i="0" lang="en-US" sz="1800" u="non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 (A+B)ᵢⱼ = Aᵢⱼ+Bᵢⱼ (same dimensions)</a:t>
            </a:r>
            <a:endParaRPr/>
          </a:p>
        </p:txBody>
      </p:sp>
      <p:sp>
        <p:nvSpPr>
          <p:cNvPr id="165" name="Google Shape;165;p9"/>
          <p:cNvSpPr txBox="1"/>
          <p:nvPr/>
        </p:nvSpPr>
        <p:spPr>
          <a:xfrm>
            <a:off x="914400" y="1892300"/>
            <a:ext cx="8083550" cy="2127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88888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b="1" i="0" lang="en-US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• ML:</a:t>
            </a:r>
            <a:r>
              <a:rPr b="0" i="0" lang="en-US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Combining predictions/errors; Regularization L + λR term additions</a:t>
            </a:r>
            <a:endParaRPr/>
          </a:p>
        </p:txBody>
      </p:sp>
      <p:sp>
        <p:nvSpPr>
          <p:cNvPr id="166" name="Google Shape;166;p9"/>
          <p:cNvSpPr txBox="1"/>
          <p:nvPr/>
        </p:nvSpPr>
        <p:spPr>
          <a:xfrm>
            <a:off x="914400" y="2330450"/>
            <a:ext cx="8083550" cy="2127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88888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b="1" i="0" lang="en-US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• Math:</a:t>
            </a:r>
            <a:r>
              <a:rPr b="0" i="0" lang="en-US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Commutative, associative; Closed operation in m×n matrix space</a:t>
            </a:r>
            <a:endParaRPr/>
          </a:p>
        </p:txBody>
      </p:sp>
      <p:sp>
        <p:nvSpPr>
          <p:cNvPr id="167" name="Google Shape;167;p9"/>
          <p:cNvSpPr txBox="1"/>
          <p:nvPr/>
        </p:nvSpPr>
        <p:spPr>
          <a:xfrm>
            <a:off x="762000" y="2878137"/>
            <a:ext cx="8083550" cy="2127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88888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1800"/>
              <a:buFont typeface="Arial"/>
              <a:buNone/>
            </a:pPr>
            <a:r>
              <a:rPr b="1" i="0" lang="en-US" sz="1800" u="non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Matrix Multiplication:</a:t>
            </a:r>
            <a:r>
              <a:rPr b="0" i="0" lang="en-US" sz="1800" u="non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 (AB)ᵢⱼ = Σₖ AᵢₖBₖⱼ</a:t>
            </a:r>
            <a:endParaRPr/>
          </a:p>
        </p:txBody>
      </p:sp>
      <p:sp>
        <p:nvSpPr>
          <p:cNvPr id="168" name="Google Shape;168;p9"/>
          <p:cNvSpPr txBox="1"/>
          <p:nvPr/>
        </p:nvSpPr>
        <p:spPr>
          <a:xfrm>
            <a:off x="949325" y="3379787"/>
            <a:ext cx="8083550" cy="21431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88888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b="1" i="0" lang="en-US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• ML:</a:t>
            </a:r>
            <a:r>
              <a:rPr b="0" i="0" lang="en-US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Core operation (X@W forward pass); Composition of transformations</a:t>
            </a:r>
            <a:endParaRPr/>
          </a:p>
        </p:txBody>
      </p:sp>
      <p:sp>
        <p:nvSpPr>
          <p:cNvPr id="169" name="Google Shape;169;p9"/>
          <p:cNvSpPr txBox="1"/>
          <p:nvPr/>
        </p:nvSpPr>
        <p:spPr>
          <a:xfrm>
            <a:off x="949325" y="3975100"/>
            <a:ext cx="8083550" cy="2127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88888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b="1" i="0" lang="en-US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• Math:</a:t>
            </a:r>
            <a:r>
              <a:rPr b="0" i="0" lang="en-US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NOT commutative; Associative: (AB)C=A(BC); Dimension constraint: </a:t>
            </a:r>
            <a:endParaRPr/>
          </a:p>
          <a:p>
            <a:pPr indent="0" lvl="0" marL="0" marR="0" rtl="0" algn="l">
              <a:lnSpc>
                <a:spcPct val="88888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88888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b="0" i="0" lang="en-US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inner dims match</a:t>
            </a:r>
            <a:endParaRPr/>
          </a:p>
        </p:txBody>
      </p:sp>
      <p:sp>
        <p:nvSpPr>
          <p:cNvPr id="170" name="Google Shape;170;p9"/>
          <p:cNvSpPr txBox="1"/>
          <p:nvPr/>
        </p:nvSpPr>
        <p:spPr>
          <a:xfrm>
            <a:off x="838200" y="4741862"/>
            <a:ext cx="8083550" cy="2127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88888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1800"/>
              <a:buFont typeface="Arial"/>
              <a:buNone/>
            </a:pPr>
            <a:r>
              <a:rPr b="1" i="0" lang="en-US" sz="1800" u="non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Trace tr(A):</a:t>
            </a:r>
            <a:r>
              <a:rPr b="0" i="0" lang="en-US" sz="1800" u="non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 Σᵢ Aᵢᵢ (sum of diagonal)</a:t>
            </a:r>
            <a:endParaRPr/>
          </a:p>
        </p:txBody>
      </p:sp>
      <p:sp>
        <p:nvSpPr>
          <p:cNvPr id="171" name="Google Shape;171;p9"/>
          <p:cNvSpPr txBox="1"/>
          <p:nvPr/>
        </p:nvSpPr>
        <p:spPr>
          <a:xfrm>
            <a:off x="949325" y="5137150"/>
            <a:ext cx="8083550" cy="21431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88888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b="1" i="0" lang="en-US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• ML:</a:t>
            </a:r>
            <a:r>
              <a:rPr b="0" i="0" lang="en-US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tr(AᵀA) = Frobenius norm squared; Used in optimization proofs</a:t>
            </a:r>
            <a:endParaRPr/>
          </a:p>
        </p:txBody>
      </p:sp>
      <p:sp>
        <p:nvSpPr>
          <p:cNvPr id="172" name="Google Shape;172;p9"/>
          <p:cNvSpPr txBox="1"/>
          <p:nvPr/>
        </p:nvSpPr>
        <p:spPr>
          <a:xfrm>
            <a:off x="914400" y="5534025"/>
            <a:ext cx="8083550" cy="2127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88888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b="1" i="0" lang="en-US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• Math:</a:t>
            </a:r>
            <a:r>
              <a:rPr b="0" i="0" lang="en-US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tr(AB) = tr(BA); Cyclic property; Eigenvalues sum = tr(A)</a:t>
            </a:r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9" name="Shape 1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" name="Google Shape;180;p10"/>
          <p:cNvSpPr txBox="1"/>
          <p:nvPr/>
        </p:nvSpPr>
        <p:spPr>
          <a:xfrm>
            <a:off x="685800" y="450850"/>
            <a:ext cx="8083550" cy="41116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33333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2400"/>
              <a:buFont typeface="Arial"/>
              <a:buNone/>
            </a:pPr>
            <a:r>
              <a:rPr b="1" i="0" lang="en-US" sz="2400" u="non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Determinant, Inverse &amp; Rank</a:t>
            </a:r>
            <a:endParaRPr/>
          </a:p>
        </p:txBody>
      </p:sp>
      <p:sp>
        <p:nvSpPr>
          <p:cNvPr id="181" name="Google Shape;181;p10"/>
          <p:cNvSpPr txBox="1"/>
          <p:nvPr/>
        </p:nvSpPr>
        <p:spPr>
          <a:xfrm>
            <a:off x="838200" y="1127125"/>
            <a:ext cx="8083550" cy="21431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88888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1800"/>
              <a:buFont typeface="Arial"/>
              <a:buNone/>
            </a:pPr>
            <a:r>
              <a:rPr b="1" i="0" lang="en-US" sz="1800" u="non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Determinant:</a:t>
            </a:r>
            <a:r>
              <a:rPr b="0" i="0" lang="en-US" sz="1800" u="non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 det(A) = ad-bc (2×2); Measures volume scaling</a:t>
            </a:r>
            <a:endParaRPr/>
          </a:p>
        </p:txBody>
      </p:sp>
      <p:sp>
        <p:nvSpPr>
          <p:cNvPr id="182" name="Google Shape;182;p10"/>
          <p:cNvSpPr txBox="1"/>
          <p:nvPr/>
        </p:nvSpPr>
        <p:spPr>
          <a:xfrm>
            <a:off x="1060450" y="1543050"/>
            <a:ext cx="8083550" cy="2127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88888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b="1" i="0" lang="en-US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• ML:</a:t>
            </a:r>
            <a:r>
              <a:rPr b="0" i="0" lang="en-US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det(A)=0 → singular (non-invertible); Gaussian covariance: Σ invertibility</a:t>
            </a:r>
            <a:endParaRPr/>
          </a:p>
        </p:txBody>
      </p:sp>
      <p:sp>
        <p:nvSpPr>
          <p:cNvPr id="183" name="Google Shape;183;p10"/>
          <p:cNvSpPr txBox="1"/>
          <p:nvPr/>
        </p:nvSpPr>
        <p:spPr>
          <a:xfrm>
            <a:off x="1063625" y="1998662"/>
            <a:ext cx="8081962" cy="21431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88888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b="1" i="0" lang="en-US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• Math:</a:t>
            </a:r>
            <a:r>
              <a:rPr b="0" i="0" lang="en-US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|det(A)| = volume of parallelepiped; det(AB)=det(A)det(B)</a:t>
            </a:r>
            <a:endParaRPr/>
          </a:p>
        </p:txBody>
      </p:sp>
      <p:sp>
        <p:nvSpPr>
          <p:cNvPr id="184" name="Google Shape;184;p10"/>
          <p:cNvSpPr txBox="1"/>
          <p:nvPr/>
        </p:nvSpPr>
        <p:spPr>
          <a:xfrm>
            <a:off x="862012" y="2443162"/>
            <a:ext cx="8081962" cy="21431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88888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1800"/>
              <a:buFont typeface="Arial"/>
              <a:buNone/>
            </a:pPr>
            <a:r>
              <a:rPr b="1" i="0" lang="en-US" sz="1800" u="non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Matrix Inverse A⁻¹:</a:t>
            </a:r>
            <a:r>
              <a:rPr b="0" i="0" lang="en-US" sz="1800" u="non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 A⁻¹·A = A·A⁻¹ = I</a:t>
            </a:r>
            <a:endParaRPr/>
          </a:p>
        </p:txBody>
      </p:sp>
      <p:sp>
        <p:nvSpPr>
          <p:cNvPr id="185" name="Google Shape;185;p10"/>
          <p:cNvSpPr txBox="1"/>
          <p:nvPr/>
        </p:nvSpPr>
        <p:spPr>
          <a:xfrm>
            <a:off x="1143000" y="2894012"/>
            <a:ext cx="8083550" cy="2127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88888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b="1" i="0" lang="en-US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• ML:</a:t>
            </a:r>
            <a:r>
              <a:rPr b="0" i="0" lang="en-US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Solving Ax=b → x=A⁻¹b; Ridge regression: (XᵀX+λI)⁻¹XᵀY</a:t>
            </a:r>
            <a:endParaRPr/>
          </a:p>
        </p:txBody>
      </p:sp>
      <p:sp>
        <p:nvSpPr>
          <p:cNvPr id="186" name="Google Shape;186;p10"/>
          <p:cNvSpPr txBox="1"/>
          <p:nvPr/>
        </p:nvSpPr>
        <p:spPr>
          <a:xfrm>
            <a:off x="1143000" y="3427412"/>
            <a:ext cx="8083550" cy="21431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88888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b="1" i="0" lang="en-US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• Math:</a:t>
            </a:r>
            <a:r>
              <a:rPr b="0" i="0" lang="en-US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Exists iff det(A)≠0 (full rank); (A⁻¹)ᵀ = (Aᵀ)⁻¹; (AB)⁻¹ = B⁻¹A⁻¹</a:t>
            </a:r>
            <a:endParaRPr/>
          </a:p>
        </p:txBody>
      </p:sp>
      <p:sp>
        <p:nvSpPr>
          <p:cNvPr id="187" name="Google Shape;187;p10"/>
          <p:cNvSpPr txBox="1"/>
          <p:nvPr/>
        </p:nvSpPr>
        <p:spPr>
          <a:xfrm>
            <a:off x="862012" y="3867150"/>
            <a:ext cx="8081962" cy="2127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88888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1800"/>
              <a:buFont typeface="Arial"/>
              <a:buNone/>
            </a:pPr>
            <a:r>
              <a:rPr b="1" i="0" lang="en-US" sz="1800" u="non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Rank:</a:t>
            </a:r>
            <a:r>
              <a:rPr b="0" i="0" lang="en-US" sz="1800" u="non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 # linearly independent rows/columns</a:t>
            </a:r>
            <a:endParaRPr/>
          </a:p>
        </p:txBody>
      </p:sp>
      <p:sp>
        <p:nvSpPr>
          <p:cNvPr id="188" name="Google Shape;188;p10"/>
          <p:cNvSpPr txBox="1"/>
          <p:nvPr/>
        </p:nvSpPr>
        <p:spPr>
          <a:xfrm>
            <a:off x="1143000" y="4432300"/>
            <a:ext cx="8083550" cy="21431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88888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b="1" i="0" lang="en-US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• ML:</a:t>
            </a:r>
            <a:r>
              <a:rPr b="0" i="0" lang="en-US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rank(X)=n → full rank (n features independent); SVD rank = # non-zero </a:t>
            </a:r>
            <a:endParaRPr/>
          </a:p>
          <a:p>
            <a:pPr indent="0" lvl="0" marL="0" marR="0" rtl="0" algn="l">
              <a:lnSpc>
                <a:spcPct val="88888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88888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b="0" i="0" lang="en-US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singular values</a:t>
            </a:r>
            <a:endParaRPr/>
          </a:p>
        </p:txBody>
      </p:sp>
      <p:sp>
        <p:nvSpPr>
          <p:cNvPr id="189" name="Google Shape;189;p10"/>
          <p:cNvSpPr txBox="1"/>
          <p:nvPr/>
        </p:nvSpPr>
        <p:spPr>
          <a:xfrm>
            <a:off x="1022350" y="5314950"/>
            <a:ext cx="8083550" cy="21431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88888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b="1" i="0" lang="en-US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• Math:</a:t>
            </a:r>
            <a:r>
              <a:rPr b="0" i="0" lang="en-US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rank(A) ≤ min(m,n); rank(AB) ≤ min(rank(A),rank(B)); Rank = dimension </a:t>
            </a:r>
            <a:endParaRPr/>
          </a:p>
          <a:p>
            <a:pPr indent="0" lvl="0" marL="0" marR="0" rtl="0" algn="l">
              <a:lnSpc>
                <a:spcPct val="88888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88888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b="0" i="0" lang="en-US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of column space</a:t>
            </a:r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4" name="Shape 1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" name="Google Shape;195;p11"/>
          <p:cNvSpPr txBox="1"/>
          <p:nvPr/>
        </p:nvSpPr>
        <p:spPr>
          <a:xfrm>
            <a:off x="762000" y="685800"/>
            <a:ext cx="8083550" cy="41116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33333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2400"/>
              <a:buFont typeface="Arial"/>
              <a:buNone/>
            </a:pPr>
            <a:r>
              <a:rPr b="1" i="0" lang="en-US" sz="2400" u="non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Eigenvalues &amp; Eigenvectors</a:t>
            </a:r>
            <a:endParaRPr/>
          </a:p>
        </p:txBody>
      </p:sp>
      <p:sp>
        <p:nvSpPr>
          <p:cNvPr id="196" name="Google Shape;196;p11"/>
          <p:cNvSpPr txBox="1"/>
          <p:nvPr/>
        </p:nvSpPr>
        <p:spPr>
          <a:xfrm>
            <a:off x="609600" y="1419225"/>
            <a:ext cx="8083550" cy="2127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88888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1800"/>
              <a:buFont typeface="Arial"/>
              <a:buNone/>
            </a:pPr>
            <a:r>
              <a:rPr b="1" i="0" lang="en-US" sz="1800" u="non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Fundamental Equation:</a:t>
            </a:r>
            <a:r>
              <a:rPr b="0" i="0" lang="en-US" sz="1800" u="non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 A·v = λ·v</a:t>
            </a:r>
            <a:endParaRPr/>
          </a:p>
        </p:txBody>
      </p:sp>
      <p:sp>
        <p:nvSpPr>
          <p:cNvPr id="197" name="Google Shape;197;p11"/>
          <p:cNvSpPr txBox="1"/>
          <p:nvPr/>
        </p:nvSpPr>
        <p:spPr>
          <a:xfrm>
            <a:off x="1060450" y="1890712"/>
            <a:ext cx="8083550" cy="21431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88888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b="1" i="0" lang="en-US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• ML:</a:t>
            </a:r>
            <a:r>
              <a:rPr b="0" i="0" lang="en-US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v = principal direction (PCA); λ = variance explained along that direction</a:t>
            </a:r>
            <a:endParaRPr/>
          </a:p>
        </p:txBody>
      </p:sp>
      <p:sp>
        <p:nvSpPr>
          <p:cNvPr id="198" name="Google Shape;198;p11"/>
          <p:cNvSpPr txBox="1"/>
          <p:nvPr/>
        </p:nvSpPr>
        <p:spPr>
          <a:xfrm>
            <a:off x="1060450" y="2281237"/>
            <a:ext cx="8083550" cy="2127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88888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b="1" i="0" lang="en-US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• Math:</a:t>
            </a:r>
            <a:r>
              <a:rPr b="0" i="0" lang="en-US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A scales v by scalar λ; v spans invariant subspace under A</a:t>
            </a:r>
            <a:endParaRPr/>
          </a:p>
        </p:txBody>
      </p:sp>
      <p:sp>
        <p:nvSpPr>
          <p:cNvPr id="199" name="Google Shape;199;p11"/>
          <p:cNvSpPr txBox="1"/>
          <p:nvPr/>
        </p:nvSpPr>
        <p:spPr>
          <a:xfrm>
            <a:off x="574675" y="2817812"/>
            <a:ext cx="8083550" cy="21431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88888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1800"/>
              <a:buFont typeface="Arial"/>
              <a:buNone/>
            </a:pPr>
            <a:r>
              <a:rPr b="1" i="0" lang="en-US" sz="1800" u="non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Characteristic Equation:</a:t>
            </a:r>
            <a:r>
              <a:rPr b="0" i="0" lang="en-US" sz="1800" u="non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 det(A - λI) = 0</a:t>
            </a:r>
            <a:endParaRPr/>
          </a:p>
        </p:txBody>
      </p:sp>
      <p:sp>
        <p:nvSpPr>
          <p:cNvPr id="200" name="Google Shape;200;p11"/>
          <p:cNvSpPr txBox="1"/>
          <p:nvPr/>
        </p:nvSpPr>
        <p:spPr>
          <a:xfrm>
            <a:off x="1060450" y="3265487"/>
            <a:ext cx="8083550" cy="2127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88888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b="1" i="0" lang="en-US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• ML:</a:t>
            </a:r>
            <a:r>
              <a:rPr b="0" i="0" lang="en-US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Polynomial degree = matrix dimension; Roots are eigenvalues</a:t>
            </a:r>
            <a:endParaRPr/>
          </a:p>
        </p:txBody>
      </p:sp>
      <p:sp>
        <p:nvSpPr>
          <p:cNvPr id="201" name="Google Shape;201;p11"/>
          <p:cNvSpPr txBox="1"/>
          <p:nvPr/>
        </p:nvSpPr>
        <p:spPr>
          <a:xfrm>
            <a:off x="1060450" y="3687762"/>
            <a:ext cx="8083550" cy="2127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88888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b="1" i="0" lang="en-US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• Math:</a:t>
            </a:r>
            <a:r>
              <a:rPr b="0" i="0" lang="en-US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(A-λI) is singular (non-invertible); n×n matrix has n eigenvalues (possibly repeated)</a:t>
            </a:r>
            <a:endParaRPr/>
          </a:p>
        </p:txBody>
      </p:sp>
      <p:sp>
        <p:nvSpPr>
          <p:cNvPr id="202" name="Google Shape;202;p11"/>
          <p:cNvSpPr txBox="1"/>
          <p:nvPr/>
        </p:nvSpPr>
        <p:spPr>
          <a:xfrm>
            <a:off x="633412" y="4325937"/>
            <a:ext cx="8081962" cy="2127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88888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1800"/>
              <a:buFont typeface="Arial"/>
              <a:buNone/>
            </a:pPr>
            <a:r>
              <a:rPr b="1" i="0" lang="en-US" sz="1800" u="non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Eigenvector Interpretation:</a:t>
            </a:r>
            <a:r>
              <a:rPr b="0" i="0" lang="en-US" sz="1800" u="non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 Direction unchanged by transformation A</a:t>
            </a:r>
            <a:endParaRPr/>
          </a:p>
        </p:txBody>
      </p:sp>
      <p:sp>
        <p:nvSpPr>
          <p:cNvPr id="203" name="Google Shape;203;p11"/>
          <p:cNvSpPr txBox="1"/>
          <p:nvPr/>
        </p:nvSpPr>
        <p:spPr>
          <a:xfrm>
            <a:off x="1060450" y="4787900"/>
            <a:ext cx="8083550" cy="2127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88888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b="1" i="0" lang="en-US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• ML:</a:t>
            </a:r>
            <a:r>
              <a:rPr b="0" i="0" lang="en-US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Modes of variation in data; Face recognition: eigenfaces are eigenvectors of face covariance matrix</a:t>
            </a:r>
            <a:endParaRPr/>
          </a:p>
        </p:txBody>
      </p:sp>
      <p:sp>
        <p:nvSpPr>
          <p:cNvPr id="204" name="Google Shape;204;p11"/>
          <p:cNvSpPr txBox="1"/>
          <p:nvPr/>
        </p:nvSpPr>
        <p:spPr>
          <a:xfrm>
            <a:off x="1060450" y="5443537"/>
            <a:ext cx="8083550" cy="2127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88888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b="1" i="0" lang="en-US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• Math:</a:t>
            </a:r>
            <a:r>
              <a:rPr b="0" i="0" lang="en-US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Eigenvectors form basis (if linearly independent); Can diagonalize: A = PDP⁻¹ (P = [v₁|v₂|...])</a:t>
            </a:r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9" name="Shape 2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0" name="Google Shape;210;p12"/>
          <p:cNvSpPr txBox="1"/>
          <p:nvPr/>
        </p:nvSpPr>
        <p:spPr>
          <a:xfrm>
            <a:off x="609600" y="857250"/>
            <a:ext cx="8083550" cy="41116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33333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2400"/>
              <a:buFont typeface="Arial"/>
              <a:buNone/>
            </a:pPr>
            <a:r>
              <a:rPr b="1" i="0" lang="en-US" sz="2400" u="non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Computing Eigenvalues &amp; Eigenvectors</a:t>
            </a:r>
            <a:endParaRPr/>
          </a:p>
        </p:txBody>
      </p:sp>
      <p:sp>
        <p:nvSpPr>
          <p:cNvPr id="211" name="Google Shape;211;p12"/>
          <p:cNvSpPr txBox="1"/>
          <p:nvPr/>
        </p:nvSpPr>
        <p:spPr>
          <a:xfrm>
            <a:off x="808037" y="1519237"/>
            <a:ext cx="8083550" cy="21431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88888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1800"/>
              <a:buFont typeface="Arial"/>
              <a:buNone/>
            </a:pPr>
            <a:r>
              <a:rPr b="1" i="0" lang="en-US" sz="1800" u="non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Step 1:</a:t>
            </a:r>
            <a:r>
              <a:rPr b="0" i="0" lang="en-US" sz="1800" u="non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 Solve characteristic equation det(A-λI)=0</a:t>
            </a:r>
            <a:endParaRPr/>
          </a:p>
        </p:txBody>
      </p:sp>
      <p:sp>
        <p:nvSpPr>
          <p:cNvPr id="212" name="Google Shape;212;p12"/>
          <p:cNvSpPr txBox="1"/>
          <p:nvPr/>
        </p:nvSpPr>
        <p:spPr>
          <a:xfrm>
            <a:off x="1074737" y="1900237"/>
            <a:ext cx="8083550" cy="2127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88888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b="1" i="0" lang="en-US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• ML:</a:t>
            </a:r>
            <a:r>
              <a:rPr b="0" i="0" lang="en-US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Polynomial degree n yields up to n distinct eigenvalues; Complex values possible</a:t>
            </a:r>
            <a:endParaRPr/>
          </a:p>
        </p:txBody>
      </p:sp>
      <p:sp>
        <p:nvSpPr>
          <p:cNvPr id="213" name="Google Shape;213;p12"/>
          <p:cNvSpPr txBox="1"/>
          <p:nvPr/>
        </p:nvSpPr>
        <p:spPr>
          <a:xfrm>
            <a:off x="1074737" y="2441575"/>
            <a:ext cx="8083550" cy="2127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88888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b="1" i="0" lang="en-US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• Math:</a:t>
            </a:r>
            <a:r>
              <a:rPr b="0" i="0" lang="en-US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Characteristic polynomial; Coefficients give trace and determinant info</a:t>
            </a:r>
            <a:endParaRPr/>
          </a:p>
        </p:txBody>
      </p:sp>
      <p:sp>
        <p:nvSpPr>
          <p:cNvPr id="214" name="Google Shape;214;p12"/>
          <p:cNvSpPr txBox="1"/>
          <p:nvPr/>
        </p:nvSpPr>
        <p:spPr>
          <a:xfrm>
            <a:off x="762000" y="2903537"/>
            <a:ext cx="8083550" cy="21431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88888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1800"/>
              <a:buFont typeface="Arial"/>
              <a:buNone/>
            </a:pPr>
            <a:r>
              <a:rPr b="1" i="0" lang="en-US" sz="1800" u="non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Step 2:</a:t>
            </a:r>
            <a:r>
              <a:rPr b="0" i="0" lang="en-US" sz="1800" u="non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 For each λ, solve (A-λI)v = 0 (null space)</a:t>
            </a:r>
            <a:endParaRPr/>
          </a:p>
        </p:txBody>
      </p:sp>
      <p:sp>
        <p:nvSpPr>
          <p:cNvPr id="215" name="Google Shape;215;p12"/>
          <p:cNvSpPr txBox="1"/>
          <p:nvPr/>
        </p:nvSpPr>
        <p:spPr>
          <a:xfrm>
            <a:off x="990600" y="3378200"/>
            <a:ext cx="8083550" cy="2127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88888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b="1" i="0" lang="en-US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• ML:</a:t>
            </a:r>
            <a:r>
              <a:rPr b="0" i="0" lang="en-US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Null space basis = eigenvector(s); Multiple vectors if geometric multiplicity &gt; 1</a:t>
            </a:r>
            <a:endParaRPr/>
          </a:p>
        </p:txBody>
      </p:sp>
      <p:sp>
        <p:nvSpPr>
          <p:cNvPr id="216" name="Google Shape;216;p12"/>
          <p:cNvSpPr txBox="1"/>
          <p:nvPr/>
        </p:nvSpPr>
        <p:spPr>
          <a:xfrm>
            <a:off x="965200" y="3938587"/>
            <a:ext cx="8083550" cy="2127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88888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b="1" i="0" lang="en-US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• Math:</a:t>
            </a:r>
            <a:r>
              <a:rPr b="0" i="0" lang="en-US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Null space dimension = geometric multiplicity; Power iteration/QR algorithm for computation</a:t>
            </a:r>
            <a:endParaRPr/>
          </a:p>
        </p:txBody>
      </p:sp>
      <p:sp>
        <p:nvSpPr>
          <p:cNvPr id="217" name="Google Shape;217;p12"/>
          <p:cNvSpPr txBox="1"/>
          <p:nvPr/>
        </p:nvSpPr>
        <p:spPr>
          <a:xfrm>
            <a:off x="755650" y="4573587"/>
            <a:ext cx="8083550" cy="2127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88888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1800"/>
              <a:buFont typeface="Arial"/>
              <a:buNone/>
            </a:pPr>
            <a:r>
              <a:rPr b="1" i="0" lang="en-US" sz="1800" u="non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Example:</a:t>
            </a:r>
            <a:r>
              <a:rPr b="0" i="0" lang="en-US" sz="1800" u="non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 A=[5,0;0,5], λ=5 (double), v₁=[1,0]ᵀ, v₂=[0,1]ᵀ</a:t>
            </a:r>
            <a:endParaRPr/>
          </a:p>
        </p:txBody>
      </p:sp>
      <p:sp>
        <p:nvSpPr>
          <p:cNvPr id="218" name="Google Shape;218;p12"/>
          <p:cNvSpPr txBox="1"/>
          <p:nvPr/>
        </p:nvSpPr>
        <p:spPr>
          <a:xfrm>
            <a:off x="990600" y="5046662"/>
            <a:ext cx="8083550" cy="21431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88888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b="1" i="0" lang="en-US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• ML:</a:t>
            </a:r>
            <a:r>
              <a:rPr b="0" i="0" lang="en-US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Identity scaling in both dimensions equally</a:t>
            </a:r>
            <a:endParaRPr/>
          </a:p>
        </p:txBody>
      </p:sp>
      <p:sp>
        <p:nvSpPr>
          <p:cNvPr id="219" name="Google Shape;219;p12"/>
          <p:cNvSpPr txBox="1"/>
          <p:nvPr/>
        </p:nvSpPr>
        <p:spPr>
          <a:xfrm>
            <a:off x="1001712" y="5607050"/>
            <a:ext cx="8083550" cy="21431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88888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b="1" i="0" lang="en-US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• Math:</a:t>
            </a:r>
            <a:r>
              <a:rPr b="0" i="0" lang="en-US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Algebraic multiplicity = geometric multiplicity (diagonal matrix diagonalizable)</a:t>
            </a:r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4" name="Shape 2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" name="Google Shape;225;p13"/>
          <p:cNvSpPr txBox="1"/>
          <p:nvPr/>
        </p:nvSpPr>
        <p:spPr>
          <a:xfrm>
            <a:off x="457200" y="762000"/>
            <a:ext cx="8083550" cy="41116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3333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b="1" i="0" lang="en-US" sz="2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Eigenvalues: ML Applications</a:t>
            </a:r>
            <a:endParaRPr/>
          </a:p>
        </p:txBody>
      </p:sp>
      <p:sp>
        <p:nvSpPr>
          <p:cNvPr id="226" name="Google Shape;226;p13"/>
          <p:cNvSpPr txBox="1"/>
          <p:nvPr/>
        </p:nvSpPr>
        <p:spPr>
          <a:xfrm>
            <a:off x="590550" y="1503362"/>
            <a:ext cx="8083550" cy="2127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88888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1800"/>
              <a:buFont typeface="Arial"/>
              <a:buNone/>
            </a:pPr>
            <a:r>
              <a:rPr b="1" i="0" lang="en-US" sz="1800" u="non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λ &gt; 1 (Expansion):</a:t>
            </a:r>
            <a:r>
              <a:rPr b="0" i="0" lang="en-US" sz="1800" u="non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 Data stretches in eigenvector direction</a:t>
            </a:r>
            <a:endParaRPr/>
          </a:p>
        </p:txBody>
      </p:sp>
      <p:sp>
        <p:nvSpPr>
          <p:cNvPr id="227" name="Google Shape;227;p13"/>
          <p:cNvSpPr txBox="1"/>
          <p:nvPr/>
        </p:nvSpPr>
        <p:spPr>
          <a:xfrm>
            <a:off x="1068387" y="1963737"/>
            <a:ext cx="8081962" cy="2127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88888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b="1" i="0" lang="en-US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• ML:</a:t>
            </a:r>
            <a:r>
              <a:rPr b="0" i="0" lang="en-US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High-variance direction; PCA keeps these components for data representation</a:t>
            </a:r>
            <a:endParaRPr/>
          </a:p>
        </p:txBody>
      </p:sp>
      <p:sp>
        <p:nvSpPr>
          <p:cNvPr id="228" name="Google Shape;228;p13"/>
          <p:cNvSpPr txBox="1"/>
          <p:nvPr/>
        </p:nvSpPr>
        <p:spPr>
          <a:xfrm>
            <a:off x="1095375" y="2576512"/>
            <a:ext cx="8083550" cy="2127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88888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b="1" i="0" lang="en-US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• Math:</a:t>
            </a:r>
            <a:r>
              <a:rPr b="0" i="0" lang="en-US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||Av|| = λ||v|| &gt; ||v||; Amplifies perturbations along this axis</a:t>
            </a:r>
            <a:endParaRPr/>
          </a:p>
        </p:txBody>
      </p:sp>
      <p:sp>
        <p:nvSpPr>
          <p:cNvPr id="229" name="Google Shape;229;p13"/>
          <p:cNvSpPr txBox="1"/>
          <p:nvPr/>
        </p:nvSpPr>
        <p:spPr>
          <a:xfrm>
            <a:off x="609600" y="3124200"/>
            <a:ext cx="8083550" cy="2127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88888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1800"/>
              <a:buFont typeface="Arial"/>
              <a:buNone/>
            </a:pPr>
            <a:r>
              <a:rPr b="1" i="0" lang="en-US" sz="1800" u="non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0 &lt; λ &lt; 1 (Compression):</a:t>
            </a:r>
            <a:r>
              <a:rPr b="0" i="0" lang="en-US" sz="1800" u="non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 Data shrinks toward origin</a:t>
            </a:r>
            <a:endParaRPr/>
          </a:p>
        </p:txBody>
      </p:sp>
      <p:sp>
        <p:nvSpPr>
          <p:cNvPr id="230" name="Google Shape;230;p13"/>
          <p:cNvSpPr txBox="1"/>
          <p:nvPr/>
        </p:nvSpPr>
        <p:spPr>
          <a:xfrm>
            <a:off x="1071562" y="3609975"/>
            <a:ext cx="8083550" cy="2127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88888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b="1" i="0" lang="en-US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• ML:</a:t>
            </a:r>
            <a:r>
              <a:rPr b="0" i="0" lang="en-US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Low-variance direction; Often discarded in dimensionality reduction (noise)</a:t>
            </a:r>
            <a:endParaRPr/>
          </a:p>
        </p:txBody>
      </p:sp>
      <p:sp>
        <p:nvSpPr>
          <p:cNvPr id="231" name="Google Shape;231;p13"/>
          <p:cNvSpPr txBox="1"/>
          <p:nvPr/>
        </p:nvSpPr>
        <p:spPr>
          <a:xfrm>
            <a:off x="1090612" y="4197350"/>
            <a:ext cx="8083550" cy="2127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88888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b="1" i="0" lang="en-US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• Math:</a:t>
            </a:r>
            <a:r>
              <a:rPr b="0" i="0" lang="en-US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||Av|| = λ||v|| &lt; ||v||; Convergence to fixed point under repeated application</a:t>
            </a:r>
            <a:endParaRPr/>
          </a:p>
        </p:txBody>
      </p:sp>
      <p:sp>
        <p:nvSpPr>
          <p:cNvPr id="232" name="Google Shape;232;p13"/>
          <p:cNvSpPr txBox="1"/>
          <p:nvPr/>
        </p:nvSpPr>
        <p:spPr>
          <a:xfrm>
            <a:off x="623887" y="4756150"/>
            <a:ext cx="8083550" cy="21431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88888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1800"/>
              <a:buFont typeface="Arial"/>
              <a:buNone/>
            </a:pPr>
            <a:r>
              <a:rPr b="1" i="0" lang="en-US" sz="1800" u="non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λ = 0:</a:t>
            </a:r>
            <a:r>
              <a:rPr b="0" i="0" lang="en-US" sz="1800" u="non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 Null space dimension; Rank deficiency</a:t>
            </a:r>
            <a:endParaRPr/>
          </a:p>
        </p:txBody>
      </p:sp>
      <p:sp>
        <p:nvSpPr>
          <p:cNvPr id="233" name="Google Shape;233;p13"/>
          <p:cNvSpPr txBox="1"/>
          <p:nvPr/>
        </p:nvSpPr>
        <p:spPr>
          <a:xfrm>
            <a:off x="1074737" y="5249862"/>
            <a:ext cx="8083550" cy="21431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88888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b="1" i="0" lang="en-US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• ML:</a:t>
            </a:r>
            <a:r>
              <a:rPr b="0" i="0" lang="en-US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Redundant features (perfect multicollinearity); Use pseudo-inverse or regularization</a:t>
            </a:r>
            <a:endParaRPr/>
          </a:p>
        </p:txBody>
      </p:sp>
      <p:sp>
        <p:nvSpPr>
          <p:cNvPr id="234" name="Google Shape;234;p13"/>
          <p:cNvSpPr txBox="1"/>
          <p:nvPr/>
        </p:nvSpPr>
        <p:spPr>
          <a:xfrm>
            <a:off x="1090612" y="5916612"/>
            <a:ext cx="8083550" cy="21431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88888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b="1" i="0" lang="en-US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• Math:</a:t>
            </a:r>
            <a:r>
              <a:rPr b="0" i="0" lang="en-US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(A-0I) singular; Av = 0 has non-trivial solutions; rank(A) &lt; n</a:t>
            </a:r>
            <a:endParaRPr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9" name="Shape 2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0" name="Google Shape;240;p14"/>
          <p:cNvSpPr txBox="1"/>
          <p:nvPr/>
        </p:nvSpPr>
        <p:spPr>
          <a:xfrm>
            <a:off x="914400" y="609600"/>
            <a:ext cx="8083550" cy="41116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33333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2400"/>
              <a:buFont typeface="Arial"/>
              <a:buNone/>
            </a:pPr>
            <a:r>
              <a:rPr b="1" i="0" lang="en-US" sz="2400" u="non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SVD: Properties &amp; ML Applications</a:t>
            </a:r>
            <a:endParaRPr/>
          </a:p>
        </p:txBody>
      </p:sp>
      <p:sp>
        <p:nvSpPr>
          <p:cNvPr id="241" name="Google Shape;241;p14"/>
          <p:cNvSpPr txBox="1"/>
          <p:nvPr/>
        </p:nvSpPr>
        <p:spPr>
          <a:xfrm>
            <a:off x="595312" y="1354137"/>
            <a:ext cx="8083550" cy="2127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88888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1800"/>
              <a:buFont typeface="Arial"/>
              <a:buNone/>
            </a:pPr>
            <a:r>
              <a:rPr b="1" i="0" lang="en-US" sz="1800" u="non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Rank Property:</a:t>
            </a:r>
            <a:r>
              <a:rPr b="0" i="0" lang="en-US" sz="1800" u="non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 rank(A) = # non-zero singular values</a:t>
            </a:r>
            <a:endParaRPr/>
          </a:p>
        </p:txBody>
      </p:sp>
      <p:sp>
        <p:nvSpPr>
          <p:cNvPr id="242" name="Google Shape;242;p14"/>
          <p:cNvSpPr txBox="1"/>
          <p:nvPr/>
        </p:nvSpPr>
        <p:spPr>
          <a:xfrm>
            <a:off x="914400" y="1804987"/>
            <a:ext cx="8083550" cy="2127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88888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b="1" i="0" lang="en-US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• ML:</a:t>
            </a:r>
            <a:r>
              <a:rPr b="0" i="0" lang="en-US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Determines effective degrees of freedom; Guides low-rank approximation rank selection</a:t>
            </a:r>
            <a:endParaRPr/>
          </a:p>
        </p:txBody>
      </p:sp>
      <p:sp>
        <p:nvSpPr>
          <p:cNvPr id="243" name="Google Shape;243;p14"/>
          <p:cNvSpPr txBox="1"/>
          <p:nvPr/>
        </p:nvSpPr>
        <p:spPr>
          <a:xfrm>
            <a:off x="914400" y="2343150"/>
            <a:ext cx="8083550" cy="21431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88888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b="1" i="0" lang="en-US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• Math:</a:t>
            </a:r>
            <a:r>
              <a:rPr b="0" i="0" lang="en-US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Sum of singular value squares = Frobenius norm; Frobenius norm² = trace(AᵀA)</a:t>
            </a:r>
            <a:endParaRPr/>
          </a:p>
        </p:txBody>
      </p:sp>
      <p:sp>
        <p:nvSpPr>
          <p:cNvPr id="244" name="Google Shape;244;p14"/>
          <p:cNvSpPr txBox="1"/>
          <p:nvPr/>
        </p:nvSpPr>
        <p:spPr>
          <a:xfrm>
            <a:off x="595312" y="2987675"/>
            <a:ext cx="8083550" cy="2127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88888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1800"/>
              <a:buFont typeface="Arial"/>
              <a:buNone/>
            </a:pPr>
            <a:r>
              <a:rPr b="1" i="0" lang="en-US" sz="1800" u="non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Low-Rank Approximation:</a:t>
            </a:r>
            <a:r>
              <a:rPr b="0" i="0" lang="en-US" sz="1800" u="non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 Truncate SVD to k largest singular values</a:t>
            </a:r>
            <a:endParaRPr/>
          </a:p>
        </p:txBody>
      </p:sp>
      <p:sp>
        <p:nvSpPr>
          <p:cNvPr id="245" name="Google Shape;245;p14"/>
          <p:cNvSpPr txBox="1"/>
          <p:nvPr/>
        </p:nvSpPr>
        <p:spPr>
          <a:xfrm>
            <a:off x="950912" y="3525837"/>
            <a:ext cx="8083550" cy="21431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88888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b="1" i="0" lang="en-US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• ML:</a:t>
            </a:r>
            <a:r>
              <a:rPr b="0" i="0" lang="en-US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Image compression (k≤50); Collaborative filtering (Netflix rating matrix)</a:t>
            </a:r>
            <a:endParaRPr/>
          </a:p>
        </p:txBody>
      </p:sp>
      <p:sp>
        <p:nvSpPr>
          <p:cNvPr id="246" name="Google Shape;246;p14"/>
          <p:cNvSpPr txBox="1"/>
          <p:nvPr/>
        </p:nvSpPr>
        <p:spPr>
          <a:xfrm>
            <a:off x="914400" y="3965575"/>
            <a:ext cx="8083550" cy="2127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88888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b="1" i="0" lang="en-US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• Math:</a:t>
            </a:r>
            <a:r>
              <a:rPr b="0" i="0" lang="en-US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Aₖ = Uₖ·Σₖ·Vₖᵀ; Minimizes ||A-Aₖ||F among all rank-k matrices (Eckart-Young theorem)</a:t>
            </a:r>
            <a:endParaRPr/>
          </a:p>
        </p:txBody>
      </p:sp>
      <p:sp>
        <p:nvSpPr>
          <p:cNvPr id="247" name="Google Shape;247;p14"/>
          <p:cNvSpPr txBox="1"/>
          <p:nvPr/>
        </p:nvSpPr>
        <p:spPr>
          <a:xfrm>
            <a:off x="595312" y="4602162"/>
            <a:ext cx="8083550" cy="21431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88888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1800"/>
              <a:buFont typeface="Arial"/>
              <a:buNone/>
            </a:pPr>
            <a:r>
              <a:rPr b="1" i="0" lang="en-US" sz="1800" u="non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Applications:</a:t>
            </a:r>
            <a:r>
              <a:rPr b="0" i="0" lang="en-US" sz="1800" u="non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 Denoising, recommendation, least squares solving, pseudo-inverse A⁺=V·Σ⁺·Uᵀ</a:t>
            </a:r>
            <a:endParaRPr/>
          </a:p>
        </p:txBody>
      </p:sp>
      <p:sp>
        <p:nvSpPr>
          <p:cNvPr id="248" name="Google Shape;248;p14"/>
          <p:cNvSpPr txBox="1"/>
          <p:nvPr/>
        </p:nvSpPr>
        <p:spPr>
          <a:xfrm>
            <a:off x="950912" y="5337175"/>
            <a:ext cx="8083550" cy="2127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88888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b="1" i="0" lang="en-US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• ML:</a:t>
            </a:r>
            <a:r>
              <a:rPr b="0" i="0" lang="en-US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Robust regression; Noise reduction by zeroing small σᵢ</a:t>
            </a:r>
            <a:endParaRPr/>
          </a:p>
        </p:txBody>
      </p:sp>
      <p:sp>
        <p:nvSpPr>
          <p:cNvPr id="249" name="Google Shape;249;p14"/>
          <p:cNvSpPr txBox="1"/>
          <p:nvPr/>
        </p:nvSpPr>
        <p:spPr>
          <a:xfrm>
            <a:off x="950912" y="5729287"/>
            <a:ext cx="8083550" cy="21431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88888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b="1" i="0" lang="en-US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• Math:</a:t>
            </a:r>
            <a:r>
              <a:rPr b="0" i="0" lang="en-US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σᵢ⁺ = 1/σᵢ if σᵢ&gt;threshold, else 0 (Tikhonov regularization connection)</a:t>
            </a:r>
            <a:endParaRPr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4" name="Shape 2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5" name="Google Shape;255;p15"/>
          <p:cNvSpPr txBox="1"/>
          <p:nvPr/>
        </p:nvSpPr>
        <p:spPr>
          <a:xfrm>
            <a:off x="914400" y="762000"/>
            <a:ext cx="8083550" cy="41116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33333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2400"/>
              <a:buFont typeface="Arial"/>
              <a:buNone/>
            </a:pPr>
            <a:r>
              <a:rPr b="1" i="0" lang="en-US" sz="2400" u="non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QR Decomposition</a:t>
            </a:r>
            <a:endParaRPr/>
          </a:p>
        </p:txBody>
      </p:sp>
      <p:sp>
        <p:nvSpPr>
          <p:cNvPr id="256" name="Google Shape;256;p15"/>
          <p:cNvSpPr txBox="1"/>
          <p:nvPr/>
        </p:nvSpPr>
        <p:spPr>
          <a:xfrm>
            <a:off x="609600" y="1457325"/>
            <a:ext cx="8083550" cy="2127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88888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1800"/>
              <a:buFont typeface="Arial"/>
              <a:buNone/>
            </a:pPr>
            <a:r>
              <a:rPr b="1" i="0" lang="en-US" sz="1800" u="non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QR Formula:</a:t>
            </a:r>
            <a:r>
              <a:rPr b="0" i="0" lang="en-US" sz="1800" u="non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 A = Q·R (m×n, m≥n)</a:t>
            </a:r>
            <a:endParaRPr/>
          </a:p>
        </p:txBody>
      </p:sp>
      <p:sp>
        <p:nvSpPr>
          <p:cNvPr id="257" name="Google Shape;257;p15"/>
          <p:cNvSpPr txBox="1"/>
          <p:nvPr/>
        </p:nvSpPr>
        <p:spPr>
          <a:xfrm>
            <a:off x="1060450" y="1927225"/>
            <a:ext cx="8083550" cy="2127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88888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b="1" i="0" lang="en-US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• ML:</a:t>
            </a:r>
            <a:r>
              <a:rPr b="0" i="0" lang="en-US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Numerically stable for solving normal equations; Basis for QR algorithm (eigenvalue finding)</a:t>
            </a:r>
            <a:endParaRPr/>
          </a:p>
        </p:txBody>
      </p:sp>
      <p:sp>
        <p:nvSpPr>
          <p:cNvPr id="258" name="Google Shape;258;p15"/>
          <p:cNvSpPr txBox="1"/>
          <p:nvPr/>
        </p:nvSpPr>
        <p:spPr>
          <a:xfrm>
            <a:off x="1065212" y="2628900"/>
            <a:ext cx="8083550" cy="21431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88888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b="1" i="0" lang="en-US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• Math:</a:t>
            </a:r>
            <a:r>
              <a:rPr b="0" i="0" lang="en-US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Q columns = orthonormal basis of column space; R upper triangular (easier to invert)</a:t>
            </a:r>
            <a:endParaRPr/>
          </a:p>
        </p:txBody>
      </p:sp>
      <p:sp>
        <p:nvSpPr>
          <p:cNvPr id="259" name="Google Shape;259;p15"/>
          <p:cNvSpPr txBox="1"/>
          <p:nvPr/>
        </p:nvSpPr>
        <p:spPr>
          <a:xfrm>
            <a:off x="573087" y="3268662"/>
            <a:ext cx="8083550" cy="2127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88888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1800"/>
              <a:buFont typeface="Arial"/>
              <a:buNone/>
            </a:pPr>
            <a:r>
              <a:rPr b="1" i="0" lang="en-US" sz="1800" u="non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Q Matrix (m×n):</a:t>
            </a:r>
            <a:r>
              <a:rPr b="0" i="0" lang="en-US" sz="1800" u="non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 QᵀQ = I (orthonormal)</a:t>
            </a:r>
            <a:endParaRPr/>
          </a:p>
        </p:txBody>
      </p:sp>
      <p:sp>
        <p:nvSpPr>
          <p:cNvPr id="260" name="Google Shape;260;p15"/>
          <p:cNvSpPr txBox="1"/>
          <p:nvPr/>
        </p:nvSpPr>
        <p:spPr>
          <a:xfrm>
            <a:off x="1060450" y="3671887"/>
            <a:ext cx="8083550" cy="2127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88888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b="1" i="0" lang="en-US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• ML:</a:t>
            </a:r>
            <a:r>
              <a:rPr b="0" i="0" lang="en-US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Preserves vector length; Numerical stability vs. normal equations (AᵀA inverted)</a:t>
            </a:r>
            <a:endParaRPr/>
          </a:p>
        </p:txBody>
      </p:sp>
      <p:sp>
        <p:nvSpPr>
          <p:cNvPr id="261" name="Google Shape;261;p15"/>
          <p:cNvSpPr txBox="1"/>
          <p:nvPr/>
        </p:nvSpPr>
        <p:spPr>
          <a:xfrm>
            <a:off x="1060450" y="4205287"/>
            <a:ext cx="8083550" cy="21431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88888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b="1" i="0" lang="en-US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• Math:</a:t>
            </a:r>
            <a:r>
              <a:rPr b="0" i="0" lang="en-US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Q∈O(m,n) (Stiefel manifold); Column space of A = column space of Q</a:t>
            </a:r>
            <a:endParaRPr/>
          </a:p>
        </p:txBody>
      </p:sp>
      <p:sp>
        <p:nvSpPr>
          <p:cNvPr id="262" name="Google Shape;262;p15"/>
          <p:cNvSpPr txBox="1"/>
          <p:nvPr/>
        </p:nvSpPr>
        <p:spPr>
          <a:xfrm>
            <a:off x="609600" y="4754562"/>
            <a:ext cx="8083550" cy="21431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88888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1800"/>
              <a:buFont typeface="Arial"/>
              <a:buNone/>
            </a:pPr>
            <a:r>
              <a:rPr b="1" i="0" lang="en-US" sz="1800" u="non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R Matrix (n×n):</a:t>
            </a:r>
            <a:r>
              <a:rPr b="0" i="0" lang="en-US" sz="1800" u="non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 Upper triangular, invertible if rank(A)=n</a:t>
            </a:r>
            <a:endParaRPr/>
          </a:p>
        </p:txBody>
      </p:sp>
      <p:sp>
        <p:nvSpPr>
          <p:cNvPr id="263" name="Google Shape;263;p15"/>
          <p:cNvSpPr txBox="1"/>
          <p:nvPr/>
        </p:nvSpPr>
        <p:spPr>
          <a:xfrm>
            <a:off x="1060450" y="5287962"/>
            <a:ext cx="8083550" cy="21431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88888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b="1" i="0" lang="en-US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• ML:</a:t>
            </a:r>
            <a:r>
              <a:rPr b="0" i="0" lang="en-US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Back-substitution simple; Diagonal entries = ||aᵢ|| after orthogonalization</a:t>
            </a:r>
            <a:endParaRPr/>
          </a:p>
        </p:txBody>
      </p:sp>
      <p:sp>
        <p:nvSpPr>
          <p:cNvPr id="264" name="Google Shape;264;p15"/>
          <p:cNvSpPr txBox="1"/>
          <p:nvPr/>
        </p:nvSpPr>
        <p:spPr>
          <a:xfrm>
            <a:off x="1060450" y="5883275"/>
            <a:ext cx="8083550" cy="2127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88888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b="1" i="0" lang="en-US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• Math:</a:t>
            </a:r>
            <a:r>
              <a:rPr b="0" i="0" lang="en-US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Diagonal of R² = Gram-Schmidt norm squares; det(R) determines conditioning</a:t>
            </a:r>
            <a:endParaRPr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9" name="Shape 2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0" name="Google Shape;270;p16"/>
          <p:cNvSpPr txBox="1"/>
          <p:nvPr/>
        </p:nvSpPr>
        <p:spPr>
          <a:xfrm>
            <a:off x="1039812" y="609600"/>
            <a:ext cx="8083550" cy="41116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33333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2400"/>
              <a:buFont typeface="Arial"/>
              <a:buNone/>
            </a:pPr>
            <a:r>
              <a:rPr b="1" i="0" lang="en-US" sz="2400" u="non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QR: Computational Applications</a:t>
            </a:r>
            <a:endParaRPr/>
          </a:p>
        </p:txBody>
      </p:sp>
      <p:sp>
        <p:nvSpPr>
          <p:cNvPr id="271" name="Google Shape;271;p16"/>
          <p:cNvSpPr txBox="1"/>
          <p:nvPr/>
        </p:nvSpPr>
        <p:spPr>
          <a:xfrm>
            <a:off x="530225" y="1373187"/>
            <a:ext cx="8083550" cy="21431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88888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1800"/>
              <a:buFont typeface="Arial"/>
              <a:buNone/>
            </a:pPr>
            <a:r>
              <a:rPr b="1" i="0" lang="en-US" sz="1800" u="non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Linear System Solving:</a:t>
            </a:r>
            <a:r>
              <a:rPr b="0" i="0" lang="en-US" sz="1800" u="non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 Ax=b → QRx=b → Rx=Qᵀb</a:t>
            </a:r>
            <a:endParaRPr/>
          </a:p>
        </p:txBody>
      </p:sp>
      <p:sp>
        <p:nvSpPr>
          <p:cNvPr id="272" name="Google Shape;272;p16"/>
          <p:cNvSpPr txBox="1"/>
          <p:nvPr/>
        </p:nvSpPr>
        <p:spPr>
          <a:xfrm>
            <a:off x="1219200" y="1820862"/>
            <a:ext cx="8083550" cy="2127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88888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b="1" i="0" lang="en-US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• ML:</a:t>
            </a:r>
            <a:r>
              <a:rPr b="0" i="0" lang="en-US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Stable alternative to direct inversion; Avoids computing AᵀA (numerical instability)</a:t>
            </a:r>
            <a:endParaRPr/>
          </a:p>
        </p:txBody>
      </p:sp>
      <p:sp>
        <p:nvSpPr>
          <p:cNvPr id="273" name="Google Shape;273;p16"/>
          <p:cNvSpPr txBox="1"/>
          <p:nvPr/>
        </p:nvSpPr>
        <p:spPr>
          <a:xfrm>
            <a:off x="1214437" y="2462212"/>
            <a:ext cx="8083550" cy="2127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88888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b="1" i="0" lang="en-US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• Math:</a:t>
            </a:r>
            <a:r>
              <a:rPr b="0" i="0" lang="en-US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Back-substitution O(n²) vs O(n³) full solve; Condition number = κ(A) vs κ(AᵀA)=κ(A)²</a:t>
            </a:r>
            <a:endParaRPr/>
          </a:p>
        </p:txBody>
      </p:sp>
      <p:sp>
        <p:nvSpPr>
          <p:cNvPr id="274" name="Google Shape;274;p16"/>
          <p:cNvSpPr txBox="1"/>
          <p:nvPr/>
        </p:nvSpPr>
        <p:spPr>
          <a:xfrm>
            <a:off x="530225" y="3065462"/>
            <a:ext cx="8083550" cy="21431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88888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1800"/>
              <a:buFont typeface="Arial"/>
              <a:buNone/>
            </a:pPr>
            <a:r>
              <a:rPr b="1" i="0" lang="en-US" sz="1800" u="non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Least Squares Solving:</a:t>
            </a:r>
            <a:r>
              <a:rPr b="0" i="0" lang="en-US" sz="1800" u="non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 min ||Ax-b||² → x = R⁻¹Qᵀb</a:t>
            </a:r>
            <a:endParaRPr/>
          </a:p>
        </p:txBody>
      </p:sp>
      <p:sp>
        <p:nvSpPr>
          <p:cNvPr id="275" name="Google Shape;275;p16"/>
          <p:cNvSpPr txBox="1"/>
          <p:nvPr/>
        </p:nvSpPr>
        <p:spPr>
          <a:xfrm>
            <a:off x="1219200" y="3484562"/>
            <a:ext cx="8083550" cy="21431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88888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b="1" i="0" lang="en-US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• ML:</a:t>
            </a:r>
            <a:r>
              <a:rPr b="0" i="0" lang="en-US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Linear regression normal equations: (XᵀX)⁻¹Xᵀy replaced by QR for stability</a:t>
            </a:r>
            <a:endParaRPr/>
          </a:p>
        </p:txBody>
      </p:sp>
      <p:sp>
        <p:nvSpPr>
          <p:cNvPr id="276" name="Google Shape;276;p16"/>
          <p:cNvSpPr txBox="1"/>
          <p:nvPr/>
        </p:nvSpPr>
        <p:spPr>
          <a:xfrm>
            <a:off x="1214437" y="4132262"/>
            <a:ext cx="8083550" cy="2127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88888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b="1" i="0" lang="en-US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• Math:</a:t>
            </a:r>
            <a:r>
              <a:rPr b="0" i="0" lang="en-US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Orthonormal Q prevents error amplification; Condition number improvement critical for tall-thin matrices</a:t>
            </a:r>
            <a:endParaRPr/>
          </a:p>
        </p:txBody>
      </p:sp>
      <p:sp>
        <p:nvSpPr>
          <p:cNvPr id="277" name="Google Shape;277;p16"/>
          <p:cNvSpPr txBox="1"/>
          <p:nvPr/>
        </p:nvSpPr>
        <p:spPr>
          <a:xfrm>
            <a:off x="530225" y="4656137"/>
            <a:ext cx="8083550" cy="2127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88888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1800"/>
              <a:buFont typeface="Arial"/>
              <a:buNone/>
            </a:pPr>
            <a:r>
              <a:rPr b="1" i="0" lang="en-US" sz="1800" u="non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QR Algorithm (eigenvalue finding):</a:t>
            </a:r>
            <a:r>
              <a:rPr b="0" i="0" lang="en-US" sz="1800" u="non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 Iterative A→Q₁R₁, R₁Q₁→Q₂R₂, ...</a:t>
            </a:r>
            <a:endParaRPr/>
          </a:p>
        </p:txBody>
      </p:sp>
      <p:sp>
        <p:nvSpPr>
          <p:cNvPr id="278" name="Google Shape;278;p16"/>
          <p:cNvSpPr txBox="1"/>
          <p:nvPr/>
        </p:nvSpPr>
        <p:spPr>
          <a:xfrm>
            <a:off x="1214437" y="5222875"/>
            <a:ext cx="8083550" cy="21431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88888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b="1" i="0" lang="en-US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• ML:</a:t>
            </a:r>
            <a:r>
              <a:rPr b="0" i="0" lang="en-US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PCA eigendecomposition computation; Fast convergence to diagonal form</a:t>
            </a:r>
            <a:endParaRPr/>
          </a:p>
        </p:txBody>
      </p:sp>
      <p:sp>
        <p:nvSpPr>
          <p:cNvPr id="279" name="Google Shape;279;p16"/>
          <p:cNvSpPr txBox="1"/>
          <p:nvPr/>
        </p:nvSpPr>
        <p:spPr>
          <a:xfrm>
            <a:off x="1192212" y="5835650"/>
            <a:ext cx="8081962" cy="2127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88888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b="1" i="0" lang="en-US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• Math:</a:t>
            </a:r>
            <a:r>
              <a:rPr b="0" i="0" lang="en-US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Aₖ converges to Schur form (upper triangular); Eigenvalues on </a:t>
            </a:r>
            <a:endParaRPr/>
          </a:p>
          <a:p>
            <a:pPr indent="0" lvl="0" marL="0" marR="0" rtl="0" algn="l">
              <a:lnSpc>
                <a:spcPct val="88888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88888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b="0" i="0" lang="en-US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diagonal of limit</a:t>
            </a:r>
            <a:endParaRPr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4" name="Shape 2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5" name="Google Shape;285;p17"/>
          <p:cNvSpPr txBox="1"/>
          <p:nvPr/>
        </p:nvSpPr>
        <p:spPr>
          <a:xfrm>
            <a:off x="914400" y="685800"/>
            <a:ext cx="8083550" cy="41116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33333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2400"/>
              <a:buFont typeface="Arial"/>
              <a:buNone/>
            </a:pPr>
            <a:r>
              <a:rPr b="1" i="0" lang="en-US" sz="2400" u="non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Hyperplanes: Geometry &amp; Classification</a:t>
            </a:r>
            <a:endParaRPr/>
          </a:p>
        </p:txBody>
      </p:sp>
      <p:sp>
        <p:nvSpPr>
          <p:cNvPr id="286" name="Google Shape;286;p17"/>
          <p:cNvSpPr txBox="1"/>
          <p:nvPr/>
        </p:nvSpPr>
        <p:spPr>
          <a:xfrm>
            <a:off x="615950" y="1425575"/>
            <a:ext cx="8083550" cy="2127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88888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1800"/>
              <a:buFont typeface="Arial"/>
              <a:buNone/>
            </a:pPr>
            <a:r>
              <a:rPr b="1" i="0" lang="en-US" sz="1800" u="non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Line (2D):</a:t>
            </a:r>
            <a:r>
              <a:rPr b="0" i="0" lang="en-US" sz="1800" u="non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 y=mx+c or ax+by+c=0</a:t>
            </a:r>
            <a:endParaRPr/>
          </a:p>
        </p:txBody>
      </p:sp>
      <p:sp>
        <p:nvSpPr>
          <p:cNvPr id="287" name="Google Shape;287;p17"/>
          <p:cNvSpPr txBox="1"/>
          <p:nvPr/>
        </p:nvSpPr>
        <p:spPr>
          <a:xfrm>
            <a:off x="1219200" y="1897062"/>
            <a:ext cx="8083550" cy="21431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88888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b="1" i="0" lang="en-US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• ML:</a:t>
            </a:r>
            <a:r>
              <a:rPr b="0" i="0" lang="en-US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Linear classifier boundary; m = slope = -a/b (weight ratio)</a:t>
            </a:r>
            <a:endParaRPr/>
          </a:p>
        </p:txBody>
      </p:sp>
      <p:sp>
        <p:nvSpPr>
          <p:cNvPr id="288" name="Google Shape;288;p17"/>
          <p:cNvSpPr txBox="1"/>
          <p:nvPr/>
        </p:nvSpPr>
        <p:spPr>
          <a:xfrm>
            <a:off x="1219200" y="2405062"/>
            <a:ext cx="8083550" cy="2127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88888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b="1" i="0" lang="en-US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• Math:</a:t>
            </a:r>
            <a:r>
              <a:rPr b="0" i="0" lang="en-US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1-dimensional affine subspace; Normal vector n = [a,b]ᵀ perpendicular to line</a:t>
            </a:r>
            <a:endParaRPr/>
          </a:p>
        </p:txBody>
      </p:sp>
      <p:sp>
        <p:nvSpPr>
          <p:cNvPr id="289" name="Google Shape;289;p17"/>
          <p:cNvSpPr txBox="1"/>
          <p:nvPr/>
        </p:nvSpPr>
        <p:spPr>
          <a:xfrm>
            <a:off x="615950" y="3062287"/>
            <a:ext cx="8083550" cy="21431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88888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1800"/>
              <a:buFont typeface="Arial"/>
              <a:buNone/>
            </a:pPr>
            <a:r>
              <a:rPr b="1" i="0" lang="en-US" sz="1800" u="non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Plane (3D):</a:t>
            </a:r>
            <a:r>
              <a:rPr b="0" i="0" lang="en-US" sz="1800" u="non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 ax+by+cz+d=0</a:t>
            </a:r>
            <a:endParaRPr/>
          </a:p>
        </p:txBody>
      </p:sp>
      <p:sp>
        <p:nvSpPr>
          <p:cNvPr id="290" name="Google Shape;290;p17"/>
          <p:cNvSpPr txBox="1"/>
          <p:nvPr/>
        </p:nvSpPr>
        <p:spPr>
          <a:xfrm>
            <a:off x="1219200" y="3581400"/>
            <a:ext cx="8083550" cy="21431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88888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b="1" i="0" lang="en-US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• ML:</a:t>
            </a:r>
            <a:r>
              <a:rPr b="0" i="0" lang="en-US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Decision surface for 3D classification; Normal n = [a,b,c]ᵀ points to positive side</a:t>
            </a:r>
            <a:endParaRPr/>
          </a:p>
        </p:txBody>
      </p:sp>
      <p:sp>
        <p:nvSpPr>
          <p:cNvPr id="291" name="Google Shape;291;p17"/>
          <p:cNvSpPr txBox="1"/>
          <p:nvPr/>
        </p:nvSpPr>
        <p:spPr>
          <a:xfrm>
            <a:off x="1219200" y="4167187"/>
            <a:ext cx="8083550" cy="21431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88888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b="1" i="0" lang="en-US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• Math:</a:t>
            </a:r>
            <a:r>
              <a:rPr b="0" i="0" lang="en-US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2-dimensional affine subspace in ℝ³; Defined by one linear constraint</a:t>
            </a:r>
            <a:endParaRPr/>
          </a:p>
        </p:txBody>
      </p:sp>
      <p:sp>
        <p:nvSpPr>
          <p:cNvPr id="292" name="Google Shape;292;p17"/>
          <p:cNvSpPr txBox="1"/>
          <p:nvPr/>
        </p:nvSpPr>
        <p:spPr>
          <a:xfrm>
            <a:off x="639762" y="4581525"/>
            <a:ext cx="8083550" cy="2127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88888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1800"/>
              <a:buFont typeface="Arial"/>
              <a:buNone/>
            </a:pPr>
            <a:r>
              <a:rPr b="1" i="0" lang="en-US" sz="1800" u="non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Hyperplane (n-D):</a:t>
            </a:r>
            <a:r>
              <a:rPr b="0" i="0" lang="en-US" sz="1800" u="non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 wᵀx + b = 0</a:t>
            </a:r>
            <a:endParaRPr/>
          </a:p>
        </p:txBody>
      </p:sp>
      <p:sp>
        <p:nvSpPr>
          <p:cNvPr id="293" name="Google Shape;293;p17"/>
          <p:cNvSpPr txBox="1"/>
          <p:nvPr/>
        </p:nvSpPr>
        <p:spPr>
          <a:xfrm>
            <a:off x="1219200" y="5060950"/>
            <a:ext cx="8083550" cy="2127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88888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b="1" i="0" lang="en-US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• ML:</a:t>
            </a:r>
            <a:r>
              <a:rPr b="0" i="0" lang="en-US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SVM decision boundary; Neural net hidden layer (wᵀx+b before activation)</a:t>
            </a:r>
            <a:endParaRPr/>
          </a:p>
        </p:txBody>
      </p:sp>
      <p:sp>
        <p:nvSpPr>
          <p:cNvPr id="294" name="Google Shape;294;p17"/>
          <p:cNvSpPr txBox="1"/>
          <p:nvPr/>
        </p:nvSpPr>
        <p:spPr>
          <a:xfrm>
            <a:off x="1187450" y="5740400"/>
            <a:ext cx="8081962" cy="2127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88888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b="1" i="0" lang="en-US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• Math:</a:t>
            </a:r>
            <a:r>
              <a:rPr b="0" i="0" lang="en-US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(n-1)-dimensional affine subspace in ℝⁿ; w = normal vector; wᵀx+b ∈ ℝ (scalar)</a:t>
            </a:r>
            <a:endParaRPr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9" name="Shape 2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0" name="Google Shape;300;p18"/>
          <p:cNvSpPr txBox="1"/>
          <p:nvPr/>
        </p:nvSpPr>
        <p:spPr>
          <a:xfrm>
            <a:off x="914400" y="685800"/>
            <a:ext cx="8083550" cy="41116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33333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2400"/>
              <a:buFont typeface="Arial"/>
              <a:buNone/>
            </a:pPr>
            <a:r>
              <a:rPr b="1" i="0" lang="en-US" sz="2400" u="non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Distance Metrics in ML</a:t>
            </a:r>
            <a:endParaRPr/>
          </a:p>
        </p:txBody>
      </p:sp>
      <p:sp>
        <p:nvSpPr>
          <p:cNvPr id="301" name="Google Shape;301;p18"/>
          <p:cNvSpPr txBox="1"/>
          <p:nvPr/>
        </p:nvSpPr>
        <p:spPr>
          <a:xfrm>
            <a:off x="530225" y="1333500"/>
            <a:ext cx="8083550" cy="2127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88888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1800"/>
              <a:buFont typeface="Arial"/>
              <a:buNone/>
            </a:pPr>
            <a:r>
              <a:rPr b="1" i="0" lang="en-US" sz="1800" u="non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Euclidean Distance:</a:t>
            </a:r>
            <a:r>
              <a:rPr b="0" i="0" lang="en-US" sz="1800" u="non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 d(p,q)=√(Σ(pᵢ-qᵢ)²)</a:t>
            </a:r>
            <a:endParaRPr/>
          </a:p>
        </p:txBody>
      </p:sp>
      <p:sp>
        <p:nvSpPr>
          <p:cNvPr id="302" name="Google Shape;302;p18"/>
          <p:cNvSpPr txBox="1"/>
          <p:nvPr/>
        </p:nvSpPr>
        <p:spPr>
          <a:xfrm>
            <a:off x="1093787" y="1754187"/>
            <a:ext cx="8081962" cy="2127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88888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b="1" i="0" lang="en-US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• ML:</a:t>
            </a:r>
            <a:r>
              <a:rPr b="0" i="0" lang="en-US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KNN clustering; Gaussian RBF kernel; Fundamental in distance-based algorithms</a:t>
            </a:r>
            <a:endParaRPr/>
          </a:p>
        </p:txBody>
      </p:sp>
      <p:sp>
        <p:nvSpPr>
          <p:cNvPr id="303" name="Google Shape;303;p18"/>
          <p:cNvSpPr txBox="1"/>
          <p:nvPr/>
        </p:nvSpPr>
        <p:spPr>
          <a:xfrm>
            <a:off x="1096962" y="2432050"/>
            <a:ext cx="8083550" cy="2127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88888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b="1" i="0" lang="en-US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• Math:</a:t>
            </a:r>
            <a:r>
              <a:rPr b="0" i="0" lang="en-US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L2 norm of difference; Induced by dot product: d²=(p-q)·(p-q); Isotropic (scale-invariant if normalized)</a:t>
            </a:r>
            <a:endParaRPr/>
          </a:p>
        </p:txBody>
      </p:sp>
      <p:sp>
        <p:nvSpPr>
          <p:cNvPr id="304" name="Google Shape;304;p18"/>
          <p:cNvSpPr txBox="1"/>
          <p:nvPr/>
        </p:nvSpPr>
        <p:spPr>
          <a:xfrm>
            <a:off x="530225" y="3052762"/>
            <a:ext cx="8083550" cy="21431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88888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1800"/>
              <a:buFont typeface="Arial"/>
              <a:buNone/>
            </a:pPr>
            <a:r>
              <a:rPr b="1" i="0" lang="en-US" sz="1800" u="non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Point-to-Hyperplane Distance:</a:t>
            </a:r>
            <a:r>
              <a:rPr b="0" i="0" lang="en-US" sz="1800" u="non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 d=|wᵀx+b|/||w||</a:t>
            </a:r>
            <a:endParaRPr/>
          </a:p>
        </p:txBody>
      </p:sp>
      <p:sp>
        <p:nvSpPr>
          <p:cNvPr id="305" name="Google Shape;305;p18"/>
          <p:cNvSpPr txBox="1"/>
          <p:nvPr/>
        </p:nvSpPr>
        <p:spPr>
          <a:xfrm>
            <a:off x="1093787" y="3560762"/>
            <a:ext cx="8081962" cy="21431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88888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b="1" i="0" lang="en-US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• ML:</a:t>
            </a:r>
            <a:r>
              <a:rPr b="0" i="0" lang="en-US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SVM margin = 2/(||w||); Geometric margin measures classifier confidence</a:t>
            </a:r>
            <a:endParaRPr/>
          </a:p>
        </p:txBody>
      </p:sp>
      <p:sp>
        <p:nvSpPr>
          <p:cNvPr id="306" name="Google Shape;306;p18"/>
          <p:cNvSpPr txBox="1"/>
          <p:nvPr/>
        </p:nvSpPr>
        <p:spPr>
          <a:xfrm>
            <a:off x="1093787" y="4076700"/>
            <a:ext cx="8081962" cy="2127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88888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b="1" i="0" lang="en-US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• Math:</a:t>
            </a:r>
            <a:r>
              <a:rPr b="0" i="0" lang="en-US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w/||w|| = unit normal; wᵀx+b = signed distance × ||w||; Absolute value = unsigned distance</a:t>
            </a:r>
            <a:endParaRPr/>
          </a:p>
        </p:txBody>
      </p:sp>
      <p:sp>
        <p:nvSpPr>
          <p:cNvPr id="307" name="Google Shape;307;p18"/>
          <p:cNvSpPr txBox="1"/>
          <p:nvPr/>
        </p:nvSpPr>
        <p:spPr>
          <a:xfrm>
            <a:off x="530225" y="4724400"/>
            <a:ext cx="8083550" cy="2127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88888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1800"/>
              <a:buFont typeface="Arial"/>
              <a:buNone/>
            </a:pPr>
            <a:r>
              <a:rPr b="1" i="0" lang="en-US" sz="1800" u="non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Margin-Based Loss:</a:t>
            </a:r>
            <a:r>
              <a:rPr b="0" i="0" lang="en-US" sz="1800" u="non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 hinge loss = max(0, 1 - y(wᵀx+b))</a:t>
            </a:r>
            <a:endParaRPr/>
          </a:p>
        </p:txBody>
      </p:sp>
      <p:sp>
        <p:nvSpPr>
          <p:cNvPr id="308" name="Google Shape;308;p18"/>
          <p:cNvSpPr txBox="1"/>
          <p:nvPr/>
        </p:nvSpPr>
        <p:spPr>
          <a:xfrm>
            <a:off x="1093787" y="5165725"/>
            <a:ext cx="8081962" cy="21431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88888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b="1" i="0" lang="en-US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• ML:</a:t>
            </a:r>
            <a:r>
              <a:rPr b="0" i="0" lang="en-US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SVM penalizes points closer to hyperplane; Margin maximization is core objective</a:t>
            </a:r>
            <a:endParaRPr/>
          </a:p>
        </p:txBody>
      </p:sp>
      <p:sp>
        <p:nvSpPr>
          <p:cNvPr id="309" name="Google Shape;309;p18"/>
          <p:cNvSpPr txBox="1"/>
          <p:nvPr/>
        </p:nvSpPr>
        <p:spPr>
          <a:xfrm>
            <a:off x="1093787" y="5972175"/>
            <a:ext cx="8081962" cy="21431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88888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b="1" i="0" lang="en-US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• Math:</a:t>
            </a:r>
            <a:r>
              <a:rPr b="0" i="0" lang="en-US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Optimization: min ||w||² + C Σ ξᵢ (regularization + slack variables)</a:t>
            </a:r>
            <a:endParaRPr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14" name="Shape 3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5" name="Google Shape;315;p19"/>
          <p:cNvSpPr txBox="1"/>
          <p:nvPr/>
        </p:nvSpPr>
        <p:spPr>
          <a:xfrm>
            <a:off x="838200" y="685800"/>
            <a:ext cx="8083550" cy="41116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33333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2400"/>
              <a:buFont typeface="Arial"/>
              <a:buNone/>
            </a:pPr>
            <a:r>
              <a:rPr b="1" i="0" lang="en-US" sz="2400" u="non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Angle &amp; Similarity Metrics</a:t>
            </a:r>
            <a:endParaRPr/>
          </a:p>
        </p:txBody>
      </p:sp>
      <p:sp>
        <p:nvSpPr>
          <p:cNvPr id="316" name="Google Shape;316;p19"/>
          <p:cNvSpPr txBox="1"/>
          <p:nvPr/>
        </p:nvSpPr>
        <p:spPr>
          <a:xfrm>
            <a:off x="530225" y="1333500"/>
            <a:ext cx="8083550" cy="2127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88888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1800"/>
              <a:buFont typeface="Arial"/>
              <a:buNone/>
            </a:pPr>
            <a:r>
              <a:rPr b="1" i="0" lang="en-US" sz="1800" u="non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Cosine Similarity:</a:t>
            </a:r>
            <a:r>
              <a:rPr b="0" i="0" lang="en-US" sz="1800" u="non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 cos(θ)=(u·v)/(||u||||v||)</a:t>
            </a:r>
            <a:endParaRPr/>
          </a:p>
        </p:txBody>
      </p:sp>
      <p:sp>
        <p:nvSpPr>
          <p:cNvPr id="317" name="Google Shape;317;p19"/>
          <p:cNvSpPr txBox="1"/>
          <p:nvPr/>
        </p:nvSpPr>
        <p:spPr>
          <a:xfrm>
            <a:off x="1060450" y="1751012"/>
            <a:ext cx="8083550" cy="21431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88888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b="1" i="0" lang="en-US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• ML:</a:t>
            </a:r>
            <a:r>
              <a:rPr b="0" i="0" lang="en-US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Document similarity (TF-IDF); Recommendation systems (item-item similarity)</a:t>
            </a:r>
            <a:endParaRPr/>
          </a:p>
        </p:txBody>
      </p:sp>
      <p:sp>
        <p:nvSpPr>
          <p:cNvPr id="318" name="Google Shape;318;p19"/>
          <p:cNvSpPr txBox="1"/>
          <p:nvPr/>
        </p:nvSpPr>
        <p:spPr>
          <a:xfrm>
            <a:off x="1060450" y="2427287"/>
            <a:ext cx="8083550" cy="2127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88888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b="1" i="0" lang="en-US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• Math:</a:t>
            </a:r>
            <a:r>
              <a:rPr b="0" i="0" lang="en-US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Range [-1,1]; =1 if parallel, =0 if orthogonal, =-1 if opposite; Invariant to magnitude</a:t>
            </a:r>
            <a:endParaRPr/>
          </a:p>
        </p:txBody>
      </p:sp>
      <p:sp>
        <p:nvSpPr>
          <p:cNvPr id="319" name="Google Shape;319;p19"/>
          <p:cNvSpPr txBox="1"/>
          <p:nvPr/>
        </p:nvSpPr>
        <p:spPr>
          <a:xfrm>
            <a:off x="530225" y="3128962"/>
            <a:ext cx="8083550" cy="2127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88888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1800"/>
              <a:buFont typeface="Arial"/>
              <a:buNone/>
            </a:pPr>
            <a:r>
              <a:rPr b="1" i="0" lang="en-US" sz="1800" u="non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Angle Computation:</a:t>
            </a:r>
            <a:r>
              <a:rPr b="0" i="0" lang="en-US" sz="1800" u="non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 θ=arccos(u·v/(||u||||v||))</a:t>
            </a:r>
            <a:endParaRPr/>
          </a:p>
        </p:txBody>
      </p:sp>
      <p:sp>
        <p:nvSpPr>
          <p:cNvPr id="320" name="Google Shape;320;p19"/>
          <p:cNvSpPr txBox="1"/>
          <p:nvPr/>
        </p:nvSpPr>
        <p:spPr>
          <a:xfrm>
            <a:off x="1060450" y="3557587"/>
            <a:ext cx="8083550" cy="2127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88888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b="1" i="0" lang="en-US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• ML:</a:t>
            </a:r>
            <a:r>
              <a:rPr b="0" i="0" lang="en-US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Angular distance for clustering (spherical k-means); Directional features</a:t>
            </a:r>
            <a:endParaRPr/>
          </a:p>
        </p:txBody>
      </p:sp>
      <p:sp>
        <p:nvSpPr>
          <p:cNvPr id="321" name="Google Shape;321;p19"/>
          <p:cNvSpPr txBox="1"/>
          <p:nvPr/>
        </p:nvSpPr>
        <p:spPr>
          <a:xfrm>
            <a:off x="1060450" y="4032250"/>
            <a:ext cx="8083550" cy="2127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88888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b="1" i="0" lang="en-US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• Math:</a:t>
            </a:r>
            <a:r>
              <a:rPr b="0" i="0" lang="en-US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θ∈[0,π]; Arccos inverse function; Numerically stable if dot product normalized</a:t>
            </a:r>
            <a:endParaRPr/>
          </a:p>
        </p:txBody>
      </p:sp>
      <p:sp>
        <p:nvSpPr>
          <p:cNvPr id="322" name="Google Shape;322;p19"/>
          <p:cNvSpPr txBox="1"/>
          <p:nvPr/>
        </p:nvSpPr>
        <p:spPr>
          <a:xfrm>
            <a:off x="530225" y="4640262"/>
            <a:ext cx="8083550" cy="2127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88888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1800"/>
              <a:buFont typeface="Arial"/>
              <a:buNone/>
            </a:pPr>
            <a:r>
              <a:rPr b="1" i="0" lang="en-US" sz="1800" u="non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Orthogonality (u·v=0, θ=90°):</a:t>
            </a:r>
            <a:r>
              <a:rPr b="0" i="0" lang="en-US" sz="1800" u="non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 Uncorrelated features</a:t>
            </a:r>
            <a:endParaRPr/>
          </a:p>
        </p:txBody>
      </p:sp>
      <p:sp>
        <p:nvSpPr>
          <p:cNvPr id="323" name="Google Shape;323;p19"/>
          <p:cNvSpPr txBox="1"/>
          <p:nvPr/>
        </p:nvSpPr>
        <p:spPr>
          <a:xfrm>
            <a:off x="1039812" y="5068887"/>
            <a:ext cx="8083550" cy="2127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88888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b="1" i="0" lang="en-US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• ML:</a:t>
            </a:r>
            <a:r>
              <a:rPr b="0" i="0" lang="en-US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Principal components are orthogonal (in PCA); Feature independence in Naive Bayes</a:t>
            </a:r>
            <a:endParaRPr/>
          </a:p>
        </p:txBody>
      </p:sp>
      <p:sp>
        <p:nvSpPr>
          <p:cNvPr id="324" name="Google Shape;324;p19"/>
          <p:cNvSpPr txBox="1"/>
          <p:nvPr/>
        </p:nvSpPr>
        <p:spPr>
          <a:xfrm>
            <a:off x="1028700" y="5691187"/>
            <a:ext cx="8083550" cy="2127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88888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b="1" i="0" lang="en-US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• Math:</a:t>
            </a:r>
            <a:r>
              <a:rPr b="0" i="0" lang="en-US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Null space and column space orthogonal; Rotation matrices preserve angles/orthogonality</a:t>
            </a:r>
            <a:endParaRPr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29" name="Shape 3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0" name="Google Shape;330;p20"/>
          <p:cNvSpPr txBox="1"/>
          <p:nvPr/>
        </p:nvSpPr>
        <p:spPr>
          <a:xfrm>
            <a:off x="609600" y="533400"/>
            <a:ext cx="8083550" cy="41116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33333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2400"/>
              <a:buFont typeface="Arial"/>
              <a:buNone/>
            </a:pPr>
            <a:r>
              <a:rPr b="1" i="0" lang="en-US" sz="2400" u="non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Linear Independence &amp; Basis</a:t>
            </a:r>
            <a:endParaRPr/>
          </a:p>
        </p:txBody>
      </p:sp>
      <p:sp>
        <p:nvSpPr>
          <p:cNvPr id="331" name="Google Shape;331;p20"/>
          <p:cNvSpPr txBox="1"/>
          <p:nvPr/>
        </p:nvSpPr>
        <p:spPr>
          <a:xfrm>
            <a:off x="609600" y="1236662"/>
            <a:ext cx="8083550" cy="2127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88888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1800"/>
              <a:buFont typeface="Arial"/>
              <a:buNone/>
            </a:pPr>
            <a:r>
              <a:rPr b="1" i="0" lang="en-US" sz="1800" u="non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Linear Independence:</a:t>
            </a:r>
            <a:r>
              <a:rPr b="0" i="0" lang="en-US" sz="1800" u="non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 c₁v₁+...+cₙvₙ=0 iff all cᵢ=0</a:t>
            </a:r>
            <a:endParaRPr/>
          </a:p>
        </p:txBody>
      </p:sp>
      <p:sp>
        <p:nvSpPr>
          <p:cNvPr id="332" name="Google Shape;332;p20"/>
          <p:cNvSpPr txBox="1"/>
          <p:nvPr/>
        </p:nvSpPr>
        <p:spPr>
          <a:xfrm>
            <a:off x="1069975" y="1595437"/>
            <a:ext cx="8083550" cy="2127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88888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b="1" i="0" lang="en-US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• ML:</a:t>
            </a:r>
            <a:r>
              <a:rPr b="0" i="0" lang="en-US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Feature independence criterion; Perfect multicollinearity violates this (singular XᵀX)</a:t>
            </a:r>
            <a:endParaRPr/>
          </a:p>
        </p:txBody>
      </p:sp>
      <p:sp>
        <p:nvSpPr>
          <p:cNvPr id="333" name="Google Shape;333;p20"/>
          <p:cNvSpPr txBox="1"/>
          <p:nvPr/>
        </p:nvSpPr>
        <p:spPr>
          <a:xfrm>
            <a:off x="1079500" y="2266950"/>
            <a:ext cx="8083550" cy="2127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88888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b="1" i="0" lang="en-US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• Math:</a:t>
            </a:r>
            <a:r>
              <a:rPr b="0" i="0" lang="en-US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Vectors don't lie in same subspace; rank([v₁...vₙ])=n iff independent</a:t>
            </a:r>
            <a:endParaRPr/>
          </a:p>
        </p:txBody>
      </p:sp>
      <p:sp>
        <p:nvSpPr>
          <p:cNvPr id="334" name="Google Shape;334;p20"/>
          <p:cNvSpPr txBox="1"/>
          <p:nvPr/>
        </p:nvSpPr>
        <p:spPr>
          <a:xfrm>
            <a:off x="609600" y="2662237"/>
            <a:ext cx="8083550" cy="21431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88888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1800"/>
              <a:buFont typeface="Arial"/>
              <a:buNone/>
            </a:pPr>
            <a:r>
              <a:rPr b="1" i="0" lang="en-US" sz="1800" u="non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Basis for ℝⁿ:</a:t>
            </a:r>
            <a:r>
              <a:rPr b="0" i="0" lang="en-US" sz="1800" u="non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 n linearly independent vectors spanning ℝⁿ</a:t>
            </a:r>
            <a:endParaRPr/>
          </a:p>
        </p:txBody>
      </p:sp>
      <p:sp>
        <p:nvSpPr>
          <p:cNvPr id="335" name="Google Shape;335;p20"/>
          <p:cNvSpPr txBox="1"/>
          <p:nvPr/>
        </p:nvSpPr>
        <p:spPr>
          <a:xfrm>
            <a:off x="1069975" y="3176587"/>
            <a:ext cx="8083550" cy="2127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88888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b="1" i="0" lang="en-US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• ML:</a:t>
            </a:r>
            <a:r>
              <a:rPr b="0" i="0" lang="en-US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Standard basis = unit vectors eᵢ (identity matrix columns); Change of basis = coordinate transformation</a:t>
            </a:r>
            <a:endParaRPr/>
          </a:p>
        </p:txBody>
      </p:sp>
      <p:sp>
        <p:nvSpPr>
          <p:cNvPr id="336" name="Google Shape;336;p20"/>
          <p:cNvSpPr txBox="1"/>
          <p:nvPr/>
        </p:nvSpPr>
        <p:spPr>
          <a:xfrm>
            <a:off x="1058862" y="3897312"/>
            <a:ext cx="8083550" cy="2127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88888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b="1" i="0" lang="en-US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• Math:</a:t>
            </a:r>
            <a:r>
              <a:rPr b="0" i="0" lang="en-US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Any v∈ℝⁿ = Σ cᵢvᵢ (unique representation); Basis not unique (infinitely many)</a:t>
            </a:r>
            <a:endParaRPr/>
          </a:p>
        </p:txBody>
      </p:sp>
      <p:sp>
        <p:nvSpPr>
          <p:cNvPr id="337" name="Google Shape;337;p20"/>
          <p:cNvSpPr txBox="1"/>
          <p:nvPr/>
        </p:nvSpPr>
        <p:spPr>
          <a:xfrm>
            <a:off x="609600" y="4457700"/>
            <a:ext cx="8083550" cy="21431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88888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1800"/>
              <a:buFont typeface="Arial"/>
              <a:buNone/>
            </a:pPr>
            <a:r>
              <a:rPr b="1" i="0" lang="en-US" sz="1800" u="non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Orthonormal Basis:</a:t>
            </a:r>
            <a:r>
              <a:rPr b="0" i="0" lang="en-US" sz="1800" u="non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 uᵢ·uⱼ=δᵢⱼ (mutual orthogonality + unit norm)</a:t>
            </a:r>
            <a:endParaRPr/>
          </a:p>
        </p:txBody>
      </p:sp>
      <p:sp>
        <p:nvSpPr>
          <p:cNvPr id="338" name="Google Shape;338;p20"/>
          <p:cNvSpPr txBox="1"/>
          <p:nvPr/>
        </p:nvSpPr>
        <p:spPr>
          <a:xfrm>
            <a:off x="1079500" y="4906962"/>
            <a:ext cx="8083550" cy="2127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88888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b="1" i="0" lang="en-US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• ML:</a:t>
            </a:r>
            <a:r>
              <a:rPr b="0" i="0" lang="en-US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Computational efficiency; Eigenvectors of symmetric matrices form orthonormal basis</a:t>
            </a:r>
            <a:endParaRPr/>
          </a:p>
        </p:txBody>
      </p:sp>
      <p:sp>
        <p:nvSpPr>
          <p:cNvPr id="339" name="Google Shape;339;p20"/>
          <p:cNvSpPr txBox="1"/>
          <p:nvPr/>
        </p:nvSpPr>
        <p:spPr>
          <a:xfrm>
            <a:off x="1057275" y="5586412"/>
            <a:ext cx="8083550" cy="2127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88888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b="1" i="0" lang="en-US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• Math:</a:t>
            </a:r>
            <a:r>
              <a:rPr b="0" i="0" lang="en-US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U=[u₁|...|uₙ] → Uᵀ=U⁻¹; Change of coordinates simple: c=Uᵀv</a:t>
            </a:r>
            <a:endParaRPr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44" name="Shape 3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5" name="Google Shape;345;p21"/>
          <p:cNvSpPr txBox="1"/>
          <p:nvPr/>
        </p:nvSpPr>
        <p:spPr>
          <a:xfrm>
            <a:off x="381000" y="685800"/>
            <a:ext cx="8083550" cy="41116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33333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2400"/>
              <a:buFont typeface="Arial"/>
              <a:buNone/>
            </a:pPr>
            <a:r>
              <a:rPr b="1" i="0" lang="en-US" sz="2400" u="non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Linear Transformations</a:t>
            </a:r>
            <a:endParaRPr/>
          </a:p>
        </p:txBody>
      </p:sp>
      <p:sp>
        <p:nvSpPr>
          <p:cNvPr id="346" name="Google Shape;346;p21"/>
          <p:cNvSpPr txBox="1"/>
          <p:nvPr/>
        </p:nvSpPr>
        <p:spPr>
          <a:xfrm>
            <a:off x="600075" y="1419225"/>
            <a:ext cx="8083550" cy="2127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88888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1800"/>
              <a:buFont typeface="Arial"/>
              <a:buNone/>
            </a:pPr>
            <a:r>
              <a:rPr b="1" i="0" lang="en-US" sz="1800" u="non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Definition:</a:t>
            </a:r>
            <a:r>
              <a:rPr b="0" i="0" lang="en-US" sz="1800" u="non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 T(αu+βv)=αT(u)+βT(v)</a:t>
            </a:r>
            <a:endParaRPr/>
          </a:p>
        </p:txBody>
      </p:sp>
      <p:sp>
        <p:nvSpPr>
          <p:cNvPr id="347" name="Google Shape;347;p21"/>
          <p:cNvSpPr txBox="1"/>
          <p:nvPr/>
        </p:nvSpPr>
        <p:spPr>
          <a:xfrm>
            <a:off x="1071562" y="1760537"/>
            <a:ext cx="8083550" cy="21431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88888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b="1" i="0" lang="en-US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• ML:</a:t>
            </a:r>
            <a:r>
              <a:rPr b="0" i="0" lang="en-US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Neural net layers are linear transformations (+ nonlinearity); Feature extraction T(x)=Ax</a:t>
            </a:r>
            <a:endParaRPr/>
          </a:p>
        </p:txBody>
      </p:sp>
      <p:sp>
        <p:nvSpPr>
          <p:cNvPr id="348" name="Google Shape;348;p21"/>
          <p:cNvSpPr txBox="1"/>
          <p:nvPr/>
        </p:nvSpPr>
        <p:spPr>
          <a:xfrm>
            <a:off x="1060450" y="2401887"/>
            <a:ext cx="8083550" cy="2127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88888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b="1" i="0" lang="en-US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• Math:</a:t>
            </a:r>
            <a:r>
              <a:rPr b="0" i="0" lang="en-US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Additivity + homogeneity; Preserves vector space structure (subspaces → subspaces)</a:t>
            </a:r>
            <a:endParaRPr/>
          </a:p>
        </p:txBody>
      </p:sp>
      <p:sp>
        <p:nvSpPr>
          <p:cNvPr id="349" name="Google Shape;349;p21"/>
          <p:cNvSpPr txBox="1"/>
          <p:nvPr/>
        </p:nvSpPr>
        <p:spPr>
          <a:xfrm>
            <a:off x="600075" y="3057525"/>
            <a:ext cx="8083550" cy="21431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88888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1800"/>
              <a:buFont typeface="Arial"/>
              <a:buNone/>
            </a:pPr>
            <a:r>
              <a:rPr b="1" i="0" lang="en-US" sz="1800" u="non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Matrix Representation:</a:t>
            </a:r>
            <a:r>
              <a:rPr b="0" i="0" lang="en-US" sz="1800" u="non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 T(x)=Ax (A is m×n)</a:t>
            </a:r>
            <a:endParaRPr/>
          </a:p>
        </p:txBody>
      </p:sp>
      <p:sp>
        <p:nvSpPr>
          <p:cNvPr id="350" name="Google Shape;350;p21"/>
          <p:cNvSpPr txBox="1"/>
          <p:nvPr/>
        </p:nvSpPr>
        <p:spPr>
          <a:xfrm>
            <a:off x="1071562" y="3530600"/>
            <a:ext cx="8083550" cy="2127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88888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b="1" i="0" lang="en-US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• ML:</a:t>
            </a:r>
            <a:r>
              <a:rPr b="0" i="0" lang="en-US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Column j of A = T(eⱼ); Entire dataset: T(X) = AX (all samples transformed)</a:t>
            </a:r>
            <a:endParaRPr/>
          </a:p>
        </p:txBody>
      </p:sp>
      <p:sp>
        <p:nvSpPr>
          <p:cNvPr id="351" name="Google Shape;351;p21"/>
          <p:cNvSpPr txBox="1"/>
          <p:nvPr/>
        </p:nvSpPr>
        <p:spPr>
          <a:xfrm>
            <a:off x="1060450" y="4044950"/>
            <a:ext cx="8083550" cy="2127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88888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b="1" i="0" lang="en-US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• Math:</a:t>
            </a:r>
            <a:r>
              <a:rPr b="0" i="0" lang="en-US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Any linear map has unique matrix representation; Composition T₁∘T₂ → A₁A₂</a:t>
            </a:r>
            <a:endParaRPr/>
          </a:p>
        </p:txBody>
      </p:sp>
      <p:sp>
        <p:nvSpPr>
          <p:cNvPr id="352" name="Google Shape;352;p21"/>
          <p:cNvSpPr txBox="1"/>
          <p:nvPr/>
        </p:nvSpPr>
        <p:spPr>
          <a:xfrm>
            <a:off x="641350" y="4818062"/>
            <a:ext cx="8083550" cy="21431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88888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1800"/>
              <a:buFont typeface="Arial"/>
              <a:buNone/>
            </a:pPr>
            <a:r>
              <a:rPr b="1" i="0" lang="en-US" sz="1800" u="non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Null Space (Kernel):</a:t>
            </a:r>
            <a:r>
              <a:rPr b="0" i="0" lang="en-US" sz="1800" u="non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 Null(A)={x:Ax=0}</a:t>
            </a:r>
            <a:endParaRPr/>
          </a:p>
        </p:txBody>
      </p:sp>
      <p:sp>
        <p:nvSpPr>
          <p:cNvPr id="353" name="Google Shape;353;p21"/>
          <p:cNvSpPr txBox="1"/>
          <p:nvPr/>
        </p:nvSpPr>
        <p:spPr>
          <a:xfrm>
            <a:off x="1071562" y="5305425"/>
            <a:ext cx="8083550" cy="2127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88888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b="1" i="0" lang="en-US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• ML:</a:t>
            </a:r>
            <a:r>
              <a:rPr b="0" i="0" lang="en-US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Solutions to homogeneous system; dim(Null(A)) = nullity (free parameters)</a:t>
            </a:r>
            <a:endParaRPr/>
          </a:p>
        </p:txBody>
      </p:sp>
      <p:sp>
        <p:nvSpPr>
          <p:cNvPr id="354" name="Google Shape;354;p21"/>
          <p:cNvSpPr txBox="1"/>
          <p:nvPr/>
        </p:nvSpPr>
        <p:spPr>
          <a:xfrm>
            <a:off x="1033462" y="5865812"/>
            <a:ext cx="8083550" cy="2127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88888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b="1" i="0" lang="en-US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• Math:</a:t>
            </a:r>
            <a:r>
              <a:rPr b="0" i="0" lang="en-US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rank(A)+nullity(A)=n (rank-nullity theorem); Orthogonal complement of row space</a:t>
            </a:r>
            <a:endParaRPr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59" name="Shape 3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0" name="Google Shape;360;p22"/>
          <p:cNvSpPr txBox="1"/>
          <p:nvPr/>
        </p:nvSpPr>
        <p:spPr>
          <a:xfrm>
            <a:off x="1143000" y="609600"/>
            <a:ext cx="8083550" cy="41116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33333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2400"/>
              <a:buFont typeface="Arial"/>
              <a:buNone/>
            </a:pPr>
            <a:r>
              <a:rPr b="1" i="0" lang="en-US" sz="2400" u="non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Vector Norms: p-Norms Family</a:t>
            </a:r>
            <a:endParaRPr/>
          </a:p>
        </p:txBody>
      </p:sp>
      <p:sp>
        <p:nvSpPr>
          <p:cNvPr id="361" name="Google Shape;361;p22"/>
          <p:cNvSpPr txBox="1"/>
          <p:nvPr/>
        </p:nvSpPr>
        <p:spPr>
          <a:xfrm>
            <a:off x="685800" y="1304925"/>
            <a:ext cx="8083550" cy="2127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88888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1800"/>
              <a:buFont typeface="Arial"/>
              <a:buNone/>
            </a:pPr>
            <a:r>
              <a:rPr b="1" i="0" lang="en-US" sz="1800" u="non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L1 Norm:</a:t>
            </a:r>
            <a:r>
              <a:rPr b="0" i="0" lang="en-US" sz="1800" u="non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 ||v||₁=|v₁|+|v₂|+...+|vₙ|</a:t>
            </a:r>
            <a:endParaRPr/>
          </a:p>
        </p:txBody>
      </p:sp>
      <p:sp>
        <p:nvSpPr>
          <p:cNvPr id="362" name="Google Shape;362;p22"/>
          <p:cNvSpPr txBox="1"/>
          <p:nvPr/>
        </p:nvSpPr>
        <p:spPr>
          <a:xfrm>
            <a:off x="1143000" y="1733550"/>
            <a:ext cx="8083550" cy="21431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88888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b="1" i="0" lang="en-US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• ML:</a:t>
            </a:r>
            <a:r>
              <a:rPr b="0" i="0" lang="en-US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LASSO regularization (L1 penalty); Sparse solutions (some weights→0)</a:t>
            </a:r>
            <a:endParaRPr/>
          </a:p>
        </p:txBody>
      </p:sp>
      <p:sp>
        <p:nvSpPr>
          <p:cNvPr id="363" name="Google Shape;363;p22"/>
          <p:cNvSpPr txBox="1"/>
          <p:nvPr/>
        </p:nvSpPr>
        <p:spPr>
          <a:xfrm>
            <a:off x="1144587" y="2225675"/>
            <a:ext cx="8083550" cy="2127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88888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b="1" i="0" lang="en-US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• Math:</a:t>
            </a:r>
            <a:r>
              <a:rPr b="0" i="0" lang="en-US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"Taxicab" distance; Minimizer of L1 norm = median in statistics; Non-smooth at zero</a:t>
            </a:r>
            <a:endParaRPr/>
          </a:p>
        </p:txBody>
      </p:sp>
      <p:sp>
        <p:nvSpPr>
          <p:cNvPr id="364" name="Google Shape;364;p22"/>
          <p:cNvSpPr txBox="1"/>
          <p:nvPr/>
        </p:nvSpPr>
        <p:spPr>
          <a:xfrm>
            <a:off x="717550" y="2863850"/>
            <a:ext cx="8083550" cy="21431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88888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1800"/>
              <a:buFont typeface="Arial"/>
              <a:buNone/>
            </a:pPr>
            <a:r>
              <a:rPr b="1" i="0" lang="en-US" sz="1800" u="non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L2 Norm:</a:t>
            </a:r>
            <a:r>
              <a:rPr b="0" i="0" lang="en-US" sz="1800" u="non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 ||v||₂=√(v₁²+v₂²+...+vₙ²)</a:t>
            </a:r>
            <a:endParaRPr/>
          </a:p>
        </p:txBody>
      </p:sp>
      <p:sp>
        <p:nvSpPr>
          <p:cNvPr id="365" name="Google Shape;365;p22"/>
          <p:cNvSpPr txBox="1"/>
          <p:nvPr/>
        </p:nvSpPr>
        <p:spPr>
          <a:xfrm>
            <a:off x="1143000" y="3408362"/>
            <a:ext cx="8083550" cy="2127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88888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b="1" i="0" lang="en-US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• ML:</a:t>
            </a:r>
            <a:r>
              <a:rPr b="0" i="0" lang="en-US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Ridge regularization; Default distance metric; Induced by dot product</a:t>
            </a:r>
            <a:endParaRPr/>
          </a:p>
        </p:txBody>
      </p:sp>
      <p:sp>
        <p:nvSpPr>
          <p:cNvPr id="366" name="Google Shape;366;p22"/>
          <p:cNvSpPr txBox="1"/>
          <p:nvPr/>
        </p:nvSpPr>
        <p:spPr>
          <a:xfrm>
            <a:off x="1152525" y="3898900"/>
            <a:ext cx="8083550" cy="2127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88888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b="1" i="0" lang="en-US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• Math:</a:t>
            </a:r>
            <a:r>
              <a:rPr b="0" i="0" lang="en-US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Euclidean norm; Minimizer = mean; Smooth everywhere (gradient descent friendly)</a:t>
            </a:r>
            <a:endParaRPr/>
          </a:p>
        </p:txBody>
      </p:sp>
      <p:sp>
        <p:nvSpPr>
          <p:cNvPr id="367" name="Google Shape;367;p22"/>
          <p:cNvSpPr txBox="1"/>
          <p:nvPr/>
        </p:nvSpPr>
        <p:spPr>
          <a:xfrm>
            <a:off x="717550" y="4567237"/>
            <a:ext cx="8083550" cy="21431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88888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1800"/>
              <a:buFont typeface="Arial"/>
              <a:buNone/>
            </a:pPr>
            <a:r>
              <a:rPr b="1" i="0" lang="en-US" sz="1800" u="non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L∞ Norm:</a:t>
            </a:r>
            <a:r>
              <a:rPr b="0" i="0" lang="en-US" sz="1800" u="non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 ||v||∞=max(|v₁|,|v₂|,...,|vₙ|)</a:t>
            </a:r>
            <a:endParaRPr/>
          </a:p>
        </p:txBody>
      </p:sp>
      <p:sp>
        <p:nvSpPr>
          <p:cNvPr id="368" name="Google Shape;368;p22"/>
          <p:cNvSpPr txBox="1"/>
          <p:nvPr/>
        </p:nvSpPr>
        <p:spPr>
          <a:xfrm>
            <a:off x="1143000" y="4975225"/>
            <a:ext cx="8083550" cy="21431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88888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b="1" i="0" lang="en-US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• ML:</a:t>
            </a:r>
            <a:r>
              <a:rPr b="0" i="0" lang="en-US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Robust estimation (minimizes maximum error); Adversarial robustness context</a:t>
            </a:r>
            <a:endParaRPr/>
          </a:p>
        </p:txBody>
      </p:sp>
      <p:sp>
        <p:nvSpPr>
          <p:cNvPr id="369" name="Google Shape;369;p22"/>
          <p:cNvSpPr txBox="1"/>
          <p:nvPr/>
        </p:nvSpPr>
        <p:spPr>
          <a:xfrm>
            <a:off x="1163637" y="5645150"/>
            <a:ext cx="8083550" cy="2127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88888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b="1" i="0" lang="en-US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• Math:</a:t>
            </a:r>
            <a:r>
              <a:rPr b="0" i="0" lang="en-US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"Chebyshev" distance; Limit as p→∞; Minimizer = median of max/min</a:t>
            </a:r>
            <a:endParaRPr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74" name="Shape 3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5" name="Google Shape;375;p23"/>
          <p:cNvSpPr txBox="1"/>
          <p:nvPr/>
        </p:nvSpPr>
        <p:spPr>
          <a:xfrm>
            <a:off x="1060450" y="685800"/>
            <a:ext cx="8083550" cy="41116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33333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2400"/>
              <a:buFont typeface="Arial"/>
              <a:buNone/>
            </a:pPr>
            <a:r>
              <a:rPr b="1" i="0" lang="en-US" sz="2400" u="non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Matrix Norms: Induced &amp; Nuclear</a:t>
            </a:r>
            <a:endParaRPr/>
          </a:p>
        </p:txBody>
      </p:sp>
      <p:sp>
        <p:nvSpPr>
          <p:cNvPr id="376" name="Google Shape;376;p23"/>
          <p:cNvSpPr txBox="1"/>
          <p:nvPr/>
        </p:nvSpPr>
        <p:spPr>
          <a:xfrm>
            <a:off x="530225" y="1419225"/>
            <a:ext cx="8083550" cy="2127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88888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1800"/>
              <a:buFont typeface="Arial"/>
              <a:buNone/>
            </a:pPr>
            <a:r>
              <a:rPr b="1" i="0" lang="en-US" sz="1800" u="non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Frobenius Norm:</a:t>
            </a:r>
            <a:r>
              <a:rPr b="0" i="0" lang="en-US" sz="1800" u="non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 ||A||F=√(ΣᵢΣⱼAᵢⱼ²)=√(tr(AᵀA))</a:t>
            </a:r>
            <a:endParaRPr/>
          </a:p>
        </p:txBody>
      </p:sp>
      <p:sp>
        <p:nvSpPr>
          <p:cNvPr id="377" name="Google Shape;377;p23"/>
          <p:cNvSpPr txBox="1"/>
          <p:nvPr/>
        </p:nvSpPr>
        <p:spPr>
          <a:xfrm>
            <a:off x="1060450" y="1830387"/>
            <a:ext cx="8083550" cy="2127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88888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b="1" i="0" lang="en-US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• ML:</a:t>
            </a:r>
            <a:r>
              <a:rPr b="0" i="0" lang="en-US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Regularization in matrix completion; Weight matrix magnitude penalty</a:t>
            </a:r>
            <a:endParaRPr/>
          </a:p>
        </p:txBody>
      </p:sp>
      <p:sp>
        <p:nvSpPr>
          <p:cNvPr id="378" name="Google Shape;378;p23"/>
          <p:cNvSpPr txBox="1"/>
          <p:nvPr/>
        </p:nvSpPr>
        <p:spPr>
          <a:xfrm>
            <a:off x="1060450" y="2293937"/>
            <a:ext cx="8083550" cy="21431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88888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b="1" i="0" lang="en-US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• Math:</a:t>
            </a:r>
            <a:r>
              <a:rPr b="0" i="0" lang="en-US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= √(Σσᵢ²); Convex; Easy to compute; Compatible with Euclidean geometry</a:t>
            </a:r>
            <a:endParaRPr/>
          </a:p>
        </p:txBody>
      </p:sp>
      <p:sp>
        <p:nvSpPr>
          <p:cNvPr id="379" name="Google Shape;379;p23"/>
          <p:cNvSpPr txBox="1"/>
          <p:nvPr/>
        </p:nvSpPr>
        <p:spPr>
          <a:xfrm>
            <a:off x="525462" y="2908300"/>
            <a:ext cx="8083550" cy="2127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88888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1800"/>
              <a:buFont typeface="Arial"/>
              <a:buNone/>
            </a:pPr>
            <a:r>
              <a:rPr b="1" i="0" lang="en-US" sz="1800" u="non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Spectral Norm:</a:t>
            </a:r>
            <a:r>
              <a:rPr b="0" i="0" lang="en-US" sz="1800" u="non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 ||A||₂=σ_max (largest singular value)</a:t>
            </a:r>
            <a:endParaRPr/>
          </a:p>
        </p:txBody>
      </p:sp>
      <p:sp>
        <p:nvSpPr>
          <p:cNvPr id="380" name="Google Shape;380;p23"/>
          <p:cNvSpPr txBox="1"/>
          <p:nvPr/>
        </p:nvSpPr>
        <p:spPr>
          <a:xfrm>
            <a:off x="1060450" y="3489325"/>
            <a:ext cx="8083550" cy="2127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88888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b="1" i="0" lang="en-US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• ML:</a:t>
            </a:r>
            <a:r>
              <a:rPr b="0" i="0" lang="en-US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Condition number κ(A)=σ_max/σ_min; Network robustness (weight matrix spectral radius)</a:t>
            </a:r>
            <a:endParaRPr/>
          </a:p>
        </p:txBody>
      </p:sp>
      <p:sp>
        <p:nvSpPr>
          <p:cNvPr id="381" name="Google Shape;381;p23"/>
          <p:cNvSpPr txBox="1"/>
          <p:nvPr/>
        </p:nvSpPr>
        <p:spPr>
          <a:xfrm>
            <a:off x="1060450" y="4100512"/>
            <a:ext cx="8083550" cy="2127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88888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b="1" i="0" lang="en-US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• Math:</a:t>
            </a:r>
            <a:r>
              <a:rPr b="0" i="0" lang="en-US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= max ||Ax||₂/||x||₂; Operator norm; κ_condition = κ(A) determines system stability</a:t>
            </a:r>
            <a:endParaRPr/>
          </a:p>
        </p:txBody>
      </p:sp>
      <p:sp>
        <p:nvSpPr>
          <p:cNvPr id="382" name="Google Shape;382;p23"/>
          <p:cNvSpPr txBox="1"/>
          <p:nvPr/>
        </p:nvSpPr>
        <p:spPr>
          <a:xfrm>
            <a:off x="525462" y="4694237"/>
            <a:ext cx="8083550" cy="2127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88888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1800"/>
              <a:buFont typeface="Arial"/>
              <a:buNone/>
            </a:pPr>
            <a:r>
              <a:rPr b="1" i="0" lang="en-US" sz="1800" u="non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Nuclear Norm:</a:t>
            </a:r>
            <a:r>
              <a:rPr b="0" i="0" lang="en-US" sz="1800" u="non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 ||A||*=Σσᵢ (sum of singular values)</a:t>
            </a:r>
            <a:endParaRPr/>
          </a:p>
        </p:txBody>
      </p:sp>
      <p:sp>
        <p:nvSpPr>
          <p:cNvPr id="383" name="Google Shape;383;p23"/>
          <p:cNvSpPr txBox="1"/>
          <p:nvPr/>
        </p:nvSpPr>
        <p:spPr>
          <a:xfrm>
            <a:off x="1060450" y="5095875"/>
            <a:ext cx="8083550" cy="2127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88888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b="1" i="0" lang="en-US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• ML:</a:t>
            </a:r>
            <a:r>
              <a:rPr b="0" i="0" lang="en-US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Low-rank matrix recovery; Matrix completion (Netflix prize); Convex relaxation of rank</a:t>
            </a:r>
            <a:endParaRPr/>
          </a:p>
        </p:txBody>
      </p:sp>
      <p:sp>
        <p:nvSpPr>
          <p:cNvPr id="384" name="Google Shape;384;p23"/>
          <p:cNvSpPr txBox="1"/>
          <p:nvPr/>
        </p:nvSpPr>
        <p:spPr>
          <a:xfrm>
            <a:off x="1060450" y="5883275"/>
            <a:ext cx="8083550" cy="2127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88888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b="1" i="0" lang="en-US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• Math:</a:t>
            </a:r>
            <a:r>
              <a:rPr b="0" i="0" lang="en-US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Convex relaxation of rank(A); Dual norm of spectral norm; Minimizes rank approximately</a:t>
            </a:r>
            <a:endParaRPr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89" name="Shape 3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0" name="Google Shape;390;p24"/>
          <p:cNvSpPr txBox="1"/>
          <p:nvPr/>
        </p:nvSpPr>
        <p:spPr>
          <a:xfrm>
            <a:off x="990600" y="762000"/>
            <a:ext cx="8083550" cy="41116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33333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2400"/>
              <a:buFont typeface="Arial"/>
              <a:buNone/>
            </a:pPr>
            <a:r>
              <a:rPr b="1" i="0" lang="en-US" sz="2400" u="non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PCA: Principal Component Analysis</a:t>
            </a:r>
            <a:endParaRPr/>
          </a:p>
        </p:txBody>
      </p:sp>
      <p:sp>
        <p:nvSpPr>
          <p:cNvPr id="391" name="Google Shape;391;p24"/>
          <p:cNvSpPr txBox="1"/>
          <p:nvPr/>
        </p:nvSpPr>
        <p:spPr>
          <a:xfrm>
            <a:off x="588962" y="1350962"/>
            <a:ext cx="8083550" cy="2127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88888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1800"/>
              <a:buFont typeface="Arial"/>
              <a:buNone/>
            </a:pPr>
            <a:r>
              <a:rPr b="1" i="0" lang="en-US" sz="1800" u="non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Goal:</a:t>
            </a:r>
            <a:r>
              <a:rPr b="0" i="0" lang="en-US" sz="1800" u="non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 Reduce dimensionality while preserving variance.</a:t>
            </a:r>
            <a:endParaRPr/>
          </a:p>
        </p:txBody>
      </p:sp>
      <p:sp>
        <p:nvSpPr>
          <p:cNvPr id="392" name="Google Shape;392;p24"/>
          <p:cNvSpPr txBox="1"/>
          <p:nvPr/>
        </p:nvSpPr>
        <p:spPr>
          <a:xfrm>
            <a:off x="1060450" y="1758950"/>
            <a:ext cx="8083550" cy="21431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88888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b="1" i="0" lang="en-US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• ML:</a:t>
            </a:r>
            <a:r>
              <a:rPr b="0" i="0" lang="en-US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Visualization (project to 2D/3D); Noise reduction; Feature extraction; Computational speedup</a:t>
            </a:r>
            <a:endParaRPr/>
          </a:p>
        </p:txBody>
      </p:sp>
      <p:sp>
        <p:nvSpPr>
          <p:cNvPr id="393" name="Google Shape;393;p24"/>
          <p:cNvSpPr txBox="1"/>
          <p:nvPr/>
        </p:nvSpPr>
        <p:spPr>
          <a:xfrm>
            <a:off x="1060450" y="2360612"/>
            <a:ext cx="8083550" cy="2127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88888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b="1" i="0" lang="en-US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• Math:</a:t>
            </a:r>
            <a:r>
              <a:rPr b="0" i="0" lang="en-US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Unsupervised; Solves optimization: max tr(WᵀΣW) s.t. WᵀW=I (variance maximization)</a:t>
            </a:r>
            <a:endParaRPr/>
          </a:p>
        </p:txBody>
      </p:sp>
      <p:sp>
        <p:nvSpPr>
          <p:cNvPr id="394" name="Google Shape;394;p24"/>
          <p:cNvSpPr txBox="1"/>
          <p:nvPr/>
        </p:nvSpPr>
        <p:spPr>
          <a:xfrm>
            <a:off x="598487" y="3027362"/>
            <a:ext cx="8083550" cy="21431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88888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1800"/>
              <a:buFont typeface="Arial"/>
              <a:buNone/>
            </a:pPr>
            <a:r>
              <a:rPr b="1" i="0" lang="en-US" sz="1800" u="non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Covariance Matrix:</a:t>
            </a:r>
            <a:r>
              <a:rPr b="0" i="0" lang="en-US" sz="1800" u="non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 Cov(X)=(1/n)XᵀX (centered X)</a:t>
            </a:r>
            <a:endParaRPr/>
          </a:p>
        </p:txBody>
      </p:sp>
      <p:sp>
        <p:nvSpPr>
          <p:cNvPr id="395" name="Google Shape;395;p24"/>
          <p:cNvSpPr txBox="1"/>
          <p:nvPr/>
        </p:nvSpPr>
        <p:spPr>
          <a:xfrm>
            <a:off x="1143000" y="3502025"/>
            <a:ext cx="8083550" cy="2127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88888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b="1" i="0" lang="en-US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• ML:</a:t>
            </a:r>
            <a:r>
              <a:rPr b="0" i="0" lang="en-US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Measures feature correlation; Diagonal = variance per feature; Off-diagonal = covariances</a:t>
            </a:r>
            <a:endParaRPr/>
          </a:p>
        </p:txBody>
      </p:sp>
      <p:sp>
        <p:nvSpPr>
          <p:cNvPr id="396" name="Google Shape;396;p24"/>
          <p:cNvSpPr txBox="1"/>
          <p:nvPr/>
        </p:nvSpPr>
        <p:spPr>
          <a:xfrm>
            <a:off x="1060450" y="4097337"/>
            <a:ext cx="8083550" cy="2127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88888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b="1" i="0" lang="en-US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• Math:</a:t>
            </a:r>
            <a:r>
              <a:rPr b="0" i="0" lang="en-US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Symmetric positive semi-definite; Eigenvalues ≥ 0; Rank ≤ min(n,m)</a:t>
            </a:r>
            <a:endParaRPr/>
          </a:p>
        </p:txBody>
      </p:sp>
      <p:sp>
        <p:nvSpPr>
          <p:cNvPr id="397" name="Google Shape;397;p24"/>
          <p:cNvSpPr txBox="1"/>
          <p:nvPr/>
        </p:nvSpPr>
        <p:spPr>
          <a:xfrm>
            <a:off x="598487" y="4556125"/>
            <a:ext cx="8083550" cy="21431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88888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1800"/>
              <a:buFont typeface="Arial"/>
              <a:buNone/>
            </a:pPr>
            <a:r>
              <a:rPr b="1" i="0" lang="en-US" sz="1800" u="non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Principal Components:</a:t>
            </a:r>
            <a:r>
              <a:rPr b="0" i="0" lang="en-US" sz="1800" u="non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 Eigenvectors of Cov(X), sorted by eigenvalues (descending)</a:t>
            </a:r>
            <a:endParaRPr/>
          </a:p>
        </p:txBody>
      </p:sp>
      <p:sp>
        <p:nvSpPr>
          <p:cNvPr id="398" name="Google Shape;398;p24"/>
          <p:cNvSpPr txBox="1"/>
          <p:nvPr/>
        </p:nvSpPr>
        <p:spPr>
          <a:xfrm>
            <a:off x="1076325" y="5243512"/>
            <a:ext cx="8083550" cy="2127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88888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b="1" i="0" lang="en-US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• ML:</a:t>
            </a:r>
            <a:r>
              <a:rPr b="0" i="0" lang="en-US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PC1 = direction of max variance; PC2 = max variance orthogonal to PC1; etc.</a:t>
            </a:r>
            <a:endParaRPr/>
          </a:p>
        </p:txBody>
      </p:sp>
      <p:sp>
        <p:nvSpPr>
          <p:cNvPr id="399" name="Google Shape;399;p24"/>
          <p:cNvSpPr txBox="1"/>
          <p:nvPr/>
        </p:nvSpPr>
        <p:spPr>
          <a:xfrm>
            <a:off x="1060450" y="5872162"/>
            <a:ext cx="8083550" cy="2127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88888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b="1" i="0" lang="en-US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• Math:</a:t>
            </a:r>
            <a:r>
              <a:rPr b="0" i="0" lang="en-US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Cumulative variance explained by top-k PCs = (Σᵢ₌₁ᵏλᵢ)/(Σᵢ₌₁ⁿλᵢ); Scree plot shows decay</a:t>
            </a:r>
            <a:endParaRPr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04" name="Shape 4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5" name="Google Shape;405;p25"/>
          <p:cNvSpPr txBox="1"/>
          <p:nvPr/>
        </p:nvSpPr>
        <p:spPr>
          <a:xfrm>
            <a:off x="838200" y="762000"/>
            <a:ext cx="8083550" cy="41116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3333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2400"/>
              <a:buFont typeface="Arial"/>
              <a:buNone/>
            </a:pPr>
            <a:r>
              <a:rPr b="1" i="0" lang="en-US" sz="2400" u="non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PCA Algorithm: 5-Step Process</a:t>
            </a:r>
            <a:endParaRPr/>
          </a:p>
        </p:txBody>
      </p:sp>
      <p:sp>
        <p:nvSpPr>
          <p:cNvPr id="406" name="Google Shape;406;p25"/>
          <p:cNvSpPr txBox="1"/>
          <p:nvPr/>
        </p:nvSpPr>
        <p:spPr>
          <a:xfrm>
            <a:off x="685800" y="1400175"/>
            <a:ext cx="8083550" cy="21431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88888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1800"/>
              <a:buFont typeface="Arial"/>
              <a:buNone/>
            </a:pPr>
            <a:r>
              <a:rPr b="1" i="0" lang="en-US" sz="1800" u="non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Step 1:</a:t>
            </a:r>
            <a:r>
              <a:rPr b="0" i="0" lang="en-US" sz="1800" u="non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 Center data: X_c = X - μ (μ = mean per feature)</a:t>
            </a:r>
            <a:endParaRPr/>
          </a:p>
        </p:txBody>
      </p:sp>
      <p:sp>
        <p:nvSpPr>
          <p:cNvPr id="407" name="Google Shape;407;p25"/>
          <p:cNvSpPr txBox="1"/>
          <p:nvPr/>
        </p:nvSpPr>
        <p:spPr>
          <a:xfrm>
            <a:off x="1219200" y="1863725"/>
            <a:ext cx="8083550" cy="21431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88888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b="1" i="0" lang="en-US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• ML:</a:t>
            </a:r>
            <a:r>
              <a:rPr b="0" i="0" lang="en-US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Standardization (subtract mean); Critical for fair variance comparison</a:t>
            </a:r>
            <a:endParaRPr/>
          </a:p>
        </p:txBody>
      </p:sp>
      <p:sp>
        <p:nvSpPr>
          <p:cNvPr id="408" name="Google Shape;408;p25"/>
          <p:cNvSpPr txBox="1"/>
          <p:nvPr/>
        </p:nvSpPr>
        <p:spPr>
          <a:xfrm>
            <a:off x="1223962" y="2287587"/>
            <a:ext cx="8083550" cy="2127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88888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b="1" i="0" lang="en-US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• Math:</a:t>
            </a:r>
            <a:r>
              <a:rPr b="0" i="0" lang="en-US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Shifts origin to data centroid; Centering = removing mean; Standardization also divides by σ</a:t>
            </a:r>
            <a:endParaRPr/>
          </a:p>
        </p:txBody>
      </p:sp>
      <p:sp>
        <p:nvSpPr>
          <p:cNvPr id="409" name="Google Shape;409;p25"/>
          <p:cNvSpPr txBox="1"/>
          <p:nvPr/>
        </p:nvSpPr>
        <p:spPr>
          <a:xfrm>
            <a:off x="701675" y="2905125"/>
            <a:ext cx="8083550" cy="2127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88888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1800"/>
              <a:buFont typeface="Arial"/>
              <a:buNone/>
            </a:pPr>
            <a:r>
              <a:rPr b="1" i="0" lang="en-US" sz="1800" u="non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Step 2:</a:t>
            </a:r>
            <a:r>
              <a:rPr b="0" i="0" lang="en-US" sz="1800" u="non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 Compute covariance: Σ = (1/n)X_cᵀX_c</a:t>
            </a:r>
            <a:endParaRPr/>
          </a:p>
        </p:txBody>
      </p:sp>
      <p:sp>
        <p:nvSpPr>
          <p:cNvPr id="410" name="Google Shape;410;p25"/>
          <p:cNvSpPr txBox="1"/>
          <p:nvPr/>
        </p:nvSpPr>
        <p:spPr>
          <a:xfrm>
            <a:off x="1219200" y="3451225"/>
            <a:ext cx="8083550" cy="2127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88888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b="1" i="0" lang="en-US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• ML:</a:t>
            </a:r>
            <a:r>
              <a:rPr b="0" i="0" lang="en-US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n×n symmetric matrix (features vs features); Diagonal = variances; Off-diagonal = correlations</a:t>
            </a:r>
            <a:endParaRPr/>
          </a:p>
        </p:txBody>
      </p:sp>
      <p:sp>
        <p:nvSpPr>
          <p:cNvPr id="411" name="Google Shape;411;p25"/>
          <p:cNvSpPr txBox="1"/>
          <p:nvPr/>
        </p:nvSpPr>
        <p:spPr>
          <a:xfrm>
            <a:off x="1250950" y="4105275"/>
            <a:ext cx="8083550" cy="21431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88888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b="1" i="0" lang="en-US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• Math:</a:t>
            </a:r>
            <a:r>
              <a:rPr b="0" i="0" lang="en-US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Covariance = E[(X-μ)(X-μ)ᵀ]; Σ ≈ (1/(n-1))X_cᵀX_c for unbiased estimate</a:t>
            </a:r>
            <a:endParaRPr/>
          </a:p>
        </p:txBody>
      </p:sp>
      <p:sp>
        <p:nvSpPr>
          <p:cNvPr id="412" name="Google Shape;412;p25"/>
          <p:cNvSpPr txBox="1"/>
          <p:nvPr/>
        </p:nvSpPr>
        <p:spPr>
          <a:xfrm>
            <a:off x="609600" y="4697412"/>
            <a:ext cx="8083550" cy="2127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88888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1800"/>
              <a:buFont typeface="Arial"/>
              <a:buNone/>
            </a:pPr>
            <a:r>
              <a:rPr b="1" i="0" lang="en-US" sz="1800" u="non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Step 3:</a:t>
            </a:r>
            <a:r>
              <a:rPr b="0" i="0" lang="en-US" sz="1800" u="non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 Eigendecomposition: Σ = VΛVᵀ</a:t>
            </a:r>
            <a:endParaRPr/>
          </a:p>
        </p:txBody>
      </p:sp>
      <p:sp>
        <p:nvSpPr>
          <p:cNvPr id="413" name="Google Shape;413;p25"/>
          <p:cNvSpPr txBox="1"/>
          <p:nvPr/>
        </p:nvSpPr>
        <p:spPr>
          <a:xfrm>
            <a:off x="1219200" y="5126037"/>
            <a:ext cx="8083550" cy="2127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88888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b="1" i="0" lang="en-US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• ML:</a:t>
            </a:r>
            <a:r>
              <a:rPr b="0" i="0" lang="en-US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V = eigenvector matrix; Λ = diagonal eigenvalue matrix; </a:t>
            </a:r>
            <a:endParaRPr/>
          </a:p>
          <a:p>
            <a:pPr indent="0" lvl="0" marL="0" marR="0" rtl="0" algn="l">
              <a:lnSpc>
                <a:spcPct val="88888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b="0" i="0" lang="en-US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Symmetric → real eigenvalues</a:t>
            </a:r>
            <a:endParaRPr/>
          </a:p>
        </p:txBody>
      </p:sp>
      <p:sp>
        <p:nvSpPr>
          <p:cNvPr id="414" name="Google Shape;414;p25"/>
          <p:cNvSpPr txBox="1"/>
          <p:nvPr/>
        </p:nvSpPr>
        <p:spPr>
          <a:xfrm>
            <a:off x="609600" y="5692775"/>
            <a:ext cx="8083550" cy="2127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88888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1800"/>
              <a:buFont typeface="Arial"/>
              <a:buNone/>
            </a:pPr>
            <a:r>
              <a:rPr b="1" i="0" lang="en-US" sz="1800" u="non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Steps 4-5:</a:t>
            </a:r>
            <a:r>
              <a:rPr b="0" i="0" lang="en-US" sz="1800" u="non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 Select top-k PCs; project Y = X_c·V_k</a:t>
            </a:r>
            <a:endParaRPr/>
          </a:p>
        </p:txBody>
      </p:sp>
      <p:sp>
        <p:nvSpPr>
          <p:cNvPr id="415" name="Google Shape;415;p25"/>
          <p:cNvSpPr txBox="1"/>
          <p:nvPr/>
        </p:nvSpPr>
        <p:spPr>
          <a:xfrm>
            <a:off x="949325" y="6127750"/>
            <a:ext cx="8083550" cy="2127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88888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b="1" i="0" lang="en-US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• ML:</a:t>
            </a:r>
            <a:r>
              <a:rPr b="0" i="0" lang="en-US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Retain ~90-95% variance typical; Y ∈ ℝⁿˣᵏ (n samples, k &lt;&lt; original features)</a:t>
            </a:r>
            <a:endParaRPr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20" name="Shape 4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1" name="Google Shape;421;p26"/>
          <p:cNvSpPr txBox="1"/>
          <p:nvPr/>
        </p:nvSpPr>
        <p:spPr>
          <a:xfrm>
            <a:off x="609600" y="2498725"/>
            <a:ext cx="7924800" cy="1601787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22" name="Google Shape;422;p26"/>
          <p:cNvSpPr txBox="1"/>
          <p:nvPr/>
        </p:nvSpPr>
        <p:spPr>
          <a:xfrm>
            <a:off x="609600" y="4100512"/>
            <a:ext cx="7924800" cy="1963737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23" name="Google Shape;423;p26"/>
          <p:cNvSpPr txBox="1"/>
          <p:nvPr/>
        </p:nvSpPr>
        <p:spPr>
          <a:xfrm>
            <a:off x="809625" y="688975"/>
            <a:ext cx="8083550" cy="41116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33333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2400"/>
              <a:buFont typeface="Arial"/>
              <a:buNone/>
            </a:pPr>
            <a:r>
              <a:rPr b="1" i="0" lang="en-US" sz="2400" u="non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Complete Example: PCA on Iris Dataset</a:t>
            </a:r>
            <a:endParaRPr/>
          </a:p>
        </p:txBody>
      </p:sp>
      <p:sp>
        <p:nvSpPr>
          <p:cNvPr id="424" name="Google Shape;424;p26"/>
          <p:cNvSpPr txBox="1"/>
          <p:nvPr/>
        </p:nvSpPr>
        <p:spPr>
          <a:xfrm>
            <a:off x="450850" y="1416050"/>
            <a:ext cx="8083550" cy="23971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b="1" i="0" lang="en-US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Goal:</a:t>
            </a:r>
            <a:r>
              <a:rPr b="0" i="0" lang="en-US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Reduce 4D Iris features → 2D while preserving 95%+ variance</a:t>
            </a:r>
            <a:endParaRPr/>
          </a:p>
        </p:txBody>
      </p:sp>
      <p:sp>
        <p:nvSpPr>
          <p:cNvPr id="425" name="Google Shape;425;p26"/>
          <p:cNvSpPr txBox="1"/>
          <p:nvPr/>
        </p:nvSpPr>
        <p:spPr>
          <a:xfrm>
            <a:off x="704850" y="2071687"/>
            <a:ext cx="7734300" cy="2127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88888"/>
              </a:lnSpc>
              <a:spcBef>
                <a:spcPts val="0"/>
              </a:spcBef>
              <a:spcAft>
                <a:spcPts val="0"/>
              </a:spcAft>
              <a:buClr>
                <a:srgbClr val="38BDF8"/>
              </a:buClr>
              <a:buSzPts val="1800"/>
              <a:buFont typeface="Arial"/>
              <a:buNone/>
            </a:pPr>
            <a:r>
              <a:rPr b="1" i="0" lang="en-US" sz="1800" u="none">
                <a:solidFill>
                  <a:srgbClr val="38BDF8"/>
                </a:solidFill>
                <a:latin typeface="Arial"/>
                <a:ea typeface="Arial"/>
                <a:cs typeface="Arial"/>
                <a:sym typeface="Arial"/>
              </a:rPr>
              <a:t>Dataset Structure:</a:t>
            </a:r>
            <a:endParaRPr/>
          </a:p>
        </p:txBody>
      </p:sp>
      <p:sp>
        <p:nvSpPr>
          <p:cNvPr id="426" name="Google Shape;426;p26"/>
          <p:cNvSpPr txBox="1"/>
          <p:nvPr/>
        </p:nvSpPr>
        <p:spPr>
          <a:xfrm>
            <a:off x="952500" y="2346325"/>
            <a:ext cx="7429500" cy="96996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342900" lvl="0" marL="3429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b="0" i="0" lang="en-US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150 iris flowers × 4 features</a:t>
            </a:r>
            <a:endParaRPr b="0" i="0" sz="180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0" marL="3429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b="0" i="0" lang="en-US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Features: Sepal L/W, Petal L/W</a:t>
            </a:r>
            <a:endParaRPr b="0" i="0" sz="180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0" marL="3429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b="0" i="0" lang="en-US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3 species: Setosa, Versicolor, Virginica</a:t>
            </a:r>
            <a:endParaRPr/>
          </a:p>
        </p:txBody>
      </p:sp>
      <p:sp>
        <p:nvSpPr>
          <p:cNvPr id="427" name="Google Shape;427;p26"/>
          <p:cNvSpPr txBox="1"/>
          <p:nvPr/>
        </p:nvSpPr>
        <p:spPr>
          <a:xfrm>
            <a:off x="800100" y="3810000"/>
            <a:ext cx="7734300" cy="2127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88888"/>
              </a:lnSpc>
              <a:spcBef>
                <a:spcPts val="0"/>
              </a:spcBef>
              <a:spcAft>
                <a:spcPts val="0"/>
              </a:spcAft>
              <a:buClr>
                <a:srgbClr val="38BDF8"/>
              </a:buClr>
              <a:buSzPts val="1800"/>
              <a:buFont typeface="Arial"/>
              <a:buNone/>
            </a:pPr>
            <a:r>
              <a:rPr b="1" i="0" lang="en-US" sz="1800" u="none">
                <a:solidFill>
                  <a:srgbClr val="38BDF8"/>
                </a:solidFill>
                <a:latin typeface="Arial"/>
                <a:ea typeface="Arial"/>
                <a:cs typeface="Arial"/>
                <a:sym typeface="Arial"/>
              </a:rPr>
              <a:t>Math Concepts Used:</a:t>
            </a:r>
            <a:endParaRPr/>
          </a:p>
        </p:txBody>
      </p:sp>
      <p:sp>
        <p:nvSpPr>
          <p:cNvPr id="428" name="Google Shape;428;p26"/>
          <p:cNvSpPr txBox="1"/>
          <p:nvPr/>
        </p:nvSpPr>
        <p:spPr>
          <a:xfrm>
            <a:off x="1104900" y="4252912"/>
            <a:ext cx="7429500" cy="13303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342900" lvl="0" marL="3429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b="0" i="0" lang="en-US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Vectors → Iris features</a:t>
            </a:r>
            <a:endParaRPr b="0" i="0" sz="180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0" marL="3429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b="0" i="0" lang="en-US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Matrices → Data structure</a:t>
            </a:r>
            <a:endParaRPr b="0" i="0" sz="180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0" marL="3429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b="0" i="0" lang="en-US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Eigenvalues → PC importance</a:t>
            </a:r>
            <a:endParaRPr b="0" i="0" sz="180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0" marL="3429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b="0" i="0" lang="en-US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SVD → Dimensionality reduction</a:t>
            </a:r>
            <a:endParaRPr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33" name="Shape 4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4" name="Google Shape;434;p27"/>
          <p:cNvSpPr/>
          <p:nvPr/>
        </p:nvSpPr>
        <p:spPr>
          <a:xfrm>
            <a:off x="762000" y="1695450"/>
            <a:ext cx="7924800" cy="547687"/>
          </a:xfrm>
          <a:prstGeom prst="roundRect">
            <a:avLst>
              <a:gd fmla="val 14400" name="adj"/>
            </a:avLst>
          </a:prstGeom>
          <a:noFill/>
          <a:ln>
            <a:noFill/>
          </a:ln>
        </p:spPr>
        <p:txBody>
          <a:bodyPr anchorCtr="0" anchor="t" bIns="152400" lIns="152400" spcFirstLastPara="1" rIns="152400" wrap="square" tIns="1524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ourier New"/>
              <a:buNone/>
            </a:pPr>
            <a:r>
              <a:rPr b="0" i="0" lang="en-US" sz="1800" u="non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xᵢ = [sepal_length, sepal_width, petal_length, petal_width]ᵀ ∈ ℝ⁴</a:t>
            </a:r>
            <a:endParaRPr/>
          </a:p>
        </p:txBody>
      </p:sp>
      <p:sp>
        <p:nvSpPr>
          <p:cNvPr id="435" name="Google Shape;435;p27"/>
          <p:cNvSpPr txBox="1"/>
          <p:nvPr/>
        </p:nvSpPr>
        <p:spPr>
          <a:xfrm>
            <a:off x="530225" y="757237"/>
            <a:ext cx="8083550" cy="41116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77777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1800"/>
              <a:buFont typeface="Arial"/>
              <a:buNone/>
            </a:pPr>
            <a:r>
              <a:rPr b="1" i="0" lang="en-US" sz="1800" u="non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Step 1: Iris Data as Vectors &amp; Matrices</a:t>
            </a:r>
            <a:endParaRPr/>
          </a:p>
        </p:txBody>
      </p:sp>
      <p:sp>
        <p:nvSpPr>
          <p:cNvPr id="436" name="Google Shape;436;p27"/>
          <p:cNvSpPr txBox="1"/>
          <p:nvPr/>
        </p:nvSpPr>
        <p:spPr>
          <a:xfrm>
            <a:off x="682625" y="1462087"/>
            <a:ext cx="8083550" cy="21431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88888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b="0" i="0" lang="en-US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Each Flower = 4D Vector:</a:t>
            </a:r>
            <a:endParaRPr/>
          </a:p>
        </p:txBody>
      </p:sp>
      <p:sp>
        <p:nvSpPr>
          <p:cNvPr id="437" name="Google Shape;437;p27"/>
          <p:cNvSpPr txBox="1"/>
          <p:nvPr/>
        </p:nvSpPr>
        <p:spPr>
          <a:xfrm>
            <a:off x="1066800" y="2819400"/>
            <a:ext cx="7620000" cy="155416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342900" lvl="0" marL="3429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b="1" i="0" lang="en-US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Vector Addition:</a:t>
            </a:r>
            <a:r>
              <a:rPr b="0" i="0" lang="en-US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Mean μ = (1/150)Σxᵢ (average iris)</a:t>
            </a:r>
            <a:endParaRPr b="0" i="0" sz="180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0" marL="3429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b="1" i="0" lang="en-US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ML Context:</a:t>
            </a:r>
            <a:r>
              <a:rPr b="0" i="0" lang="en-US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Each element = feature; entire vector = one data point</a:t>
            </a:r>
            <a:endParaRPr b="0" i="0" sz="180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0" marL="3429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b="1" i="0" lang="en-US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Linear Combination:</a:t>
            </a:r>
            <a:r>
              <a:rPr b="0" i="0" lang="en-US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Any iris can be expressed as combination of basis vectors</a:t>
            </a:r>
            <a:endParaRPr b="0" i="0" sz="180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0" marL="3429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b="1" i="0" lang="en-US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Vector Scaling:</a:t>
            </a:r>
            <a:r>
              <a:rPr b="0" i="0" lang="en-US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Standardization required (features have different units)</a:t>
            </a:r>
            <a:endParaRPr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42" name="Shape 4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3" name="Google Shape;443;p28"/>
          <p:cNvSpPr txBox="1"/>
          <p:nvPr/>
        </p:nvSpPr>
        <p:spPr>
          <a:xfrm>
            <a:off x="682625" y="838200"/>
            <a:ext cx="8083550" cy="41116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77777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1800"/>
              <a:buFont typeface="Arial"/>
              <a:buNone/>
            </a:pPr>
            <a:r>
              <a:rPr b="1" i="0" lang="en-US" sz="1800" u="non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Step 2: Standardization Using L2 Norms</a:t>
            </a:r>
            <a:endParaRPr/>
          </a:p>
        </p:txBody>
      </p:sp>
      <p:sp>
        <p:nvSpPr>
          <p:cNvPr id="444" name="Google Shape;444;p28"/>
          <p:cNvSpPr txBox="1"/>
          <p:nvPr/>
        </p:nvSpPr>
        <p:spPr>
          <a:xfrm>
            <a:off x="652462" y="1571625"/>
            <a:ext cx="8083550" cy="2127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88888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b="1" i="0" lang="en-US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Z-Score Normalization:</a:t>
            </a:r>
            <a:r>
              <a:rPr b="0" i="0" lang="en-US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zᵢⱼ = (xᵢⱼ - μⱼ) / σⱼ</a:t>
            </a:r>
            <a:endParaRPr/>
          </a:p>
        </p:txBody>
      </p:sp>
      <p:sp>
        <p:nvSpPr>
          <p:cNvPr id="445" name="Google Shape;445;p28"/>
          <p:cNvSpPr txBox="1"/>
          <p:nvPr/>
        </p:nvSpPr>
        <p:spPr>
          <a:xfrm>
            <a:off x="914400" y="2106612"/>
            <a:ext cx="7620000" cy="155416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342900" lvl="0" marL="3429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b="1" i="0" lang="en-US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L2 Norm Effect:</a:t>
            </a:r>
            <a:r>
              <a:rPr b="0" i="0" lang="en-US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Each feature gets ||σⱼ||₂ = 1 (equal weight)</a:t>
            </a:r>
            <a:endParaRPr b="0" i="0" sz="180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0" marL="3429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b="1" i="0" lang="en-US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Why Important:</a:t>
            </a:r>
            <a:r>
              <a:rPr b="0" i="0" lang="en-US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Petal dimensions &gt;&gt; sepal dimensions; standardization equalizes influence</a:t>
            </a:r>
            <a:endParaRPr b="0" i="0" sz="180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0" marL="3429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b="1" i="0" lang="en-US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Euclidean Distance Preserved:</a:t>
            </a:r>
            <a:r>
              <a:rPr b="0" i="0" lang="en-US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Meaningful distances across all features after normalization</a:t>
            </a:r>
            <a:endParaRPr b="0" i="0" sz="180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0" marL="3429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b="1" i="0" lang="en-US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Math Interpretation:</a:t>
            </a:r>
            <a:r>
              <a:rPr b="0" i="0" lang="en-US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Transforms data to lie on unit sphere in feature space</a:t>
            </a:r>
            <a:endParaRPr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50" name="Shape 4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1" name="Google Shape;451;p29"/>
          <p:cNvSpPr txBox="1"/>
          <p:nvPr/>
        </p:nvSpPr>
        <p:spPr>
          <a:xfrm>
            <a:off x="682625" y="838200"/>
            <a:ext cx="8083550" cy="41116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77777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1800"/>
              <a:buFont typeface="Arial"/>
              <a:buNone/>
            </a:pPr>
            <a:r>
              <a:rPr b="1" i="0" lang="en-US" sz="1800" u="non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Step 3: Covariance Matrix (Dot Products)</a:t>
            </a:r>
            <a:endParaRPr/>
          </a:p>
        </p:txBody>
      </p:sp>
      <p:sp>
        <p:nvSpPr>
          <p:cNvPr id="452" name="Google Shape;452;p29"/>
          <p:cNvSpPr txBox="1"/>
          <p:nvPr/>
        </p:nvSpPr>
        <p:spPr>
          <a:xfrm>
            <a:off x="682625" y="1571625"/>
            <a:ext cx="8083550" cy="2127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88888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b="1" i="0" lang="en-US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Sample Covariance:</a:t>
            </a:r>
            <a:r>
              <a:rPr b="0" i="0" lang="en-US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C = (1/149)ZᵀZ (n-1 for unbiased)</a:t>
            </a:r>
            <a:endParaRPr/>
          </a:p>
        </p:txBody>
      </p:sp>
      <p:sp>
        <p:nvSpPr>
          <p:cNvPr id="453" name="Google Shape;453;p29"/>
          <p:cNvSpPr txBox="1"/>
          <p:nvPr/>
        </p:nvSpPr>
        <p:spPr>
          <a:xfrm>
            <a:off x="914400" y="2106612"/>
            <a:ext cx="7620000" cy="155416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342900" lvl="0" marL="3429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b="1" i="0" lang="en-US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Dot Products Inside:</a:t>
            </a:r>
            <a:r>
              <a:rPr b="0" i="0" lang="en-US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Cᵢⱼ = zᵢ · zⱼ measures correlation between features</a:t>
            </a:r>
            <a:endParaRPr b="0" i="0" sz="180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0" marL="3429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b="1" i="0" lang="en-US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Diagonal Tells Story:</a:t>
            </a:r>
            <a:r>
              <a:rPr b="0" i="0" lang="en-US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Cᵢᵢ = 1 (normalized variance); High correlation: C₁₃ ≈ 0.96 (petal length ↔ petal width)</a:t>
            </a:r>
            <a:endParaRPr b="0" i="0" sz="180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0" marL="3429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b="1" i="0" lang="en-US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Off-Diagonal Significance:</a:t>
            </a:r>
            <a:r>
              <a:rPr b="0" i="0" lang="en-US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Multicollinearity indicates redundancy → compression potential</a:t>
            </a:r>
            <a:endParaRPr b="0" i="0" sz="180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0" marL="3429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b="1" i="0" lang="en-US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Symmetry Property:</a:t>
            </a:r>
            <a:r>
              <a:rPr b="0" i="0" lang="en-US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C = Cᵀ (symmetric); Cᵢⱼ = Cⱼᵢ always holds</a:t>
            </a:r>
            <a:endParaRPr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58" name="Shape 4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9" name="Google Shape;459;p30"/>
          <p:cNvSpPr txBox="1"/>
          <p:nvPr/>
        </p:nvSpPr>
        <p:spPr>
          <a:xfrm>
            <a:off x="457200" y="762000"/>
            <a:ext cx="7924800" cy="8223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77777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1800"/>
              <a:buFont typeface="Arial"/>
              <a:buNone/>
            </a:pPr>
            <a:r>
              <a:rPr b="1" i="0" lang="en-US" sz="1800" u="non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Step 4: Eigendecomposition - Finding Principal Components</a:t>
            </a:r>
            <a:endParaRPr/>
          </a:p>
        </p:txBody>
      </p:sp>
      <p:sp>
        <p:nvSpPr>
          <p:cNvPr id="460" name="Google Shape;460;p30"/>
          <p:cNvSpPr txBox="1"/>
          <p:nvPr/>
        </p:nvSpPr>
        <p:spPr>
          <a:xfrm>
            <a:off x="603250" y="1520825"/>
            <a:ext cx="8083550" cy="2127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88888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b="0" i="0" lang="en-US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Solve: det(C - λI) = 0</a:t>
            </a:r>
            <a:endParaRPr/>
          </a:p>
        </p:txBody>
      </p:sp>
      <p:sp>
        <p:nvSpPr>
          <p:cNvPr id="461" name="Google Shape;461;p30"/>
          <p:cNvSpPr txBox="1"/>
          <p:nvPr/>
        </p:nvSpPr>
        <p:spPr>
          <a:xfrm>
            <a:off x="762000" y="2027237"/>
            <a:ext cx="7620000" cy="155416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342900" lvl="0" marL="3429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b="1" i="0" lang="en-US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Eigenvalues Found:</a:t>
            </a:r>
            <a:r>
              <a:rPr b="0" i="0" lang="en-US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λ₁=4.22 (73%), λ₂=0.24 (9%), λ₃,λ₄≈0.04 (18%)</a:t>
            </a:r>
            <a:endParaRPr b="0" i="0" sz="180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0" marL="3429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b="1" i="0" lang="en-US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PC1 Direction:</a:t>
            </a:r>
            <a:r>
              <a:rPr b="0" i="0" lang="en-US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v₁ ≈ [0.52, -0.27, 0.58, 0.56] (petal features dominate)</a:t>
            </a:r>
            <a:endParaRPr b="0" i="0" sz="180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0" marL="3429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b="1" i="0" lang="en-US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Eigenvalue Meaning:</a:t>
            </a:r>
            <a:r>
              <a:rPr b="0" i="0" lang="en-US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λ = variance captured by that principal component</a:t>
            </a:r>
            <a:endParaRPr b="0" i="0" sz="180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0" marL="3429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b="1" i="0" lang="en-US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Sorting Matters:</a:t>
            </a:r>
            <a:r>
              <a:rPr b="0" i="0" lang="en-US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PC1 &gt; PC2 &gt; PC3 &gt; PC4 ensures maximum variance first</a:t>
            </a:r>
            <a:endParaRPr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66" name="Shape 4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7" name="Google Shape;467;p31"/>
          <p:cNvSpPr txBox="1"/>
          <p:nvPr/>
        </p:nvSpPr>
        <p:spPr>
          <a:xfrm>
            <a:off x="609600" y="914400"/>
            <a:ext cx="7924800" cy="8223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77777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1800"/>
              <a:buFont typeface="Arial"/>
              <a:buNone/>
            </a:pPr>
            <a:r>
              <a:rPr b="1" i="0" lang="en-US" sz="1800" u="non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Step 5: Project to PC Space (Linear Transformation)</a:t>
            </a:r>
            <a:endParaRPr/>
          </a:p>
        </p:txBody>
      </p:sp>
      <p:sp>
        <p:nvSpPr>
          <p:cNvPr id="468" name="Google Shape;468;p31"/>
          <p:cNvSpPr txBox="1"/>
          <p:nvPr/>
        </p:nvSpPr>
        <p:spPr>
          <a:xfrm>
            <a:off x="481012" y="1719262"/>
            <a:ext cx="8083550" cy="2127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88888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b="1" i="0" lang="en-US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Projection Formula:</a:t>
            </a:r>
            <a:r>
              <a:rPr b="0" i="0" lang="en-US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Y = Z · V_k (k=2 for visualization)</a:t>
            </a:r>
            <a:endParaRPr/>
          </a:p>
        </p:txBody>
      </p:sp>
      <p:sp>
        <p:nvSpPr>
          <p:cNvPr id="469" name="Google Shape;469;p31"/>
          <p:cNvSpPr txBox="1"/>
          <p:nvPr/>
        </p:nvSpPr>
        <p:spPr>
          <a:xfrm>
            <a:off x="838200" y="2286000"/>
            <a:ext cx="7620000" cy="155416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342900" lvl="0" marL="3429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b="1" i="0" lang="en-US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Matrix Multiplication:</a:t>
            </a:r>
            <a:r>
              <a:rPr b="0" i="0" lang="en-US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Each row of Y = linear combination of 4D features onto 2 PCs</a:t>
            </a:r>
            <a:endParaRPr b="0" i="0" sz="180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0" marL="3429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b="1" i="0" lang="en-US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Dimensionality:</a:t>
            </a:r>
            <a:r>
              <a:rPr b="0" i="0" lang="en-US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From 150×4 → 150×2 (98% variance preserved)</a:t>
            </a:r>
            <a:endParaRPr b="0" i="0" sz="180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0" marL="3429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b="1" i="0" lang="en-US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Hyperplane Interpretation:</a:t>
            </a:r>
            <a:r>
              <a:rPr b="0" i="0" lang="en-US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We find 2D hyperplane through 4D space capturing max variance</a:t>
            </a:r>
            <a:endParaRPr b="0" i="0" sz="180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0" marL="3429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b="1" i="0" lang="en-US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Result:</a:t>
            </a:r>
            <a:r>
              <a:rPr b="0" i="0" lang="en-US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Perfect species separation visible in 2D (Setosa isolated; Versicolor/Virginica overlapping slightly)</a:t>
            </a:r>
            <a:endParaRPr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74" name="Shape 4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5" name="Google Shape;475;p32"/>
          <p:cNvSpPr txBox="1"/>
          <p:nvPr/>
        </p:nvSpPr>
        <p:spPr>
          <a:xfrm>
            <a:off x="457200" y="838200"/>
            <a:ext cx="8083550" cy="41116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77777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1800"/>
              <a:buFont typeface="Arial"/>
              <a:buNone/>
            </a:pPr>
            <a:r>
              <a:rPr b="1" i="0" lang="en-US" sz="1800" u="non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Hyperplanes &amp; Distances in 2D PC Space</a:t>
            </a:r>
            <a:endParaRPr/>
          </a:p>
        </p:txBody>
      </p:sp>
      <p:sp>
        <p:nvSpPr>
          <p:cNvPr id="476" name="Google Shape;476;p32"/>
          <p:cNvSpPr txBox="1"/>
          <p:nvPr/>
        </p:nvSpPr>
        <p:spPr>
          <a:xfrm>
            <a:off x="762000" y="1546225"/>
            <a:ext cx="8083550" cy="21431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88888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b="1" i="0" lang="en-US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Decision Boundary:</a:t>
            </a:r>
            <a:r>
              <a:rPr b="0" i="0" lang="en-US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Linear classifier wᵀy + b = 0 (separates species)</a:t>
            </a:r>
            <a:endParaRPr/>
          </a:p>
        </p:txBody>
      </p:sp>
      <p:sp>
        <p:nvSpPr>
          <p:cNvPr id="477" name="Google Shape;477;p32"/>
          <p:cNvSpPr txBox="1"/>
          <p:nvPr/>
        </p:nvSpPr>
        <p:spPr>
          <a:xfrm>
            <a:off x="900112" y="2057400"/>
            <a:ext cx="7620000" cy="155416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342900" lvl="0" marL="3429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b="1" i="0" lang="en-US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Distance Formula:</a:t>
            </a:r>
            <a:r>
              <a:rPr b="0" i="0" lang="en-US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|wᵀyᵢ + b|/||w|| (point-to-hyperplane distance)</a:t>
            </a:r>
            <a:endParaRPr b="0" i="0" sz="180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0" marL="3429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b="1" i="0" lang="en-US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Euclidean Distances Preserved:</a:t>
            </a:r>
            <a:r>
              <a:rPr b="0" i="0" lang="en-US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||yᵢ - yⱼ||₂ in PC space ≈ relationships in original 4D</a:t>
            </a:r>
            <a:endParaRPr b="0" i="0" sz="180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0" marL="3429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b="1" i="0" lang="en-US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SVM Margin:</a:t>
            </a:r>
            <a:r>
              <a:rPr b="0" i="0" lang="en-US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Maximize 2/(||w||) = maximize minimum distance to boundary</a:t>
            </a:r>
            <a:endParaRPr b="0" i="0" sz="180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0" marL="3429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b="1" i="0" lang="en-US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Near-Perfect Separation:</a:t>
            </a:r>
            <a:r>
              <a:rPr b="0" i="0" lang="en-US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Setosa clearly separated; SVM could achieve 100% accuracy on Iris</a:t>
            </a:r>
            <a:endParaRPr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82" name="Shape 4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3" name="Google Shape;483;p33"/>
          <p:cNvSpPr txBox="1"/>
          <p:nvPr/>
        </p:nvSpPr>
        <p:spPr>
          <a:xfrm>
            <a:off x="530225" y="838200"/>
            <a:ext cx="8083550" cy="41116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77777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1800"/>
              <a:buFont typeface="Arial"/>
              <a:buNone/>
            </a:pPr>
            <a:r>
              <a:rPr b="1" i="0" lang="en-US" sz="1800" u="non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Orthogonality &amp; Linear Independence in PCA</a:t>
            </a:r>
            <a:endParaRPr/>
          </a:p>
        </p:txBody>
      </p:sp>
      <p:sp>
        <p:nvSpPr>
          <p:cNvPr id="484" name="Google Shape;484;p33"/>
          <p:cNvSpPr txBox="1"/>
          <p:nvPr/>
        </p:nvSpPr>
        <p:spPr>
          <a:xfrm>
            <a:off x="530225" y="1516062"/>
            <a:ext cx="8083550" cy="21431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88888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b="1" i="0" lang="en-US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Orthogonal PCs:</a:t>
            </a:r>
            <a:r>
              <a:rPr b="0" i="0" lang="en-US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v₁ · v₂ = 0 (perpendicular components)</a:t>
            </a:r>
            <a:endParaRPr/>
          </a:p>
        </p:txBody>
      </p:sp>
      <p:sp>
        <p:nvSpPr>
          <p:cNvPr id="485" name="Google Shape;485;p33"/>
          <p:cNvSpPr txBox="1"/>
          <p:nvPr/>
        </p:nvSpPr>
        <p:spPr>
          <a:xfrm>
            <a:off x="993775" y="2057400"/>
            <a:ext cx="7620000" cy="155416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342900" lvl="0" marL="3429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b="1" i="0" lang="en-US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Orthonormal Basis:</a:t>
            </a:r>
            <a:r>
              <a:rPr b="0" i="0" lang="en-US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Each eigenvector has ||vᵢ|| = 1 and vᵢ · vⱼ = 0 for i≠j</a:t>
            </a:r>
            <a:endParaRPr b="0" i="0" sz="180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0" marL="3429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b="1" i="0" lang="en-US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Linear Independence:</a:t>
            </a:r>
            <a:r>
              <a:rPr b="0" i="0" lang="en-US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PCs don't lie in same subspace; no redundancy between components</a:t>
            </a:r>
            <a:endParaRPr b="0" i="0" sz="180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0" marL="3429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b="1" i="0" lang="en-US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Change of Basis:</a:t>
            </a:r>
            <a:r>
              <a:rPr b="0" i="0" lang="en-US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Original 4D coordinates transformed to uncorrelated PC coordinates</a:t>
            </a:r>
            <a:endParaRPr b="0" i="0" sz="180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0" marL="3429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b="1" i="0" lang="en-US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Computational Efficiency:</a:t>
            </a:r>
            <a:r>
              <a:rPr b="0" i="0" lang="en-US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Orthonormality simplifies reconstruction: x ≈ Σ(vᵢᵀz)vᵢ (easy inverse)</a:t>
            </a:r>
            <a:endParaRPr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90" name="Shape 4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1" name="Google Shape;491;p34"/>
          <p:cNvSpPr txBox="1"/>
          <p:nvPr/>
        </p:nvSpPr>
        <p:spPr>
          <a:xfrm>
            <a:off x="682625" y="914400"/>
            <a:ext cx="8083550" cy="41116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77777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1800"/>
              <a:buFont typeface="Arial"/>
              <a:buNone/>
            </a:pPr>
            <a:r>
              <a:rPr b="1" i="0" lang="en-US" sz="1800" u="non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Variance Explained: Choosing k Dimensions</a:t>
            </a:r>
            <a:endParaRPr/>
          </a:p>
        </p:txBody>
      </p:sp>
      <p:sp>
        <p:nvSpPr>
          <p:cNvPr id="492" name="Google Shape;492;p34"/>
          <p:cNvSpPr txBox="1"/>
          <p:nvPr/>
        </p:nvSpPr>
        <p:spPr>
          <a:xfrm>
            <a:off x="530225" y="1609725"/>
            <a:ext cx="8083550" cy="2127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88888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b="1" i="0" lang="en-US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Cumulative Variance:</a:t>
            </a:r>
            <a:r>
              <a:rPr b="0" i="0" lang="en-US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(λ₁+λ₂)/(λ₁+λ₂+λ₃+λ₄) = 82/4.73 = 97.8%</a:t>
            </a:r>
            <a:endParaRPr/>
          </a:p>
        </p:txBody>
      </p:sp>
      <p:sp>
        <p:nvSpPr>
          <p:cNvPr id="493" name="Google Shape;493;p34"/>
          <p:cNvSpPr txBox="1"/>
          <p:nvPr/>
        </p:nvSpPr>
        <p:spPr>
          <a:xfrm>
            <a:off x="968375" y="2101850"/>
            <a:ext cx="7620000" cy="155416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342900" lvl="0" marL="3429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b="1" i="0" lang="en-US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Elbow Method:</a:t>
            </a:r>
            <a:r>
              <a:rPr b="0" i="0" lang="en-US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Scree plot shows λᵢ decay; Choose k where slope flattens (k=2 here)</a:t>
            </a:r>
            <a:endParaRPr b="0" i="0" sz="180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0" marL="3429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b="1" i="0" lang="en-US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Information Loss:</a:t>
            </a:r>
            <a:r>
              <a:rPr b="0" i="0" lang="en-US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Discarding λ₃,λ₄ loses 2.2% variance (negligible for Iris)</a:t>
            </a:r>
            <a:endParaRPr b="0" i="0" sz="180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0" marL="3429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b="1" i="0" lang="en-US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Reconstruction Error:</a:t>
            </a:r>
            <a:r>
              <a:rPr b="0" i="0" lang="en-US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Can reconstruct original X from Y with small error</a:t>
            </a:r>
            <a:endParaRPr b="0" i="0" sz="180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0" marL="3429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b="1" i="0" lang="en-US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General Rule:</a:t>
            </a:r>
            <a:r>
              <a:rPr b="0" i="0" lang="en-US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Retain 90-95% variance typical; More for sensitive applications</a:t>
            </a:r>
            <a:endParaRPr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98" name="Shape 4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9" name="Google Shape;499;p35"/>
          <p:cNvSpPr txBox="1"/>
          <p:nvPr/>
        </p:nvSpPr>
        <p:spPr>
          <a:xfrm>
            <a:off x="804862" y="890587"/>
            <a:ext cx="7534275" cy="412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33333"/>
              </a:lnSpc>
              <a:spcBef>
                <a:spcPts val="0"/>
              </a:spcBef>
              <a:spcAft>
                <a:spcPts val="0"/>
              </a:spcAft>
              <a:buClr>
                <a:srgbClr val="00B050"/>
              </a:buClr>
              <a:buSzPts val="2400"/>
              <a:buFont typeface="Arial"/>
              <a:buNone/>
            </a:pPr>
            <a:r>
              <a:rPr b="1" i="0" lang="en-US" sz="2400" u="none">
                <a:solidFill>
                  <a:srgbClr val="00B050"/>
                </a:solidFill>
                <a:latin typeface="Arial"/>
                <a:ea typeface="Arial"/>
                <a:cs typeface="Arial"/>
                <a:sym typeface="Arial"/>
              </a:rPr>
              <a:t>One Example → All Linear Algebra Concepts!</a:t>
            </a:r>
            <a:endParaRPr/>
          </a:p>
        </p:txBody>
      </p:sp>
      <p:sp>
        <p:nvSpPr>
          <p:cNvPr id="500" name="Google Shape;500;p35"/>
          <p:cNvSpPr txBox="1"/>
          <p:nvPr/>
        </p:nvSpPr>
        <p:spPr>
          <a:xfrm>
            <a:off x="990600" y="1524000"/>
            <a:ext cx="7415212" cy="21145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342900" lvl="0" marL="3429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b="1" i="0" lang="en-US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Vectors:</a:t>
            </a:r>
            <a:r>
              <a:rPr b="0" i="0" lang="en-US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Iris features (4D) → </a:t>
            </a:r>
            <a:r>
              <a:rPr b="1" i="0" lang="en-US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Matrices:</a:t>
            </a:r>
            <a:r>
              <a:rPr b="0" i="0" lang="en-US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Data X (150×4)</a:t>
            </a:r>
            <a:endParaRPr b="0" i="0" sz="180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0" marL="3429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b="1" i="0" lang="en-US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L2 Norms:</a:t>
            </a:r>
            <a:r>
              <a:rPr b="0" i="0" lang="en-US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Standardization z-score → </a:t>
            </a:r>
            <a:r>
              <a:rPr b="1" i="0" lang="en-US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Dot Products:</a:t>
            </a:r>
            <a:r>
              <a:rPr b="0" i="0" lang="en-US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Covariance C = ZᵀZ</a:t>
            </a:r>
            <a:endParaRPr b="0" i="0" sz="180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0" marL="3429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b="1" i="0" lang="en-US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Eigenvalues/Eigenvectors:</a:t>
            </a:r>
            <a:r>
              <a:rPr b="0" i="0" lang="en-US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PCs from C → </a:t>
            </a:r>
            <a:r>
              <a:rPr b="1" i="0" lang="en-US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Linear Transformation:</a:t>
            </a:r>
            <a:r>
              <a:rPr b="0" i="0" lang="en-US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Y = ZV_k</a:t>
            </a:r>
            <a:endParaRPr b="0" i="0" sz="180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0" marL="3429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b="1" i="0" lang="en-US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Orthogonality:</a:t>
            </a:r>
            <a:r>
              <a:rPr b="0" i="0" lang="en-US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v₁ ⊥ v₂ (uncorrelated PCs) → </a:t>
            </a:r>
            <a:r>
              <a:rPr b="1" i="0" lang="en-US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Linear Independence:</a:t>
            </a:r>
            <a:r>
              <a:rPr b="0" i="0" lang="en-US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Basis for PC space</a:t>
            </a:r>
            <a:endParaRPr b="0" i="0" sz="180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0" marL="3429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b="1" i="0" lang="en-US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SVD Alternative:</a:t>
            </a:r>
            <a:r>
              <a:rPr b="0" i="0" lang="en-US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Z = UΣVᵀ (same result) → </a:t>
            </a:r>
            <a:r>
              <a:rPr b="1" i="0" lang="en-US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Distance Metrics:</a:t>
            </a:r>
            <a:r>
              <a:rPr b="0" i="0" lang="en-US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Species separated in 2D</a:t>
            </a:r>
            <a:endParaRPr/>
          </a:p>
        </p:txBody>
      </p:sp>
      <p:sp>
        <p:nvSpPr>
          <p:cNvPr id="501" name="Google Shape;501;p35"/>
          <p:cNvSpPr txBox="1"/>
          <p:nvPr/>
        </p:nvSpPr>
        <p:spPr>
          <a:xfrm>
            <a:off x="877887" y="5562600"/>
            <a:ext cx="7416800" cy="533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875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2400"/>
              <a:buFont typeface="Arial"/>
              <a:buNone/>
            </a:pPr>
            <a:r>
              <a:rPr b="1" i="0" lang="en-US" sz="2400" u="non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PCA = All Linear Algebra Unified into ONE Real Algorithm!</a:t>
            </a:r>
            <a:endParaRPr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06" name="Shape 5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7" name="Google Shape;507;p36"/>
          <p:cNvSpPr txBox="1"/>
          <p:nvPr/>
        </p:nvSpPr>
        <p:spPr>
          <a:xfrm>
            <a:off x="2895600" y="914400"/>
            <a:ext cx="2560637" cy="41116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33333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2400"/>
              <a:buFont typeface="Arial"/>
              <a:buNone/>
            </a:pPr>
            <a:r>
              <a:rPr b="1" i="0" lang="en-US" sz="2400" u="non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Key Takeaways</a:t>
            </a:r>
            <a:endParaRPr/>
          </a:p>
        </p:txBody>
      </p:sp>
      <p:sp>
        <p:nvSpPr>
          <p:cNvPr id="508" name="Google Shape;508;p36"/>
          <p:cNvSpPr txBox="1"/>
          <p:nvPr/>
        </p:nvSpPr>
        <p:spPr>
          <a:xfrm>
            <a:off x="1828800" y="1752600"/>
            <a:ext cx="6172200" cy="3048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342900" lvl="0" marL="3429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b="0" i="0" lang="en-US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Vectors, matrices, and their operations form the foundation of ML</a:t>
            </a:r>
            <a:endParaRPr b="0" i="0" sz="180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0" marL="3429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b="0" i="0" lang="en-US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Eigenvalues reveal how transformations scale data</a:t>
            </a:r>
            <a:endParaRPr b="0" i="0" sz="180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0" marL="3429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b="0" i="0" lang="en-US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SVD and QR are powerful matrix factorization tools</a:t>
            </a:r>
            <a:endParaRPr b="0" i="0" sz="180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0" marL="3429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b="0" i="0" lang="en-US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Geometrical concepts (distances, hyperplanes) enable classification</a:t>
            </a:r>
            <a:endParaRPr b="0" i="0" sz="180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0" marL="3429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b="0" i="0" lang="en-US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Norms quantify vector/matrix magnitude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Pixel">
  <a:themeElements>
    <a:clrScheme name="Pixel 12">
      <a:dk1>
        <a:srgbClr val="000000"/>
      </a:dk1>
      <a:lt1>
        <a:srgbClr val="FFFFFF"/>
      </a:lt1>
      <a:dk2>
        <a:srgbClr val="000000"/>
      </a:dk2>
      <a:lt2>
        <a:srgbClr val="00007D"/>
      </a:lt2>
      <a:accent1>
        <a:srgbClr val="9999FF"/>
      </a:accent1>
      <a:accent2>
        <a:srgbClr val="9999CC"/>
      </a:accent2>
      <a:accent3>
        <a:srgbClr val="FFFFFF"/>
      </a:accent3>
      <a:accent4>
        <a:srgbClr val="000000"/>
      </a:accent4>
      <a:accent5>
        <a:srgbClr val="CACAFF"/>
      </a:accent5>
      <a:accent6>
        <a:srgbClr val="8A8AB9"/>
      </a:accent6>
      <a:hlink>
        <a:srgbClr val="666699"/>
      </a:hlink>
      <a:folHlink>
        <a:srgbClr val="CCCCE6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14_Pixel">
  <a:themeElements>
    <a:clrScheme name="Pixel 12">
      <a:dk1>
        <a:srgbClr val="000000"/>
      </a:dk1>
      <a:lt1>
        <a:srgbClr val="FFFFFF"/>
      </a:lt1>
      <a:dk2>
        <a:srgbClr val="000000"/>
      </a:dk2>
      <a:lt2>
        <a:srgbClr val="00007D"/>
      </a:lt2>
      <a:accent1>
        <a:srgbClr val="9999FF"/>
      </a:accent1>
      <a:accent2>
        <a:srgbClr val="9999CC"/>
      </a:accent2>
      <a:accent3>
        <a:srgbClr val="FFFFFF"/>
      </a:accent3>
      <a:accent4>
        <a:srgbClr val="000000"/>
      </a:accent4>
      <a:accent5>
        <a:srgbClr val="CACAFF"/>
      </a:accent5>
      <a:accent6>
        <a:srgbClr val="8A8AB9"/>
      </a:accent6>
      <a:hlink>
        <a:srgbClr val="666699"/>
      </a:hlink>
      <a:folHlink>
        <a:srgbClr val="CCCCE6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4.xml><?xml version="1.0" encoding="utf-8"?>
<a:theme xmlns:a="http://schemas.openxmlformats.org/drawingml/2006/main" xmlns:r="http://schemas.openxmlformats.org/officeDocument/2006/relationships" name="12_Pixel">
  <a:themeElements>
    <a:clrScheme name="Pixel 12">
      <a:dk1>
        <a:srgbClr val="000000"/>
      </a:dk1>
      <a:lt1>
        <a:srgbClr val="FFFFFF"/>
      </a:lt1>
      <a:dk2>
        <a:srgbClr val="000000"/>
      </a:dk2>
      <a:lt2>
        <a:srgbClr val="00007D"/>
      </a:lt2>
      <a:accent1>
        <a:srgbClr val="9999FF"/>
      </a:accent1>
      <a:accent2>
        <a:srgbClr val="9999CC"/>
      </a:accent2>
      <a:accent3>
        <a:srgbClr val="FFFFFF"/>
      </a:accent3>
      <a:accent4>
        <a:srgbClr val="000000"/>
      </a:accent4>
      <a:accent5>
        <a:srgbClr val="CACAFF"/>
      </a:accent5>
      <a:accent6>
        <a:srgbClr val="8A8AB9"/>
      </a:accent6>
      <a:hlink>
        <a:srgbClr val="666699"/>
      </a:hlink>
      <a:folHlink>
        <a:srgbClr val="CCCCE6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5.xml><?xml version="1.0" encoding="utf-8"?>
<a:theme xmlns:a="http://schemas.openxmlformats.org/drawingml/2006/main" xmlns:r="http://schemas.openxmlformats.org/officeDocument/2006/relationships" name="2_Pixel">
  <a:themeElements>
    <a:clrScheme name="Pixel 12">
      <a:dk1>
        <a:srgbClr val="000000"/>
      </a:dk1>
      <a:lt1>
        <a:srgbClr val="FFFFFF"/>
      </a:lt1>
      <a:dk2>
        <a:srgbClr val="000000"/>
      </a:dk2>
      <a:lt2>
        <a:srgbClr val="00007D"/>
      </a:lt2>
      <a:accent1>
        <a:srgbClr val="9999FF"/>
      </a:accent1>
      <a:accent2>
        <a:srgbClr val="9999CC"/>
      </a:accent2>
      <a:accent3>
        <a:srgbClr val="FFFFFF"/>
      </a:accent3>
      <a:accent4>
        <a:srgbClr val="000000"/>
      </a:accent4>
      <a:accent5>
        <a:srgbClr val="CACAFF"/>
      </a:accent5>
      <a:accent6>
        <a:srgbClr val="8A8AB9"/>
      </a:accent6>
      <a:hlink>
        <a:srgbClr val="666699"/>
      </a:hlink>
      <a:folHlink>
        <a:srgbClr val="CCCCE6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2008-12-08T06:30:53Z</dcterms:created>
  <dc:creator>DEVIL'S ACCOUNT</dc:creator>
</cp:coreProperties>
</file>

<file path=docProps/custom.xml><?xml version="1.0" encoding="utf-8"?>
<Properties xmlns="http://schemas.openxmlformats.org/officeDocument/2006/custom-properties" xmlns:vt="http://schemas.openxmlformats.org/officeDocument/2006/docPropsVTypes"/>
</file>