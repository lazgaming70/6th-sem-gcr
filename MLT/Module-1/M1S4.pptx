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jHXA2IiwVNscNUCQNq5BCGhvmS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customschemas.google.com/relationships/presentationmetadata" Target="meta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/>
          <p:nvPr>
            <p:ph idx="2" type="tbl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5"/>
          <p:cNvSpPr txBox="1"/>
          <p:nvPr>
            <p:ph idx="2" type="body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240"/>
              <a:buFont typeface="Noto Sans Symbols"/>
              <a:buChar char="◻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11" name="Google Shape;11;p22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17" name="Google Shape;17;p24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24"/>
          <p:cNvSpPr txBox="1"/>
          <p:nvPr>
            <p:ph idx="11" type="ftr"/>
          </p:nvPr>
        </p:nvSpPr>
        <p:spPr>
          <a:xfrm>
            <a:off x="304800" y="624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/>
        </p:nvSpPr>
        <p:spPr>
          <a:xfrm>
            <a:off x="0" y="6464300"/>
            <a:ext cx="9144000" cy="387350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I-INTRODUCTION AND MATHEMATICAL FOUNDATIONS </a:t>
            </a:r>
            <a:endParaRPr/>
          </a:p>
        </p:txBody>
      </p:sp>
      <p:sp>
        <p:nvSpPr>
          <p:cNvPr id="30" name="Google Shape;30;p26"/>
          <p:cNvSpPr txBox="1"/>
          <p:nvPr/>
        </p:nvSpPr>
        <p:spPr>
          <a:xfrm>
            <a:off x="0" y="-33337"/>
            <a:ext cx="9144000" cy="385762"/>
          </a:xfrm>
          <a:prstGeom prst="rect">
            <a:avLst/>
          </a:prstGeom>
          <a:gradFill>
            <a:gsLst>
              <a:gs pos="0">
                <a:srgbClr val="A7A7FF"/>
              </a:gs>
              <a:gs pos="50000">
                <a:srgbClr val="9494FF"/>
              </a:gs>
              <a:gs pos="100000">
                <a:srgbClr val="7B7BE5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23CSC02 - MACHINE LEARNING TECHNIQUES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 txBox="1"/>
          <p:nvPr/>
        </p:nvSpPr>
        <p:spPr>
          <a:xfrm>
            <a:off x="1524000" y="762000"/>
            <a:ext cx="4900612" cy="1131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Session Outline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450" y="1652587"/>
            <a:ext cx="8443912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/>
        </p:nvSpPr>
        <p:spPr>
          <a:xfrm>
            <a:off x="682625" y="9144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Session Overview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717550" y="1600200"/>
            <a:ext cx="7620000" cy="2960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Probability Fundamentals &amp; Distributions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Conditional Probability &amp; Independence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Bayes' Theorem &amp; Its Components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Likelihood, Prior &amp; Posterior Probabilities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Naive Bayes Classification Algorithm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Likelihood Estimation (MLE)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Bayesian Belief Networks &amp; Applications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/>
        </p:nvSpPr>
        <p:spPr>
          <a:xfrm>
            <a:off x="1060450" y="6096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Probability Fundamentals</a:t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530225" y="13620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P(A) = # favorable outcomes / # total outcomes, where 0 ≤ P(A) ≤ 1</a:t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1143000" y="17891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Confidence scores in classification; Uncertainty quantification in predictions</a:t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1158875" y="23749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 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Measure of likelihood on interval [0,1]; Foundation of all statistical inference</a:t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609600" y="29972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Sample Space &amp; Events: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Ω = all possible outcomes; A ⊆ Ω (event)</a:t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1128712" y="34829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Ω = all possible predictions; Event = specific class label</a:t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609600" y="39703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Complement Rule: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P(A') = 1 - P(A) (opposite event probability)</a:t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1127125" y="43656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P(not spam) = 1 - P(spam); Used in binary classification</a:t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609600" y="48275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Addition Rule: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 ∪ B) = P(A) + P(B) - P(A ∩ B) (either/both events)</a:t>
            </a:r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1096962" y="52879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Probability of multiple class membership in overlapping scenarios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381000" y="8382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Probability Distributions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530225" y="15065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Discrete Distributions: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Probability Mass Function (PMF): P(X=k)</a:t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1371600" y="18367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Bernoulli (coin flip, binary outcome); Categorical (multi-class); Poisson (count data)</a:t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1370012" y="2501900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Bernoulli: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P(X=1) = p, P(X=0) = 1-p (single trial, 2 outcomes)</a:t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530225" y="29749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Continuous Distributions: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Probability Density Function (PDF): f(x)</a:t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1370012" y="3403600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Gaussian/Normal (most common); Exponential (waiting times); Uniform</a:t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1370012" y="3863975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Gaussian: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f(x) = (1/(σ√(2π))) exp(-(x-μ)²/(2σ²)) (bell curve)</a:t>
            </a:r>
            <a:endParaRPr/>
          </a:p>
        </p:txBody>
      </p:sp>
      <p:sp>
        <p:nvSpPr>
          <p:cNvPr id="72" name="Google Shape;72;p5"/>
          <p:cNvSpPr txBox="1"/>
          <p:nvPr/>
        </p:nvSpPr>
        <p:spPr>
          <a:xfrm>
            <a:off x="530225" y="44243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Cumulative Distribution Function (CDF):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F(x) = P(X ≤ x)</a:t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1370012" y="4984750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Evaluates tail probabilities; Used in hypothesis testing and confidence intervals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/>
        </p:nvSpPr>
        <p:spPr>
          <a:xfrm>
            <a:off x="838200" y="7620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Conditional Probability: Definition</a:t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609600" y="14303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Formula: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P(A|B) = P(A ∩ B) / P(B), where P(B) &gt; 0</a:t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1295400" y="18462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Probability of class A given evidence B; Core of classification</a:t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1295400" y="23082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Math: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Restricts sample space to B; Updates probability based on evidence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685800" y="28559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Joint Probability: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 ∩ B) = P(A|B) × P(B) (both events occur)</a:t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1360487" y="34290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Probability of feature AND class occurring together; Foundation of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Naive Bayes</a:t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741362" y="42116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Marginal Probability: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P(A) = Σ_B P(A ∩ B) (summing over all B)</a:t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1360487" y="47148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probability P(Y) averaged over all features; Prior probability</a:t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746125" y="51149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Bayes Notation: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P(A|B) = P(B|A)P(A) / P(B) (rearrangement)</a:t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1360487" y="56181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Flips conditioning; inverts cause-effect relationship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620712" y="7620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Independence &amp; Conditional Independence</a:t>
            </a: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530225" y="14573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Statistical Independence: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 ∩ B) = P(A) × P(B)</a:t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1371600" y="18129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Features don't influence each other; Simplifies model</a:t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1371600" y="22336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Consequence: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P(A|B) = P(A) (evidence B doesn't change P(A))</a:t>
            </a: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603250" y="2728912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Conditional Independence: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 ∩ B|C) = P(A|C) × P(B|C)</a:t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1371600" y="329088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Features independent GIVEN class C; Naive Bayes core assumption</a:t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1371600" y="38020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Why Naive: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"Naive" because we assume this even when false in reality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625475" y="42926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d-separation (Bayesian Networks):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Graphical independence criterion</a:t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1362075" y="48688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Determines which variables affect each other in belief networks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604837" y="1784350"/>
            <a:ext cx="7924800" cy="536575"/>
          </a:xfrm>
          <a:prstGeom prst="roundRect">
            <a:avLst>
              <a:gd fmla="val 14729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4C00"/>
                </a:solidFill>
                <a:latin typeface="Arial"/>
                <a:ea typeface="Arial"/>
                <a:cs typeface="Arial"/>
                <a:sym typeface="Arial"/>
              </a:rPr>
              <a:t>P(Hypothesis|Evidence) = P(Evidence|Hypothesis) × P(Hypothesis) / P(Evidence)</a:t>
            </a: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762000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Bayes' Theorem: The Cornerstone</a:t>
            </a:r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609600" y="14795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Formula: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P(A|B) = P(B|A) × P(A) / P(B)</a:t>
            </a:r>
            <a:endParaRPr/>
          </a:p>
        </p:txBody>
      </p:sp>
      <p:sp>
        <p:nvSpPr>
          <p:cNvPr id="111" name="Google Shape;111;p8"/>
          <p:cNvSpPr txBox="1"/>
          <p:nvPr/>
        </p:nvSpPr>
        <p:spPr>
          <a:xfrm>
            <a:off x="1143000" y="281940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P(A|B) = Posterior: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Updated probability after seeing evidence B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P(B|A) = Likelihood: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Probability of evidence given hypothesis A is true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P(A) = Prior: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Initial belief about hypothesis before evidence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P(B) = Evidence: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Marginal probability (normalizing constant)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609600" y="3733800"/>
            <a:ext cx="7924800" cy="523875"/>
          </a:xfrm>
          <a:prstGeom prst="roundRect">
            <a:avLst>
              <a:gd fmla="val 15071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P(B) = Σ_A P(B|A) × P(A)  (law of total probability)</a:t>
            </a:r>
            <a:endParaRPr/>
          </a:p>
        </p:txBody>
      </p:sp>
      <p:sp>
        <p:nvSpPr>
          <p:cNvPr id="118" name="Google Shape;118;p9"/>
          <p:cNvSpPr txBox="1"/>
          <p:nvPr/>
        </p:nvSpPr>
        <p:spPr>
          <a:xfrm>
            <a:off x="530225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Bayes' Theorem: Component Breakdown</a:t>
            </a:r>
            <a:endParaRPr/>
          </a:p>
        </p:txBody>
      </p:sp>
      <p:sp>
        <p:nvSpPr>
          <p:cNvPr id="119" name="Google Shape;119;p9"/>
          <p:cNvSpPr txBox="1"/>
          <p:nvPr/>
        </p:nvSpPr>
        <p:spPr>
          <a:xfrm>
            <a:off x="609600" y="14065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Prior P(A): Belief before observing data</a:t>
            </a:r>
            <a:endParaRPr/>
          </a:p>
        </p:txBody>
      </p:sp>
      <p:sp>
        <p:nvSpPr>
          <p:cNvPr id="120" name="Google Shape;120;p9"/>
          <p:cNvSpPr txBox="1"/>
          <p:nvPr/>
        </p:nvSpPr>
        <p:spPr>
          <a:xfrm>
            <a:off x="1371600" y="182721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distribution before seeing features; e.g., P(spam) = 0.3</a:t>
            </a:r>
            <a:endParaRPr/>
          </a:p>
        </p:txBody>
      </p:sp>
      <p:sp>
        <p:nvSpPr>
          <p:cNvPr id="121" name="Google Shape;121;p9"/>
          <p:cNvSpPr txBox="1"/>
          <p:nvPr/>
        </p:nvSpPr>
        <p:spPr>
          <a:xfrm>
            <a:off x="1371600" y="21939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Properties: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Often based on historical data; Can be uninformed (uniform)</a:t>
            </a:r>
            <a:endParaRPr/>
          </a:p>
        </p:txBody>
      </p:sp>
      <p:sp>
        <p:nvSpPr>
          <p:cNvPr id="122" name="Google Shape;122;p9"/>
          <p:cNvSpPr txBox="1"/>
          <p:nvPr/>
        </p:nvSpPr>
        <p:spPr>
          <a:xfrm>
            <a:off x="614362" y="25812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Likelihood P(B|A): Probability of observing data B if A is true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1371600" y="29511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P(email features | spam); Comes from model of data generation</a:t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1371600" y="32956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Assumes: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Specific distribution (Gaussian, Bernoulli, etc.)</a:t>
            </a:r>
            <a:endParaRPr/>
          </a:p>
        </p:txBody>
      </p:sp>
      <p:sp>
        <p:nvSpPr>
          <p:cNvPr id="125" name="Google Shape;125;p9"/>
          <p:cNvSpPr txBox="1"/>
          <p:nvPr/>
        </p:nvSpPr>
        <p:spPr>
          <a:xfrm>
            <a:off x="609600" y="36766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Evidence P(B): Total probability of observing data (all scenarios)</a:t>
            </a:r>
            <a:endParaRPr/>
          </a:p>
        </p:txBody>
      </p:sp>
      <p:sp>
        <p:nvSpPr>
          <p:cNvPr id="126" name="Google Shape;126;p9"/>
          <p:cNvSpPr txBox="1"/>
          <p:nvPr/>
        </p:nvSpPr>
        <p:spPr>
          <a:xfrm>
            <a:off x="1371600" y="44132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Computed via marginalization; Often acts as normalizing constant</a:t>
            </a:r>
            <a:endParaRPr/>
          </a:p>
        </p:txBody>
      </p:sp>
      <p:sp>
        <p:nvSpPr>
          <p:cNvPr id="127" name="Google Shape;127;p9"/>
          <p:cNvSpPr txBox="1"/>
          <p:nvPr/>
        </p:nvSpPr>
        <p:spPr>
          <a:xfrm>
            <a:off x="609600" y="4868862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Posterior P(A|B): Updated belief after observing evidence B</a:t>
            </a:r>
            <a:endParaRPr/>
          </a:p>
        </p:txBody>
      </p:sp>
      <p:sp>
        <p:nvSpPr>
          <p:cNvPr id="128" name="Google Shape;128;p9"/>
          <p:cNvSpPr txBox="1"/>
          <p:nvPr/>
        </p:nvSpPr>
        <p:spPr>
          <a:xfrm>
            <a:off x="1371600" y="53181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P(spam | email features); Final classification probability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/>
          <p:nvPr/>
        </p:nvSpPr>
        <p:spPr>
          <a:xfrm>
            <a:off x="641350" y="2071687"/>
            <a:ext cx="7924800" cy="523875"/>
          </a:xfrm>
          <a:prstGeom prst="roundRect">
            <a:avLst>
              <a:gd fmla="val 15071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rgbClr val="004C00"/>
                </a:solidFill>
                <a:latin typeface="Courier New"/>
                <a:ea typeface="Courier New"/>
                <a:cs typeface="Courier New"/>
                <a:sym typeface="Courier New"/>
              </a:rPr>
              <a:t>P(X|C) = P(x₁|C) × P(x₂|C) × ... × P(xₙ|C)</a:t>
            </a:r>
            <a:endParaRPr b="1" i="0" sz="1800" u="none">
              <a:solidFill>
                <a:srgbClr val="004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rgbClr val="004C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 b="1" i="0" sz="1800" u="none">
              <a:solidFill>
                <a:srgbClr val="004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Courier New"/>
              <a:buNone/>
            </a:pPr>
            <a:r>
              <a:rPr b="1" i="0" lang="en-US" sz="1800" u="none">
                <a:solidFill>
                  <a:srgbClr val="004C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(features independent given class C)</a:t>
            </a:r>
            <a:endParaRPr/>
          </a:p>
        </p:txBody>
      </p:sp>
      <p:sp>
        <p:nvSpPr>
          <p:cNvPr id="135" name="Google Shape;135;p10"/>
          <p:cNvSpPr txBox="1"/>
          <p:nvPr/>
        </p:nvSpPr>
        <p:spPr>
          <a:xfrm>
            <a:off x="682625" y="6477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Naive Bayes Classifier</a:t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466725" y="14001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Classification Formula: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P(C|X) = P(X|C)P(C) / P(X)</a:t>
            </a:r>
            <a:endParaRPr/>
          </a:p>
        </p:txBody>
      </p:sp>
      <p:sp>
        <p:nvSpPr>
          <p:cNvPr id="137" name="Google Shape;137;p10"/>
          <p:cNvSpPr txBox="1"/>
          <p:nvPr/>
        </p:nvSpPr>
        <p:spPr>
          <a:xfrm>
            <a:off x="838200" y="18827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Naive Assumption (Conditional Independence):</a:t>
            </a:r>
            <a:endParaRPr/>
          </a:p>
        </p:txBody>
      </p:sp>
      <p:sp>
        <p:nvSpPr>
          <p:cNvPr id="138" name="Google Shape;138;p10"/>
          <p:cNvSpPr txBox="1"/>
          <p:nvPr/>
        </p:nvSpPr>
        <p:spPr>
          <a:xfrm>
            <a:off x="838200" y="348615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Naive?: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Assumes feature independence (usually false but works well)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Computational Benefit: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Reduces P(x₁,...,xₙ|C) from exponential to linear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Choose class with highest posterior P(C|X)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Applications: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Spam detection, sentiment analysis, text classification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/>
          <p:nvPr/>
        </p:nvSpPr>
        <p:spPr>
          <a:xfrm>
            <a:off x="993775" y="3902075"/>
            <a:ext cx="7924800" cy="511175"/>
          </a:xfrm>
          <a:prstGeom prst="roundRect">
            <a:avLst>
              <a:gd fmla="val 15431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P(C|X) ∝ P(C) × ∏ᵢ P(xᵢ|C)  (omit P(X), same for all classes)</a:t>
            </a:r>
            <a:endParaRPr/>
          </a:p>
        </p:txBody>
      </p:sp>
      <p:sp>
        <p:nvSpPr>
          <p:cNvPr id="145" name="Google Shape;145;p11"/>
          <p:cNvSpPr txBox="1"/>
          <p:nvPr/>
        </p:nvSpPr>
        <p:spPr>
          <a:xfrm>
            <a:off x="609600" y="636587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Naive Bayes: Training &amp; Prediction</a:t>
            </a:r>
            <a:endParaRPr/>
          </a:p>
        </p:txBody>
      </p:sp>
      <p:sp>
        <p:nvSpPr>
          <p:cNvPr id="146" name="Google Shape;146;p11"/>
          <p:cNvSpPr txBox="1"/>
          <p:nvPr/>
        </p:nvSpPr>
        <p:spPr>
          <a:xfrm>
            <a:off x="530225" y="13938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Training Phase: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Estimate P(C) and P(xᵢ|C) from data</a:t>
            </a:r>
            <a:endParaRPr/>
          </a:p>
        </p:txBody>
      </p:sp>
      <p:sp>
        <p:nvSpPr>
          <p:cNvPr id="147" name="Google Shape;147;p11"/>
          <p:cNvSpPr txBox="1"/>
          <p:nvPr/>
        </p:nvSpPr>
        <p:spPr>
          <a:xfrm>
            <a:off x="1073150" y="1730375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P(C) = # samples with class C / total samples (class proportion)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P(xᵢ|C) = # samples with xᵢ AND class C / # samples with class C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Laplace smoothing: Add 1 to numerator/denominator (avoid zero probability)</a:t>
            </a:r>
            <a:endParaRPr/>
          </a:p>
        </p:txBody>
      </p:sp>
      <p:sp>
        <p:nvSpPr>
          <p:cNvPr id="148" name="Google Shape;148;p11"/>
          <p:cNvSpPr txBox="1"/>
          <p:nvPr/>
        </p:nvSpPr>
        <p:spPr>
          <a:xfrm>
            <a:off x="603250" y="3532187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Prediction Phase: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For new sample X, compute P(C|X)</a:t>
            </a:r>
            <a:endParaRPr/>
          </a:p>
        </p:txBody>
      </p:sp>
      <p:sp>
        <p:nvSpPr>
          <p:cNvPr id="149" name="Google Shape;149;p11"/>
          <p:cNvSpPr txBox="1"/>
          <p:nvPr/>
        </p:nvSpPr>
        <p:spPr>
          <a:xfrm>
            <a:off x="1146175" y="4583112"/>
            <a:ext cx="7620000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Multiply prior by likelihood products for each feature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class with maximum probability (argmax)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Log-space computation: log(P) = log(P(C)) + Σ log(P(xᵢ|C)) (avoid underflow)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/>
        </p:nvSpPr>
        <p:spPr>
          <a:xfrm>
            <a:off x="609600" y="7620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Naive Bayes Variants</a:t>
            </a:r>
            <a:endParaRPr/>
          </a:p>
        </p:txBody>
      </p:sp>
      <p:sp>
        <p:nvSpPr>
          <p:cNvPr id="156" name="Google Shape;156;p12"/>
          <p:cNvSpPr txBox="1"/>
          <p:nvPr/>
        </p:nvSpPr>
        <p:spPr>
          <a:xfrm>
            <a:off x="584200" y="14573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Gaussian Naive Bayes: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Continuous features from Gaussian distribution</a:t>
            </a:r>
            <a:endParaRPr/>
          </a:p>
        </p:txBody>
      </p:sp>
      <p:sp>
        <p:nvSpPr>
          <p:cNvPr id="157" name="Google Shape;157;p12"/>
          <p:cNvSpPr txBox="1"/>
          <p:nvPr/>
        </p:nvSpPr>
        <p:spPr>
          <a:xfrm>
            <a:off x="1828800" y="19050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• P(xᵢ|C) = (1/(σ√(2π))) exp(-(xᵢ-μ)²/(2σ²))</a:t>
            </a:r>
            <a:endParaRPr/>
          </a:p>
        </p:txBody>
      </p:sp>
      <p:sp>
        <p:nvSpPr>
          <p:cNvPr id="158" name="Google Shape;158;p12"/>
          <p:cNvSpPr txBox="1"/>
          <p:nvPr/>
        </p:nvSpPr>
        <p:spPr>
          <a:xfrm>
            <a:off x="930275" y="24098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Iris dataset, numeric feature classification</a:t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609600" y="30257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Multinomial Naive Bayes: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Discrete feature counts (text, word frequencies)</a:t>
            </a:r>
            <a:endParaRPr/>
          </a:p>
        </p:txBody>
      </p:sp>
      <p:sp>
        <p:nvSpPr>
          <p:cNvPr id="160" name="Google Shape;160;p12"/>
          <p:cNvSpPr txBox="1"/>
          <p:nvPr/>
        </p:nvSpPr>
        <p:spPr>
          <a:xfrm>
            <a:off x="1828800" y="34067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• P(xᵢ|C) = Nxᵢ,C / NC (count of feature xᵢ in class C samples)</a:t>
            </a:r>
            <a:endParaRPr/>
          </a:p>
        </p:txBody>
      </p:sp>
      <p:sp>
        <p:nvSpPr>
          <p:cNvPr id="161" name="Google Shape;161;p12"/>
          <p:cNvSpPr txBox="1"/>
          <p:nvPr/>
        </p:nvSpPr>
        <p:spPr>
          <a:xfrm>
            <a:off x="1060450" y="53308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Spam detection, sentiment analysis (TF-IDF vectors)</a:t>
            </a:r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604837" y="43799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Bernoulli Naive Bayes: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Binary features (present/absent)</a:t>
            </a:r>
            <a:endParaRPr/>
          </a:p>
        </p:txBody>
      </p:sp>
      <p:sp>
        <p:nvSpPr>
          <p:cNvPr id="163" name="Google Shape;163;p12"/>
          <p:cNvSpPr txBox="1"/>
          <p:nvPr/>
        </p:nvSpPr>
        <p:spPr>
          <a:xfrm>
            <a:off x="1752600" y="48006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• P(xᵢ=1|C) = probability feature present; P(xᵢ=0|C) = 1-P(xᵢ=1|C)</a:t>
            </a:r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958850" y="3883025"/>
            <a:ext cx="80819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Document classification (word presence/absence)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/>
          <p:nvPr/>
        </p:nvSpPr>
        <p:spPr>
          <a:xfrm>
            <a:off x="887412" y="1770062"/>
            <a:ext cx="7924800" cy="742950"/>
          </a:xfrm>
          <a:prstGeom prst="roundRect">
            <a:avLst>
              <a:gd fmla="val 10624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L(θ|X) = ∏ᵢ P(xᵢ|θ)  (likelihood = probability of data given θ)</a:t>
            </a:r>
            <a:endParaRPr b="1" i="0" sz="1800" u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endParaRPr b="1" i="0" sz="1800" u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           θ_MLE = argmax L(θ|X) = argmax log L(θ|X)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908050" y="814387"/>
            <a:ext cx="8081962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Maximum Likelihood Estimation (MLE)</a:t>
            </a:r>
            <a:endParaRPr/>
          </a:p>
        </p:txBody>
      </p:sp>
      <p:sp>
        <p:nvSpPr>
          <p:cNvPr id="172" name="Google Shape;172;p13"/>
          <p:cNvSpPr txBox="1"/>
          <p:nvPr/>
        </p:nvSpPr>
        <p:spPr>
          <a:xfrm>
            <a:off x="609600" y="15446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Find parameters θ that maximize likelihood of observed data</a:t>
            </a:r>
            <a:endParaRPr/>
          </a:p>
        </p:txBody>
      </p:sp>
      <p:sp>
        <p:nvSpPr>
          <p:cNvPr id="173" name="Google Shape;173;p13"/>
          <p:cNvSpPr txBox="1"/>
          <p:nvPr/>
        </p:nvSpPr>
        <p:spPr>
          <a:xfrm>
            <a:off x="1139825" y="3276600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Log-likelihood: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 easier than product; Maximizes same θ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Intuition: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Choose parameters making observed data most probable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Coin flips → p = # heads / # total (intuitive!)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/>
          <p:nvPr/>
        </p:nvSpPr>
        <p:spPr>
          <a:xfrm>
            <a:off x="381000" y="6858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MLE: ML Applications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417512" y="13128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Logistic Regression: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MLE for binary classification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1295400" y="17780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Likelihood: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∏ᵢ P(yᵢ|xᵢ,w)^yᵢ × (1-P(yᵢ|xᵢ,w))^(1-yᵢ)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1295400" y="222408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Optimization: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Gradient descent on negative log-likelihood (cross-entropy loss)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417512" y="28606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Gaussian Mixture Models (GMM):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MLE for component parameters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1295400" y="34004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Parameters: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μₖ, covariances Σₖ, weights πₖ of K Gaussians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1314450" y="3825875"/>
            <a:ext cx="8081962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Algorithm: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Expectation-Maximization (EM) for MLE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417512" y="43148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Neural Networks: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MLE via cross-entropy loss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1295400" y="48974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Softmax likelihood: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∏ᵢ softmax(wᵀxᵢ)[yᵢ]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1295400" y="53848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Backpropagation: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Gradient of log-likelihood for weight updates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/>
        </p:nvSpPr>
        <p:spPr>
          <a:xfrm>
            <a:off x="1219200" y="6096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Probability Density Estimation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530225" y="13811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Estimate probability distribution p(x) from data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609600" y="188436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4C00"/>
                </a:solidFill>
                <a:latin typeface="Arial"/>
                <a:ea typeface="Arial"/>
                <a:cs typeface="Arial"/>
                <a:sym typeface="Arial"/>
              </a:rPr>
              <a:t>Parametric Approach: Assume known distribution, estimate parameters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1295400" y="22955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Gaussian: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Estimate μ and σ from data (μ = mean, σ² = variance)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1295400" y="26892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Mixture Models: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 of K component distributions; GMM with EM algorithm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609600" y="31861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004C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004C00"/>
                </a:solidFill>
                <a:latin typeface="Arial"/>
                <a:ea typeface="Arial"/>
                <a:cs typeface="Arial"/>
                <a:sym typeface="Arial"/>
              </a:rPr>
              <a:t>Non-parametric Approach:</a:t>
            </a:r>
            <a:r>
              <a:rPr b="0" i="0" lang="en-US" sz="1800" u="none">
                <a:solidFill>
                  <a:srgbClr val="004C00"/>
                </a:solidFill>
                <a:latin typeface="Arial"/>
                <a:ea typeface="Arial"/>
                <a:cs typeface="Arial"/>
                <a:sym typeface="Arial"/>
              </a:rPr>
              <a:t> Don't assume distribution form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1295400" y="36131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Histogram: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Divide space into bins, count samples; Discontinuous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1295400" y="41084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Kernel Density Estimation (KDE):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Smooth using kernels;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p(x) = (1/n)Σᵢ K(x-xᵢ)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530225" y="48514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Applications in ML: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1300162" y="5064125"/>
            <a:ext cx="7620000" cy="116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Generative models: Generate new samples from learned distribution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Anomaly detection: Low density = anomaly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Density-based clustering: DBSCAN uses local density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/>
          <p:nvPr/>
        </p:nvSpPr>
        <p:spPr>
          <a:xfrm>
            <a:off x="1028700" y="1835150"/>
            <a:ext cx="7924800" cy="719137"/>
          </a:xfrm>
          <a:prstGeom prst="roundRect">
            <a:avLst>
              <a:gd fmla="val 10986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prior P(θ) (belief about parameters)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 data X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likelihood P(X|θ)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to posterior P(θ|X) ∝ P(X|θ)P(θ)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1060450" y="741362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Bayesian Inference Framework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609600" y="15081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Workflow: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Prior → Likelihood → Posterior (via Bayes' rule)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530225" y="38100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Advantages over Frequentist: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1019175" y="4191000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Incorporates prior knowledge naturally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Quantifies uncertainty via posterior distribution (not just point estimate)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learning: posterior becomes prior for next batch of data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Principled decision-making under uncertainty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/>
        </p:nvSpPr>
        <p:spPr>
          <a:xfrm>
            <a:off x="1060450" y="650875"/>
            <a:ext cx="808355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Markov Models &amp; HMM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530225" y="13525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Markov Property: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P(Xₜ|X₁,...,Xₜ₋₁) = P(Xₜ|Xₜ₋₁) (memoryless)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371600" y="17811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Future depends only on present, not full history; Used in sequences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530225" y="22431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Hidden Markov Model (HMM):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Observable data + hidden state sequence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1398587" y="2606675"/>
            <a:ext cx="76200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States Sₜ: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 directly observable (weather: sunny/rainy)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Observations Oₜ: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What we see (mood: happy/sad)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Transition Model: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P(Sₜ|Sₜ₋₁) (state changes stochastically)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Emission Model: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P(Oₜ|Sₜ) (observations generated from states)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530225" y="447992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HMM Tasks: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Filtering (current state), Smoothing (past states), Prediction (future states)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398587" y="51816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Algorithms: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Forward algorithm, Viterbi (best path), Baum-Welch (EM for parameters)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/>
          <p:nvPr/>
        </p:nvSpPr>
        <p:spPr>
          <a:xfrm>
            <a:off x="228600" y="533400"/>
            <a:ext cx="80835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Probabilistic Modeling of ML Problems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641350" y="11795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Generative vs Discriminative: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1371600" y="1539875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Generative P(X,Y):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joint; Can generate synthetic X; Naive Bayes, GMM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371600" y="22034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Discriminative P(Y|X):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conditional directly; More data-efficient; </a:t>
            </a:r>
            <a:endParaRPr/>
          </a:p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Logistic Reg, SVM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650875" y="284162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Probabilistic Regression: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Predict distribution not point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1295400" y="330835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Gaussian Process: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P(y|x,X,Y) ~ N(μ(x), σ²(x)) posterior distribution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1295400" y="37465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Quantify uncertainty: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μ = prediction, σ = confidence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620712" y="421640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Probabilistic Classification:</a:t>
            </a: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Class probabilities with uncertainty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1295400" y="4630737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Softmax classifier: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P(Y=k|X) ∝ exp(wₖᵀx); Probability over K classes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1295400" y="51212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Bayesian CNN: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Weight distributions → output distributions (uncertainty)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/>
        </p:nvSpPr>
        <p:spPr>
          <a:xfrm>
            <a:off x="688975" y="2292350"/>
            <a:ext cx="7924800" cy="119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609600" y="3922712"/>
            <a:ext cx="7924800" cy="119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1081087" y="566737"/>
            <a:ext cx="808355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Spam Email Detection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625475" y="1344612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Classify email as Spam (S) or Ham (H) using word features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609600" y="1824037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Bayes' Theorem Application: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P(S|words) = P(words|S)P(S) / P(words)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820737" y="2495550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Prior: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138237" y="2903537"/>
            <a:ext cx="74295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P(S) = 0.3 (30% spam)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P(H) = 0.7 (70% ham)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800100" y="3781425"/>
            <a:ext cx="7734300" cy="192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Likelihood: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1155700" y="4229100"/>
            <a:ext cx="74295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P("buy"|S) = 0.8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P("buy"|H) = 0.1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/>
          <p:nvPr/>
        </p:nvSpPr>
        <p:spPr>
          <a:xfrm>
            <a:off x="762000" y="3557587"/>
            <a:ext cx="7924800" cy="512762"/>
          </a:xfrm>
          <a:prstGeom prst="roundRect">
            <a:avLst>
              <a:gd fmla="val 15431" name="adj"/>
            </a:avLst>
          </a:prstGeom>
          <a:noFill/>
          <a:ln>
            <a:noFill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P(S|words) ∝ 0.3 × 0.8 × 0.6 × 0.9 = 0.1296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P(H|words) ∝ 0.7 × 0.1 × 0.05 × 0.02 = 0.00007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82625" y="611187"/>
            <a:ext cx="808355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Spam Detection: Naive Bayes Prediction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682625" y="1295400"/>
            <a:ext cx="80835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 Features: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words = {"buy", "limited", "free"}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682625" y="1819275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Likelihoods (training data):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1157287" y="2168525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P("buy"|S)=0.8, P("buy"|H)=0.1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P("limited"|S)=0.6, P("limited"|H)=0.05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P("free"|S)=0.9, P("free"|H)=0.02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693737" y="3257550"/>
            <a:ext cx="80835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Posterior Computation (proportional):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087437" y="4662487"/>
            <a:ext cx="7620000" cy="116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P(S|words) / P(H|words) ≈ 1854:1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Classify as SPAM (P(S|words) &gt;&gt; P(H|words))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effective: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High spam-likelihood features + low ham-likelihood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 txBox="1"/>
          <p:nvPr/>
        </p:nvSpPr>
        <p:spPr>
          <a:xfrm>
            <a:off x="3200400" y="838200"/>
            <a:ext cx="2560637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143000" y="1600200"/>
            <a:ext cx="7620000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Conditional probability P(A|B) is foundation of Bayesian inference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Bayes' Theorem inverts cause-effect; flips conditioning elegantly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Naive Bayes classifier simple yet effective for real-world classification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Likelihood Estimation fits parameters to maximize data probability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 + Likelihood → Posterior captures complete inference process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Bayesian Belief Networks model complex variable dependencies efficiently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Probabilistic models quantify uncertainty; not just point predictions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4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2008-12-08T06:30:53Z</dcterms:created>
  <dc:creator>DEVIL'S ACCOUNT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