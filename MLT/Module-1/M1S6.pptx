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YAqPXphb3ikISNIfDsyBA0YBp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3"/>
          <p:cNvSpPr/>
          <p:nvPr>
            <p:ph idx="2" type="tbl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5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1" name="Google Shape;11;p32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4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8" name="Google Shape;18;p34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1" name="Google Shape;21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1524000" y="762000"/>
            <a:ext cx="4900612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Session Outline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950" y="1526737"/>
            <a:ext cx="8443912" cy="366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/>
        </p:nvSpPr>
        <p:spPr>
          <a:xfrm>
            <a:off x="530225" y="944562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Overview</a:t>
            </a:r>
            <a:endParaRPr/>
          </a:p>
        </p:txBody>
      </p:sp>
      <p:sp>
        <p:nvSpPr>
          <p:cNvPr id="41" name="Google Shape;41;p3"/>
          <p:cNvSpPr txBox="1"/>
          <p:nvPr/>
        </p:nvSpPr>
        <p:spPr>
          <a:xfrm>
            <a:off x="762000" y="1600200"/>
            <a:ext cx="7620000" cy="3382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Bayesian Decision Theory: Loss Functions &amp; Risk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 Optimal Classifier &amp; Decision Rules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Theory Fundamentals: Entropy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Cross-Entropy &amp; Log-Loss for Classification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Kullback-Leibler Divergence &amp; Jensen-Shannon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Information &amp; Information Gain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Trees: ID3 Algorithm &amp; Information Gain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 Applications: Theory to Practice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/>
        </p:nvSpPr>
        <p:spPr>
          <a:xfrm>
            <a:off x="682625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Bayesian Decision Theory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609600" y="13922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Framework for making optimal decisions under uncertainty using probability</a:t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609600" y="21685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 Context: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Choose class that minimizes expected loss; Core of classification theory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609600" y="23812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Question: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Given evidence (features), which decision minimizes cost?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609600" y="26701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Problem formulation: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Utility (reward) ≠ Loss (cost); U = -L</a:t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09600" y="2884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Components: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914400" y="3173412"/>
            <a:ext cx="76200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States (ω₁, ω₂, ...): Possible true classes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 (α₁, α₂, ...): Our decisions/predictions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function L(αᵢ, ωⱼ): Cost of predicting αᵢ when true is ωⱼ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 probabilities P(ωᵢ): Belief about class before seeing data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 P(x|ωᵢ): Evidence probability under each class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L(αᵢ, ωⱼ) = 0 if i=j, else 1  (correct=0, any error=1)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9600" y="3548062"/>
            <a:ext cx="7924800" cy="719137"/>
          </a:xfrm>
          <a:prstGeom prst="roundRect">
            <a:avLst>
              <a:gd fmla="val 109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ourier New"/>
              <a:buNone/>
            </a:pPr>
            <a:r>
              <a:rPr b="0" i="0" lang="en-US" sz="8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L(α₁, ω₂) = λ₁₂  (cost of false positive: predicting +1 when true is -1)</a:t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ourier New"/>
              <a:buNone/>
            </a:pPr>
            <a:r>
              <a:rPr b="0" i="0" lang="en-US" sz="8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L(α₂, ω₁) = λ₂₁  (cost of false negative: predicting -1 when true is +1)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09600" y="5014912"/>
            <a:ext cx="7924800" cy="511175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R(α|x) = Σⱼ L(α, ωⱼ) × P(ωⱼ|x)  (sum loss×posterior over all classes)</a:t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Loss Functions &amp; Conditional Risk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Zero-One Loss: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Penalizes all errors equally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609600" y="29241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Use case: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Balanced datasets; Equal misclassification cost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609600" y="31369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Asymmetric Loss: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Penalize different errors differently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609600" y="43894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Example: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Cancer diagnosis: missing disease (λ₂₁ large) &gt; false alarm (λ₁₂ small)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609600" y="46021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Conditional Risk R(α|x):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Expected loss for action α given evidence 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609600" y="2289175"/>
            <a:ext cx="7924800" cy="744537"/>
          </a:xfrm>
          <a:prstGeom prst="roundRect">
            <a:avLst>
              <a:gd fmla="val 1062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00"/>
              <a:buFont typeface="Courier New"/>
              <a:buNone/>
            </a:pPr>
            <a:r>
              <a:rPr b="0" i="0" lang="en-US" sz="6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δ*(x) = argmin_α R(α|x)  (best action = minimum risk action)</a:t>
            </a:r>
            <a:endParaRPr b="0" i="0" sz="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00"/>
              <a:buFont typeface="Courier New"/>
              <a:buNone/>
            </a:pPr>
            <a:r>
              <a:rPr b="0" i="0" lang="en-US" sz="6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00"/>
              <a:buFont typeface="Courier New"/>
              <a:buNone/>
            </a:pPr>
            <a:r>
              <a:rPr b="0" i="0" lang="en-US" sz="6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binary classification: Predict ω₁ if P(ω₁|x) &gt; θ, else ω₂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09600" y="51212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r* = ∫ min_α R(α|x) × p(x) dx  (best possible expected loss)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2. Bayes Decision Rule: Optimal Classifier</a:t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Choose action that minimizes conditional risk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914400" y="315595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Bayes optimal classifier: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Minimizes expected loss E[L(y, f(x))]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Threshold θ: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Adjustable via loss function (skew decision boundary)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0-1 loss special case: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θ=0.5 → choose highest posterior probability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Asymmetric loss: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θ = λ₂₁ / (λ₂₁ + λ₁₂) → larger λ₂₁ pushes θ up</a:t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609600" y="47101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Bayes Risk: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Expected performance of optimal classifier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P(ω₁|x) / P(ω₂|x) &gt; λ₂₁ / λ₁₂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(likelihood ratio test; Neyman-Pearson optimal)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Binary Classification with Loss Functions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Decision Rule: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Predict ω₁ if posterior ratio exceeds threshold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914400" y="2924175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False Negative (λ₂₁ = 100):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Miss disease costs 100× more → lower threshold, more ω₁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False Positive (λ₁₂ = 1):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False alarm costs 1× → threshold → high precision on ω₁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Balanced (λ₂₁ = λ₁₂ = 1):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θ = 0.5 → Predict higher probability class (MAP)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609600" y="40894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ML Applications: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609600" y="43799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Logistic Regression: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Outputs P(y=1|x); Adjust threshold by loss</a:t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609600" y="45926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Neural Networks: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Softmax → probabilities; Threshold tuning for different costs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609600" y="2792412"/>
            <a:ext cx="7924800" cy="719137"/>
          </a:xfrm>
          <a:prstGeom prst="roundRect">
            <a:avLst>
              <a:gd fmla="val 109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I(x) = -log₂ P(x) = log₂(1/P(x))  (bits; or use log_e for nats)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• P(x)=1 (certain) → I(x)=0 (no surprise)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• P(x)=0.5 (coin flip) → I(x)=1 bit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• P(x)→0 (rare) → I(x)→∞ (huge surprise)</a:t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609600" y="4044950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H(X) = -Σ P(x) log P(x)  (expected information content)</a:t>
            </a:r>
            <a:endParaRPr/>
          </a:p>
        </p:txBody>
      </p:sp>
      <p:sp>
        <p:nvSpPr>
          <p:cNvPr id="98" name="Google Shape;98;p8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3. Information Theory: Shannon's Framework</a:t>
            </a:r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Foundation: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Quantifies information content, surprise, uncertainty</a:t>
            </a:r>
            <a:endParaRPr/>
          </a:p>
        </p:txBody>
      </p:sp>
      <p:sp>
        <p:nvSpPr>
          <p:cNvPr id="100" name="Google Shape;100;p8"/>
          <p:cNvSpPr txBox="1"/>
          <p:nvPr/>
        </p:nvSpPr>
        <p:spPr>
          <a:xfrm>
            <a:off x="609600" y="21685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Key insight: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High probability events = low information; Rare events = high surprise</a:t>
            </a:r>
            <a:endParaRPr/>
          </a:p>
        </p:txBody>
      </p:sp>
      <p:sp>
        <p:nvSpPr>
          <p:cNvPr id="101" name="Google Shape;101;p8"/>
          <p:cNvSpPr txBox="1"/>
          <p:nvPr/>
        </p:nvSpPr>
        <p:spPr>
          <a:xfrm>
            <a:off x="609600" y="23812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Information Content: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How much surprise does observing event X give?</a:t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609600" y="36337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Entropy H(X):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Average information/uncertainty in random variable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Entropy: Quantifying Uncertainty</a:t>
            </a: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Properties:</a:t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914400" y="2168525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H(X) ≥ 0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(always non-negative; 0 only if one outcome certain)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Maximum at uniform: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H_max = log N (when P(x) = 1/N for all x)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Binary: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H(X) ≤ 1 bit (coin flip P=0.5 maximizes uncertainty)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Skewed distribution: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 approaches 0 (high probability outcome dominates)</a:t>
            </a:r>
            <a:endParaRPr/>
          </a:p>
        </p:txBody>
      </p:sp>
      <p:sp>
        <p:nvSpPr>
          <p:cNvPr id="111" name="Google Shape;111;p9"/>
          <p:cNvSpPr txBox="1"/>
          <p:nvPr/>
        </p:nvSpPr>
        <p:spPr>
          <a:xfrm>
            <a:off x="609600" y="37226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609600" y="40116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Fair coin: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P(H)=P(T)=0.5 → H = -0.5×log₂(0.5) - 0.5×log₂(0.5) = 1 bit</a:t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609600" y="42259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Biased coin: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P(H)=0.9, P(T)=0.1 → H ≈ 0.47 bits (less uncertainty)</a:t>
            </a:r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609600" y="44386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Certain outcome: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P(X=x)=1 → H = 0 bits (no uncertainty)</a:t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609600" y="46513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ML Application: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Measure dataset purity in decision trees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H(X,Y) = -Σ P(x,y) log P(x,y)  (uncertainty across joint distribution)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609600" y="3548062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H(Y|X) = Σ P(x) H(Y|X=x) = H(X,Y) - H(X)  (chain rule)</a:t>
            </a:r>
            <a:endParaRPr/>
          </a:p>
        </p:txBody>
      </p:sp>
      <p:sp>
        <p:nvSpPr>
          <p:cNvPr id="123" name="Google Shape;123;p10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Joint and Conditional Entropy</a:t>
            </a:r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Joint Entropy H(X,Y):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Uncertainty in both X and Y together</a:t>
            </a:r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609600" y="29241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Property: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H(X,Y) ≤ H(X) + H(Y) (equality if independent)</a:t>
            </a:r>
            <a:endParaRPr/>
          </a:p>
        </p:txBody>
      </p:sp>
      <p:sp>
        <p:nvSpPr>
          <p:cNvPr id="126" name="Google Shape;126;p10"/>
          <p:cNvSpPr txBox="1"/>
          <p:nvPr/>
        </p:nvSpPr>
        <p:spPr>
          <a:xfrm>
            <a:off x="609600" y="31369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Conditional Entropy H(Y|X):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Uncertainty in Y knowing X</a:t>
            </a:r>
            <a:endParaRPr/>
          </a:p>
        </p:txBody>
      </p:sp>
      <p:sp>
        <p:nvSpPr>
          <p:cNvPr id="127" name="Google Shape;127;p10"/>
          <p:cNvSpPr txBox="1"/>
          <p:nvPr/>
        </p:nvSpPr>
        <p:spPr>
          <a:xfrm>
            <a:off x="914400" y="4183062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Interpretation: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Average surprise in Y after observing X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If independent: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H(Y|X) = H(Y) (knowing X doesn't reduce uncertainty)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If dependent: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H(Y|X) &lt; H(Y) (X provides information about Y)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/>
        </p:nvSpPr>
        <p:spPr>
          <a:xfrm>
            <a:off x="609600" y="2289175"/>
            <a:ext cx="7924800" cy="719137"/>
          </a:xfrm>
          <a:prstGeom prst="roundRect">
            <a:avLst>
              <a:gd fmla="val 109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I(X;Y) = H(Y) - H(Y|X) = H(X) - H(X|Y) = Σ P(x,y) log(P(x,y)/(P(x)P(y)))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(reduction in entropy; information shared between variables)</a:t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609600" y="4708525"/>
            <a:ext cx="7924800" cy="511175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IG(Y, X) = H(Y) - H(Y|X)  (same as mutual information in classification)</a:t>
            </a:r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4. Mutual Information &amp; Information Gain</a:t>
            </a:r>
            <a:endParaRPr/>
          </a:p>
        </p:txBody>
      </p:sp>
      <p:sp>
        <p:nvSpPr>
          <p:cNvPr id="136" name="Google Shape;136;p11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Mutual Information I(X;Y):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How much does X tell us about Y?</a:t>
            </a:r>
            <a:endParaRPr/>
          </a:p>
        </p:txBody>
      </p:sp>
      <p:sp>
        <p:nvSpPr>
          <p:cNvPr id="137" name="Google Shape;137;p11"/>
          <p:cNvSpPr txBox="1"/>
          <p:nvPr/>
        </p:nvSpPr>
        <p:spPr>
          <a:xfrm>
            <a:off x="914400" y="3130550"/>
            <a:ext cx="7620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I(X;Y) = 0: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X and Y independent (no mutual information)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I(X;Y) = H(Y):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X completely determines Y (maximum information)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Symmetric: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I(X;Y) = I(Y;X) (mutual, not directional)</a:t>
            </a:r>
            <a:endParaRPr/>
          </a:p>
        </p:txBody>
      </p:sp>
      <p:sp>
        <p:nvSpPr>
          <p:cNvPr id="138" name="Google Shape;138;p11"/>
          <p:cNvSpPr txBox="1"/>
          <p:nvPr/>
        </p:nvSpPr>
        <p:spPr>
          <a:xfrm>
            <a:off x="609600" y="42973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Information Gain IG(Y, X):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Entropy reduction when splitting on X</a:t>
            </a:r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609600" y="53419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Decision Trees: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Split on feature X that maximizes IG (largest entropy reduction)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609600" y="2289175"/>
            <a:ext cx="7924800" cy="719137"/>
          </a:xfrm>
          <a:prstGeom prst="roundRect">
            <a:avLst>
              <a:gd fmla="val 109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CE(P, Q) = -Σ P(x) log Q(x)  (P=true, Q=predicted)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CE(P, Q) ≥ H(P)  (equality when Q=P; never lower than entropy)</a:t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609600" y="3756025"/>
            <a:ext cx="7924800" cy="511175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CE = -[y log(ŷ) + (1-y) log(1-ŷ)]  (y ∈ {0,1}, ŷ = P(y=1|x))</a:t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5. Cross-Entropy: Classification Loss Function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Expected bits needed if we use predicted distribution to encode true distribution</a:t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609600" y="31305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Asymmetric: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CE(P,Q) ≠ CE(Q,P)</a:t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609600" y="33448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Binary Classification Loss:</a:t>
            </a:r>
            <a:endParaRPr/>
          </a:p>
        </p:txBody>
      </p:sp>
      <p:sp>
        <p:nvSpPr>
          <p:cNvPr id="151" name="Google Shape;151;p12"/>
          <p:cNvSpPr txBox="1"/>
          <p:nvPr/>
        </p:nvSpPr>
        <p:spPr>
          <a:xfrm>
            <a:off x="914400" y="4389437"/>
            <a:ext cx="7620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y=1, ŷ≈1: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CE ≈ 0 (correct prediction, low loss)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y=1, ŷ≈0: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CE → ∞ (wrong prediction, huge loss)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Default loss for classification; Directly from information theory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CE(P, Q) = H(P) + KL(P || Q)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where KL(P || Q) = Σ P(x) log(P(x)/Q(x))  (KL divergence)</a:t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609600" y="4500562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CE = -Σₖ P(y=k) log Q(y=k|x)  (sum over K classes)</a:t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Cross-Entropy vs KL Divergence Relationship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Mathematical Connection:</a:t>
            </a:r>
            <a:endParaRPr/>
          </a:p>
        </p:txBody>
      </p:sp>
      <p:sp>
        <p:nvSpPr>
          <p:cNvPr id="161" name="Google Shape;161;p13"/>
          <p:cNvSpPr txBox="1"/>
          <p:nvPr/>
        </p:nvSpPr>
        <p:spPr>
          <a:xfrm>
            <a:off x="914400" y="2924175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When H(P) constant: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Minimizing CE ≡ Minimizing KL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Optimization: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Classification models minimize cross-entropy loss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Equivalent to MLE: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Minimize -log Q(data) = maximize likelihood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609600" y="40894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Multi-class Softmax:</a:t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609600" y="51355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Neural networks: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Softmax + cross-entropy standard combination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KL(P || Q) = Σ P(x) log(P(x)/Q(x))  (measures distribution difference)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6. Kullback-Leibler (KL) Divergence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How much does distribution Q diverge from true distribution P?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914400" y="2924175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KL(P || Q) ≥ 0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(always non-negative; 0 iff P=Q)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Not symmetric: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KL(P || Q) ≠ KL(Q || P) (different penalties)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Forward KL: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Heavy penalty when P large but Q small (mode-covering)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Reverse KL: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Heavy penalty when Q large but P small (mode-seeking)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609600" y="44783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Support Mismatch Risk: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If Q(x)=0 but P(x)&gt;0, then log(P/Q)→∞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609600" y="47672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Solution: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Add smoothing (ε) or use Jensen-Shannon divergence (symmetric)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609600" y="49815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ML Applications: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VAE (variational autoencoders), distribution matching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JS(P || Q) = 0.5 × KL(P || M) + 0.5 × KL(Q || M)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where M = 0.5 × (P + Q)  (mixture distribution)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Jensen-Shannon (JS) Divergence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Symmetric, smoothed version of KL divergence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914400" y="2924175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Symmetric: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JS(P || Q) = JS(Q || P) (treats both fairly)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Range: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0 (identical) to 1 (maximally different, base-2)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Square root: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√JS distance = JS distance metric (true distance)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More stable: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No support mismatch blow-up (smoother than KL)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609600" y="44783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Comparison of Divergences: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914400" y="4767262"/>
            <a:ext cx="7620000" cy="15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Directed; Forward/Reverse versions; Non-symmetric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Undirected; Symmetric; Finite (no infinity issue)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KL when: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Variational inference, distribution matching with direction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JS when: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Comparing two distributions fairly; Stability needed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609600" y="2579687"/>
            <a:ext cx="7924800" cy="695325"/>
          </a:xfrm>
          <a:prstGeom prst="roundRect">
            <a:avLst>
              <a:gd fmla="val 1137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IG(Y, X) = H(Y) - Σ_v (|Sᵥ|/|S|) × H(Y|X=v)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where Sᵥ = subset of samples with X=v (weighted average of child entropies)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7. ID3 Algorithm: Information Gain Split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Build decision tree by recursively splitting on maximum information gain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609600" y="21685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At each node: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Compute IG for each candidate feature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14400" y="3395662"/>
            <a:ext cx="7620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Select feature: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argmax_X IG(Y, X) (split on highest IG)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Recurse: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Repeat on each child branch until stop criteria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Stop: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Entropy = 0 (pure node) or min samples reached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09600" y="45624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Example: 2-class problem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09600" y="48514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Pure node: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All samples class 1 → H=0, no split needed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609600" y="50657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Mixed node: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50% class 1, 50% class 2 → H=1 bit (split to reduce)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/>
          <p:nvPr/>
        </p:nvSpPr>
        <p:spPr>
          <a:xfrm>
            <a:off x="609600" y="2289175"/>
            <a:ext cx="7924800" cy="500062"/>
          </a:xfrm>
          <a:prstGeom prst="roundRect">
            <a:avLst>
              <a:gd fmla="val 1580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"/>
              <a:buFont typeface="Courier New"/>
              <a:buNone/>
            </a:pPr>
            <a:r>
              <a:rPr b="0" i="0" lang="en-US" sz="3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Root entropy: H(Y) = -0.6×log₂(0.6) - 0.4×log₂(0.4) ≈ 0.971 bits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09600" y="3322637"/>
            <a:ext cx="7924800" cy="9366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09600" y="4259262"/>
            <a:ext cx="7924800" cy="9382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ID3 Example: Loan Approval Dataset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100 loan applications; 60 approved (Y=1), 40 rejected (Y=0)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09600" y="29114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Candidate splits: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769937" y="3444875"/>
            <a:ext cx="7794625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Income (High/Low)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769937" y="3636962"/>
            <a:ext cx="7794625" cy="16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High: 45 approved, 5 rejected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69937" y="3806825"/>
            <a:ext cx="779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Low: 15 approved, 35 rejected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769937" y="3978275"/>
            <a:ext cx="7794625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IG ≈ 0.45 bits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69937" y="4381500"/>
            <a:ext cx="7794625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Age (Young/Old)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69937" y="4573587"/>
            <a:ext cx="779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Young: 30 app, 30 rej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769937" y="4745037"/>
            <a:ext cx="7794625" cy="16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Old: 30 app, 10 rej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769937" y="4914900"/>
            <a:ext cx="7794625" cy="16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IG ≈ 0.18 bits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09600" y="51974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Split on Income (higher IG); Recurse on each branch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/>
        </p:nvSpPr>
        <p:spPr>
          <a:xfrm>
            <a:off x="609600" y="2289175"/>
            <a:ext cx="7924800" cy="512762"/>
          </a:xfrm>
          <a:prstGeom prst="roundRect">
            <a:avLst>
              <a:gd fmla="val 154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"/>
              <a:buFont typeface="Courier New"/>
              <a:buNone/>
            </a:pPr>
            <a:r>
              <a:rPr b="0" i="0" lang="en-US" sz="4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Split quality = IG(Y, X) = H(Y) - Σ H(Y|X=v)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09600" y="3548062"/>
            <a:ext cx="7924800" cy="719137"/>
          </a:xfrm>
          <a:prstGeom prst="roundRect">
            <a:avLst>
              <a:gd fmla="val 109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Gini(Y) = 1 - Σₖ P(Y=k)²  (probability of misclassification)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Split quality = 1 - (|Left|/|S|)×Gini(Left) - (|Right|/|S|)×Gini(Right)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Decision Tree Split Criteria: Entropy vs Gini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Entropy (ID3, C4.5):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Information-theoretic measure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09600" y="29241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Pros: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Theoretically grounded; Handles multi-valued attributes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09600" y="31369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Gini Index (CART):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Impurity-based measure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914400" y="4389437"/>
            <a:ext cx="7620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Gini = 0: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Pure node (one class)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Gini = 0.5: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Maximally impure (2-class, 50-50 split)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Computationally: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Gini faster (no log operations)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09600" y="55546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Comparison: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Entropy &amp; Gini often produce similar trees; Minor differences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/>
        </p:nvSpPr>
        <p:spPr>
          <a:xfrm>
            <a:off x="609600" y="1466850"/>
            <a:ext cx="7924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8. Integrated Example: Email Spam Classification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09600" y="22891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Problem Setup: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Classify email as Spam or Ham with asymmetric loss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914400" y="2579687"/>
            <a:ext cx="7620000" cy="776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L(spam, ham) = 1: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False alarm (mark legit as spam) = mildly bad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L(ham, spam) = 10: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Miss spam (dangerous) = very bad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09600" y="33559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Step 1: Bayesian Decision Theory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09600" y="3646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Compute posterior: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P(Spam|email) via Naive Bayes from word features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09600" y="38592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Decision threshold: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θ = λ_ham_spam / (λ_ham_spam + λ_spam_ham) = 10/11 ≈ 0.91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09600" y="40735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Rule: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Predict Spam if P(Spam|email) &gt; 0.91 (higher threshold = fewer false alarms)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09600" y="42862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Step 2: Information Theory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09600" y="45751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Loss function: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Model trains via cross-entropy loss H(P(Spam), Q(Spam|x))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609600" y="4789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Intuition: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Cross-entropy ≡ Expected surprise if we use model to predict true labels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/>
          <p:nvPr/>
        </p:nvSpPr>
        <p:spPr>
          <a:xfrm>
            <a:off x="609600" y="2289175"/>
            <a:ext cx="7924800" cy="695325"/>
          </a:xfrm>
          <a:prstGeom prst="roundRect">
            <a:avLst>
              <a:gd fmla="val 1137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t" bIns="152400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Minimize: CE(P, Q) = -Σ P(y) log Q(y|email features)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0" i="0" sz="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00"/>
              <a:buFont typeface="Courier New"/>
              <a:buNone/>
            </a:pPr>
            <a:r>
              <a:rPr b="0" i="0" lang="en-US" sz="500" u="none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(This optimizes to maximize likelihood &amp; minimize KL divergence)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Email Classification: Theory Integration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09600" y="1878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Step 3: Training Process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09600" y="31067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Step 4: Feature Selection (Optional)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09600" y="33956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Information Gain: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Select words with highest I(Y; "word") for tree-based models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09600" y="36099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Example:</a:t>
            </a:r>
            <a:r>
              <a:rPr b="0" i="0" lang="en-US" sz="12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Word "viagra" has high IG(spam) → strong predictor of spam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09600" y="38227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Step 5: Decision &amp; Evaluation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14400" y="4113212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Threshold tuning: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Adjust θ based on asymmetric loss (operational cost)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ROC curve: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Vary threshold, plot TPR vs FPR; Select point matching loss ratio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Bayes optimal: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Classifier on Bayes decision boundary minimizes risk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/>
        </p:nvSpPr>
        <p:spPr>
          <a:xfrm>
            <a:off x="609600" y="2030412"/>
            <a:ext cx="7924800" cy="10525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09600" y="3082925"/>
            <a:ext cx="7924800" cy="10509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09600" y="4256087"/>
            <a:ext cx="7924800" cy="10509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609600" y="5307012"/>
            <a:ext cx="7924800" cy="10509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Connections: Decision &amp; Information Theory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00100" y="2182812"/>
            <a:ext cx="77343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Bayesian Decision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00100" y="2386012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Minimizes risk R(α|x)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00100" y="2566987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Uses loss functions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00100" y="2747962"/>
            <a:ext cx="7734300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Threshold tuning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00100" y="3235325"/>
            <a:ext cx="7734300" cy="201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Information Theory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00100" y="3436937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Minimizes surprise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00100" y="3617912"/>
            <a:ext cx="7734300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Cross-entropy loss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800100" y="3800475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Information gain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800100" y="4408487"/>
            <a:ext cx="7734300" cy="201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Unified View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800100" y="4610100"/>
            <a:ext cx="7734300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Posterior P(y|x) from Bayes rule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800100" y="4792662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Cross-entropy optimizes likelihood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00100" y="4973637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Trees use IG ≡ mutual information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800100" y="5459412"/>
            <a:ext cx="77343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ML Models Use Both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800100" y="5662612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Logistic Reg: Bayes rule + loss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800100" y="5843587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Neural Nets: CE loss + softmax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800100" y="6881812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Decision Trees: IG splits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/>
          <p:nvPr/>
        </p:nvSpPr>
        <p:spPr>
          <a:xfrm>
            <a:off x="609600" y="2106612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609600" y="2755900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609600" y="3405187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609600" y="4054475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Quick Reference: Key Formulas (1/3)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00100" y="2259012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Conditional Risk: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R(α|x) = Σ L(α, y) P(y|x)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00100" y="2908300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Bayes Decision: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δ*(x) = argmin_α R(α|x)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00100" y="3557587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Entropy: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H(X) = -Σ P(x) log P(x)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00100" y="420687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Mutual Information: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I(X;Y) = H(Y) - H(Y|X)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/>
        </p:nvSpPr>
        <p:spPr>
          <a:xfrm>
            <a:off x="609600" y="2106612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609600" y="2755900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609600" y="3405187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609600" y="4054475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Quick Reference: Key Formulas (2/3)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800100" y="2259012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Cross-Entropy: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CE(P,Q) = -Σ P(x) log Q(x)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800100" y="2908300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KL Divergence: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KL(P||Q) = Σ P(x) log(P(x)/Q(x))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800100" y="3557587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JS Divergence: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JS(P||Q) = 0.5[KL(P||M) + KL(Q||M)]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800100" y="420687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Information Gain: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IG(Y,X) = H(Y) - Σ(|Sv|/|S|)H(Y|X=v)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/>
        </p:nvSpPr>
        <p:spPr>
          <a:xfrm>
            <a:off x="609600" y="2106612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609600" y="2755900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609600" y="3405187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609600" y="4054475"/>
            <a:ext cx="7924800" cy="4968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Quick Reference: Key Formulas (3/3)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800100" y="2259012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Joint Entropy: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H(X,Y) = -Σ P(x,y) log P(x,y)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800100" y="2908300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Conditional Entropy: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H(Y|X) = H(X,Y) - H(X)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800100" y="3557587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Binary CE Loss: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L = -[y log(ŷ) + (1-y) log(1-ŷ)]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800100" y="420687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Gini Index: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Gini(Y) = 1 - Σₖ P(Y=k)²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Decision &amp; Information Theory in ML Models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914400" y="2030412"/>
            <a:ext cx="7620000" cy="272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Logistic Regression: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Cross-entropy loss; Threshold via Bayes decision rule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Neural Networks: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Cross-entropy + softmax; Optimizes likelihood via backprop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Decision Trees (ID3/C4.5):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Information gain for greedy splits; Entropy-based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Random Forests (CART):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Gini impurity splits; Bootstrap aggregating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Naive Bayes: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Posterior probabilities; Bayes decision rule for classification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SVM: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Margin maximization; Can incorporate asymmetric costs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VAE/GANs: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KL divergence between distributions; Adversarial training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Practical Considerations in Classification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914400" y="2030412"/>
            <a:ext cx="7620000" cy="2332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Class Imbalance: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Adjust prior P(y) or use weighted cross-entropy loss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Asymmetric Costs: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False Negative costs 10× more? Adjust λ_21; Threshold shifts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Threshold Selection: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ROC curve shows trade-off; Select by operational constraints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Model Uncertainty: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Entropy H(model predictions) indicates confidence; High entropy = uncertain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Feature Importance: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Information gain measures feature-label dependency; Use for feature selection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Char char="•"/>
            </a:pPr>
            <a:r>
              <a:rPr b="1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Bayes Error:</a:t>
            </a:r>
            <a:r>
              <a:rPr b="0" i="0" lang="en-US" sz="12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Irreducible error r*; Real data may violate assumptions (overlapping classes)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/>
          <p:nvPr/>
        </p:nvSpPr>
        <p:spPr>
          <a:xfrm>
            <a:off x="609600" y="2106612"/>
            <a:ext cx="7924800" cy="8921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609600" y="3151187"/>
            <a:ext cx="7924800" cy="8905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609600" y="4194175"/>
            <a:ext cx="7924800" cy="8921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Recommended References: Primary Textbooks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800100" y="2259012"/>
            <a:ext cx="7734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Murphy (2012):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800100" y="247332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Kevin P. Murphy, </a:t>
            </a:r>
            <a:r>
              <a:rPr b="0" i="1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Machine Learning: A Probabilistic Perspective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MIT Press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800100" y="2665412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Chapters 1-2: Decision theory; Chapters 5.3: Information theory foundations</a:t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800100" y="3303587"/>
            <a:ext cx="77343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Mitchell (1997):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800100" y="3516312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Tom Mitchell, </a:t>
            </a:r>
            <a:r>
              <a:rPr b="0" i="1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McGraw-Hill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800100" y="3708400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Chapter 3: Decision tree learning (ID3, information gain); Chapter 6: Bayesian basics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800100" y="4346575"/>
            <a:ext cx="7734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Bell (2020):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800100" y="4560887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Jason Bell, </a:t>
            </a:r>
            <a:r>
              <a:rPr b="0" i="1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Machine Learning: Hands-On for Developers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Wiley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800100" y="4752975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Chapters on classification loss functions; Practical threshold tuning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/>
        </p:nvSpPr>
        <p:spPr>
          <a:xfrm>
            <a:off x="609600" y="2517775"/>
            <a:ext cx="7924800" cy="8921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609600" y="3562350"/>
            <a:ext cx="7924800" cy="8905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8"/>
          <p:cNvSpPr txBox="1"/>
          <p:nvPr/>
        </p:nvSpPr>
        <p:spPr>
          <a:xfrm>
            <a:off x="609600" y="4605337"/>
            <a:ext cx="7924800" cy="8921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609600" y="1466850"/>
            <a:ext cx="7924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Recommended References: Supplementary Books</a:t>
            </a:r>
            <a:endParaRPr/>
          </a:p>
        </p:txBody>
      </p:sp>
      <p:sp>
        <p:nvSpPr>
          <p:cNvPr id="370" name="Google Shape;370;p28"/>
          <p:cNvSpPr txBox="1"/>
          <p:nvPr/>
        </p:nvSpPr>
        <p:spPr>
          <a:xfrm>
            <a:off x="800100" y="2670175"/>
            <a:ext cx="7734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Starmer (2022):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800100" y="2884487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Josh Starmer, </a:t>
            </a:r>
            <a:r>
              <a:rPr b="0" i="1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StatQuest Illustrated Guide to Machine Learning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Packt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800100" y="3076575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Visual explanations of entropy, cross-entropy, decision trees; Highly recommended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800100" y="3714750"/>
            <a:ext cx="77343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Molnar (2025):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800100" y="392747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Christoph Molnar, </a:t>
            </a:r>
            <a:r>
              <a:rPr b="0" i="1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Interpretable ML: Guide for Explainable Models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Creative Commons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800100" y="4119562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Decision boundaries, feature importance (information gain); Model interpretability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800100" y="4757737"/>
            <a:ext cx="7734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Raschka &amp; Mirjalili (2019):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800100" y="4972050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Sebastian Raschka, </a:t>
            </a:r>
            <a:r>
              <a:rPr b="0" i="1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Python Machine Learning</a:t>
            </a: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3rd Ed, Packt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800100" y="5164137"/>
            <a:ext cx="7734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 Practical implementation: decision trees, neural networks with cross-entropy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/>
          <p:nvPr/>
        </p:nvSpPr>
        <p:spPr>
          <a:xfrm>
            <a:off x="3292475" y="1225550"/>
            <a:ext cx="25590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914400" y="1941512"/>
            <a:ext cx="7620000" cy="3690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Bayesian decision rule minimizes conditional risk; Choose action with lowest expected loss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Asymmetric loss functions shift decision boundary; Threshold tuning critical for operational costs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Entropy H(X) quantifies uncertainty; Maximum at uniform distribution, zero when certain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Cross-entropy loss directly from information theory; Minimizes surprise of predicted distribution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Mutual information I(X;Y) measures shared information; Foundation of information gain for trees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KL divergence measures distribution difference (non-symmetric); JS divergence is symmetric alternative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ID3 algorithm greedily maximizes information gain; Builds tree by recursive entropy reduction</a:t>
            </a:r>
            <a:endParaRPr b="0" i="0" sz="13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8461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Decision theory + information theory unified: Both optimize P(y|x) for classification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 txBox="1"/>
          <p:nvPr/>
        </p:nvSpPr>
        <p:spPr>
          <a:xfrm>
            <a:off x="609600" y="2106612"/>
            <a:ext cx="7924800" cy="901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 txBox="1"/>
          <p:nvPr/>
        </p:nvSpPr>
        <p:spPr>
          <a:xfrm>
            <a:off x="609600" y="3160712"/>
            <a:ext cx="7924800" cy="90328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609600" y="4216400"/>
            <a:ext cx="7924800" cy="901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0"/>
          <p:cNvSpPr txBox="1"/>
          <p:nvPr/>
        </p:nvSpPr>
        <p:spPr>
          <a:xfrm>
            <a:off x="609600" y="1466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Web References &amp; Learning Resources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800100" y="2259012"/>
            <a:ext cx="7734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YouTube/Video: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800100" y="247332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StatQuest (Josh Starmer): Decision trees, entropy, cross-entropy visualization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800100" y="2665412"/>
            <a:ext cx="773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3Blue1Brown: Information theory fundamentals; Beautiful visual intuition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800100" y="3313112"/>
            <a:ext cx="7734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Online Courses: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00100" y="352742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Coursera (Andrew Ng): Decision theory, classification; Neural network loss functions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800100" y="3719512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MIT OpenCourseWare: Information theory &amp; inference (Mackay)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800100" y="4368800"/>
            <a:ext cx="77343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Papers &amp; Blogs: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800100" y="458152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D2L AI (Dive into Deep Learning): Information theory chapter; Applied perspective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800100" y="4773612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Machine Learning Mastery: Decision tree ID3, information gain tutorials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1"/>
          <p:cNvSpPr txBox="1"/>
          <p:nvPr/>
        </p:nvSpPr>
        <p:spPr>
          <a:xfrm>
            <a:off x="3635375" y="2676525"/>
            <a:ext cx="18732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3340100" y="3316287"/>
            <a:ext cx="2463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2397125" y="3941762"/>
            <a:ext cx="4349750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Session 6: Decision Theory &amp; Information Theory for 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2008-12-08T06:30:53Z</dcterms:created>
  <dc:creator>DEVIL'S ACCOUNT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