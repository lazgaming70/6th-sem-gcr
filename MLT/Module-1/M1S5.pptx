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hMVZLSq9yngdveUoH8LwK3ocMv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/>
          <p:nvPr>
            <p:ph idx="2" type="tbl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3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11" name="Google Shape;11;p10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18" name="Google Shape;18;p12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1524000" y="762000"/>
            <a:ext cx="4900612" cy="113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Session Outline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50" y="1652587"/>
            <a:ext cx="8443912" cy="366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Session Overview</a:t>
            </a:r>
            <a:endParaRPr/>
          </a:p>
        </p:txBody>
      </p:sp>
      <p:sp>
        <p:nvSpPr>
          <p:cNvPr id="41" name="Google Shape;41;p3"/>
          <p:cNvSpPr txBox="1"/>
          <p:nvPr/>
        </p:nvSpPr>
        <p:spPr>
          <a:xfrm>
            <a:off x="914400" y="2106612"/>
            <a:ext cx="7620000" cy="2960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 Calculus: Gradient, Divergence, Curl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Partial Derivatives &amp; Chain Rule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Computational Graphs &amp; Backpropagation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Descent Variants (GD, SGD, Momentum)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Adaptive Learning Rates (Adam, RMSprop)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Practical Optimization in Neural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/>
          <p:nvPr/>
        </p:nvSpPr>
        <p:spPr>
          <a:xfrm>
            <a:off x="838200" y="7620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Vector Spaces &amp; Scalar Fields</a:t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574675" y="14874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Vector: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Quantity with magnitude and direction (e.g., velocity, force)</a:t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1219200" y="19224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Feature vectors (x ∈ ℝⁿ), weight vectors (w ∈ ℝⁿ), gradients</a:t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574675" y="24384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Scalar: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Single number without direction (e.g., temperature, loss)</a:t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1219200" y="28844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Loss function L(w) outputs scalar; Models map vectors to scalars</a:t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574675" y="34544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Scalar Field: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Assigns scalar to each point in space f(x,y,z)</a:t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1219200" y="39306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Loss landscape: each point (weights) has loss value</a:t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573087" y="45593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Vector Field: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Assigns vector to each point F(x,y,z) = (Fx, Fy, Fz)</a:t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1230312" y="49752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Gradient field: each point has direction of steepest ascent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733425" y="1689100"/>
            <a:ext cx="7924800" cy="744537"/>
          </a:xfrm>
          <a:prstGeom prst="roundRect">
            <a:avLst>
              <a:gd fmla="val 10624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∂f/∂x = lim[h→0] (f(x+h, y) - f(x, y)) / h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(fix other variables, differentiate with respect to x)</a:t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09600" y="3779837"/>
            <a:ext cx="7924800" cy="512762"/>
          </a:xfrm>
          <a:prstGeom prst="roundRect">
            <a:avLst>
              <a:gd fmla="val 15431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∇f = (∂f/∂x₁, ∂f/∂x₂, ..., ∂f/∂xₙ)  (point in direction of steepest increase)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530225" y="611187"/>
            <a:ext cx="808355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Partial Derivatives &amp; Gradients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574675" y="13747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Partial Derivative: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Rate of change of f with respect to one variable</a:t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1219200" y="28987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does loss change when weight wᵢ changes (holding other weights fixed)?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574675" y="35210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Gradient ∇f: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Vector of all partial derivatives</a:t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1238250" y="4608512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Gradient vector shows direction to increase loss fastest (minimize: go opposite)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/>
        </p:nvSpPr>
        <p:spPr>
          <a:xfrm>
            <a:off x="762000" y="893762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Backpropagation: Chain Rule in Action</a:t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530225" y="16303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Compute ∂L/∂w for all weights w in network efficiently</a:t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727075" y="20605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Forward pass, then backward pass applying chain rule</a:t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914400" y="245745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Pass: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Compute activations a[l], z[l] layer by layer; Final loss L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Backward Pass: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Starting from ∂L/∂z[L], compute ∂L/∂z[l] for each layer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Chain Rule: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∂L/∂z[l] = (∂L/∂a[l]) × (∂a[l]/∂z[l]) (activation derivative)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 Gradients: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∂L/∂w[l] = (∂L/∂z[l]) × (∂z[l]/∂w[l]) (input activation)</a:t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727075" y="46545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Efficiency: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O(n) complexity (one forward, one backward pass)</a:t>
            </a:r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914400" y="52466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vs Numerical gradients: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O(n×m) where m=number of parameters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609600" y="1943100"/>
            <a:ext cx="7924800" cy="744537"/>
          </a:xfrm>
          <a:prstGeom prst="roundRect">
            <a:avLst>
              <a:gd fmla="val 10624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4C00"/>
                </a:solidFill>
                <a:latin typeface="Arial"/>
                <a:ea typeface="Arial"/>
                <a:cs typeface="Arial"/>
                <a:sym typeface="Arial"/>
              </a:rPr>
              <a:t>w ← w - α × ∇L(w)</a:t>
            </a:r>
            <a:endParaRPr b="1" i="0" sz="1800" u="none">
              <a:solidFill>
                <a:srgbClr val="004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4C00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endParaRPr b="1" i="0" sz="1800" u="none">
              <a:solidFill>
                <a:srgbClr val="004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4C00"/>
                </a:solidFill>
                <a:latin typeface="Arial"/>
                <a:ea typeface="Arial"/>
                <a:cs typeface="Arial"/>
                <a:sym typeface="Arial"/>
              </a:rPr>
              <a:t>            where α = learning rate (step size)</a:t>
            </a:r>
            <a:endParaRPr b="1" i="0" sz="1800" u="none">
              <a:solidFill>
                <a:srgbClr val="004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4C00"/>
                </a:solidFill>
                <a:latin typeface="Arial"/>
                <a:ea typeface="Arial"/>
                <a:cs typeface="Arial"/>
                <a:sym typeface="Arial"/>
              </a:rPr>
              <a:t>            ∇L(w) = gradient of loss w.r.t. weights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838200" y="747712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Gradient Descent Algorithm</a:t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755650" y="15113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Intuition: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Move in direction opposite to gradient (downhill) to minimize loss</a:t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1219200" y="3579812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Compute gradient → Update weights → Check convergence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Rate α: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Too small → slow convergence; Too large → divergence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Convergence: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Stop when ||∇L(w)|| ≈ 0 (gradient is zero)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get stuck in local minima (non-convex loss)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/>
          <p:nvPr/>
        </p:nvSpPr>
        <p:spPr>
          <a:xfrm>
            <a:off x="609600" y="3006725"/>
            <a:ext cx="7924800" cy="511175"/>
          </a:xfrm>
          <a:prstGeom prst="roundRect">
            <a:avLst>
              <a:gd fmla="val 15431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← w - α × ∇L(w; xᵢ, yᵢ)  (gradient for one sample)</a:t>
            </a: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762000" y="923925"/>
            <a:ext cx="808355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Stochastic Gradient Descent (SGD)</a:t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530225" y="15240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Batch GD: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Use entire dataset to compute gradient (slow, stable)</a:t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762000" y="18986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Stable direction toward minimum</a:t>
            </a:r>
            <a:endParaRPr/>
          </a:p>
        </p:txBody>
      </p:sp>
      <p:sp>
        <p:nvSpPr>
          <p:cNvPr id="97" name="Google Shape;97;p8"/>
          <p:cNvSpPr txBox="1"/>
          <p:nvPr/>
        </p:nvSpPr>
        <p:spPr>
          <a:xfrm>
            <a:off x="762000" y="22193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Cons: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Expensive for large datasets; Slow convergence</a:t>
            </a:r>
            <a:endParaRPr/>
          </a:p>
        </p:txBody>
      </p:sp>
      <p:sp>
        <p:nvSpPr>
          <p:cNvPr id="98" name="Google Shape;98;p8"/>
          <p:cNvSpPr txBox="1"/>
          <p:nvPr/>
        </p:nvSpPr>
        <p:spPr>
          <a:xfrm>
            <a:off x="530225" y="27162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SGD: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Use single sample or small batch (noisy, fast)</a:t>
            </a:r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762000" y="3733800"/>
            <a:ext cx="76200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Fast updates; Can escape shallow local minima (noise helps)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Noisy updates; May not converge to exact minimum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Mini-batch: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Compromise (32-256 samples); Balance speed &amp; stability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/>
        </p:nvSpPr>
        <p:spPr>
          <a:xfrm>
            <a:off x="2286000" y="650875"/>
            <a:ext cx="808355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Learning Rate Scheduling</a:t>
            </a:r>
            <a:endParaRPr/>
          </a:p>
        </p:txBody>
      </p:sp>
      <p:sp>
        <p:nvSpPr>
          <p:cNvPr id="106" name="Google Shape;106;p9"/>
          <p:cNvSpPr txBox="1"/>
          <p:nvPr/>
        </p:nvSpPr>
        <p:spPr>
          <a:xfrm>
            <a:off x="609600" y="14128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Fixed Learning Rate: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α constant throughout training</a:t>
            </a:r>
            <a:endParaRPr/>
          </a:p>
        </p:txBody>
      </p:sp>
      <p:sp>
        <p:nvSpPr>
          <p:cNvPr id="107" name="Google Shape;107;p9"/>
          <p:cNvSpPr txBox="1"/>
          <p:nvPr/>
        </p:nvSpPr>
        <p:spPr>
          <a:xfrm>
            <a:off x="1060450" y="18700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Problem: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overshoot minimum later; Too small early causes slow start</a:t>
            </a:r>
            <a:endParaRPr/>
          </a:p>
        </p:txBody>
      </p:sp>
      <p:sp>
        <p:nvSpPr>
          <p:cNvPr id="108" name="Google Shape;108;p9"/>
          <p:cNvSpPr txBox="1"/>
          <p:nvPr/>
        </p:nvSpPr>
        <p:spPr>
          <a:xfrm>
            <a:off x="682625" y="22860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Strategies:</a:t>
            </a:r>
            <a:endParaRPr/>
          </a:p>
        </p:txBody>
      </p:sp>
      <p:sp>
        <p:nvSpPr>
          <p:cNvPr id="109" name="Google Shape;109;p9"/>
          <p:cNvSpPr txBox="1"/>
          <p:nvPr/>
        </p:nvSpPr>
        <p:spPr>
          <a:xfrm>
            <a:off x="914400" y="2670175"/>
            <a:ext cx="7620000" cy="155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Decay: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Reduce α by factor every N epochs (α ← α × 0.1)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Exponential Decay: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α = α₀ × exp(-k×epoch) (smooth reduction)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Warm Restarts: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Periodically increase α; Escapes local minima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Cosine Annealing: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Smooth decrease from α₀ to αmin (CIFAR-10 SOTA)</a:t>
            </a:r>
            <a:endParaRPr/>
          </a:p>
        </p:txBody>
      </p:sp>
      <p:sp>
        <p:nvSpPr>
          <p:cNvPr id="110" name="Google Shape;110;p9"/>
          <p:cNvSpPr txBox="1"/>
          <p:nvPr/>
        </p:nvSpPr>
        <p:spPr>
          <a:xfrm>
            <a:off x="625475" y="48768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Learning rate often as important as optimizer choice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2008-12-08T06:30:53Z</dcterms:created>
  <dc:creator>DEVIL'S ACCOUNT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