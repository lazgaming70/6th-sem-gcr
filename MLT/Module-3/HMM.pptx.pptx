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Arimo Bold" charset="1" panose="020B07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3937997"/>
            <a:ext cx="4936779" cy="532809"/>
            <a:chOff x="0" y="0"/>
            <a:chExt cx="6582372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2410" cy="710438"/>
            </a:xfrm>
            <a:custGeom>
              <a:avLst/>
              <a:gdLst/>
              <a:ahLst/>
              <a:cxnLst/>
              <a:rect r="r" b="b" t="t" l="l"/>
              <a:pathLst>
                <a:path h="710438" w="6582410">
                  <a:moveTo>
                    <a:pt x="0" y="355219"/>
                  </a:moveTo>
                  <a:cubicBezTo>
                    <a:pt x="0" y="159004"/>
                    <a:pt x="159004" y="0"/>
                    <a:pt x="355219" y="0"/>
                  </a:cubicBezTo>
                  <a:lnTo>
                    <a:pt x="6227191" y="0"/>
                  </a:lnTo>
                  <a:cubicBezTo>
                    <a:pt x="6423406" y="0"/>
                    <a:pt x="6582410" y="159004"/>
                    <a:pt x="6582410" y="355219"/>
                  </a:cubicBezTo>
                  <a:cubicBezTo>
                    <a:pt x="6582410" y="551434"/>
                    <a:pt x="6423406" y="710438"/>
                    <a:pt x="6227191" y="710438"/>
                  </a:cubicBezTo>
                  <a:lnTo>
                    <a:pt x="355219" y="710438"/>
                  </a:lnTo>
                  <a:cubicBezTo>
                    <a:pt x="159004" y="710438"/>
                    <a:pt x="0" y="551434"/>
                    <a:pt x="0" y="355219"/>
                  </a:cubicBezTo>
                  <a:close/>
                </a:path>
              </a:pathLst>
            </a:custGeom>
            <a:solidFill>
              <a:srgbClr val="EAED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3927719"/>
            <a:ext cx="4596555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PROBABILITY &amp; STOCHASTIC PROCESSES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527052"/>
            <a:ext cx="7761237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Hidden Markov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790609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Understanding probabilistic models for sequential data where the underlying system states cannot be directly observed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541412" y="614953"/>
            <a:ext cx="9308011" cy="79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What is a Hidden Markov Model?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1412" y="1885655"/>
            <a:ext cx="7309247" cy="1643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sz="1874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Hidden Markov Model (HMM)</a:t>
            </a:r>
            <a:r>
              <a:rPr lang="en-US" sz="1874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extends the classical Markov Model by introducing a critical distinction: the states that govern the system cannot be directly observed. Instead, we only see outputs or emissions generated by these hidden states.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1412" y="3640188"/>
            <a:ext cx="7309247" cy="873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Key insight: We can observe the result, but not the underlying cause that produced it.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9446571" y="2044598"/>
            <a:ext cx="7309247" cy="7309247"/>
          </a:xfrm>
          <a:custGeom>
            <a:avLst/>
            <a:gdLst/>
            <a:ahLst/>
            <a:cxnLst/>
            <a:rect r="r" b="b" t="t" l="l"/>
            <a:pathLst>
              <a:path h="7309247" w="7309247">
                <a:moveTo>
                  <a:pt x="0" y="0"/>
                </a:moveTo>
                <a:lnTo>
                  <a:pt x="7309247" y="0"/>
                </a:lnTo>
                <a:lnTo>
                  <a:pt x="7309247" y="7309247"/>
                </a:lnTo>
                <a:lnTo>
                  <a:pt x="0" y="7309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59191"/>
            <a:ext cx="10001545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Connection to Markov Models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3564579"/>
            <a:ext cx="5254971" cy="4610843"/>
            <a:chOff x="0" y="0"/>
            <a:chExt cx="7006628" cy="61477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6135116"/>
            </a:xfrm>
            <a:custGeom>
              <a:avLst/>
              <a:gdLst/>
              <a:ahLst/>
              <a:cxnLst/>
              <a:rect r="r" b="b" t="t" l="l"/>
              <a:pathLst>
                <a:path h="6135116" w="6993890">
                  <a:moveTo>
                    <a:pt x="0" y="567055"/>
                  </a:moveTo>
                  <a:cubicBezTo>
                    <a:pt x="0" y="253873"/>
                    <a:pt x="254000" y="0"/>
                    <a:pt x="567182" y="0"/>
                  </a:cubicBezTo>
                  <a:lnTo>
                    <a:pt x="6426708" y="0"/>
                  </a:lnTo>
                  <a:cubicBezTo>
                    <a:pt x="6740017" y="0"/>
                    <a:pt x="6993890" y="253873"/>
                    <a:pt x="6993890" y="567055"/>
                  </a:cubicBezTo>
                  <a:lnTo>
                    <a:pt x="6993890" y="5568061"/>
                  </a:lnTo>
                  <a:cubicBezTo>
                    <a:pt x="6993890" y="5881243"/>
                    <a:pt x="6739890" y="6135116"/>
                    <a:pt x="6426708" y="6135116"/>
                  </a:cubicBezTo>
                  <a:lnTo>
                    <a:pt x="567182" y="6135116"/>
                  </a:lnTo>
                  <a:cubicBezTo>
                    <a:pt x="254000" y="6135116"/>
                    <a:pt x="0" y="5881243"/>
                    <a:pt x="0" y="5568061"/>
                  </a:cubicBezTo>
                  <a:close/>
                </a:path>
              </a:pathLst>
            </a:custGeom>
            <a:solidFill>
              <a:srgbClr val="626C3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590" cy="6147816"/>
            </a:xfrm>
            <a:custGeom>
              <a:avLst/>
              <a:gdLst/>
              <a:ahLst/>
              <a:cxnLst/>
              <a:rect r="r" b="b" t="t" l="l"/>
              <a:pathLst>
                <a:path h="6147816" w="7006590">
                  <a:moveTo>
                    <a:pt x="0" y="573405"/>
                  </a:moveTo>
                  <a:cubicBezTo>
                    <a:pt x="0" y="256667"/>
                    <a:pt x="256794" y="0"/>
                    <a:pt x="573532" y="0"/>
                  </a:cubicBezTo>
                  <a:lnTo>
                    <a:pt x="6433058" y="0"/>
                  </a:lnTo>
                  <a:lnTo>
                    <a:pt x="6433058" y="6350"/>
                  </a:lnTo>
                  <a:lnTo>
                    <a:pt x="6433058" y="0"/>
                  </a:lnTo>
                  <a:cubicBezTo>
                    <a:pt x="6749796" y="0"/>
                    <a:pt x="7006590" y="256667"/>
                    <a:pt x="7006590" y="573405"/>
                  </a:cubicBezTo>
                  <a:lnTo>
                    <a:pt x="7000240" y="573405"/>
                  </a:lnTo>
                  <a:lnTo>
                    <a:pt x="7006590" y="573405"/>
                  </a:lnTo>
                  <a:lnTo>
                    <a:pt x="7006590" y="5574411"/>
                  </a:lnTo>
                  <a:lnTo>
                    <a:pt x="7000240" y="5574411"/>
                  </a:lnTo>
                  <a:lnTo>
                    <a:pt x="7006590" y="5574411"/>
                  </a:lnTo>
                  <a:cubicBezTo>
                    <a:pt x="7006590" y="5891149"/>
                    <a:pt x="6749796" y="6147816"/>
                    <a:pt x="6433058" y="6147816"/>
                  </a:cubicBezTo>
                  <a:lnTo>
                    <a:pt x="6433058" y="6141466"/>
                  </a:lnTo>
                  <a:lnTo>
                    <a:pt x="6433058" y="6147816"/>
                  </a:lnTo>
                  <a:lnTo>
                    <a:pt x="573532" y="6147816"/>
                  </a:lnTo>
                  <a:lnTo>
                    <a:pt x="573532" y="6141466"/>
                  </a:lnTo>
                  <a:lnTo>
                    <a:pt x="573532" y="6147816"/>
                  </a:lnTo>
                  <a:cubicBezTo>
                    <a:pt x="256794" y="6147816"/>
                    <a:pt x="0" y="5891022"/>
                    <a:pt x="0" y="5574411"/>
                  </a:cubicBezTo>
                  <a:lnTo>
                    <a:pt x="0" y="573405"/>
                  </a:lnTo>
                  <a:lnTo>
                    <a:pt x="6350" y="573405"/>
                  </a:lnTo>
                  <a:lnTo>
                    <a:pt x="0" y="573405"/>
                  </a:lnTo>
                  <a:moveTo>
                    <a:pt x="12700" y="573405"/>
                  </a:moveTo>
                  <a:lnTo>
                    <a:pt x="12700" y="5574411"/>
                  </a:lnTo>
                  <a:lnTo>
                    <a:pt x="6350" y="5574411"/>
                  </a:lnTo>
                  <a:lnTo>
                    <a:pt x="12700" y="5574411"/>
                  </a:lnTo>
                  <a:cubicBezTo>
                    <a:pt x="12700" y="5884037"/>
                    <a:pt x="263779" y="6135116"/>
                    <a:pt x="573532" y="6135116"/>
                  </a:cubicBezTo>
                  <a:lnTo>
                    <a:pt x="6433058" y="6135116"/>
                  </a:lnTo>
                  <a:cubicBezTo>
                    <a:pt x="6742811" y="6135116"/>
                    <a:pt x="6993890" y="5884037"/>
                    <a:pt x="6993890" y="5574411"/>
                  </a:cubicBezTo>
                  <a:lnTo>
                    <a:pt x="6993890" y="573405"/>
                  </a:lnTo>
                  <a:cubicBezTo>
                    <a:pt x="6993890" y="263779"/>
                    <a:pt x="6742811" y="12700"/>
                    <a:pt x="6433058" y="12700"/>
                  </a:cubicBezTo>
                  <a:lnTo>
                    <a:pt x="573532" y="12700"/>
                  </a:lnTo>
                  <a:lnTo>
                    <a:pt x="573532" y="6350"/>
                  </a:lnTo>
                  <a:lnTo>
                    <a:pt x="573532" y="12700"/>
                  </a:lnTo>
                  <a:cubicBezTo>
                    <a:pt x="263779" y="12700"/>
                    <a:pt x="12700" y="263779"/>
                    <a:pt x="12700" y="573405"/>
                  </a:cubicBezTo>
                  <a:close/>
                </a:path>
              </a:pathLst>
            </a:custGeom>
            <a:solidFill>
              <a:srgbClr val="626C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4" y="3862388"/>
            <a:ext cx="850554" cy="850554"/>
            <a:chOff x="0" y="0"/>
            <a:chExt cx="1134072" cy="1134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6C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4096198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19" r="0" b="-121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4" y="4958353"/>
            <a:ext cx="456232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Markov Property Preserved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4" y="5504707"/>
            <a:ext cx="4659363" cy="237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next hidden state depends only on the current hidden state, maintaining the fundamental memoryless property of Markov chains.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16443" y="3564579"/>
            <a:ext cx="5254971" cy="4610843"/>
            <a:chOff x="0" y="0"/>
            <a:chExt cx="7006628" cy="61477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6993890" cy="6135116"/>
            </a:xfrm>
            <a:custGeom>
              <a:avLst/>
              <a:gdLst/>
              <a:ahLst/>
              <a:cxnLst/>
              <a:rect r="r" b="b" t="t" l="l"/>
              <a:pathLst>
                <a:path h="6135116" w="6993890">
                  <a:moveTo>
                    <a:pt x="0" y="567055"/>
                  </a:moveTo>
                  <a:cubicBezTo>
                    <a:pt x="0" y="253873"/>
                    <a:pt x="254000" y="0"/>
                    <a:pt x="567182" y="0"/>
                  </a:cubicBezTo>
                  <a:lnTo>
                    <a:pt x="6426708" y="0"/>
                  </a:lnTo>
                  <a:cubicBezTo>
                    <a:pt x="6740017" y="0"/>
                    <a:pt x="6993890" y="253873"/>
                    <a:pt x="6993890" y="567055"/>
                  </a:cubicBezTo>
                  <a:lnTo>
                    <a:pt x="6993890" y="5568061"/>
                  </a:lnTo>
                  <a:cubicBezTo>
                    <a:pt x="6993890" y="5881243"/>
                    <a:pt x="6739890" y="6135116"/>
                    <a:pt x="6426708" y="6135116"/>
                  </a:cubicBezTo>
                  <a:lnTo>
                    <a:pt x="567182" y="6135116"/>
                  </a:lnTo>
                  <a:cubicBezTo>
                    <a:pt x="254000" y="6135116"/>
                    <a:pt x="0" y="5881243"/>
                    <a:pt x="0" y="5568061"/>
                  </a:cubicBezTo>
                  <a:close/>
                </a:path>
              </a:pathLst>
            </a:custGeom>
            <a:solidFill>
              <a:srgbClr val="626C3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06590" cy="6147816"/>
            </a:xfrm>
            <a:custGeom>
              <a:avLst/>
              <a:gdLst/>
              <a:ahLst/>
              <a:cxnLst/>
              <a:rect r="r" b="b" t="t" l="l"/>
              <a:pathLst>
                <a:path h="6147816" w="7006590">
                  <a:moveTo>
                    <a:pt x="0" y="573405"/>
                  </a:moveTo>
                  <a:cubicBezTo>
                    <a:pt x="0" y="256667"/>
                    <a:pt x="256794" y="0"/>
                    <a:pt x="573532" y="0"/>
                  </a:cubicBezTo>
                  <a:lnTo>
                    <a:pt x="6433058" y="0"/>
                  </a:lnTo>
                  <a:lnTo>
                    <a:pt x="6433058" y="6350"/>
                  </a:lnTo>
                  <a:lnTo>
                    <a:pt x="6433058" y="0"/>
                  </a:lnTo>
                  <a:cubicBezTo>
                    <a:pt x="6749796" y="0"/>
                    <a:pt x="7006590" y="256667"/>
                    <a:pt x="7006590" y="573405"/>
                  </a:cubicBezTo>
                  <a:lnTo>
                    <a:pt x="7000240" y="573405"/>
                  </a:lnTo>
                  <a:lnTo>
                    <a:pt x="7006590" y="573405"/>
                  </a:lnTo>
                  <a:lnTo>
                    <a:pt x="7006590" y="5574411"/>
                  </a:lnTo>
                  <a:lnTo>
                    <a:pt x="7000240" y="5574411"/>
                  </a:lnTo>
                  <a:lnTo>
                    <a:pt x="7006590" y="5574411"/>
                  </a:lnTo>
                  <a:cubicBezTo>
                    <a:pt x="7006590" y="5891149"/>
                    <a:pt x="6749796" y="6147816"/>
                    <a:pt x="6433058" y="6147816"/>
                  </a:cubicBezTo>
                  <a:lnTo>
                    <a:pt x="6433058" y="6141466"/>
                  </a:lnTo>
                  <a:lnTo>
                    <a:pt x="6433058" y="6147816"/>
                  </a:lnTo>
                  <a:lnTo>
                    <a:pt x="573532" y="6147816"/>
                  </a:lnTo>
                  <a:lnTo>
                    <a:pt x="573532" y="6141466"/>
                  </a:lnTo>
                  <a:lnTo>
                    <a:pt x="573532" y="6147816"/>
                  </a:lnTo>
                  <a:cubicBezTo>
                    <a:pt x="256794" y="6147816"/>
                    <a:pt x="0" y="5891022"/>
                    <a:pt x="0" y="5574411"/>
                  </a:cubicBezTo>
                  <a:lnTo>
                    <a:pt x="0" y="573405"/>
                  </a:lnTo>
                  <a:lnTo>
                    <a:pt x="6350" y="573405"/>
                  </a:lnTo>
                  <a:lnTo>
                    <a:pt x="0" y="573405"/>
                  </a:lnTo>
                  <a:moveTo>
                    <a:pt x="12700" y="573405"/>
                  </a:moveTo>
                  <a:lnTo>
                    <a:pt x="12700" y="5574411"/>
                  </a:lnTo>
                  <a:lnTo>
                    <a:pt x="6350" y="5574411"/>
                  </a:lnTo>
                  <a:lnTo>
                    <a:pt x="12700" y="5574411"/>
                  </a:lnTo>
                  <a:cubicBezTo>
                    <a:pt x="12700" y="5884037"/>
                    <a:pt x="263779" y="6135116"/>
                    <a:pt x="573532" y="6135116"/>
                  </a:cubicBezTo>
                  <a:lnTo>
                    <a:pt x="6433058" y="6135116"/>
                  </a:lnTo>
                  <a:cubicBezTo>
                    <a:pt x="6742811" y="6135116"/>
                    <a:pt x="6993890" y="5884037"/>
                    <a:pt x="6993890" y="5574411"/>
                  </a:cubicBezTo>
                  <a:lnTo>
                    <a:pt x="6993890" y="573405"/>
                  </a:lnTo>
                  <a:cubicBezTo>
                    <a:pt x="6993890" y="263779"/>
                    <a:pt x="6742811" y="12700"/>
                    <a:pt x="6433058" y="12700"/>
                  </a:cubicBezTo>
                  <a:lnTo>
                    <a:pt x="573532" y="12700"/>
                  </a:lnTo>
                  <a:lnTo>
                    <a:pt x="573532" y="6350"/>
                  </a:lnTo>
                  <a:lnTo>
                    <a:pt x="573532" y="12700"/>
                  </a:lnTo>
                  <a:cubicBezTo>
                    <a:pt x="263779" y="12700"/>
                    <a:pt x="12700" y="263779"/>
                    <a:pt x="12700" y="573405"/>
                  </a:cubicBezTo>
                  <a:close/>
                </a:path>
              </a:pathLst>
            </a:custGeom>
            <a:solidFill>
              <a:srgbClr val="83792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814242" y="3862388"/>
            <a:ext cx="850554" cy="850554"/>
            <a:chOff x="0" y="0"/>
            <a:chExt cx="1134072" cy="1134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3792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7048205" y="4096198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3414" t="0" r="-13414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814242" y="4958353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States Are Hidden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14242" y="5504707"/>
            <a:ext cx="4659363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Unlike standard Markov Models, the underlying states cannot be directly measured or observed by an external observer.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45401" y="3564579"/>
            <a:ext cx="5254971" cy="4610843"/>
            <a:chOff x="0" y="0"/>
            <a:chExt cx="7006628" cy="61477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6993890" cy="6135116"/>
            </a:xfrm>
            <a:custGeom>
              <a:avLst/>
              <a:gdLst/>
              <a:ahLst/>
              <a:cxnLst/>
              <a:rect r="r" b="b" t="t" l="l"/>
              <a:pathLst>
                <a:path h="6135116" w="6993890">
                  <a:moveTo>
                    <a:pt x="0" y="567055"/>
                  </a:moveTo>
                  <a:cubicBezTo>
                    <a:pt x="0" y="253873"/>
                    <a:pt x="254000" y="0"/>
                    <a:pt x="567182" y="0"/>
                  </a:cubicBezTo>
                  <a:lnTo>
                    <a:pt x="6426708" y="0"/>
                  </a:lnTo>
                  <a:cubicBezTo>
                    <a:pt x="6740017" y="0"/>
                    <a:pt x="6993890" y="253873"/>
                    <a:pt x="6993890" y="567055"/>
                  </a:cubicBezTo>
                  <a:lnTo>
                    <a:pt x="6993890" y="5568061"/>
                  </a:lnTo>
                  <a:cubicBezTo>
                    <a:pt x="6993890" y="5881243"/>
                    <a:pt x="6739890" y="6135116"/>
                    <a:pt x="6426708" y="6135116"/>
                  </a:cubicBezTo>
                  <a:lnTo>
                    <a:pt x="567182" y="6135116"/>
                  </a:lnTo>
                  <a:cubicBezTo>
                    <a:pt x="254000" y="6135116"/>
                    <a:pt x="0" y="5881243"/>
                    <a:pt x="0" y="5568061"/>
                  </a:cubicBezTo>
                  <a:close/>
                </a:path>
              </a:pathLst>
            </a:custGeom>
            <a:solidFill>
              <a:srgbClr val="626C3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06590" cy="6147816"/>
            </a:xfrm>
            <a:custGeom>
              <a:avLst/>
              <a:gdLst/>
              <a:ahLst/>
              <a:cxnLst/>
              <a:rect r="r" b="b" t="t" l="l"/>
              <a:pathLst>
                <a:path h="6147816" w="7006590">
                  <a:moveTo>
                    <a:pt x="0" y="573405"/>
                  </a:moveTo>
                  <a:cubicBezTo>
                    <a:pt x="0" y="256667"/>
                    <a:pt x="256794" y="0"/>
                    <a:pt x="573532" y="0"/>
                  </a:cubicBezTo>
                  <a:lnTo>
                    <a:pt x="6433058" y="0"/>
                  </a:lnTo>
                  <a:lnTo>
                    <a:pt x="6433058" y="6350"/>
                  </a:lnTo>
                  <a:lnTo>
                    <a:pt x="6433058" y="0"/>
                  </a:lnTo>
                  <a:cubicBezTo>
                    <a:pt x="6749796" y="0"/>
                    <a:pt x="7006590" y="256667"/>
                    <a:pt x="7006590" y="573405"/>
                  </a:cubicBezTo>
                  <a:lnTo>
                    <a:pt x="7000240" y="573405"/>
                  </a:lnTo>
                  <a:lnTo>
                    <a:pt x="7006590" y="573405"/>
                  </a:lnTo>
                  <a:lnTo>
                    <a:pt x="7006590" y="5574411"/>
                  </a:lnTo>
                  <a:lnTo>
                    <a:pt x="7000240" y="5574411"/>
                  </a:lnTo>
                  <a:lnTo>
                    <a:pt x="7006590" y="5574411"/>
                  </a:lnTo>
                  <a:cubicBezTo>
                    <a:pt x="7006590" y="5891149"/>
                    <a:pt x="6749796" y="6147816"/>
                    <a:pt x="6433058" y="6147816"/>
                  </a:cubicBezTo>
                  <a:lnTo>
                    <a:pt x="6433058" y="6141466"/>
                  </a:lnTo>
                  <a:lnTo>
                    <a:pt x="6433058" y="6147816"/>
                  </a:lnTo>
                  <a:lnTo>
                    <a:pt x="573532" y="6147816"/>
                  </a:lnTo>
                  <a:lnTo>
                    <a:pt x="573532" y="6141466"/>
                  </a:lnTo>
                  <a:lnTo>
                    <a:pt x="573532" y="6147816"/>
                  </a:lnTo>
                  <a:cubicBezTo>
                    <a:pt x="256794" y="6147816"/>
                    <a:pt x="0" y="5891022"/>
                    <a:pt x="0" y="5574411"/>
                  </a:cubicBezTo>
                  <a:lnTo>
                    <a:pt x="0" y="573405"/>
                  </a:lnTo>
                  <a:lnTo>
                    <a:pt x="6350" y="573405"/>
                  </a:lnTo>
                  <a:lnTo>
                    <a:pt x="0" y="573405"/>
                  </a:lnTo>
                  <a:moveTo>
                    <a:pt x="12700" y="573405"/>
                  </a:moveTo>
                  <a:lnTo>
                    <a:pt x="12700" y="5574411"/>
                  </a:lnTo>
                  <a:lnTo>
                    <a:pt x="6350" y="5574411"/>
                  </a:lnTo>
                  <a:lnTo>
                    <a:pt x="12700" y="5574411"/>
                  </a:lnTo>
                  <a:cubicBezTo>
                    <a:pt x="12700" y="5884037"/>
                    <a:pt x="263779" y="6135116"/>
                    <a:pt x="573532" y="6135116"/>
                  </a:cubicBezTo>
                  <a:lnTo>
                    <a:pt x="6433058" y="6135116"/>
                  </a:lnTo>
                  <a:cubicBezTo>
                    <a:pt x="6742811" y="6135116"/>
                    <a:pt x="6993890" y="5884037"/>
                    <a:pt x="6993890" y="5574411"/>
                  </a:cubicBezTo>
                  <a:lnTo>
                    <a:pt x="6993890" y="573405"/>
                  </a:lnTo>
                  <a:cubicBezTo>
                    <a:pt x="6993890" y="263779"/>
                    <a:pt x="6742811" y="12700"/>
                    <a:pt x="6433058" y="12700"/>
                  </a:cubicBezTo>
                  <a:lnTo>
                    <a:pt x="573532" y="12700"/>
                  </a:lnTo>
                  <a:lnTo>
                    <a:pt x="573532" y="6350"/>
                  </a:lnTo>
                  <a:lnTo>
                    <a:pt x="573532" y="12700"/>
                  </a:lnTo>
                  <a:cubicBezTo>
                    <a:pt x="263779" y="12700"/>
                    <a:pt x="12700" y="263779"/>
                    <a:pt x="12700" y="573405"/>
                  </a:cubicBezTo>
                  <a:close/>
                </a:path>
              </a:pathLst>
            </a:custGeom>
            <a:solidFill>
              <a:srgbClr val="E8AF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3209" y="3862388"/>
            <a:ext cx="850554" cy="850554"/>
            <a:chOff x="0" y="0"/>
            <a:chExt cx="1134072" cy="1134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8AF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2577172" y="4096198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4145" t="0" r="-34145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43209" y="4958353"/>
            <a:ext cx="4101856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Observations Are Visible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3209" y="5504707"/>
            <a:ext cx="4659363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We can only see the outputs or emissions that the hidden states produce, which provide indirect evidence about the system.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94437"/>
            <a:ext cx="11545786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Four Core Components of an HMM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157985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706568"/>
            <a:ext cx="8009934" cy="38100"/>
            <a:chOff x="0" y="0"/>
            <a:chExt cx="10679913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26C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88635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Hidden States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432697"/>
            <a:ext cx="800993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The actual conditions of the system that change over time following the Markov property but remain unobservable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5684" y="3157985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85684" y="3706568"/>
            <a:ext cx="8010077" cy="38100"/>
            <a:chOff x="0" y="0"/>
            <a:chExt cx="10680103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3792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285684" y="388635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Observations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85684" y="4432697"/>
            <a:ext cx="8010077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The measurable outputs generated by hidden states that we use to infer the underlying system behavior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5835996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6384579"/>
            <a:ext cx="8009934" cy="38100"/>
            <a:chOff x="0" y="0"/>
            <a:chExt cx="10679913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8AF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92238" y="6564363"/>
            <a:ext cx="3972516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Transition Probabilities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7110708"/>
            <a:ext cx="800993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The likelihood of moving from one hidden state to another, captured in a transition matrix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5684" y="5835996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85684" y="6384579"/>
            <a:ext cx="8010077" cy="38100"/>
            <a:chOff x="0" y="0"/>
            <a:chExt cx="10680103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C914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285684" y="6564363"/>
            <a:ext cx="376743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Emission Probabilities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85684" y="7110708"/>
            <a:ext cx="8010077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The probability that a particular hidden state produces a specific observation, linking states to outputs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65464"/>
            <a:ext cx="999797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Hidden States &amp; Observations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879209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Hidden States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627664"/>
            <a:ext cx="7805890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These represent the </a:t>
            </a:r>
            <a:r>
              <a:rPr lang="en-US" sz="2187">
                <a:solidFill>
                  <a:srgbClr val="835E54"/>
                </a:solidFill>
                <a:latin typeface="Arimo"/>
                <a:ea typeface="Arimo"/>
                <a:cs typeface="Arimo"/>
                <a:sym typeface="Arimo"/>
              </a:rPr>
              <a:t>internal conditions</a:t>
            </a: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of the system that evolve over time. They follow the Markov property but cannot be directly measured.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243637"/>
            <a:ext cx="7805890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Speech Example:</a:t>
            </a: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Phonemes like /ba/, /da/, /ka/ are hidden states—internal speech units that cannot be directly observed but drive what we hear.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3879209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Observations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397" y="4627664"/>
            <a:ext cx="7805890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These are the </a:t>
            </a:r>
            <a:r>
              <a:rPr lang="en-US" sz="2187">
                <a:solidFill>
                  <a:srgbClr val="835E54"/>
                </a:solidFill>
                <a:latin typeface="Arimo"/>
                <a:ea typeface="Arimo"/>
                <a:cs typeface="Arimo"/>
                <a:sym typeface="Arimo"/>
              </a:rPr>
              <a:t>measurable outputs</a:t>
            </a: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we can actually detect. They are generated by hidden states and serve as our window into the system.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9397" y="6243637"/>
            <a:ext cx="7805890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Speech Example:</a:t>
            </a: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Sound waves, frequency patterns, and audio signals captured by a microphone are the observable manifestations of hidden phonemes.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973904"/>
            <a:ext cx="118888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Transition &amp; Emission Probabilities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3465014"/>
            <a:ext cx="8048034" cy="4809973"/>
            <a:chOff x="0" y="0"/>
            <a:chExt cx="10730713" cy="64132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679938" cy="6362573"/>
            </a:xfrm>
            <a:custGeom>
              <a:avLst/>
              <a:gdLst/>
              <a:ahLst/>
              <a:cxnLst/>
              <a:rect r="r" b="b" t="t" l="l"/>
              <a:pathLst>
                <a:path h="6362573" w="10679938">
                  <a:moveTo>
                    <a:pt x="0" y="243840"/>
                  </a:moveTo>
                  <a:cubicBezTo>
                    <a:pt x="0" y="109220"/>
                    <a:pt x="109474" y="0"/>
                    <a:pt x="244602" y="0"/>
                  </a:cubicBezTo>
                  <a:lnTo>
                    <a:pt x="10435336" y="0"/>
                  </a:lnTo>
                  <a:cubicBezTo>
                    <a:pt x="10570464" y="0"/>
                    <a:pt x="10679938" y="109220"/>
                    <a:pt x="10679938" y="243840"/>
                  </a:cubicBezTo>
                  <a:lnTo>
                    <a:pt x="10679938" y="6118733"/>
                  </a:lnTo>
                  <a:cubicBezTo>
                    <a:pt x="10679938" y="6253353"/>
                    <a:pt x="10570464" y="6362573"/>
                    <a:pt x="10435336" y="6362573"/>
                  </a:cubicBezTo>
                  <a:lnTo>
                    <a:pt x="244602" y="6362573"/>
                  </a:lnTo>
                  <a:cubicBezTo>
                    <a:pt x="109474" y="6362573"/>
                    <a:pt x="0" y="6253353"/>
                    <a:pt x="0" y="6118733"/>
                  </a:cubicBez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0738" cy="6413373"/>
            </a:xfrm>
            <a:custGeom>
              <a:avLst/>
              <a:gdLst/>
              <a:ahLst/>
              <a:cxnLst/>
              <a:rect r="r" b="b" t="t" l="l"/>
              <a:pathLst>
                <a:path h="6413373" w="10730738">
                  <a:moveTo>
                    <a:pt x="0" y="269240"/>
                  </a:moveTo>
                  <a:cubicBezTo>
                    <a:pt x="0" y="120396"/>
                    <a:pt x="120904" y="0"/>
                    <a:pt x="270002" y="0"/>
                  </a:cubicBezTo>
                  <a:lnTo>
                    <a:pt x="10460736" y="0"/>
                  </a:lnTo>
                  <a:lnTo>
                    <a:pt x="10460736" y="25400"/>
                  </a:lnTo>
                  <a:lnTo>
                    <a:pt x="10460736" y="0"/>
                  </a:lnTo>
                  <a:cubicBezTo>
                    <a:pt x="10609834" y="0"/>
                    <a:pt x="10730738" y="120396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6144133"/>
                  </a:lnTo>
                  <a:lnTo>
                    <a:pt x="10705338" y="6144133"/>
                  </a:lnTo>
                  <a:lnTo>
                    <a:pt x="10730738" y="6144133"/>
                  </a:lnTo>
                  <a:cubicBezTo>
                    <a:pt x="10730738" y="6292850"/>
                    <a:pt x="10609834" y="6413373"/>
                    <a:pt x="10460736" y="6413373"/>
                  </a:cubicBezTo>
                  <a:lnTo>
                    <a:pt x="10460736" y="6387973"/>
                  </a:lnTo>
                  <a:lnTo>
                    <a:pt x="10460736" y="6413373"/>
                  </a:lnTo>
                  <a:lnTo>
                    <a:pt x="270002" y="6413373"/>
                  </a:lnTo>
                  <a:lnTo>
                    <a:pt x="270002" y="6387973"/>
                  </a:lnTo>
                  <a:lnTo>
                    <a:pt x="270002" y="6413373"/>
                  </a:lnTo>
                  <a:cubicBezTo>
                    <a:pt x="120904" y="6413246"/>
                    <a:pt x="0" y="6292850"/>
                    <a:pt x="0" y="614413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6144133"/>
                  </a:lnTo>
                  <a:lnTo>
                    <a:pt x="25400" y="6144133"/>
                  </a:lnTo>
                  <a:lnTo>
                    <a:pt x="50800" y="6144133"/>
                  </a:lnTo>
                  <a:cubicBezTo>
                    <a:pt x="50800" y="6264656"/>
                    <a:pt x="148844" y="6362573"/>
                    <a:pt x="270002" y="6362573"/>
                  </a:cubicBezTo>
                  <a:lnTo>
                    <a:pt x="10460736" y="6362573"/>
                  </a:lnTo>
                  <a:cubicBezTo>
                    <a:pt x="10581894" y="6362573"/>
                    <a:pt x="10679938" y="6264656"/>
                    <a:pt x="10679938" y="6144133"/>
                  </a:cubicBezTo>
                  <a:lnTo>
                    <a:pt x="10679938" y="269240"/>
                  </a:lnTo>
                  <a:cubicBezTo>
                    <a:pt x="10679938" y="148717"/>
                    <a:pt x="10581894" y="50800"/>
                    <a:pt x="10460736" y="50800"/>
                  </a:cubicBezTo>
                  <a:lnTo>
                    <a:pt x="270002" y="50800"/>
                  </a:lnTo>
                  <a:lnTo>
                    <a:pt x="270002" y="25400"/>
                  </a:lnTo>
                  <a:lnTo>
                    <a:pt x="270002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3484064"/>
            <a:ext cx="152400" cy="4771873"/>
            <a:chOff x="0" y="0"/>
            <a:chExt cx="203200" cy="63624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6362446"/>
            </a:xfrm>
            <a:custGeom>
              <a:avLst/>
              <a:gdLst/>
              <a:ahLst/>
              <a:cxnLst/>
              <a:rect r="r" b="b" t="t" l="l"/>
              <a:pathLst>
                <a:path h="6362446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6260846"/>
                  </a:lnTo>
                  <a:cubicBezTo>
                    <a:pt x="203200" y="6316980"/>
                    <a:pt x="157734" y="6362446"/>
                    <a:pt x="101600" y="6362446"/>
                  </a:cubicBezTo>
                  <a:cubicBezTo>
                    <a:pt x="45466" y="6362446"/>
                    <a:pt x="0" y="6316980"/>
                    <a:pt x="0" y="6260846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9" y="3767585"/>
            <a:ext cx="3972516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Transition Probabilities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9" y="4313930"/>
            <a:ext cx="7252392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Define the likelihood of moving from one hidden state to another, encoding the temporal dynamics of the system.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159" y="5844931"/>
            <a:ext cx="725239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Key characteristic:</a:t>
            </a: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Stored in a transition matrix that represents state-to-state 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8159" y="6922294"/>
            <a:ext cx="725239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Example:</a:t>
            </a: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In speech, the probability that phoneme /b/ is followed by /a/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66634" y="3465014"/>
            <a:ext cx="8048177" cy="4809973"/>
            <a:chOff x="0" y="0"/>
            <a:chExt cx="10730903" cy="64132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10680065" cy="6362573"/>
            </a:xfrm>
            <a:custGeom>
              <a:avLst/>
              <a:gdLst/>
              <a:ahLst/>
              <a:cxnLst/>
              <a:rect r="r" b="b" t="t" l="l"/>
              <a:pathLst>
                <a:path h="6362573" w="10680065">
                  <a:moveTo>
                    <a:pt x="0" y="243840"/>
                  </a:moveTo>
                  <a:cubicBezTo>
                    <a:pt x="0" y="109220"/>
                    <a:pt x="109474" y="0"/>
                    <a:pt x="244602" y="0"/>
                  </a:cubicBezTo>
                  <a:lnTo>
                    <a:pt x="10435463" y="0"/>
                  </a:lnTo>
                  <a:cubicBezTo>
                    <a:pt x="10570591" y="0"/>
                    <a:pt x="10680065" y="109220"/>
                    <a:pt x="10680065" y="243840"/>
                  </a:cubicBezTo>
                  <a:lnTo>
                    <a:pt x="10680065" y="6118733"/>
                  </a:lnTo>
                  <a:cubicBezTo>
                    <a:pt x="10680065" y="6253353"/>
                    <a:pt x="10570591" y="6362573"/>
                    <a:pt x="10435463" y="6362573"/>
                  </a:cubicBezTo>
                  <a:lnTo>
                    <a:pt x="244602" y="6362573"/>
                  </a:lnTo>
                  <a:cubicBezTo>
                    <a:pt x="109474" y="6362573"/>
                    <a:pt x="0" y="6253353"/>
                    <a:pt x="0" y="6118733"/>
                  </a:cubicBez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30865" cy="6413373"/>
            </a:xfrm>
            <a:custGeom>
              <a:avLst/>
              <a:gdLst/>
              <a:ahLst/>
              <a:cxnLst/>
              <a:rect r="r" b="b" t="t" l="l"/>
              <a:pathLst>
                <a:path h="6413373" w="10730865">
                  <a:moveTo>
                    <a:pt x="0" y="269240"/>
                  </a:moveTo>
                  <a:cubicBezTo>
                    <a:pt x="0" y="120396"/>
                    <a:pt x="120904" y="0"/>
                    <a:pt x="270002" y="0"/>
                  </a:cubicBezTo>
                  <a:lnTo>
                    <a:pt x="10460863" y="0"/>
                  </a:lnTo>
                  <a:lnTo>
                    <a:pt x="10460863" y="25400"/>
                  </a:lnTo>
                  <a:lnTo>
                    <a:pt x="10460863" y="0"/>
                  </a:lnTo>
                  <a:cubicBezTo>
                    <a:pt x="10609961" y="0"/>
                    <a:pt x="10730865" y="120396"/>
                    <a:pt x="10730865" y="269240"/>
                  </a:cubicBezTo>
                  <a:lnTo>
                    <a:pt x="10705465" y="269240"/>
                  </a:lnTo>
                  <a:lnTo>
                    <a:pt x="10730865" y="269240"/>
                  </a:lnTo>
                  <a:lnTo>
                    <a:pt x="10730865" y="6144133"/>
                  </a:lnTo>
                  <a:lnTo>
                    <a:pt x="10705465" y="6144133"/>
                  </a:lnTo>
                  <a:lnTo>
                    <a:pt x="10730865" y="6144133"/>
                  </a:lnTo>
                  <a:cubicBezTo>
                    <a:pt x="10730865" y="6292850"/>
                    <a:pt x="10609961" y="6413373"/>
                    <a:pt x="10460863" y="6413373"/>
                  </a:cubicBezTo>
                  <a:lnTo>
                    <a:pt x="10460863" y="6387973"/>
                  </a:lnTo>
                  <a:lnTo>
                    <a:pt x="10460863" y="6413373"/>
                  </a:lnTo>
                  <a:lnTo>
                    <a:pt x="270002" y="6413373"/>
                  </a:lnTo>
                  <a:lnTo>
                    <a:pt x="270002" y="6387973"/>
                  </a:lnTo>
                  <a:lnTo>
                    <a:pt x="270002" y="6413373"/>
                  </a:lnTo>
                  <a:cubicBezTo>
                    <a:pt x="120904" y="6413246"/>
                    <a:pt x="0" y="6292850"/>
                    <a:pt x="0" y="614413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6144133"/>
                  </a:lnTo>
                  <a:lnTo>
                    <a:pt x="25400" y="6144133"/>
                  </a:lnTo>
                  <a:lnTo>
                    <a:pt x="50800" y="6144133"/>
                  </a:lnTo>
                  <a:cubicBezTo>
                    <a:pt x="50800" y="6264656"/>
                    <a:pt x="148844" y="6362573"/>
                    <a:pt x="270002" y="6362573"/>
                  </a:cubicBezTo>
                  <a:lnTo>
                    <a:pt x="10460863" y="6362573"/>
                  </a:lnTo>
                  <a:cubicBezTo>
                    <a:pt x="10582021" y="6362573"/>
                    <a:pt x="10680065" y="6264656"/>
                    <a:pt x="10680065" y="6144133"/>
                  </a:cubicBezTo>
                  <a:lnTo>
                    <a:pt x="10680065" y="269240"/>
                  </a:lnTo>
                  <a:cubicBezTo>
                    <a:pt x="10680065" y="148717"/>
                    <a:pt x="10582021" y="50800"/>
                    <a:pt x="10460863" y="50800"/>
                  </a:cubicBezTo>
                  <a:lnTo>
                    <a:pt x="270002" y="50800"/>
                  </a:lnTo>
                  <a:lnTo>
                    <a:pt x="270002" y="25400"/>
                  </a:lnTo>
                  <a:lnTo>
                    <a:pt x="270002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9907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247584" y="3484064"/>
            <a:ext cx="152400" cy="4771873"/>
            <a:chOff x="0" y="0"/>
            <a:chExt cx="203200" cy="63624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200" cy="6362446"/>
            </a:xfrm>
            <a:custGeom>
              <a:avLst/>
              <a:gdLst/>
              <a:ahLst/>
              <a:cxnLst/>
              <a:rect r="r" b="b" t="t" l="l"/>
              <a:pathLst>
                <a:path h="6362446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6260846"/>
                  </a:lnTo>
                  <a:cubicBezTo>
                    <a:pt x="203200" y="6316980"/>
                    <a:pt x="157734" y="6362446"/>
                    <a:pt x="101600" y="6362446"/>
                  </a:cubicBezTo>
                  <a:cubicBezTo>
                    <a:pt x="45466" y="6362446"/>
                    <a:pt x="0" y="6316980"/>
                    <a:pt x="0" y="6260846"/>
                  </a:cubicBezTo>
                  <a:close/>
                </a:path>
              </a:pathLst>
            </a:custGeom>
            <a:solidFill>
              <a:srgbClr val="C9907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721606" y="3767585"/>
            <a:ext cx="376743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Emission Probabilities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21606" y="4313930"/>
            <a:ext cx="7252545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Define the probability that a hidden state produces a particular observation, connecting internal states to external measurements.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21606" y="5844931"/>
            <a:ext cx="725254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Key characteristic:</a:t>
            </a: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Bridge between hidden states and observable outputs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21606" y="6922294"/>
            <a:ext cx="725254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Example:</a:t>
            </a: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Probability that phoneme /ba/ generates a specific sound pattern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7200900" cy="10287000"/>
          </a:xfrm>
          <a:custGeom>
            <a:avLst/>
            <a:gdLst/>
            <a:ahLst/>
            <a:cxnLst/>
            <a:rect r="r" b="b" t="t" l="l"/>
            <a:pathLst>
              <a:path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48870" y="1454048"/>
            <a:ext cx="8473831" cy="74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3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Speech Recognition with HMMs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7648870" y="2537222"/>
            <a:ext cx="1129903" cy="1663151"/>
          </a:xfrm>
          <a:custGeom>
            <a:avLst/>
            <a:gdLst/>
            <a:ahLst/>
            <a:cxnLst/>
            <a:rect r="r" b="b" t="t" l="l"/>
            <a:pathLst>
              <a:path h="1663151" w="1129903">
                <a:moveTo>
                  <a:pt x="0" y="0"/>
                </a:moveTo>
                <a:lnTo>
                  <a:pt x="1129903" y="0"/>
                </a:lnTo>
                <a:lnTo>
                  <a:pt x="1129903" y="1663151"/>
                </a:lnTo>
                <a:lnTo>
                  <a:pt x="0" y="1663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" t="0" r="-45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004697" y="2734570"/>
            <a:ext cx="3393129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Hidden States: Phonemes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04697" y="3156499"/>
            <a:ext cx="8492433" cy="81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Basic speech sounds like /b/, /a/, /d/ that combine to form words but cannot be directly observed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7648870" y="4200373"/>
            <a:ext cx="1129903" cy="1355827"/>
          </a:xfrm>
          <a:custGeom>
            <a:avLst/>
            <a:gdLst/>
            <a:ahLst/>
            <a:cxnLst/>
            <a:rect r="r" b="b" t="t" l="l"/>
            <a:pathLst>
              <a:path h="1355827" w="1129903">
                <a:moveTo>
                  <a:pt x="0" y="0"/>
                </a:moveTo>
                <a:lnTo>
                  <a:pt x="1129903" y="0"/>
                </a:lnTo>
                <a:lnTo>
                  <a:pt x="1129903" y="1355826"/>
                </a:lnTo>
                <a:lnTo>
                  <a:pt x="0" y="1355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9" t="0" r="-279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004697" y="4397721"/>
            <a:ext cx="3716979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Observations: Audio Signals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04697" y="4819650"/>
            <a:ext cx="8492433" cy="45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Sound waves captured by a microphone—the only data we can actually measure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7648870" y="5556199"/>
            <a:ext cx="1129903" cy="1663151"/>
          </a:xfrm>
          <a:custGeom>
            <a:avLst/>
            <a:gdLst/>
            <a:ahLst/>
            <a:cxnLst/>
            <a:rect r="r" b="b" t="t" l="l"/>
            <a:pathLst>
              <a:path h="1663151" w="1129903">
                <a:moveTo>
                  <a:pt x="0" y="0"/>
                </a:moveTo>
                <a:lnTo>
                  <a:pt x="1129903" y="0"/>
                </a:lnTo>
                <a:lnTo>
                  <a:pt x="1129903" y="1663151"/>
                </a:lnTo>
                <a:lnTo>
                  <a:pt x="0" y="16631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" t="0" r="-45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004697" y="5753548"/>
            <a:ext cx="2824753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Inference Process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04697" y="6175477"/>
            <a:ext cx="8492433" cy="81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HMM works backwards from observed audio to estimate the most probable sequence of phonemes that produced those sounds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648870" y="7473553"/>
            <a:ext cx="9848259" cy="1321298"/>
            <a:chOff x="0" y="0"/>
            <a:chExt cx="13131013" cy="17617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31037" cy="1761744"/>
            </a:xfrm>
            <a:custGeom>
              <a:avLst/>
              <a:gdLst/>
              <a:ahLst/>
              <a:cxnLst/>
              <a:rect r="r" b="b" t="t" l="l"/>
              <a:pathLst>
                <a:path h="1761744" w="13131037">
                  <a:moveTo>
                    <a:pt x="0" y="451993"/>
                  </a:moveTo>
                  <a:cubicBezTo>
                    <a:pt x="0" y="202311"/>
                    <a:pt x="202311" y="0"/>
                    <a:pt x="451993" y="0"/>
                  </a:cubicBezTo>
                  <a:lnTo>
                    <a:pt x="12679045" y="0"/>
                  </a:lnTo>
                  <a:cubicBezTo>
                    <a:pt x="12928727" y="0"/>
                    <a:pt x="13131037" y="202311"/>
                    <a:pt x="13131037" y="451993"/>
                  </a:cubicBezTo>
                  <a:lnTo>
                    <a:pt x="13131037" y="1309751"/>
                  </a:lnTo>
                  <a:cubicBezTo>
                    <a:pt x="13131037" y="1559433"/>
                    <a:pt x="12928727" y="1761744"/>
                    <a:pt x="12679045" y="1761744"/>
                  </a:cubicBezTo>
                  <a:lnTo>
                    <a:pt x="451993" y="1761744"/>
                  </a:lnTo>
                  <a:cubicBezTo>
                    <a:pt x="202311" y="1761744"/>
                    <a:pt x="0" y="1559306"/>
                    <a:pt x="0" y="1309751"/>
                  </a:cubicBezTo>
                  <a:close/>
                </a:path>
              </a:pathLst>
            </a:custGeom>
            <a:solidFill>
              <a:srgbClr val="DFE4C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7874794" y="7805738"/>
            <a:ext cx="282473" cy="225923"/>
          </a:xfrm>
          <a:custGeom>
            <a:avLst/>
            <a:gdLst/>
            <a:ahLst/>
            <a:cxnLst/>
            <a:rect r="r" b="b" t="t" l="l"/>
            <a:pathLst>
              <a:path h="225923" w="282473">
                <a:moveTo>
                  <a:pt x="0" y="0"/>
                </a:moveTo>
                <a:lnTo>
                  <a:pt x="282473" y="0"/>
                </a:lnTo>
                <a:lnTo>
                  <a:pt x="282473" y="225923"/>
                </a:lnTo>
                <a:lnTo>
                  <a:pt x="0" y="2259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2" r="0" b="-12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383191" y="7660634"/>
            <a:ext cx="8888016" cy="81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power of HMMs lies in this backward inference: from observable audio signals to probable hidden phoneme sequences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17524" y="663778"/>
            <a:ext cx="7579814" cy="87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Real-World Applications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17524" y="2064544"/>
            <a:ext cx="3791398" cy="3791398"/>
          </a:xfrm>
          <a:custGeom>
            <a:avLst/>
            <a:gdLst/>
            <a:ahLst/>
            <a:cxnLst/>
            <a:rect r="r" b="b" t="t" l="l"/>
            <a:pathLst>
              <a:path h="3791398" w="3791398">
                <a:moveTo>
                  <a:pt x="0" y="0"/>
                </a:moveTo>
                <a:lnTo>
                  <a:pt x="3791398" y="0"/>
                </a:lnTo>
                <a:lnTo>
                  <a:pt x="3791398" y="3791397"/>
                </a:lnTo>
                <a:lnTo>
                  <a:pt x="0" y="3791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7524" y="6164609"/>
            <a:ext cx="393353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Handwriting Recognition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7524" y="6664823"/>
            <a:ext cx="5265839" cy="50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Hidden states:</a:t>
            </a:r>
            <a:r>
              <a:rPr lang="en-US" sz="206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Letters (A, B, C…)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7524" y="7241677"/>
            <a:ext cx="5265839" cy="92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Observations:</a:t>
            </a:r>
            <a:r>
              <a:rPr lang="en-US" sz="206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Pen strokes and pixel patterns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7524" y="8238087"/>
            <a:ext cx="5265839" cy="92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HMM predicts which letter was written based on stroke characteristics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6511080" y="2064544"/>
            <a:ext cx="3791398" cy="3791398"/>
          </a:xfrm>
          <a:custGeom>
            <a:avLst/>
            <a:gdLst/>
            <a:ahLst/>
            <a:cxnLst/>
            <a:rect r="r" b="b" t="t" l="l"/>
            <a:pathLst>
              <a:path h="3791398" w="3791398">
                <a:moveTo>
                  <a:pt x="0" y="0"/>
                </a:moveTo>
                <a:lnTo>
                  <a:pt x="3791398" y="0"/>
                </a:lnTo>
                <a:lnTo>
                  <a:pt x="3791398" y="3791397"/>
                </a:lnTo>
                <a:lnTo>
                  <a:pt x="0" y="37913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511080" y="6164609"/>
            <a:ext cx="327719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Bioinformatics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11080" y="6664823"/>
            <a:ext cx="5265839" cy="92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Hidden states:</a:t>
            </a:r>
            <a:r>
              <a:rPr lang="en-US" sz="206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DNA regions (exons, introns)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11080" y="7661224"/>
            <a:ext cx="5265839" cy="92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Observations:</a:t>
            </a:r>
            <a:r>
              <a:rPr lang="en-US" sz="206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Nucleotide sequences (A, T, G, C)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11080" y="8657634"/>
            <a:ext cx="5265839" cy="92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HMM identifies gene structures and protein-coding regions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2104637" y="2064544"/>
            <a:ext cx="3791398" cy="3791398"/>
          </a:xfrm>
          <a:custGeom>
            <a:avLst/>
            <a:gdLst/>
            <a:ahLst/>
            <a:cxnLst/>
            <a:rect r="r" b="b" t="t" l="l"/>
            <a:pathLst>
              <a:path h="3791398" w="3791398">
                <a:moveTo>
                  <a:pt x="0" y="0"/>
                </a:moveTo>
                <a:lnTo>
                  <a:pt x="3791397" y="0"/>
                </a:lnTo>
                <a:lnTo>
                  <a:pt x="3791397" y="3791397"/>
                </a:lnTo>
                <a:lnTo>
                  <a:pt x="0" y="37913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104637" y="6164609"/>
            <a:ext cx="327719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Gesture Recognition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04637" y="6664823"/>
            <a:ext cx="5265839" cy="92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Hidden states:</a:t>
            </a:r>
            <a:r>
              <a:rPr lang="en-US" sz="206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Intended gestures or commands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04637" y="7661224"/>
            <a:ext cx="5265839" cy="92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Observations:</a:t>
            </a:r>
            <a:r>
              <a:rPr lang="en-US" sz="206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Motion sensor data and video frames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04637" y="8657634"/>
            <a:ext cx="5265839" cy="92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HMM interprets physical movements as meaningful actions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56417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Why Use HMMs?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861815"/>
            <a:ext cx="5254971" cy="2569521"/>
            <a:chOff x="0" y="0"/>
            <a:chExt cx="7006628" cy="34260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3413379"/>
            </a:xfrm>
            <a:custGeom>
              <a:avLst/>
              <a:gdLst/>
              <a:ahLst/>
              <a:cxnLst/>
              <a:rect r="r" b="b" t="t" l="l"/>
              <a:pathLst>
                <a:path h="3413379" w="6993890">
                  <a:moveTo>
                    <a:pt x="0" y="567055"/>
                  </a:moveTo>
                  <a:cubicBezTo>
                    <a:pt x="0" y="253873"/>
                    <a:pt x="254381" y="0"/>
                    <a:pt x="568071" y="0"/>
                  </a:cubicBezTo>
                  <a:lnTo>
                    <a:pt x="6425819" y="0"/>
                  </a:lnTo>
                  <a:cubicBezTo>
                    <a:pt x="6739636" y="0"/>
                    <a:pt x="6993890" y="253873"/>
                    <a:pt x="6993890" y="567055"/>
                  </a:cubicBezTo>
                  <a:lnTo>
                    <a:pt x="6993890" y="2846324"/>
                  </a:lnTo>
                  <a:cubicBezTo>
                    <a:pt x="6993890" y="3159506"/>
                    <a:pt x="6739509" y="3413379"/>
                    <a:pt x="6425819" y="3413379"/>
                  </a:cubicBezTo>
                  <a:lnTo>
                    <a:pt x="568071" y="3413379"/>
                  </a:lnTo>
                  <a:cubicBezTo>
                    <a:pt x="254381" y="3413379"/>
                    <a:pt x="0" y="3159506"/>
                    <a:pt x="0" y="2846324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590" cy="3426079"/>
            </a:xfrm>
            <a:custGeom>
              <a:avLst/>
              <a:gdLst/>
              <a:ahLst/>
              <a:cxnLst/>
              <a:rect r="r" b="b" t="t" l="l"/>
              <a:pathLst>
                <a:path h="3426079" w="7006590">
                  <a:moveTo>
                    <a:pt x="0" y="573405"/>
                  </a:moveTo>
                  <a:cubicBezTo>
                    <a:pt x="0" y="256667"/>
                    <a:pt x="257175" y="0"/>
                    <a:pt x="574421" y="0"/>
                  </a:cubicBezTo>
                  <a:lnTo>
                    <a:pt x="6432169" y="0"/>
                  </a:lnTo>
                  <a:lnTo>
                    <a:pt x="6432169" y="6350"/>
                  </a:lnTo>
                  <a:lnTo>
                    <a:pt x="6432169" y="0"/>
                  </a:lnTo>
                  <a:cubicBezTo>
                    <a:pt x="6749415" y="0"/>
                    <a:pt x="7006590" y="256667"/>
                    <a:pt x="7006590" y="573405"/>
                  </a:cubicBezTo>
                  <a:lnTo>
                    <a:pt x="7000240" y="573405"/>
                  </a:lnTo>
                  <a:lnTo>
                    <a:pt x="7006590" y="573405"/>
                  </a:lnTo>
                  <a:lnTo>
                    <a:pt x="7006590" y="2852674"/>
                  </a:lnTo>
                  <a:lnTo>
                    <a:pt x="7000240" y="2852674"/>
                  </a:lnTo>
                  <a:lnTo>
                    <a:pt x="7006590" y="2852674"/>
                  </a:lnTo>
                  <a:cubicBezTo>
                    <a:pt x="7006590" y="3169412"/>
                    <a:pt x="6749415" y="3426079"/>
                    <a:pt x="6432169" y="3426079"/>
                  </a:cubicBezTo>
                  <a:lnTo>
                    <a:pt x="6432169" y="3419729"/>
                  </a:lnTo>
                  <a:lnTo>
                    <a:pt x="6432169" y="3426079"/>
                  </a:lnTo>
                  <a:lnTo>
                    <a:pt x="574421" y="3426079"/>
                  </a:lnTo>
                  <a:lnTo>
                    <a:pt x="574421" y="3419729"/>
                  </a:lnTo>
                  <a:lnTo>
                    <a:pt x="574421" y="3426079"/>
                  </a:lnTo>
                  <a:cubicBezTo>
                    <a:pt x="257175" y="3426079"/>
                    <a:pt x="0" y="3169285"/>
                    <a:pt x="0" y="2852674"/>
                  </a:cubicBezTo>
                  <a:lnTo>
                    <a:pt x="0" y="573405"/>
                  </a:lnTo>
                  <a:lnTo>
                    <a:pt x="6350" y="573405"/>
                  </a:lnTo>
                  <a:lnTo>
                    <a:pt x="0" y="573405"/>
                  </a:lnTo>
                  <a:moveTo>
                    <a:pt x="12700" y="573405"/>
                  </a:moveTo>
                  <a:lnTo>
                    <a:pt x="12700" y="2852674"/>
                  </a:lnTo>
                  <a:lnTo>
                    <a:pt x="6350" y="2852674"/>
                  </a:lnTo>
                  <a:lnTo>
                    <a:pt x="12700" y="2852674"/>
                  </a:lnTo>
                  <a:cubicBezTo>
                    <a:pt x="12700" y="3162300"/>
                    <a:pt x="264160" y="3413379"/>
                    <a:pt x="574421" y="3413379"/>
                  </a:cubicBezTo>
                  <a:lnTo>
                    <a:pt x="6432169" y="3413379"/>
                  </a:lnTo>
                  <a:cubicBezTo>
                    <a:pt x="6742430" y="3413379"/>
                    <a:pt x="6993890" y="3162300"/>
                    <a:pt x="6993890" y="2852674"/>
                  </a:cubicBezTo>
                  <a:lnTo>
                    <a:pt x="6993890" y="573405"/>
                  </a:lnTo>
                  <a:cubicBezTo>
                    <a:pt x="6993890" y="263779"/>
                    <a:pt x="6742430" y="12700"/>
                    <a:pt x="6432169" y="12700"/>
                  </a:cubicBezTo>
                  <a:lnTo>
                    <a:pt x="574421" y="12700"/>
                  </a:lnTo>
                  <a:lnTo>
                    <a:pt x="574421" y="6350"/>
                  </a:lnTo>
                  <a:lnTo>
                    <a:pt x="574421" y="12700"/>
                  </a:lnTo>
                  <a:cubicBezTo>
                    <a:pt x="264160" y="12700"/>
                    <a:pt x="12700" y="263779"/>
                    <a:pt x="12700" y="573405"/>
                  </a:cubicBezTo>
                  <a:close/>
                </a:path>
              </a:pathLst>
            </a:custGeom>
            <a:solidFill>
              <a:srgbClr val="9C776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284" y="3121523"/>
            <a:ext cx="434519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Handles Time-Series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284" y="3667868"/>
            <a:ext cx="465936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Naturally models sequential dependencies where the order of observations matters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6443" y="2861815"/>
            <a:ext cx="5254971" cy="2569521"/>
            <a:chOff x="0" y="0"/>
            <a:chExt cx="7006628" cy="34260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6993890" cy="3413379"/>
            </a:xfrm>
            <a:custGeom>
              <a:avLst/>
              <a:gdLst/>
              <a:ahLst/>
              <a:cxnLst/>
              <a:rect r="r" b="b" t="t" l="l"/>
              <a:pathLst>
                <a:path h="3413379" w="6993890">
                  <a:moveTo>
                    <a:pt x="0" y="567055"/>
                  </a:moveTo>
                  <a:cubicBezTo>
                    <a:pt x="0" y="253873"/>
                    <a:pt x="254381" y="0"/>
                    <a:pt x="568071" y="0"/>
                  </a:cubicBezTo>
                  <a:lnTo>
                    <a:pt x="6425819" y="0"/>
                  </a:lnTo>
                  <a:cubicBezTo>
                    <a:pt x="6739636" y="0"/>
                    <a:pt x="6993890" y="253873"/>
                    <a:pt x="6993890" y="567055"/>
                  </a:cubicBezTo>
                  <a:lnTo>
                    <a:pt x="6993890" y="2846324"/>
                  </a:lnTo>
                  <a:cubicBezTo>
                    <a:pt x="6993890" y="3159506"/>
                    <a:pt x="6739509" y="3413379"/>
                    <a:pt x="6425819" y="3413379"/>
                  </a:cubicBezTo>
                  <a:lnTo>
                    <a:pt x="568071" y="3413379"/>
                  </a:lnTo>
                  <a:cubicBezTo>
                    <a:pt x="254381" y="3413379"/>
                    <a:pt x="0" y="3159506"/>
                    <a:pt x="0" y="2846324"/>
                  </a:cubicBezTo>
                  <a:close/>
                </a:path>
              </a:pathLst>
            </a:custGeom>
            <a:solidFill>
              <a:srgbClr val="C9907C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06590" cy="3426079"/>
            </a:xfrm>
            <a:custGeom>
              <a:avLst/>
              <a:gdLst/>
              <a:ahLst/>
              <a:cxnLst/>
              <a:rect r="r" b="b" t="t" l="l"/>
              <a:pathLst>
                <a:path h="3426079" w="7006590">
                  <a:moveTo>
                    <a:pt x="0" y="573405"/>
                  </a:moveTo>
                  <a:cubicBezTo>
                    <a:pt x="0" y="256667"/>
                    <a:pt x="257175" y="0"/>
                    <a:pt x="574421" y="0"/>
                  </a:cubicBezTo>
                  <a:lnTo>
                    <a:pt x="6432169" y="0"/>
                  </a:lnTo>
                  <a:lnTo>
                    <a:pt x="6432169" y="6350"/>
                  </a:lnTo>
                  <a:lnTo>
                    <a:pt x="6432169" y="0"/>
                  </a:lnTo>
                  <a:cubicBezTo>
                    <a:pt x="6749415" y="0"/>
                    <a:pt x="7006590" y="256667"/>
                    <a:pt x="7006590" y="573405"/>
                  </a:cubicBezTo>
                  <a:lnTo>
                    <a:pt x="7000240" y="573405"/>
                  </a:lnTo>
                  <a:lnTo>
                    <a:pt x="7006590" y="573405"/>
                  </a:lnTo>
                  <a:lnTo>
                    <a:pt x="7006590" y="2852674"/>
                  </a:lnTo>
                  <a:lnTo>
                    <a:pt x="7000240" y="2852674"/>
                  </a:lnTo>
                  <a:lnTo>
                    <a:pt x="7006590" y="2852674"/>
                  </a:lnTo>
                  <a:cubicBezTo>
                    <a:pt x="7006590" y="3169412"/>
                    <a:pt x="6749415" y="3426079"/>
                    <a:pt x="6432169" y="3426079"/>
                  </a:cubicBezTo>
                  <a:lnTo>
                    <a:pt x="6432169" y="3419729"/>
                  </a:lnTo>
                  <a:lnTo>
                    <a:pt x="6432169" y="3426079"/>
                  </a:lnTo>
                  <a:lnTo>
                    <a:pt x="574421" y="3426079"/>
                  </a:lnTo>
                  <a:lnTo>
                    <a:pt x="574421" y="3419729"/>
                  </a:lnTo>
                  <a:lnTo>
                    <a:pt x="574421" y="3426079"/>
                  </a:lnTo>
                  <a:cubicBezTo>
                    <a:pt x="257175" y="3426079"/>
                    <a:pt x="0" y="3169285"/>
                    <a:pt x="0" y="2852674"/>
                  </a:cubicBezTo>
                  <a:lnTo>
                    <a:pt x="0" y="573405"/>
                  </a:lnTo>
                  <a:lnTo>
                    <a:pt x="6350" y="573405"/>
                  </a:lnTo>
                  <a:lnTo>
                    <a:pt x="0" y="573405"/>
                  </a:lnTo>
                  <a:moveTo>
                    <a:pt x="12700" y="573405"/>
                  </a:moveTo>
                  <a:lnTo>
                    <a:pt x="12700" y="2852674"/>
                  </a:lnTo>
                  <a:lnTo>
                    <a:pt x="6350" y="2852674"/>
                  </a:lnTo>
                  <a:lnTo>
                    <a:pt x="12700" y="2852674"/>
                  </a:lnTo>
                  <a:cubicBezTo>
                    <a:pt x="12700" y="3162300"/>
                    <a:pt x="264160" y="3413379"/>
                    <a:pt x="574421" y="3413379"/>
                  </a:cubicBezTo>
                  <a:lnTo>
                    <a:pt x="6432169" y="3413379"/>
                  </a:lnTo>
                  <a:cubicBezTo>
                    <a:pt x="6742430" y="3413379"/>
                    <a:pt x="6993890" y="3162300"/>
                    <a:pt x="6993890" y="2852674"/>
                  </a:cubicBezTo>
                  <a:lnTo>
                    <a:pt x="6993890" y="573405"/>
                  </a:lnTo>
                  <a:cubicBezTo>
                    <a:pt x="6993890" y="263779"/>
                    <a:pt x="6742430" y="12700"/>
                    <a:pt x="6432169" y="12700"/>
                  </a:cubicBezTo>
                  <a:lnTo>
                    <a:pt x="574421" y="12700"/>
                  </a:lnTo>
                  <a:lnTo>
                    <a:pt x="574421" y="6350"/>
                  </a:lnTo>
                  <a:lnTo>
                    <a:pt x="574421" y="12700"/>
                  </a:lnTo>
                  <a:cubicBezTo>
                    <a:pt x="264160" y="12700"/>
                    <a:pt x="12700" y="263779"/>
                    <a:pt x="12700" y="573405"/>
                  </a:cubicBezTo>
                  <a:close/>
                </a:path>
              </a:pathLst>
            </a:custGeom>
            <a:solidFill>
              <a:srgbClr val="AF766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6814242" y="3121523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Models Uncertainty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14242" y="3667868"/>
            <a:ext cx="465936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Probabilistic framework captures noise and variability in real-world data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45401" y="2861815"/>
            <a:ext cx="5254971" cy="2569521"/>
            <a:chOff x="0" y="0"/>
            <a:chExt cx="7006628" cy="34260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6993890" cy="3413379"/>
            </a:xfrm>
            <a:custGeom>
              <a:avLst/>
              <a:gdLst/>
              <a:ahLst/>
              <a:cxnLst/>
              <a:rect r="r" b="b" t="t" l="l"/>
              <a:pathLst>
                <a:path h="3413379" w="6993890">
                  <a:moveTo>
                    <a:pt x="0" y="567055"/>
                  </a:moveTo>
                  <a:cubicBezTo>
                    <a:pt x="0" y="253873"/>
                    <a:pt x="254381" y="0"/>
                    <a:pt x="568071" y="0"/>
                  </a:cubicBezTo>
                  <a:lnTo>
                    <a:pt x="6425819" y="0"/>
                  </a:lnTo>
                  <a:cubicBezTo>
                    <a:pt x="6739636" y="0"/>
                    <a:pt x="6993890" y="253873"/>
                    <a:pt x="6993890" y="567055"/>
                  </a:cubicBezTo>
                  <a:lnTo>
                    <a:pt x="6993890" y="2846324"/>
                  </a:lnTo>
                  <a:cubicBezTo>
                    <a:pt x="6993890" y="3159506"/>
                    <a:pt x="6739509" y="3413379"/>
                    <a:pt x="6425819" y="3413379"/>
                  </a:cubicBezTo>
                  <a:lnTo>
                    <a:pt x="568071" y="3413379"/>
                  </a:lnTo>
                  <a:cubicBezTo>
                    <a:pt x="254381" y="3413379"/>
                    <a:pt x="0" y="3159506"/>
                    <a:pt x="0" y="2846324"/>
                  </a:cubicBezTo>
                  <a:close/>
                </a:path>
              </a:pathLst>
            </a:custGeom>
            <a:solidFill>
              <a:srgbClr val="B3BDB5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06590" cy="3426079"/>
            </a:xfrm>
            <a:custGeom>
              <a:avLst/>
              <a:gdLst/>
              <a:ahLst/>
              <a:cxnLst/>
              <a:rect r="r" b="b" t="t" l="l"/>
              <a:pathLst>
                <a:path h="3426079" w="7006590">
                  <a:moveTo>
                    <a:pt x="0" y="573405"/>
                  </a:moveTo>
                  <a:cubicBezTo>
                    <a:pt x="0" y="256667"/>
                    <a:pt x="257175" y="0"/>
                    <a:pt x="574421" y="0"/>
                  </a:cubicBezTo>
                  <a:lnTo>
                    <a:pt x="6432169" y="0"/>
                  </a:lnTo>
                  <a:lnTo>
                    <a:pt x="6432169" y="6350"/>
                  </a:lnTo>
                  <a:lnTo>
                    <a:pt x="6432169" y="0"/>
                  </a:lnTo>
                  <a:cubicBezTo>
                    <a:pt x="6749415" y="0"/>
                    <a:pt x="7006590" y="256667"/>
                    <a:pt x="7006590" y="573405"/>
                  </a:cubicBezTo>
                  <a:lnTo>
                    <a:pt x="7000240" y="573405"/>
                  </a:lnTo>
                  <a:lnTo>
                    <a:pt x="7006590" y="573405"/>
                  </a:lnTo>
                  <a:lnTo>
                    <a:pt x="7006590" y="2852674"/>
                  </a:lnTo>
                  <a:lnTo>
                    <a:pt x="7000240" y="2852674"/>
                  </a:lnTo>
                  <a:lnTo>
                    <a:pt x="7006590" y="2852674"/>
                  </a:lnTo>
                  <a:cubicBezTo>
                    <a:pt x="7006590" y="3169412"/>
                    <a:pt x="6749415" y="3426079"/>
                    <a:pt x="6432169" y="3426079"/>
                  </a:cubicBezTo>
                  <a:lnTo>
                    <a:pt x="6432169" y="3419729"/>
                  </a:lnTo>
                  <a:lnTo>
                    <a:pt x="6432169" y="3426079"/>
                  </a:lnTo>
                  <a:lnTo>
                    <a:pt x="574421" y="3426079"/>
                  </a:lnTo>
                  <a:lnTo>
                    <a:pt x="574421" y="3419729"/>
                  </a:lnTo>
                  <a:lnTo>
                    <a:pt x="574421" y="3426079"/>
                  </a:lnTo>
                  <a:cubicBezTo>
                    <a:pt x="257175" y="3426079"/>
                    <a:pt x="0" y="3169285"/>
                    <a:pt x="0" y="2852674"/>
                  </a:cubicBezTo>
                  <a:lnTo>
                    <a:pt x="0" y="573405"/>
                  </a:lnTo>
                  <a:lnTo>
                    <a:pt x="6350" y="573405"/>
                  </a:lnTo>
                  <a:lnTo>
                    <a:pt x="0" y="573405"/>
                  </a:lnTo>
                  <a:moveTo>
                    <a:pt x="12700" y="573405"/>
                  </a:moveTo>
                  <a:lnTo>
                    <a:pt x="12700" y="2852674"/>
                  </a:lnTo>
                  <a:lnTo>
                    <a:pt x="6350" y="2852674"/>
                  </a:lnTo>
                  <a:lnTo>
                    <a:pt x="12700" y="2852674"/>
                  </a:lnTo>
                  <a:cubicBezTo>
                    <a:pt x="12700" y="3162300"/>
                    <a:pt x="264160" y="3413379"/>
                    <a:pt x="574421" y="3413379"/>
                  </a:cubicBezTo>
                  <a:lnTo>
                    <a:pt x="6432169" y="3413379"/>
                  </a:lnTo>
                  <a:cubicBezTo>
                    <a:pt x="6742430" y="3413379"/>
                    <a:pt x="6993890" y="3162300"/>
                    <a:pt x="6993890" y="2852674"/>
                  </a:cubicBezTo>
                  <a:lnTo>
                    <a:pt x="6993890" y="573405"/>
                  </a:lnTo>
                  <a:cubicBezTo>
                    <a:pt x="6993890" y="263779"/>
                    <a:pt x="6742430" y="12700"/>
                    <a:pt x="6432169" y="12700"/>
                  </a:cubicBezTo>
                  <a:lnTo>
                    <a:pt x="574421" y="12700"/>
                  </a:lnTo>
                  <a:lnTo>
                    <a:pt x="574421" y="6350"/>
                  </a:lnTo>
                  <a:lnTo>
                    <a:pt x="574421" y="12700"/>
                  </a:lnTo>
                  <a:cubicBezTo>
                    <a:pt x="264160" y="12700"/>
                    <a:pt x="12700" y="263779"/>
                    <a:pt x="12700" y="573405"/>
                  </a:cubicBezTo>
                  <a:close/>
                </a:path>
              </a:pathLst>
            </a:custGeom>
            <a:solidFill>
              <a:srgbClr val="99A39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343209" y="3121523"/>
            <a:ext cx="409233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Invisible State Inference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43209" y="3667868"/>
            <a:ext cx="465936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Powerful when underlying causes cannot be directly measured but must be inferred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238" y="5887231"/>
            <a:ext cx="16303523" cy="44948"/>
            <a:chOff x="0" y="0"/>
            <a:chExt cx="21738031" cy="599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38082" cy="59944"/>
            </a:xfrm>
            <a:custGeom>
              <a:avLst/>
              <a:gdLst/>
              <a:ahLst/>
              <a:cxnLst/>
              <a:rect r="r" b="b" t="t" l="l"/>
              <a:pathLst>
                <a:path h="59944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59944"/>
                  </a:lnTo>
                  <a:lnTo>
                    <a:pt x="0" y="59944"/>
                  </a:lnTo>
                  <a:close/>
                </a:path>
              </a:pathLst>
            </a:custGeom>
            <a:solidFill>
              <a:srgbClr val="40301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92238" y="6319247"/>
            <a:ext cx="4766520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Limitations to Consider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238" y="7209387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Independence assumption:</a:t>
            </a: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Observations are assumed conditionally independent given states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762132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Data requirements:</a:t>
            </a: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Requires substantial training data for accurate parameter estimation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238" y="8314877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Computational cost:</a:t>
            </a: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Inference algorithms can be computationally expensive for large state spaces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15451"/>
            <a:ext cx="8753475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Key Applications of HMMs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950816"/>
            <a:ext cx="5245446" cy="3004242"/>
            <a:chOff x="0" y="0"/>
            <a:chExt cx="6993928" cy="4005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93890" cy="4005707"/>
            </a:xfrm>
            <a:custGeom>
              <a:avLst/>
              <a:gdLst/>
              <a:ahLst/>
              <a:cxnLst/>
              <a:rect r="r" b="b" t="t" l="l"/>
              <a:pathLst>
                <a:path h="4005707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761867"/>
                  </a:lnTo>
                  <a:cubicBezTo>
                    <a:pt x="6993890" y="3896487"/>
                    <a:pt x="6884670" y="4005707"/>
                    <a:pt x="6750050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2912716"/>
            <a:ext cx="5245446" cy="152400"/>
            <a:chOff x="0" y="0"/>
            <a:chExt cx="6993928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626C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189608" y="2525611"/>
            <a:ext cx="850554" cy="850554"/>
            <a:chOff x="0" y="0"/>
            <a:chExt cx="1134072" cy="1134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6C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3444697" y="2614460"/>
            <a:ext cx="340223" cy="54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3859" y="362143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Speech Recognition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859" y="4167778"/>
            <a:ext cx="460221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Converting spoken language into text by modeling phoneme sequences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21206" y="2950816"/>
            <a:ext cx="5245446" cy="3004242"/>
            <a:chOff x="0" y="0"/>
            <a:chExt cx="6993928" cy="40056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93890" cy="4005707"/>
            </a:xfrm>
            <a:custGeom>
              <a:avLst/>
              <a:gdLst/>
              <a:ahLst/>
              <a:cxnLst/>
              <a:rect r="r" b="b" t="t" l="l"/>
              <a:pathLst>
                <a:path h="4005707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761867"/>
                  </a:lnTo>
                  <a:cubicBezTo>
                    <a:pt x="6993890" y="3896487"/>
                    <a:pt x="6884670" y="4005707"/>
                    <a:pt x="6750050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521206" y="2912716"/>
            <a:ext cx="5245446" cy="152400"/>
            <a:chOff x="0" y="0"/>
            <a:chExt cx="6993928" cy="20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83792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718575" y="2525611"/>
            <a:ext cx="850554" cy="850554"/>
            <a:chOff x="0" y="0"/>
            <a:chExt cx="1134072" cy="11340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3792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8973664" y="2614460"/>
            <a:ext cx="340223" cy="54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42817" y="3621434"/>
            <a:ext cx="425350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Handwriting Recognition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42817" y="4167778"/>
            <a:ext cx="460221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Identifying letters and words from stroke patterns and pen movements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50163" y="2950816"/>
            <a:ext cx="5245446" cy="3004242"/>
            <a:chOff x="0" y="0"/>
            <a:chExt cx="6993928" cy="40056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93890" cy="4005707"/>
            </a:xfrm>
            <a:custGeom>
              <a:avLst/>
              <a:gdLst/>
              <a:ahLst/>
              <a:cxnLst/>
              <a:rect r="r" b="b" t="t" l="l"/>
              <a:pathLst>
                <a:path h="4005707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761867"/>
                  </a:lnTo>
                  <a:cubicBezTo>
                    <a:pt x="6993890" y="3896487"/>
                    <a:pt x="6884670" y="4005707"/>
                    <a:pt x="6750050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050163" y="2912716"/>
            <a:ext cx="5245446" cy="152400"/>
            <a:chOff x="0" y="0"/>
            <a:chExt cx="6993928" cy="203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E8AF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4247543" y="2525611"/>
            <a:ext cx="850554" cy="850554"/>
            <a:chOff x="0" y="0"/>
            <a:chExt cx="1134072" cy="1134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8AF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4502632" y="2614460"/>
            <a:ext cx="340223" cy="54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71784" y="362143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Gesture Recognition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71784" y="4167778"/>
            <a:ext cx="460221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Interpreting human movements and gestures as commands or actions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92238" y="6663776"/>
            <a:ext cx="8009934" cy="2550614"/>
            <a:chOff x="0" y="0"/>
            <a:chExt cx="10679913" cy="34008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79938" cy="3400806"/>
            </a:xfrm>
            <a:custGeom>
              <a:avLst/>
              <a:gdLst/>
              <a:ahLst/>
              <a:cxnLst/>
              <a:rect r="r" b="b" t="t" l="l"/>
              <a:pathLst>
                <a:path h="3400806" w="106799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156966"/>
                  </a:lnTo>
                  <a:cubicBezTo>
                    <a:pt x="10679938" y="3291586"/>
                    <a:pt x="10570718" y="3400806"/>
                    <a:pt x="10436098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92238" y="6625676"/>
            <a:ext cx="8009934" cy="152400"/>
            <a:chOff x="0" y="0"/>
            <a:chExt cx="10679913" cy="203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79938" cy="203200"/>
            </a:xfrm>
            <a:custGeom>
              <a:avLst/>
              <a:gdLst/>
              <a:ahLst/>
              <a:cxnLst/>
              <a:rect r="r" b="b" t="t" l="l"/>
              <a:pathLst>
                <a:path h="203200" w="10679938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578338" y="0"/>
                  </a:lnTo>
                  <a:cubicBezTo>
                    <a:pt x="10634472" y="0"/>
                    <a:pt x="10679938" y="45466"/>
                    <a:pt x="10679938" y="101600"/>
                  </a:cubicBezTo>
                  <a:cubicBezTo>
                    <a:pt x="10679938" y="157734"/>
                    <a:pt x="10634472" y="203200"/>
                    <a:pt x="10578338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CC914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4571924" y="6238580"/>
            <a:ext cx="850554" cy="850554"/>
            <a:chOff x="0" y="0"/>
            <a:chExt cx="1134072" cy="11340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C914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4827013" y="6327429"/>
            <a:ext cx="340223" cy="54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13859" y="733440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Bioinformatics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13859" y="7880747"/>
            <a:ext cx="736669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Analyzing genetic sequences to identify genes and regulatory elements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285684" y="6663776"/>
            <a:ext cx="8009934" cy="2550614"/>
            <a:chOff x="0" y="0"/>
            <a:chExt cx="10679913" cy="340081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679938" cy="3400806"/>
            </a:xfrm>
            <a:custGeom>
              <a:avLst/>
              <a:gdLst/>
              <a:ahLst/>
              <a:cxnLst/>
              <a:rect r="r" b="b" t="t" l="l"/>
              <a:pathLst>
                <a:path h="3400806" w="106799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156966"/>
                  </a:lnTo>
                  <a:cubicBezTo>
                    <a:pt x="10679938" y="3291586"/>
                    <a:pt x="10570718" y="3400806"/>
                    <a:pt x="10436098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F6EB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285684" y="6625676"/>
            <a:ext cx="8009934" cy="152400"/>
            <a:chOff x="0" y="0"/>
            <a:chExt cx="10679913" cy="203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79938" cy="203200"/>
            </a:xfrm>
            <a:custGeom>
              <a:avLst/>
              <a:gdLst/>
              <a:ahLst/>
              <a:cxnLst/>
              <a:rect r="r" b="b" t="t" l="l"/>
              <a:pathLst>
                <a:path h="203200" w="10679938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578338" y="0"/>
                  </a:lnTo>
                  <a:cubicBezTo>
                    <a:pt x="10634472" y="0"/>
                    <a:pt x="10679938" y="45466"/>
                    <a:pt x="10679938" y="101600"/>
                  </a:cubicBezTo>
                  <a:cubicBezTo>
                    <a:pt x="10679938" y="157734"/>
                    <a:pt x="10634472" y="203200"/>
                    <a:pt x="10578338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626C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865370" y="6238580"/>
            <a:ext cx="850554" cy="850554"/>
            <a:chOff x="0" y="0"/>
            <a:chExt cx="1134072" cy="113407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6C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3120468" y="6327429"/>
            <a:ext cx="340223" cy="54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607306" y="7334402"/>
            <a:ext cx="487010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Natural Language Processing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607306" y="7880747"/>
            <a:ext cx="736669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Part-of-speech tagging, named entity recognition, and language 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DAG-i2tUi2I</dc:identifier>
  <dcterms:modified xsi:type="dcterms:W3CDTF">2011-08-01T06:04:30Z</dcterms:modified>
  <cp:revision>1</cp:revision>
  <dc:title>MACHINE LEARNING_HMM.pptx</dc:title>
</cp:coreProperties>
</file>