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Open Sans"/>
      <p:regular r:id="rId17"/>
    </p:embeddedFont>
    <p:embeddedFont>
      <p:font typeface="Crimson Pro Bold"/>
      <p:bold r:id="rId18"/>
    </p:embeddedFont>
    <p:embeddedFont>
      <p:font typeface="Open Sans Bold"/>
      <p:bold r:id="rId19"/>
    </p:embeddedFont>
    <p:embeddedFont>
      <p:font typeface="Open Sans Italics"/>
      <p:italic r:id="rId20"/>
    </p:embeddedFont>
    <p:embeddedFont>
      <p:font typeface="Crimson Pro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98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image" Target="../media/image14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-152400" y="-95186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990600" y="266700"/>
            <a:ext cx="9330690" cy="360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endParaRPr lang="en-US" sz="44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2505" y="1699895"/>
            <a:ext cx="9328785" cy="14319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935"/>
              </a:lnSpc>
            </a:pPr>
            <a:r>
              <a:rPr lang="en-US" sz="54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Understanding Markov Models</a:t>
            </a:r>
            <a:endParaRPr lang="en-US" sz="54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8850" y="3695700"/>
            <a:ext cx="16303625" cy="13817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44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powerful mathematical framework for modeling systems that evolve over time, where the future depends only on the present moment.</a:t>
            </a:r>
            <a:endParaRPr lang="en-US" sz="44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44166" y="703812"/>
            <a:ext cx="7196585" cy="8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What is a Markov Model?</a:t>
            </a:r>
            <a:endParaRPr lang="en-US" sz="52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4245" y="2156460"/>
            <a:ext cx="15539720" cy="1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Markov Model is a mathematical tool that represents systems transitioning between different states over time. These models are fundamental in probability theory and have applications across numerous fields.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6470" y="5143500"/>
            <a:ext cx="5608955" cy="424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40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Core Principle</a:t>
            </a:r>
            <a:endParaRPr lang="en-US" sz="40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0600" y="6286500"/>
            <a:ext cx="15539720" cy="16230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defining characteristic is the </a:t>
            </a:r>
            <a:r>
              <a:rPr lang="en-US" sz="2800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Markov Property</a:t>
            </a: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: the probability of moving to any future state depends only on the current state, not on how the system arrived there.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505" y="1457960"/>
            <a:ext cx="13465175" cy="889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40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Markov Property Explained</a:t>
            </a:r>
            <a:endParaRPr lang="en-US" sz="40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958703"/>
            <a:ext cx="5434460" cy="1134066"/>
          </a:xfrm>
          <a:custGeom>
            <a:avLst/>
            <a:gdLst/>
            <a:ahLst/>
            <a:cxnLst/>
            <a:rect l="l" t="t" r="r" b="b"/>
            <a:pathLst>
              <a:path w="5434460" h="1134066">
                <a:moveTo>
                  <a:pt x="0" y="0"/>
                </a:moveTo>
                <a:lnTo>
                  <a:pt x="5434460" y="0"/>
                </a:lnTo>
                <a:lnTo>
                  <a:pt x="5434460" y="1134066"/>
                </a:lnTo>
                <a:lnTo>
                  <a:pt x="0" y="113406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65" r="-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75759" y="4347715"/>
            <a:ext cx="3544043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Past States</a:t>
            </a:r>
            <a:endParaRPr lang="en-US" sz="28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75759" y="4903584"/>
            <a:ext cx="4867427" cy="45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Sₙ₋₂, Sₙ₋₁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75759" y="5527329"/>
            <a:ext cx="4867427" cy="91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History doesn't influence the next transition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Freeform 11" descr="preencoded.png"/>
          <p:cNvSpPr/>
          <p:nvPr/>
        </p:nvSpPr>
        <p:spPr>
          <a:xfrm>
            <a:off x="6426698" y="2958703"/>
            <a:ext cx="5434460" cy="1134066"/>
          </a:xfrm>
          <a:custGeom>
            <a:avLst/>
            <a:gdLst/>
            <a:ahLst/>
            <a:cxnLst/>
            <a:rect l="l" t="t" r="r" b="b"/>
            <a:pathLst>
              <a:path w="5434460" h="1134066">
                <a:moveTo>
                  <a:pt x="0" y="0"/>
                </a:moveTo>
                <a:lnTo>
                  <a:pt x="5434461" y="0"/>
                </a:lnTo>
                <a:lnTo>
                  <a:pt x="5434461" y="1134066"/>
                </a:lnTo>
                <a:lnTo>
                  <a:pt x="0" y="113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" r="-6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10210" y="4347715"/>
            <a:ext cx="3544043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Current State</a:t>
            </a:r>
            <a:endParaRPr lang="en-US" sz="28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10210" y="4903584"/>
            <a:ext cx="4867427" cy="45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Sₙ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10210" y="5527329"/>
            <a:ext cx="4867427" cy="91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00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is all that matters</a:t>
            </a: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for predicting what comes next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861159" y="2958703"/>
            <a:ext cx="5434460" cy="1134066"/>
          </a:xfrm>
          <a:custGeom>
            <a:avLst/>
            <a:gdLst/>
            <a:ahLst/>
            <a:cxnLst/>
            <a:rect l="l" t="t" r="r" b="b"/>
            <a:pathLst>
              <a:path w="5434460" h="1134066">
                <a:moveTo>
                  <a:pt x="0" y="0"/>
                </a:moveTo>
                <a:lnTo>
                  <a:pt x="5434460" y="0"/>
                </a:lnTo>
                <a:lnTo>
                  <a:pt x="5434460" y="1134066"/>
                </a:lnTo>
                <a:lnTo>
                  <a:pt x="0" y="1134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" r="-6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144670" y="4347715"/>
            <a:ext cx="3544043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Future State</a:t>
            </a:r>
            <a:endParaRPr lang="en-US" sz="28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144670" y="4903584"/>
            <a:ext cx="4867427" cy="45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Sₙ₊₁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144670" y="5527329"/>
            <a:ext cx="4867427" cy="91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Determined solely by the present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9" name="Group 19"/>
          <p:cNvGrpSpPr/>
          <p:nvPr/>
        </p:nvGrpSpPr>
        <p:grpSpPr>
          <a:xfrm rot="0">
            <a:off x="992238" y="7122766"/>
            <a:ext cx="16303523" cy="1658388"/>
            <a:chOff x="0" y="0"/>
            <a:chExt cx="21738031" cy="22111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37955" cy="2211070"/>
            </a:xfrm>
            <a:custGeom>
              <a:avLst/>
              <a:gdLst/>
              <a:ahLst/>
              <a:cxnLst/>
              <a:rect l="l" t="t" r="r" b="b"/>
              <a:pathLst>
                <a:path w="21737955" h="221107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963" y="0"/>
                    <a:pt x="21737955" y="71120"/>
                    <a:pt x="21737955" y="158750"/>
                  </a:cubicBezTo>
                  <a:lnTo>
                    <a:pt x="21737955" y="2052320"/>
                  </a:lnTo>
                  <a:cubicBezTo>
                    <a:pt x="21737955" y="2140077"/>
                    <a:pt x="21666836" y="2211070"/>
                    <a:pt x="21579205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E1D4D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Freeform 21" descr="preencoded.png"/>
          <p:cNvSpPr/>
          <p:nvPr/>
        </p:nvSpPr>
        <p:spPr>
          <a:xfrm>
            <a:off x="1275759" y="7562402"/>
            <a:ext cx="354359" cy="283521"/>
          </a:xfrm>
          <a:custGeom>
            <a:avLst/>
            <a:gdLst/>
            <a:ahLst/>
            <a:cxnLst/>
            <a:rect l="l" t="t" r="r" b="b"/>
            <a:pathLst>
              <a:path w="354359" h="283521">
                <a:moveTo>
                  <a:pt x="0" y="0"/>
                </a:moveTo>
                <a:lnTo>
                  <a:pt x="354359" y="0"/>
                </a:lnTo>
                <a:lnTo>
                  <a:pt x="354359" y="283521"/>
                </a:lnTo>
                <a:lnTo>
                  <a:pt x="0" y="2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1" b="-668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913630" y="7391400"/>
            <a:ext cx="15098611" cy="91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Student-Friendly Analogy: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"Tomorrow's weather depends on today's conditions, not on whether it rained two weeks ago."</a:t>
            </a:r>
            <a:endParaRPr lang="en-US" sz="2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866775" y="1039495"/>
            <a:ext cx="14114145" cy="776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4875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Core Components of Markov Models</a:t>
            </a:r>
            <a:endParaRPr lang="en-US" sz="4875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24245" y="3452222"/>
            <a:ext cx="3096816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48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States</a:t>
            </a:r>
            <a:endParaRPr lang="en-US" sz="48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23950" y="3921125"/>
            <a:ext cx="13408660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All possible conditions the system can occupy. At any given time, the system exists in exactly one state.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8200" y="5448300"/>
            <a:ext cx="8877300" cy="1485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i="1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   Example: Sunny, Rainy, Cloudy</a:t>
            </a:r>
            <a:endParaRPr lang="en-US" sz="2800" i="1">
              <a:solidFill>
                <a:srgbClr val="443728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3950" y="6343650"/>
            <a:ext cx="6423025" cy="11315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en-US" sz="480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Transition Probabilities</a:t>
            </a:r>
            <a:endParaRPr lang="en-US" sz="480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4245" y="6743614"/>
            <a:ext cx="9181509" cy="12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likelihood of moving from one state to another. These values are organized in a transition matrix.</a:t>
            </a:r>
            <a:endParaRPr lang="en-US" sz="280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24245" y="8489004"/>
            <a:ext cx="9181509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i="1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Sum from any state = 1.0</a:t>
            </a:r>
            <a:endParaRPr lang="en-US" sz="2800" i="1">
              <a:solidFill>
                <a:srgbClr val="443728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505" y="1812290"/>
            <a:ext cx="10572750" cy="889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Weather Prediction Example</a:t>
            </a:r>
            <a:endParaRPr lang="en-US" sz="556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238" y="3227489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Let's model a simple weather system with two states to see how Markov Models work in practice.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238" y="4340723"/>
            <a:ext cx="622474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Today's Weather → Tomorrow's Weather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987476" y="5126384"/>
            <a:ext cx="7815415" cy="2467270"/>
            <a:chOff x="0" y="0"/>
            <a:chExt cx="10420553" cy="3289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20477" cy="3289681"/>
            </a:xfrm>
            <a:custGeom>
              <a:avLst/>
              <a:gdLst/>
              <a:ahLst/>
              <a:cxnLst/>
              <a:rect l="l" t="t" r="r" b="b"/>
              <a:pathLst>
                <a:path w="10420477" h="3289681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10254996" y="0"/>
                  </a:lnTo>
                  <a:lnTo>
                    <a:pt x="10254996" y="6350"/>
                  </a:lnTo>
                  <a:lnTo>
                    <a:pt x="10254996" y="0"/>
                  </a:lnTo>
                  <a:cubicBezTo>
                    <a:pt x="10346436" y="0"/>
                    <a:pt x="10420477" y="73914"/>
                    <a:pt x="10420477" y="165100"/>
                  </a:cubicBezTo>
                  <a:lnTo>
                    <a:pt x="10414127" y="165100"/>
                  </a:lnTo>
                  <a:lnTo>
                    <a:pt x="10420477" y="165100"/>
                  </a:lnTo>
                  <a:lnTo>
                    <a:pt x="10420477" y="3124581"/>
                  </a:lnTo>
                  <a:lnTo>
                    <a:pt x="10414127" y="3124581"/>
                  </a:lnTo>
                  <a:lnTo>
                    <a:pt x="10420477" y="3124581"/>
                  </a:lnTo>
                  <a:cubicBezTo>
                    <a:pt x="10420477" y="3215767"/>
                    <a:pt x="10346309" y="3289681"/>
                    <a:pt x="10254996" y="3289681"/>
                  </a:cubicBezTo>
                  <a:lnTo>
                    <a:pt x="10254996" y="3283331"/>
                  </a:lnTo>
                  <a:lnTo>
                    <a:pt x="10254996" y="3289681"/>
                  </a:lnTo>
                  <a:lnTo>
                    <a:pt x="165481" y="3289681"/>
                  </a:lnTo>
                  <a:lnTo>
                    <a:pt x="165481" y="3283331"/>
                  </a:lnTo>
                  <a:lnTo>
                    <a:pt x="165481" y="3289681"/>
                  </a:lnTo>
                  <a:cubicBezTo>
                    <a:pt x="74041" y="3289681"/>
                    <a:pt x="0" y="3215767"/>
                    <a:pt x="0" y="3124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124581"/>
                  </a:lnTo>
                  <a:lnTo>
                    <a:pt x="6350" y="3124581"/>
                  </a:lnTo>
                  <a:lnTo>
                    <a:pt x="12700" y="3124581"/>
                  </a:lnTo>
                  <a:cubicBezTo>
                    <a:pt x="12700" y="3208782"/>
                    <a:pt x="81153" y="3276981"/>
                    <a:pt x="165481" y="3276981"/>
                  </a:cubicBezTo>
                  <a:lnTo>
                    <a:pt x="10254996" y="3276981"/>
                  </a:lnTo>
                  <a:cubicBezTo>
                    <a:pt x="10339451" y="3276981"/>
                    <a:pt x="10407777" y="3208782"/>
                    <a:pt x="10407777" y="3124581"/>
                  </a:cubicBezTo>
                  <a:lnTo>
                    <a:pt x="10407777" y="165100"/>
                  </a:lnTo>
                  <a:cubicBezTo>
                    <a:pt x="10407777" y="80899"/>
                    <a:pt x="10339324" y="12700"/>
                    <a:pt x="1025499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 rot="0">
            <a:off x="1001763" y="5140671"/>
            <a:ext cx="7786840" cy="812902"/>
            <a:chOff x="0" y="0"/>
            <a:chExt cx="10382453" cy="10838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82504" cy="1083818"/>
            </a:xfrm>
            <a:custGeom>
              <a:avLst/>
              <a:gdLst/>
              <a:ahLst/>
              <a:cxnLst/>
              <a:rect l="l" t="t" r="r" b="b"/>
              <a:pathLst>
                <a:path w="10382504" h="1083818">
                  <a:moveTo>
                    <a:pt x="0" y="0"/>
                  </a:moveTo>
                  <a:lnTo>
                    <a:pt x="10382504" y="0"/>
                  </a:lnTo>
                  <a:lnTo>
                    <a:pt x="10382504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85427" y="5234578"/>
            <a:ext cx="254288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</a:t>
            </a:r>
            <a:endParaRPr lang="en-US" sz="2185" b="1">
              <a:solidFill>
                <a:srgbClr val="44372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04865" y="5234578"/>
            <a:ext cx="1759448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Sunny</a:t>
            </a:r>
            <a:endParaRPr lang="en-US" sz="2185" b="1">
              <a:solidFill>
                <a:srgbClr val="44372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40871" y="5234578"/>
            <a:ext cx="17642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Rainy</a:t>
            </a:r>
            <a:endParaRPr lang="en-US" sz="2185" b="1">
              <a:solidFill>
                <a:srgbClr val="44372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1001763" y="5953573"/>
            <a:ext cx="7786840" cy="812902"/>
            <a:chOff x="0" y="0"/>
            <a:chExt cx="10382453" cy="10838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82504" cy="1083818"/>
            </a:xfrm>
            <a:custGeom>
              <a:avLst/>
              <a:gdLst/>
              <a:ahLst/>
              <a:cxnLst/>
              <a:rect l="l" t="t" r="r" b="b"/>
              <a:pathLst>
                <a:path w="10382504" h="1083818">
                  <a:moveTo>
                    <a:pt x="0" y="0"/>
                  </a:moveTo>
                  <a:lnTo>
                    <a:pt x="10382504" y="0"/>
                  </a:lnTo>
                  <a:lnTo>
                    <a:pt x="10382504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85427" y="6047480"/>
            <a:ext cx="254288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Sunny</a:t>
            </a:r>
            <a:endParaRPr lang="en-US" sz="2185" b="1">
              <a:solidFill>
                <a:srgbClr val="44372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404865" y="6047480"/>
            <a:ext cx="1759448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0.7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740871" y="6047480"/>
            <a:ext cx="17642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0.3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1001763" y="6766474"/>
            <a:ext cx="7786840" cy="812902"/>
            <a:chOff x="0" y="0"/>
            <a:chExt cx="10382453" cy="10838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82504" cy="1083818"/>
            </a:xfrm>
            <a:custGeom>
              <a:avLst/>
              <a:gdLst/>
              <a:ahLst/>
              <a:cxnLst/>
              <a:rect l="l" t="t" r="r" b="b"/>
              <a:pathLst>
                <a:path w="10382504" h="1083818">
                  <a:moveTo>
                    <a:pt x="0" y="0"/>
                  </a:moveTo>
                  <a:lnTo>
                    <a:pt x="10382504" y="0"/>
                  </a:lnTo>
                  <a:lnTo>
                    <a:pt x="10382504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285427" y="6860381"/>
            <a:ext cx="254288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Rainy</a:t>
            </a:r>
            <a:endParaRPr lang="en-US" sz="2185" b="1">
              <a:solidFill>
                <a:srgbClr val="44372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404865" y="6860381"/>
            <a:ext cx="1759448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0.4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740871" y="6860381"/>
            <a:ext cx="17642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0.6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99397" y="4340723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Interpretation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499397" y="5009998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If today is </a:t>
            </a: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Sunny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: 70% chance tomorrow is sunny, 30% chance of rain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499397" y="6016381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If today is </a:t>
            </a: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Rainy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: 40% chance tomorrow is sunny, 60% chance of more rain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499397" y="7178726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Key insight: We ignore whether it's been sunny for 10 days straight. Only today matters.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2380355"/>
            <a:ext cx="7088238" cy="93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Why Ignore the Past?</a:t>
            </a:r>
            <a:endParaRPr lang="en-US" sz="556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73188" y="3861940"/>
            <a:ext cx="5283546" cy="4016131"/>
            <a:chOff x="0" y="0"/>
            <a:chExt cx="7044728" cy="5354841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6993890" cy="5304028"/>
            </a:xfrm>
            <a:custGeom>
              <a:avLst/>
              <a:gdLst/>
              <a:ahLst/>
              <a:cxnLst/>
              <a:rect l="l" t="t" r="r" b="b"/>
              <a:pathLst>
                <a:path w="6993890" h="5304028">
                  <a:moveTo>
                    <a:pt x="0" y="243840"/>
                  </a:moveTo>
                  <a:cubicBezTo>
                    <a:pt x="0" y="109220"/>
                    <a:pt x="109474" y="0"/>
                    <a:pt x="244348" y="0"/>
                  </a:cubicBezTo>
                  <a:lnTo>
                    <a:pt x="6749542" y="0"/>
                  </a:lnTo>
                  <a:cubicBezTo>
                    <a:pt x="6884543" y="0"/>
                    <a:pt x="6993890" y="109220"/>
                    <a:pt x="6993890" y="243840"/>
                  </a:cubicBezTo>
                  <a:lnTo>
                    <a:pt x="6993890" y="5060188"/>
                  </a:lnTo>
                  <a:cubicBezTo>
                    <a:pt x="6993890" y="5194808"/>
                    <a:pt x="6884416" y="5304028"/>
                    <a:pt x="6749542" y="5304028"/>
                  </a:cubicBezTo>
                  <a:lnTo>
                    <a:pt x="244348" y="5304028"/>
                  </a:lnTo>
                  <a:cubicBezTo>
                    <a:pt x="109347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044690" cy="5354828"/>
            </a:xfrm>
            <a:custGeom>
              <a:avLst/>
              <a:gdLst/>
              <a:ahLst/>
              <a:cxnLst/>
              <a:rect l="l" t="t" r="r" b="b"/>
              <a:pathLst>
                <a:path w="7044690" h="5354828">
                  <a:moveTo>
                    <a:pt x="0" y="269240"/>
                  </a:moveTo>
                  <a:cubicBezTo>
                    <a:pt x="0" y="120523"/>
                    <a:pt x="120904" y="0"/>
                    <a:pt x="269748" y="0"/>
                  </a:cubicBezTo>
                  <a:lnTo>
                    <a:pt x="6774942" y="0"/>
                  </a:lnTo>
                  <a:lnTo>
                    <a:pt x="6774942" y="25400"/>
                  </a:lnTo>
                  <a:lnTo>
                    <a:pt x="6774942" y="0"/>
                  </a:lnTo>
                  <a:cubicBezTo>
                    <a:pt x="6923913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085588"/>
                  </a:lnTo>
                  <a:lnTo>
                    <a:pt x="7019290" y="5085588"/>
                  </a:lnTo>
                  <a:lnTo>
                    <a:pt x="7044690" y="5085588"/>
                  </a:lnTo>
                  <a:cubicBezTo>
                    <a:pt x="7044690" y="5234305"/>
                    <a:pt x="6923786" y="5354828"/>
                    <a:pt x="6774942" y="5354828"/>
                  </a:cubicBezTo>
                  <a:lnTo>
                    <a:pt x="6774942" y="5329428"/>
                  </a:lnTo>
                  <a:lnTo>
                    <a:pt x="6774942" y="5354828"/>
                  </a:lnTo>
                  <a:lnTo>
                    <a:pt x="269748" y="5354828"/>
                  </a:lnTo>
                  <a:lnTo>
                    <a:pt x="269748" y="5329428"/>
                  </a:lnTo>
                  <a:lnTo>
                    <a:pt x="269748" y="5354828"/>
                  </a:lnTo>
                  <a:cubicBezTo>
                    <a:pt x="120904" y="5354828"/>
                    <a:pt x="0" y="5234305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844" y="5304028"/>
                    <a:pt x="269748" y="5304028"/>
                  </a:cubicBezTo>
                  <a:lnTo>
                    <a:pt x="6774942" y="5304028"/>
                  </a:lnTo>
                  <a:cubicBezTo>
                    <a:pt x="6895974" y="5304028"/>
                    <a:pt x="6993890" y="5206238"/>
                    <a:pt x="6993890" y="5085588"/>
                  </a:cubicBezTo>
                  <a:lnTo>
                    <a:pt x="6993890" y="269240"/>
                  </a:lnTo>
                  <a:cubicBezTo>
                    <a:pt x="6993890" y="148717"/>
                    <a:pt x="6895847" y="50800"/>
                    <a:pt x="6774942" y="50800"/>
                  </a:cubicBezTo>
                  <a:lnTo>
                    <a:pt x="269748" y="50800"/>
                  </a:lnTo>
                  <a:lnTo>
                    <a:pt x="269748" y="25400"/>
                  </a:lnTo>
                  <a:lnTo>
                    <a:pt x="269748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954138" y="3880990"/>
            <a:ext cx="152400" cy="3978031"/>
            <a:chOff x="0" y="0"/>
            <a:chExt cx="203200" cy="53040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5304028"/>
            </a:xfrm>
            <a:custGeom>
              <a:avLst/>
              <a:gdLst/>
              <a:ahLst/>
              <a:cxnLst/>
              <a:rect l="l" t="t" r="r" b="b"/>
              <a:pathLst>
                <a:path w="203200" h="530402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202428"/>
                  </a:lnTo>
                  <a:cubicBezTo>
                    <a:pt x="203200" y="5258562"/>
                    <a:pt x="157734" y="5304028"/>
                    <a:pt x="101600" y="5304028"/>
                  </a:cubicBezTo>
                  <a:cubicBezTo>
                    <a:pt x="45466" y="5304028"/>
                    <a:pt x="0" y="5258562"/>
                    <a:pt x="0" y="5202428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428159" y="4174036"/>
            <a:ext cx="384661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Computational Efficiency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28159" y="4729905"/>
            <a:ext cx="448791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Storing and processing complete history is expensive. The Markov Property dramatically reduces memory requirements and speeds up calculations.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6502156" y="3861940"/>
            <a:ext cx="5283546" cy="4016131"/>
            <a:chOff x="0" y="0"/>
            <a:chExt cx="7044728" cy="5354841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6993890" cy="5304028"/>
            </a:xfrm>
            <a:custGeom>
              <a:avLst/>
              <a:gdLst/>
              <a:ahLst/>
              <a:cxnLst/>
              <a:rect l="l" t="t" r="r" b="b"/>
              <a:pathLst>
                <a:path w="6993890" h="5304028">
                  <a:moveTo>
                    <a:pt x="0" y="243840"/>
                  </a:moveTo>
                  <a:cubicBezTo>
                    <a:pt x="0" y="109220"/>
                    <a:pt x="109474" y="0"/>
                    <a:pt x="244348" y="0"/>
                  </a:cubicBezTo>
                  <a:lnTo>
                    <a:pt x="6749542" y="0"/>
                  </a:lnTo>
                  <a:cubicBezTo>
                    <a:pt x="6884543" y="0"/>
                    <a:pt x="6993890" y="109220"/>
                    <a:pt x="6993890" y="243840"/>
                  </a:cubicBezTo>
                  <a:lnTo>
                    <a:pt x="6993890" y="5060188"/>
                  </a:lnTo>
                  <a:cubicBezTo>
                    <a:pt x="6993890" y="5194808"/>
                    <a:pt x="6884416" y="5304028"/>
                    <a:pt x="6749542" y="5304028"/>
                  </a:cubicBezTo>
                  <a:lnTo>
                    <a:pt x="244348" y="5304028"/>
                  </a:lnTo>
                  <a:cubicBezTo>
                    <a:pt x="109347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044690" cy="5354828"/>
            </a:xfrm>
            <a:custGeom>
              <a:avLst/>
              <a:gdLst/>
              <a:ahLst/>
              <a:cxnLst/>
              <a:rect l="l" t="t" r="r" b="b"/>
              <a:pathLst>
                <a:path w="7044690" h="5354828">
                  <a:moveTo>
                    <a:pt x="0" y="269240"/>
                  </a:moveTo>
                  <a:cubicBezTo>
                    <a:pt x="0" y="120523"/>
                    <a:pt x="120904" y="0"/>
                    <a:pt x="269748" y="0"/>
                  </a:cubicBezTo>
                  <a:lnTo>
                    <a:pt x="6774942" y="0"/>
                  </a:lnTo>
                  <a:lnTo>
                    <a:pt x="6774942" y="25400"/>
                  </a:lnTo>
                  <a:lnTo>
                    <a:pt x="6774942" y="0"/>
                  </a:lnTo>
                  <a:cubicBezTo>
                    <a:pt x="6923913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085588"/>
                  </a:lnTo>
                  <a:lnTo>
                    <a:pt x="7019290" y="5085588"/>
                  </a:lnTo>
                  <a:lnTo>
                    <a:pt x="7044690" y="5085588"/>
                  </a:lnTo>
                  <a:cubicBezTo>
                    <a:pt x="7044690" y="5234305"/>
                    <a:pt x="6923786" y="5354828"/>
                    <a:pt x="6774942" y="5354828"/>
                  </a:cubicBezTo>
                  <a:lnTo>
                    <a:pt x="6774942" y="5329428"/>
                  </a:lnTo>
                  <a:lnTo>
                    <a:pt x="6774942" y="5354828"/>
                  </a:lnTo>
                  <a:lnTo>
                    <a:pt x="269748" y="5354828"/>
                  </a:lnTo>
                  <a:lnTo>
                    <a:pt x="269748" y="5329428"/>
                  </a:lnTo>
                  <a:lnTo>
                    <a:pt x="269748" y="5354828"/>
                  </a:lnTo>
                  <a:cubicBezTo>
                    <a:pt x="120904" y="5354828"/>
                    <a:pt x="0" y="5234305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844" y="5304028"/>
                    <a:pt x="269748" y="5304028"/>
                  </a:cubicBezTo>
                  <a:lnTo>
                    <a:pt x="6774942" y="5304028"/>
                  </a:lnTo>
                  <a:cubicBezTo>
                    <a:pt x="6895974" y="5304028"/>
                    <a:pt x="6993890" y="5206238"/>
                    <a:pt x="6993890" y="5085588"/>
                  </a:cubicBezTo>
                  <a:lnTo>
                    <a:pt x="6993890" y="269240"/>
                  </a:lnTo>
                  <a:cubicBezTo>
                    <a:pt x="6993890" y="148717"/>
                    <a:pt x="6895847" y="50800"/>
                    <a:pt x="6774942" y="50800"/>
                  </a:cubicBezTo>
                  <a:lnTo>
                    <a:pt x="269748" y="50800"/>
                  </a:lnTo>
                  <a:lnTo>
                    <a:pt x="269748" y="25400"/>
                  </a:lnTo>
                  <a:lnTo>
                    <a:pt x="269748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 rot="0">
            <a:off x="6483106" y="3880990"/>
            <a:ext cx="152400" cy="3978031"/>
            <a:chOff x="0" y="0"/>
            <a:chExt cx="203200" cy="53040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5304028"/>
            </a:xfrm>
            <a:custGeom>
              <a:avLst/>
              <a:gdLst/>
              <a:ahLst/>
              <a:cxnLst/>
              <a:rect l="l" t="t" r="r" b="b"/>
              <a:pathLst>
                <a:path w="203200" h="530402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202428"/>
                  </a:lnTo>
                  <a:cubicBezTo>
                    <a:pt x="203200" y="5258562"/>
                    <a:pt x="157734" y="5304028"/>
                    <a:pt x="101600" y="5304028"/>
                  </a:cubicBezTo>
                  <a:cubicBezTo>
                    <a:pt x="45466" y="5304028"/>
                    <a:pt x="0" y="5258562"/>
                    <a:pt x="0" y="5202428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957117" y="4174036"/>
            <a:ext cx="371996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Mathematical Simplicity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57117" y="4729905"/>
            <a:ext cx="4487913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Complex systems become tractable when we only need to track the current state. This simplification enables elegant solutions to otherwise intractable problems.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12031113" y="3861940"/>
            <a:ext cx="5283546" cy="4016131"/>
            <a:chOff x="0" y="0"/>
            <a:chExt cx="7044728" cy="5354841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6993890" cy="5304028"/>
            </a:xfrm>
            <a:custGeom>
              <a:avLst/>
              <a:gdLst/>
              <a:ahLst/>
              <a:cxnLst/>
              <a:rect l="l" t="t" r="r" b="b"/>
              <a:pathLst>
                <a:path w="6993890" h="5304028">
                  <a:moveTo>
                    <a:pt x="0" y="243840"/>
                  </a:moveTo>
                  <a:cubicBezTo>
                    <a:pt x="0" y="109220"/>
                    <a:pt x="109474" y="0"/>
                    <a:pt x="244348" y="0"/>
                  </a:cubicBezTo>
                  <a:lnTo>
                    <a:pt x="6749542" y="0"/>
                  </a:lnTo>
                  <a:cubicBezTo>
                    <a:pt x="6884543" y="0"/>
                    <a:pt x="6993890" y="109220"/>
                    <a:pt x="6993890" y="243840"/>
                  </a:cubicBezTo>
                  <a:lnTo>
                    <a:pt x="6993890" y="5060188"/>
                  </a:lnTo>
                  <a:cubicBezTo>
                    <a:pt x="6993890" y="5194808"/>
                    <a:pt x="6884416" y="5304028"/>
                    <a:pt x="6749542" y="5304028"/>
                  </a:cubicBezTo>
                  <a:lnTo>
                    <a:pt x="244348" y="5304028"/>
                  </a:lnTo>
                  <a:cubicBezTo>
                    <a:pt x="109347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044690" cy="5354828"/>
            </a:xfrm>
            <a:custGeom>
              <a:avLst/>
              <a:gdLst/>
              <a:ahLst/>
              <a:cxnLst/>
              <a:rect l="l" t="t" r="r" b="b"/>
              <a:pathLst>
                <a:path w="7044690" h="5354828">
                  <a:moveTo>
                    <a:pt x="0" y="269240"/>
                  </a:moveTo>
                  <a:cubicBezTo>
                    <a:pt x="0" y="120523"/>
                    <a:pt x="120904" y="0"/>
                    <a:pt x="269748" y="0"/>
                  </a:cubicBezTo>
                  <a:lnTo>
                    <a:pt x="6774942" y="0"/>
                  </a:lnTo>
                  <a:lnTo>
                    <a:pt x="6774942" y="25400"/>
                  </a:lnTo>
                  <a:lnTo>
                    <a:pt x="6774942" y="0"/>
                  </a:lnTo>
                  <a:cubicBezTo>
                    <a:pt x="6923913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085588"/>
                  </a:lnTo>
                  <a:lnTo>
                    <a:pt x="7019290" y="5085588"/>
                  </a:lnTo>
                  <a:lnTo>
                    <a:pt x="7044690" y="5085588"/>
                  </a:lnTo>
                  <a:cubicBezTo>
                    <a:pt x="7044690" y="5234305"/>
                    <a:pt x="6923786" y="5354828"/>
                    <a:pt x="6774942" y="5354828"/>
                  </a:cubicBezTo>
                  <a:lnTo>
                    <a:pt x="6774942" y="5329428"/>
                  </a:lnTo>
                  <a:lnTo>
                    <a:pt x="6774942" y="5354828"/>
                  </a:lnTo>
                  <a:lnTo>
                    <a:pt x="269748" y="5354828"/>
                  </a:lnTo>
                  <a:lnTo>
                    <a:pt x="269748" y="5329428"/>
                  </a:lnTo>
                  <a:lnTo>
                    <a:pt x="269748" y="5354828"/>
                  </a:lnTo>
                  <a:cubicBezTo>
                    <a:pt x="120904" y="5354828"/>
                    <a:pt x="0" y="5234305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844" y="5304028"/>
                    <a:pt x="269748" y="5304028"/>
                  </a:cubicBezTo>
                  <a:lnTo>
                    <a:pt x="6774942" y="5304028"/>
                  </a:lnTo>
                  <a:cubicBezTo>
                    <a:pt x="6895974" y="5304028"/>
                    <a:pt x="6993890" y="5206238"/>
                    <a:pt x="6993890" y="5085588"/>
                  </a:cubicBezTo>
                  <a:lnTo>
                    <a:pt x="6993890" y="269240"/>
                  </a:lnTo>
                  <a:cubicBezTo>
                    <a:pt x="6993890" y="148717"/>
                    <a:pt x="6895847" y="50800"/>
                    <a:pt x="6774942" y="50800"/>
                  </a:cubicBezTo>
                  <a:lnTo>
                    <a:pt x="269748" y="50800"/>
                  </a:lnTo>
                  <a:lnTo>
                    <a:pt x="269748" y="25400"/>
                  </a:lnTo>
                  <a:lnTo>
                    <a:pt x="269748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2012063" y="3880990"/>
            <a:ext cx="152400" cy="3978031"/>
            <a:chOff x="0" y="0"/>
            <a:chExt cx="203200" cy="530404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5304028"/>
            </a:xfrm>
            <a:custGeom>
              <a:avLst/>
              <a:gdLst/>
              <a:ahLst/>
              <a:cxnLst/>
              <a:rect l="l" t="t" r="r" b="b"/>
              <a:pathLst>
                <a:path w="203200" h="530402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202428"/>
                  </a:lnTo>
                  <a:cubicBezTo>
                    <a:pt x="203200" y="5258562"/>
                    <a:pt x="157734" y="5304028"/>
                    <a:pt x="101600" y="5304028"/>
                  </a:cubicBezTo>
                  <a:cubicBezTo>
                    <a:pt x="45466" y="5304028"/>
                    <a:pt x="0" y="5258562"/>
                    <a:pt x="0" y="5202428"/>
                  </a:cubicBez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2486084" y="4174036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Practical Effectiveness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486084" y="4729905"/>
            <a:ext cx="448791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For many real-world systems, the present state genuinely captures all relevant information from the past that's needed for future predictions.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815731"/>
            <a:ext cx="7371759" cy="93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Real-World Applications</a:t>
            </a:r>
            <a:endParaRPr lang="en-US" sz="556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31636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55314" y="2456107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Weather Forecasting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55314" y="3011986"/>
            <a:ext cx="6911426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Predicting atmospheric conditions based on current weather patterns and historical transition probabilities.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1108" y="231636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000" b="-799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384184" y="2456107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Financial Modeling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84184" y="3011986"/>
            <a:ext cx="6911578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Analyzing stock market trends, credit ratings, and economic state transitions over time.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5025628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55314" y="5165379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Google PageRank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55314" y="5721248"/>
            <a:ext cx="69114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Ranking web pages by modeling user navigation as random walks through the internet graph structure.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1108" y="5025628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66" r="-66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384184" y="5165379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Game Theory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384184" y="5721248"/>
            <a:ext cx="6911578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Modeling board games like Snakes &amp; Ladders where position depends only on current location and dice rolls.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Freeform 19" descr="preencoded.png"/>
          <p:cNvSpPr/>
          <p:nvPr/>
        </p:nvSpPr>
        <p:spPr>
          <a:xfrm>
            <a:off x="992238" y="7734891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62666" b="-62666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055314" y="7874641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Traffic Engineering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55314" y="8430520"/>
            <a:ext cx="69114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Analyzing vehicle flow patterns and optimizing traffic light timing at intersections.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Freeform 22" descr="preencoded.png"/>
          <p:cNvSpPr/>
          <p:nvPr/>
        </p:nvSpPr>
        <p:spPr>
          <a:xfrm>
            <a:off x="9321108" y="7734891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38666" b="-38667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384184" y="7874641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Genetics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384184" y="8430520"/>
            <a:ext cx="6911578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Studying DNA sequences and modeling gene expression patterns in biological systems.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1805435"/>
            <a:ext cx="12999244" cy="93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Limitation: Observable States Required</a:t>
            </a:r>
            <a:endParaRPr lang="en-US" sz="556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238" y="3419180"/>
            <a:ext cx="4065537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What Markov Models Need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238" y="4088454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835E54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Fully observable states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we must clearly know the current state of the system at all times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238" y="5250809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835E54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Direct measurement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states can be determined through observation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2238" y="6413154"/>
            <a:ext cx="780589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i="1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Example: Weather conditions are directly observable</a:t>
            </a:r>
            <a:endParaRPr lang="en-US" sz="2185" i="1">
              <a:solidFill>
                <a:srgbClr val="443728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499397" y="3419180"/>
            <a:ext cx="5459616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Where Standard Markov Models Fail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499397" y="4088454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C9907C"/>
                </a:solidFill>
                <a:latin typeface="Open Sans"/>
                <a:ea typeface="Open Sans"/>
                <a:cs typeface="Open Sans"/>
                <a:sym typeface="Open Sans"/>
              </a:rPr>
              <a:t>✗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Hidden emotional states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internal feelings not directly measurable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499397" y="5250809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C9907C"/>
                </a:solidFill>
                <a:latin typeface="Open Sans"/>
                <a:ea typeface="Open Sans"/>
                <a:cs typeface="Open Sans"/>
                <a:sym typeface="Open Sans"/>
              </a:rPr>
              <a:t>✗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Speech phonemes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underlying sounds hidden beneath audio signal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99397" y="6413154"/>
            <a:ext cx="780589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C9907C"/>
                </a:solidFill>
                <a:latin typeface="Open Sans"/>
                <a:ea typeface="Open Sans"/>
                <a:cs typeface="Open Sans"/>
                <a:sym typeface="Open Sans"/>
              </a:rPr>
              <a:t>✗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Latent variables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– unobserved factors driving behavior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2238" y="7440816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Solution: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For systems with hidden states, we use Hidden Markov Models (HMMs), an extension that can infer unobservable states from observed outputs.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519555" y="694690"/>
            <a:ext cx="15835630" cy="833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5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Markov Models vs. Hidden Markov Models</a:t>
            </a:r>
            <a:endParaRPr lang="en-US" sz="5185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7790707" y="2798264"/>
            <a:ext cx="28575" cy="6759026"/>
            <a:chOff x="0" y="0"/>
            <a:chExt cx="38100" cy="90120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" cy="9012047"/>
            </a:xfrm>
            <a:custGeom>
              <a:avLst/>
              <a:gdLst/>
              <a:ahLst/>
              <a:cxnLst/>
              <a:rect l="l" t="t" r="r" b="b"/>
              <a:pathLst>
                <a:path w="38100" h="901204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992997"/>
                  </a:lnTo>
                  <a:cubicBezTo>
                    <a:pt x="38100" y="9003538"/>
                    <a:pt x="29591" y="9012047"/>
                    <a:pt x="19050" y="9012047"/>
                  </a:cubicBezTo>
                  <a:cubicBezTo>
                    <a:pt x="8509" y="9012047"/>
                    <a:pt x="0" y="9003538"/>
                    <a:pt x="0" y="8992997"/>
                  </a:cubicBezTo>
                  <a:close/>
                </a:path>
              </a:pathLst>
            </a:custGeom>
            <a:solidFill>
              <a:srgbClr val="D1C8C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8085687" y="3045619"/>
            <a:ext cx="3406673" cy="44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Standard Markov Model</a:t>
            </a:r>
            <a:endParaRPr lang="en-US" sz="256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85687" y="3574104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States are directly observable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085687" y="4093664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Simpler to implement and understand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085687" y="4613224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Fewer parameters to estimate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085687" y="5132784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Best for transparent systems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085687" y="6691608"/>
            <a:ext cx="4278068" cy="44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Hidden Markov Model (HMM)</a:t>
            </a:r>
            <a:endParaRPr lang="en-US" sz="256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085687" y="7220102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States are hidden/latent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085687" y="7739653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Observations depend on hidden states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085687" y="8259213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Requires inference algorithms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085687" y="8778773"/>
            <a:ext cx="9022261" cy="50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150" lvl="1" indent="-155575" algn="l">
              <a:lnSpc>
                <a:spcPts val="3310"/>
              </a:lnSpc>
              <a:buFont typeface="Arial" panose="020B0604020202020204"/>
              <a:buChar char="•"/>
            </a:pPr>
            <a:r>
              <a:rPr lang="en-US" sz="206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Necessary for complex real systems</a:t>
            </a:r>
            <a:endParaRPr lang="en-US" sz="2060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1042092"/>
            <a:ext cx="9781880" cy="127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5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Takeaways</a:t>
            </a:r>
            <a:endParaRPr lang="en-US" sz="7685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238" y="2784272"/>
            <a:ext cx="283521" cy="45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01</a:t>
            </a:r>
            <a:endParaRPr lang="en-US" sz="2185">
              <a:solidFill>
                <a:srgbClr val="443728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92238" y="3332855"/>
            <a:ext cx="8009934" cy="38100"/>
            <a:chOff x="0" y="0"/>
            <a:chExt cx="10679913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92238" y="3522164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Memoryless Property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238" y="4078043"/>
            <a:ext cx="800993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Markov Models assume the future depends only on the present state, not on the sequence of past events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285684" y="2784272"/>
            <a:ext cx="283521" cy="45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02</a:t>
            </a:r>
            <a:endParaRPr lang="en-US" sz="2185">
              <a:solidFill>
                <a:srgbClr val="443728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9285684" y="3332855"/>
            <a:ext cx="8010077" cy="38100"/>
            <a:chOff x="0" y="0"/>
            <a:chExt cx="10680103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9285684" y="3522164"/>
            <a:ext cx="408905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Two Essential Components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85684" y="4078043"/>
            <a:ext cx="8010077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States (possible conditions) and transition probabilities (likelihood of moving between states)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92238" y="5462292"/>
            <a:ext cx="283521" cy="45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03</a:t>
            </a:r>
            <a:endParaRPr lang="en-US" sz="2185">
              <a:solidFill>
                <a:srgbClr val="443728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992238" y="6010866"/>
            <a:ext cx="8009934" cy="38100"/>
            <a:chOff x="0" y="0"/>
            <a:chExt cx="10679913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92238" y="6200184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Wide Applicability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92238" y="6756054"/>
            <a:ext cx="800993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Used across disciplines from weather forecasting to web search algorithms to financial modeling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85684" y="5462292"/>
            <a:ext cx="283521" cy="45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Crimson Pro"/>
                <a:ea typeface="Crimson Pro"/>
                <a:cs typeface="Crimson Pro"/>
                <a:sym typeface="Crimson Pro"/>
              </a:rPr>
              <a:t>04</a:t>
            </a:r>
            <a:endParaRPr lang="en-US" sz="2185">
              <a:solidFill>
                <a:srgbClr val="443728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9285684" y="6010866"/>
            <a:ext cx="8010077" cy="38100"/>
            <a:chOff x="0" y="0"/>
            <a:chExt cx="10680103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35E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9285684" y="6200184"/>
            <a:ext cx="4552207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 b="1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Observable State Requirement</a:t>
            </a:r>
            <a:endParaRPr lang="en-US" sz="2750" b="1">
              <a:solidFill>
                <a:srgbClr val="443728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85684" y="6756054"/>
            <a:ext cx="8010077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Standard Markov Models need fully visible states; Hidden Markov Models extend this to latent variables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92238" y="8194777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Next Steps:</a:t>
            </a:r>
            <a:r>
              <a:rPr lang="en-US" sz="218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Practice building transition matrices, explore Hidden Markov Models, and study convergence to steady-state distributions.</a:t>
            </a:r>
            <a:endParaRPr lang="en-US" sz="2185">
              <a:solidFill>
                <a:srgbClr val="4437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4490</Words>
  <Application>WPS Presentation</Application>
  <PresentationFormat>On-screen Show (4:3)</PresentationFormat>
  <Paragraphs>190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Open Sans</vt:lpstr>
      <vt:lpstr>Crimson Pro Bold</vt:lpstr>
      <vt:lpstr>Open Sans Bold</vt:lpstr>
      <vt:lpstr>Open Sans Italics</vt:lpstr>
      <vt:lpstr>Arial</vt:lpstr>
      <vt:lpstr>Crimson Pro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LEARNING_MARKOV MODELS.pptx</dc:title>
  <dc:creator/>
  <cp:lastModifiedBy>Nikitha Babu</cp:lastModifiedBy>
  <cp:revision>2</cp:revision>
  <dcterms:created xsi:type="dcterms:W3CDTF">2006-08-16T00:00:00Z</dcterms:created>
  <dcterms:modified xsi:type="dcterms:W3CDTF">2026-01-16T04:12:03Z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2E7C75D403974C149989FBC1628D4493_13</vt:lpwstr>
  </property>
  <property fmtid="{D5CDD505-2E9C-101B-9397-08002B2CF9AE}" pid="3" name="KSOProductBuildVer">
    <vt:lpwstr>1033-12.2.0.23196</vt:lpwstr>
  </property>
</Properties>
</file>