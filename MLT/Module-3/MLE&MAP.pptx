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 id="263" r:id="rId10"/>
    <p:sldId id="264" r:id="rId11"/>
    <p:sldId id="265" r:id="rId12"/>
    <p:sldId id="267" r:id="rId13"/>
    <p:sldId id="268" r:id="rId14"/>
    <p:sldId id="269"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3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553970" y="1195070"/>
            <a:ext cx="8005445" cy="1437640"/>
          </a:xfrm>
        </p:spPr>
        <p:txBody>
          <a:bodyPr>
            <a:normAutofit/>
          </a:bodyPr>
          <a:p>
            <a:pPr algn="ctr"/>
            <a:r>
              <a:rPr lang="en-US" sz="2900" b="1">
                <a:latin typeface="Times New Roman" panose="02020603050405020304" charset="0"/>
                <a:cs typeface="Times New Roman" panose="02020603050405020304" charset="0"/>
                <a:sym typeface="+mn-ea"/>
              </a:rPr>
              <a:t>MACHINE LEARNING</a:t>
            </a:r>
            <a:br>
              <a:rPr lang="en-US" sz="2900" b="1">
                <a:latin typeface="Times New Roman" panose="02020603050405020304" charset="0"/>
                <a:cs typeface="Times New Roman" panose="02020603050405020304" charset="0"/>
                <a:sym typeface="+mn-ea"/>
              </a:rPr>
            </a:br>
            <a:br>
              <a:rPr lang="en-US" sz="2900" b="1">
                <a:latin typeface="Times New Roman" panose="02020603050405020304" charset="0"/>
                <a:cs typeface="Times New Roman" panose="02020603050405020304" charset="0"/>
                <a:sym typeface="+mn-ea"/>
              </a:rPr>
            </a:br>
            <a:r>
              <a:rPr lang="en-US" sz="2200">
                <a:latin typeface="Times New Roman" panose="02020603050405020304" charset="0"/>
                <a:cs typeface="Times New Roman" panose="02020603050405020304" charset="0"/>
                <a:sym typeface="+mn-ea"/>
              </a:rPr>
              <a:t>MODULE 3</a:t>
            </a:r>
            <a:endParaRPr lang="en-US" sz="2200"/>
          </a:p>
        </p:txBody>
      </p:sp>
      <p:sp>
        <p:nvSpPr>
          <p:cNvPr id="3" name="Subtitle 2"/>
          <p:cNvSpPr>
            <a:spLocks noGrp="1"/>
          </p:cNvSpPr>
          <p:nvPr>
            <p:ph type="subTitle" idx="1"/>
          </p:nvPr>
        </p:nvSpPr>
        <p:spPr/>
        <p:txBody>
          <a:bodyPr/>
          <a:p>
            <a:r>
              <a:rPr lang="en-US" b="1">
                <a:latin typeface="Times New Roman" panose="02020603050405020304" charset="0"/>
                <a:cs typeface="Times New Roman" panose="02020603050405020304" charset="0"/>
                <a:sym typeface="+mn-ea"/>
              </a:rPr>
              <a:t>    3.2 Maximum Likelihood - Maximum Apriori</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Maximum Likelihood Estimation (MLE)</a:t>
            </a:r>
            <a:endParaRPr lang="en-US" b="1"/>
          </a:p>
        </p:txBody>
      </p:sp>
      <p:sp>
        <p:nvSpPr>
          <p:cNvPr id="3" name="Content Placeholder 2"/>
          <p:cNvSpPr>
            <a:spLocks noGrp="1"/>
          </p:cNvSpPr>
          <p:nvPr>
            <p:ph idx="1"/>
          </p:nvPr>
        </p:nvSpPr>
        <p:spPr/>
        <p:txBody>
          <a:bodyPr/>
          <a:p>
            <a:pPr>
              <a:lnSpc>
                <a:spcPct val="150000"/>
              </a:lnSpc>
            </a:pPr>
            <a:r>
              <a:rPr lang="en-US" altLang="en-US">
                <a:latin typeface="Times New Roman" panose="02020603050405020304" charset="0"/>
                <a:cs typeface="Times New Roman" panose="02020603050405020304" charset="0"/>
              </a:rPr>
              <a:t>Maximum Likelihood Estimation (MLE) is a foundational statistical method in machine learning used to</a:t>
            </a:r>
            <a:r>
              <a:rPr lang="en-US" altLang="en-US" b="1">
                <a:latin typeface="Times New Roman" panose="02020603050405020304" charset="0"/>
                <a:cs typeface="Times New Roman" panose="02020603050405020304" charset="0"/>
              </a:rPr>
              <a:t> estimate the parameters</a:t>
            </a:r>
            <a:r>
              <a:rPr lang="en-US" altLang="en-US">
                <a:latin typeface="Times New Roman" panose="02020603050405020304" charset="0"/>
                <a:cs typeface="Times New Roman" panose="02020603050405020304" charset="0"/>
              </a:rPr>
              <a:t> of a model that make the observed data most probable. </a:t>
            </a:r>
            <a:endParaRPr lang="en-US" altLang="en-US">
              <a:latin typeface="Times New Roman" panose="02020603050405020304" charset="0"/>
              <a:cs typeface="Times New Roman" panose="02020603050405020304" charset="0"/>
            </a:endParaRPr>
          </a:p>
          <a:p>
            <a:pPr>
              <a:lnSpc>
                <a:spcPct val="150000"/>
              </a:lnSpc>
            </a:pPr>
            <a:r>
              <a:rPr lang="en-US" altLang="en-US">
                <a:latin typeface="Times New Roman" panose="02020603050405020304" charset="0"/>
                <a:cs typeface="Times New Roman" panose="02020603050405020304" charset="0"/>
              </a:rPr>
              <a:t>It frames parameter estimation as an optimization problem, seeking the specific parameters that maximize the likelihood function. </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SIMPLE CONCEPT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tLang="en-US">
                <a:latin typeface="Times New Roman" panose="02020603050405020304" charset="0"/>
                <a:cs typeface="Times New Roman" panose="02020603050405020304" charset="0"/>
              </a:rPr>
              <a:t>MLE finds parameters that maximize the likelihood of observed data.</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Choose model parameters that make the observed data most probable.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rcRect t="12874"/>
          <a:stretch>
            <a:fillRect/>
          </a:stretch>
        </p:blipFill>
        <p:spPr>
          <a:xfrm>
            <a:off x="646430" y="3797935"/>
            <a:ext cx="10707370" cy="2379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Main Steps: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a:bodyPr>
          <a:p>
            <a:pPr marL="514350" indent="-514350">
              <a:buFont typeface="+mj-lt"/>
              <a:buAutoNum type="arabicParenR"/>
            </a:pPr>
            <a:r>
              <a:rPr lang="en-US" altLang="en-US">
                <a:latin typeface="Times New Roman" panose="02020603050405020304" charset="0"/>
                <a:cs typeface="Times New Roman" panose="02020603050405020304" charset="0"/>
              </a:rPr>
              <a:t>Using correct distribution for regression or classification problem</a:t>
            </a:r>
            <a:endParaRPr lang="en-US" altLang="en-US">
              <a:latin typeface="Times New Roman" panose="02020603050405020304" charset="0"/>
              <a:cs typeface="Times New Roman" panose="02020603050405020304" charset="0"/>
            </a:endParaRPr>
          </a:p>
          <a:p>
            <a:pPr marL="514350" indent="-514350">
              <a:buFont typeface="+mj-lt"/>
              <a:buAutoNum type="arabicParenR"/>
            </a:pPr>
            <a:r>
              <a:rPr lang="en-US" altLang="en-US">
                <a:latin typeface="Times New Roman" panose="02020603050405020304" charset="0"/>
                <a:cs typeface="Times New Roman" panose="02020603050405020304" charset="0"/>
              </a:rPr>
              <a:t>Defining the likelihood</a:t>
            </a:r>
            <a:endParaRPr lang="en-US" altLang="en-US">
              <a:latin typeface="Times New Roman" panose="02020603050405020304" charset="0"/>
              <a:cs typeface="Times New Roman" panose="02020603050405020304" charset="0"/>
            </a:endParaRPr>
          </a:p>
          <a:p>
            <a:pPr marL="514350" indent="-514350">
              <a:buFont typeface="+mj-lt"/>
              <a:buAutoNum type="arabicParenR"/>
            </a:pPr>
            <a:r>
              <a:rPr lang="en-US" altLang="en-US">
                <a:latin typeface="Times New Roman" panose="02020603050405020304" charset="0"/>
                <a:cs typeface="Times New Roman" panose="02020603050405020304" charset="0"/>
              </a:rPr>
              <a:t>Taking the natural log</a:t>
            </a:r>
            <a:endParaRPr lang="en-US" altLang="en-US">
              <a:latin typeface="Times New Roman" panose="02020603050405020304" charset="0"/>
              <a:cs typeface="Times New Roman" panose="02020603050405020304" charset="0"/>
            </a:endParaRPr>
          </a:p>
          <a:p>
            <a:pPr marL="514350" indent="-514350">
              <a:buFont typeface="+mj-lt"/>
              <a:buAutoNum type="arabicParenR"/>
            </a:pPr>
            <a:r>
              <a:rPr lang="en-US" altLang="en-US">
                <a:latin typeface="Times New Roman" panose="02020603050405020304" charset="0"/>
                <a:cs typeface="Times New Roman" panose="02020603050405020304" charset="0"/>
              </a:rPr>
              <a:t>Reducing the product functions into a function of the summation</a:t>
            </a:r>
            <a:endParaRPr lang="en-US" altLang="en-US">
              <a:latin typeface="Times New Roman" panose="02020603050405020304" charset="0"/>
              <a:cs typeface="Times New Roman" panose="02020603050405020304" charset="0"/>
            </a:endParaRPr>
          </a:p>
          <a:p>
            <a:pPr marL="514350" indent="-514350">
              <a:buFont typeface="+mj-lt"/>
              <a:buAutoNum type="arabicParenR"/>
            </a:pPr>
            <a:r>
              <a:rPr lang="en-US" altLang="en-US">
                <a:latin typeface="Times New Roman" panose="02020603050405020304" charset="0"/>
                <a:cs typeface="Times New Roman" panose="02020603050405020304" charset="0"/>
              </a:rPr>
              <a:t>Maximizing or minimizing the negative aspect of the objective function</a:t>
            </a:r>
            <a:endParaRPr lang="en-US" altLang="en-US">
              <a:latin typeface="Times New Roman" panose="02020603050405020304" charset="0"/>
              <a:cs typeface="Times New Roman" panose="02020603050405020304" charset="0"/>
            </a:endParaRPr>
          </a:p>
          <a:p>
            <a:pPr marL="514350" indent="-514350">
              <a:buFont typeface="+mj-lt"/>
              <a:buAutoNum type="arabicParenR"/>
            </a:pPr>
            <a:r>
              <a:rPr lang="en-US" altLang="en-US">
                <a:latin typeface="Times New Roman" panose="02020603050405020304" charset="0"/>
                <a:cs typeface="Times New Roman" panose="02020603050405020304" charset="0"/>
              </a:rPr>
              <a:t>Verifying those safe assumptions comprises uniform priors</a:t>
            </a:r>
            <a:endParaRPr lang="en-US" altLang="en-US">
              <a:latin typeface="Times New Roman" panose="02020603050405020304" charset="0"/>
              <a:cs typeface="Times New Roman" panose="02020603050405020304" charset="0"/>
            </a:endParaRPr>
          </a:p>
          <a:p>
            <a:pPr marL="0" indent="0">
              <a:buFont typeface="+mj-lt"/>
              <a:buNone/>
            </a:pPr>
            <a:r>
              <a:rPr lang="en-US" altLang="en-US">
                <a:latin typeface="Times New Roman" panose="02020603050405020304" charset="0"/>
                <a:cs typeface="Times New Roman" panose="02020603050405020304" charset="0"/>
              </a:rPr>
              <a:t>Using the above steps and ways to implement MLE would be helpful in successfully estimating distribution data.</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MLE Advantages</a:t>
            </a:r>
            <a:endParaRPr lang="en-US" altLang="en-US" b="1">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It becomes the best and the most efficient estimator of a parameter if correct assumptions for the model gets used.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It has the ability to provide the user with a consistent and flexible approach making it more reliable than other estimators.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It gets applied in different types of applications where other models' assumptions get violated.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For larger samples, it produces unbiased outcomes.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MLE Disadvantages</a:t>
            </a:r>
            <a:endParaRPr lang="en-US" b="1"/>
          </a:p>
        </p:txBody>
      </p:sp>
      <p:sp>
        <p:nvSpPr>
          <p:cNvPr id="3" name="Content Placeholder 2"/>
          <p:cNvSpPr>
            <a:spLocks noGrp="1"/>
          </p:cNvSpPr>
          <p:nvPr>
            <p:ph idx="1"/>
          </p:nvPr>
        </p:nvSpPr>
        <p:spPr/>
        <p:txBody>
          <a:bodyPr/>
          <a:p>
            <a:r>
              <a:rPr lang="en-US" altLang="en-US">
                <a:latin typeface="Times New Roman" panose="02020603050405020304" charset="0"/>
                <a:cs typeface="Times New Roman" panose="02020603050405020304" charset="0"/>
              </a:rPr>
              <a:t>It depends on the assumptions of such a model whose derivation function has never been easy.</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It gets highly sensitive to choosing of initiating values of a model, which poses great problems like other models.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numerical estimation could become quite expensive computationally based on the complexity of the MLE function.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For a smaller sample, it produces biased outcomes.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Maximum A Posteriori (MAP) </a:t>
            </a:r>
            <a:endParaRPr lang="en-US" b="1"/>
          </a:p>
        </p:txBody>
      </p:sp>
      <p:sp>
        <p:nvSpPr>
          <p:cNvPr id="3" name="Content Placeholder 2"/>
          <p:cNvSpPr>
            <a:spLocks noGrp="1"/>
          </p:cNvSpPr>
          <p:nvPr>
            <p:ph idx="1"/>
          </p:nvPr>
        </p:nvSpPr>
        <p:spPr/>
        <p:txBody>
          <a:bodyPr/>
          <a:p>
            <a:pPr>
              <a:lnSpc>
                <a:spcPct val="150000"/>
              </a:lnSpc>
            </a:pPr>
            <a:r>
              <a:rPr lang="en-US" altLang="en-US">
                <a:latin typeface="Times New Roman" panose="02020603050405020304" charset="0"/>
                <a:cs typeface="Times New Roman" panose="02020603050405020304" charset="0"/>
              </a:rPr>
              <a:t>Maximum A Posteriori (MAP) Estimation</a:t>
            </a:r>
            <a:r>
              <a:rPr lang=""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Maximum A Posteriori (MAP) estimation is a Bayesian method used to find the most probable value for a model's parameters</a:t>
            </a:r>
            <a:r>
              <a:rPr lang="en-US" altLang="en-US" b="1" i="1">
                <a:latin typeface="Times New Roman" panose="02020603050405020304" charset="0"/>
                <a:cs typeface="Times New Roman" panose="02020603050405020304" charset="0"/>
              </a:rPr>
              <a:t> (θ) </a:t>
            </a:r>
            <a:r>
              <a:rPr lang="en-US" altLang="en-US">
                <a:latin typeface="Times New Roman" panose="02020603050405020304" charset="0"/>
                <a:cs typeface="Times New Roman" panose="02020603050405020304" charset="0"/>
              </a:rPr>
              <a:t>given observed data </a:t>
            </a:r>
            <a:r>
              <a:rPr lang="en-US" altLang="en-US" b="1" i="1">
                <a:latin typeface="Times New Roman" panose="02020603050405020304" charset="0"/>
                <a:cs typeface="Times New Roman" panose="02020603050405020304" charset="0"/>
              </a:rPr>
              <a:t>(D).</a:t>
            </a:r>
            <a:r>
              <a:rPr lang="en-US" altLang="en-US">
                <a:latin typeface="Times New Roman" panose="02020603050405020304" charset="0"/>
                <a:cs typeface="Times New Roman" panose="02020603050405020304" charset="0"/>
              </a:rPr>
              <a:t> It is an extension of Maximum Likelihood Estimation (MLE) that incorporates prior knowledge about the parameters.</a:t>
            </a:r>
            <a:r>
              <a:rPr lang="" altLang="en-US">
                <a:latin typeface="Times New Roman" panose="02020603050405020304" charset="0"/>
                <a:cs typeface="Times New Roman" panose="02020603050405020304" charset="0"/>
              </a:rPr>
              <a:t> </a:t>
            </a:r>
            <a:endParaRPr lang="" altLang="en-US">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Process</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1307465" y="1765935"/>
            <a:ext cx="839978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Formula</a:t>
            </a:r>
            <a:endParaRPr lang="en-US" b="1">
              <a:latin typeface="Times New Roman" panose="02020603050405020304" charset="0"/>
              <a:cs typeface="Times New Roman" panose="02020603050405020304" charset="0"/>
            </a:endParaRPr>
          </a:p>
        </p:txBody>
      </p:sp>
      <p:sp>
        <p:nvSpPr>
          <p:cNvPr id="5" name="Content Placeholder 4"/>
          <p:cNvSpPr/>
          <p:nvPr>
            <p:ph idx="1"/>
          </p:nvPr>
        </p:nvSpPr>
        <p:spPr/>
        <p:txBody>
          <a:bodyPr/>
          <a:p>
            <a:r>
              <a:rPr lang="en-US" altLang="en-US">
                <a:latin typeface="Times New Roman" panose="02020603050405020304" charset="0"/>
                <a:cs typeface="Times New Roman" panose="02020603050405020304" charset="0"/>
              </a:rPr>
              <a:t>The goal of MAP is to find the parameter set (</a:t>
            </a:r>
            <a:r>
              <a:rPr lang="en-US" altLang="en-US" b="1" i="1">
                <a:latin typeface="Times New Roman" panose="02020603050405020304" charset="0"/>
                <a:cs typeface="Times New Roman" panose="02020603050405020304" charset="0"/>
              </a:rPr>
              <a:t>θ)</a:t>
            </a:r>
            <a:r>
              <a:rPr lang="en-US" altLang="en-US">
                <a:latin typeface="Times New Roman" panose="02020603050405020304" charset="0"/>
                <a:cs typeface="Times New Roman" panose="02020603050405020304" charset="0"/>
              </a:rPr>
              <a:t> that maximizes the posterior probability given the data </a:t>
            </a:r>
            <a:r>
              <a:rPr lang="en-US" altLang="en-US" b="1" i="1">
                <a:latin typeface="Times New Roman" panose="02020603050405020304" charset="0"/>
                <a:cs typeface="Times New Roman" panose="02020603050405020304" charset="0"/>
              </a:rPr>
              <a:t>(D)</a:t>
            </a:r>
            <a:endParaRPr lang="en-US" altLang="en-US" b="1" i="1">
              <a:latin typeface="Times New Roman" panose="02020603050405020304" charset="0"/>
              <a:cs typeface="Times New Roman" panose="02020603050405020304" charset="0"/>
            </a:endParaRPr>
          </a:p>
          <a:p>
            <a:endParaRPr lang="en-US" altLang="en-US" b="1" i="1">
              <a:latin typeface="Times New Roman" panose="02020603050405020304" charset="0"/>
              <a:cs typeface="Times New Roman" panose="02020603050405020304" charset="0"/>
            </a:endParaRPr>
          </a:p>
          <a:p>
            <a:pPr algn="ctr"/>
            <a:endParaRPr lang="en-US" altLang="en-US" b="1" i="1">
              <a:latin typeface="Times New Roman" panose="02020603050405020304" charset="0"/>
              <a:cs typeface="Times New Roman" panose="02020603050405020304" charset="0"/>
            </a:endParaRPr>
          </a:p>
          <a:p>
            <a:pPr algn="ctr"/>
            <a:endParaRPr lang="en-US" altLang="en-US" b="1" i="1">
              <a:latin typeface="Times New Roman" panose="02020603050405020304" charset="0"/>
              <a:cs typeface="Times New Roman" panose="02020603050405020304" charset="0"/>
            </a:endParaRPr>
          </a:p>
          <a:p>
            <a:pPr marL="0" indent="0" algn="l">
              <a:buNone/>
            </a:pPr>
            <a:r>
              <a:rPr lang="en-US" altLang="en-US">
                <a:latin typeface="Times New Roman" panose="02020603050405020304" charset="0"/>
                <a:cs typeface="Times New Roman" panose="02020603050405020304" charset="0"/>
              </a:rPr>
              <a:t>Using Bayes' Theorem, we expand this to:</a:t>
            </a:r>
            <a:endParaRPr lang="en-US" altLang="en-US">
              <a:latin typeface="Times New Roman" panose="02020603050405020304" charset="0"/>
              <a:cs typeface="Times New Roman" panose="02020603050405020304" charset="0"/>
            </a:endParaRPr>
          </a:p>
          <a:p>
            <a:pPr marL="0" indent="0" algn="ctr">
              <a:buNone/>
            </a:pPr>
            <a:endParaRPr lang="en-US" altLang="en-US">
              <a:latin typeface="Times New Roman" panose="02020603050405020304" charset="0"/>
              <a:cs typeface="Times New Roman" panose="02020603050405020304" charset="0"/>
            </a:endParaRPr>
          </a:p>
        </p:txBody>
      </p:sp>
      <p:pic>
        <p:nvPicPr>
          <p:cNvPr id="6" name="Picture 5"/>
          <p:cNvPicPr>
            <a:picLocks noChangeAspect="1"/>
          </p:cNvPicPr>
          <p:nvPr/>
        </p:nvPicPr>
        <p:blipFill>
          <a:blip r:embed="rId1"/>
          <a:stretch>
            <a:fillRect/>
          </a:stretch>
        </p:blipFill>
        <p:spPr>
          <a:xfrm>
            <a:off x="4191000" y="2990850"/>
            <a:ext cx="3810000" cy="876300"/>
          </a:xfrm>
          <a:prstGeom prst="rect">
            <a:avLst/>
          </a:prstGeom>
        </p:spPr>
      </p:pic>
      <p:pic>
        <p:nvPicPr>
          <p:cNvPr id="7" name="Picture 6"/>
          <p:cNvPicPr>
            <a:picLocks noChangeAspect="1"/>
          </p:cNvPicPr>
          <p:nvPr/>
        </p:nvPicPr>
        <p:blipFill>
          <a:blip r:embed="rId2"/>
          <a:stretch>
            <a:fillRect/>
          </a:stretch>
        </p:blipFill>
        <p:spPr>
          <a:xfrm>
            <a:off x="3752850" y="4989195"/>
            <a:ext cx="4248150" cy="1123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EXAMPLE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lnSpc>
                <a:spcPct val="150000"/>
              </a:lnSpc>
              <a:buNone/>
            </a:pPr>
            <a:r>
              <a:rPr lang="en-US" altLang="en-US">
                <a:latin typeface="Times New Roman" panose="02020603050405020304" charset="0"/>
                <a:cs typeface="Times New Roman" panose="02020603050405020304" charset="0"/>
              </a:rPr>
              <a:t> Even if you flip 3 Heads, </a:t>
            </a:r>
            <a:endParaRPr lang="en-US" altLang="en-US">
              <a:latin typeface="Times New Roman" panose="02020603050405020304" charset="0"/>
              <a:cs typeface="Times New Roman" panose="02020603050405020304" charset="0"/>
            </a:endParaRPr>
          </a:p>
          <a:p>
            <a:pPr marL="0" indent="0">
              <a:lnSpc>
                <a:spcPct val="150000"/>
              </a:lnSpc>
              <a:buNone/>
            </a:pPr>
            <a:r>
              <a:rPr lang="en-US" altLang="en-US">
                <a:latin typeface="Times New Roman" panose="02020603050405020304" charset="0"/>
                <a:cs typeface="Times New Roman" panose="02020603050405020304" charset="0"/>
              </a:rPr>
              <a:t>Your "Prior" belief that coins are usually fair pulls the estimate closer to (50%) rather than (100\%).</a:t>
            </a:r>
            <a:br>
              <a:rPr lang="en-US" altLang="en-US">
                <a:latin typeface="Times New Roman" panose="02020603050405020304" charset="0"/>
                <a:cs typeface="Times New Roman" panose="02020603050405020304" charset="0"/>
              </a:rPr>
            </a:b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Advantages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86130" y="1475740"/>
            <a:ext cx="10515600" cy="4351338"/>
          </a:xfrm>
        </p:spPr>
        <p:txBody>
          <a:bodyPr>
            <a:noAutofit/>
          </a:bodyPr>
          <a:p>
            <a:pPr>
              <a:lnSpc>
                <a:spcPct val="150000"/>
              </a:lnSpc>
            </a:pPr>
            <a:r>
              <a:rPr lang="en-US" altLang="en-US" sz="2400" b="1">
                <a:latin typeface="Times New Roman" panose="02020603050405020304" charset="0"/>
                <a:cs typeface="Times New Roman" panose="02020603050405020304" charset="0"/>
              </a:rPr>
              <a:t>Works well with Small Datasets:</a:t>
            </a:r>
            <a:r>
              <a:rPr lang="en-US" altLang="en-US" sz="2400">
                <a:latin typeface="Times New Roman" panose="02020603050405020304" charset="0"/>
                <a:cs typeface="Times New Roman" panose="02020603050405020304" charset="0"/>
              </a:rPr>
              <a:t> This is the biggest strength of MAP. When you have very little data (e.g., only 3 coin flips), MLE tends to overfit and give extreme probabilities (like 100%). MAP uses the "Prior" to smooth out these extremes, resulting in more realistic estimates.</a:t>
            </a:r>
            <a:endParaRPr lang="en-US" altLang="en-US" sz="2400">
              <a:latin typeface="Times New Roman" panose="02020603050405020304" charset="0"/>
              <a:cs typeface="Times New Roman" panose="02020603050405020304" charset="0"/>
            </a:endParaRPr>
          </a:p>
          <a:p>
            <a:pPr>
              <a:lnSpc>
                <a:spcPct val="150000"/>
              </a:lnSpc>
            </a:pPr>
            <a:r>
              <a:rPr lang="en-US" altLang="en-US" sz="2400" b="1">
                <a:latin typeface="Times New Roman" panose="02020603050405020304" charset="0"/>
                <a:cs typeface="Times New Roman" panose="02020603050405020304" charset="0"/>
              </a:rPr>
              <a:t>Incorporates Prior Knowledge: </a:t>
            </a:r>
            <a:r>
              <a:rPr lang="en-US" altLang="en-US" sz="2400">
                <a:latin typeface="Times New Roman" panose="02020603050405020304" charset="0"/>
                <a:cs typeface="Times New Roman" panose="02020603050405020304" charset="0"/>
              </a:rPr>
              <a:t>It allows you to inject domain expertise into the model. If you are a doctor modeling a disease, you know certain symptoms are rare. You can encode this "medical knowledge" into the Prior, rather than relying solely on the potentially noisy patient data collected.</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Advantages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Autofit/>
          </a:bodyPr>
          <a:p>
            <a:pPr>
              <a:lnSpc>
                <a:spcPct val="150000"/>
              </a:lnSpc>
            </a:pPr>
            <a:r>
              <a:rPr lang="en-US" altLang="en-US" sz="2400" b="1">
                <a:latin typeface="Times New Roman" panose="02020603050405020304" charset="0"/>
                <a:cs typeface="Times New Roman" panose="02020603050405020304" charset="0"/>
              </a:rPr>
              <a:t>Prevents "Zero Probability" Issues:</a:t>
            </a:r>
            <a:r>
              <a:rPr lang="en-US" altLang="en-US" sz="2400">
                <a:latin typeface="Times New Roman" panose="02020603050405020304" charset="0"/>
                <a:cs typeface="Times New Roman" panose="02020603050405020304" charset="0"/>
              </a:rPr>
              <a:t> In text classification (like Naïve Bayes), if a specific word never appears in the training data, MLE assigns it a probability of 0. This can crash the model (because multiplying by 0 zeros out everything). MAP effectively starts with a "virtual count" (Laplace Smoothing), ensuring no probability is ever truly zero.</a:t>
            </a:r>
            <a:endParaRPr lang="en-US" altLang="en-US" sz="2400">
              <a:latin typeface="Times New Roman" panose="02020603050405020304" charset="0"/>
              <a:cs typeface="Times New Roman" panose="02020603050405020304" charset="0"/>
            </a:endParaRPr>
          </a:p>
          <a:p>
            <a:pPr>
              <a:lnSpc>
                <a:spcPct val="150000"/>
              </a:lnSpc>
            </a:pPr>
            <a:r>
              <a:rPr lang="en-US" altLang="en-US" sz="2400" b="1">
                <a:latin typeface="Times New Roman" panose="02020603050405020304" charset="0"/>
                <a:cs typeface="Times New Roman" panose="02020603050405020304" charset="0"/>
              </a:rPr>
              <a:t>Regularization:</a:t>
            </a:r>
            <a:r>
              <a:rPr lang="en-US" altLang="en-US" sz="2400">
                <a:latin typeface="Times New Roman" panose="02020603050405020304" charset="0"/>
                <a:cs typeface="Times New Roman" panose="02020603050405020304" charset="0"/>
              </a:rPr>
              <a:t> In mathematical terms, the "Prior" term acts as a regularizer (similar to L2 regularization in regression). It prevents the model parameters from exploding or becoming too complex, effectively penalizing unlikely values.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83615"/>
          </a:xfrm>
        </p:spPr>
        <p:txBody>
          <a:bodyPr/>
          <a:p>
            <a:r>
              <a:rPr lang="en-US" altLang="en-US" b="1">
                <a:latin typeface="Times New Roman" panose="02020603050405020304" charset="0"/>
                <a:cs typeface="Times New Roman" panose="02020603050405020304" charset="0"/>
                <a:sym typeface="+mn-ea"/>
              </a:rPr>
              <a:t>Disadvantages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5350" y="1253490"/>
            <a:ext cx="10515600" cy="4351338"/>
          </a:xfrm>
        </p:spPr>
        <p:txBody>
          <a:bodyPr>
            <a:noAutofit/>
          </a:bodyPr>
          <a:p>
            <a:pPr>
              <a:lnSpc>
                <a:spcPct val="150000"/>
              </a:lnSpc>
            </a:pPr>
            <a:r>
              <a:rPr lang="en-US" altLang="en-US" sz="2300" b="1">
                <a:latin typeface="Times New Roman" panose="02020603050405020304" charset="0"/>
                <a:cs typeface="Times New Roman" panose="02020603050405020304" charset="0"/>
              </a:rPr>
              <a:t>Subjectivity of the Prior:</a:t>
            </a:r>
            <a:r>
              <a:rPr lang="en-US" altLang="en-US" sz="2300">
                <a:latin typeface="Times New Roman" panose="02020603050405020304" charset="0"/>
                <a:cs typeface="Times New Roman" panose="02020603050405020304" charset="0"/>
              </a:rPr>
              <a:t>The results depend heavily on the prior belief you choose. If your prior is wrong (e.g., you strongly believe a coin is biased towards Tails, but it is actually biased towards Heads), your estimate will be biased and incorrect, taking a lot of data to correct the mistake.</a:t>
            </a:r>
            <a:endParaRPr lang="en-US" altLang="en-US" sz="2300">
              <a:latin typeface="Times New Roman" panose="02020603050405020304" charset="0"/>
              <a:cs typeface="Times New Roman" panose="02020603050405020304" charset="0"/>
            </a:endParaRPr>
          </a:p>
          <a:p>
            <a:pPr>
              <a:lnSpc>
                <a:spcPct val="150000"/>
              </a:lnSpc>
            </a:pPr>
            <a:r>
              <a:rPr lang="en-US" altLang="en-US" sz="2300" b="1">
                <a:latin typeface="Times New Roman" panose="02020603050405020304" charset="0"/>
                <a:cs typeface="Times New Roman" panose="02020603050405020304" charset="0"/>
              </a:rPr>
              <a:t>Computational Complexity:</a:t>
            </a:r>
            <a:r>
              <a:rPr lang="en-US" altLang="en-US" sz="2300">
                <a:latin typeface="Times New Roman" panose="02020603050405020304" charset="0"/>
                <a:cs typeface="Times New Roman" panose="02020603050405020304" charset="0"/>
              </a:rPr>
              <a:t>MLE is usually a simple optimization (counting frequencies). MAP involves multiplying the likelihood by the prior distribution. Depending on the complexity of the distributions used, this can make the math significantly harder (calculating integrals or difficult derivatives).</a:t>
            </a:r>
            <a:endParaRPr lang="en-US" altLang="en-US" sz="2300">
              <a:latin typeface="Times New Roman" panose="02020603050405020304" charset="0"/>
              <a:cs typeface="Times New Roman" panose="02020603050405020304" charset="0"/>
            </a:endParaRPr>
          </a:p>
          <a:p>
            <a:pPr>
              <a:lnSpc>
                <a:spcPct val="150000"/>
              </a:lnSpc>
            </a:pPr>
            <a:r>
              <a:rPr lang="en-US" altLang="en-US" sz="2300" b="1">
                <a:latin typeface="Times New Roman" panose="02020603050405020304" charset="0"/>
                <a:cs typeface="Times New Roman" panose="02020603050405020304" charset="0"/>
              </a:rPr>
              <a:t>Diminishing Returns with Large Data:</a:t>
            </a:r>
            <a:r>
              <a:rPr lang="en-US" altLang="en-US" sz="2300">
                <a:latin typeface="Times New Roman" panose="02020603050405020304" charset="0"/>
                <a:cs typeface="Times New Roman" panose="02020603050405020304" charset="0"/>
              </a:rPr>
              <a:t>As the amount of data ($N$) grows to infinity, the influence of the Prior fades away.</a:t>
            </a:r>
            <a:endParaRPr lang="en-US" altLang="en-US" sz="23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a:latin typeface="Times New Roman" panose="02020603050405020304" charset="0"/>
                <a:cs typeface="Times New Roman" panose="02020603050405020304" charset="0"/>
              </a:rPr>
              <a:t>Comparison Of MLE and MAP With Example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33425" y="1409065"/>
            <a:ext cx="10605135" cy="4492625"/>
          </a:xfrm>
        </p:spPr>
        <p:txBody>
          <a:bodyPr/>
          <a:p>
            <a:pPr marL="0" indent="0">
              <a:buNone/>
            </a:pPr>
            <a:r>
              <a:rPr lang="en-US">
                <a:latin typeface="Times New Roman" panose="02020603050405020304" charset="0"/>
                <a:cs typeface="Times New Roman" panose="02020603050405020304" charset="0"/>
              </a:rPr>
              <a:t>Table:</a:t>
            </a:r>
            <a:endParaRPr lang="en-US">
              <a:latin typeface="Times New Roman" panose="02020603050405020304" charset="0"/>
              <a:cs typeface="Times New Roman" panose="02020603050405020304" charset="0"/>
            </a:endParaRPr>
          </a:p>
        </p:txBody>
      </p:sp>
      <p:graphicFrame>
        <p:nvGraphicFramePr>
          <p:cNvPr id="4" name="Table 3"/>
          <p:cNvGraphicFramePr/>
          <p:nvPr>
            <p:custDataLst>
              <p:tags r:id="rId1"/>
            </p:custDataLst>
          </p:nvPr>
        </p:nvGraphicFramePr>
        <p:xfrm>
          <a:off x="733425" y="1867535"/>
          <a:ext cx="10500360" cy="1715770"/>
        </p:xfrm>
        <a:graphic>
          <a:graphicData uri="http://schemas.openxmlformats.org/drawingml/2006/table">
            <a:tbl>
              <a:tblPr/>
              <a:tblGrid>
                <a:gridCol w="3507740"/>
                <a:gridCol w="3492500"/>
                <a:gridCol w="3500120"/>
              </a:tblGrid>
              <a:tr h="403860">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Method</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Estimate</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Interpretation</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04495">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MLE</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100%</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a:solidFill>
                            <a:srgbClr val="1F1F1F"/>
                          </a:solidFill>
                          <a:latin typeface="Times New Roman" panose="02020603050405020304" charset="0"/>
                          <a:ea typeface="Google Sans Text"/>
                          <a:cs typeface="Times New Roman" panose="02020603050405020304" charset="0"/>
                        </a:rPr>
                        <a:t>"I saw 3 heads, so Tails is impossible." (Extreme)</a:t>
                      </a:r>
                      <a:endParaRPr sz="2800">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07415">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MAP</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b="1">
                          <a:solidFill>
                            <a:srgbClr val="1F1F1F"/>
                          </a:solidFill>
                          <a:latin typeface="Times New Roman" panose="02020603050405020304" charset="0"/>
                          <a:ea typeface="Google Sans Text"/>
                          <a:cs typeface="Times New Roman" panose="02020603050405020304" charset="0"/>
                        </a:rPr>
                        <a:t>80%</a:t>
                      </a:r>
                      <a:endParaRPr sz="2800" b="1">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spcBef>
                          <a:spcPct val="0"/>
                        </a:spcBef>
                        <a:spcAft>
                          <a:spcPct val="0"/>
                        </a:spcAft>
                      </a:pPr>
                      <a:r>
                        <a:rPr sz="2800">
                          <a:solidFill>
                            <a:srgbClr val="1F1F1F"/>
                          </a:solidFill>
                          <a:latin typeface="Times New Roman" panose="02020603050405020304" charset="0"/>
                          <a:ea typeface="Google Sans Text"/>
                          <a:cs typeface="Times New Roman" panose="02020603050405020304" charset="0"/>
                        </a:rPr>
                        <a:t>"I saw 3 heads, but I know coins usually have tails. It's likely biased, but not impossible to get tails." (Balanced)</a:t>
                      </a:r>
                      <a:endParaRPr sz="2800">
                        <a:solidFill>
                          <a:srgbClr val="1F1F1F"/>
                        </a:solidFill>
                        <a:latin typeface="Times New Roman" panose="02020603050405020304" charset="0"/>
                        <a:ea typeface="Google Sans Text"/>
                        <a:cs typeface="Times New Roman" panose="02020603050405020304" charset="0"/>
                      </a:endParaRPr>
                    </a:p>
                  </a:txBody>
                  <a:tcPr marL="76517" marR="76517" marT="51117" marB="511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tags/tag1.xml><?xml version="1.0" encoding="utf-8"?>
<p:tagLst xmlns:p="http://schemas.openxmlformats.org/presentationml/2006/main">
  <p:tag name="TABLE_ENDDRAG_ORIGIN_RECT" val="826*135"/>
  <p:tag name="TABLE_ENDDRAG_RECT" val="66*179*826*13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4571</Words>
  <Application>WPS Presentation</Application>
  <PresentationFormat>Widescreen</PresentationFormat>
  <Paragraphs>98</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 Unicode MS</vt:lpstr>
      <vt:lpstr>Calibri Light</vt:lpstr>
      <vt:lpstr>Calibri</vt:lpstr>
      <vt:lpstr>Microsoft YaHei</vt:lpstr>
      <vt:lpstr>Times New Roman</vt:lpstr>
      <vt:lpstr>Wingdings</vt:lpstr>
      <vt:lpstr>Google Sans Text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nikitha</dc:creator>
  <cp:lastModifiedBy>Nikitha Babu</cp:lastModifiedBy>
  <cp:revision>3</cp:revision>
  <dcterms:created xsi:type="dcterms:W3CDTF">2025-07-23T00:59:00Z</dcterms:created>
  <dcterms:modified xsi:type="dcterms:W3CDTF">2026-01-14T10:21:45Z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0252FB1F44584C0896EE2025237F9039_11</vt:lpwstr>
  </property>
  <property fmtid="{D5CDD505-2E9C-101B-9397-08002B2CF9AE}" pid="3" name="KSOProductBuildVer">
    <vt:lpwstr>1033-12.2.0.23196</vt:lpwstr>
  </property>
</Properties>
</file>