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3"/>
  </p:sld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1359000" y="859320"/>
            <a:ext cx="6426000" cy="294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" name="Google Shape;12;p2"/>
          <p:cNvPicPr/>
          <p:nvPr/>
        </p:nvPicPr>
        <p:blipFill>
          <a:blip r:embed="rId3"/>
          <a:stretch>
            <a:fillRect/>
          </a:stretch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3;p2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4;p2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71;p1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 hasCustomPrompt="1"/>
          </p:nvPr>
        </p:nvSpPr>
        <p:spPr>
          <a:xfrm>
            <a:off x="1988280" y="1728360"/>
            <a:ext cx="516672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8" name="Google Shape;74;p11"/>
          <p:cNvPicPr/>
          <p:nvPr/>
        </p:nvPicPr>
        <p:blipFill>
          <a:blip r:embed="rId3"/>
          <a:stretch>
            <a:fillRect/>
          </a:stretch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75;p11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76;p11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662240" y="237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79;p1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 hasCustomPrompt="1"/>
          </p:nvPr>
        </p:nvSpPr>
        <p:spPr>
          <a:xfrm>
            <a:off x="72000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 hasCustomPrompt="1"/>
          </p:nvPr>
        </p:nvSpPr>
        <p:spPr>
          <a:xfrm>
            <a:off x="341928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 hasCustomPrompt="1"/>
          </p:nvPr>
        </p:nvSpPr>
        <p:spPr>
          <a:xfrm>
            <a:off x="341928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 hasCustomPrompt="1"/>
          </p:nvPr>
        </p:nvSpPr>
        <p:spPr>
          <a:xfrm>
            <a:off x="6118560" y="14029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title" hasCustomPrompt="1"/>
          </p:nvPr>
        </p:nvSpPr>
        <p:spPr>
          <a:xfrm>
            <a:off x="6118560" y="3075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9" name="Google Shape;93;p13"/>
          <p:cNvPicPr/>
          <p:nvPr/>
        </p:nvPicPr>
        <p:blipFill>
          <a:blip r:embed="rId3"/>
          <a:stretch>
            <a:fillRect/>
          </a:stretch>
        </p:blipFill>
        <p:spPr>
          <a:xfrm>
            <a:off x="6754320" y="-300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94;p13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-4464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95;p13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8206200" y="1492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97;p1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3052440" y="3100320"/>
            <a:ext cx="537804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4" name="Google Shape;100;p14"/>
          <p:cNvPicPr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3772080" y="-645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01;p14"/>
          <p:cNvPicPr/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0" y="2662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102;p14"/>
          <p:cNvPicPr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97580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04;p15"/>
          <p:cNvPicPr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2890080" y="-128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105;p1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 hasCustomPrompt="1"/>
          </p:nvPr>
        </p:nvSpPr>
        <p:spPr>
          <a:xfrm>
            <a:off x="4653720" y="1485360"/>
            <a:ext cx="3519360" cy="111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 hasCustomPrompt="1"/>
          </p:nvPr>
        </p:nvSpPr>
        <p:spPr>
          <a:xfrm>
            <a:off x="97092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1" name="Google Shape;109;p15"/>
          <p:cNvPicPr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37240" y="3166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10;p15"/>
          <p:cNvPicPr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173440" y="3242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12;p1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 hasCustomPrompt="1"/>
          </p:nvPr>
        </p:nvSpPr>
        <p:spPr>
          <a:xfrm>
            <a:off x="1303200" y="967320"/>
            <a:ext cx="6537240" cy="92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5" name="Google Shape;115;p16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542160" y="-5943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116;p16"/>
          <p:cNvPicPr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2921400" y="3915720"/>
            <a:ext cx="2209680" cy="22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117;p16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065800" y="1046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9;p1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40" name="Google Shape;122;p17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662240" y="7999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123;p17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124;p17"/>
          <p:cNvPicPr/>
          <p:nvPr/>
        </p:nvPicPr>
        <p:blipFill>
          <a:blip r:embed="rId3"/>
          <a:stretch>
            <a:fillRect/>
          </a:stretch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125;p17"/>
          <p:cNvPicPr/>
          <p:nvPr/>
        </p:nvPicPr>
        <p:blipFill>
          <a:blip r:embed="rId3"/>
          <a:stretch>
            <a:fillRect/>
          </a:stretch>
        </p:blipFill>
        <p:spPr>
          <a:xfrm>
            <a:off x="-23724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26;p17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28;p1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 hasCustomPrompt="1"/>
          </p:nvPr>
        </p:nvSpPr>
        <p:spPr>
          <a:xfrm>
            <a:off x="4837320" y="1501200"/>
            <a:ext cx="3593160" cy="106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47" name="Google Shape;131;p18"/>
          <p:cNvPicPr/>
          <p:nvPr/>
        </p:nvPicPr>
        <p:blipFill>
          <a:blip r:embed="rId3"/>
          <a:stretch>
            <a:fillRect/>
          </a:stretch>
        </p:blipFill>
        <p:spPr>
          <a:xfrm rot="10800000" flipH="1">
            <a:off x="-237240" y="3654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oogle Shape;132;p18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 flipH="1">
            <a:off x="449280" y="-469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133;p18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 flipH="1">
            <a:off x="7662240" y="-250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35;p1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52" name="Google Shape;141;p19"/>
          <p:cNvPicPr/>
          <p:nvPr/>
        </p:nvPicPr>
        <p:blipFill>
          <a:blip r:embed="rId3"/>
          <a:stretch>
            <a:fillRect/>
          </a:stretch>
        </p:blipFill>
        <p:spPr>
          <a:xfrm>
            <a:off x="-927000" y="-462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42;p19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9944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143;p19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35680" y="4449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45;p2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57" name="Google Shape;149;p20"/>
          <p:cNvPicPr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-465840" y="3764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150;p20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322480" y="14900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151;p20"/>
          <p:cNvPicPr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7480440" y="-969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6;p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 hasCustomPrompt="1"/>
          </p:nvPr>
        </p:nvSpPr>
        <p:spPr>
          <a:xfrm>
            <a:off x="924120" y="2208600"/>
            <a:ext cx="353952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 hasCustomPrompt="1"/>
          </p:nvPr>
        </p:nvSpPr>
        <p:spPr>
          <a:xfrm>
            <a:off x="924120" y="1013040"/>
            <a:ext cx="127692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 hasCustomPrompt="1"/>
          </p:nvPr>
        </p:nvSpPr>
        <p:spPr>
          <a:xfrm>
            <a:off x="5009040" y="1013040"/>
            <a:ext cx="3117240" cy="31172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64" name="Google Shape;20;p3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flipH="1">
            <a:off x="-770040" y="-14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21;p3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366160" y="3653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53;p2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68" name="Google Shape;161;p21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0800000" flipH="1">
            <a:off x="-1187640" y="15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162;p21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 flipH="1">
            <a:off x="3919680" y="-920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63;p21"/>
          <p:cNvPicPr/>
          <p:nvPr/>
        </p:nvPicPr>
        <p:blipFill>
          <a:blip r:embed="rId3"/>
          <a:stretch>
            <a:fillRect/>
          </a:stretch>
        </p:blipFill>
        <p:spPr>
          <a:xfrm rot="10800000" flipH="1">
            <a:off x="7997760" y="371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65;p2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73" name="Google Shape;175;p22"/>
          <p:cNvPicPr/>
          <p:nvPr/>
        </p:nvPicPr>
        <p:blipFill>
          <a:blip r:embed="rId3"/>
          <a:stretch>
            <a:fillRect/>
          </a:stretch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76;p22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77;p22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79;p2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78" name="Google Shape;193;p23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424000" y="1269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oogle Shape;194;p23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901080" y="3800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95;p23"/>
          <p:cNvPicPr/>
          <p:nvPr/>
        </p:nvPicPr>
        <p:blipFill>
          <a:blip r:embed="rId3"/>
          <a:stretch>
            <a:fillRect/>
          </a:stretch>
        </p:blipFill>
        <p:spPr>
          <a:xfrm>
            <a:off x="7243200" y="-96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97;p2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61848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 hasCustomPrompt="1"/>
          </p:nvPr>
        </p:nvSpPr>
        <p:spPr>
          <a:xfrm>
            <a:off x="2635920" y="197064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title" hasCustomPrompt="1"/>
          </p:nvPr>
        </p:nvSpPr>
        <p:spPr>
          <a:xfrm>
            <a:off x="4558320" y="3322800"/>
            <a:ext cx="38721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85" name="Google Shape;204;p24"/>
          <p:cNvPicPr/>
          <p:nvPr/>
        </p:nvPicPr>
        <p:blipFill>
          <a:blip r:embed="rId3"/>
          <a:stretch>
            <a:fillRect/>
          </a:stretch>
        </p:blipFill>
        <p:spPr>
          <a:xfrm>
            <a:off x="151560" y="29926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205;p24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365080" y="-8092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206;p24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075080" y="1091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208;p2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90" name="Google Shape;210;p25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-772920" y="400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211;p25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8203680" y="2063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212;p25"/>
          <p:cNvPicPr/>
          <p:nvPr/>
        </p:nvPicPr>
        <p:blipFill>
          <a:blip r:embed="rId3"/>
          <a:stretch>
            <a:fillRect/>
          </a:stretch>
        </p:blipFill>
        <p:spPr>
          <a:xfrm>
            <a:off x="5375520" y="-1262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214;p2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95" name="Google Shape;216;p26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-1180800" y="1017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217;p26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415080" y="-1120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Google Shape;218;p26"/>
          <p:cNvPicPr/>
          <p:nvPr/>
        </p:nvPicPr>
        <p:blipFill>
          <a:blip r:embed="rId3"/>
          <a:stretch>
            <a:fillRect/>
          </a:stretch>
        </p:blipFill>
        <p:spPr>
          <a:xfrm>
            <a:off x="8331120" y="3718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220;p2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00" name="Google Shape;222;p27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223;p27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224;p27"/>
          <p:cNvPicPr/>
          <p:nvPr/>
        </p:nvPicPr>
        <p:blipFill>
          <a:blip r:embed="rId3"/>
          <a:stretch>
            <a:fillRect/>
          </a:stretch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226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title" hasCustomPrompt="1"/>
          </p:nvPr>
        </p:nvSpPr>
        <p:spPr>
          <a:xfrm>
            <a:off x="2347920" y="8384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5" name="Google Shape;229;p28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CREDITS: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This presentation template was created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3"/>
              </a:rPr>
              <a:t>Slidesgo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includes icons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4"/>
              </a:rPr>
              <a:t>Flaticon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, and infographics &amp; images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  <a:hlinkClick r:id="rId5"/>
              </a:rPr>
              <a:t>Freepik</a:t>
            </a:r>
            <a:r>
              <a:rPr lang="en-GB" sz="1000" b="0" u="sng" strike="noStrike">
                <a:solidFill>
                  <a:schemeClr val="dk1"/>
                </a:solidFill>
                <a:effectLst/>
                <a:uFillTx/>
                <a:latin typeface="Assistant"/>
                <a:ea typeface="Assistant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6" name="Google Shape;230;p28"/>
          <p:cNvPicPr/>
          <p:nvPr/>
        </p:nvPicPr>
        <p:blipFill>
          <a:blip r:embed="rId6">
            <a:alphaModFix amt="86000"/>
          </a:blip>
          <a:stretch>
            <a:fillRect/>
          </a:stretch>
        </p:blipFill>
        <p:spPr>
          <a:xfrm>
            <a:off x="1143720" y="-311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Google Shape;231;p28"/>
          <p:cNvPicPr/>
          <p:nvPr/>
        </p:nvPicPr>
        <p:blipFill>
          <a:blip r:embed="rId6">
            <a:alphaModFix amt="25000"/>
          </a:blip>
          <a:stretch>
            <a:fillRect/>
          </a:stretch>
        </p:blipFill>
        <p:spPr>
          <a:xfrm>
            <a:off x="-92880" y="2086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232;p28"/>
          <p:cNvPicPr/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33;p28"/>
          <p:cNvPicPr/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7865640" y="342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35;p2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36;p29"/>
          <p:cNvPicPr/>
          <p:nvPr/>
        </p:nvPicPr>
        <p:blipFill>
          <a:blip r:embed="rId3"/>
          <a:stretch>
            <a:fillRect/>
          </a:stretch>
        </p:blipFill>
        <p:spPr>
          <a:xfrm>
            <a:off x="-1051560" y="7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37;p29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142680" y="43992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238;p29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948440" y="983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41;p30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812880" y="43448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242;p30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4479120" y="-1361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243;p30"/>
          <p:cNvPicPr/>
          <p:nvPr/>
        </p:nvPicPr>
        <p:blipFill>
          <a:blip r:embed="rId3"/>
          <a:stretch>
            <a:fillRect/>
          </a:stretch>
        </p:blipFill>
        <p:spPr>
          <a:xfrm>
            <a:off x="8430840" y="150876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3;p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 hasCustomPrompt="1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21" name="Google Shape;26;p4"/>
          <p:cNvPicPr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7556760" y="-685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7;p4"/>
          <p:cNvPicPr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621600" y="42217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8;p4"/>
          <p:cNvPicPr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996480" y="69552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30;p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26" name="Google Shape;36;p5"/>
          <p:cNvPicPr/>
          <p:nvPr/>
        </p:nvPicPr>
        <p:blipFill>
          <a:blip r:embed="rId3"/>
          <a:stretch>
            <a:fillRect/>
          </a:stretch>
        </p:blipFill>
        <p:spPr>
          <a:xfrm>
            <a:off x="6755400" y="-690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37;p5"/>
          <p:cNvPicPr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867440" y="31226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38;p5"/>
          <p:cNvPicPr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747000" y="166500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40;p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31" name="Google Shape;42;p6"/>
          <p:cNvPicPr/>
          <p:nvPr/>
        </p:nvPicPr>
        <p:blipFill>
          <a:blip r:embed="rId3"/>
          <a:stretch>
            <a:fillRect/>
          </a:stretch>
        </p:blipFill>
        <p:spPr>
          <a:xfrm>
            <a:off x="7815600" y="-4111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43;p6"/>
          <p:cNvPicPr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-1064880" y="1954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44;p6"/>
          <p:cNvPicPr/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6861960" y="4101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46;p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1820520"/>
            <a:ext cx="24292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36" name="Google Shape;49;p7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859680" y="32295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50;p7"/>
          <p:cNvPicPr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2600640" y="-74916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51;p7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643520" y="35920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53;p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1"/>
          <p:cNvSpPr>
            <a:spLocks noGrp="1"/>
          </p:cNvSpPr>
          <p:nvPr>
            <p:ph type="title" hasCustomPrompt="1"/>
          </p:nvPr>
        </p:nvSpPr>
        <p:spPr>
          <a:xfrm>
            <a:off x="1768680" y="1710000"/>
            <a:ext cx="560664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41" name="Google Shape;55;p8"/>
          <p:cNvPicPr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-81720" y="-918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56;p8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619560" y="359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57;p8"/>
          <p:cNvPicPr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392160" y="16632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Google Shape;58;p8"/>
          <p:cNvPicPr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953840" y="2702880"/>
            <a:ext cx="1900440" cy="190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60;p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 hasCustomPrompt="1"/>
          </p:nvPr>
        </p:nvSpPr>
        <p:spPr>
          <a:xfrm>
            <a:off x="2380680" y="1441800"/>
            <a:ext cx="438228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47" name="Google Shape;63;p9"/>
          <p:cNvPicPr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974880" y="17244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64;p9"/>
          <p:cNvPicPr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143640" y="2073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65;p9"/>
          <p:cNvPicPr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377400" y="47448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66;p9"/>
          <p:cNvPicPr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785000" y="2784600"/>
            <a:ext cx="1900440" cy="19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 hasCustomPrompt="1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362075" y="857250"/>
            <a:ext cx="6428740" cy="12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BBN Basics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1362075" y="2510155"/>
            <a:ext cx="6428740" cy="17754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Understanding Bayesian Belief Networks and Their Use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2381400" y="411405"/>
            <a:ext cx="4381200" cy="119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Introduction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611505" y="1601470"/>
            <a:ext cx="8049260" cy="6661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Bayesian Belief Networks (BBNs) are powerful tools used to model complex systems with uncertainty.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They visually represent variables and the probabilistic dependencies between them, enabling sophisticated reasoning and decision-making based on incomplete information.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This overview introduces their core concepts and applications in various domains.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417955" y="406400"/>
            <a:ext cx="6118225" cy="109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2500" lnSpcReduction="1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Definition and Structure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405765" y="1341755"/>
            <a:ext cx="8430260" cy="33077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A Bayesian Belief Network is a </a:t>
            </a:r>
            <a:r>
              <a:rPr lang="en-US" sz="2300" b="0" i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directed acyclic graph (DAG)</a:t>
            </a: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where nodes represent random variables, and edges show conditional dependencies. 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The relationships are quantified using Conditional Probability Tables (CPTs), allowing the network to capture the probabilistic influence of one variable on another, facilitating efficient probabilistic inference.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381400" y="1438200"/>
            <a:ext cx="4381200" cy="119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Components of BBN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611505" y="2787650"/>
            <a:ext cx="8260080" cy="18700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Key components include </a:t>
            </a:r>
            <a:r>
              <a:rPr lang="en-US" sz="16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nodes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(random variables),</a:t>
            </a:r>
            <a:r>
              <a:rPr lang="en-US" sz="1600" b="0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</a:t>
            </a:r>
            <a:r>
              <a:rPr lang="en-US" sz="16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edges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(dependencies), and the </a:t>
            </a:r>
            <a:r>
              <a:rPr lang="en-US" sz="16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Conditional Probability Table (CPT)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for each node. Together, these components represent uncertain knowledge as a structured probabilistic model that supports visual interpretation and computational reasoning for decision support and analysis.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885950" y="739140"/>
            <a:ext cx="6296025" cy="9810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Practical Example and Usage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1090295" y="1972310"/>
            <a:ext cx="7091680" cy="25431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Consider a network where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Rain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influences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Traffic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, which in turn affects being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Late to Office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.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This example demonstrates how BBNs capture dependencies and conditional probabilities in real-world scenarios. Such visual and probabilistic modeling supports decision-making under uncertainty, making BBNs invaluable in fields like risk management and predictive analytics.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600835" y="1435735"/>
            <a:ext cx="6829425" cy="23253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Inference in Bayesian Belief Networks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476375" y="248285"/>
            <a:ext cx="6498590" cy="11899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Types of Inference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323850" y="1564005"/>
            <a:ext cx="8576310" cy="15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Inference in BBNs involves calculating unknown probabilities based on known data.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Common types include </a:t>
            </a:r>
            <a:r>
              <a:rPr lang="en-US" sz="24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predictive inference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(cause to effect), </a:t>
            </a:r>
            <a:r>
              <a:rPr lang="en-US" sz="24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diagnostic inference</a:t>
            </a:r>
            <a:r>
              <a:rPr lang="en-US" sz="2400" b="0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(effect to cause), and </a:t>
            </a:r>
            <a:r>
              <a:rPr lang="en-US" sz="2400" b="1" u="none" strike="noStrike">
                <a:solidFill>
                  <a:srgbClr val="92D050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intercausal inference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 which deals with multiple causes affecting an outcome, enabling comprehensive reasoning about uncertain events.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775460" y="339090"/>
            <a:ext cx="6392545" cy="11144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Inference Example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1202055" y="1779270"/>
            <a:ext cx="7660640" cy="144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Given the evidence that it is raining, we can infer the </a:t>
            </a:r>
            <a:r>
              <a:rPr lang="en-US" sz="23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probability of traffic congestion</a:t>
            </a: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. This demonstrates how BBNs use observed data to update beliefs about related variables, providing actionable insights into related conditions and their likelihoods.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71550" y="771525"/>
            <a:ext cx="6859270" cy="11899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2500" lnSpcReduction="19999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Importance and Applications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459105" y="2139950"/>
            <a:ext cx="8039735" cy="16071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Inference in BBNs is crucial for </a:t>
            </a: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decision-making, risk analysis, and prediction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. 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These networks empower organizations to manage uncertainty effectively, improve forecasting accuracy, and optimize strategies across diverse areas such as healthcare, finance, and supply chain management.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381400" y="267260"/>
            <a:ext cx="4381200" cy="119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dvent Pro"/>
                <a:cs typeface="Times New Roman" panose="02020603050405020304" charset="0"/>
              </a:rPr>
              <a:t>Conclusions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dvent Pro"/>
              <a:cs typeface="Times New Roman" panose="02020603050405020304" charset="0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121920" y="1641475"/>
            <a:ext cx="8890000" cy="18059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Bayesian Belief Networks provide a robust framework for modeling uncertainty through probabilistic dependencies.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Their ability to visualize complex relationships and perform inference supports informed decision-making and risk assessment.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Assistant"/>
                <a:cs typeface="Times New Roman" panose="02020603050405020304" charset="0"/>
              </a:rPr>
              <a:t>As powerful tools for understanding and predicting outcomes, BBNs are essential in many professional and analytic contexts.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Assistant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02970" y="1442085"/>
            <a:ext cx="8241030" cy="1186815"/>
          </a:xfrm>
        </p:spPr>
        <p:txBody>
          <a:bodyPr/>
          <a:p>
            <a:pPr algn="ctr"/>
            <a:r>
              <a:rPr lang="en-US" sz="6600">
                <a:latin typeface="Times New Roman" panose="02020603050405020304" charset="0"/>
                <a:cs typeface="Times New Roman" panose="02020603050405020304" charset="0"/>
              </a:rPr>
              <a:t>THANK YOU!</a:t>
            </a:r>
            <a:endParaRPr lang="en-US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cience Strategies for Marketing by Slidesgo">
  <a:themeElements>
    <a:clrScheme name="Simple Light">
      <a:dk1>
        <a:srgbClr val="CAFFFF"/>
      </a:dk1>
      <a:lt1>
        <a:srgbClr val="03193F"/>
      </a:lt1>
      <a:dk2>
        <a:srgbClr val="6096A2"/>
      </a:dk2>
      <a:lt2>
        <a:srgbClr val="77BCC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A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2875</Words>
  <Application>WPS Presentation</Application>
  <PresentationFormat/>
  <Paragraphs>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</vt:lpstr>
      <vt:lpstr>Symbol</vt:lpstr>
      <vt:lpstr>Advent Pro</vt:lpstr>
      <vt:lpstr>Segoe Print</vt:lpstr>
      <vt:lpstr>Assistant</vt:lpstr>
      <vt:lpstr>OpenSymbol</vt:lpstr>
      <vt:lpstr>Microsoft YaHei</vt:lpstr>
      <vt:lpstr>Arial Unicode MS</vt:lpstr>
      <vt:lpstr>Calibri</vt:lpstr>
      <vt:lpstr>Times New Roman</vt:lpstr>
      <vt:lpstr>Data Science Strategies for Marketing by Slidesgo</vt:lpstr>
      <vt:lpstr>Slidesgo Final Pages</vt:lpstr>
      <vt:lpstr>BBN Basics</vt:lpstr>
      <vt:lpstr>Introduction</vt:lpstr>
      <vt:lpstr>Definition and Structure</vt:lpstr>
      <vt:lpstr>Components of BBN</vt:lpstr>
      <vt:lpstr>Practical Example and Usage</vt:lpstr>
      <vt:lpstr>Inference in Bayesian Belief Networks</vt:lpstr>
      <vt:lpstr>Types of Inference</vt:lpstr>
      <vt:lpstr>Inference Example</vt:lpstr>
      <vt:lpstr>Importance and Applications</vt:lpstr>
      <vt:lpstr>Conclusions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BBN Basics</dc:title>
  <dc:creator/>
  <cp:lastModifiedBy>Nikitha Babu</cp:lastModifiedBy>
  <cp:revision>2</cp:revision>
  <dcterms:created xsi:type="dcterms:W3CDTF">2026-01-15T14:12:44Z</dcterms:created>
  <dcterms:modified xsi:type="dcterms:W3CDTF">2026-01-15T14:21:33Z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025DCA76443443629C34E2DC76CD8508_13</vt:lpwstr>
  </property>
  <property fmtid="{D5CDD505-2E9C-101B-9397-08002B2CF9AE}" pid="4" name="KSOProductBuildVer">
    <vt:lpwstr>1033-12.2.0.23196</vt:lpwstr>
  </property>
</Properties>
</file>