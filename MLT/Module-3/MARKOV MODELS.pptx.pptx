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ns" charset="1" panose="00000000000000000000"/>
      <p:regular r:id="rId19"/>
    </p:embeddedFont>
    <p:embeddedFont>
      <p:font typeface="Crimson Pro Bold" charset="1" panose="00000000000000000000"/>
      <p:regular r:id="rId20"/>
    </p:embeddedFont>
    <p:embeddedFont>
      <p:font typeface="Open Sans Bold" charset="1" panose="00000000000000000000"/>
      <p:regular r:id="rId22"/>
    </p:embeddedFont>
    <p:embeddedFont>
      <p:font typeface="Open Sans Italics" charset="1" panose="00000000000000000000"/>
      <p:regular r:id="rId25"/>
    </p:embeddedFont>
    <p:embeddedFont>
      <p:font typeface="Crimson Pro" charset="1" panose="000000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3711178"/>
            <a:ext cx="2985497" cy="532809"/>
            <a:chOff x="0" y="0"/>
            <a:chExt cx="3980663" cy="710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80688" cy="710438"/>
            </a:xfrm>
            <a:custGeom>
              <a:avLst/>
              <a:gdLst/>
              <a:ahLst/>
              <a:cxnLst/>
              <a:rect r="r" b="b" t="t" l="l"/>
              <a:pathLst>
                <a:path h="710438" w="3980688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853688" y="0"/>
                  </a:lnTo>
                  <a:cubicBezTo>
                    <a:pt x="3923792" y="0"/>
                    <a:pt x="3980688" y="56896"/>
                    <a:pt x="3980688" y="127000"/>
                  </a:cubicBezTo>
                  <a:lnTo>
                    <a:pt x="3980688" y="583438"/>
                  </a:lnTo>
                  <a:cubicBezTo>
                    <a:pt x="3980688" y="653542"/>
                    <a:pt x="3923792" y="710438"/>
                    <a:pt x="3853688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EBE2E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8" id="8" descr="preencoded.png"/>
          <p:cNvSpPr/>
          <p:nvPr/>
        </p:nvSpPr>
        <p:spPr>
          <a:xfrm flipH="false" flipV="false" rot="0">
            <a:off x="1162345" y="3864178"/>
            <a:ext cx="226809" cy="226809"/>
          </a:xfrm>
          <a:custGeom>
            <a:avLst/>
            <a:gdLst/>
            <a:ahLst/>
            <a:cxnLst/>
            <a:rect r="r" b="b" t="t" l="l"/>
            <a:pathLst>
              <a:path h="226809" w="226809">
                <a:moveTo>
                  <a:pt x="0" y="0"/>
                </a:moveTo>
                <a:lnTo>
                  <a:pt x="226810" y="0"/>
                </a:lnTo>
                <a:lnTo>
                  <a:pt x="226810" y="226809"/>
                </a:lnTo>
                <a:lnTo>
                  <a:pt x="0" y="226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414" t="0" r="-10419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02569" y="3729485"/>
            <a:ext cx="2305050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PROBABILITY THEORY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4309767"/>
            <a:ext cx="9328995" cy="93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Understanding Markov Models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582841"/>
            <a:ext cx="16303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A powerful mathematical framework for modeling systems that evolve over time, where the future depends only on the present moment.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44166" y="703812"/>
            <a:ext cx="7196585" cy="88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2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What is a Markov Model?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4166" y="2156222"/>
            <a:ext cx="8723557" cy="1802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A Markov Model is a mathematical tool that represents systems transitioning between different states over time. These models are fundamental in probability theory and have applications across numerous fields.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4166" y="4199934"/>
            <a:ext cx="3372441" cy="45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The Core Principle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4166" y="4843462"/>
            <a:ext cx="8723557" cy="137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The defining characteristic is the </a:t>
            </a:r>
            <a:r>
              <a:rPr lang="en-US" sz="2062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Markov Property</a:t>
            </a: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: the probability of moving to any future state depends only on the current state, not on how the system arrived there.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10335368" y="2293144"/>
            <a:ext cx="7017839" cy="7017839"/>
          </a:xfrm>
          <a:custGeom>
            <a:avLst/>
            <a:gdLst/>
            <a:ahLst/>
            <a:cxnLst/>
            <a:rect r="r" b="b" t="t" l="l"/>
            <a:pathLst>
              <a:path h="7017839" w="7017839">
                <a:moveTo>
                  <a:pt x="0" y="0"/>
                </a:moveTo>
                <a:lnTo>
                  <a:pt x="7017839" y="0"/>
                </a:lnTo>
                <a:lnTo>
                  <a:pt x="7017839" y="7017839"/>
                </a:lnTo>
                <a:lnTo>
                  <a:pt x="0" y="7017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58068"/>
            <a:ext cx="9532439" cy="93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The Markov Property Explained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238" y="2958703"/>
            <a:ext cx="5434460" cy="1134066"/>
          </a:xfrm>
          <a:custGeom>
            <a:avLst/>
            <a:gdLst/>
            <a:ahLst/>
            <a:cxnLst/>
            <a:rect r="r" b="b" t="t" l="l"/>
            <a:pathLst>
              <a:path h="1134066" w="5434460">
                <a:moveTo>
                  <a:pt x="0" y="0"/>
                </a:moveTo>
                <a:lnTo>
                  <a:pt x="5434460" y="0"/>
                </a:lnTo>
                <a:lnTo>
                  <a:pt x="5434460" y="1134066"/>
                </a:lnTo>
                <a:lnTo>
                  <a:pt x="0" y="1134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5" t="0" r="-66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75759" y="4347715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Past States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5759" y="4903584"/>
            <a:ext cx="4867427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Sₙ₋₂, Sₙ₋₁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5759" y="5527329"/>
            <a:ext cx="4867427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History doesn't influence the next transition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6426698" y="2958703"/>
            <a:ext cx="5434460" cy="1134066"/>
          </a:xfrm>
          <a:custGeom>
            <a:avLst/>
            <a:gdLst/>
            <a:ahLst/>
            <a:cxnLst/>
            <a:rect r="r" b="b" t="t" l="l"/>
            <a:pathLst>
              <a:path h="1134066" w="5434460">
                <a:moveTo>
                  <a:pt x="0" y="0"/>
                </a:moveTo>
                <a:lnTo>
                  <a:pt x="5434461" y="0"/>
                </a:lnTo>
                <a:lnTo>
                  <a:pt x="5434461" y="1134066"/>
                </a:lnTo>
                <a:lnTo>
                  <a:pt x="0" y="11340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5" t="0" r="-66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710210" y="4347715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Current State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10210" y="4903584"/>
            <a:ext cx="4867427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Sₙ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10210" y="5527329"/>
            <a:ext cx="4867427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This is all that matters</a:t>
            </a: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for predicting what comes next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11861159" y="2958703"/>
            <a:ext cx="5434460" cy="1134066"/>
          </a:xfrm>
          <a:custGeom>
            <a:avLst/>
            <a:gdLst/>
            <a:ahLst/>
            <a:cxnLst/>
            <a:rect r="r" b="b" t="t" l="l"/>
            <a:pathLst>
              <a:path h="1134066" w="5434460">
                <a:moveTo>
                  <a:pt x="0" y="0"/>
                </a:moveTo>
                <a:lnTo>
                  <a:pt x="5434460" y="0"/>
                </a:lnTo>
                <a:lnTo>
                  <a:pt x="5434460" y="1134066"/>
                </a:lnTo>
                <a:lnTo>
                  <a:pt x="0" y="11340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5" t="0" r="-66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144670" y="4347715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Future State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44670" y="4903584"/>
            <a:ext cx="4867427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Sₙ₊₁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44670" y="5527329"/>
            <a:ext cx="4867427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Determined solely by the present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238" y="7122766"/>
            <a:ext cx="16303523" cy="1658388"/>
            <a:chOff x="0" y="0"/>
            <a:chExt cx="21738031" cy="22111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737955" cy="2211070"/>
            </a:xfrm>
            <a:custGeom>
              <a:avLst/>
              <a:gdLst/>
              <a:ahLst/>
              <a:cxnLst/>
              <a:rect r="r" b="b" t="t" l="l"/>
              <a:pathLst>
                <a:path h="2211070" w="21737955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963" y="0"/>
                    <a:pt x="21737955" y="71120"/>
                    <a:pt x="21737955" y="158750"/>
                  </a:cubicBezTo>
                  <a:lnTo>
                    <a:pt x="21737955" y="2052320"/>
                  </a:lnTo>
                  <a:cubicBezTo>
                    <a:pt x="21737955" y="2140077"/>
                    <a:pt x="21666836" y="2211070"/>
                    <a:pt x="21579205" y="2211070"/>
                  </a:cubicBezTo>
                  <a:lnTo>
                    <a:pt x="158750" y="2211070"/>
                  </a:lnTo>
                  <a:cubicBezTo>
                    <a:pt x="70993" y="2211070"/>
                    <a:pt x="0" y="2139950"/>
                    <a:pt x="0" y="2052320"/>
                  </a:cubicBezTo>
                  <a:close/>
                </a:path>
              </a:pathLst>
            </a:custGeom>
            <a:solidFill>
              <a:srgbClr val="E1D4D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1" id="21" descr="preencoded.png"/>
          <p:cNvSpPr/>
          <p:nvPr/>
        </p:nvSpPr>
        <p:spPr>
          <a:xfrm flipH="false" flipV="false" rot="0">
            <a:off x="1275759" y="7562402"/>
            <a:ext cx="354359" cy="283521"/>
          </a:xfrm>
          <a:custGeom>
            <a:avLst/>
            <a:gdLst/>
            <a:ahLst/>
            <a:cxnLst/>
            <a:rect r="r" b="b" t="t" l="l"/>
            <a:pathLst>
              <a:path h="283521" w="354359">
                <a:moveTo>
                  <a:pt x="0" y="0"/>
                </a:moveTo>
                <a:lnTo>
                  <a:pt x="354359" y="0"/>
                </a:lnTo>
                <a:lnTo>
                  <a:pt x="354359" y="283521"/>
                </a:lnTo>
                <a:lnTo>
                  <a:pt x="0" y="2835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671" r="0" b="-668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913630" y="7391400"/>
            <a:ext cx="15098611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Student-Friendly Analogy:</a:t>
            </a:r>
            <a:r>
              <a:rPr lang="en-US" sz="218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"Tomorrow's weather depends on today's conditions, not on whether it rained two weeks ago."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867070" y="1039568"/>
            <a:ext cx="9514132" cy="802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Core Components of Markov Models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62308" y="2209057"/>
            <a:ext cx="9705384" cy="3388223"/>
            <a:chOff x="0" y="0"/>
            <a:chExt cx="12940513" cy="45176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12927965" cy="4504944"/>
            </a:xfrm>
            <a:custGeom>
              <a:avLst/>
              <a:gdLst/>
              <a:ahLst/>
              <a:cxnLst/>
              <a:rect r="r" b="b" t="t" l="l"/>
              <a:pathLst>
                <a:path h="4504944" w="12927965">
                  <a:moveTo>
                    <a:pt x="0" y="138811"/>
                  </a:moveTo>
                  <a:cubicBezTo>
                    <a:pt x="0" y="62103"/>
                    <a:pt x="62230" y="0"/>
                    <a:pt x="139065" y="0"/>
                  </a:cubicBezTo>
                  <a:lnTo>
                    <a:pt x="12788900" y="0"/>
                  </a:lnTo>
                  <a:cubicBezTo>
                    <a:pt x="12865608" y="0"/>
                    <a:pt x="12927965" y="62103"/>
                    <a:pt x="12927965" y="138811"/>
                  </a:cubicBezTo>
                  <a:lnTo>
                    <a:pt x="12927965" y="4366133"/>
                  </a:lnTo>
                  <a:cubicBezTo>
                    <a:pt x="12927965" y="4442714"/>
                    <a:pt x="12865735" y="4504944"/>
                    <a:pt x="12788900" y="4504944"/>
                  </a:cubicBezTo>
                  <a:lnTo>
                    <a:pt x="139065" y="4504944"/>
                  </a:lnTo>
                  <a:cubicBezTo>
                    <a:pt x="62230" y="4504944"/>
                    <a:pt x="0" y="4442841"/>
                    <a:pt x="0" y="4366133"/>
                  </a:cubicBezTo>
                  <a:close/>
                </a:path>
              </a:pathLst>
            </a:custGeom>
            <a:solidFill>
              <a:srgbClr val="EBE2E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40665" cy="4517644"/>
            </a:xfrm>
            <a:custGeom>
              <a:avLst/>
              <a:gdLst/>
              <a:ahLst/>
              <a:cxnLst/>
              <a:rect r="r" b="b" t="t" l="l"/>
              <a:pathLst>
                <a:path h="4517644" w="12940665">
                  <a:moveTo>
                    <a:pt x="0" y="145161"/>
                  </a:moveTo>
                  <a:cubicBezTo>
                    <a:pt x="0" y="64897"/>
                    <a:pt x="65151" y="0"/>
                    <a:pt x="145415" y="0"/>
                  </a:cubicBezTo>
                  <a:lnTo>
                    <a:pt x="12795250" y="0"/>
                  </a:lnTo>
                  <a:lnTo>
                    <a:pt x="12795250" y="6350"/>
                  </a:lnTo>
                  <a:lnTo>
                    <a:pt x="12795250" y="0"/>
                  </a:lnTo>
                  <a:cubicBezTo>
                    <a:pt x="12875514" y="0"/>
                    <a:pt x="12940665" y="64897"/>
                    <a:pt x="12940665" y="145161"/>
                  </a:cubicBezTo>
                  <a:lnTo>
                    <a:pt x="12934315" y="145161"/>
                  </a:lnTo>
                  <a:lnTo>
                    <a:pt x="12940665" y="145161"/>
                  </a:lnTo>
                  <a:lnTo>
                    <a:pt x="12940665" y="4372483"/>
                  </a:lnTo>
                  <a:lnTo>
                    <a:pt x="12934315" y="4372483"/>
                  </a:lnTo>
                  <a:lnTo>
                    <a:pt x="12940665" y="4372483"/>
                  </a:lnTo>
                  <a:cubicBezTo>
                    <a:pt x="12940665" y="4452620"/>
                    <a:pt x="12875514" y="4517644"/>
                    <a:pt x="12795250" y="4517644"/>
                  </a:cubicBezTo>
                  <a:lnTo>
                    <a:pt x="12795250" y="4511294"/>
                  </a:lnTo>
                  <a:lnTo>
                    <a:pt x="12795250" y="4517644"/>
                  </a:lnTo>
                  <a:lnTo>
                    <a:pt x="145415" y="4517644"/>
                  </a:lnTo>
                  <a:lnTo>
                    <a:pt x="145415" y="4511294"/>
                  </a:lnTo>
                  <a:lnTo>
                    <a:pt x="145415" y="4517644"/>
                  </a:lnTo>
                  <a:cubicBezTo>
                    <a:pt x="65151" y="4517644"/>
                    <a:pt x="0" y="4452620"/>
                    <a:pt x="0" y="4372483"/>
                  </a:cubicBezTo>
                  <a:lnTo>
                    <a:pt x="0" y="145161"/>
                  </a:lnTo>
                  <a:lnTo>
                    <a:pt x="6350" y="145161"/>
                  </a:lnTo>
                  <a:lnTo>
                    <a:pt x="0" y="145161"/>
                  </a:lnTo>
                  <a:moveTo>
                    <a:pt x="12700" y="145161"/>
                  </a:moveTo>
                  <a:lnTo>
                    <a:pt x="12700" y="4372483"/>
                  </a:lnTo>
                  <a:lnTo>
                    <a:pt x="6350" y="4372483"/>
                  </a:lnTo>
                  <a:lnTo>
                    <a:pt x="12700" y="4372483"/>
                  </a:lnTo>
                  <a:cubicBezTo>
                    <a:pt x="12700" y="4445635"/>
                    <a:pt x="72136" y="4504944"/>
                    <a:pt x="145415" y="4504944"/>
                  </a:cubicBezTo>
                  <a:lnTo>
                    <a:pt x="12795250" y="4504944"/>
                  </a:lnTo>
                  <a:cubicBezTo>
                    <a:pt x="12868529" y="4504944"/>
                    <a:pt x="12927965" y="4445635"/>
                    <a:pt x="12927965" y="4372483"/>
                  </a:cubicBezTo>
                  <a:lnTo>
                    <a:pt x="12927965" y="145161"/>
                  </a:lnTo>
                  <a:cubicBezTo>
                    <a:pt x="12927965" y="72009"/>
                    <a:pt x="12868529" y="12700"/>
                    <a:pt x="12795250" y="12700"/>
                  </a:cubicBezTo>
                  <a:lnTo>
                    <a:pt x="145415" y="12700"/>
                  </a:lnTo>
                  <a:lnTo>
                    <a:pt x="145415" y="6350"/>
                  </a:lnTo>
                  <a:lnTo>
                    <a:pt x="145415" y="12700"/>
                  </a:lnTo>
                  <a:cubicBezTo>
                    <a:pt x="72136" y="12700"/>
                    <a:pt x="12700" y="72009"/>
                    <a:pt x="12700" y="145161"/>
                  </a:cubicBezTo>
                  <a:close/>
                </a:path>
              </a:pathLst>
            </a:custGeom>
            <a:solidFill>
              <a:srgbClr val="D1C8C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24245" y="2470995"/>
            <a:ext cx="743102" cy="743102"/>
            <a:chOff x="0" y="0"/>
            <a:chExt cx="990803" cy="9908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0854" cy="990854"/>
            </a:xfrm>
            <a:custGeom>
              <a:avLst/>
              <a:gdLst/>
              <a:ahLst/>
              <a:cxnLst/>
              <a:rect r="r" b="b" t="t" l="l"/>
              <a:pathLst>
                <a:path h="990854" w="990854">
                  <a:moveTo>
                    <a:pt x="0" y="495427"/>
                  </a:moveTo>
                  <a:cubicBezTo>
                    <a:pt x="0" y="221742"/>
                    <a:pt x="221742" y="0"/>
                    <a:pt x="495427" y="0"/>
                  </a:cubicBezTo>
                  <a:cubicBezTo>
                    <a:pt x="769112" y="0"/>
                    <a:pt x="990854" y="221742"/>
                    <a:pt x="990854" y="495427"/>
                  </a:cubicBezTo>
                  <a:cubicBezTo>
                    <a:pt x="990854" y="769112"/>
                    <a:pt x="768985" y="990854"/>
                    <a:pt x="495427" y="990854"/>
                  </a:cubicBezTo>
                  <a:cubicBezTo>
                    <a:pt x="221869" y="990854"/>
                    <a:pt x="0" y="768985"/>
                    <a:pt x="0" y="495427"/>
                  </a:cubicBez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328585" y="2675334"/>
            <a:ext cx="334413" cy="334413"/>
          </a:xfrm>
          <a:custGeom>
            <a:avLst/>
            <a:gdLst/>
            <a:ahLst/>
            <a:cxnLst/>
            <a:rect r="r" b="b" t="t" l="l"/>
            <a:pathLst>
              <a:path h="334413" w="334413">
                <a:moveTo>
                  <a:pt x="0" y="0"/>
                </a:moveTo>
                <a:lnTo>
                  <a:pt x="334413" y="0"/>
                </a:lnTo>
                <a:lnTo>
                  <a:pt x="334413" y="334414"/>
                </a:lnTo>
                <a:lnTo>
                  <a:pt x="0" y="334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24245" y="3452222"/>
            <a:ext cx="3096816" cy="39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States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4245" y="3921176"/>
            <a:ext cx="9181509" cy="869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All possible conditions the system can occupy. At any given time, the system exists in exactly one state.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4245" y="4862665"/>
            <a:ext cx="9181509" cy="472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 i="true">
                <a:solidFill>
                  <a:srgbClr val="443728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Example: Sunny, Rainy, Cloudy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62308" y="5835406"/>
            <a:ext cx="9705384" cy="3388223"/>
            <a:chOff x="0" y="0"/>
            <a:chExt cx="12940513" cy="45176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12927965" cy="4504944"/>
            </a:xfrm>
            <a:custGeom>
              <a:avLst/>
              <a:gdLst/>
              <a:ahLst/>
              <a:cxnLst/>
              <a:rect r="r" b="b" t="t" l="l"/>
              <a:pathLst>
                <a:path h="4504944" w="12927965">
                  <a:moveTo>
                    <a:pt x="0" y="138811"/>
                  </a:moveTo>
                  <a:cubicBezTo>
                    <a:pt x="0" y="62103"/>
                    <a:pt x="62230" y="0"/>
                    <a:pt x="139065" y="0"/>
                  </a:cubicBezTo>
                  <a:lnTo>
                    <a:pt x="12788900" y="0"/>
                  </a:lnTo>
                  <a:cubicBezTo>
                    <a:pt x="12865608" y="0"/>
                    <a:pt x="12927965" y="62103"/>
                    <a:pt x="12927965" y="138811"/>
                  </a:cubicBezTo>
                  <a:lnTo>
                    <a:pt x="12927965" y="4366133"/>
                  </a:lnTo>
                  <a:cubicBezTo>
                    <a:pt x="12927965" y="4442714"/>
                    <a:pt x="12865735" y="4504944"/>
                    <a:pt x="12788900" y="4504944"/>
                  </a:cubicBezTo>
                  <a:lnTo>
                    <a:pt x="139065" y="4504944"/>
                  </a:lnTo>
                  <a:cubicBezTo>
                    <a:pt x="62230" y="4504944"/>
                    <a:pt x="0" y="4442841"/>
                    <a:pt x="0" y="4366133"/>
                  </a:cubicBezTo>
                  <a:close/>
                </a:path>
              </a:pathLst>
            </a:custGeom>
            <a:solidFill>
              <a:srgbClr val="EBE2E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940665" cy="4517644"/>
            </a:xfrm>
            <a:custGeom>
              <a:avLst/>
              <a:gdLst/>
              <a:ahLst/>
              <a:cxnLst/>
              <a:rect r="r" b="b" t="t" l="l"/>
              <a:pathLst>
                <a:path h="4517644" w="12940665">
                  <a:moveTo>
                    <a:pt x="0" y="145161"/>
                  </a:moveTo>
                  <a:cubicBezTo>
                    <a:pt x="0" y="64897"/>
                    <a:pt x="65151" y="0"/>
                    <a:pt x="145415" y="0"/>
                  </a:cubicBezTo>
                  <a:lnTo>
                    <a:pt x="12795250" y="0"/>
                  </a:lnTo>
                  <a:lnTo>
                    <a:pt x="12795250" y="6350"/>
                  </a:lnTo>
                  <a:lnTo>
                    <a:pt x="12795250" y="0"/>
                  </a:lnTo>
                  <a:cubicBezTo>
                    <a:pt x="12875514" y="0"/>
                    <a:pt x="12940665" y="64897"/>
                    <a:pt x="12940665" y="145161"/>
                  </a:cubicBezTo>
                  <a:lnTo>
                    <a:pt x="12934315" y="145161"/>
                  </a:lnTo>
                  <a:lnTo>
                    <a:pt x="12940665" y="145161"/>
                  </a:lnTo>
                  <a:lnTo>
                    <a:pt x="12940665" y="4372483"/>
                  </a:lnTo>
                  <a:lnTo>
                    <a:pt x="12934315" y="4372483"/>
                  </a:lnTo>
                  <a:lnTo>
                    <a:pt x="12940665" y="4372483"/>
                  </a:lnTo>
                  <a:cubicBezTo>
                    <a:pt x="12940665" y="4452620"/>
                    <a:pt x="12875514" y="4517644"/>
                    <a:pt x="12795250" y="4517644"/>
                  </a:cubicBezTo>
                  <a:lnTo>
                    <a:pt x="12795250" y="4511294"/>
                  </a:lnTo>
                  <a:lnTo>
                    <a:pt x="12795250" y="4517644"/>
                  </a:lnTo>
                  <a:lnTo>
                    <a:pt x="145415" y="4517644"/>
                  </a:lnTo>
                  <a:lnTo>
                    <a:pt x="145415" y="4511294"/>
                  </a:lnTo>
                  <a:lnTo>
                    <a:pt x="145415" y="4517644"/>
                  </a:lnTo>
                  <a:cubicBezTo>
                    <a:pt x="65151" y="4517644"/>
                    <a:pt x="0" y="4452620"/>
                    <a:pt x="0" y="4372483"/>
                  </a:cubicBezTo>
                  <a:lnTo>
                    <a:pt x="0" y="145161"/>
                  </a:lnTo>
                  <a:lnTo>
                    <a:pt x="6350" y="145161"/>
                  </a:lnTo>
                  <a:lnTo>
                    <a:pt x="0" y="145161"/>
                  </a:lnTo>
                  <a:moveTo>
                    <a:pt x="12700" y="145161"/>
                  </a:moveTo>
                  <a:lnTo>
                    <a:pt x="12700" y="4372483"/>
                  </a:lnTo>
                  <a:lnTo>
                    <a:pt x="6350" y="4372483"/>
                  </a:lnTo>
                  <a:lnTo>
                    <a:pt x="12700" y="4372483"/>
                  </a:lnTo>
                  <a:cubicBezTo>
                    <a:pt x="12700" y="4445635"/>
                    <a:pt x="72136" y="4504944"/>
                    <a:pt x="145415" y="4504944"/>
                  </a:cubicBezTo>
                  <a:lnTo>
                    <a:pt x="12795250" y="4504944"/>
                  </a:lnTo>
                  <a:cubicBezTo>
                    <a:pt x="12868529" y="4504944"/>
                    <a:pt x="12927965" y="4445635"/>
                    <a:pt x="12927965" y="4372483"/>
                  </a:cubicBezTo>
                  <a:lnTo>
                    <a:pt x="12927965" y="145161"/>
                  </a:lnTo>
                  <a:cubicBezTo>
                    <a:pt x="12927965" y="72009"/>
                    <a:pt x="12868529" y="12700"/>
                    <a:pt x="12795250" y="12700"/>
                  </a:cubicBezTo>
                  <a:lnTo>
                    <a:pt x="145415" y="12700"/>
                  </a:lnTo>
                  <a:lnTo>
                    <a:pt x="145415" y="6350"/>
                  </a:lnTo>
                  <a:lnTo>
                    <a:pt x="145415" y="12700"/>
                  </a:lnTo>
                  <a:cubicBezTo>
                    <a:pt x="72136" y="12700"/>
                    <a:pt x="12700" y="72009"/>
                    <a:pt x="12700" y="145161"/>
                  </a:cubicBezTo>
                  <a:close/>
                </a:path>
              </a:pathLst>
            </a:custGeom>
            <a:solidFill>
              <a:srgbClr val="D1C8C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24245" y="6097343"/>
            <a:ext cx="743102" cy="743102"/>
            <a:chOff x="0" y="0"/>
            <a:chExt cx="990803" cy="9908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0854" cy="990854"/>
            </a:xfrm>
            <a:custGeom>
              <a:avLst/>
              <a:gdLst/>
              <a:ahLst/>
              <a:cxnLst/>
              <a:rect r="r" b="b" t="t" l="l"/>
              <a:pathLst>
                <a:path h="990854" w="990854">
                  <a:moveTo>
                    <a:pt x="0" y="495427"/>
                  </a:moveTo>
                  <a:cubicBezTo>
                    <a:pt x="0" y="221742"/>
                    <a:pt x="221742" y="0"/>
                    <a:pt x="495427" y="0"/>
                  </a:cubicBezTo>
                  <a:cubicBezTo>
                    <a:pt x="769112" y="0"/>
                    <a:pt x="990854" y="221742"/>
                    <a:pt x="990854" y="495427"/>
                  </a:cubicBezTo>
                  <a:cubicBezTo>
                    <a:pt x="990854" y="769112"/>
                    <a:pt x="768985" y="990854"/>
                    <a:pt x="495427" y="990854"/>
                  </a:cubicBezTo>
                  <a:cubicBezTo>
                    <a:pt x="221869" y="990854"/>
                    <a:pt x="0" y="768985"/>
                    <a:pt x="0" y="495427"/>
                  </a:cubicBez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1" id="21" descr="preencoded.png"/>
          <p:cNvSpPr/>
          <p:nvPr/>
        </p:nvSpPr>
        <p:spPr>
          <a:xfrm flipH="false" flipV="false" rot="0">
            <a:off x="1328585" y="6301683"/>
            <a:ext cx="334413" cy="334413"/>
          </a:xfrm>
          <a:custGeom>
            <a:avLst/>
            <a:gdLst/>
            <a:ahLst/>
            <a:cxnLst/>
            <a:rect r="r" b="b" t="t" l="l"/>
            <a:pathLst>
              <a:path h="334413" w="334413">
                <a:moveTo>
                  <a:pt x="0" y="0"/>
                </a:moveTo>
                <a:lnTo>
                  <a:pt x="334413" y="0"/>
                </a:lnTo>
                <a:lnTo>
                  <a:pt x="334413" y="334413"/>
                </a:lnTo>
                <a:lnTo>
                  <a:pt x="0" y="3344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944" r="0" b="-6946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24245" y="7078561"/>
            <a:ext cx="3124352" cy="39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Transition Probabilities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4245" y="7547524"/>
            <a:ext cx="9181509" cy="869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The likelihood of moving from one state to another. These values are organized in a transition matrix.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4245" y="8489004"/>
            <a:ext cx="9181509" cy="472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 i="true">
                <a:solidFill>
                  <a:srgbClr val="443728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Sum from any state = 1.0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812579"/>
            <a:ext cx="8607771" cy="93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Weather Prediction Example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227489"/>
            <a:ext cx="16303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Let's model a simple weather system with two states to see how Markov Models work in practice.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340723"/>
            <a:ext cx="6224740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Today's Weather → Tomorrow's Weather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7476" y="5126384"/>
            <a:ext cx="7815415" cy="2467270"/>
            <a:chOff x="0" y="0"/>
            <a:chExt cx="10420553" cy="32896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20477" cy="3289681"/>
            </a:xfrm>
            <a:custGeom>
              <a:avLst/>
              <a:gdLst/>
              <a:ahLst/>
              <a:cxnLst/>
              <a:rect r="r" b="b" t="t" l="l"/>
              <a:pathLst>
                <a:path h="3289681" w="10420477">
                  <a:moveTo>
                    <a:pt x="0" y="165100"/>
                  </a:moveTo>
                  <a:cubicBezTo>
                    <a:pt x="0" y="73914"/>
                    <a:pt x="74168" y="0"/>
                    <a:pt x="165481" y="0"/>
                  </a:cubicBezTo>
                  <a:lnTo>
                    <a:pt x="10254996" y="0"/>
                  </a:lnTo>
                  <a:lnTo>
                    <a:pt x="10254996" y="6350"/>
                  </a:lnTo>
                  <a:lnTo>
                    <a:pt x="10254996" y="0"/>
                  </a:lnTo>
                  <a:cubicBezTo>
                    <a:pt x="10346436" y="0"/>
                    <a:pt x="10420477" y="73914"/>
                    <a:pt x="10420477" y="165100"/>
                  </a:cubicBezTo>
                  <a:lnTo>
                    <a:pt x="10414127" y="165100"/>
                  </a:lnTo>
                  <a:lnTo>
                    <a:pt x="10420477" y="165100"/>
                  </a:lnTo>
                  <a:lnTo>
                    <a:pt x="10420477" y="3124581"/>
                  </a:lnTo>
                  <a:lnTo>
                    <a:pt x="10414127" y="3124581"/>
                  </a:lnTo>
                  <a:lnTo>
                    <a:pt x="10420477" y="3124581"/>
                  </a:lnTo>
                  <a:cubicBezTo>
                    <a:pt x="10420477" y="3215767"/>
                    <a:pt x="10346309" y="3289681"/>
                    <a:pt x="10254996" y="3289681"/>
                  </a:cubicBezTo>
                  <a:lnTo>
                    <a:pt x="10254996" y="3283331"/>
                  </a:lnTo>
                  <a:lnTo>
                    <a:pt x="10254996" y="3289681"/>
                  </a:lnTo>
                  <a:lnTo>
                    <a:pt x="165481" y="3289681"/>
                  </a:lnTo>
                  <a:lnTo>
                    <a:pt x="165481" y="3283331"/>
                  </a:lnTo>
                  <a:lnTo>
                    <a:pt x="165481" y="3289681"/>
                  </a:lnTo>
                  <a:cubicBezTo>
                    <a:pt x="74041" y="3289681"/>
                    <a:pt x="0" y="3215767"/>
                    <a:pt x="0" y="312458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124581"/>
                  </a:lnTo>
                  <a:lnTo>
                    <a:pt x="6350" y="3124581"/>
                  </a:lnTo>
                  <a:lnTo>
                    <a:pt x="12700" y="3124581"/>
                  </a:lnTo>
                  <a:cubicBezTo>
                    <a:pt x="12700" y="3208782"/>
                    <a:pt x="81153" y="3276981"/>
                    <a:pt x="165481" y="3276981"/>
                  </a:cubicBezTo>
                  <a:lnTo>
                    <a:pt x="10254996" y="3276981"/>
                  </a:lnTo>
                  <a:cubicBezTo>
                    <a:pt x="10339451" y="3276981"/>
                    <a:pt x="10407777" y="3208782"/>
                    <a:pt x="10407777" y="3124581"/>
                  </a:cubicBezTo>
                  <a:lnTo>
                    <a:pt x="10407777" y="165100"/>
                  </a:lnTo>
                  <a:cubicBezTo>
                    <a:pt x="10407777" y="80899"/>
                    <a:pt x="10339324" y="12700"/>
                    <a:pt x="10254996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153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01763" y="5140671"/>
            <a:ext cx="7786840" cy="812902"/>
            <a:chOff x="0" y="0"/>
            <a:chExt cx="10382453" cy="10838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82504" cy="1083818"/>
            </a:xfrm>
            <a:custGeom>
              <a:avLst/>
              <a:gdLst/>
              <a:ahLst/>
              <a:cxnLst/>
              <a:rect r="r" b="b" t="t" l="l"/>
              <a:pathLst>
                <a:path h="1083818" w="10382504">
                  <a:moveTo>
                    <a:pt x="0" y="0"/>
                  </a:moveTo>
                  <a:lnTo>
                    <a:pt x="10382504" y="0"/>
                  </a:lnTo>
                  <a:lnTo>
                    <a:pt x="10382504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285427" y="5234578"/>
            <a:ext cx="2542880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04865" y="5234578"/>
            <a:ext cx="1759448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Sunny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40871" y="5234578"/>
            <a:ext cx="1764211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Rainy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01763" y="5953573"/>
            <a:ext cx="7786840" cy="812902"/>
            <a:chOff x="0" y="0"/>
            <a:chExt cx="10382453" cy="1083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382504" cy="1083818"/>
            </a:xfrm>
            <a:custGeom>
              <a:avLst/>
              <a:gdLst/>
              <a:ahLst/>
              <a:cxnLst/>
              <a:rect r="r" b="b" t="t" l="l"/>
              <a:pathLst>
                <a:path h="1083818" w="10382504">
                  <a:moveTo>
                    <a:pt x="0" y="0"/>
                  </a:moveTo>
                  <a:lnTo>
                    <a:pt x="10382504" y="0"/>
                  </a:lnTo>
                  <a:lnTo>
                    <a:pt x="10382504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85427" y="6047480"/>
            <a:ext cx="2542880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Sunny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04865" y="6047480"/>
            <a:ext cx="1759448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0.7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40871" y="6047480"/>
            <a:ext cx="1764211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0.3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01763" y="6766474"/>
            <a:ext cx="7786840" cy="812902"/>
            <a:chOff x="0" y="0"/>
            <a:chExt cx="10382453" cy="10838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382504" cy="1083818"/>
            </a:xfrm>
            <a:custGeom>
              <a:avLst/>
              <a:gdLst/>
              <a:ahLst/>
              <a:cxnLst/>
              <a:rect r="r" b="b" t="t" l="l"/>
              <a:pathLst>
                <a:path h="1083818" w="10382504">
                  <a:moveTo>
                    <a:pt x="0" y="0"/>
                  </a:moveTo>
                  <a:lnTo>
                    <a:pt x="10382504" y="0"/>
                  </a:lnTo>
                  <a:lnTo>
                    <a:pt x="10382504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285427" y="6860381"/>
            <a:ext cx="2542880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Rainy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404865" y="6860381"/>
            <a:ext cx="1759448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0.4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740871" y="6860381"/>
            <a:ext cx="1764211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0.6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99397" y="4340723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Interpretation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99397" y="5009998"/>
            <a:ext cx="780589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If today is </a:t>
            </a:r>
            <a:r>
              <a:rPr lang="en-US" b="true" sz="2187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Sunny</a:t>
            </a: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: 70% chance tomorrow is sunny, 30% chance of rain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99397" y="6016381"/>
            <a:ext cx="780589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If today is </a:t>
            </a:r>
            <a:r>
              <a:rPr lang="en-US" b="true" sz="2187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Rainy</a:t>
            </a: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: 40% chance tomorrow is sunny, 60% chance of more rain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99397" y="7178726"/>
            <a:ext cx="780589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Key insight: We ignore whether it's been sunny for 10 days straight. Only today matters.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380355"/>
            <a:ext cx="7088238" cy="93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Why Ignore the Past?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3188" y="3861940"/>
            <a:ext cx="5283546" cy="4016131"/>
            <a:chOff x="0" y="0"/>
            <a:chExt cx="7044728" cy="53548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6993890" cy="5304028"/>
            </a:xfrm>
            <a:custGeom>
              <a:avLst/>
              <a:gdLst/>
              <a:ahLst/>
              <a:cxnLst/>
              <a:rect r="r" b="b" t="t" l="l"/>
              <a:pathLst>
                <a:path h="5304028" w="6993890">
                  <a:moveTo>
                    <a:pt x="0" y="243840"/>
                  </a:moveTo>
                  <a:cubicBezTo>
                    <a:pt x="0" y="109220"/>
                    <a:pt x="109474" y="0"/>
                    <a:pt x="244348" y="0"/>
                  </a:cubicBezTo>
                  <a:lnTo>
                    <a:pt x="6749542" y="0"/>
                  </a:lnTo>
                  <a:cubicBezTo>
                    <a:pt x="6884543" y="0"/>
                    <a:pt x="6993890" y="109220"/>
                    <a:pt x="6993890" y="243840"/>
                  </a:cubicBezTo>
                  <a:lnTo>
                    <a:pt x="6993890" y="5060188"/>
                  </a:lnTo>
                  <a:cubicBezTo>
                    <a:pt x="6993890" y="5194808"/>
                    <a:pt x="6884416" y="5304028"/>
                    <a:pt x="6749542" y="5304028"/>
                  </a:cubicBezTo>
                  <a:lnTo>
                    <a:pt x="244348" y="5304028"/>
                  </a:lnTo>
                  <a:cubicBezTo>
                    <a:pt x="109347" y="5304028"/>
                    <a:pt x="0" y="5194808"/>
                    <a:pt x="0" y="5060188"/>
                  </a:cubicBez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4690" cy="5354828"/>
            </a:xfrm>
            <a:custGeom>
              <a:avLst/>
              <a:gdLst/>
              <a:ahLst/>
              <a:cxnLst/>
              <a:rect r="r" b="b" t="t" l="l"/>
              <a:pathLst>
                <a:path h="5354828" w="7044690">
                  <a:moveTo>
                    <a:pt x="0" y="269240"/>
                  </a:moveTo>
                  <a:cubicBezTo>
                    <a:pt x="0" y="120523"/>
                    <a:pt x="120904" y="0"/>
                    <a:pt x="269748" y="0"/>
                  </a:cubicBezTo>
                  <a:lnTo>
                    <a:pt x="6774942" y="0"/>
                  </a:lnTo>
                  <a:lnTo>
                    <a:pt x="6774942" y="25400"/>
                  </a:lnTo>
                  <a:lnTo>
                    <a:pt x="6774942" y="0"/>
                  </a:lnTo>
                  <a:cubicBezTo>
                    <a:pt x="6923913" y="0"/>
                    <a:pt x="7044690" y="120523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5085588"/>
                  </a:lnTo>
                  <a:lnTo>
                    <a:pt x="7019290" y="5085588"/>
                  </a:lnTo>
                  <a:lnTo>
                    <a:pt x="7044690" y="5085588"/>
                  </a:lnTo>
                  <a:cubicBezTo>
                    <a:pt x="7044690" y="5234305"/>
                    <a:pt x="6923786" y="5354828"/>
                    <a:pt x="6774942" y="5354828"/>
                  </a:cubicBezTo>
                  <a:lnTo>
                    <a:pt x="6774942" y="5329428"/>
                  </a:lnTo>
                  <a:lnTo>
                    <a:pt x="6774942" y="5354828"/>
                  </a:lnTo>
                  <a:lnTo>
                    <a:pt x="269748" y="5354828"/>
                  </a:lnTo>
                  <a:lnTo>
                    <a:pt x="269748" y="5329428"/>
                  </a:lnTo>
                  <a:lnTo>
                    <a:pt x="269748" y="5354828"/>
                  </a:lnTo>
                  <a:cubicBezTo>
                    <a:pt x="120904" y="5354828"/>
                    <a:pt x="0" y="5234305"/>
                    <a:pt x="0" y="508558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5085588"/>
                  </a:lnTo>
                  <a:lnTo>
                    <a:pt x="25400" y="5085588"/>
                  </a:lnTo>
                  <a:lnTo>
                    <a:pt x="50800" y="5085588"/>
                  </a:lnTo>
                  <a:cubicBezTo>
                    <a:pt x="50800" y="5206111"/>
                    <a:pt x="148844" y="5304028"/>
                    <a:pt x="269748" y="5304028"/>
                  </a:cubicBezTo>
                  <a:lnTo>
                    <a:pt x="6774942" y="5304028"/>
                  </a:lnTo>
                  <a:cubicBezTo>
                    <a:pt x="6895974" y="5304028"/>
                    <a:pt x="6993890" y="5206238"/>
                    <a:pt x="6993890" y="5085588"/>
                  </a:cubicBezTo>
                  <a:lnTo>
                    <a:pt x="6993890" y="269240"/>
                  </a:lnTo>
                  <a:cubicBezTo>
                    <a:pt x="6993890" y="148717"/>
                    <a:pt x="6895847" y="50800"/>
                    <a:pt x="6774942" y="50800"/>
                  </a:cubicBezTo>
                  <a:lnTo>
                    <a:pt x="269748" y="50800"/>
                  </a:lnTo>
                  <a:lnTo>
                    <a:pt x="269748" y="25400"/>
                  </a:lnTo>
                  <a:lnTo>
                    <a:pt x="269748" y="50800"/>
                  </a:lnTo>
                  <a:cubicBezTo>
                    <a:pt x="148844" y="50800"/>
                    <a:pt x="50800" y="148590"/>
                    <a:pt x="50800" y="269240"/>
                  </a:cubicBez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54138" y="3880990"/>
            <a:ext cx="152400" cy="3978031"/>
            <a:chOff x="0" y="0"/>
            <a:chExt cx="203200" cy="53040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" cy="5304028"/>
            </a:xfrm>
            <a:custGeom>
              <a:avLst/>
              <a:gdLst/>
              <a:ahLst/>
              <a:cxnLst/>
              <a:rect r="r" b="b" t="t" l="l"/>
              <a:pathLst>
                <a:path h="5304028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5202428"/>
                  </a:lnTo>
                  <a:cubicBezTo>
                    <a:pt x="203200" y="5258562"/>
                    <a:pt x="157734" y="5304028"/>
                    <a:pt x="101600" y="5304028"/>
                  </a:cubicBezTo>
                  <a:cubicBezTo>
                    <a:pt x="45466" y="5304028"/>
                    <a:pt x="0" y="5258562"/>
                    <a:pt x="0" y="5202428"/>
                  </a:cubicBez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428159" y="4174036"/>
            <a:ext cx="3846614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Computational Efficiency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159" y="4729905"/>
            <a:ext cx="4487913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Storing and processing complete history is expensive. The Markov Property dramatically reduces memory requirements and speeds up calculations.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02156" y="3861940"/>
            <a:ext cx="5283546" cy="4016131"/>
            <a:chOff x="0" y="0"/>
            <a:chExt cx="7044728" cy="53548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6993890" cy="5304028"/>
            </a:xfrm>
            <a:custGeom>
              <a:avLst/>
              <a:gdLst/>
              <a:ahLst/>
              <a:cxnLst/>
              <a:rect r="r" b="b" t="t" l="l"/>
              <a:pathLst>
                <a:path h="5304028" w="6993890">
                  <a:moveTo>
                    <a:pt x="0" y="243840"/>
                  </a:moveTo>
                  <a:cubicBezTo>
                    <a:pt x="0" y="109220"/>
                    <a:pt x="109474" y="0"/>
                    <a:pt x="244348" y="0"/>
                  </a:cubicBezTo>
                  <a:lnTo>
                    <a:pt x="6749542" y="0"/>
                  </a:lnTo>
                  <a:cubicBezTo>
                    <a:pt x="6884543" y="0"/>
                    <a:pt x="6993890" y="109220"/>
                    <a:pt x="6993890" y="243840"/>
                  </a:cubicBezTo>
                  <a:lnTo>
                    <a:pt x="6993890" y="5060188"/>
                  </a:lnTo>
                  <a:cubicBezTo>
                    <a:pt x="6993890" y="5194808"/>
                    <a:pt x="6884416" y="5304028"/>
                    <a:pt x="6749542" y="5304028"/>
                  </a:cubicBezTo>
                  <a:lnTo>
                    <a:pt x="244348" y="5304028"/>
                  </a:lnTo>
                  <a:cubicBezTo>
                    <a:pt x="109347" y="5304028"/>
                    <a:pt x="0" y="5194808"/>
                    <a:pt x="0" y="5060188"/>
                  </a:cubicBez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44690" cy="5354828"/>
            </a:xfrm>
            <a:custGeom>
              <a:avLst/>
              <a:gdLst/>
              <a:ahLst/>
              <a:cxnLst/>
              <a:rect r="r" b="b" t="t" l="l"/>
              <a:pathLst>
                <a:path h="5354828" w="7044690">
                  <a:moveTo>
                    <a:pt x="0" y="269240"/>
                  </a:moveTo>
                  <a:cubicBezTo>
                    <a:pt x="0" y="120523"/>
                    <a:pt x="120904" y="0"/>
                    <a:pt x="269748" y="0"/>
                  </a:cubicBezTo>
                  <a:lnTo>
                    <a:pt x="6774942" y="0"/>
                  </a:lnTo>
                  <a:lnTo>
                    <a:pt x="6774942" y="25400"/>
                  </a:lnTo>
                  <a:lnTo>
                    <a:pt x="6774942" y="0"/>
                  </a:lnTo>
                  <a:cubicBezTo>
                    <a:pt x="6923913" y="0"/>
                    <a:pt x="7044690" y="120523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5085588"/>
                  </a:lnTo>
                  <a:lnTo>
                    <a:pt x="7019290" y="5085588"/>
                  </a:lnTo>
                  <a:lnTo>
                    <a:pt x="7044690" y="5085588"/>
                  </a:lnTo>
                  <a:cubicBezTo>
                    <a:pt x="7044690" y="5234305"/>
                    <a:pt x="6923786" y="5354828"/>
                    <a:pt x="6774942" y="5354828"/>
                  </a:cubicBezTo>
                  <a:lnTo>
                    <a:pt x="6774942" y="5329428"/>
                  </a:lnTo>
                  <a:lnTo>
                    <a:pt x="6774942" y="5354828"/>
                  </a:lnTo>
                  <a:lnTo>
                    <a:pt x="269748" y="5354828"/>
                  </a:lnTo>
                  <a:lnTo>
                    <a:pt x="269748" y="5329428"/>
                  </a:lnTo>
                  <a:lnTo>
                    <a:pt x="269748" y="5354828"/>
                  </a:lnTo>
                  <a:cubicBezTo>
                    <a:pt x="120904" y="5354828"/>
                    <a:pt x="0" y="5234305"/>
                    <a:pt x="0" y="508558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5085588"/>
                  </a:lnTo>
                  <a:lnTo>
                    <a:pt x="25400" y="5085588"/>
                  </a:lnTo>
                  <a:lnTo>
                    <a:pt x="50800" y="5085588"/>
                  </a:lnTo>
                  <a:cubicBezTo>
                    <a:pt x="50800" y="5206111"/>
                    <a:pt x="148844" y="5304028"/>
                    <a:pt x="269748" y="5304028"/>
                  </a:cubicBezTo>
                  <a:lnTo>
                    <a:pt x="6774942" y="5304028"/>
                  </a:lnTo>
                  <a:cubicBezTo>
                    <a:pt x="6895974" y="5304028"/>
                    <a:pt x="6993890" y="5206238"/>
                    <a:pt x="6993890" y="5085588"/>
                  </a:cubicBezTo>
                  <a:lnTo>
                    <a:pt x="6993890" y="269240"/>
                  </a:lnTo>
                  <a:cubicBezTo>
                    <a:pt x="6993890" y="148717"/>
                    <a:pt x="6895847" y="50800"/>
                    <a:pt x="6774942" y="50800"/>
                  </a:cubicBezTo>
                  <a:lnTo>
                    <a:pt x="269748" y="50800"/>
                  </a:lnTo>
                  <a:lnTo>
                    <a:pt x="269748" y="25400"/>
                  </a:lnTo>
                  <a:lnTo>
                    <a:pt x="269748" y="50800"/>
                  </a:lnTo>
                  <a:cubicBezTo>
                    <a:pt x="148844" y="50800"/>
                    <a:pt x="50800" y="148590"/>
                    <a:pt x="50800" y="269240"/>
                  </a:cubicBez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483106" y="3880990"/>
            <a:ext cx="152400" cy="3978031"/>
            <a:chOff x="0" y="0"/>
            <a:chExt cx="203200" cy="53040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3200" cy="5304028"/>
            </a:xfrm>
            <a:custGeom>
              <a:avLst/>
              <a:gdLst/>
              <a:ahLst/>
              <a:cxnLst/>
              <a:rect r="r" b="b" t="t" l="l"/>
              <a:pathLst>
                <a:path h="5304028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5202428"/>
                  </a:lnTo>
                  <a:cubicBezTo>
                    <a:pt x="203200" y="5258562"/>
                    <a:pt x="157734" y="5304028"/>
                    <a:pt x="101600" y="5304028"/>
                  </a:cubicBezTo>
                  <a:cubicBezTo>
                    <a:pt x="45466" y="5304028"/>
                    <a:pt x="0" y="5258562"/>
                    <a:pt x="0" y="5202428"/>
                  </a:cubicBez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6957117" y="4174036"/>
            <a:ext cx="3719960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Mathematical Simplicity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57117" y="4729905"/>
            <a:ext cx="4487913" cy="280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Complex systems become tractable when we only need to track the current state. This simplification enables elegant solutions to otherwise intractable problems.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31113" y="3861940"/>
            <a:ext cx="5283546" cy="4016131"/>
            <a:chOff x="0" y="0"/>
            <a:chExt cx="7044728" cy="535484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6993890" cy="5304028"/>
            </a:xfrm>
            <a:custGeom>
              <a:avLst/>
              <a:gdLst/>
              <a:ahLst/>
              <a:cxnLst/>
              <a:rect r="r" b="b" t="t" l="l"/>
              <a:pathLst>
                <a:path h="5304028" w="6993890">
                  <a:moveTo>
                    <a:pt x="0" y="243840"/>
                  </a:moveTo>
                  <a:cubicBezTo>
                    <a:pt x="0" y="109220"/>
                    <a:pt x="109474" y="0"/>
                    <a:pt x="244348" y="0"/>
                  </a:cubicBezTo>
                  <a:lnTo>
                    <a:pt x="6749542" y="0"/>
                  </a:lnTo>
                  <a:cubicBezTo>
                    <a:pt x="6884543" y="0"/>
                    <a:pt x="6993890" y="109220"/>
                    <a:pt x="6993890" y="243840"/>
                  </a:cubicBezTo>
                  <a:lnTo>
                    <a:pt x="6993890" y="5060188"/>
                  </a:lnTo>
                  <a:cubicBezTo>
                    <a:pt x="6993890" y="5194808"/>
                    <a:pt x="6884416" y="5304028"/>
                    <a:pt x="6749542" y="5304028"/>
                  </a:cubicBezTo>
                  <a:lnTo>
                    <a:pt x="244348" y="5304028"/>
                  </a:lnTo>
                  <a:cubicBezTo>
                    <a:pt x="109347" y="5304028"/>
                    <a:pt x="0" y="5194808"/>
                    <a:pt x="0" y="5060188"/>
                  </a:cubicBez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44690" cy="5354828"/>
            </a:xfrm>
            <a:custGeom>
              <a:avLst/>
              <a:gdLst/>
              <a:ahLst/>
              <a:cxnLst/>
              <a:rect r="r" b="b" t="t" l="l"/>
              <a:pathLst>
                <a:path h="5354828" w="7044690">
                  <a:moveTo>
                    <a:pt x="0" y="269240"/>
                  </a:moveTo>
                  <a:cubicBezTo>
                    <a:pt x="0" y="120523"/>
                    <a:pt x="120904" y="0"/>
                    <a:pt x="269748" y="0"/>
                  </a:cubicBezTo>
                  <a:lnTo>
                    <a:pt x="6774942" y="0"/>
                  </a:lnTo>
                  <a:lnTo>
                    <a:pt x="6774942" y="25400"/>
                  </a:lnTo>
                  <a:lnTo>
                    <a:pt x="6774942" y="0"/>
                  </a:lnTo>
                  <a:cubicBezTo>
                    <a:pt x="6923913" y="0"/>
                    <a:pt x="7044690" y="120523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5085588"/>
                  </a:lnTo>
                  <a:lnTo>
                    <a:pt x="7019290" y="5085588"/>
                  </a:lnTo>
                  <a:lnTo>
                    <a:pt x="7044690" y="5085588"/>
                  </a:lnTo>
                  <a:cubicBezTo>
                    <a:pt x="7044690" y="5234305"/>
                    <a:pt x="6923786" y="5354828"/>
                    <a:pt x="6774942" y="5354828"/>
                  </a:cubicBezTo>
                  <a:lnTo>
                    <a:pt x="6774942" y="5329428"/>
                  </a:lnTo>
                  <a:lnTo>
                    <a:pt x="6774942" y="5354828"/>
                  </a:lnTo>
                  <a:lnTo>
                    <a:pt x="269748" y="5354828"/>
                  </a:lnTo>
                  <a:lnTo>
                    <a:pt x="269748" y="5329428"/>
                  </a:lnTo>
                  <a:lnTo>
                    <a:pt x="269748" y="5354828"/>
                  </a:lnTo>
                  <a:cubicBezTo>
                    <a:pt x="120904" y="5354828"/>
                    <a:pt x="0" y="5234305"/>
                    <a:pt x="0" y="508558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5085588"/>
                  </a:lnTo>
                  <a:lnTo>
                    <a:pt x="25400" y="5085588"/>
                  </a:lnTo>
                  <a:lnTo>
                    <a:pt x="50800" y="5085588"/>
                  </a:lnTo>
                  <a:cubicBezTo>
                    <a:pt x="50800" y="5206111"/>
                    <a:pt x="148844" y="5304028"/>
                    <a:pt x="269748" y="5304028"/>
                  </a:cubicBezTo>
                  <a:lnTo>
                    <a:pt x="6774942" y="5304028"/>
                  </a:lnTo>
                  <a:cubicBezTo>
                    <a:pt x="6895974" y="5304028"/>
                    <a:pt x="6993890" y="5206238"/>
                    <a:pt x="6993890" y="5085588"/>
                  </a:cubicBezTo>
                  <a:lnTo>
                    <a:pt x="6993890" y="269240"/>
                  </a:lnTo>
                  <a:cubicBezTo>
                    <a:pt x="6993890" y="148717"/>
                    <a:pt x="6895847" y="50800"/>
                    <a:pt x="6774942" y="50800"/>
                  </a:cubicBezTo>
                  <a:lnTo>
                    <a:pt x="269748" y="50800"/>
                  </a:lnTo>
                  <a:lnTo>
                    <a:pt x="269748" y="25400"/>
                  </a:lnTo>
                  <a:lnTo>
                    <a:pt x="269748" y="50800"/>
                  </a:lnTo>
                  <a:cubicBezTo>
                    <a:pt x="148844" y="50800"/>
                    <a:pt x="50800" y="148590"/>
                    <a:pt x="50800" y="269240"/>
                  </a:cubicBez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012063" y="3880990"/>
            <a:ext cx="152400" cy="3978031"/>
            <a:chOff x="0" y="0"/>
            <a:chExt cx="203200" cy="530404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3200" cy="5304028"/>
            </a:xfrm>
            <a:custGeom>
              <a:avLst/>
              <a:gdLst/>
              <a:ahLst/>
              <a:cxnLst/>
              <a:rect r="r" b="b" t="t" l="l"/>
              <a:pathLst>
                <a:path h="5304028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5202428"/>
                  </a:lnTo>
                  <a:cubicBezTo>
                    <a:pt x="203200" y="5258562"/>
                    <a:pt x="157734" y="5304028"/>
                    <a:pt x="101600" y="5304028"/>
                  </a:cubicBezTo>
                  <a:cubicBezTo>
                    <a:pt x="45466" y="5304028"/>
                    <a:pt x="0" y="5258562"/>
                    <a:pt x="0" y="5202428"/>
                  </a:cubicBez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2486084" y="4174036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Practical Effectiveness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86084" y="4729905"/>
            <a:ext cx="4487913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For many real-world systems, the present state genuinely captures all relevant information from the past that's needed for future predictions.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15731"/>
            <a:ext cx="7371759" cy="93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Real-World Applications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238" y="2316366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55314" y="2456107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Weather Forecasting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55314" y="3011986"/>
            <a:ext cx="6911426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Predicting atmospheric conditions based on current weather patterns and historical transition probabilities.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321108" y="2316366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8000" r="0" b="-7999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384184" y="2456107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Financial Modeling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84184" y="3011986"/>
            <a:ext cx="6911578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Analyzing stock market trends, credit ratings, and economic state transitions over time.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92238" y="5025628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055314" y="5165379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Google PageRank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55314" y="5721248"/>
            <a:ext cx="691142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Ranking web pages by modeling user navigation as random walks through the internet graph structure.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321108" y="5025628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666" t="0" r="-666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384184" y="5165379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Game Theory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84184" y="5721248"/>
            <a:ext cx="6911578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Modeling board games like Snakes &amp; Ladders where position depends only on current location and dice rolls.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992238" y="7734891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62666" r="0" b="-62666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055314" y="7874641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Traffic Engineering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55314" y="8430520"/>
            <a:ext cx="691142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Analyzing vehicle flow patterns and optimizing traffic light timing at intersections.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9321108" y="7734891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38666" r="0" b="-38667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384184" y="7874641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Genetics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84184" y="8430520"/>
            <a:ext cx="6911578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Studying DNA sequences and modeling gene expression patterns in biological systems.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805435"/>
            <a:ext cx="12999244" cy="93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Key Limitation: Observable States Required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419180"/>
            <a:ext cx="4065537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What Markov Models Need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088454"/>
            <a:ext cx="780589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35E54"/>
                </a:solidFill>
                <a:latin typeface="Open Sans"/>
                <a:ea typeface="Open Sans"/>
                <a:cs typeface="Open Sans"/>
                <a:sym typeface="Open Sans"/>
              </a:rPr>
              <a:t>✓</a:t>
            </a: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87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Fully observable states</a:t>
            </a: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– we must clearly know the current state of the system at all times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250809"/>
            <a:ext cx="780589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35E54"/>
                </a:solidFill>
                <a:latin typeface="Open Sans"/>
                <a:ea typeface="Open Sans"/>
                <a:cs typeface="Open Sans"/>
                <a:sym typeface="Open Sans"/>
              </a:rPr>
              <a:t>✓</a:t>
            </a: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87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Direct measurement</a:t>
            </a: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– states can be determined through observation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6413154"/>
            <a:ext cx="7805890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i="true">
                <a:solidFill>
                  <a:srgbClr val="443728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Example: Weather conditions are directly observable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99397" y="3419180"/>
            <a:ext cx="5459616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Where Standard Markov Models Fail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99397" y="4088454"/>
            <a:ext cx="780589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907C"/>
                </a:solidFill>
                <a:latin typeface="Open Sans"/>
                <a:ea typeface="Open Sans"/>
                <a:cs typeface="Open Sans"/>
                <a:sym typeface="Open Sans"/>
              </a:rPr>
              <a:t>✗</a:t>
            </a: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87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Hidden emotional states</a:t>
            </a: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– internal feelings not directly measurable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99397" y="5250809"/>
            <a:ext cx="780589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907C"/>
                </a:solidFill>
                <a:latin typeface="Open Sans"/>
                <a:ea typeface="Open Sans"/>
                <a:cs typeface="Open Sans"/>
                <a:sym typeface="Open Sans"/>
              </a:rPr>
              <a:t>✗</a:t>
            </a: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87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Speech phonemes</a:t>
            </a: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– underlying sounds hidden beneath audio signal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99397" y="6413154"/>
            <a:ext cx="7805890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907C"/>
                </a:solidFill>
                <a:latin typeface="Open Sans"/>
                <a:ea typeface="Open Sans"/>
                <a:cs typeface="Open Sans"/>
                <a:sym typeface="Open Sans"/>
              </a:rPr>
              <a:t>✗</a:t>
            </a: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87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Latent variables</a:t>
            </a: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– unobserved factors driving behavior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7440816"/>
            <a:ext cx="16303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Solution:</a:t>
            </a: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For systems with hidden states, we use Hidden Markov Models (HMMs), an extension that can infer unobservable states from observed outputs.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790707" y="694734"/>
            <a:ext cx="9564586" cy="1703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Markov Models vs. Hidden Markov Models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790707" y="2798264"/>
            <a:ext cx="28575" cy="6759026"/>
            <a:chOff x="0" y="0"/>
            <a:chExt cx="38100" cy="90120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00" cy="9012047"/>
            </a:xfrm>
            <a:custGeom>
              <a:avLst/>
              <a:gdLst/>
              <a:ahLst/>
              <a:cxnLst/>
              <a:rect r="r" b="b" t="t" l="l"/>
              <a:pathLst>
                <a:path h="9012047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8992997"/>
                  </a:lnTo>
                  <a:cubicBezTo>
                    <a:pt x="38100" y="9003538"/>
                    <a:pt x="29591" y="9012047"/>
                    <a:pt x="19050" y="9012047"/>
                  </a:cubicBezTo>
                  <a:cubicBezTo>
                    <a:pt x="8509" y="9012047"/>
                    <a:pt x="0" y="9003538"/>
                    <a:pt x="0" y="8992997"/>
                  </a:cubicBezTo>
                  <a:close/>
                </a:path>
              </a:pathLst>
            </a:custGeom>
            <a:solidFill>
              <a:srgbClr val="D1C8C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814520" y="2793502"/>
            <a:ext cx="9574111" cy="3122562"/>
            <a:chOff x="0" y="0"/>
            <a:chExt cx="12765481" cy="41634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12752832" cy="4150741"/>
            </a:xfrm>
            <a:custGeom>
              <a:avLst/>
              <a:gdLst/>
              <a:ahLst/>
              <a:cxnLst/>
              <a:rect r="r" b="b" t="t" l="l"/>
              <a:pathLst>
                <a:path h="4150741" w="12752832">
                  <a:moveTo>
                    <a:pt x="0" y="0"/>
                  </a:moveTo>
                  <a:lnTo>
                    <a:pt x="12752832" y="0"/>
                  </a:lnTo>
                  <a:lnTo>
                    <a:pt x="12752832" y="4150741"/>
                  </a:lnTo>
                  <a:lnTo>
                    <a:pt x="0" y="4150741"/>
                  </a:lnTo>
                  <a:close/>
                </a:path>
              </a:pathLst>
            </a:custGeom>
            <a:solidFill>
              <a:srgbClr val="EBE2E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765532" cy="4163441"/>
            </a:xfrm>
            <a:custGeom>
              <a:avLst/>
              <a:gdLst/>
              <a:ahLst/>
              <a:cxnLst/>
              <a:rect r="r" b="b" t="t" l="l"/>
              <a:pathLst>
                <a:path h="4163441" w="12765532">
                  <a:moveTo>
                    <a:pt x="6350" y="0"/>
                  </a:moveTo>
                  <a:lnTo>
                    <a:pt x="12759182" y="0"/>
                  </a:lnTo>
                  <a:cubicBezTo>
                    <a:pt x="12762738" y="0"/>
                    <a:pt x="12765532" y="2794"/>
                    <a:pt x="12765532" y="6350"/>
                  </a:cubicBezTo>
                  <a:lnTo>
                    <a:pt x="12765532" y="4157091"/>
                  </a:lnTo>
                  <a:cubicBezTo>
                    <a:pt x="12765532" y="4160647"/>
                    <a:pt x="12762738" y="4163441"/>
                    <a:pt x="12759182" y="4163441"/>
                  </a:cubicBezTo>
                  <a:lnTo>
                    <a:pt x="6350" y="4163441"/>
                  </a:lnTo>
                  <a:cubicBezTo>
                    <a:pt x="2794" y="4163441"/>
                    <a:pt x="0" y="4160647"/>
                    <a:pt x="0" y="4157091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157091"/>
                  </a:lnTo>
                  <a:lnTo>
                    <a:pt x="6350" y="4157091"/>
                  </a:lnTo>
                  <a:lnTo>
                    <a:pt x="6350" y="4150741"/>
                  </a:lnTo>
                  <a:lnTo>
                    <a:pt x="12759182" y="4150741"/>
                  </a:lnTo>
                  <a:lnTo>
                    <a:pt x="12759182" y="4157091"/>
                  </a:lnTo>
                  <a:lnTo>
                    <a:pt x="12752832" y="4157091"/>
                  </a:lnTo>
                  <a:lnTo>
                    <a:pt x="12752832" y="6350"/>
                  </a:lnTo>
                  <a:lnTo>
                    <a:pt x="12759182" y="6350"/>
                  </a:lnTo>
                  <a:lnTo>
                    <a:pt x="12759182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D1C8C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8085687" y="3045619"/>
            <a:ext cx="3406673" cy="444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Standard Markov Model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85687" y="3574104"/>
            <a:ext cx="9022261" cy="50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312"/>
              </a:lnSpc>
              <a:buFont typeface="Arial"/>
              <a:buChar char="•"/>
            </a:pP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States are directly observable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85687" y="4093664"/>
            <a:ext cx="9022261" cy="50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312"/>
              </a:lnSpc>
              <a:buFont typeface="Arial"/>
              <a:buChar char="•"/>
            </a:pP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Simpler to implement and understand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85687" y="4613224"/>
            <a:ext cx="9022261" cy="50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312"/>
              </a:lnSpc>
              <a:buFont typeface="Arial"/>
              <a:buChar char="•"/>
            </a:pP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Fewer parameters to estimate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85687" y="5132784"/>
            <a:ext cx="9022261" cy="50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312"/>
              </a:lnSpc>
              <a:buFont typeface="Arial"/>
              <a:buChar char="•"/>
            </a:pP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Best for transparent systems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814520" y="6439491"/>
            <a:ext cx="9574111" cy="3122562"/>
            <a:chOff x="0" y="0"/>
            <a:chExt cx="12765481" cy="416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12752832" cy="4150741"/>
            </a:xfrm>
            <a:custGeom>
              <a:avLst/>
              <a:gdLst/>
              <a:ahLst/>
              <a:cxnLst/>
              <a:rect r="r" b="b" t="t" l="l"/>
              <a:pathLst>
                <a:path h="4150741" w="12752832">
                  <a:moveTo>
                    <a:pt x="0" y="0"/>
                  </a:moveTo>
                  <a:lnTo>
                    <a:pt x="12752832" y="0"/>
                  </a:lnTo>
                  <a:lnTo>
                    <a:pt x="12752832" y="4150741"/>
                  </a:lnTo>
                  <a:lnTo>
                    <a:pt x="0" y="4150741"/>
                  </a:lnTo>
                  <a:close/>
                </a:path>
              </a:pathLst>
            </a:custGeom>
            <a:solidFill>
              <a:srgbClr val="EBE2E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765532" cy="4163441"/>
            </a:xfrm>
            <a:custGeom>
              <a:avLst/>
              <a:gdLst/>
              <a:ahLst/>
              <a:cxnLst/>
              <a:rect r="r" b="b" t="t" l="l"/>
              <a:pathLst>
                <a:path h="4163441" w="12765532">
                  <a:moveTo>
                    <a:pt x="6350" y="0"/>
                  </a:moveTo>
                  <a:lnTo>
                    <a:pt x="12759182" y="0"/>
                  </a:lnTo>
                  <a:cubicBezTo>
                    <a:pt x="12762738" y="0"/>
                    <a:pt x="12765532" y="2794"/>
                    <a:pt x="12765532" y="6350"/>
                  </a:cubicBezTo>
                  <a:lnTo>
                    <a:pt x="12765532" y="4157091"/>
                  </a:lnTo>
                  <a:cubicBezTo>
                    <a:pt x="12765532" y="4160647"/>
                    <a:pt x="12762738" y="4163441"/>
                    <a:pt x="12759182" y="4163441"/>
                  </a:cubicBezTo>
                  <a:lnTo>
                    <a:pt x="6350" y="4163441"/>
                  </a:lnTo>
                  <a:cubicBezTo>
                    <a:pt x="2794" y="4163441"/>
                    <a:pt x="0" y="4160647"/>
                    <a:pt x="0" y="4157091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157091"/>
                  </a:lnTo>
                  <a:lnTo>
                    <a:pt x="6350" y="4157091"/>
                  </a:lnTo>
                  <a:lnTo>
                    <a:pt x="6350" y="4150741"/>
                  </a:lnTo>
                  <a:lnTo>
                    <a:pt x="12759182" y="4150741"/>
                  </a:lnTo>
                  <a:lnTo>
                    <a:pt x="12759182" y="4157091"/>
                  </a:lnTo>
                  <a:lnTo>
                    <a:pt x="12752832" y="4157091"/>
                  </a:lnTo>
                  <a:lnTo>
                    <a:pt x="12752832" y="6350"/>
                  </a:lnTo>
                  <a:lnTo>
                    <a:pt x="12759182" y="6350"/>
                  </a:lnTo>
                  <a:lnTo>
                    <a:pt x="12759182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D1C8C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8085687" y="6691608"/>
            <a:ext cx="4278068" cy="444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Hidden Markov Model (HMM)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85687" y="7220102"/>
            <a:ext cx="9022261" cy="50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312"/>
              </a:lnSpc>
              <a:buFont typeface="Arial"/>
              <a:buChar char="•"/>
            </a:pP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States are hidden/latent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085687" y="7739653"/>
            <a:ext cx="9022261" cy="50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312"/>
              </a:lnSpc>
              <a:buFont typeface="Arial"/>
              <a:buChar char="•"/>
            </a:pP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Observations depend on hidden states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085687" y="8259213"/>
            <a:ext cx="9022261" cy="50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312"/>
              </a:lnSpc>
              <a:buFont typeface="Arial"/>
              <a:buChar char="•"/>
            </a:pP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Requires inference algorithms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85687" y="8778773"/>
            <a:ext cx="9022261" cy="50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312"/>
              </a:lnSpc>
              <a:buFont typeface="Arial"/>
              <a:buChar char="•"/>
            </a:pP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Necessary for complex real systems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042092"/>
            <a:ext cx="9781880" cy="1279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5"/>
              </a:lnSpc>
            </a:pPr>
            <a:r>
              <a:rPr lang="en-US" sz="7687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Key Takeaways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784272"/>
            <a:ext cx="283521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Crimson Pro"/>
                <a:ea typeface="Crimson Pro"/>
                <a:cs typeface="Crimson Pro"/>
                <a:sym typeface="Crimson Pro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332855"/>
            <a:ext cx="8009934" cy="38100"/>
            <a:chOff x="0" y="0"/>
            <a:chExt cx="10679913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3522164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Memoryless Property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078043"/>
            <a:ext cx="8009934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Markov Models assume the future depends only on the present state, not on the sequence of past events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85684" y="2784272"/>
            <a:ext cx="283521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Crimson Pro"/>
                <a:ea typeface="Crimson Pro"/>
                <a:cs typeface="Crimson Pro"/>
                <a:sym typeface="Crimson Pro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85684" y="3332855"/>
            <a:ext cx="8010077" cy="38100"/>
            <a:chOff x="0" y="0"/>
            <a:chExt cx="10680103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80065" cy="50800"/>
            </a:xfrm>
            <a:custGeom>
              <a:avLst/>
              <a:gdLst/>
              <a:ahLst/>
              <a:cxnLst/>
              <a:rect r="r" b="b" t="t" l="l"/>
              <a:pathLst>
                <a:path h="50800" w="10680065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285684" y="3522164"/>
            <a:ext cx="4089054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Two Essential Components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85684" y="4078043"/>
            <a:ext cx="8010077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States (possible conditions) and transition probabilities (likelihood of moving between states)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5462292"/>
            <a:ext cx="283521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Crimson Pro"/>
                <a:ea typeface="Crimson Pro"/>
                <a:cs typeface="Crimson Pro"/>
                <a:sym typeface="Crimson Pro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2238" y="6010866"/>
            <a:ext cx="8009934" cy="38100"/>
            <a:chOff x="0" y="0"/>
            <a:chExt cx="10679913" cy="5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992238" y="6200184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Wide Applicability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238" y="6756054"/>
            <a:ext cx="8009934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Used across disciplines from weather forecasting to web search algorithms to financial modeling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85684" y="5462292"/>
            <a:ext cx="283521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Crimson Pro"/>
                <a:ea typeface="Crimson Pro"/>
                <a:cs typeface="Crimson Pro"/>
                <a:sym typeface="Crimson Pro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85684" y="6010866"/>
            <a:ext cx="8010077" cy="38100"/>
            <a:chOff x="0" y="0"/>
            <a:chExt cx="10680103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80065" cy="50800"/>
            </a:xfrm>
            <a:custGeom>
              <a:avLst/>
              <a:gdLst/>
              <a:ahLst/>
              <a:cxnLst/>
              <a:rect r="r" b="b" t="t" l="l"/>
              <a:pathLst>
                <a:path h="50800" w="10680065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285684" y="6200184"/>
            <a:ext cx="4552207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Observable State Requirement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85684" y="6756054"/>
            <a:ext cx="8010077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Standard Markov Models need fully visible states; Hidden Markov Models extend this to latent variables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2238" y="8194777"/>
            <a:ext cx="16303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Next Steps:</a:t>
            </a: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Practice building transition matrices, explore Hidden Markov Models, and study convergence to steady-state distributions.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DAG-i_Tir9w</dc:identifier>
  <dcterms:modified xsi:type="dcterms:W3CDTF">2011-08-01T06:04:30Z</dcterms:modified>
  <cp:revision>1</cp:revision>
  <dc:title>MACHINE LEARNING_MARKOV MODELS.pptx</dc:title>
</cp:coreProperties>
</file>