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2595" y="1195070"/>
            <a:ext cx="8955405" cy="1029335"/>
          </a:xfrm>
        </p:spPr>
        <p:txBody>
          <a:bodyPr>
            <a:normAutofit fontScale="90000"/>
          </a:bodyPr>
          <a:p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MACHINE LEARNING</a:t>
            </a:r>
            <a:br>
              <a:rPr lang="en-US" sz="3200" b="1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32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MODULE 3</a:t>
            </a:r>
            <a:endParaRPr 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3.1 Introduction -Probablistic Learning-Naive Bayes Theorem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 b="1">
                <a:latin typeface="Times New Roman" panose="02020603050405020304" charset="0"/>
                <a:cs typeface="Times New Roman" panose="02020603050405020304" charset="0"/>
              </a:rPr>
              <a:t>INTRODUCTION-Probabilistic Learning</a:t>
            </a:r>
            <a:endParaRPr lang="en-US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Probabilistic learning in machine learning uses probability theory to model uncertainty, allowing models to provide predictions as probability distributions  rather than single answers, which enables better risk assessment and decision-making, especially with incomplete or noisy data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Real-life Example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lnSpc>
                <a:spcPct val="150000"/>
              </a:lnSpc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Weather apps say: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“70% chance of rain”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Not “It will rain for sure”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Why do we need it?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endParaRPr lang="en-US" altLang="en-US" sz="16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Real-world data is:</a:t>
            </a:r>
            <a:endParaRPr lang="en-US" altLang="en-US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Incomplete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Noisy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Uncertain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Key Idea</a:t>
            </a:r>
            <a:endParaRPr lang="en-US" altLang="en-US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Learn patterns from data and express predictions as probabilities.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Introduction: Naive Bayes Algorithm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Naive Bayes algorithm is a classification technique based on Bayes' Theorem. It is termed "Naive" because it makes the strong assumption that all predictors (features) are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independent 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of each other </a:t>
            </a: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given the class label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despite this oversimplification, it is surprisingly effective for tasks like spam filtering and document classification.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FORMULA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68750" y="2637155"/>
            <a:ext cx="3286125" cy="120967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38200" y="1690370"/>
            <a:ext cx="10299700" cy="132334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Using Bayes theorem,we calculate the probability of a class</a:t>
            </a:r>
            <a:r>
              <a:rPr lang="en-US" sz="28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800" b="1" i="1">
                <a:latin typeface="Times New Roman" panose="02020603050405020304" charset="0"/>
                <a:cs typeface="Times New Roman" panose="02020603050405020304" charset="0"/>
              </a:rPr>
              <a:t>y</a:t>
            </a:r>
            <a:r>
              <a:rPr lang="en-US" sz="2800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given input data </a:t>
            </a:r>
            <a:r>
              <a:rPr lang="en-US" sz="2800" b="1" i="1">
                <a:latin typeface="Times New Roman" panose="02020603050405020304" charset="0"/>
                <a:cs typeface="Times New Roman" panose="02020603050405020304" charset="0"/>
              </a:rPr>
              <a:t>X,</a:t>
            </a:r>
            <a:endParaRPr lang="en-US" sz="2800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" y="3898900"/>
            <a:ext cx="8763000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FORMULA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41705" y="1825625"/>
            <a:ext cx="987425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WHY AND HOW?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Because it assumes all </a:t>
            </a: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features are independent</a:t>
            </a: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 of each other.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This assumption is often false, but the model still works surprisingly well.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How it works (Step-by-step)</a:t>
            </a:r>
            <a:endParaRPr lang="en-US" altLang="en-US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Calculate probability of each class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Calculate probability of features given class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Choose the class with highest probability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Step 1: Training Data (Past Emails)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The system already has thousands of emails labeled as: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Spam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Not Spam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From these emails, it learns how often certain words appear.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1203960" y="4193540"/>
          <a:ext cx="10485120" cy="2133600"/>
        </p:xfrm>
        <a:graphic>
          <a:graphicData uri="http://schemas.openxmlformats.org/drawingml/2006/table">
            <a:tbl>
              <a:tblPr/>
              <a:tblGrid>
                <a:gridCol w="2511425"/>
                <a:gridCol w="3987165"/>
                <a:gridCol w="3986530"/>
              </a:tblGrid>
              <a:tr h="0"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Word</a:t>
                      </a:r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Appears in Spam</a:t>
                      </a:r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Appears in Not Spam</a:t>
                      </a:r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free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Very often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Rare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win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Often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Rare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meeting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Rare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Often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project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Rare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800">
                          <a:latin typeface="Times New Roman" panose="02020603050405020304" charset="0"/>
                          <a:cs typeface="Times New Roman" panose="02020603050405020304" charset="0"/>
                        </a:rPr>
                        <a:t>Often</a:t>
                      </a:r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Step 2: Naive Assumption</a:t>
            </a:r>
            <a:endParaRPr lang="en-US" altLang="en-US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Naive Bayes assumes: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Each word contributes independently to deciding spam.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So it treats: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free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win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offer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as separate clues.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1262360" y="2374900"/>
          <a:ext cx="76200" cy="2133600"/>
        </p:xfrm>
        <a:graphic>
          <a:graphicData uri="http://schemas.openxmlformats.org/drawingml/2006/table">
            <a:tbl>
              <a:tblPr/>
              <a:tblGrid>
                <a:gridCol w="18415"/>
                <a:gridCol w="32385"/>
                <a:gridCol w="25400"/>
              </a:tblGrid>
              <a:tr h="426720">
                <a:tc>
                  <a:txBody>
                    <a:bodyPr/>
                    <a:p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8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 b="1">
                <a:latin typeface="Times New Roman" panose="02020603050405020304" charset="0"/>
                <a:cs typeface="Times New Roman" panose="02020603050405020304" charset="0"/>
              </a:rPr>
              <a:t>Step 3: New Email Arrives</a:t>
            </a:r>
            <a:endParaRPr lang="en-US" altLang="en-US" sz="27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Email content: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"Win free offer now"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Naive Bayes calculates: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Probability of this email being Spam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Probability of this email being Not Spam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2700">
                <a:latin typeface="Times New Roman" panose="02020603050405020304" charset="0"/>
                <a:cs typeface="Times New Roman" panose="02020603050405020304" charset="0"/>
              </a:rPr>
              <a:t>Using,</a:t>
            </a:r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27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055" y="5377180"/>
            <a:ext cx="10296525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EXAMPLE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61615" y="2829560"/>
            <a:ext cx="5591175" cy="7810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95985" y="1985645"/>
            <a:ext cx="8766810" cy="28860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Step 4: Decision</a:t>
            </a:r>
            <a:endParaRPr lang="en-US" altLang="en-US"/>
          </a:p>
          <a:p>
            <a:r>
              <a:rPr lang="en-US" altLang="en-US" sz="2800"/>
              <a:t>If,</a:t>
            </a:r>
            <a:endParaRPr lang="en-US" altLang="en-US" sz="2800"/>
          </a:p>
        </p:txBody>
      </p:sp>
      <p:sp>
        <p:nvSpPr>
          <p:cNvPr id="6" name="Text Box 5"/>
          <p:cNvSpPr txBox="1"/>
          <p:nvPr/>
        </p:nvSpPr>
        <p:spPr>
          <a:xfrm>
            <a:off x="1297305" y="4749165"/>
            <a:ext cx="54000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>
                <a:latin typeface="Times New Roman" panose="02020603050405020304" charset="0"/>
                <a:cs typeface="Times New Roman" panose="02020603050405020304" charset="0"/>
              </a:rPr>
              <a:t>E mail is marked as spam </a:t>
            </a:r>
            <a:endParaRPr 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Times New Roman" panose="02020603050405020304" charset="0"/>
                <a:cs typeface="Times New Roman" panose="02020603050405020304" charset="0"/>
              </a:rPr>
              <a:t>ADVANTAGES</a:t>
            </a:r>
            <a:endParaRPr 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Fast (works in milliseconds)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Works well with text data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 Needs less training data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51*58"/>
  <p:tag name="TABLE_ENDDRAG_RECT" val="141*244*751*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2119</Words>
  <Application>WPS Presentation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Algerian</vt:lpstr>
      <vt:lpstr>Times New Roman</vt:lpstr>
      <vt:lpstr>Google Sans Text</vt:lpstr>
      <vt:lpstr>Segoe Print</vt:lpstr>
      <vt:lpstr>BatangChe</vt:lpstr>
      <vt:lpstr>Nunito Sans ExtraBold</vt:lpstr>
      <vt:lpstr>Nunito Sans</vt:lpstr>
      <vt:lpstr>Wingdings</vt:lpstr>
      <vt:lpstr>Inter Bold</vt:lpstr>
      <vt:lpstr>Inter</vt:lpstr>
      <vt:lpstr>Crimson Text SemiBold</vt:lpstr>
      <vt:lpstr>Charis SIL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nikitha</dc:creator>
  <cp:lastModifiedBy>Nikitha Babu</cp:lastModifiedBy>
  <cp:revision>3</cp:revision>
  <dcterms:created xsi:type="dcterms:W3CDTF">2025-07-23T00:59:00Z</dcterms:created>
  <dcterms:modified xsi:type="dcterms:W3CDTF">2026-01-14T09:03:02Z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E29D4C0088614E4C9221405D99BC47DD_11</vt:lpwstr>
  </property>
  <property fmtid="{D5CDD505-2E9C-101B-9397-08002B2CF9AE}" pid="3" name="KSOProductBuildVer">
    <vt:lpwstr>1033-12.2.0.23196</vt:lpwstr>
  </property>
</Properties>
</file>