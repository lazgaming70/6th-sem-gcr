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6" r:id="rId2"/>
    <p:sldMasterId id="2147483658" r:id="rId3"/>
    <p:sldMasterId id="2147483660" r:id="rId4"/>
    <p:sldMasterId id="2147483662" r:id="rId5"/>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83" r:id="rId28"/>
    <p:sldId id="284" r:id="rId29"/>
    <p:sldId id="285" r:id="rId30"/>
    <p:sldId id="286" r:id="rId31"/>
    <p:sldId id="287" r:id="rId32"/>
    <p:sldId id="288" r:id="rId33"/>
    <p:sldId id="289" r:id="rId34"/>
    <p:sldId id="290" r:id="rId35"/>
    <p:sldId id="291" r:id="rId36"/>
    <p:sldId id="292" r:id="rId37"/>
    <p:sldId id="278" r:id="rId38"/>
    <p:sldId id="279" r:id="rId39"/>
    <p:sldId id="280" r:id="rId40"/>
    <p:sldId id="281" r:id="rId41"/>
    <p:sldId id="282" r:id="rId42"/>
  </p:sldIdLst>
  <p:sldSz cx="9144000" cy="6858000" type="screen4x3"/>
  <p:notesSz cx="7315200" cy="9601200"/>
  <p:embeddedFontLst>
    <p:embeddedFont>
      <p:font typeface="Libre Baskerville" panose="020B0604020202020204" charset="0"/>
      <p:regular r:id="rId44"/>
      <p:bold r:id="rId45"/>
      <p:italic r:id="rId46"/>
    </p:embeddedFont>
    <p:embeddedFont>
      <p:font typeface="Tahoma" panose="020B0604030504040204" pitchFamily="34" charset="0"/>
      <p:regular r:id="rId47"/>
      <p:bold r:id="rId48"/>
    </p:embeddedFont>
    <p:embeddedFont>
      <p:font typeface="Consolas" panose="020B0609020204030204" pitchFamily="49" charset="0"/>
      <p:regular r:id="rId49"/>
      <p:bold r:id="rId50"/>
      <p:italic r:id="rId51"/>
      <p:boldItalic r:id="rId52"/>
    </p:embeddedFont>
    <p:embeddedFont>
      <p:font typeface="Libre Franklin" panose="020B0604020202020204" charset="0"/>
      <p:regular r:id="rId53"/>
      <p:bold r:id="rId54"/>
      <p:italic r:id="rId55"/>
      <p:boldItalic r:id="rId56"/>
    </p:embeddedFont>
    <p:embeddedFont>
      <p:font typeface="Calibri" panose="020F0502020204030204" pitchFamily="34"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g9X6SOYpLdbsiIkH2lxRGB1ceo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622" y="2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Master" Target="slideMasters/slideMaster5.xml"/><Relationship Id="rId61" Type="http://customschemas.google.com/relationships/presentationmetadata" Target="meta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11.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1200"/>
                <a:buFont typeface="Arial"/>
                <a:buNone/>
              </a:pPr>
              <a:t>‹#›</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811542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213090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9427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59541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242442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9732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6: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03308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33697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8: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04049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86144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556649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31708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2: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735453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080801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4: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51491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77873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6: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388360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7: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76207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225950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329943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0: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51285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2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62998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2:notes"/>
          <p:cNvSpPr txBox="1">
            <a:spLocks noGrp="1"/>
          </p:cNvSpPr>
          <p:nvPr>
            <p:ph type="body" idx="1"/>
          </p:nvPr>
        </p:nvSpPr>
        <p:spPr>
          <a:xfrm>
            <a:off x="731837" y="4560887"/>
            <a:ext cx="5851525" cy="431958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2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698043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2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6"/>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24" name="Google Shape;24;p2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7"/>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rot="5400000">
            <a:off x="4709477" y="2194564"/>
            <a:ext cx="5851525" cy="201168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8"/>
          <p:cNvSpPr txBox="1">
            <a:spLocks noGrp="1"/>
          </p:cNvSpPr>
          <p:nvPr>
            <p:ph type="body" idx="1"/>
          </p:nvPr>
        </p:nvSpPr>
        <p:spPr>
          <a:xfrm rot="5400000">
            <a:off x="769937" y="419103"/>
            <a:ext cx="5851525" cy="55626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30" name="Google Shape;30;p2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8"/>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9"/>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36" name="Google Shape;36;p2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9"/>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7" name="Google Shape;47;p31"/>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8" name="Google Shape;48;p31"/>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9" name="Google Shape;49;p31"/>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50" name="Google Shape;50;p3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1"/>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2"/>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56" name="Google Shape;56;p32"/>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57" name="Google Shape;57;p3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2"/>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71"/>
        <p:cNvGrpSpPr/>
        <p:nvPr/>
      </p:nvGrpSpPr>
      <p:grpSpPr>
        <a:xfrm>
          <a:off x="0" y="0"/>
          <a:ext cx="0" cy="0"/>
          <a:chOff x="0" y="0"/>
          <a:chExt cx="0" cy="0"/>
        </a:xfrm>
      </p:grpSpPr>
      <p:sp>
        <p:nvSpPr>
          <p:cNvPr id="72" name="Google Shape;72;p34"/>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575"/>
              </a:spcBef>
              <a:spcAft>
                <a:spcPts val="0"/>
              </a:spcAft>
              <a:buSzPts val="2210"/>
              <a:buNone/>
              <a:defRPr sz="2600">
                <a:solidFill>
                  <a:schemeClr val="dk2"/>
                </a:solidFill>
              </a:defRPr>
            </a:lvl1pPr>
            <a:lvl2pPr lvl="1" algn="ctr">
              <a:lnSpc>
                <a:spcPct val="100000"/>
              </a:lnSpc>
              <a:spcBef>
                <a:spcPts val="375"/>
              </a:spcBef>
              <a:spcAft>
                <a:spcPts val="0"/>
              </a:spcAft>
              <a:buSzPts val="1530"/>
              <a:buNone/>
              <a:defRPr/>
            </a:lvl2pPr>
            <a:lvl3pPr lvl="2" algn="ctr">
              <a:lnSpc>
                <a:spcPct val="100000"/>
              </a:lnSpc>
              <a:spcBef>
                <a:spcPts val="375"/>
              </a:spcBef>
              <a:spcAft>
                <a:spcPts val="0"/>
              </a:spcAft>
              <a:buSzPts val="1530"/>
              <a:buNone/>
              <a:defRPr/>
            </a:lvl3pPr>
            <a:lvl4pPr lvl="3" algn="ctr">
              <a:lnSpc>
                <a:spcPct val="100000"/>
              </a:lnSpc>
              <a:spcBef>
                <a:spcPts val="375"/>
              </a:spcBef>
              <a:spcAft>
                <a:spcPts val="0"/>
              </a:spcAft>
              <a:buSzPts val="1440"/>
              <a:buNone/>
              <a:defRPr/>
            </a:lvl4pPr>
            <a:lvl5pPr lvl="4" algn="ctr">
              <a:lnSpc>
                <a:spcPct val="100000"/>
              </a:lnSpc>
              <a:spcBef>
                <a:spcPts val="375"/>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a:endParaRPr/>
          </a:p>
        </p:txBody>
      </p:sp>
      <p:sp>
        <p:nvSpPr>
          <p:cNvPr id="73" name="Google Shape;73;p34"/>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4"/>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88"/>
        <p:cNvGrpSpPr/>
        <p:nvPr/>
      </p:nvGrpSpPr>
      <p:grpSpPr>
        <a:xfrm>
          <a:off x="0" y="0"/>
          <a:ext cx="0" cy="0"/>
          <a:chOff x="0" y="0"/>
          <a:chExt cx="0" cy="0"/>
        </a:xfrm>
      </p:grpSpPr>
      <p:sp>
        <p:nvSpPr>
          <p:cNvPr id="89" name="Google Shape;89;p36"/>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6"/>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2040"/>
              <a:buNone/>
              <a:defRPr sz="2400">
                <a:solidFill>
                  <a:srgbClr val="888888"/>
                </a:solidFill>
              </a:defRPr>
            </a:lvl1pPr>
            <a:lvl2pPr marL="914400" lvl="1" indent="-228600" algn="l">
              <a:lnSpc>
                <a:spcPct val="100000"/>
              </a:lnSpc>
              <a:spcBef>
                <a:spcPts val="375"/>
              </a:spcBef>
              <a:spcAft>
                <a:spcPts val="0"/>
              </a:spcAft>
              <a:buSzPts val="1530"/>
              <a:buNone/>
              <a:defRPr sz="1800">
                <a:solidFill>
                  <a:srgbClr val="888888"/>
                </a:solidFill>
              </a:defRPr>
            </a:lvl2pPr>
            <a:lvl3pPr marL="1371600" lvl="2" indent="-228600" algn="l">
              <a:lnSpc>
                <a:spcPct val="100000"/>
              </a:lnSpc>
              <a:spcBef>
                <a:spcPts val="375"/>
              </a:spcBef>
              <a:spcAft>
                <a:spcPts val="0"/>
              </a:spcAft>
              <a:buSzPts val="1360"/>
              <a:buNone/>
              <a:defRPr sz="1600">
                <a:solidFill>
                  <a:srgbClr val="888888"/>
                </a:solidFill>
              </a:defRPr>
            </a:lvl3pPr>
            <a:lvl4pPr marL="1828800" lvl="3" indent="-228600" algn="l">
              <a:lnSpc>
                <a:spcPct val="100000"/>
              </a:lnSpc>
              <a:spcBef>
                <a:spcPts val="375"/>
              </a:spcBef>
              <a:spcAft>
                <a:spcPts val="0"/>
              </a:spcAft>
              <a:buSzPts val="1120"/>
              <a:buNone/>
              <a:defRPr sz="1400">
                <a:solidFill>
                  <a:srgbClr val="888888"/>
                </a:solidFill>
              </a:defRPr>
            </a:lvl4pPr>
            <a:lvl5pPr marL="2286000" lvl="4" indent="-228600" algn="l">
              <a:lnSpc>
                <a:spcPct val="100000"/>
              </a:lnSpc>
              <a:spcBef>
                <a:spcPts val="375"/>
              </a:spcBef>
              <a:spcAft>
                <a:spcPts val="0"/>
              </a:spcAft>
              <a:buSzPts val="1400"/>
              <a:buFont typeface="Libre Baskerville"/>
              <a:buNone/>
              <a:defRPr sz="1400">
                <a:solidFill>
                  <a:srgbClr val="888888"/>
                </a:solidFill>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1" name="Google Shape;91;p3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6"/>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6"/>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4"/>
        <p:cNvGrpSpPr/>
        <p:nvPr/>
      </p:nvGrpSpPr>
      <p:grpSpPr>
        <a:xfrm>
          <a:off x="0" y="0"/>
          <a:ext cx="0" cy="0"/>
          <a:chOff x="0" y="0"/>
          <a:chExt cx="0" cy="0"/>
        </a:xfrm>
      </p:grpSpPr>
      <p:sp>
        <p:nvSpPr>
          <p:cNvPr id="105" name="Google Shape;105;p38"/>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8"/>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530"/>
              <a:buNone/>
              <a:defRPr sz="1800"/>
            </a:lvl1pPr>
            <a:lvl2pPr marL="914400" lvl="1" indent="-228600" algn="l">
              <a:lnSpc>
                <a:spcPct val="100000"/>
              </a:lnSpc>
              <a:spcBef>
                <a:spcPts val="375"/>
              </a:spcBef>
              <a:spcAft>
                <a:spcPts val="0"/>
              </a:spcAft>
              <a:buSzPts val="1020"/>
              <a:buNone/>
              <a:defRPr sz="1200"/>
            </a:lvl2pPr>
            <a:lvl3pPr marL="1371600" lvl="2" indent="-228600" algn="l">
              <a:lnSpc>
                <a:spcPct val="100000"/>
              </a:lnSpc>
              <a:spcBef>
                <a:spcPts val="375"/>
              </a:spcBef>
              <a:spcAft>
                <a:spcPts val="0"/>
              </a:spcAft>
              <a:buSzPts val="850"/>
              <a:buNone/>
              <a:defRPr sz="1000"/>
            </a:lvl3pPr>
            <a:lvl4pPr marL="1828800" lvl="3" indent="-228600" algn="l">
              <a:lnSpc>
                <a:spcPct val="100000"/>
              </a:lnSpc>
              <a:spcBef>
                <a:spcPts val="375"/>
              </a:spcBef>
              <a:spcAft>
                <a:spcPts val="0"/>
              </a:spcAft>
              <a:buSzPts val="720"/>
              <a:buNone/>
              <a:defRPr sz="900"/>
            </a:lvl4pPr>
            <a:lvl5pPr marL="2286000" lvl="4" indent="-228600" algn="l">
              <a:lnSpc>
                <a:spcPct val="100000"/>
              </a:lnSpc>
              <a:spcBef>
                <a:spcPts val="375"/>
              </a:spcBef>
              <a:spcAft>
                <a:spcPts val="0"/>
              </a:spcAft>
              <a:buSzPts val="900"/>
              <a:buFont typeface="Libre Baskerville"/>
              <a:buNone/>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7" name="Google Shape;107;p38"/>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39"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8" name="Google Shape;108;p3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3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38"/>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2"/>
        <p:cNvGrpSpPr/>
        <p:nvPr/>
      </p:nvGrpSpPr>
      <p:grpSpPr>
        <a:xfrm>
          <a:off x="0" y="0"/>
          <a:ext cx="0" cy="0"/>
          <a:chOff x="0" y="0"/>
          <a:chExt cx="0" cy="0"/>
        </a:xfrm>
      </p:grpSpPr>
      <p:sp>
        <p:nvSpPr>
          <p:cNvPr id="123" name="Google Shape;123;p40"/>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lnSpc>
                <a:spcPct val="100000"/>
              </a:lnSpc>
              <a:spcBef>
                <a:spcPts val="0"/>
              </a:spcBef>
              <a:spcAft>
                <a:spcPts val="0"/>
              </a:spcAft>
              <a:buClr>
                <a:schemeClr val="dk2"/>
              </a:buClr>
              <a:buSzPts val="2800"/>
              <a:buFont typeface="Libre Franklin"/>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40"/>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360"/>
              <a:buFont typeface="Libre Baskerville"/>
              <a:buNone/>
              <a:defRPr sz="1600"/>
            </a:lvl1pPr>
            <a:lvl2pPr marL="914400" lvl="1" indent="-293369" algn="l">
              <a:lnSpc>
                <a:spcPct val="100000"/>
              </a:lnSpc>
              <a:spcBef>
                <a:spcPts val="375"/>
              </a:spcBef>
              <a:spcAft>
                <a:spcPts val="0"/>
              </a:spcAft>
              <a:buSzPts val="1020"/>
              <a:buChar char="⚫"/>
              <a:defRPr sz="1200"/>
            </a:lvl2pPr>
            <a:lvl3pPr marL="1371600" lvl="2" indent="-282575" algn="l">
              <a:lnSpc>
                <a:spcPct val="100000"/>
              </a:lnSpc>
              <a:spcBef>
                <a:spcPts val="375"/>
              </a:spcBef>
              <a:spcAft>
                <a:spcPts val="0"/>
              </a:spcAft>
              <a:buSzPts val="850"/>
              <a:buChar char="⚫"/>
              <a:defRPr sz="1000"/>
            </a:lvl3pPr>
            <a:lvl4pPr marL="1828800" lvl="3" indent="-274319" algn="l">
              <a:lnSpc>
                <a:spcPct val="100000"/>
              </a:lnSpc>
              <a:spcBef>
                <a:spcPts val="375"/>
              </a:spcBef>
              <a:spcAft>
                <a:spcPts val="0"/>
              </a:spcAft>
              <a:buSzPts val="720"/>
              <a:buChar char="⚫"/>
              <a:defRPr sz="900"/>
            </a:lvl4pPr>
            <a:lvl5pPr marL="2286000" lvl="4" indent="-285750" algn="l">
              <a:lnSpc>
                <a:spcPct val="100000"/>
              </a:lnSpc>
              <a:spcBef>
                <a:spcPts val="375"/>
              </a:spcBef>
              <a:spcAft>
                <a:spcPts val="0"/>
              </a:spcAft>
              <a:buSzPts val="900"/>
              <a:buFont typeface="Libre Baskerville"/>
              <a:buChar char="o"/>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25" name="Google Shape;125;p40"/>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
        <p:nvSpPr>
          <p:cNvPr id="126" name="Google Shape;126;p4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0"/>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0"/>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 name="Google Shape;11;p2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2" name="Google Shape;12;p2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3" name="Google Shape;13;p2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2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5" name="Google Shape;15;p2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6" name="Google Shape;16;p2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33"/>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62" name="Google Shape;62;p33"/>
          <p:cNvSpPr/>
          <p:nvPr/>
        </p:nvSpPr>
        <p:spPr>
          <a:xfrm>
            <a:off x="65087" y="69850"/>
            <a:ext cx="9013825" cy="6691312"/>
          </a:xfrm>
          <a:prstGeom prst="roundRect">
            <a:avLst>
              <a:gd name="adj" fmla="val 1065"/>
            </a:avLst>
          </a:prstGeom>
          <a:blipFill rotWithShape="1">
            <a:blip r:embed="rId3">
              <a:alphaModFix/>
            </a:blip>
            <a:stretch>
              <a:fillRect/>
            </a:stretch>
          </a:blip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63" name="Google Shape;63;p33"/>
          <p:cNvSpPr txBox="1"/>
          <p:nvPr/>
        </p:nvSpPr>
        <p:spPr>
          <a:xfrm>
            <a:off x="63500" y="1449387"/>
            <a:ext cx="9020175" cy="15271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64" name="Google Shape;64;p33"/>
          <p:cNvSpPr txBox="1"/>
          <p:nvPr/>
        </p:nvSpPr>
        <p:spPr>
          <a:xfrm>
            <a:off x="63500" y="1397000"/>
            <a:ext cx="9020175" cy="120650"/>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65" name="Google Shape;65;p33"/>
          <p:cNvSpPr txBox="1"/>
          <p:nvPr/>
        </p:nvSpPr>
        <p:spPr>
          <a:xfrm>
            <a:off x="63500" y="2976562"/>
            <a:ext cx="9020175" cy="1111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66" name="Google Shape;66;p3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67" name="Google Shape;67;p3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68" name="Google Shape;68;p3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69" name="Google Shape;69;p3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70" name="Google Shape;70;p33"/>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sp>
        <p:nvSpPr>
          <p:cNvPr id="78" name="Google Shape;78;p3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79" name="Google Shape;79;p35"/>
          <p:cNvSpPr/>
          <p:nvPr/>
        </p:nvSpPr>
        <p:spPr>
          <a:xfrm>
            <a:off x="65313" y="69755"/>
            <a:ext cx="9013372" cy="6692201"/>
          </a:xfrm>
          <a:prstGeom prst="roundRect">
            <a:avLst>
              <a:gd name="adj" fmla="val 4929"/>
            </a:avLst>
          </a:prstGeom>
          <a:blipFill rotWithShape="1">
            <a:blip r:embed="rId3">
              <a:alphaModFix/>
            </a:blip>
            <a:stretch>
              <a:fillRect/>
            </a:stretch>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80" name="Google Shape;80;p35"/>
          <p:cNvSpPr txBox="1"/>
          <p:nvPr/>
        </p:nvSpPr>
        <p:spPr>
          <a:xfrm rot="10800000" flipH="1">
            <a:off x="69850" y="2376487"/>
            <a:ext cx="901382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81" name="Google Shape;81;p35"/>
          <p:cNvSpPr txBox="1"/>
          <p:nvPr/>
        </p:nvSpPr>
        <p:spPr>
          <a:xfrm>
            <a:off x="69850" y="2341562"/>
            <a:ext cx="901382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82" name="Google Shape;82;p35"/>
          <p:cNvSpPr txBox="1"/>
          <p:nvPr/>
        </p:nvSpPr>
        <p:spPr>
          <a:xfrm>
            <a:off x="68262" y="2468562"/>
            <a:ext cx="9015412" cy="46037"/>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83" name="Google Shape;83;p3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84" name="Google Shape;84;p3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85" name="Google Shape;85;p3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86" name="Google Shape;86;p35"/>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87" name="Google Shape;87;p35"/>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37"/>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96" name="Google Shape;96;p37"/>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97" name="Google Shape;97;p37"/>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98" name="Google Shape;98;p37"/>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99" name="Google Shape;99;p37"/>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00" name="Google Shape;100;p3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01" name="Google Shape;101;p3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02" name="Google Shape;102;p3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03" name="Google Shape;103;p37"/>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39"/>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3" name="Google Shape;113;p39"/>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4" name="Google Shape;114;p39"/>
          <p:cNvSpPr txBox="1"/>
          <p:nvPr/>
        </p:nvSpPr>
        <p:spPr>
          <a:xfrm rot="10800000" flipH="1">
            <a:off x="68262" y="4683125"/>
            <a:ext cx="900747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5" name="Google Shape;115;p39"/>
          <p:cNvSpPr txBox="1"/>
          <p:nvPr/>
        </p:nvSpPr>
        <p:spPr>
          <a:xfrm>
            <a:off x="68262" y="4649787"/>
            <a:ext cx="900747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6" name="Google Shape;116;p39"/>
          <p:cNvSpPr txBox="1"/>
          <p:nvPr/>
        </p:nvSpPr>
        <p:spPr>
          <a:xfrm>
            <a:off x="68262" y="4773612"/>
            <a:ext cx="9007475" cy="476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p:txBody>
      </p:sp>
      <p:sp>
        <p:nvSpPr>
          <p:cNvPr id="117" name="Google Shape;117;p39"/>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18" name="Google Shape;118;p39"/>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19" name="Google Shape;119;p3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20" name="Google Shape;120;p39"/>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121" name="Google Shape;121;p39"/>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0.jpe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146050" y="6210300"/>
            <a:ext cx="457200" cy="457200"/>
          </a:xfrm>
          <a:prstGeom prst="ellipse">
            <a:avLst/>
          </a:prstGeom>
          <a:no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898989"/>
              </a:buClr>
              <a:buSzPts val="1400"/>
              <a:buFont typeface="Calibri"/>
              <a:buNone/>
            </a:pPr>
            <a:fld id="{00000000-1234-1234-1234-123412341234}" type="slidenum">
              <a:rPr lang="en-US" sz="1400" b="0" i="0" u="none" strike="noStrike" cap="none">
                <a:solidFill>
                  <a:srgbClr val="898989"/>
                </a:solidFill>
                <a:latin typeface="Calibri"/>
                <a:ea typeface="Calibri"/>
                <a:cs typeface="Calibri"/>
                <a:sym typeface="Calibri"/>
              </a:rPr>
              <a:pPr marL="0" marR="0" lvl="0" indent="0" algn="ctr" rtl="0">
                <a:lnSpc>
                  <a:spcPct val="100000"/>
                </a:lnSpc>
                <a:spcBef>
                  <a:spcPts val="0"/>
                </a:spcBef>
                <a:spcAft>
                  <a:spcPts val="0"/>
                </a:spcAft>
                <a:buClr>
                  <a:srgbClr val="898989"/>
                </a:buClr>
                <a:buSzPts val="1400"/>
                <a:buFont typeface="Calibri"/>
                <a:buNone/>
              </a:pPr>
              <a:t>1</a:t>
            </a:fld>
            <a:endParaRPr sz="1400" b="0" i="0" u="none" strike="noStrike" cap="none">
              <a:solidFill>
                <a:srgbClr val="000000"/>
              </a:solidFill>
              <a:latin typeface="Arial"/>
              <a:ea typeface="Arial"/>
              <a:cs typeface="Arial"/>
              <a:sym typeface="Arial"/>
            </a:endParaRPr>
          </a:p>
        </p:txBody>
      </p:sp>
      <p:sp>
        <p:nvSpPr>
          <p:cNvPr id="134" name="Google Shape;134;p1"/>
          <p:cNvSpPr txBox="1">
            <a:spLocks noGrp="1"/>
          </p:cNvSpPr>
          <p:nvPr>
            <p:ph type="ctrTitle" idx="4294967295"/>
          </p:nvPr>
        </p:nvSpPr>
        <p:spPr>
          <a:xfrm>
            <a:off x="928687" y="1828800"/>
            <a:ext cx="7643812" cy="1447800"/>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
            </a:r>
            <a:br>
              <a:rPr lang="en-US" sz="2000" b="0" i="0" u="none" strike="noStrike" cap="none">
                <a:solidFill>
                  <a:srgbClr val="FFFFFF"/>
                </a:solidFill>
                <a:latin typeface="Times New Roman"/>
                <a:ea typeface="Times New Roman"/>
                <a:cs typeface="Times New Roman"/>
                <a:sym typeface="Times New Roman"/>
              </a:rPr>
            </a:br>
            <a:r>
              <a:rPr lang="en-US" sz="2000" b="0" i="0" u="none" strike="noStrike" cap="none">
                <a:solidFill>
                  <a:srgbClr val="FFFFFF"/>
                </a:solidFill>
                <a:latin typeface="Times New Roman"/>
                <a:ea typeface="Times New Roman"/>
                <a:cs typeface="Times New Roman"/>
                <a:sym typeface="Times New Roman"/>
              </a:rPr>
              <a:t/>
            </a:r>
            <a:br>
              <a:rPr lang="en-US" sz="2000" b="0" i="0" u="none" strike="noStrike" cap="none">
                <a:solidFill>
                  <a:srgbClr val="FFFFFF"/>
                </a:solidFill>
                <a:latin typeface="Times New Roman"/>
                <a:ea typeface="Times New Roman"/>
                <a:cs typeface="Times New Roman"/>
                <a:sym typeface="Times New Roman"/>
              </a:rPr>
            </a:br>
            <a:r>
              <a:rPr lang="en-US" sz="2000" b="0" i="0" u="none" strike="noStrike" cap="none">
                <a:solidFill>
                  <a:srgbClr val="FFFFFF"/>
                </a:solidFill>
                <a:latin typeface="Times New Roman"/>
                <a:ea typeface="Times New Roman"/>
                <a:cs typeface="Times New Roman"/>
                <a:sym typeface="Times New Roman"/>
              </a:rPr>
              <a:t/>
            </a:r>
            <a:br>
              <a:rPr lang="en-US" sz="2000" b="0" i="0" u="none" strike="noStrike" cap="none">
                <a:solidFill>
                  <a:srgbClr val="FFFFFF"/>
                </a:solidFill>
                <a:latin typeface="Times New Roman"/>
                <a:ea typeface="Times New Roman"/>
                <a:cs typeface="Times New Roman"/>
                <a:sym typeface="Times New Roman"/>
              </a:rPr>
            </a:br>
            <a:r>
              <a:rPr lang="en-US" sz="2000" b="0" i="0" u="none" strike="noStrike" cap="none">
                <a:solidFill>
                  <a:srgbClr val="FFFFFF"/>
                </a:solidFill>
                <a:latin typeface="Times New Roman"/>
                <a:ea typeface="Times New Roman"/>
                <a:cs typeface="Times New Roman"/>
                <a:sym typeface="Times New Roman"/>
              </a:rPr>
              <a:t/>
            </a:r>
            <a:br>
              <a:rPr lang="en-US" sz="2000" b="0" i="0" u="none" strike="noStrike" cap="none">
                <a:solidFill>
                  <a:srgbClr val="FFFFFF"/>
                </a:solidFill>
                <a:latin typeface="Times New Roman"/>
                <a:ea typeface="Times New Roman"/>
                <a:cs typeface="Times New Roman"/>
                <a:sym typeface="Times New Roman"/>
              </a:rPr>
            </a:br>
            <a:r>
              <a:rPr lang="en-US" sz="2400" b="1" i="0" u="none" strike="noStrike" cap="none">
                <a:solidFill>
                  <a:srgbClr val="0070C0"/>
                </a:solidFill>
                <a:latin typeface="Arial"/>
                <a:ea typeface="Arial"/>
                <a:cs typeface="Arial"/>
                <a:sym typeface="Arial"/>
              </a:rPr>
              <a:t>DEPARTMENT OF INFORMATION TECHNOLOGY</a:t>
            </a:r>
            <a:r>
              <a:rPr lang="en-US" sz="2000" b="1" i="0" u="none" strike="noStrike" cap="none">
                <a:solidFill>
                  <a:srgbClr val="FFFFFF"/>
                </a:solidFill>
                <a:latin typeface="Times New Roman"/>
                <a:ea typeface="Times New Roman"/>
                <a:cs typeface="Times New Roman"/>
                <a:sym typeface="Times New Roman"/>
              </a:rPr>
              <a:t/>
            </a:r>
            <a:br>
              <a:rPr lang="en-US" sz="2000" b="1" i="0" u="none" strike="noStrike" cap="none">
                <a:solidFill>
                  <a:srgbClr val="FFFFFF"/>
                </a:solidFill>
                <a:latin typeface="Times New Roman"/>
                <a:ea typeface="Times New Roman"/>
                <a:cs typeface="Times New Roman"/>
                <a:sym typeface="Times New Roman"/>
              </a:rPr>
            </a:br>
            <a:r>
              <a:rPr lang="en-US" sz="2000" b="0" i="0" u="none" strike="noStrike" cap="none">
                <a:solidFill>
                  <a:srgbClr val="404040"/>
                </a:solidFill>
                <a:latin typeface="Times New Roman"/>
                <a:ea typeface="Times New Roman"/>
                <a:cs typeface="Times New Roman"/>
                <a:sym typeface="Times New Roman"/>
              </a:rPr>
              <a:t/>
            </a:r>
            <a:br>
              <a:rPr lang="en-US" sz="2000" b="0" i="0" u="none" strike="noStrike" cap="none">
                <a:solidFill>
                  <a:srgbClr val="404040"/>
                </a:solidFill>
                <a:latin typeface="Times New Roman"/>
                <a:ea typeface="Times New Roman"/>
                <a:cs typeface="Times New Roman"/>
                <a:sym typeface="Times New Roman"/>
              </a:rPr>
            </a:br>
            <a:endParaRPr sz="4000" b="0" i="0" u="none" strike="noStrike" cap="none">
              <a:solidFill>
                <a:schemeClr val="dk2"/>
              </a:solidFill>
              <a:latin typeface="Libre Franklin"/>
              <a:ea typeface="Libre Franklin"/>
              <a:cs typeface="Libre Franklin"/>
              <a:sym typeface="Libre Franklin"/>
            </a:endParaRPr>
          </a:p>
        </p:txBody>
      </p:sp>
      <p:pic>
        <p:nvPicPr>
          <p:cNvPr id="136" name="Google Shape;136;p1"/>
          <p:cNvPicPr preferRelativeResize="0"/>
          <p:nvPr/>
        </p:nvPicPr>
        <p:blipFill rotWithShape="1">
          <a:blip r:embed="rId3">
            <a:alphaModFix/>
          </a:blip>
          <a:srcRect/>
          <a:stretch/>
        </p:blipFill>
        <p:spPr>
          <a:xfrm>
            <a:off x="304800" y="381000"/>
            <a:ext cx="8534400" cy="976312"/>
          </a:xfrm>
          <a:prstGeom prst="rect">
            <a:avLst/>
          </a:prstGeom>
          <a:noFill/>
          <a:ln>
            <a:noFill/>
          </a:ln>
        </p:spPr>
      </p:pic>
      <p:sp>
        <p:nvSpPr>
          <p:cNvPr id="137" name="Google Shape;137;p1"/>
          <p:cNvSpPr txBox="1"/>
          <p:nvPr/>
        </p:nvSpPr>
        <p:spPr>
          <a:xfrm>
            <a:off x="1214437" y="2786062"/>
            <a:ext cx="7000875"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200"/>
              <a:buFont typeface="Arial"/>
              <a:buNone/>
            </a:pPr>
            <a:r>
              <a:rPr lang="en-US" sz="3200" b="0" i="0" u="none" strike="noStrike" cap="none" dirty="0" smtClean="0">
                <a:solidFill>
                  <a:srgbClr val="FF0000"/>
                </a:solidFill>
                <a:latin typeface="Arial"/>
                <a:ea typeface="Arial"/>
                <a:cs typeface="Arial"/>
                <a:sym typeface="Arial"/>
              </a:rPr>
              <a:t>Internet </a:t>
            </a:r>
            <a:r>
              <a:rPr lang="en-US" sz="3200" b="0" i="0" u="none" strike="noStrike" cap="none" dirty="0">
                <a:solidFill>
                  <a:srgbClr val="FF0000"/>
                </a:solidFill>
                <a:latin typeface="Arial"/>
                <a:ea typeface="Arial"/>
                <a:cs typeface="Arial"/>
                <a:sym typeface="Arial"/>
              </a:rPr>
              <a:t>of Things</a:t>
            </a:r>
            <a:endParaRPr sz="1400" b="0" i="0" u="none" strike="noStrike" cap="none" dirty="0">
              <a:solidFill>
                <a:srgbClr val="000000"/>
              </a:solidFill>
              <a:latin typeface="Arial"/>
              <a:ea typeface="Arial"/>
              <a:cs typeface="Arial"/>
              <a:sym typeface="Arial"/>
            </a:endParaRPr>
          </a:p>
        </p:txBody>
      </p:sp>
      <p:sp>
        <p:nvSpPr>
          <p:cNvPr id="138" name="Google Shape;138;p1"/>
          <p:cNvSpPr txBox="1"/>
          <p:nvPr/>
        </p:nvSpPr>
        <p:spPr>
          <a:xfrm>
            <a:off x="928687" y="3429000"/>
            <a:ext cx="7643812" cy="571500"/>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070C0"/>
              </a:buClr>
              <a:buSzPts val="2400"/>
              <a:buFont typeface="Arial"/>
              <a:buNone/>
            </a:pPr>
            <a:r>
              <a:rPr lang="en-US" sz="2400" b="1" i="0" u="none" strike="noStrike" cap="none">
                <a:solidFill>
                  <a:srgbClr val="0070C0"/>
                </a:solidFill>
                <a:latin typeface="Arial"/>
                <a:ea typeface="Arial"/>
                <a:cs typeface="Arial"/>
                <a:sym typeface="Arial"/>
              </a:rPr>
              <a:t>1 – Fundamentals of Internet of Things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
          <p:cNvSpPr/>
          <p:nvPr/>
        </p:nvSpPr>
        <p:spPr>
          <a:xfrm>
            <a:off x="146050" y="6210300"/>
            <a:ext cx="457200" cy="457200"/>
          </a:xfrm>
          <a:prstGeom prst="ellipse">
            <a:avLst/>
          </a:prstGeom>
          <a:no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898989"/>
              </a:buClr>
              <a:buSzPts val="1400"/>
              <a:buFont typeface="Calibri"/>
              <a:buNone/>
            </a:pPr>
            <a:fld id="{00000000-1234-1234-1234-123412341234}" type="slidenum">
              <a:rPr lang="en-US" sz="1400" b="0" i="0" u="none" strike="noStrike" cap="none">
                <a:solidFill>
                  <a:srgbClr val="898989"/>
                </a:solidFill>
                <a:latin typeface="Calibri"/>
                <a:ea typeface="Calibri"/>
                <a:cs typeface="Calibri"/>
                <a:sym typeface="Calibri"/>
              </a:rPr>
              <a:pPr marL="0" marR="0" lvl="0" indent="0" algn="ctr" rtl="0">
                <a:lnSpc>
                  <a:spcPct val="100000"/>
                </a:lnSpc>
                <a:spcBef>
                  <a:spcPts val="0"/>
                </a:spcBef>
                <a:spcAft>
                  <a:spcPts val="0"/>
                </a:spcAft>
                <a:buClr>
                  <a:srgbClr val="898989"/>
                </a:buClr>
                <a:buSzPts val="1400"/>
                <a:buFont typeface="Calibri"/>
                <a:buNone/>
              </a:pPr>
              <a:t>2</a:t>
            </a:fld>
            <a:endParaRPr sz="1400" b="0" i="0" u="none" strike="noStrike" cap="none">
              <a:solidFill>
                <a:srgbClr val="000000"/>
              </a:solidFill>
              <a:latin typeface="Arial"/>
              <a:ea typeface="Arial"/>
              <a:cs typeface="Arial"/>
              <a:sym typeface="Arial"/>
            </a:endParaRPr>
          </a:p>
        </p:txBody>
      </p:sp>
      <p:pic>
        <p:nvPicPr>
          <p:cNvPr id="144" name="Google Shape;144;p2"/>
          <p:cNvPicPr preferRelativeResize="0"/>
          <p:nvPr/>
        </p:nvPicPr>
        <p:blipFill rotWithShape="1">
          <a:blip r:embed="rId3">
            <a:alphaModFix/>
          </a:blip>
          <a:srcRect/>
          <a:stretch/>
        </p:blipFill>
        <p:spPr>
          <a:xfrm>
            <a:off x="304800" y="381000"/>
            <a:ext cx="8534400" cy="976312"/>
          </a:xfrm>
          <a:prstGeom prst="rect">
            <a:avLst/>
          </a:prstGeom>
          <a:noFill/>
          <a:ln>
            <a:noFill/>
          </a:ln>
        </p:spPr>
      </p:pic>
      <p:sp>
        <p:nvSpPr>
          <p:cNvPr id="145" name="Google Shape;145;p2"/>
          <p:cNvSpPr txBox="1"/>
          <p:nvPr/>
        </p:nvSpPr>
        <p:spPr>
          <a:xfrm>
            <a:off x="1000125" y="1571625"/>
            <a:ext cx="7000875"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200"/>
              <a:buFont typeface="Arial"/>
              <a:buNone/>
            </a:pPr>
            <a:r>
              <a:rPr lang="en-US" sz="3200" b="0" i="0" u="none" strike="noStrike" cap="none">
                <a:solidFill>
                  <a:srgbClr val="FF0000"/>
                </a:solidFill>
                <a:latin typeface="Arial"/>
                <a:ea typeface="Arial"/>
                <a:cs typeface="Arial"/>
                <a:sym typeface="Arial"/>
              </a:rPr>
              <a:t>Topic</a:t>
            </a:r>
            <a:endParaRPr sz="1400" b="0" i="0" u="none" strike="noStrike" cap="none">
              <a:solidFill>
                <a:srgbClr val="000000"/>
              </a:solidFill>
              <a:latin typeface="Arial"/>
              <a:ea typeface="Arial"/>
              <a:cs typeface="Arial"/>
              <a:sym typeface="Arial"/>
            </a:endParaRPr>
          </a:p>
        </p:txBody>
      </p:sp>
      <p:sp>
        <p:nvSpPr>
          <p:cNvPr id="146" name="Google Shape;146;p2"/>
          <p:cNvSpPr txBox="1"/>
          <p:nvPr/>
        </p:nvSpPr>
        <p:spPr>
          <a:xfrm>
            <a:off x="928687" y="3143250"/>
            <a:ext cx="7643812" cy="571500"/>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070C0"/>
              </a:buClr>
              <a:buSzPts val="3200"/>
              <a:buFont typeface="Arial"/>
              <a:buNone/>
            </a:pPr>
            <a:r>
              <a:rPr lang="en-US" sz="3200" b="1" i="0" u="none" strike="noStrike" cap="none">
                <a:solidFill>
                  <a:srgbClr val="0070C0"/>
                </a:solidFill>
                <a:latin typeface="Arial"/>
                <a:ea typeface="Arial"/>
                <a:cs typeface="Arial"/>
                <a:sym typeface="Arial"/>
              </a:rPr>
              <a:t>Introduction and Characteristics of IoT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What is IoT?</a:t>
            </a:r>
            <a:endParaRPr/>
          </a:p>
        </p:txBody>
      </p:sp>
      <p:sp>
        <p:nvSpPr>
          <p:cNvPr id="152" name="Google Shape;152;p3"/>
          <p:cNvSpPr txBox="1">
            <a:spLocks noGrp="1"/>
          </p:cNvSpPr>
          <p:nvPr>
            <p:ph type="body" idx="1"/>
          </p:nvPr>
        </p:nvSpPr>
        <p:spPr>
          <a:xfrm>
            <a:off x="914400" y="1447800"/>
            <a:ext cx="7772400" cy="1981200"/>
          </a:xfrm>
          <a:prstGeom prst="rect">
            <a:avLst/>
          </a:prstGeom>
          <a:noFill/>
          <a:ln>
            <a:noFill/>
          </a:ln>
        </p:spPr>
        <p:txBody>
          <a:bodyPr spcFirstLastPara="1" wrap="square" lIns="91425" tIns="45700" rIns="91425" bIns="45700" anchor="t" anchorCtr="0">
            <a:noAutofit/>
          </a:bodyPr>
          <a:lstStyle/>
          <a:p>
            <a:pPr marL="273050" marR="0" lvl="0" indent="-143510" algn="just" rtl="0">
              <a:lnSpc>
                <a:spcPct val="150000"/>
              </a:lnSpc>
              <a:spcBef>
                <a:spcPts val="0"/>
              </a:spcBef>
              <a:spcAft>
                <a:spcPts val="0"/>
              </a:spcAft>
              <a:buClr>
                <a:schemeClr val="accent1"/>
              </a:buClr>
              <a:buSzPts val="2040"/>
              <a:buFont typeface="Noto Sans Symbols"/>
              <a:buNone/>
            </a:pPr>
            <a:endParaRPr sz="2400" b="1" i="1" u="none" strike="noStrike" cap="none">
              <a:solidFill>
                <a:schemeClr val="dk1"/>
              </a:solidFill>
              <a:latin typeface="Arial"/>
              <a:ea typeface="Arial"/>
              <a:cs typeface="Arial"/>
              <a:sym typeface="Arial"/>
            </a:endParaRPr>
          </a:p>
          <a:p>
            <a:pPr marL="273050" marR="0" lvl="0" indent="-273050" algn="just" rtl="0">
              <a:lnSpc>
                <a:spcPct val="150000"/>
              </a:lnSpc>
              <a:spcBef>
                <a:spcPts val="500"/>
              </a:spcBef>
              <a:spcAft>
                <a:spcPts val="0"/>
              </a:spcAft>
              <a:buClr>
                <a:schemeClr val="accent1"/>
              </a:buClr>
              <a:buSzPts val="2040"/>
              <a:buFont typeface="Noto Sans Symbols"/>
              <a:buChar char="⚫"/>
            </a:pPr>
            <a:r>
              <a:rPr lang="en-US" sz="2400" b="1" i="0" u="none" strike="noStrike" cap="none">
                <a:solidFill>
                  <a:schemeClr val="dk1"/>
                </a:solidFill>
                <a:latin typeface="Arial"/>
                <a:ea typeface="Arial"/>
                <a:cs typeface="Arial"/>
                <a:sym typeface="Arial"/>
              </a:rPr>
              <a:t>“Internet of Things (IoT) is an ecosystem of connected physical objects (things) that are accessible through the internet”.</a:t>
            </a:r>
            <a:endParaRPr/>
          </a:p>
        </p:txBody>
      </p:sp>
      <p:sp>
        <p:nvSpPr>
          <p:cNvPr id="153" name="Google Shape;153;p3"/>
          <p:cNvSpPr txBox="1"/>
          <p:nvPr/>
        </p:nvSpPr>
        <p:spPr>
          <a:xfrm>
            <a:off x="1066800" y="3886200"/>
            <a:ext cx="7772400" cy="2286000"/>
          </a:xfrm>
          <a:prstGeom prst="rect">
            <a:avLst/>
          </a:prstGeom>
          <a:noFill/>
          <a:ln>
            <a:noFill/>
          </a:ln>
        </p:spPr>
        <p:txBody>
          <a:bodyPr spcFirstLastPara="1" wrap="square" lIns="91425" tIns="45700" rIns="91425" bIns="45700" anchor="t" anchorCtr="0">
            <a:noAutofit/>
          </a:bodyPr>
          <a:lstStyle/>
          <a:p>
            <a:pPr marL="273050" marR="0" lvl="0" indent="-273050" algn="just" rtl="0">
              <a:lnSpc>
                <a:spcPct val="150000"/>
              </a:lnSpc>
              <a:spcBef>
                <a:spcPts val="0"/>
              </a:spcBef>
              <a:spcAft>
                <a:spcPts val="0"/>
              </a:spcAft>
              <a:buClr>
                <a:schemeClr val="accent1"/>
              </a:buClr>
              <a:buSzPts val="2040"/>
              <a:buFont typeface="Noto Sans Symbols"/>
              <a:buChar char="⚫"/>
            </a:pPr>
            <a:r>
              <a:rPr lang="en-US" sz="2400" b="1" i="1" u="none" strike="noStrike" cap="none">
                <a:solidFill>
                  <a:schemeClr val="dk1"/>
                </a:solidFill>
                <a:latin typeface="Arial"/>
                <a:ea typeface="Arial"/>
                <a:cs typeface="Arial"/>
                <a:sym typeface="Arial"/>
              </a:rPr>
              <a:t>Other stmts…</a:t>
            </a:r>
            <a:endParaRPr sz="1400" b="0" i="0" u="none" strike="noStrike" cap="none">
              <a:solidFill>
                <a:srgbClr val="000000"/>
              </a:solidFill>
              <a:latin typeface="Arial"/>
              <a:ea typeface="Arial"/>
              <a:cs typeface="Arial"/>
              <a:sym typeface="Arial"/>
            </a:endParaRPr>
          </a:p>
          <a:p>
            <a:pPr marL="547687" marR="0" lvl="1" indent="-228599" algn="just" rtl="0">
              <a:lnSpc>
                <a:spcPct val="150000"/>
              </a:lnSpc>
              <a:spcBef>
                <a:spcPts val="300"/>
              </a:spcBef>
              <a:spcAft>
                <a:spcPts val="0"/>
              </a:spcAft>
              <a:buClr>
                <a:schemeClr val="accent2"/>
              </a:buClr>
              <a:buSzPts val="2040"/>
              <a:buFont typeface="Noto Sans Symbols"/>
              <a:buChar char="▪"/>
            </a:pPr>
            <a:r>
              <a:rPr lang="en-US" sz="2400" b="1" i="0" u="none" strike="noStrike" cap="none">
                <a:solidFill>
                  <a:schemeClr val="dk1"/>
                </a:solidFill>
                <a:latin typeface="Arial"/>
                <a:ea typeface="Arial"/>
                <a:cs typeface="Arial"/>
                <a:sym typeface="Arial"/>
              </a:rPr>
              <a:t>“Internet of Things (IoT) comprises things that have unique identities and are connected to the Internet.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4"/>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600"/>
              <a:buFont typeface="Arial"/>
              <a:buNone/>
            </a:pPr>
            <a:r>
              <a:rPr lang="en-US" sz="3600" b="1" i="0" u="none">
                <a:solidFill>
                  <a:schemeClr val="dk2"/>
                </a:solidFill>
                <a:latin typeface="Arial"/>
                <a:ea typeface="Arial"/>
                <a:cs typeface="Arial"/>
                <a:sym typeface="Arial"/>
              </a:rPr>
              <a:t>What is IoT? (‘thing’…cont…)</a:t>
            </a:r>
            <a:endParaRPr/>
          </a:p>
        </p:txBody>
      </p:sp>
      <p:sp>
        <p:nvSpPr>
          <p:cNvPr id="159" name="Google Shape;159;p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3050" marR="0" lvl="0" indent="-143510" algn="just" rtl="0">
              <a:lnSpc>
                <a:spcPct val="150000"/>
              </a:lnSpc>
              <a:spcBef>
                <a:spcPts val="0"/>
              </a:spcBef>
              <a:spcAft>
                <a:spcPts val="0"/>
              </a:spcAft>
              <a:buClr>
                <a:schemeClr val="accent1"/>
              </a:buClr>
              <a:buSzPts val="2040"/>
              <a:buFont typeface="Noto Sans Symbols"/>
              <a:buNone/>
            </a:pPr>
            <a:endParaRPr sz="2400" b="0" i="0" u="none" strike="noStrike" cap="none">
              <a:solidFill>
                <a:schemeClr val="dk1"/>
              </a:solidFill>
              <a:latin typeface="Arial"/>
              <a:ea typeface="Arial"/>
              <a:cs typeface="Arial"/>
              <a:sym typeface="Arial"/>
            </a:endParaRPr>
          </a:p>
          <a:p>
            <a:pPr marL="273050" marR="0" lvl="0" indent="-273050" algn="just" rtl="0">
              <a:lnSpc>
                <a:spcPct val="150000"/>
              </a:lnSpc>
              <a:spcBef>
                <a:spcPts val="500"/>
              </a:spcBef>
              <a:spcAft>
                <a:spcPts val="0"/>
              </a:spcAft>
              <a:buClr>
                <a:schemeClr val="accent1"/>
              </a:buClr>
              <a:buSzPts val="2040"/>
              <a:buFont typeface="Noto Sans Symbols"/>
              <a:buChar char="⚫"/>
            </a:pPr>
            <a:r>
              <a:rPr lang="en-US" sz="2400" b="0" i="0" u="none" strike="noStrike" cap="none">
                <a:solidFill>
                  <a:schemeClr val="dk1"/>
                </a:solidFill>
                <a:latin typeface="Arial"/>
                <a:ea typeface="Arial"/>
                <a:cs typeface="Arial"/>
                <a:sym typeface="Arial"/>
              </a:rPr>
              <a:t>The ‘thing’ in IoT could be </a:t>
            </a:r>
            <a:r>
              <a:rPr lang="en-US" sz="2400" b="0" i="0" u="none" strike="noStrike" cap="none">
                <a:solidFill>
                  <a:srgbClr val="9E3611"/>
                </a:solidFill>
                <a:latin typeface="Arial"/>
                <a:ea typeface="Arial"/>
                <a:cs typeface="Arial"/>
                <a:sym typeface="Arial"/>
              </a:rPr>
              <a:t>a person with a heart monitor or an automobile with built-in-sensors</a:t>
            </a:r>
            <a:r>
              <a:rPr lang="en-US" sz="2400" b="0" i="0" u="none" strike="noStrike" cap="none">
                <a:solidFill>
                  <a:schemeClr val="dk1"/>
                </a:solidFill>
                <a:latin typeface="Arial"/>
                <a:ea typeface="Arial"/>
                <a:cs typeface="Arial"/>
                <a:sym typeface="Arial"/>
              </a:rPr>
              <a:t>, i.e. </a:t>
            </a:r>
            <a:r>
              <a:rPr lang="en-US" sz="2400" b="1" i="1" u="none" strike="noStrike" cap="none">
                <a:solidFill>
                  <a:srgbClr val="FF0000"/>
                </a:solidFill>
                <a:latin typeface="Arial"/>
                <a:ea typeface="Arial"/>
                <a:cs typeface="Arial"/>
                <a:sym typeface="Arial"/>
              </a:rPr>
              <a:t>objects that have been assigned an IP address and have the ability to collect and transfer data over a network without manual assistance or intervention.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200"/>
              <a:buFont typeface="Arial"/>
              <a:buNone/>
            </a:pPr>
            <a:r>
              <a:rPr lang="en-US" sz="3200" b="0" i="0" u="none">
                <a:solidFill>
                  <a:schemeClr val="dk2"/>
                </a:solidFill>
                <a:latin typeface="Arial"/>
                <a:ea typeface="Arial"/>
                <a:cs typeface="Arial"/>
                <a:sym typeface="Arial"/>
              </a:rPr>
              <a:t>Is this an IoT?</a:t>
            </a:r>
            <a:endParaRPr/>
          </a:p>
        </p:txBody>
      </p:sp>
      <p:sp>
        <p:nvSpPr>
          <p:cNvPr id="165" name="Google Shape;165;p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3050" marR="0" lvl="0" indent="-143510" algn="l" rtl="0">
              <a:lnSpc>
                <a:spcPct val="100000"/>
              </a:lnSpc>
              <a:spcBef>
                <a:spcPts val="0"/>
              </a:spcBef>
              <a:spcAft>
                <a:spcPts val="0"/>
              </a:spcAft>
              <a:buClr>
                <a:schemeClr val="accent1"/>
              </a:buClr>
              <a:buSzPts val="2040"/>
              <a:buFont typeface="Noto Sans Symbols"/>
              <a:buNone/>
            </a:pPr>
            <a:endParaRPr sz="2400" b="0" i="0" u="none" strike="noStrike" cap="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040"/>
              <a:buFont typeface="Noto Sans Symbols"/>
              <a:buChar char="⚫"/>
            </a:pPr>
            <a:r>
              <a:rPr lang="en-US" sz="2400" b="0" i="0" u="none" strike="noStrike" cap="none">
                <a:solidFill>
                  <a:schemeClr val="dk1"/>
                </a:solidFill>
                <a:latin typeface="Arial"/>
                <a:ea typeface="Arial"/>
                <a:cs typeface="Arial"/>
                <a:sym typeface="Arial"/>
              </a:rPr>
              <a:t>Computers Connected with Network…!...</a:t>
            </a:r>
            <a:endParaRPr/>
          </a:p>
          <a:p>
            <a:pPr marL="273050" marR="0" lvl="0" indent="-143510" algn="l" rtl="0">
              <a:lnSpc>
                <a:spcPct val="100000"/>
              </a:lnSpc>
              <a:spcBef>
                <a:spcPts val="500"/>
              </a:spcBef>
              <a:spcAft>
                <a:spcPts val="0"/>
              </a:spcAft>
              <a:buClr>
                <a:schemeClr val="accent1"/>
              </a:buClr>
              <a:buSzPts val="2040"/>
              <a:buFont typeface="Noto Sans Symbols"/>
              <a:buNone/>
            </a:pPr>
            <a:endParaRPr sz="2400" b="0" i="0" u="none" strike="noStrike" cap="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040"/>
              <a:buFont typeface="Noto Sans Symbols"/>
              <a:buChar char="⚫"/>
            </a:pPr>
            <a:r>
              <a:rPr lang="en-US" sz="2400" b="0" i="0" u="none" strike="noStrike" cap="none">
                <a:solidFill>
                  <a:schemeClr val="dk1"/>
                </a:solidFill>
                <a:latin typeface="Arial"/>
                <a:ea typeface="Arial"/>
                <a:cs typeface="Arial"/>
                <a:sym typeface="Arial"/>
              </a:rPr>
              <a:t>4G enabled mobile phones?</a:t>
            </a:r>
            <a:endParaRPr/>
          </a:p>
          <a:p>
            <a:pPr marL="273050" marR="0" lvl="0" indent="-143510" algn="l" rtl="0">
              <a:lnSpc>
                <a:spcPct val="100000"/>
              </a:lnSpc>
              <a:spcBef>
                <a:spcPts val="575"/>
              </a:spcBef>
              <a:spcAft>
                <a:spcPts val="0"/>
              </a:spcAft>
              <a:buClr>
                <a:schemeClr val="accent1"/>
              </a:buClr>
              <a:buSzPts val="2040"/>
              <a:buFont typeface="Noto Sans Symbols"/>
              <a:buNone/>
            </a:pPr>
            <a:endParaRPr sz="2400" b="0" i="0" u="none">
              <a:solidFill>
                <a:schemeClr val="dk1"/>
              </a:solidFill>
              <a:latin typeface="Arial"/>
              <a:ea typeface="Arial"/>
              <a:cs typeface="Arial"/>
              <a:sym typeface="Arial"/>
            </a:endParaRPr>
          </a:p>
        </p:txBody>
      </p:sp>
      <p:sp>
        <p:nvSpPr>
          <p:cNvPr id="166" name="Google Shape;166;p5"/>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6"/>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600"/>
              <a:buFont typeface="Arial"/>
              <a:buNone/>
            </a:pPr>
            <a:r>
              <a:rPr lang="en-US" sz="3600" b="0" i="0" u="none">
                <a:solidFill>
                  <a:schemeClr val="dk2"/>
                </a:solidFill>
                <a:latin typeface="Arial"/>
                <a:ea typeface="Arial"/>
                <a:cs typeface="Arial"/>
                <a:sym typeface="Arial"/>
              </a:rPr>
              <a:t>Is this an IoT?</a:t>
            </a:r>
            <a:endParaRPr/>
          </a:p>
        </p:txBody>
      </p:sp>
      <p:sp>
        <p:nvSpPr>
          <p:cNvPr id="172" name="Google Shape;172;p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3050" marR="0" lvl="0" indent="-132715" algn="l" rtl="0">
              <a:lnSpc>
                <a:spcPct val="100000"/>
              </a:lnSpc>
              <a:spcBef>
                <a:spcPts val="0"/>
              </a:spcBef>
              <a:spcAft>
                <a:spcPts val="0"/>
              </a:spcAft>
              <a:buClr>
                <a:schemeClr val="accent1"/>
              </a:buClr>
              <a:buSzPts val="2210"/>
              <a:buFont typeface="Noto Sans Symbols"/>
              <a:buNone/>
            </a:pPr>
            <a:endParaRPr sz="2600" b="0" i="0" u="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210"/>
              <a:buFont typeface="Noto Sans Symbols"/>
              <a:buChar char="⚫"/>
            </a:pPr>
            <a:r>
              <a:rPr lang="en-US" sz="2600" b="0" i="0" u="none">
                <a:solidFill>
                  <a:schemeClr val="dk1"/>
                </a:solidFill>
                <a:latin typeface="Arial"/>
                <a:ea typeface="Arial"/>
                <a:cs typeface="Arial"/>
                <a:sym typeface="Arial"/>
              </a:rPr>
              <a:t>Computers Connected with Network…!...</a:t>
            </a:r>
            <a:endParaRPr/>
          </a:p>
          <a:p>
            <a:pPr marL="273050" marR="0" lvl="0" indent="-132715" algn="l" rtl="0">
              <a:lnSpc>
                <a:spcPct val="100000"/>
              </a:lnSpc>
              <a:spcBef>
                <a:spcPts val="500"/>
              </a:spcBef>
              <a:spcAft>
                <a:spcPts val="0"/>
              </a:spcAft>
              <a:buClr>
                <a:schemeClr val="accent1"/>
              </a:buClr>
              <a:buSzPts val="2210"/>
              <a:buFont typeface="Noto Sans Symbols"/>
              <a:buNone/>
            </a:pPr>
            <a:endParaRPr sz="2600" b="0" i="0" u="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210"/>
              <a:buFont typeface="Noto Sans Symbols"/>
              <a:buChar char="⚫"/>
            </a:pPr>
            <a:r>
              <a:rPr lang="en-US" sz="2600" b="0" i="0" u="none">
                <a:solidFill>
                  <a:schemeClr val="dk1"/>
                </a:solidFill>
                <a:latin typeface="Arial"/>
                <a:ea typeface="Arial"/>
                <a:cs typeface="Arial"/>
                <a:sym typeface="Arial"/>
              </a:rPr>
              <a:t>4G enabled mobile phones?</a:t>
            </a:r>
            <a:endParaRPr/>
          </a:p>
          <a:p>
            <a:pPr marL="273050" marR="0" lvl="0" indent="-132715" algn="l" rtl="0">
              <a:lnSpc>
                <a:spcPct val="100000"/>
              </a:lnSpc>
              <a:spcBef>
                <a:spcPts val="500"/>
              </a:spcBef>
              <a:spcAft>
                <a:spcPts val="0"/>
              </a:spcAft>
              <a:buClr>
                <a:schemeClr val="accent1"/>
              </a:buClr>
              <a:buSzPts val="2210"/>
              <a:buFont typeface="Noto Sans Symbols"/>
              <a:buNone/>
            </a:pPr>
            <a:endParaRPr sz="2600" b="0" i="0" u="none">
              <a:solidFill>
                <a:schemeClr val="dk1"/>
              </a:solidFill>
              <a:latin typeface="Arial"/>
              <a:ea typeface="Arial"/>
              <a:cs typeface="Arial"/>
              <a:sym typeface="Arial"/>
            </a:endParaRPr>
          </a:p>
          <a:p>
            <a:pPr marL="273050" marR="0" lvl="0" indent="-273050" algn="just" rtl="0">
              <a:lnSpc>
                <a:spcPct val="100000"/>
              </a:lnSpc>
              <a:spcBef>
                <a:spcPts val="500"/>
              </a:spcBef>
              <a:spcAft>
                <a:spcPts val="0"/>
              </a:spcAft>
              <a:buClr>
                <a:schemeClr val="accent1"/>
              </a:buClr>
              <a:buSzPts val="2040"/>
              <a:buFont typeface="Noto Sans Symbols"/>
              <a:buNone/>
            </a:pPr>
            <a:r>
              <a:rPr lang="en-US" sz="2400" b="1" i="0" u="none">
                <a:solidFill>
                  <a:srgbClr val="FF0000"/>
                </a:solidFill>
                <a:latin typeface="Arial"/>
                <a:ea typeface="Arial"/>
                <a:cs typeface="Arial"/>
                <a:sym typeface="Arial"/>
              </a:rPr>
              <a:t>….these things also have unique identities and are also connected with Internet….</a:t>
            </a:r>
            <a:endParaRPr/>
          </a:p>
        </p:txBody>
      </p:sp>
      <p:sp>
        <p:nvSpPr>
          <p:cNvPr id="173" name="Google Shape;173;p6"/>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7"/>
          <p:cNvSpPr txBox="1">
            <a:spLocks noGrp="1"/>
          </p:cNvSpPr>
          <p:nvPr>
            <p:ph type="title"/>
          </p:nvPr>
        </p:nvSpPr>
        <p:spPr>
          <a:xfrm>
            <a:off x="914400" y="274637"/>
            <a:ext cx="7772400" cy="94456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Arial"/>
              <a:buNone/>
            </a:pPr>
            <a:r>
              <a:rPr lang="en-US" sz="4000" b="0" i="0" u="none">
                <a:solidFill>
                  <a:schemeClr val="dk2"/>
                </a:solidFill>
                <a:latin typeface="Arial"/>
                <a:ea typeface="Arial"/>
                <a:cs typeface="Arial"/>
                <a:sym typeface="Arial"/>
              </a:rPr>
              <a:t>Actual Focus,,,</a:t>
            </a:r>
            <a:endParaRPr/>
          </a:p>
        </p:txBody>
      </p:sp>
      <p:sp>
        <p:nvSpPr>
          <p:cNvPr id="179" name="Google Shape;179;p7"/>
          <p:cNvSpPr txBox="1">
            <a:spLocks noGrp="1"/>
          </p:cNvSpPr>
          <p:nvPr>
            <p:ph type="body" idx="1"/>
          </p:nvPr>
        </p:nvSpPr>
        <p:spPr>
          <a:xfrm>
            <a:off x="914400" y="1447800"/>
            <a:ext cx="7772400" cy="2362200"/>
          </a:xfrm>
          <a:prstGeom prst="rect">
            <a:avLst/>
          </a:prstGeom>
          <a:noFill/>
          <a:ln>
            <a:noFill/>
          </a:ln>
        </p:spPr>
        <p:txBody>
          <a:bodyPr spcFirstLastPara="1" wrap="square" lIns="91425" tIns="45700" rIns="91425" bIns="45700" anchor="t" anchorCtr="0">
            <a:noAutofit/>
          </a:bodyPr>
          <a:lstStyle/>
          <a:p>
            <a:pPr marL="273050" marR="0" lvl="0" indent="-273050" algn="just" rtl="0">
              <a:lnSpc>
                <a:spcPct val="100000"/>
              </a:lnSpc>
              <a:spcBef>
                <a:spcPts val="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The scope of IoT is </a:t>
            </a:r>
            <a:r>
              <a:rPr lang="en-US" sz="2400" b="1" i="0" u="none">
                <a:solidFill>
                  <a:schemeClr val="dk1"/>
                </a:solidFill>
                <a:latin typeface="Arial"/>
                <a:ea typeface="Arial"/>
                <a:cs typeface="Arial"/>
                <a:sym typeface="Arial"/>
              </a:rPr>
              <a:t>not limited </a:t>
            </a:r>
            <a:r>
              <a:rPr lang="en-US" sz="2400" b="0" i="0" u="none">
                <a:solidFill>
                  <a:schemeClr val="dk1"/>
                </a:solidFill>
                <a:latin typeface="Arial"/>
                <a:ea typeface="Arial"/>
                <a:cs typeface="Arial"/>
                <a:sym typeface="Arial"/>
              </a:rPr>
              <a:t>to just connecting things (devices, appliances, machines) to the Internet.</a:t>
            </a:r>
            <a:endParaRPr/>
          </a:p>
          <a:p>
            <a:pPr marL="273050" marR="0" lvl="0" indent="-143510" algn="just" rtl="0">
              <a:lnSpc>
                <a:spcPct val="100000"/>
              </a:lnSpc>
              <a:spcBef>
                <a:spcPts val="500"/>
              </a:spcBef>
              <a:spcAft>
                <a:spcPts val="0"/>
              </a:spcAft>
              <a:buClr>
                <a:schemeClr val="accent1"/>
              </a:buClr>
              <a:buSzPts val="2040"/>
              <a:buFont typeface="Noto Sans Symbols"/>
              <a:buNone/>
            </a:pPr>
            <a:endParaRPr sz="2400" b="0" i="0" u="none">
              <a:solidFill>
                <a:schemeClr val="dk1"/>
              </a:solidFill>
              <a:latin typeface="Arial"/>
              <a:ea typeface="Arial"/>
              <a:cs typeface="Arial"/>
              <a:sym typeface="Arial"/>
            </a:endParaRPr>
          </a:p>
          <a:p>
            <a:pPr marL="273050" marR="0" lvl="0" indent="-273050" algn="just" rtl="0">
              <a:lnSpc>
                <a:spcPct val="100000"/>
              </a:lnSpc>
              <a:spcBef>
                <a:spcPts val="50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IoT allows these things to communicate and exchange data (control &amp; information passing for useful knowledge)..</a:t>
            </a:r>
            <a:endParaRPr/>
          </a:p>
        </p:txBody>
      </p:sp>
      <p:pic>
        <p:nvPicPr>
          <p:cNvPr id="180" name="Google Shape;180;p7"/>
          <p:cNvPicPr preferRelativeResize="0"/>
          <p:nvPr/>
        </p:nvPicPr>
        <p:blipFill rotWithShape="1">
          <a:blip r:embed="rId3">
            <a:alphaModFix/>
          </a:blip>
          <a:srcRect/>
          <a:stretch/>
        </p:blipFill>
        <p:spPr>
          <a:xfrm>
            <a:off x="835025" y="3986212"/>
            <a:ext cx="7424737" cy="2695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8"/>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endParaRPr sz="4000">
              <a:solidFill>
                <a:schemeClr val="dk2"/>
              </a:solidFill>
              <a:latin typeface="Libre Franklin"/>
              <a:ea typeface="Libre Franklin"/>
              <a:cs typeface="Libre Franklin"/>
              <a:sym typeface="Libre Franklin"/>
            </a:endParaRPr>
          </a:p>
        </p:txBody>
      </p:sp>
      <p:sp>
        <p:nvSpPr>
          <p:cNvPr id="186" name="Google Shape;186;p8"/>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3050" marR="0" lvl="0" indent="-132715" algn="l" rtl="0">
              <a:lnSpc>
                <a:spcPct val="100000"/>
              </a:lnSpc>
              <a:spcBef>
                <a:spcPts val="0"/>
              </a:spcBef>
              <a:spcAft>
                <a:spcPts val="0"/>
              </a:spcAft>
              <a:buClr>
                <a:schemeClr val="accent1"/>
              </a:buClr>
              <a:buSzPts val="2210"/>
              <a:buFont typeface="Noto Sans Symbols"/>
              <a:buNone/>
            </a:pPr>
            <a:endParaRPr sz="2600">
              <a:solidFill>
                <a:schemeClr val="dk1"/>
              </a:solidFill>
              <a:latin typeface="Libre Baskerville"/>
              <a:ea typeface="Libre Baskerville"/>
              <a:cs typeface="Libre Baskerville"/>
              <a:sym typeface="Libre Baskerville"/>
            </a:endParaRPr>
          </a:p>
        </p:txBody>
      </p:sp>
      <p:pic>
        <p:nvPicPr>
          <p:cNvPr id="187" name="Google Shape;187;p8"/>
          <p:cNvPicPr preferRelativeResize="0"/>
          <p:nvPr/>
        </p:nvPicPr>
        <p:blipFill rotWithShape="1">
          <a:blip r:embed="rId3">
            <a:alphaModFix/>
          </a:blip>
          <a:srcRect l="16406" r="10937" b="18750"/>
          <a:stretch/>
        </p:blipFill>
        <p:spPr>
          <a:xfrm>
            <a:off x="142875" y="571500"/>
            <a:ext cx="8858250" cy="5572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9"/>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600"/>
              <a:buFont typeface="Arial"/>
              <a:buNone/>
            </a:pPr>
            <a:r>
              <a:rPr lang="en-US" sz="3600" b="1" i="0" u="none">
                <a:solidFill>
                  <a:schemeClr val="dk2"/>
                </a:solidFill>
                <a:latin typeface="Arial"/>
                <a:ea typeface="Arial"/>
                <a:cs typeface="Arial"/>
                <a:sym typeface="Arial"/>
              </a:rPr>
              <a:t>What is IoT? (cont…)</a:t>
            </a:r>
            <a:endParaRPr/>
          </a:p>
        </p:txBody>
      </p:sp>
      <p:sp>
        <p:nvSpPr>
          <p:cNvPr id="193" name="Google Shape;193;p9"/>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3050" marR="0" lvl="0" indent="-143510" algn="just" rtl="0">
              <a:lnSpc>
                <a:spcPct val="150000"/>
              </a:lnSpc>
              <a:spcBef>
                <a:spcPts val="0"/>
              </a:spcBef>
              <a:spcAft>
                <a:spcPts val="0"/>
              </a:spcAft>
              <a:buClr>
                <a:schemeClr val="accent1"/>
              </a:buClr>
              <a:buSzPts val="2040"/>
              <a:buFont typeface="Noto Sans Symbols"/>
              <a:buNone/>
            </a:pPr>
            <a:endParaRPr sz="2400" b="0" i="0" u="none">
              <a:solidFill>
                <a:schemeClr val="dk1"/>
              </a:solidFill>
              <a:latin typeface="Arial"/>
              <a:ea typeface="Arial"/>
              <a:cs typeface="Arial"/>
              <a:sym typeface="Arial"/>
            </a:endParaRPr>
          </a:p>
          <a:p>
            <a:pPr marL="273050" marR="0" lvl="0" indent="-273050" algn="just" rtl="0">
              <a:lnSpc>
                <a:spcPct val="150000"/>
              </a:lnSpc>
              <a:spcBef>
                <a:spcPts val="50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The </a:t>
            </a:r>
            <a:r>
              <a:rPr lang="en-US" sz="2400" b="1" i="0" u="none">
                <a:solidFill>
                  <a:srgbClr val="7030A0"/>
                </a:solidFill>
                <a:latin typeface="Arial"/>
                <a:ea typeface="Arial"/>
                <a:cs typeface="Arial"/>
                <a:sym typeface="Arial"/>
              </a:rPr>
              <a:t>embedded technology </a:t>
            </a:r>
            <a:r>
              <a:rPr lang="en-US" sz="2400" b="0" i="0" u="none">
                <a:solidFill>
                  <a:schemeClr val="dk1"/>
                </a:solidFill>
                <a:latin typeface="Arial"/>
                <a:ea typeface="Arial"/>
                <a:cs typeface="Arial"/>
                <a:sym typeface="Arial"/>
              </a:rPr>
              <a:t>in the objects helps them to interact with </a:t>
            </a:r>
            <a:r>
              <a:rPr lang="en-US" sz="2400" b="0" i="0" u="sng">
                <a:solidFill>
                  <a:schemeClr val="dk1"/>
                </a:solidFill>
                <a:latin typeface="Arial"/>
                <a:ea typeface="Arial"/>
                <a:cs typeface="Arial"/>
                <a:sym typeface="Arial"/>
              </a:rPr>
              <a:t>internal states or the external environment</a:t>
            </a:r>
            <a:r>
              <a:rPr lang="en-US" sz="2400" b="0" i="0" u="none">
                <a:solidFill>
                  <a:schemeClr val="dk1"/>
                </a:solidFill>
                <a:latin typeface="Arial"/>
                <a:ea typeface="Arial"/>
                <a:cs typeface="Arial"/>
                <a:sym typeface="Arial"/>
              </a:rPr>
              <a:t>, which in turn affects the decisions taken.</a:t>
            </a:r>
            <a:endParaRPr/>
          </a:p>
        </p:txBody>
      </p:sp>
      <p:sp>
        <p:nvSpPr>
          <p:cNvPr id="194" name="Google Shape;194;p9"/>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0"/>
          <p:cNvSpPr txBox="1">
            <a:spLocks noGrp="1"/>
          </p:cNvSpPr>
          <p:nvPr>
            <p:ph type="title" idx="4294967295"/>
          </p:nvPr>
        </p:nvSpPr>
        <p:spPr>
          <a:xfrm>
            <a:off x="1371600" y="2514600"/>
            <a:ext cx="6705600" cy="838200"/>
          </a:xfrm>
          <a:prstGeom prst="rect">
            <a:avLst/>
          </a:prstGeom>
          <a:blipFill rotWithShape="1">
            <a:blip r:embed="rId3">
              <a:alphaModFix/>
            </a:blip>
            <a:tile tx="0" ty="0" sx="70000" sy="70000" flip="none" algn="ctr"/>
          </a:blipFill>
          <a:ln w="9525" cap="flat" cmpd="sng">
            <a:solidFill>
              <a:srgbClr val="6A4747"/>
            </a:solidFill>
            <a:prstDash val="solid"/>
            <a:miter lim="800000"/>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3200" b="1" i="0" u="none" strike="noStrike" cap="none">
                <a:solidFill>
                  <a:schemeClr val="dk1"/>
                </a:solidFill>
                <a:latin typeface="Arial"/>
                <a:ea typeface="Arial"/>
                <a:cs typeface="Arial"/>
                <a:sym typeface="Arial"/>
              </a:rPr>
              <a:t>IoT (vs) Embedded System</a:t>
            </a:r>
            <a:endParaRPr/>
          </a:p>
        </p:txBody>
      </p:sp>
      <p:sp>
        <p:nvSpPr>
          <p:cNvPr id="200" name="Google Shape;200;p10"/>
          <p:cNvSpPr/>
          <p:nvPr/>
        </p:nvSpPr>
        <p:spPr>
          <a:xfrm flipH="1">
            <a:off x="7543800" y="5562600"/>
            <a:ext cx="1600200" cy="1295400"/>
          </a:xfrm>
          <a:prstGeom prst="rtTriangle">
            <a:avLst/>
          </a:prstGeom>
          <a:blipFill rotWithShape="1">
            <a:blip r:embed="rId4">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1"/>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IoT vs Embedded system</a:t>
            </a:r>
            <a:endParaRPr/>
          </a:p>
        </p:txBody>
      </p:sp>
      <p:sp>
        <p:nvSpPr>
          <p:cNvPr id="206" name="Google Shape;206;p11"/>
          <p:cNvSpPr txBox="1">
            <a:spLocks noGrp="1"/>
          </p:cNvSpPr>
          <p:nvPr>
            <p:ph type="body" idx="1"/>
          </p:nvPr>
        </p:nvSpPr>
        <p:spPr>
          <a:xfrm>
            <a:off x="914400" y="1828800"/>
            <a:ext cx="7772400" cy="4191000"/>
          </a:xfrm>
          <a:prstGeom prst="rect">
            <a:avLst/>
          </a:prstGeom>
          <a:noFill/>
          <a:ln>
            <a:noFill/>
          </a:ln>
        </p:spPr>
        <p:txBody>
          <a:bodyPr spcFirstLastPara="1" wrap="square" lIns="91425" tIns="45700" rIns="91425" bIns="45700" anchor="t" anchorCtr="0">
            <a:noAutofit/>
          </a:bodyPr>
          <a:lstStyle/>
          <a:p>
            <a:pPr marL="273050" marR="0" lvl="0" indent="-273050" algn="just" rtl="0">
              <a:lnSpc>
                <a:spcPct val="150000"/>
              </a:lnSpc>
              <a:spcBef>
                <a:spcPts val="0"/>
              </a:spcBef>
              <a:spcAft>
                <a:spcPts val="0"/>
              </a:spcAft>
              <a:buClr>
                <a:schemeClr val="accent1"/>
              </a:buClr>
              <a:buSzPts val="2210"/>
              <a:buFont typeface="Noto Sans Symbols"/>
              <a:buChar char="⚫"/>
            </a:pPr>
            <a:r>
              <a:rPr lang="en-US" sz="2600" b="1" i="1" u="none">
                <a:solidFill>
                  <a:schemeClr val="dk1"/>
                </a:solidFill>
                <a:latin typeface="Arial"/>
                <a:ea typeface="Arial"/>
                <a:cs typeface="Arial"/>
                <a:sym typeface="Arial"/>
              </a:rPr>
              <a:t>Embedded systems is a subset of IoT.</a:t>
            </a:r>
            <a:endParaRPr/>
          </a:p>
          <a:p>
            <a:pPr marL="273050" marR="0" lvl="0" indent="-186690" algn="just" rtl="0">
              <a:lnSpc>
                <a:spcPct val="150000"/>
              </a:lnSpc>
              <a:spcBef>
                <a:spcPts val="500"/>
              </a:spcBef>
              <a:spcAft>
                <a:spcPts val="0"/>
              </a:spcAft>
              <a:buClr>
                <a:schemeClr val="accent1"/>
              </a:buClr>
              <a:buSzPts val="1360"/>
              <a:buFont typeface="Noto Sans Symbols"/>
              <a:buNone/>
            </a:pPr>
            <a:endParaRPr sz="1600" b="1" i="1" u="none">
              <a:solidFill>
                <a:schemeClr val="dk1"/>
              </a:solidFill>
              <a:latin typeface="Arial"/>
              <a:ea typeface="Arial"/>
              <a:cs typeface="Arial"/>
              <a:sym typeface="Arial"/>
            </a:endParaRPr>
          </a:p>
          <a:p>
            <a:pPr marL="273050" marR="0" lvl="0" indent="-273050" algn="just" rtl="0">
              <a:lnSpc>
                <a:spcPct val="150000"/>
              </a:lnSpc>
              <a:spcBef>
                <a:spcPts val="500"/>
              </a:spcBef>
              <a:spcAft>
                <a:spcPts val="0"/>
              </a:spcAft>
              <a:buClr>
                <a:schemeClr val="accent1"/>
              </a:buClr>
              <a:buSzPts val="2210"/>
              <a:buFont typeface="Noto Sans Symbols"/>
              <a:buChar char="⚫"/>
            </a:pPr>
            <a:r>
              <a:rPr lang="en-US" sz="2600" b="1" i="1" u="none">
                <a:solidFill>
                  <a:schemeClr val="dk1"/>
                </a:solidFill>
                <a:latin typeface="Arial"/>
                <a:ea typeface="Arial"/>
                <a:cs typeface="Arial"/>
                <a:sym typeface="Arial"/>
              </a:rPr>
              <a:t>IoT: </a:t>
            </a:r>
            <a:r>
              <a:rPr lang="en-US" sz="2600" b="0" i="1" u="none">
                <a:solidFill>
                  <a:schemeClr val="dk1"/>
                </a:solidFill>
                <a:latin typeface="Arial"/>
                <a:ea typeface="Arial"/>
                <a:cs typeface="Arial"/>
                <a:sym typeface="Arial"/>
              </a:rPr>
              <a:t>"A network of </a:t>
            </a:r>
            <a:r>
              <a:rPr lang="en-US" sz="2600" b="1" i="1" u="none">
                <a:solidFill>
                  <a:schemeClr val="dk1"/>
                </a:solidFill>
                <a:latin typeface="Arial"/>
                <a:ea typeface="Arial"/>
                <a:cs typeface="Arial"/>
                <a:sym typeface="Arial"/>
              </a:rPr>
              <a:t>Internet</a:t>
            </a:r>
            <a:r>
              <a:rPr lang="en-US" sz="2600" b="0" i="1" u="none">
                <a:solidFill>
                  <a:schemeClr val="dk1"/>
                </a:solidFill>
                <a:latin typeface="Arial"/>
                <a:ea typeface="Arial"/>
                <a:cs typeface="Arial"/>
                <a:sym typeface="Arial"/>
              </a:rPr>
              <a:t> connected objects (things) able to collect and exchange data.“</a:t>
            </a:r>
            <a:endParaRPr/>
          </a:p>
          <a:p>
            <a:pPr marL="547687" marR="0" lvl="1" indent="-228599" algn="just" rtl="0">
              <a:lnSpc>
                <a:spcPct val="150000"/>
              </a:lnSpc>
              <a:spcBef>
                <a:spcPts val="300"/>
              </a:spcBef>
              <a:spcAft>
                <a:spcPts val="0"/>
              </a:spcAft>
              <a:buClr>
                <a:schemeClr val="accent2"/>
              </a:buClr>
              <a:buSzPts val="2040"/>
              <a:buFont typeface="Noto Sans Symbols"/>
              <a:buChar char="▪"/>
            </a:pPr>
            <a:r>
              <a:rPr lang="en-US" sz="2400" b="0" i="0" u="none" strike="noStrike" cap="none">
                <a:solidFill>
                  <a:schemeClr val="dk1"/>
                </a:solidFill>
                <a:latin typeface="Arial"/>
                <a:ea typeface="Arial"/>
                <a:cs typeface="Arial"/>
                <a:sym typeface="Arial"/>
              </a:rPr>
              <a:t>Two main parts; </a:t>
            </a:r>
            <a:r>
              <a:rPr lang="en-US" sz="2400" b="1" i="0" u="none" strike="noStrike" cap="none">
                <a:solidFill>
                  <a:schemeClr val="dk1"/>
                </a:solidFill>
                <a:latin typeface="Arial"/>
                <a:ea typeface="Arial"/>
                <a:cs typeface="Arial"/>
                <a:sym typeface="Arial"/>
              </a:rPr>
              <a:t>Internet</a:t>
            </a:r>
            <a:r>
              <a:rPr lang="en-US" sz="2400" b="0" i="0" u="none" strike="noStrike" cap="none">
                <a:solidFill>
                  <a:schemeClr val="dk1"/>
                </a:solidFill>
                <a:latin typeface="Arial"/>
                <a:ea typeface="Arial"/>
                <a:cs typeface="Arial"/>
                <a:sym typeface="Arial"/>
              </a:rPr>
              <a:t> being the backbone of connectivity, and </a:t>
            </a:r>
            <a:r>
              <a:rPr lang="en-US" sz="2400" b="1" i="0" u="none" strike="noStrike" cap="none">
                <a:solidFill>
                  <a:schemeClr val="dk1"/>
                </a:solidFill>
                <a:latin typeface="Arial"/>
                <a:ea typeface="Arial"/>
                <a:cs typeface="Arial"/>
                <a:sym typeface="Arial"/>
              </a:rPr>
              <a:t>Things</a:t>
            </a:r>
            <a:r>
              <a:rPr lang="en-US" sz="2400" b="0" i="0" u="none" strike="noStrike" cap="none">
                <a:solidFill>
                  <a:schemeClr val="dk1"/>
                </a:solidFill>
                <a:latin typeface="Arial"/>
                <a:ea typeface="Arial"/>
                <a:cs typeface="Arial"/>
                <a:sym typeface="Arial"/>
              </a:rPr>
              <a:t> meaning objects / devices .</a:t>
            </a:r>
            <a:endParaRPr/>
          </a:p>
        </p:txBody>
      </p:sp>
      <p:sp>
        <p:nvSpPr>
          <p:cNvPr id="207" name="Google Shape;207;p11"/>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3050" marR="0" lvl="0" indent="-132715" algn="l" rtl="0">
              <a:lnSpc>
                <a:spcPct val="100000"/>
              </a:lnSpc>
              <a:spcBef>
                <a:spcPts val="0"/>
              </a:spcBef>
              <a:spcAft>
                <a:spcPts val="0"/>
              </a:spcAft>
              <a:buClr>
                <a:schemeClr val="accent1"/>
              </a:buClr>
              <a:buSzPts val="2210"/>
              <a:buFont typeface="Noto Sans Symbols"/>
              <a:buNone/>
            </a:pPr>
            <a:endParaRPr sz="2600" b="0" i="0" u="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210"/>
              <a:buFont typeface="Noto Sans Symbols"/>
              <a:buChar char="⚫"/>
            </a:pPr>
            <a:r>
              <a:rPr lang="en-US" sz="2600" b="0" i="0" u="none">
                <a:solidFill>
                  <a:schemeClr val="dk1"/>
                </a:solidFill>
                <a:latin typeface="Arial"/>
                <a:ea typeface="Arial"/>
                <a:cs typeface="Arial"/>
                <a:sym typeface="Arial"/>
              </a:rPr>
              <a:t>ie., things are nothing but your embedded system devices that sense and collect data and send it to the internet.</a:t>
            </a:r>
            <a:endParaRPr/>
          </a:p>
          <a:p>
            <a:pPr marL="273050" marR="0" lvl="0" indent="-132715" algn="l" rtl="0">
              <a:lnSpc>
                <a:spcPct val="100000"/>
              </a:lnSpc>
              <a:spcBef>
                <a:spcPts val="500"/>
              </a:spcBef>
              <a:spcAft>
                <a:spcPts val="0"/>
              </a:spcAft>
              <a:buClr>
                <a:schemeClr val="accent1"/>
              </a:buClr>
              <a:buSzPts val="2210"/>
              <a:buFont typeface="Noto Sans Symbols"/>
              <a:buNone/>
            </a:pPr>
            <a:endParaRPr sz="2600" b="0" i="0" u="none">
              <a:solidFill>
                <a:schemeClr val="dk1"/>
              </a:solidFill>
              <a:latin typeface="Arial"/>
              <a:ea typeface="Arial"/>
              <a:cs typeface="Arial"/>
              <a:sym typeface="Arial"/>
            </a:endParaRPr>
          </a:p>
          <a:p>
            <a:pPr marL="273050" marR="0" lvl="0" indent="-273050" algn="l" rtl="0">
              <a:lnSpc>
                <a:spcPct val="100000"/>
              </a:lnSpc>
              <a:spcBef>
                <a:spcPts val="500"/>
              </a:spcBef>
              <a:spcAft>
                <a:spcPts val="0"/>
              </a:spcAft>
              <a:buClr>
                <a:schemeClr val="accent1"/>
              </a:buClr>
              <a:buSzPts val="2210"/>
              <a:buFont typeface="Noto Sans Symbols"/>
              <a:buChar char="⚫"/>
            </a:pPr>
            <a:r>
              <a:rPr lang="en-US" sz="2600" b="0" i="0" u="none">
                <a:solidFill>
                  <a:schemeClr val="dk1"/>
                </a:solidFill>
                <a:latin typeface="Arial"/>
                <a:ea typeface="Arial"/>
                <a:cs typeface="Arial"/>
                <a:sym typeface="Arial"/>
              </a:rPr>
              <a:t> IoT = ET + NT + IT</a:t>
            </a:r>
            <a:endParaRPr/>
          </a:p>
          <a:p>
            <a:pPr marL="273050" marR="0" lvl="0" indent="-229870" algn="l" rtl="0">
              <a:lnSpc>
                <a:spcPct val="100000"/>
              </a:lnSpc>
              <a:spcBef>
                <a:spcPts val="500"/>
              </a:spcBef>
              <a:spcAft>
                <a:spcPts val="0"/>
              </a:spcAft>
              <a:buClr>
                <a:schemeClr val="accent1"/>
              </a:buClr>
              <a:buSzPts val="680"/>
              <a:buFont typeface="Noto Sans Symbols"/>
              <a:buNone/>
            </a:pPr>
            <a:endParaRPr sz="800" b="0" i="0" u="none">
              <a:solidFill>
                <a:schemeClr val="dk1"/>
              </a:solidFill>
              <a:latin typeface="Arial"/>
              <a:ea typeface="Arial"/>
              <a:cs typeface="Arial"/>
              <a:sym typeface="Arial"/>
            </a:endParaRPr>
          </a:p>
          <a:p>
            <a:pPr marL="822325" marR="0" lvl="2" indent="-228600" algn="l" rtl="0">
              <a:lnSpc>
                <a:spcPct val="100000"/>
              </a:lnSpc>
              <a:spcBef>
                <a:spcPts val="300"/>
              </a:spcBef>
              <a:spcAft>
                <a:spcPts val="0"/>
              </a:spcAft>
              <a:buClr>
                <a:srgbClr val="E6B1AB"/>
              </a:buClr>
              <a:buSzPts val="1700"/>
              <a:buFont typeface="Noto Sans Symbols"/>
              <a:buNone/>
            </a:pPr>
            <a:r>
              <a:rPr lang="en-US" sz="2000" b="0" i="0" u="none" strike="noStrike" cap="none">
                <a:solidFill>
                  <a:schemeClr val="dk1"/>
                </a:solidFill>
                <a:latin typeface="Arial"/>
                <a:ea typeface="Arial"/>
                <a:cs typeface="Arial"/>
                <a:sym typeface="Arial"/>
              </a:rPr>
              <a:t>Where,</a:t>
            </a:r>
            <a:endParaRPr/>
          </a:p>
          <a:p>
            <a:pPr marL="822325" marR="0" lvl="2" indent="-228600" algn="l" rtl="0">
              <a:lnSpc>
                <a:spcPct val="100000"/>
              </a:lnSpc>
              <a:spcBef>
                <a:spcPts val="300"/>
              </a:spcBef>
              <a:spcAft>
                <a:spcPts val="0"/>
              </a:spcAft>
              <a:buClr>
                <a:srgbClr val="E6B1AB"/>
              </a:buClr>
              <a:buSzPts val="1700"/>
              <a:buFont typeface="Noto Sans Symbols"/>
              <a:buNone/>
            </a:pPr>
            <a:r>
              <a:rPr lang="en-US" sz="2000" b="0" i="0" u="none" strike="noStrike" cap="none">
                <a:solidFill>
                  <a:schemeClr val="dk1"/>
                </a:solidFill>
                <a:latin typeface="Arial"/>
                <a:ea typeface="Arial"/>
                <a:cs typeface="Arial"/>
                <a:sym typeface="Arial"/>
              </a:rPr>
              <a:t>	Embedded Technology (ET),</a:t>
            </a:r>
            <a:endParaRPr/>
          </a:p>
          <a:p>
            <a:pPr marL="822325" marR="0" lvl="2" indent="-228600" algn="l" rtl="0">
              <a:lnSpc>
                <a:spcPct val="100000"/>
              </a:lnSpc>
              <a:spcBef>
                <a:spcPts val="300"/>
              </a:spcBef>
              <a:spcAft>
                <a:spcPts val="0"/>
              </a:spcAft>
              <a:buClr>
                <a:srgbClr val="E6B1AB"/>
              </a:buClr>
              <a:buSzPts val="1700"/>
              <a:buFont typeface="Noto Sans Symbols"/>
              <a:buNone/>
            </a:pPr>
            <a:r>
              <a:rPr lang="en-US" sz="2000" b="0" i="0" u="none" strike="noStrike" cap="none">
                <a:solidFill>
                  <a:schemeClr val="dk1"/>
                </a:solidFill>
                <a:latin typeface="Arial"/>
                <a:ea typeface="Arial"/>
                <a:cs typeface="Arial"/>
                <a:sym typeface="Arial"/>
              </a:rPr>
              <a:t>	Network Technology (NT)</a:t>
            </a:r>
            <a:endParaRPr/>
          </a:p>
          <a:p>
            <a:pPr marL="822325" marR="0" lvl="2" indent="-228600" algn="l" rtl="0">
              <a:lnSpc>
                <a:spcPct val="100000"/>
              </a:lnSpc>
              <a:spcBef>
                <a:spcPts val="300"/>
              </a:spcBef>
              <a:spcAft>
                <a:spcPts val="0"/>
              </a:spcAft>
              <a:buClr>
                <a:srgbClr val="E6B1AB"/>
              </a:buClr>
              <a:buSzPts val="1700"/>
              <a:buFont typeface="Noto Sans Symbols"/>
              <a:buNone/>
            </a:pPr>
            <a:r>
              <a:rPr lang="en-US" sz="2000" b="0" i="0" u="none" strike="noStrike" cap="none">
                <a:solidFill>
                  <a:schemeClr val="dk1"/>
                </a:solidFill>
                <a:latin typeface="Arial"/>
                <a:ea typeface="Arial"/>
                <a:cs typeface="Arial"/>
                <a:sym typeface="Arial"/>
              </a:rPr>
              <a:t>	Information Technology (IT)..</a:t>
            </a:r>
            <a:endParaRPr/>
          </a:p>
        </p:txBody>
      </p:sp>
      <p:sp>
        <p:nvSpPr>
          <p:cNvPr id="213" name="Google Shape;213;p12"/>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IoT vs Embedded system</a:t>
            </a:r>
            <a:endParaRPr/>
          </a:p>
        </p:txBody>
      </p:sp>
      <p:sp>
        <p:nvSpPr>
          <p:cNvPr id="214" name="Google Shape;214;p12"/>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3"/>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20" name="Google Shape;220;p1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Practical example</a:t>
            </a:r>
            <a:endParaRPr/>
          </a:p>
        </p:txBody>
      </p:sp>
      <p:sp>
        <p:nvSpPr>
          <p:cNvPr id="221" name="Google Shape;221;p13"/>
          <p:cNvSpPr txBox="1">
            <a:spLocks noGrp="1"/>
          </p:cNvSpPr>
          <p:nvPr>
            <p:ph type="body" idx="1"/>
          </p:nvPr>
        </p:nvSpPr>
        <p:spPr>
          <a:xfrm>
            <a:off x="914400" y="1447800"/>
            <a:ext cx="7772400" cy="5105400"/>
          </a:xfrm>
          <a:prstGeom prst="rect">
            <a:avLst/>
          </a:prstGeom>
          <a:noFill/>
          <a:ln>
            <a:noFill/>
          </a:ln>
        </p:spPr>
        <p:txBody>
          <a:bodyPr spcFirstLastPara="1" wrap="square" lIns="91425" tIns="45700" rIns="91425" bIns="45700" anchor="t" anchorCtr="0">
            <a:normAutofit/>
          </a:bodyPr>
          <a:lstStyle/>
          <a:p>
            <a:pPr marL="273050" marR="0" lvl="0" indent="-273050" algn="l" rtl="0">
              <a:lnSpc>
                <a:spcPct val="150000"/>
              </a:lnSpc>
              <a:spcBef>
                <a:spcPts val="0"/>
              </a:spcBef>
              <a:spcAft>
                <a:spcPts val="0"/>
              </a:spcAft>
              <a:buClr>
                <a:schemeClr val="accent1"/>
              </a:buClr>
              <a:buSzPts val="1700"/>
              <a:buFont typeface="Noto Sans Symbols"/>
              <a:buChar char="⚫"/>
            </a:pPr>
            <a:r>
              <a:rPr lang="en-US" sz="2000" b="1" i="0" u="none">
                <a:solidFill>
                  <a:schemeClr val="dk1"/>
                </a:solidFill>
                <a:latin typeface="Arial"/>
                <a:ea typeface="Arial"/>
                <a:cs typeface="Arial"/>
                <a:sym typeface="Arial"/>
              </a:rPr>
              <a:t>"Smart air conditioning unit“ </a:t>
            </a:r>
            <a:r>
              <a:rPr lang="en-US" sz="2000" b="0" i="0" u="none">
                <a:solidFill>
                  <a:schemeClr val="dk1"/>
                </a:solidFill>
                <a:latin typeface="Arial"/>
                <a:ea typeface="Arial"/>
                <a:cs typeface="Arial"/>
                <a:sym typeface="Arial"/>
              </a:rPr>
              <a:t>in your home that is connected to the internet.</a:t>
            </a:r>
            <a:endParaRPr/>
          </a:p>
          <a:p>
            <a:pPr marL="547687" marR="0" lvl="1" indent="-228599" algn="l" rtl="0">
              <a:lnSpc>
                <a:spcPct val="150000"/>
              </a:lnSpc>
              <a:spcBef>
                <a:spcPts val="300"/>
              </a:spcBef>
              <a:spcAft>
                <a:spcPts val="0"/>
              </a:spcAft>
              <a:buClr>
                <a:schemeClr val="accent2"/>
              </a:buClr>
              <a:buSzPts val="1615"/>
              <a:buFont typeface="Noto Sans Symbols"/>
              <a:buChar char="⚫"/>
            </a:pPr>
            <a:r>
              <a:rPr lang="en-US" sz="1900" b="1" i="0" u="none" strike="noStrike" cap="none">
                <a:solidFill>
                  <a:srgbClr val="FF0000"/>
                </a:solidFill>
                <a:latin typeface="Arial"/>
                <a:ea typeface="Arial"/>
                <a:cs typeface="Arial"/>
                <a:sym typeface="Arial"/>
              </a:rPr>
              <a:t>This is a "thing" connected to the internet</a:t>
            </a:r>
            <a:endParaRPr/>
          </a:p>
          <a:p>
            <a:pPr marL="273050" marR="0" lvl="0" indent="-273050" algn="just" rtl="0">
              <a:lnSpc>
                <a:spcPct val="150000"/>
              </a:lnSpc>
              <a:spcBef>
                <a:spcPts val="500"/>
              </a:spcBef>
              <a:spcAft>
                <a:spcPts val="0"/>
              </a:spcAft>
              <a:buClr>
                <a:schemeClr val="accent1"/>
              </a:buClr>
              <a:buSzPts val="1700"/>
              <a:buFont typeface="Noto Sans Symbols"/>
              <a:buChar char="⚫"/>
            </a:pPr>
            <a:r>
              <a:rPr lang="en-US" sz="2000" b="0" i="0" u="none">
                <a:solidFill>
                  <a:schemeClr val="dk1"/>
                </a:solidFill>
                <a:latin typeface="Arial"/>
                <a:ea typeface="Arial"/>
                <a:cs typeface="Arial"/>
                <a:sym typeface="Arial"/>
              </a:rPr>
              <a:t>Now, imagine it's </a:t>
            </a:r>
            <a:r>
              <a:rPr lang="en-US" sz="2000" b="1" i="0" u="none">
                <a:solidFill>
                  <a:schemeClr val="dk1"/>
                </a:solidFill>
                <a:latin typeface="Arial"/>
                <a:ea typeface="Arial"/>
                <a:cs typeface="Arial"/>
                <a:sym typeface="Arial"/>
              </a:rPr>
              <a:t>a hot summer day </a:t>
            </a:r>
            <a:r>
              <a:rPr lang="en-US" sz="2000" b="0" i="0" u="none">
                <a:solidFill>
                  <a:schemeClr val="dk1"/>
                </a:solidFill>
                <a:latin typeface="Arial"/>
                <a:ea typeface="Arial"/>
                <a:cs typeface="Arial"/>
                <a:sym typeface="Arial"/>
              </a:rPr>
              <a:t>and you have left for home from your work. You would like your home to be cool enough by the time you enter it. So, When you leave from your office, you can remotely switch ON the air conditioning unit of your home using </a:t>
            </a:r>
            <a:r>
              <a:rPr lang="en-US" sz="2000" b="0" i="0" u="none">
                <a:solidFill>
                  <a:srgbClr val="FF0000"/>
                </a:solidFill>
                <a:latin typeface="Arial"/>
                <a:ea typeface="Arial"/>
                <a:cs typeface="Arial"/>
                <a:sym typeface="Arial"/>
              </a:rPr>
              <a:t>your mobile app</a:t>
            </a:r>
            <a:r>
              <a:rPr lang="en-US" sz="2000" b="1" i="0" u="none">
                <a:solidFill>
                  <a:srgbClr val="002060"/>
                </a:solidFill>
                <a:latin typeface="Arial"/>
                <a:ea typeface="Arial"/>
                <a:cs typeface="Arial"/>
                <a:sym typeface="Arial"/>
              </a:rPr>
              <a:t>. </a:t>
            </a:r>
            <a:r>
              <a:rPr lang="en-US" sz="2000" b="0" i="0" u="none">
                <a:solidFill>
                  <a:schemeClr val="dk1"/>
                </a:solidFill>
                <a:latin typeface="Arial"/>
                <a:ea typeface="Arial"/>
                <a:cs typeface="Arial"/>
                <a:sym typeface="Arial"/>
              </a:rPr>
              <a:t>Technically, with internet, you can control your AC system from any part of the world as long as both the AC and your mobile are connected using the "Internet".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4"/>
          <p:cNvSpPr txBox="1">
            <a:spLocks noGrp="1"/>
          </p:cNvSpPr>
          <p:nvPr>
            <p:ph type="body" idx="1"/>
          </p:nvPr>
        </p:nvSpPr>
        <p:spPr>
          <a:xfrm>
            <a:off x="914400" y="1752600"/>
            <a:ext cx="7772400" cy="4267200"/>
          </a:xfrm>
          <a:prstGeom prst="rect">
            <a:avLst/>
          </a:prstGeom>
          <a:noFill/>
          <a:ln>
            <a:noFill/>
          </a:ln>
        </p:spPr>
        <p:txBody>
          <a:bodyPr spcFirstLastPara="1" wrap="square" lIns="91425" tIns="45700" rIns="91425" bIns="45700" anchor="t" anchorCtr="0">
            <a:noAutofit/>
          </a:bodyPr>
          <a:lstStyle/>
          <a:p>
            <a:pPr marL="273050" marR="0" lvl="0" indent="-273050" algn="just" rtl="0">
              <a:lnSpc>
                <a:spcPct val="150000"/>
              </a:lnSpc>
              <a:spcBef>
                <a:spcPts val="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your mobile will command your home A/C that you are leaving the office </a:t>
            </a:r>
            <a:r>
              <a:rPr lang="en-US" sz="2400" b="0" i="0" u="none">
                <a:solidFill>
                  <a:srgbClr val="FF0000"/>
                </a:solidFill>
                <a:latin typeface="Arial"/>
                <a:ea typeface="Arial"/>
                <a:cs typeface="Arial"/>
                <a:sym typeface="Arial"/>
              </a:rPr>
              <a:t>(it can detect your GPS co-ordinates and decide your are on the move) </a:t>
            </a:r>
            <a:r>
              <a:rPr lang="en-US" sz="2400" b="0" i="0" u="none">
                <a:solidFill>
                  <a:schemeClr val="dk1"/>
                </a:solidFill>
                <a:latin typeface="Arial"/>
                <a:ea typeface="Arial"/>
                <a:cs typeface="Arial"/>
                <a:sym typeface="Arial"/>
              </a:rPr>
              <a:t>and depending on the temperature, the A/C will be switched ON by your mobile itself, and the mobile will simply notify you that the A/C is ON.</a:t>
            </a:r>
            <a:endParaRPr/>
          </a:p>
        </p:txBody>
      </p:sp>
      <p:sp>
        <p:nvSpPr>
          <p:cNvPr id="227" name="Google Shape;227;p14"/>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Practical example (Further)</a:t>
            </a:r>
            <a:endParaRPr/>
          </a:p>
        </p:txBody>
      </p:sp>
      <p:sp>
        <p:nvSpPr>
          <p:cNvPr id="228" name="Google Shape;228;p14"/>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3050" marR="0" lvl="0" indent="-273050" algn="just" rtl="0">
              <a:lnSpc>
                <a:spcPct val="140000"/>
              </a:lnSpc>
              <a:spcBef>
                <a:spcPts val="0"/>
              </a:spcBef>
              <a:spcAft>
                <a:spcPts val="0"/>
              </a:spcAft>
              <a:buClr>
                <a:schemeClr val="accent1"/>
              </a:buClr>
              <a:buSzPts val="1700"/>
              <a:buFont typeface="Noto Sans Symbols"/>
              <a:buChar char="⚫"/>
            </a:pPr>
            <a:r>
              <a:rPr lang="en-US" sz="2000" b="0" i="0" u="none">
                <a:solidFill>
                  <a:schemeClr val="dk1"/>
                </a:solidFill>
                <a:latin typeface="Arial"/>
                <a:ea typeface="Arial"/>
                <a:cs typeface="Arial"/>
                <a:sym typeface="Arial"/>
              </a:rPr>
              <a:t>your Smart A/C will have an embedded system that collects temperature data from a sensor and send it to the cloud (internet) using a wifi module. </a:t>
            </a:r>
            <a:r>
              <a:rPr lang="en-US" sz="2000" b="1" i="0" u="none">
                <a:solidFill>
                  <a:schemeClr val="dk1"/>
                </a:solidFill>
                <a:latin typeface="Arial"/>
                <a:ea typeface="Arial"/>
                <a:cs typeface="Arial"/>
                <a:sym typeface="Arial"/>
              </a:rPr>
              <a:t>This is your Embedded system.</a:t>
            </a:r>
            <a:endParaRPr/>
          </a:p>
          <a:p>
            <a:pPr marL="273050" marR="0" lvl="0" indent="-273050" algn="just" rtl="0">
              <a:lnSpc>
                <a:spcPct val="140000"/>
              </a:lnSpc>
              <a:spcBef>
                <a:spcPts val="500"/>
              </a:spcBef>
              <a:spcAft>
                <a:spcPts val="0"/>
              </a:spcAft>
              <a:buClr>
                <a:schemeClr val="accent1"/>
              </a:buClr>
              <a:buSzPts val="1700"/>
              <a:buFont typeface="Noto Sans Symbols"/>
              <a:buChar char="⚫"/>
            </a:pPr>
            <a:r>
              <a:rPr lang="en-US" sz="2000" b="0" i="0" u="none">
                <a:solidFill>
                  <a:schemeClr val="dk1"/>
                </a:solidFill>
                <a:latin typeface="Arial"/>
                <a:ea typeface="Arial"/>
                <a:cs typeface="Arial"/>
                <a:sym typeface="Arial"/>
              </a:rPr>
              <a:t>The Wifi network and Cloud constitute your </a:t>
            </a:r>
            <a:r>
              <a:rPr lang="en-US" sz="2000" b="1" i="0" u="none">
                <a:solidFill>
                  <a:schemeClr val="dk1"/>
                </a:solidFill>
                <a:latin typeface="Arial"/>
                <a:ea typeface="Arial"/>
                <a:cs typeface="Arial"/>
                <a:sym typeface="Arial"/>
              </a:rPr>
              <a:t>Network Technology.</a:t>
            </a:r>
            <a:endParaRPr/>
          </a:p>
          <a:p>
            <a:pPr marL="273050" marR="0" lvl="0" indent="-273050" algn="just" rtl="0">
              <a:lnSpc>
                <a:spcPct val="140000"/>
              </a:lnSpc>
              <a:spcBef>
                <a:spcPts val="500"/>
              </a:spcBef>
              <a:spcAft>
                <a:spcPts val="0"/>
              </a:spcAft>
              <a:buClr>
                <a:schemeClr val="accent1"/>
              </a:buClr>
              <a:buSzPts val="1700"/>
              <a:buFont typeface="Noto Sans Symbols"/>
              <a:buChar char="⚫"/>
            </a:pPr>
            <a:r>
              <a:rPr lang="en-US" sz="2000" b="0" i="0" u="none">
                <a:solidFill>
                  <a:schemeClr val="dk1"/>
                </a:solidFill>
                <a:latin typeface="Arial"/>
                <a:ea typeface="Arial"/>
                <a:cs typeface="Arial"/>
                <a:sym typeface="Arial"/>
              </a:rPr>
              <a:t>Your mobile will have an APP running in it that will receive the data. Depending on the received data, the app (in turn the mobile) will switch ON the A/C depending on your GPS co-ordinated. The mobile app infrastructure is a simple </a:t>
            </a:r>
            <a:r>
              <a:rPr lang="en-US" sz="2000" b="1" i="0" u="none">
                <a:solidFill>
                  <a:schemeClr val="dk1"/>
                </a:solidFill>
                <a:latin typeface="Arial"/>
                <a:ea typeface="Arial"/>
                <a:cs typeface="Arial"/>
                <a:sym typeface="Arial"/>
              </a:rPr>
              <a:t>Information Technology.</a:t>
            </a:r>
            <a:endParaRPr sz="2000" b="0" i="0" u="none">
              <a:solidFill>
                <a:schemeClr val="dk1"/>
              </a:solidFill>
              <a:latin typeface="Arial"/>
              <a:ea typeface="Arial"/>
              <a:cs typeface="Arial"/>
              <a:sym typeface="Arial"/>
            </a:endParaRPr>
          </a:p>
          <a:p>
            <a:pPr marL="273050" marR="0" lvl="0" indent="-165100" algn="l" rtl="0">
              <a:lnSpc>
                <a:spcPct val="100000"/>
              </a:lnSpc>
              <a:spcBef>
                <a:spcPts val="575"/>
              </a:spcBef>
              <a:spcAft>
                <a:spcPts val="0"/>
              </a:spcAft>
              <a:buClr>
                <a:schemeClr val="accent1"/>
              </a:buClr>
              <a:buSzPts val="1700"/>
              <a:buFont typeface="Noto Sans Symbols"/>
              <a:buNone/>
            </a:pPr>
            <a:endParaRPr sz="2000" b="0" i="0" u="none">
              <a:solidFill>
                <a:schemeClr val="dk1"/>
              </a:solidFill>
              <a:latin typeface="Arial"/>
              <a:ea typeface="Arial"/>
              <a:cs typeface="Arial"/>
              <a:sym typeface="Arial"/>
            </a:endParaRPr>
          </a:p>
        </p:txBody>
      </p:sp>
      <p:sp>
        <p:nvSpPr>
          <p:cNvPr id="234" name="Google Shape;234;p1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Example 🡪 ET+NT+IT</a:t>
            </a:r>
            <a:endParaRPr/>
          </a:p>
        </p:txBody>
      </p:sp>
      <p:sp>
        <p:nvSpPr>
          <p:cNvPr id="235" name="Google Shape;235;p15"/>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txBox="1">
            <a:spLocks noGrp="1"/>
          </p:cNvSpPr>
          <p:nvPr>
            <p:ph type="title" idx="4294967295"/>
          </p:nvPr>
        </p:nvSpPr>
        <p:spPr>
          <a:xfrm>
            <a:off x="1828800" y="2895600"/>
            <a:ext cx="5943600" cy="655638"/>
          </a:xfrm>
          <a:prstGeom prst="rect">
            <a:avLst/>
          </a:prstGeom>
          <a:blipFill rotWithShape="1">
            <a:blip r:embed="rId3">
              <a:alphaModFix/>
            </a:blip>
            <a:tile tx="0" ty="0" sx="70000" sy="70000" flip="none" algn="ctr"/>
          </a:blipFill>
          <a:ln w="9525" cap="flat" cmpd="sng">
            <a:solidFill>
              <a:srgbClr val="6A4747"/>
            </a:solidFill>
            <a:prstDash val="solid"/>
            <a:miter lim="800000"/>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91425" anchor="b" anchorCtr="0">
            <a:normAutofit/>
          </a:bodyPr>
          <a:lstStyle/>
          <a:p>
            <a:pPr marL="0" marR="0" lvl="0" indent="0" algn="ctr" rtl="0">
              <a:lnSpc>
                <a:spcPct val="100000"/>
              </a:lnSpc>
              <a:spcBef>
                <a:spcPts val="0"/>
              </a:spcBef>
              <a:spcAft>
                <a:spcPts val="0"/>
              </a:spcAft>
              <a:buClr>
                <a:schemeClr val="dk1"/>
              </a:buClr>
              <a:buSzPts val="3200"/>
              <a:buFont typeface="Arial"/>
              <a:buNone/>
            </a:pPr>
            <a:r>
              <a:rPr lang="en-US" sz="3200" b="1" i="0" u="none" strike="noStrike" cap="none">
                <a:solidFill>
                  <a:schemeClr val="dk1"/>
                </a:solidFill>
                <a:latin typeface="Arial"/>
                <a:ea typeface="Arial"/>
                <a:cs typeface="Arial"/>
                <a:sym typeface="Arial"/>
              </a:rPr>
              <a:t>Applications of IoT</a:t>
            </a:r>
            <a:endParaRPr sz="3200" b="1" i="0" u="none" strike="noStrike" cap="none">
              <a:solidFill>
                <a:schemeClr val="dk1"/>
              </a:solidFill>
              <a:latin typeface="Arial"/>
              <a:ea typeface="Arial"/>
              <a:cs typeface="Arial"/>
              <a:sym typeface="Arial"/>
            </a:endParaRPr>
          </a:p>
        </p:txBody>
      </p:sp>
      <p:sp>
        <p:nvSpPr>
          <p:cNvPr id="241" name="Google Shape;241;p16"/>
          <p:cNvSpPr/>
          <p:nvPr/>
        </p:nvSpPr>
        <p:spPr>
          <a:xfrm flipH="1">
            <a:off x="7543800" y="5562600"/>
            <a:ext cx="1600200" cy="1295400"/>
          </a:xfrm>
          <a:prstGeom prst="rtTriangle">
            <a:avLst/>
          </a:prstGeom>
          <a:blipFill rotWithShape="1">
            <a:blip r:embed="rId4">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17"/>
          <p:cNvPicPr preferRelativeResize="0"/>
          <p:nvPr/>
        </p:nvPicPr>
        <p:blipFill rotWithShape="1">
          <a:blip r:embed="rId3">
            <a:alphaModFix/>
          </a:blip>
          <a:srcRect/>
          <a:stretch/>
        </p:blipFill>
        <p:spPr>
          <a:xfrm>
            <a:off x="146050" y="146050"/>
            <a:ext cx="8699500" cy="6565900"/>
          </a:xfrm>
          <a:prstGeom prst="rect">
            <a:avLst/>
          </a:prstGeom>
          <a:noFill/>
          <a:ln>
            <a:noFill/>
          </a:ln>
        </p:spPr>
      </p:pic>
      <p:sp>
        <p:nvSpPr>
          <p:cNvPr id="247" name="Google Shape;247;p17"/>
          <p:cNvSpPr txBox="1"/>
          <p:nvPr/>
        </p:nvSpPr>
        <p:spPr>
          <a:xfrm>
            <a:off x="214312" y="838200"/>
            <a:ext cx="955675" cy="3762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Home</a:t>
            </a:r>
            <a:endParaRPr sz="1400" b="0" i="0" u="none" strike="noStrike" cap="none">
              <a:solidFill>
                <a:srgbClr val="000000"/>
              </a:solidFill>
              <a:latin typeface="Arial"/>
              <a:ea typeface="Arial"/>
              <a:cs typeface="Arial"/>
              <a:sym typeface="Arial"/>
            </a:endParaRPr>
          </a:p>
        </p:txBody>
      </p:sp>
      <p:sp>
        <p:nvSpPr>
          <p:cNvPr id="248" name="Google Shape;248;p17"/>
          <p:cNvSpPr txBox="1"/>
          <p:nvPr/>
        </p:nvSpPr>
        <p:spPr>
          <a:xfrm>
            <a:off x="904875" y="2057400"/>
            <a:ext cx="8382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Cities</a:t>
            </a:r>
            <a:endParaRPr sz="1400" b="0" i="0" u="none" strike="noStrike" cap="none">
              <a:solidFill>
                <a:srgbClr val="000000"/>
              </a:solidFill>
              <a:latin typeface="Arial"/>
              <a:ea typeface="Arial"/>
              <a:cs typeface="Arial"/>
              <a:sym typeface="Arial"/>
            </a:endParaRPr>
          </a:p>
        </p:txBody>
      </p:sp>
      <p:sp>
        <p:nvSpPr>
          <p:cNvPr id="249" name="Google Shape;249;p17"/>
          <p:cNvSpPr txBox="1"/>
          <p:nvPr/>
        </p:nvSpPr>
        <p:spPr>
          <a:xfrm>
            <a:off x="357187" y="3302000"/>
            <a:ext cx="1690687" cy="368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Environment</a:t>
            </a:r>
            <a:endParaRPr sz="1400" b="0" i="0" u="none" strike="noStrike" cap="none">
              <a:solidFill>
                <a:srgbClr val="000000"/>
              </a:solidFill>
              <a:latin typeface="Arial"/>
              <a:ea typeface="Arial"/>
              <a:cs typeface="Arial"/>
              <a:sym typeface="Arial"/>
            </a:endParaRPr>
          </a:p>
        </p:txBody>
      </p:sp>
      <p:sp>
        <p:nvSpPr>
          <p:cNvPr id="250" name="Google Shape;250;p17"/>
          <p:cNvSpPr txBox="1"/>
          <p:nvPr/>
        </p:nvSpPr>
        <p:spPr>
          <a:xfrm>
            <a:off x="904875" y="4495800"/>
            <a:ext cx="989012"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Energy</a:t>
            </a:r>
            <a:endParaRPr sz="1400" b="0" i="0" u="none" strike="noStrike" cap="none">
              <a:solidFill>
                <a:srgbClr val="000000"/>
              </a:solidFill>
              <a:latin typeface="Arial"/>
              <a:ea typeface="Arial"/>
              <a:cs typeface="Arial"/>
              <a:sym typeface="Arial"/>
            </a:endParaRPr>
          </a:p>
        </p:txBody>
      </p:sp>
      <p:sp>
        <p:nvSpPr>
          <p:cNvPr id="251" name="Google Shape;251;p17"/>
          <p:cNvSpPr txBox="1"/>
          <p:nvPr/>
        </p:nvSpPr>
        <p:spPr>
          <a:xfrm>
            <a:off x="0" y="5715000"/>
            <a:ext cx="1169987"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Retail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8"/>
          <p:cNvSpPr txBox="1"/>
          <p:nvPr/>
        </p:nvSpPr>
        <p:spPr>
          <a:xfrm>
            <a:off x="5673725" y="304800"/>
            <a:ext cx="21717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Libre Baskerville"/>
              <a:buNone/>
            </a:pPr>
            <a:r>
              <a:rPr lang="en-US" sz="1800" b="0" i="0" u="none" strike="noStrike" cap="none">
                <a:solidFill>
                  <a:schemeClr val="dk1"/>
                </a:solidFill>
                <a:latin typeface="Libre Baskerville"/>
                <a:ea typeface="Libre Baskerville"/>
                <a:cs typeface="Libre Baskerville"/>
                <a:sym typeface="Libre Baskerville"/>
              </a:rPr>
              <a:t>Smart Appliances</a:t>
            </a:r>
            <a:endParaRPr sz="1400" b="0" i="0" u="none" strike="noStrike" cap="none">
              <a:solidFill>
                <a:srgbClr val="000000"/>
              </a:solidFill>
              <a:latin typeface="Arial"/>
              <a:ea typeface="Arial"/>
              <a:cs typeface="Arial"/>
              <a:sym typeface="Arial"/>
            </a:endParaRPr>
          </a:p>
        </p:txBody>
      </p:sp>
      <p:pic>
        <p:nvPicPr>
          <p:cNvPr id="257" name="Google Shape;257;p18" descr="http://www.cccblog.org/wp-content/uploads/2011/11/offbeat_fridge2_600.jpeg"/>
          <p:cNvPicPr preferRelativeResize="0"/>
          <p:nvPr/>
        </p:nvPicPr>
        <p:blipFill rotWithShape="1">
          <a:blip r:embed="rId3">
            <a:alphaModFix/>
          </a:blip>
          <a:srcRect/>
          <a:stretch/>
        </p:blipFill>
        <p:spPr>
          <a:xfrm>
            <a:off x="5334000" y="719137"/>
            <a:ext cx="3630612" cy="4356100"/>
          </a:xfrm>
          <a:prstGeom prst="rect">
            <a:avLst/>
          </a:prstGeom>
          <a:noFill/>
          <a:ln>
            <a:noFill/>
          </a:ln>
        </p:spPr>
      </p:pic>
      <p:pic>
        <p:nvPicPr>
          <p:cNvPr id="258" name="Google Shape;258;p18"/>
          <p:cNvPicPr preferRelativeResize="0"/>
          <p:nvPr/>
        </p:nvPicPr>
        <p:blipFill rotWithShape="1">
          <a:blip r:embed="rId4">
            <a:alphaModFix/>
          </a:blip>
          <a:srcRect/>
          <a:stretch/>
        </p:blipFill>
        <p:spPr>
          <a:xfrm>
            <a:off x="1690687" y="3829050"/>
            <a:ext cx="4397375" cy="2417762"/>
          </a:xfrm>
          <a:prstGeom prst="rect">
            <a:avLst/>
          </a:prstGeom>
          <a:noFill/>
          <a:ln>
            <a:noFill/>
          </a:ln>
        </p:spPr>
      </p:pic>
      <p:pic>
        <p:nvPicPr>
          <p:cNvPr id="259" name="Google Shape;259;p18" descr="http://media.gadgetsin.com/2014/05/wellograph_smart_watch_with_fitness_tracker_3.jpg"/>
          <p:cNvPicPr preferRelativeResize="0"/>
          <p:nvPr/>
        </p:nvPicPr>
        <p:blipFill rotWithShape="1">
          <a:blip r:embed="rId5">
            <a:alphaModFix/>
          </a:blip>
          <a:srcRect/>
          <a:stretch/>
        </p:blipFill>
        <p:spPr>
          <a:xfrm>
            <a:off x="336550" y="914400"/>
            <a:ext cx="4335462" cy="2384425"/>
          </a:xfrm>
          <a:prstGeom prst="rect">
            <a:avLst/>
          </a:prstGeom>
          <a:noFill/>
          <a:ln>
            <a:noFill/>
          </a:ln>
        </p:spPr>
      </p:pic>
      <p:sp>
        <p:nvSpPr>
          <p:cNvPr id="260" name="Google Shape;260;p18"/>
          <p:cNvSpPr txBox="1"/>
          <p:nvPr/>
        </p:nvSpPr>
        <p:spPr>
          <a:xfrm>
            <a:off x="336550" y="3506787"/>
            <a:ext cx="1227137"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Libre Baskerville"/>
              <a:buNone/>
            </a:pPr>
            <a:r>
              <a:rPr lang="en-US" sz="1800" b="0" i="0" u="none" strike="noStrike" cap="none">
                <a:solidFill>
                  <a:schemeClr val="dk1"/>
                </a:solidFill>
                <a:latin typeface="Libre Baskerville"/>
                <a:ea typeface="Libre Baskerville"/>
                <a:cs typeface="Libre Baskerville"/>
                <a:sym typeface="Libre Baskerville"/>
              </a:rPr>
              <a:t>Wearable Tech</a:t>
            </a:r>
            <a:endParaRPr sz="1400" b="0" i="0" u="none" strike="noStrike" cap="none">
              <a:solidFill>
                <a:srgbClr val="000000"/>
              </a:solidFill>
              <a:latin typeface="Arial"/>
              <a:ea typeface="Arial"/>
              <a:cs typeface="Arial"/>
              <a:sym typeface="Arial"/>
            </a:endParaRPr>
          </a:p>
        </p:txBody>
      </p:sp>
      <p:sp>
        <p:nvSpPr>
          <p:cNvPr id="261" name="Google Shape;261;p18"/>
          <p:cNvSpPr txBox="1"/>
          <p:nvPr/>
        </p:nvSpPr>
        <p:spPr>
          <a:xfrm>
            <a:off x="1795462" y="6249987"/>
            <a:ext cx="141605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Libre Baskerville"/>
              <a:buNone/>
            </a:pPr>
            <a:r>
              <a:rPr lang="en-US" sz="1800" b="0" i="0" u="none" strike="noStrike" cap="none">
                <a:solidFill>
                  <a:schemeClr val="dk1"/>
                </a:solidFill>
                <a:latin typeface="Libre Baskerville"/>
                <a:ea typeface="Libre Baskerville"/>
                <a:cs typeface="Libre Baskerville"/>
                <a:sym typeface="Libre Baskerville"/>
              </a:rPr>
              <a:t>Healthcare</a:t>
            </a:r>
            <a:endParaRPr sz="1400" b="0" i="0" u="none" strike="noStrike" cap="none">
              <a:solidFill>
                <a:srgbClr val="000000"/>
              </a:solidFill>
              <a:latin typeface="Arial"/>
              <a:ea typeface="Arial"/>
              <a:cs typeface="Arial"/>
              <a:sym typeface="Arial"/>
            </a:endParaRPr>
          </a:p>
        </p:txBody>
      </p:sp>
      <p:sp>
        <p:nvSpPr>
          <p:cNvPr id="262" name="Google Shape;262;p18"/>
          <p:cNvSpPr/>
          <p:nvPr/>
        </p:nvSpPr>
        <p:spPr>
          <a:xfrm flipH="1">
            <a:off x="7543800" y="5562600"/>
            <a:ext cx="1600200" cy="1295400"/>
          </a:xfrm>
          <a:prstGeom prst="rtTriangle">
            <a:avLst/>
          </a:prstGeom>
          <a:blipFill rotWithShape="1">
            <a:blip r:embed="rId6">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19"/>
          <p:cNvPicPr preferRelativeResize="0"/>
          <p:nvPr/>
        </p:nvPicPr>
        <p:blipFill rotWithShape="1">
          <a:blip r:embed="rId3">
            <a:alphaModFix/>
          </a:blip>
          <a:srcRect/>
          <a:stretch/>
        </p:blipFill>
        <p:spPr>
          <a:xfrm>
            <a:off x="146050" y="146050"/>
            <a:ext cx="8729662" cy="6565900"/>
          </a:xfrm>
          <a:prstGeom prst="rect">
            <a:avLst/>
          </a:prstGeom>
          <a:noFill/>
          <a:ln>
            <a:noFill/>
          </a:ln>
        </p:spPr>
      </p:pic>
      <p:sp>
        <p:nvSpPr>
          <p:cNvPr id="268" name="Google Shape;268;p19"/>
          <p:cNvSpPr txBox="1"/>
          <p:nvPr/>
        </p:nvSpPr>
        <p:spPr>
          <a:xfrm>
            <a:off x="0" y="1027112"/>
            <a:ext cx="1474787"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Logistics</a:t>
            </a:r>
            <a:endParaRPr sz="1400" b="0" i="0" u="none" strike="noStrike" cap="none">
              <a:solidFill>
                <a:srgbClr val="000000"/>
              </a:solidFill>
              <a:latin typeface="Arial"/>
              <a:ea typeface="Arial"/>
              <a:cs typeface="Arial"/>
              <a:sym typeface="Arial"/>
            </a:endParaRPr>
          </a:p>
        </p:txBody>
      </p:sp>
      <p:sp>
        <p:nvSpPr>
          <p:cNvPr id="269" name="Google Shape;269;p19"/>
          <p:cNvSpPr txBox="1"/>
          <p:nvPr/>
        </p:nvSpPr>
        <p:spPr>
          <a:xfrm>
            <a:off x="674687" y="2514600"/>
            <a:ext cx="1611312"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Agriculture</a:t>
            </a:r>
            <a:endParaRPr sz="1400" b="0" i="0" u="none" strike="noStrike" cap="none">
              <a:solidFill>
                <a:srgbClr val="000000"/>
              </a:solidFill>
              <a:latin typeface="Arial"/>
              <a:ea typeface="Arial"/>
              <a:cs typeface="Arial"/>
              <a:sym typeface="Arial"/>
            </a:endParaRPr>
          </a:p>
        </p:txBody>
      </p:sp>
      <p:sp>
        <p:nvSpPr>
          <p:cNvPr id="270" name="Google Shape;270;p19"/>
          <p:cNvSpPr txBox="1"/>
          <p:nvPr/>
        </p:nvSpPr>
        <p:spPr>
          <a:xfrm>
            <a:off x="642937" y="3962400"/>
            <a:ext cx="1400175"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Industry</a:t>
            </a:r>
            <a:endParaRPr sz="1400" b="0" i="0" u="none" strike="noStrike" cap="none">
              <a:solidFill>
                <a:srgbClr val="000000"/>
              </a:solidFill>
              <a:latin typeface="Arial"/>
              <a:ea typeface="Arial"/>
              <a:cs typeface="Arial"/>
              <a:sym typeface="Arial"/>
            </a:endParaRPr>
          </a:p>
        </p:txBody>
      </p:sp>
      <p:sp>
        <p:nvSpPr>
          <p:cNvPr id="271" name="Google Shape;271;p19"/>
          <p:cNvSpPr txBox="1"/>
          <p:nvPr/>
        </p:nvSpPr>
        <p:spPr>
          <a:xfrm>
            <a:off x="107950" y="5410200"/>
            <a:ext cx="1562100"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ahoma"/>
              <a:buNone/>
            </a:pPr>
            <a:r>
              <a:rPr lang="en-US" sz="1800" b="1" i="0" u="none" strike="noStrike" cap="none">
                <a:solidFill>
                  <a:schemeClr val="dk1"/>
                </a:solidFill>
                <a:latin typeface="Tahoma"/>
                <a:ea typeface="Tahoma"/>
                <a:cs typeface="Tahoma"/>
                <a:sym typeface="Tahoma"/>
              </a:rPr>
              <a:t>Health and Life Style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0"/>
          <p:cNvSpPr txBox="1">
            <a:spLocks noGrp="1"/>
          </p:cNvSpPr>
          <p:nvPr>
            <p:ph type="title"/>
          </p:nvPr>
        </p:nvSpPr>
        <p:spPr>
          <a:xfrm>
            <a:off x="457200" y="1109662"/>
            <a:ext cx="8229600" cy="871537"/>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3200"/>
              <a:buFont typeface="Arial"/>
              <a:buNone/>
            </a:pPr>
            <a:r>
              <a:rPr lang="en-US" sz="3200" b="1" i="0" u="none">
                <a:solidFill>
                  <a:schemeClr val="dk2"/>
                </a:solidFill>
                <a:latin typeface="Arial"/>
                <a:ea typeface="Arial"/>
                <a:cs typeface="Arial"/>
                <a:sym typeface="Arial"/>
              </a:rPr>
              <a:t>Threat vs. Opportunity</a:t>
            </a:r>
            <a:endParaRPr/>
          </a:p>
        </p:txBody>
      </p:sp>
      <p:sp>
        <p:nvSpPr>
          <p:cNvPr id="277" name="Google Shape;277;p20"/>
          <p:cNvSpPr txBox="1">
            <a:spLocks noGrp="1"/>
          </p:cNvSpPr>
          <p:nvPr>
            <p:ph type="body" idx="1"/>
          </p:nvPr>
        </p:nvSpPr>
        <p:spPr>
          <a:xfrm>
            <a:off x="457200" y="2457450"/>
            <a:ext cx="8229600" cy="3724275"/>
          </a:xfrm>
          <a:prstGeom prst="rect">
            <a:avLst/>
          </a:prstGeom>
          <a:noFill/>
          <a:ln>
            <a:noFill/>
          </a:ln>
        </p:spPr>
        <p:txBody>
          <a:bodyPr spcFirstLastPara="1" wrap="square" lIns="91425" tIns="45700" rIns="91425" bIns="45700" anchor="t" anchorCtr="0">
            <a:noAutofit/>
          </a:bodyPr>
          <a:lstStyle/>
          <a:p>
            <a:pPr marL="273050" marR="0" lvl="0" indent="-143510" algn="just" rtl="0">
              <a:lnSpc>
                <a:spcPct val="100000"/>
              </a:lnSpc>
              <a:spcBef>
                <a:spcPts val="0"/>
              </a:spcBef>
              <a:spcAft>
                <a:spcPts val="0"/>
              </a:spcAft>
              <a:buClr>
                <a:schemeClr val="accent1"/>
              </a:buClr>
              <a:buSzPts val="2040"/>
              <a:buFont typeface="Noto Sans Symbols"/>
              <a:buNone/>
            </a:pPr>
            <a:endParaRPr sz="2400" b="0" i="0" u="none">
              <a:solidFill>
                <a:schemeClr val="dk1"/>
              </a:solidFill>
              <a:latin typeface="Arial"/>
              <a:ea typeface="Arial"/>
              <a:cs typeface="Arial"/>
              <a:sym typeface="Arial"/>
            </a:endParaRPr>
          </a:p>
          <a:p>
            <a:pPr marL="273050" marR="0" lvl="0" indent="-273050" algn="just" rtl="0">
              <a:lnSpc>
                <a:spcPct val="100000"/>
              </a:lnSpc>
              <a:spcBef>
                <a:spcPts val="50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If misunderstood and misconfigured, IoT poses risk to our data, privacy, and safety</a:t>
            </a:r>
            <a:endParaRPr/>
          </a:p>
          <a:p>
            <a:pPr marL="273050" marR="0" lvl="0" indent="-143510" algn="just" rtl="0">
              <a:lnSpc>
                <a:spcPct val="100000"/>
              </a:lnSpc>
              <a:spcBef>
                <a:spcPts val="500"/>
              </a:spcBef>
              <a:spcAft>
                <a:spcPts val="0"/>
              </a:spcAft>
              <a:buClr>
                <a:schemeClr val="accent1"/>
              </a:buClr>
              <a:buSzPts val="2040"/>
              <a:buFont typeface="Noto Sans Symbols"/>
              <a:buNone/>
            </a:pPr>
            <a:endParaRPr sz="2400" b="0" i="0" u="none">
              <a:solidFill>
                <a:schemeClr val="dk1"/>
              </a:solidFill>
              <a:latin typeface="Arial"/>
              <a:ea typeface="Arial"/>
              <a:cs typeface="Arial"/>
              <a:sym typeface="Arial"/>
            </a:endParaRPr>
          </a:p>
          <a:p>
            <a:pPr marL="273050" marR="0" lvl="0" indent="-273050" algn="just" rtl="0">
              <a:lnSpc>
                <a:spcPct val="100000"/>
              </a:lnSpc>
              <a:spcBef>
                <a:spcPts val="50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If understood and secured, IoT will enhance communications, lifestyle, and delivery of services</a:t>
            </a:r>
            <a:endParaRPr/>
          </a:p>
        </p:txBody>
      </p:sp>
      <p:sp>
        <p:nvSpPr>
          <p:cNvPr id="278" name="Google Shape;278;p20"/>
          <p:cNvSpPr txBox="1"/>
          <p:nvPr/>
        </p:nvSpPr>
        <p:spPr>
          <a:xfrm>
            <a:off x="6699250" y="784225"/>
            <a:ext cx="2444750" cy="2619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 Education – Partnership – Solutions  </a:t>
            </a:r>
            <a:endParaRPr sz="1400" b="0" i="0" u="none" strike="noStrike" cap="none">
              <a:solidFill>
                <a:srgbClr val="000000"/>
              </a:solidFill>
              <a:latin typeface="Arial"/>
              <a:ea typeface="Arial"/>
              <a:cs typeface="Arial"/>
              <a:sym typeface="Arial"/>
            </a:endParaRPr>
          </a:p>
        </p:txBody>
      </p:sp>
      <p:sp>
        <p:nvSpPr>
          <p:cNvPr id="279" name="Google Shape;279;p20"/>
          <p:cNvSpPr txBox="1"/>
          <p:nvPr/>
        </p:nvSpPr>
        <p:spPr>
          <a:xfrm>
            <a:off x="5594350" y="246062"/>
            <a:ext cx="3549650" cy="53816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800"/>
              <a:buFont typeface="Arial"/>
              <a:buNone/>
            </a:pPr>
            <a:r>
              <a:rPr lang="en-US" sz="1800" b="0" i="0" u="none" strike="noStrike" cap="none">
                <a:solidFill>
                  <a:schemeClr val="lt1"/>
                </a:solidFill>
                <a:latin typeface="Arial"/>
                <a:ea typeface="Arial"/>
                <a:cs typeface="Arial"/>
                <a:sym typeface="Arial"/>
              </a:rPr>
              <a:t>Information Security</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Office of Budget and Finance</a:t>
            </a:r>
            <a:endParaRPr sz="1400" b="0" i="0" u="none" strike="noStrike" cap="none">
              <a:solidFill>
                <a:srgbClr val="000000"/>
              </a:solidFill>
              <a:latin typeface="Arial"/>
              <a:ea typeface="Arial"/>
              <a:cs typeface="Arial"/>
              <a:sym typeface="Arial"/>
            </a:endParaRPr>
          </a:p>
        </p:txBody>
      </p:sp>
      <p:sp>
        <p:nvSpPr>
          <p:cNvPr id="280" name="Google Shape;280;p20"/>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1"/>
          <p:cNvSpPr txBox="1">
            <a:spLocks noGrp="1"/>
          </p:cNvSpPr>
          <p:nvPr>
            <p:ph type="title" idx="4294967295"/>
          </p:nvPr>
        </p:nvSpPr>
        <p:spPr>
          <a:xfrm>
            <a:off x="1524000" y="2667000"/>
            <a:ext cx="6248400" cy="792162"/>
          </a:xfrm>
          <a:prstGeom prst="rect">
            <a:avLst/>
          </a:prstGeom>
          <a:blipFill rotWithShape="1">
            <a:blip r:embed="rId3">
              <a:alphaModFix/>
            </a:blip>
            <a:tile tx="0" ty="0" sx="70000" sy="70000" flip="none" algn="ctr"/>
          </a:blipFill>
          <a:ln w="9525" cap="flat" cmpd="sng">
            <a:solidFill>
              <a:srgbClr val="6A4747"/>
            </a:solidFill>
            <a:prstDash val="solid"/>
            <a:miter lim="800000"/>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91425" anchor="b" anchorCtr="0">
            <a:normAutofit/>
          </a:bodyPr>
          <a:lstStyle/>
          <a:p>
            <a:pPr marL="0" marR="0" lvl="0" indent="0" algn="ctr" rtl="0">
              <a:lnSpc>
                <a:spcPct val="100000"/>
              </a:lnSpc>
              <a:spcBef>
                <a:spcPts val="0"/>
              </a:spcBef>
              <a:spcAft>
                <a:spcPts val="0"/>
              </a:spcAft>
              <a:buClr>
                <a:schemeClr val="dk1"/>
              </a:buClr>
              <a:buSzPts val="3200"/>
              <a:buFont typeface="Arial"/>
              <a:buNone/>
            </a:pPr>
            <a:r>
              <a:rPr lang="en-US" sz="3200" b="1" i="0" u="none" strike="noStrike" cap="none">
                <a:solidFill>
                  <a:schemeClr val="dk1"/>
                </a:solidFill>
                <a:latin typeface="Arial"/>
                <a:ea typeface="Arial"/>
                <a:cs typeface="Arial"/>
                <a:sym typeface="Arial"/>
              </a:rPr>
              <a:t>Characteristics of IoT</a:t>
            </a:r>
            <a:endParaRPr sz="3200" b="1" i="0" u="none" strike="noStrike" cap="none">
              <a:solidFill>
                <a:schemeClr val="dk1"/>
              </a:solidFill>
              <a:latin typeface="Arial"/>
              <a:ea typeface="Arial"/>
              <a:cs typeface="Arial"/>
              <a:sym typeface="Arial"/>
            </a:endParaRPr>
          </a:p>
        </p:txBody>
      </p:sp>
      <p:sp>
        <p:nvSpPr>
          <p:cNvPr id="286" name="Google Shape;286;p21"/>
          <p:cNvSpPr/>
          <p:nvPr/>
        </p:nvSpPr>
        <p:spPr>
          <a:xfrm flipH="1">
            <a:off x="7543800" y="5562600"/>
            <a:ext cx="1600200" cy="1295400"/>
          </a:xfrm>
          <a:prstGeom prst="rtTriangle">
            <a:avLst/>
          </a:prstGeom>
          <a:blipFill rotWithShape="1">
            <a:blip r:embed="rId4">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txBox="1">
            <a:spLocks noGrp="1"/>
          </p:cNvSpPr>
          <p:nvPr>
            <p:ph type="title"/>
          </p:nvPr>
        </p:nvSpPr>
        <p:spPr>
          <a:xfrm>
            <a:off x="457200" y="457200"/>
            <a:ext cx="8472487" cy="990600"/>
          </a:xfrm>
          <a:prstGeom prst="rect">
            <a:avLst/>
          </a:prstGeom>
          <a:noFill/>
          <a:ln>
            <a:noFill/>
          </a:ln>
        </p:spPr>
        <p:txBody>
          <a:bodyPr spcFirstLastPara="1" wrap="square" lIns="91425" tIns="45700" rIns="91425" bIns="91425" anchor="b" anchorCtr="0">
            <a:noAutofit/>
          </a:bodyPr>
          <a:lstStyle/>
          <a:p>
            <a:pPr marL="457200" lvl="0" indent="-457200" algn="l" rtl="0">
              <a:lnSpc>
                <a:spcPct val="150000"/>
              </a:lnSpc>
              <a:spcBef>
                <a:spcPts val="0"/>
              </a:spcBef>
              <a:spcAft>
                <a:spcPts val="0"/>
              </a:spcAft>
              <a:buClr>
                <a:schemeClr val="accent1"/>
              </a:buClr>
              <a:buSzPts val="2040"/>
              <a:buFont typeface="Noto Sans Symbols"/>
              <a:buChar char="❑"/>
            </a:pPr>
            <a:r>
              <a:rPr lang="en-US" sz="2400" b="0" i="0" u="none">
                <a:solidFill>
                  <a:schemeClr val="dk1"/>
                </a:solidFill>
                <a:latin typeface="Arial"/>
                <a:ea typeface="Arial"/>
                <a:cs typeface="Arial"/>
                <a:sym typeface="Arial"/>
              </a:rPr>
              <a:t>IoT devices/systems capable of following characteristics,</a:t>
            </a:r>
            <a:endParaRPr/>
          </a:p>
        </p:txBody>
      </p:sp>
      <p:sp>
        <p:nvSpPr>
          <p:cNvPr id="292" name="Google Shape;292;p22"/>
          <p:cNvSpPr txBox="1">
            <a:spLocks noGrp="1"/>
          </p:cNvSpPr>
          <p:nvPr>
            <p:ph type="body" idx="1"/>
          </p:nvPr>
        </p:nvSpPr>
        <p:spPr>
          <a:xfrm>
            <a:off x="774915" y="1676400"/>
            <a:ext cx="7911885" cy="4305946"/>
          </a:xfrm>
          <a:prstGeom prst="rect">
            <a:avLst/>
          </a:prstGeom>
          <a:noFill/>
          <a:ln>
            <a:noFill/>
          </a:ln>
        </p:spPr>
        <p:txBody>
          <a:bodyPr spcFirstLastPara="1" wrap="square" lIns="91425" tIns="45700" rIns="91425" bIns="45700" anchor="t" anchorCtr="0">
            <a:noAutofit/>
          </a:bodyPr>
          <a:lstStyle/>
          <a:p>
            <a:pPr marL="514350" marR="0" lvl="0" indent="-514350" algn="l" rtl="0">
              <a:lnSpc>
                <a:spcPct val="150000"/>
              </a:lnSpc>
              <a:spcBef>
                <a:spcPts val="0"/>
              </a:spcBef>
              <a:spcAft>
                <a:spcPts val="0"/>
              </a:spcAft>
              <a:buClr>
                <a:schemeClr val="accent1"/>
              </a:buClr>
              <a:buSzPts val="2040"/>
              <a:buFont typeface="Libre Franklin"/>
              <a:buAutoNum type="arabicPeriod"/>
            </a:pPr>
            <a:r>
              <a:rPr lang="en-US" sz="2400" b="0" i="0" u="none" dirty="0">
                <a:solidFill>
                  <a:srgbClr val="002060"/>
                </a:solidFill>
                <a:latin typeface="Arial"/>
                <a:ea typeface="Arial"/>
                <a:cs typeface="Arial"/>
                <a:sym typeface="Arial"/>
              </a:rPr>
              <a:t>Dynamic and Self Adapting (Ex. Surveillance Camera)</a:t>
            </a:r>
            <a:endParaRPr dirty="0"/>
          </a:p>
          <a:p>
            <a:pPr marL="514350" marR="0" lvl="0" indent="-514350" algn="l" rtl="0">
              <a:lnSpc>
                <a:spcPct val="150000"/>
              </a:lnSpc>
              <a:spcBef>
                <a:spcPts val="500"/>
              </a:spcBef>
              <a:spcAft>
                <a:spcPts val="0"/>
              </a:spcAft>
              <a:buClr>
                <a:schemeClr val="accent1"/>
              </a:buClr>
              <a:buSzPts val="2040"/>
              <a:buFont typeface="Libre Franklin"/>
              <a:buAutoNum type="arabicPeriod"/>
            </a:pPr>
            <a:r>
              <a:rPr lang="en-US" sz="2400" b="0" i="0" u="none" dirty="0">
                <a:solidFill>
                  <a:srgbClr val="002060"/>
                </a:solidFill>
                <a:latin typeface="Arial"/>
                <a:ea typeface="Arial"/>
                <a:cs typeface="Arial"/>
                <a:sym typeface="Arial"/>
              </a:rPr>
              <a:t>Self-Configuring (Ex. Weather Monitoring System)</a:t>
            </a:r>
            <a:endParaRPr dirty="0"/>
          </a:p>
          <a:p>
            <a:pPr marL="514350" marR="0" lvl="0" indent="-514350" algn="l" rtl="0">
              <a:lnSpc>
                <a:spcPct val="150000"/>
              </a:lnSpc>
              <a:spcBef>
                <a:spcPts val="500"/>
              </a:spcBef>
              <a:spcAft>
                <a:spcPts val="0"/>
              </a:spcAft>
              <a:buClr>
                <a:schemeClr val="accent1"/>
              </a:buClr>
              <a:buSzPts val="2040"/>
              <a:buFont typeface="Libre Franklin"/>
              <a:buAutoNum type="arabicPeriod"/>
            </a:pPr>
            <a:r>
              <a:rPr lang="en-US" sz="2400" b="0" i="0" u="none" dirty="0">
                <a:solidFill>
                  <a:srgbClr val="002060"/>
                </a:solidFill>
                <a:latin typeface="Arial"/>
                <a:ea typeface="Arial"/>
                <a:cs typeface="Arial"/>
                <a:sym typeface="Arial"/>
              </a:rPr>
              <a:t>Interoperable Communication Protocols</a:t>
            </a:r>
            <a:endParaRPr dirty="0"/>
          </a:p>
          <a:p>
            <a:pPr marL="514350" marR="0" lvl="0" indent="-514350" algn="l" rtl="0">
              <a:lnSpc>
                <a:spcPct val="150000"/>
              </a:lnSpc>
              <a:spcBef>
                <a:spcPts val="500"/>
              </a:spcBef>
              <a:spcAft>
                <a:spcPts val="0"/>
              </a:spcAft>
              <a:buClr>
                <a:schemeClr val="accent1"/>
              </a:buClr>
              <a:buSzPts val="2040"/>
              <a:buFont typeface="Libre Franklin"/>
              <a:buAutoNum type="arabicPeriod"/>
            </a:pPr>
            <a:r>
              <a:rPr lang="en-US" sz="2400" b="0" i="0" u="none" dirty="0">
                <a:solidFill>
                  <a:srgbClr val="002060"/>
                </a:solidFill>
                <a:latin typeface="Arial"/>
                <a:ea typeface="Arial"/>
                <a:cs typeface="Arial"/>
                <a:sym typeface="Arial"/>
              </a:rPr>
              <a:t>Unique Identity (IP address/URI)</a:t>
            </a:r>
            <a:endParaRPr dirty="0"/>
          </a:p>
          <a:p>
            <a:pPr marL="514350" marR="0" lvl="0" indent="-514350" algn="l" rtl="0">
              <a:lnSpc>
                <a:spcPct val="150000"/>
              </a:lnSpc>
              <a:spcBef>
                <a:spcPts val="500"/>
              </a:spcBef>
              <a:spcAft>
                <a:spcPts val="0"/>
              </a:spcAft>
              <a:buClr>
                <a:schemeClr val="accent1"/>
              </a:buClr>
              <a:buSzPts val="2040"/>
              <a:buFont typeface="Libre Franklin"/>
              <a:buAutoNum type="arabicPeriod"/>
            </a:pPr>
            <a:r>
              <a:rPr lang="en-US" sz="2400" b="0" i="0" u="none" dirty="0">
                <a:solidFill>
                  <a:srgbClr val="002060"/>
                </a:solidFill>
                <a:latin typeface="Arial"/>
                <a:ea typeface="Arial"/>
                <a:cs typeface="Arial"/>
                <a:sym typeface="Arial"/>
              </a:rPr>
              <a:t>Integrated into Information Network</a:t>
            </a:r>
            <a:endParaRPr dirty="0"/>
          </a:p>
        </p:txBody>
      </p:sp>
      <p:sp>
        <p:nvSpPr>
          <p:cNvPr id="293" name="Google Shape;293;p22"/>
          <p:cNvSpPr/>
          <p:nvPr/>
        </p:nvSpPr>
        <p:spPr>
          <a:xfrm flipH="1">
            <a:off x="7543800" y="5562600"/>
            <a:ext cx="1600200" cy="1295400"/>
          </a:xfrm>
          <a:prstGeom prst="rtTriangle">
            <a:avLst/>
          </a:prstGeom>
          <a:blipFill rotWithShape="1">
            <a:blip r:embed="rId3">
              <a:alphaModFix/>
            </a:blip>
            <a:tile tx="0" ty="0" sx="65000" sy="65000" flip="none" algn="ctr"/>
          </a:blipFill>
          <a:ln w="9525" cap="flat" cmpd="sng">
            <a:solidFill>
              <a:srgbClr val="726768"/>
            </a:solidFill>
            <a:prstDash val="solid"/>
            <a:round/>
            <a:headEnd type="none" w="sm" len="sm"/>
            <a:tailEnd type="none" w="sm" len="sm"/>
          </a:ln>
          <a:effectLst>
            <a:outerShdw blurRad="38100" dist="25400" dir="5400000" algn="t"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Tahoma"/>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Unique Identity</a:t>
            </a:r>
          </a:p>
          <a:p>
            <a:r>
              <a:rPr lang="en-GB" dirty="0"/>
              <a:t>Every </a:t>
            </a:r>
            <a:r>
              <a:rPr lang="en-GB" dirty="0" err="1"/>
              <a:t>IoT</a:t>
            </a:r>
            <a:r>
              <a:rPr lang="en-GB" dirty="0"/>
              <a:t> device has a unique identity.</a:t>
            </a:r>
          </a:p>
          <a:p>
            <a:r>
              <a:rPr lang="en-GB" dirty="0"/>
              <a:t>Each device is assigned a unique ID or IP address.</a:t>
            </a:r>
          </a:p>
          <a:p>
            <a:r>
              <a:rPr lang="en-GB" dirty="0"/>
              <a:t>Enables global connectivity.</a:t>
            </a:r>
          </a:p>
          <a:p>
            <a:r>
              <a:rPr lang="en-GB" dirty="0"/>
              <a:t>Helps in:</a:t>
            </a:r>
          </a:p>
          <a:p>
            <a:pPr lvl="1"/>
            <a:r>
              <a:rPr lang="en-GB" dirty="0"/>
              <a:t>Device identification</a:t>
            </a:r>
          </a:p>
          <a:p>
            <a:pPr lvl="1"/>
            <a:r>
              <a:rPr lang="en-GB" dirty="0"/>
              <a:t>Querying devices</a:t>
            </a:r>
          </a:p>
          <a:p>
            <a:pPr lvl="1"/>
            <a:r>
              <a:rPr lang="en-GB" dirty="0"/>
              <a:t>Monitoring device status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23</a:t>
            </a:fld>
            <a:endParaRPr lang="en-US"/>
          </a:p>
        </p:txBody>
      </p:sp>
    </p:spTree>
    <p:extLst>
      <p:ext uri="{BB962C8B-B14F-4D97-AF65-F5344CB8AC3E}">
        <p14:creationId xmlns:p14="http://schemas.microsoft.com/office/powerpoint/2010/main" val="3447101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IN" b="1" dirty="0"/>
              <a:t>Heterogeneity</a:t>
            </a:r>
          </a:p>
          <a:p>
            <a:r>
              <a:rPr lang="en-GB" dirty="0" smtClean="0"/>
              <a:t>Network devises ,cloud platform will work together</a:t>
            </a:r>
            <a:endParaRPr lang="en-IN" dirty="0"/>
          </a:p>
          <a:p>
            <a:r>
              <a:rPr lang="en-IN" dirty="0"/>
              <a:t>Operate on different technologies and protocols.</a:t>
            </a:r>
          </a:p>
          <a:p>
            <a:r>
              <a:rPr lang="en-IN" dirty="0" err="1"/>
              <a:t>IoT</a:t>
            </a:r>
            <a:r>
              <a:rPr lang="en-IN" dirty="0"/>
              <a:t> architecture supports heterogeneous networks.</a:t>
            </a:r>
          </a:p>
          <a:p>
            <a:r>
              <a:rPr lang="en-IN" dirty="0"/>
              <a:t>Ensures interoperability among diverse devices.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24</a:t>
            </a:fld>
            <a:endParaRPr lang="en-US"/>
          </a:p>
        </p:txBody>
      </p:sp>
    </p:spTree>
    <p:extLst>
      <p:ext uri="{BB962C8B-B14F-4D97-AF65-F5344CB8AC3E}">
        <p14:creationId xmlns:p14="http://schemas.microsoft.com/office/powerpoint/2010/main" val="3565251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Integrated into Information Network</a:t>
            </a:r>
          </a:p>
          <a:p>
            <a:r>
              <a:rPr lang="en-GB" dirty="0" err="1"/>
              <a:t>IoT</a:t>
            </a:r>
            <a:r>
              <a:rPr lang="en-GB" dirty="0"/>
              <a:t> devices are integrated with Internet networks.</a:t>
            </a:r>
          </a:p>
          <a:p>
            <a:r>
              <a:rPr lang="en-GB" dirty="0"/>
              <a:t>Connected to cloud and enterprise systems.</a:t>
            </a:r>
          </a:p>
          <a:p>
            <a:r>
              <a:rPr lang="en-GB" dirty="0"/>
              <a:t>Data stored and processed centrally.</a:t>
            </a:r>
          </a:p>
          <a:p>
            <a:r>
              <a:rPr lang="en-GB" dirty="0"/>
              <a:t>Enables remote monitoring and control.</a:t>
            </a:r>
          </a:p>
          <a:p>
            <a:r>
              <a:rPr lang="en-GB" dirty="0"/>
              <a:t>Supports real-time analytics and decision-making.</a:t>
            </a:r>
          </a:p>
          <a:p>
            <a:endParaRPr lang="en-IN"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25</a:t>
            </a:fld>
            <a:endParaRPr lang="en-US"/>
          </a:p>
        </p:txBody>
      </p:sp>
    </p:spTree>
    <p:extLst>
      <p:ext uri="{BB962C8B-B14F-4D97-AF65-F5344CB8AC3E}">
        <p14:creationId xmlns:p14="http://schemas.microsoft.com/office/powerpoint/2010/main" val="302915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Scalability</a:t>
            </a:r>
          </a:p>
          <a:p>
            <a:r>
              <a:rPr lang="en-GB" dirty="0"/>
              <a:t>Supports a large number of devices.</a:t>
            </a:r>
          </a:p>
          <a:p>
            <a:r>
              <a:rPr lang="en-GB" dirty="0"/>
              <a:t>Easy to add or remove devices.</a:t>
            </a:r>
          </a:p>
          <a:p>
            <a:r>
              <a:rPr lang="en-GB" dirty="0"/>
              <a:t>Handles large data volumes efficiently.</a:t>
            </a:r>
          </a:p>
          <a:p>
            <a:r>
              <a:rPr lang="en-GB" dirty="0"/>
              <a:t>Cloud computing enables system expansion.</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26</a:t>
            </a:fld>
            <a:endParaRPr lang="en-US"/>
          </a:p>
        </p:txBody>
      </p:sp>
    </p:spTree>
    <p:extLst>
      <p:ext uri="{BB962C8B-B14F-4D97-AF65-F5344CB8AC3E}">
        <p14:creationId xmlns:p14="http://schemas.microsoft.com/office/powerpoint/2010/main" val="2127964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Connectivity</a:t>
            </a:r>
          </a:p>
          <a:p>
            <a:r>
              <a:rPr lang="en-GB" dirty="0"/>
              <a:t>Devices are interconnected through networks.</a:t>
            </a:r>
          </a:p>
          <a:p>
            <a:r>
              <a:rPr lang="en-GB" dirty="0"/>
              <a:t>Supports wired and wireless communication.</a:t>
            </a:r>
          </a:p>
          <a:p>
            <a:r>
              <a:rPr lang="en-GB" dirty="0"/>
              <a:t>Enables real-time data transmission.</a:t>
            </a:r>
          </a:p>
          <a:p>
            <a:r>
              <a:rPr lang="en-GB" dirty="0"/>
              <a:t>Communication technologies:</a:t>
            </a:r>
          </a:p>
          <a:p>
            <a:pPr lvl="1"/>
            <a:r>
              <a:rPr lang="en-GB" dirty="0"/>
              <a:t>Wi-Fi</a:t>
            </a:r>
          </a:p>
          <a:p>
            <a:pPr lvl="1"/>
            <a:r>
              <a:rPr lang="en-GB" dirty="0"/>
              <a:t>Bluetooth</a:t>
            </a:r>
          </a:p>
          <a:p>
            <a:pPr lvl="1"/>
            <a:r>
              <a:rPr lang="en-GB" dirty="0" err="1"/>
              <a:t>Zigbee</a:t>
            </a:r>
            <a:endParaRPr lang="en-GB" dirty="0"/>
          </a:p>
          <a:p>
            <a:pPr lvl="1"/>
            <a:r>
              <a:rPr lang="en-GB" dirty="0"/>
              <a:t>4G/5G</a:t>
            </a:r>
          </a:p>
          <a:p>
            <a:endParaRPr lang="en-IN"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27</a:t>
            </a:fld>
            <a:endParaRPr lang="en-US"/>
          </a:p>
        </p:txBody>
      </p:sp>
    </p:spTree>
    <p:extLst>
      <p:ext uri="{BB962C8B-B14F-4D97-AF65-F5344CB8AC3E}">
        <p14:creationId xmlns:p14="http://schemas.microsoft.com/office/powerpoint/2010/main" val="1245675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Sensing &amp; Perception</a:t>
            </a:r>
          </a:p>
          <a:p>
            <a:r>
              <a:rPr lang="en-GB" dirty="0"/>
              <a:t>Sensors measure physical parameters.</a:t>
            </a:r>
          </a:p>
          <a:p>
            <a:r>
              <a:rPr lang="en-GB" dirty="0"/>
              <a:t>Examples:</a:t>
            </a:r>
          </a:p>
          <a:p>
            <a:pPr lvl="1"/>
            <a:r>
              <a:rPr lang="en-GB" dirty="0"/>
              <a:t>Temperature</a:t>
            </a:r>
          </a:p>
          <a:p>
            <a:pPr lvl="1"/>
            <a:r>
              <a:rPr lang="en-GB" dirty="0"/>
              <a:t>Pressure</a:t>
            </a:r>
          </a:p>
          <a:p>
            <a:pPr lvl="1"/>
            <a:r>
              <a:rPr lang="en-GB" dirty="0"/>
              <a:t>Humidity</a:t>
            </a:r>
          </a:p>
          <a:p>
            <a:pPr lvl="1"/>
            <a:r>
              <a:rPr lang="en-GB" dirty="0"/>
              <a:t>Motion</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28</a:t>
            </a:fld>
            <a:endParaRPr lang="en-US"/>
          </a:p>
        </p:txBody>
      </p:sp>
    </p:spTree>
    <p:extLst>
      <p:ext uri="{BB962C8B-B14F-4D97-AF65-F5344CB8AC3E}">
        <p14:creationId xmlns:p14="http://schemas.microsoft.com/office/powerpoint/2010/main" val="1913124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Sensing &amp; Perception</a:t>
            </a:r>
          </a:p>
          <a:p>
            <a:r>
              <a:rPr lang="en-GB" dirty="0"/>
              <a:t>Sensors measure physical parameters.</a:t>
            </a:r>
          </a:p>
          <a:p>
            <a:r>
              <a:rPr lang="en-GB" dirty="0"/>
              <a:t>Examples:</a:t>
            </a:r>
          </a:p>
          <a:p>
            <a:pPr lvl="1"/>
            <a:r>
              <a:rPr lang="en-GB" dirty="0"/>
              <a:t>Temperature</a:t>
            </a:r>
          </a:p>
          <a:p>
            <a:pPr lvl="1"/>
            <a:r>
              <a:rPr lang="en-GB" dirty="0"/>
              <a:t>Pressure</a:t>
            </a:r>
          </a:p>
          <a:p>
            <a:pPr lvl="1"/>
            <a:r>
              <a:rPr lang="en-GB" dirty="0"/>
              <a:t>Humidity</a:t>
            </a:r>
          </a:p>
          <a:p>
            <a:pPr lvl="1"/>
            <a:r>
              <a:rPr lang="en-GB" dirty="0"/>
              <a:t>Motion</a:t>
            </a:r>
          </a:p>
          <a:p>
            <a:endParaRPr lang="en-IN"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29</a:t>
            </a:fld>
            <a:endParaRPr lang="en-US"/>
          </a:p>
        </p:txBody>
      </p:sp>
    </p:spTree>
    <p:extLst>
      <p:ext uri="{BB962C8B-B14F-4D97-AF65-F5344CB8AC3E}">
        <p14:creationId xmlns:p14="http://schemas.microsoft.com/office/powerpoint/2010/main" val="3043519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r>
              <a:rPr lang="en-GB" b="1" dirty="0"/>
              <a:t>Dynamic &amp; Self-Adapting</a:t>
            </a:r>
          </a:p>
          <a:p>
            <a:r>
              <a:rPr lang="en-GB" dirty="0"/>
              <a:t>Devices adapt to environmental changes.</a:t>
            </a:r>
          </a:p>
          <a:p>
            <a:r>
              <a:rPr lang="en-GB" dirty="0"/>
              <a:t>Automatically adjust based on real-time conditions</a:t>
            </a:r>
            <a:r>
              <a:rPr lang="en-GB" dirty="0" smtClean="0"/>
              <a:t>.</a:t>
            </a:r>
          </a:p>
          <a:p>
            <a:r>
              <a:rPr lang="en-GB" dirty="0"/>
              <a:t>Example: Smart camera auto-adjusts focus.</a:t>
            </a:r>
          </a:p>
          <a:p>
            <a:r>
              <a:rPr lang="en-GB" dirty="0"/>
              <a:t>Supports automatic updates and configuration.</a:t>
            </a:r>
          </a:p>
          <a:p>
            <a:endParaRPr lang="en-GB"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30</a:t>
            </a:fld>
            <a:endParaRPr lang="en-US"/>
          </a:p>
        </p:txBody>
      </p:sp>
    </p:spTree>
    <p:extLst>
      <p:ext uri="{BB962C8B-B14F-4D97-AF65-F5344CB8AC3E}">
        <p14:creationId xmlns:p14="http://schemas.microsoft.com/office/powerpoint/2010/main" val="19964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Self-Configuring</a:t>
            </a:r>
          </a:p>
          <a:p>
            <a:r>
              <a:rPr lang="en-GB" dirty="0"/>
              <a:t>Devices configure themselves automatically.</a:t>
            </a:r>
          </a:p>
          <a:p>
            <a:r>
              <a:rPr lang="en-GB" dirty="0"/>
              <a:t>No manual intervention required.</a:t>
            </a:r>
          </a:p>
          <a:p>
            <a:r>
              <a:rPr lang="en-GB" dirty="0"/>
              <a:t>Supports plug-and-play functionality.</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31</a:t>
            </a:fld>
            <a:endParaRPr lang="en-US"/>
          </a:p>
        </p:txBody>
      </p:sp>
    </p:spTree>
    <p:extLst>
      <p:ext uri="{BB962C8B-B14F-4D97-AF65-F5344CB8AC3E}">
        <p14:creationId xmlns:p14="http://schemas.microsoft.com/office/powerpoint/2010/main" val="2114073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1445" indent="0">
              <a:buNone/>
            </a:pPr>
            <a:r>
              <a:rPr lang="en-GB" b="1" dirty="0"/>
              <a:t>Interoperability</a:t>
            </a:r>
          </a:p>
          <a:p>
            <a:r>
              <a:rPr lang="en-GB" dirty="0"/>
              <a:t>Supports multiple communication protocols.</a:t>
            </a:r>
          </a:p>
          <a:p>
            <a:r>
              <a:rPr lang="en-GB" dirty="0"/>
              <a:t>Operates at different protocol layers.</a:t>
            </a:r>
          </a:p>
          <a:p>
            <a:r>
              <a:rPr lang="en-GB" dirty="0"/>
              <a:t>Protocol conversion mechanisms available.</a:t>
            </a:r>
          </a:p>
          <a:p>
            <a:r>
              <a:rPr lang="en-GB" dirty="0"/>
              <a:t>Ensures devices from different manufacturers work together.</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32</a:t>
            </a:fld>
            <a:endParaRPr lang="en-US"/>
          </a:p>
        </p:txBody>
      </p:sp>
    </p:spTree>
    <p:extLst>
      <p:ext uri="{BB962C8B-B14F-4D97-AF65-F5344CB8AC3E}">
        <p14:creationId xmlns:p14="http://schemas.microsoft.com/office/powerpoint/2010/main" val="1400259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txBox="1">
            <a:spLocks noGrp="1"/>
          </p:cNvSpPr>
          <p:nvPr>
            <p:ph type="title"/>
          </p:nvPr>
        </p:nvSpPr>
        <p:spPr>
          <a:xfrm>
            <a:off x="60325" y="350838"/>
            <a:ext cx="7772400" cy="1143000"/>
          </a:xfrm>
        </p:spPr>
        <p:txBody>
          <a:bodyPr/>
          <a:lstStyle/>
          <a:p>
            <a:pPr eaLnBrk="1" hangingPunct="1">
              <a:spcBef>
                <a:spcPct val="0"/>
              </a:spcBef>
              <a:spcAft>
                <a:spcPct val="0"/>
              </a:spcAft>
            </a:pPr>
            <a:r>
              <a:rPr lang="en-US" altLang="en-US" sz="4000" smtClean="0">
                <a:solidFill>
                  <a:srgbClr val="002060"/>
                </a:solidFill>
                <a:latin typeface="Arial" panose="020B0604020202020204" pitchFamily="34" charset="0"/>
                <a:cs typeface="Arial" panose="020B0604020202020204" pitchFamily="34" charset="0"/>
              </a:rPr>
              <a:t>Dynamic and Self Adapting</a:t>
            </a:r>
            <a:endParaRPr lang="en-US" altLang="en-US" sz="4000" smtClean="0">
              <a:solidFill>
                <a:srgbClr val="696464"/>
              </a:solidFill>
              <a:latin typeface="Libre Franklin" panose="020B0604020202020204" charset="0"/>
              <a:cs typeface="Arial" panose="020B0604020202020204" pitchFamily="34" charset="0"/>
              <a:sym typeface="Libre Franklin" panose="020B0604020202020204" charset="0"/>
            </a:endParaRPr>
          </a:p>
        </p:txBody>
      </p:sp>
      <p:sp>
        <p:nvSpPr>
          <p:cNvPr id="47107" name="Slide Number Placeholder 3"/>
          <p:cNvSpPr>
            <a:spLocks noGrp="1"/>
          </p:cNvSpPr>
          <p:nvPr>
            <p:ph type="sldNum" sz="quarter" idx="4294967295"/>
          </p:nvPr>
        </p:nvSpPr>
        <p:spPr>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fld id="{E7FDB3B3-2CA0-4368-B221-F1C6EA4ABD82}" type="slidenum">
              <a:rPr lang="en-US" altLang="en-US">
                <a:solidFill>
                  <a:srgbClr val="FFFFFF"/>
                </a:solidFill>
                <a:latin typeface="Libre Franklin" panose="020B0604020202020204" charset="0"/>
                <a:sym typeface="Libre Franklin" panose="020B0604020202020204" charset="0"/>
              </a:rPr>
              <a:pPr eaLnBrk="1" hangingPunct="1"/>
              <a:t>33</a:t>
            </a:fld>
            <a:endParaRPr lang="en-US" altLang="en-US">
              <a:solidFill>
                <a:srgbClr val="FFFFFF"/>
              </a:solidFill>
              <a:latin typeface="Libre Franklin" panose="020B0604020202020204" charset="0"/>
              <a:sym typeface="Libre Franklin" panose="020B0604020202020204" charset="0"/>
            </a:endParaRPr>
          </a:p>
        </p:txBody>
      </p:sp>
      <p:sp>
        <p:nvSpPr>
          <p:cNvPr id="47108" name="AutoShape 2" descr="CCTV Cameras Explained - Techcube"/>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pPr>
            <a:endParaRPr lang="en-US" altLang="en-US"/>
          </a:p>
        </p:txBody>
      </p:sp>
      <p:pic>
        <p:nvPicPr>
          <p:cNvPr id="47109" name="Picture 3" descr="C:\Users\IT\Downloads\download (1).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 y="2039938"/>
            <a:ext cx="4205288" cy="320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4" descr="C:\Users\IT\Downloads\images.jf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4238" y="2054225"/>
            <a:ext cx="4219575"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6" descr="IoT Characteristics with Examples - Dynamic and Self Adapting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1075" y="236538"/>
            <a:ext cx="15303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3087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txBox="1">
            <a:spLocks noGrp="1"/>
          </p:cNvSpPr>
          <p:nvPr>
            <p:ph type="title"/>
          </p:nvPr>
        </p:nvSpPr>
        <p:spPr>
          <a:xfrm>
            <a:off x="914400" y="274638"/>
            <a:ext cx="7772400" cy="1143000"/>
          </a:xfrm>
        </p:spPr>
        <p:txBody>
          <a:bodyPr/>
          <a:lstStyle/>
          <a:p>
            <a:pPr eaLnBrk="1" hangingPunct="1">
              <a:spcBef>
                <a:spcPct val="0"/>
              </a:spcBef>
              <a:spcAft>
                <a:spcPct val="0"/>
              </a:spcAft>
            </a:pPr>
            <a:r>
              <a:rPr lang="en-US" altLang="en-US" sz="4000" smtClean="0">
                <a:solidFill>
                  <a:srgbClr val="002060"/>
                </a:solidFill>
                <a:latin typeface="Arial" panose="020B0604020202020204" pitchFamily="34" charset="0"/>
                <a:cs typeface="Arial" panose="020B0604020202020204" pitchFamily="34" charset="0"/>
              </a:rPr>
              <a:t>Self-Configuring</a:t>
            </a:r>
            <a:endParaRPr lang="en-US" altLang="en-US" sz="4000" smtClean="0">
              <a:solidFill>
                <a:srgbClr val="696464"/>
              </a:solidFill>
              <a:latin typeface="Libre Franklin" panose="020B0604020202020204" charset="0"/>
              <a:cs typeface="Arial" panose="020B0604020202020204" pitchFamily="34" charset="0"/>
              <a:sym typeface="Libre Franklin" panose="020B0604020202020204" charset="0"/>
            </a:endParaRPr>
          </a:p>
        </p:txBody>
      </p:sp>
      <p:sp>
        <p:nvSpPr>
          <p:cNvPr id="48131" name="Text Placeholder 2"/>
          <p:cNvSpPr txBox="1">
            <a:spLocks noGrp="1"/>
          </p:cNvSpPr>
          <p:nvPr>
            <p:ph type="body" idx="1"/>
          </p:nvPr>
        </p:nvSpPr>
        <p:spPr/>
        <p:txBody>
          <a:bodyPr/>
          <a:lstStyle/>
          <a:p>
            <a:pPr indent="-325438" eaLnBrk="1" hangingPunct="1">
              <a:spcAft>
                <a:spcPct val="0"/>
              </a:spcAft>
              <a:buClr>
                <a:schemeClr val="accent1"/>
              </a:buClr>
              <a:buSzPts val="1500"/>
              <a:buFont typeface="Noto Sans Symbols"/>
              <a:buChar char="⚫"/>
            </a:pPr>
            <a:endParaRPr lang="en-US" altLang="en-US" sz="2600" smtClean="0">
              <a:latin typeface="Libre Baskerville" panose="020B0604020202020204" charset="0"/>
              <a:cs typeface="Arial" panose="020B0604020202020204" pitchFamily="34" charset="0"/>
              <a:sym typeface="Libre Baskerville" panose="020B0604020202020204" charset="0"/>
            </a:endParaRPr>
          </a:p>
        </p:txBody>
      </p:sp>
      <p:sp>
        <p:nvSpPr>
          <p:cNvPr id="48132" name="Slide Number Placeholder 3"/>
          <p:cNvSpPr>
            <a:spLocks noGrp="1"/>
          </p:cNvSpPr>
          <p:nvPr>
            <p:ph type="sldNum" sz="quarter" idx="4294967295"/>
          </p:nvPr>
        </p:nvSpPr>
        <p:spPr>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fld id="{BF0143CD-11DF-4968-82BE-FCDA84CEFB3E}" type="slidenum">
              <a:rPr lang="en-US" altLang="en-US">
                <a:solidFill>
                  <a:srgbClr val="FFFFFF"/>
                </a:solidFill>
                <a:latin typeface="Libre Franklin" panose="020B0604020202020204" charset="0"/>
                <a:sym typeface="Libre Franklin" panose="020B0604020202020204" charset="0"/>
              </a:rPr>
              <a:pPr eaLnBrk="1" hangingPunct="1"/>
              <a:t>34</a:t>
            </a:fld>
            <a:endParaRPr lang="en-US" altLang="en-US">
              <a:solidFill>
                <a:srgbClr val="FFFFFF"/>
              </a:solidFill>
              <a:latin typeface="Libre Franklin" panose="020B0604020202020204" charset="0"/>
              <a:sym typeface="Libre Franklin" panose="020B0604020202020204" charset="0"/>
            </a:endParaRPr>
          </a:p>
        </p:txBody>
      </p:sp>
      <p:sp>
        <p:nvSpPr>
          <p:cNvPr id="48133" name="AutoShape 2" descr="Real-Time Weather Monitoring System Using IoT"/>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pPr>
            <a:endParaRPr lang="en-US" altLang="en-US"/>
          </a:p>
        </p:txBody>
      </p:sp>
      <p:pic>
        <p:nvPicPr>
          <p:cNvPr id="48134" name="Picture 3" descr="C:\Users\IT\Downloads\download (2).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2027238"/>
            <a:ext cx="399256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4" descr="C:\Users\IT\Downloads\best-home-weather-station-reviews_Zc43RKGFr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7713" y="1920875"/>
            <a:ext cx="415925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Picture 6" descr="Self Configuring I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2475" y="122238"/>
            <a:ext cx="169862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4382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txBox="1">
            <a:spLocks noGrp="1"/>
          </p:cNvSpPr>
          <p:nvPr>
            <p:ph type="title"/>
          </p:nvPr>
        </p:nvSpPr>
        <p:spPr>
          <a:xfrm>
            <a:off x="106363" y="274638"/>
            <a:ext cx="7772400" cy="1143000"/>
          </a:xfrm>
        </p:spPr>
        <p:txBody>
          <a:bodyPr/>
          <a:lstStyle/>
          <a:p>
            <a:pPr eaLnBrk="1" hangingPunct="1">
              <a:spcBef>
                <a:spcPct val="0"/>
              </a:spcBef>
              <a:spcAft>
                <a:spcPct val="0"/>
              </a:spcAft>
            </a:pPr>
            <a:r>
              <a:rPr lang="en-US" altLang="en-US" sz="3200" smtClean="0">
                <a:solidFill>
                  <a:srgbClr val="002060"/>
                </a:solidFill>
                <a:latin typeface="Arial" panose="020B0604020202020204" pitchFamily="34" charset="0"/>
                <a:cs typeface="Arial" panose="020B0604020202020204" pitchFamily="34" charset="0"/>
              </a:rPr>
              <a:t>Interoperable Communication</a:t>
            </a:r>
            <a:br>
              <a:rPr lang="en-US" altLang="en-US" sz="3200" smtClean="0">
                <a:solidFill>
                  <a:srgbClr val="002060"/>
                </a:solidFill>
                <a:latin typeface="Arial" panose="020B0604020202020204" pitchFamily="34" charset="0"/>
                <a:cs typeface="Arial" panose="020B0604020202020204" pitchFamily="34" charset="0"/>
              </a:rPr>
            </a:br>
            <a:r>
              <a:rPr lang="en-US" altLang="en-US" sz="3200" smtClean="0">
                <a:solidFill>
                  <a:srgbClr val="002060"/>
                </a:solidFill>
                <a:latin typeface="Arial" panose="020B0604020202020204" pitchFamily="34" charset="0"/>
                <a:cs typeface="Arial" panose="020B0604020202020204" pitchFamily="34" charset="0"/>
              </a:rPr>
              <a:t>Protocols</a:t>
            </a:r>
            <a:endParaRPr lang="en-US" altLang="en-US" sz="3200" smtClean="0">
              <a:solidFill>
                <a:srgbClr val="696464"/>
              </a:solidFill>
              <a:latin typeface="Libre Franklin" panose="020B0604020202020204" charset="0"/>
              <a:cs typeface="Arial" panose="020B0604020202020204" pitchFamily="34" charset="0"/>
              <a:sym typeface="Libre Franklin" panose="020B0604020202020204" charset="0"/>
            </a:endParaRPr>
          </a:p>
        </p:txBody>
      </p:sp>
      <p:sp>
        <p:nvSpPr>
          <p:cNvPr id="49155" name="Text Placeholder 2"/>
          <p:cNvSpPr txBox="1">
            <a:spLocks noGrp="1"/>
          </p:cNvSpPr>
          <p:nvPr>
            <p:ph type="body" idx="1"/>
          </p:nvPr>
        </p:nvSpPr>
        <p:spPr/>
        <p:txBody>
          <a:bodyPr/>
          <a:lstStyle/>
          <a:p>
            <a:pPr indent="-325438" eaLnBrk="1" hangingPunct="1">
              <a:spcAft>
                <a:spcPct val="0"/>
              </a:spcAft>
              <a:buClr>
                <a:schemeClr val="accent1"/>
              </a:buClr>
              <a:buSzPts val="1500"/>
              <a:buFont typeface="Noto Sans Symbols"/>
              <a:buChar char="⚫"/>
            </a:pPr>
            <a:endParaRPr lang="en-US" altLang="en-US" sz="2600" smtClean="0">
              <a:latin typeface="Libre Baskerville" panose="020B0604020202020204" charset="0"/>
              <a:cs typeface="Arial" panose="020B0604020202020204" pitchFamily="34" charset="0"/>
              <a:sym typeface="Libre Baskerville" panose="020B0604020202020204" charset="0"/>
            </a:endParaRPr>
          </a:p>
        </p:txBody>
      </p:sp>
      <p:sp>
        <p:nvSpPr>
          <p:cNvPr id="49156" name="Slide Number Placeholder 3"/>
          <p:cNvSpPr>
            <a:spLocks noGrp="1"/>
          </p:cNvSpPr>
          <p:nvPr>
            <p:ph type="sldNum" sz="quarter" idx="4294967295"/>
          </p:nvPr>
        </p:nvSpPr>
        <p:spPr>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fld id="{1126AFC3-D5DD-4EC7-A55C-A7D4A9285025}" type="slidenum">
              <a:rPr lang="en-US" altLang="en-US">
                <a:solidFill>
                  <a:srgbClr val="FFFFFF"/>
                </a:solidFill>
                <a:latin typeface="Libre Franklin" panose="020B0604020202020204" charset="0"/>
                <a:sym typeface="Libre Franklin" panose="020B0604020202020204" charset="0"/>
              </a:rPr>
              <a:pPr eaLnBrk="1" hangingPunct="1"/>
              <a:t>35</a:t>
            </a:fld>
            <a:endParaRPr lang="en-US" altLang="en-US">
              <a:solidFill>
                <a:srgbClr val="FFFFFF"/>
              </a:solidFill>
              <a:latin typeface="Libre Franklin" panose="020B0604020202020204" charset="0"/>
              <a:sym typeface="Libre Franklin" panose="020B0604020202020204" charset="0"/>
            </a:endParaRPr>
          </a:p>
        </p:txBody>
      </p:sp>
      <p:pic>
        <p:nvPicPr>
          <p:cNvPr id="49157" name="Picture 2" descr="Interoperability in IoT – Caught in Its Own Success - Sensit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8" y="1943100"/>
            <a:ext cx="7726362"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8" name="Picture 4" descr="Interoperable Communication Protocols IoT"/>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29400" y="0"/>
            <a:ext cx="25146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2096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txBox="1">
            <a:spLocks noGrp="1"/>
          </p:cNvSpPr>
          <p:nvPr>
            <p:ph type="title"/>
          </p:nvPr>
        </p:nvSpPr>
        <p:spPr>
          <a:xfrm>
            <a:off x="914400" y="274638"/>
            <a:ext cx="7772400" cy="1143000"/>
          </a:xfrm>
        </p:spPr>
        <p:txBody>
          <a:bodyPr/>
          <a:lstStyle/>
          <a:p>
            <a:pPr eaLnBrk="1" hangingPunct="1">
              <a:spcBef>
                <a:spcPct val="0"/>
              </a:spcBef>
              <a:spcAft>
                <a:spcPct val="0"/>
              </a:spcAft>
            </a:pPr>
            <a:r>
              <a:rPr lang="en-US" altLang="en-US" sz="4000" smtClean="0">
                <a:solidFill>
                  <a:srgbClr val="002060"/>
                </a:solidFill>
                <a:latin typeface="Arial" panose="020B0604020202020204" pitchFamily="34" charset="0"/>
                <a:cs typeface="Arial" panose="020B0604020202020204" pitchFamily="34" charset="0"/>
              </a:rPr>
              <a:t>Unique Identity</a:t>
            </a:r>
            <a:endParaRPr lang="en-US" altLang="en-US" sz="4000" smtClean="0">
              <a:solidFill>
                <a:srgbClr val="696464"/>
              </a:solidFill>
              <a:latin typeface="Libre Franklin" panose="020B0604020202020204" charset="0"/>
              <a:cs typeface="Arial" panose="020B0604020202020204" pitchFamily="34" charset="0"/>
              <a:sym typeface="Libre Franklin" panose="020B0604020202020204" charset="0"/>
            </a:endParaRPr>
          </a:p>
        </p:txBody>
      </p:sp>
      <p:sp>
        <p:nvSpPr>
          <p:cNvPr id="50179" name="Text Placeholder 2"/>
          <p:cNvSpPr txBox="1">
            <a:spLocks noGrp="1"/>
          </p:cNvSpPr>
          <p:nvPr>
            <p:ph type="body" idx="1"/>
          </p:nvPr>
        </p:nvSpPr>
        <p:spPr/>
        <p:txBody>
          <a:bodyPr/>
          <a:lstStyle/>
          <a:p>
            <a:pPr indent="-325438" eaLnBrk="1" hangingPunct="1">
              <a:spcAft>
                <a:spcPct val="0"/>
              </a:spcAft>
              <a:buClr>
                <a:schemeClr val="accent1"/>
              </a:buClr>
              <a:buSzPts val="1500"/>
              <a:buFont typeface="Noto Sans Symbols"/>
              <a:buChar char="⚫"/>
            </a:pPr>
            <a:endParaRPr lang="en-US" altLang="en-US" sz="2600" smtClean="0">
              <a:latin typeface="Libre Baskerville" panose="020B0604020202020204" charset="0"/>
              <a:cs typeface="Arial" panose="020B0604020202020204" pitchFamily="34" charset="0"/>
              <a:sym typeface="Libre Baskerville" panose="020B0604020202020204" charset="0"/>
            </a:endParaRPr>
          </a:p>
        </p:txBody>
      </p:sp>
      <p:sp>
        <p:nvSpPr>
          <p:cNvPr id="50180" name="Slide Number Placeholder 3"/>
          <p:cNvSpPr>
            <a:spLocks noGrp="1"/>
          </p:cNvSpPr>
          <p:nvPr>
            <p:ph type="sldNum" sz="quarter" idx="4294967295"/>
          </p:nvPr>
        </p:nvSpPr>
        <p:spPr>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fld id="{676EAFED-B31F-4527-B9FD-A2B924AD1DE9}" type="slidenum">
              <a:rPr lang="en-US" altLang="en-US">
                <a:solidFill>
                  <a:srgbClr val="FFFFFF"/>
                </a:solidFill>
                <a:latin typeface="Libre Franklin" panose="020B0604020202020204" charset="0"/>
                <a:sym typeface="Libre Franklin" panose="020B0604020202020204" charset="0"/>
              </a:rPr>
              <a:pPr eaLnBrk="1" hangingPunct="1"/>
              <a:t>36</a:t>
            </a:fld>
            <a:endParaRPr lang="en-US" altLang="en-US">
              <a:solidFill>
                <a:srgbClr val="FFFFFF"/>
              </a:solidFill>
              <a:latin typeface="Libre Franklin" panose="020B0604020202020204" charset="0"/>
              <a:sym typeface="Libre Franklin" panose="020B0604020202020204" charset="0"/>
            </a:endParaRPr>
          </a:p>
        </p:txBody>
      </p:sp>
      <p:sp>
        <p:nvSpPr>
          <p:cNvPr id="50181" name="AutoShape 2" descr="Uniform resource identifier - WordLift Blo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pPr>
            <a:endParaRPr lang="en-US" altLang="en-US"/>
          </a:p>
        </p:txBody>
      </p:sp>
      <p:sp>
        <p:nvSpPr>
          <p:cNvPr id="50182" name="AutoShape 4" descr="URI - Uniform resource identifie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pPr>
            <a:endParaRPr lang="en-US" altLang="en-US"/>
          </a:p>
        </p:txBody>
      </p:sp>
      <p:pic>
        <p:nvPicPr>
          <p:cNvPr id="50183" name="Picture 5"/>
          <p:cNvPicPr>
            <a:picLocks noChangeAspect="1" noChangeArrowheads="1"/>
          </p:cNvPicPr>
          <p:nvPr/>
        </p:nvPicPr>
        <p:blipFill>
          <a:blip r:embed="rId2">
            <a:extLst>
              <a:ext uri="{28A0092B-C50C-407E-A947-70E740481C1C}">
                <a14:useLocalDpi xmlns:a14="http://schemas.microsoft.com/office/drawing/2010/main" val="0"/>
              </a:ext>
            </a:extLst>
          </a:blip>
          <a:srcRect l="36909" t="43124" r="36984" b="30000"/>
          <a:stretch>
            <a:fillRect/>
          </a:stretch>
        </p:blipFill>
        <p:spPr bwMode="auto">
          <a:xfrm>
            <a:off x="244475" y="2133600"/>
            <a:ext cx="4144963"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7" descr="Uniform Resource Identifier - Cybersecurity Glossary"/>
          <p:cNvPicPr>
            <a:picLocks noChangeAspect="1" noChangeArrowheads="1"/>
          </p:cNvPicPr>
          <p:nvPr/>
        </p:nvPicPr>
        <p:blipFill>
          <a:blip r:embed="rId3">
            <a:extLst>
              <a:ext uri="{28A0092B-C50C-407E-A947-70E740481C1C}">
                <a14:useLocalDpi xmlns:a14="http://schemas.microsoft.com/office/drawing/2010/main" val="0"/>
              </a:ext>
            </a:extLst>
          </a:blip>
          <a:srcRect l="15509" r="15602"/>
          <a:stretch>
            <a:fillRect/>
          </a:stretch>
        </p:blipFill>
        <p:spPr bwMode="auto">
          <a:xfrm>
            <a:off x="4389438" y="1757363"/>
            <a:ext cx="4114800" cy="373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Picture 9" descr="Unique Identity IoT"/>
          <p:cNvPicPr>
            <a:picLocks noChangeAspect="1" noChangeArrowheads="1"/>
          </p:cNvPicPr>
          <p:nvPr/>
        </p:nvPicPr>
        <p:blipFill>
          <a:blip r:embed="rId4">
            <a:clrChange>
              <a:clrFrom>
                <a:srgbClr val="333333"/>
              </a:clrFrom>
              <a:clrTo>
                <a:srgbClr val="333333">
                  <a:alpha val="0"/>
                </a:srgbClr>
              </a:clrTo>
            </a:clrChange>
            <a:extLst>
              <a:ext uri="{28A0092B-C50C-407E-A947-70E740481C1C}">
                <a14:useLocalDpi xmlns:a14="http://schemas.microsoft.com/office/drawing/2010/main" val="0"/>
              </a:ext>
            </a:extLst>
          </a:blip>
          <a:srcRect/>
          <a:stretch>
            <a:fillRect/>
          </a:stretch>
        </p:blipFill>
        <p:spPr bwMode="auto">
          <a:xfrm>
            <a:off x="7026275" y="0"/>
            <a:ext cx="1808163"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6" name="Rectangle 10"/>
          <p:cNvSpPr>
            <a:spLocks noChangeArrowheads="1"/>
          </p:cNvSpPr>
          <p:nvPr/>
        </p:nvSpPr>
        <p:spPr bwMode="auto">
          <a:xfrm>
            <a:off x="198438" y="5684838"/>
            <a:ext cx="8716962" cy="430212"/>
          </a:xfrm>
          <a:prstGeom prst="rect">
            <a:avLst/>
          </a:prstGeom>
          <a:solidFill>
            <a:srgbClr val="01162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2200">
                <a:solidFill>
                  <a:srgbClr val="FFFFFF"/>
                </a:solidFill>
                <a:latin typeface="Consolas" panose="020B0609020204030204" pitchFamily="49" charset="0"/>
              </a:rPr>
              <a:t>urn</a:t>
            </a:r>
            <a:r>
              <a:rPr lang="en-US" altLang="en-US" sz="2200">
                <a:solidFill>
                  <a:srgbClr val="7FDBCA"/>
                </a:solidFill>
                <a:latin typeface="Consolas" panose="020B0609020204030204" pitchFamily="49" charset="0"/>
              </a:rPr>
              <a:t>:&lt;</a:t>
            </a:r>
            <a:r>
              <a:rPr lang="en-US" altLang="en-US" sz="2200">
                <a:solidFill>
                  <a:srgbClr val="82AAFF"/>
                </a:solidFill>
                <a:latin typeface="Consolas" panose="020B0609020204030204" pitchFamily="49" charset="0"/>
              </a:rPr>
              <a:t>NAMESPACE</a:t>
            </a:r>
            <a:r>
              <a:rPr lang="en-US" altLang="en-US" sz="2200">
                <a:solidFill>
                  <a:srgbClr val="7FDBCA"/>
                </a:solidFill>
                <a:latin typeface="Consolas" panose="020B0609020204030204" pitchFamily="49" charset="0"/>
              </a:rPr>
              <a:t>-</a:t>
            </a:r>
            <a:r>
              <a:rPr lang="en-US" altLang="en-US" sz="2200">
                <a:solidFill>
                  <a:srgbClr val="82AAFF"/>
                </a:solidFill>
                <a:latin typeface="Consolas" panose="020B0609020204030204" pitchFamily="49" charset="0"/>
              </a:rPr>
              <a:t>IDENTIFIER</a:t>
            </a:r>
            <a:r>
              <a:rPr lang="en-US" altLang="en-US" sz="2200">
                <a:solidFill>
                  <a:srgbClr val="7FDBCA"/>
                </a:solidFill>
                <a:latin typeface="Consolas" panose="020B0609020204030204" pitchFamily="49" charset="0"/>
              </a:rPr>
              <a:t>&gt;:&lt;</a:t>
            </a:r>
            <a:r>
              <a:rPr lang="en-US" altLang="en-US" sz="2200">
                <a:solidFill>
                  <a:srgbClr val="82AAFF"/>
                </a:solidFill>
                <a:latin typeface="Consolas" panose="020B0609020204030204" pitchFamily="49" charset="0"/>
              </a:rPr>
              <a:t>NAMESPACE</a:t>
            </a:r>
            <a:r>
              <a:rPr lang="en-US" altLang="en-US" sz="2200">
                <a:solidFill>
                  <a:srgbClr val="7FDBCA"/>
                </a:solidFill>
                <a:latin typeface="Consolas" panose="020B0609020204030204" pitchFamily="49" charset="0"/>
              </a:rPr>
              <a:t>-</a:t>
            </a:r>
            <a:r>
              <a:rPr lang="en-US" altLang="en-US" sz="2200">
                <a:solidFill>
                  <a:srgbClr val="82AAFF"/>
                </a:solidFill>
                <a:latin typeface="Consolas" panose="020B0609020204030204" pitchFamily="49" charset="0"/>
              </a:rPr>
              <a:t>SPECIFIC</a:t>
            </a:r>
            <a:r>
              <a:rPr lang="en-US" altLang="en-US" sz="2200">
                <a:solidFill>
                  <a:srgbClr val="7FDBCA"/>
                </a:solidFill>
                <a:latin typeface="Consolas" panose="020B0609020204030204" pitchFamily="49" charset="0"/>
              </a:rPr>
              <a:t>-</a:t>
            </a:r>
            <a:r>
              <a:rPr lang="en-US" altLang="en-US" sz="2200">
                <a:solidFill>
                  <a:srgbClr val="82AAFF"/>
                </a:solidFill>
                <a:latin typeface="Consolas" panose="020B0609020204030204" pitchFamily="49" charset="0"/>
              </a:rPr>
              <a:t>STRING</a:t>
            </a:r>
            <a:r>
              <a:rPr lang="en-US" altLang="en-US" sz="2200">
                <a:solidFill>
                  <a:srgbClr val="7FDBCA"/>
                </a:solidFill>
                <a:latin typeface="Consolas" panose="020B0609020204030204" pitchFamily="49" charset="0"/>
              </a:rPr>
              <a:t>&gt;</a:t>
            </a:r>
            <a:r>
              <a:rPr lang="en-US" altLang="en-US" sz="2200">
                <a:solidFill>
                  <a:schemeClr val="tx1"/>
                </a:solidFill>
              </a:rPr>
              <a:t> </a:t>
            </a:r>
          </a:p>
        </p:txBody>
      </p:sp>
    </p:spTree>
    <p:extLst>
      <p:ext uri="{BB962C8B-B14F-4D97-AF65-F5344CB8AC3E}">
        <p14:creationId xmlns:p14="http://schemas.microsoft.com/office/powerpoint/2010/main" val="35449648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txBox="1">
            <a:spLocks noGrp="1"/>
          </p:cNvSpPr>
          <p:nvPr>
            <p:ph type="title"/>
          </p:nvPr>
        </p:nvSpPr>
        <p:spPr>
          <a:xfrm>
            <a:off x="914400" y="274638"/>
            <a:ext cx="7772400" cy="1143000"/>
          </a:xfrm>
        </p:spPr>
        <p:txBody>
          <a:bodyPr/>
          <a:lstStyle/>
          <a:p>
            <a:pPr eaLnBrk="1" hangingPunct="1">
              <a:spcBef>
                <a:spcPct val="0"/>
              </a:spcBef>
              <a:spcAft>
                <a:spcPct val="0"/>
              </a:spcAft>
            </a:pPr>
            <a:r>
              <a:rPr lang="en-US" altLang="en-US" sz="4000" smtClean="0">
                <a:solidFill>
                  <a:srgbClr val="002060"/>
                </a:solidFill>
                <a:latin typeface="Arial" panose="020B0604020202020204" pitchFamily="34" charset="0"/>
                <a:cs typeface="Arial" panose="020B0604020202020204" pitchFamily="34" charset="0"/>
              </a:rPr>
              <a:t>Integrated into Information Network</a:t>
            </a:r>
            <a:endParaRPr lang="en-US" altLang="en-US" sz="4000" smtClean="0">
              <a:solidFill>
                <a:srgbClr val="696464"/>
              </a:solidFill>
              <a:latin typeface="Libre Franklin" panose="020B0604020202020204" charset="0"/>
              <a:cs typeface="Arial" panose="020B0604020202020204" pitchFamily="34" charset="0"/>
              <a:sym typeface="Libre Franklin" panose="020B0604020202020204" charset="0"/>
            </a:endParaRPr>
          </a:p>
        </p:txBody>
      </p:sp>
      <p:sp>
        <p:nvSpPr>
          <p:cNvPr id="51203" name="Slide Number Placeholder 3"/>
          <p:cNvSpPr>
            <a:spLocks noGrp="1"/>
          </p:cNvSpPr>
          <p:nvPr>
            <p:ph type="sldNum" sz="quarter" idx="4294967295"/>
          </p:nvPr>
        </p:nvSpPr>
        <p:spPr>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fld id="{22ADD42D-D696-42B0-835B-43A1F9BA3D51}" type="slidenum">
              <a:rPr lang="en-US" altLang="en-US">
                <a:solidFill>
                  <a:srgbClr val="FFFFFF"/>
                </a:solidFill>
                <a:latin typeface="Libre Franklin" panose="020B0604020202020204" charset="0"/>
                <a:sym typeface="Libre Franklin" panose="020B0604020202020204" charset="0"/>
              </a:rPr>
              <a:pPr eaLnBrk="1" hangingPunct="1"/>
              <a:t>37</a:t>
            </a:fld>
            <a:endParaRPr lang="en-US" altLang="en-US">
              <a:solidFill>
                <a:srgbClr val="FFFFFF"/>
              </a:solidFill>
              <a:latin typeface="Libre Franklin" panose="020B0604020202020204" charset="0"/>
              <a:sym typeface="Libre Franklin" panose="020B0604020202020204" charset="0"/>
            </a:endParaRPr>
          </a:p>
        </p:txBody>
      </p:sp>
      <p:pic>
        <p:nvPicPr>
          <p:cNvPr id="51204" name="Picture 2" descr="Integration into Information Network Io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48513" y="236538"/>
            <a:ext cx="1619250"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4" descr="Forest Fire Monitoring System IoT"/>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06500" y="1219200"/>
            <a:ext cx="6764338"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03934"/>
      </p:ext>
    </p:extLst>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1012</Words>
  <Application>Microsoft Office PowerPoint</Application>
  <PresentationFormat>On-screen Show (4:3)</PresentationFormat>
  <Paragraphs>170</Paragraphs>
  <Slides>37</Slides>
  <Notes>22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37</vt:i4>
      </vt:variant>
    </vt:vector>
  </HeadingPairs>
  <TitlesOfParts>
    <vt:vector size="50" baseType="lpstr">
      <vt:lpstr>Times New Roman</vt:lpstr>
      <vt:lpstr>Libre Baskerville</vt:lpstr>
      <vt:lpstr>Noto Sans Symbols</vt:lpstr>
      <vt:lpstr>Arial</vt:lpstr>
      <vt:lpstr>Tahoma</vt:lpstr>
      <vt:lpstr>Consolas</vt:lpstr>
      <vt:lpstr>Libre Franklin</vt:lpstr>
      <vt:lpstr>Calibri</vt:lpstr>
      <vt:lpstr>Equity</vt:lpstr>
      <vt:lpstr>1_Equity</vt:lpstr>
      <vt:lpstr>2_Equity</vt:lpstr>
      <vt:lpstr>3_Equity</vt:lpstr>
      <vt:lpstr>4_Equity</vt:lpstr>
      <vt:lpstr>    DEPARTMENT OF INFORMATION TECHNOLOGY  </vt:lpstr>
      <vt:lpstr>PowerPoint Presentation</vt:lpstr>
      <vt:lpstr>What is IoT?</vt:lpstr>
      <vt:lpstr>What is IoT? (‘thing’…cont…)</vt:lpstr>
      <vt:lpstr>Is this an IoT?</vt:lpstr>
      <vt:lpstr>Is this an IoT?</vt:lpstr>
      <vt:lpstr>Actual Focus,,,</vt:lpstr>
      <vt:lpstr>PowerPoint Presentation</vt:lpstr>
      <vt:lpstr>What is IoT? (cont…)</vt:lpstr>
      <vt:lpstr>IoT (vs) Embedded System</vt:lpstr>
      <vt:lpstr>IoT vs Embedded system</vt:lpstr>
      <vt:lpstr>IoT vs Embedded system</vt:lpstr>
      <vt:lpstr>Practical example</vt:lpstr>
      <vt:lpstr>Practical example (Further)</vt:lpstr>
      <vt:lpstr>Example 🡪 ET+NT+IT</vt:lpstr>
      <vt:lpstr>Applications of IoT</vt:lpstr>
      <vt:lpstr>PowerPoint Presentation</vt:lpstr>
      <vt:lpstr>PowerPoint Presentation</vt:lpstr>
      <vt:lpstr>PowerPoint Presentation</vt:lpstr>
      <vt:lpstr>Threat vs. Opportunity</vt:lpstr>
      <vt:lpstr>Characteristics of IoT</vt:lpstr>
      <vt:lpstr>IoT devices/systems capable of following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Dynamic and Self Adapting</vt:lpstr>
      <vt:lpstr>Self-Configuring</vt:lpstr>
      <vt:lpstr>Interoperable Communication Protocols</vt:lpstr>
      <vt:lpstr>Unique Identity</vt:lpstr>
      <vt:lpstr>Integrated into Information Network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DEPARTMENT OF INFORMATION TECHNOLOGY  </dc:title>
  <dc:creator>Chaiporn Jaikaeo</dc:creator>
  <cp:lastModifiedBy>hp</cp:lastModifiedBy>
  <cp:revision>4</cp:revision>
  <dcterms:created xsi:type="dcterms:W3CDTF">2005-06-04T03:33:42Z</dcterms:created>
  <dcterms:modified xsi:type="dcterms:W3CDTF">2026-02-12T04:58:01Z</dcterms:modified>
</cp:coreProperties>
</file>