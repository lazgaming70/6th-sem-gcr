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31"/>
  </p:notesMasterIdLst>
  <p:sldIdLst>
    <p:sldId id="256" r:id="rId2"/>
    <p:sldId id="257" r:id="rId3"/>
    <p:sldId id="258" r:id="rId4"/>
    <p:sldId id="259" r:id="rId5"/>
    <p:sldId id="265" r:id="rId6"/>
    <p:sldId id="261" r:id="rId7"/>
    <p:sldId id="262" r:id="rId8"/>
    <p:sldId id="264" r:id="rId9"/>
    <p:sldId id="266" r:id="rId10"/>
    <p:sldId id="267" r:id="rId11"/>
    <p:sldId id="269" r:id="rId12"/>
    <p:sldId id="270" r:id="rId13"/>
    <p:sldId id="271" r:id="rId14"/>
    <p:sldId id="272" r:id="rId15"/>
    <p:sldId id="275" r:id="rId16"/>
    <p:sldId id="276" r:id="rId17"/>
    <p:sldId id="277" r:id="rId18"/>
    <p:sldId id="278" r:id="rId19"/>
    <p:sldId id="279" r:id="rId20"/>
    <p:sldId id="280" r:id="rId21"/>
    <p:sldId id="281" r:id="rId22"/>
    <p:sldId id="282" r:id="rId23"/>
    <p:sldId id="283" r:id="rId24"/>
    <p:sldId id="284" r:id="rId25"/>
    <p:sldId id="285" r:id="rId26"/>
    <p:sldId id="286" r:id="rId27"/>
    <p:sldId id="287" r:id="rId28"/>
    <p:sldId id="273" r:id="rId29"/>
    <p:sldId id="274" r:id="rId30"/>
  </p:sldIdLst>
  <p:sldSz cx="9144000" cy="6858000" type="screen4x3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32" roundtripDataSignature="AMtx7mgpkONSqC6qqoWNwR5SAFfPnVsMP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1446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customschemas.google.com/relationships/presentationmetadata" Target="meta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2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" name="Google Shape;9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" name="Google Shape;10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" name="Google Shape;161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" name="Google Shape;12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" name="Google Shape;154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" name="Google Shape;167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" name="Google Shape;173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5" name="Google Shape;185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1" name="Google Shape;191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7" name="Google Shape;197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3" name="Google Shape;203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2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22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22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" name="Google Shape;22;p2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2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2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3"/>
          <p:cNvSpPr txBox="1">
            <a:spLocks noGrp="1"/>
          </p:cNvSpPr>
          <p:nvPr>
            <p:ph type="title"/>
          </p:nvPr>
        </p:nvSpPr>
        <p:spPr>
          <a:xfrm rot="5400000">
            <a:off x="4732337" y="2171700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23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1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8" name="Google Shape;28;p2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2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2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24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24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9"/>
            <a:ext cx="4525962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4" name="Google Shape;34;p2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2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2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25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25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0" name="Google Shape;40;p25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41" name="Google Shape;41;p2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2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2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6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26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47" name="Google Shape;47;p26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48" name="Google Shape;48;p2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2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2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27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2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2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8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28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9" name="Google Shape;59;p28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60" name="Google Shape;60;p28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1" name="Google Shape;61;p28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62" name="Google Shape;62;p2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2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9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9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68" name="Google Shape;68;p29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69" name="Google Shape;69;p2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2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0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cap="none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30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75" name="Google Shape;75;p3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3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3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1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31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81" name="Google Shape;81;p3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3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3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0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" name="Google Shape;11;p20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2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" name="Google Shape;13;p2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" name="Google Shape;14;p2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898989"/>
                </a:buClr>
                <a:buSzPts val="1200"/>
                <a:buFont typeface="Calibri"/>
                <a:buNone/>
              </a:pPr>
              <a:t>1</a:t>
            </a:fld>
            <a:endParaRPr/>
          </a:p>
        </p:txBody>
      </p:sp>
      <p:sp>
        <p:nvSpPr>
          <p:cNvPr id="89" name="Google Shape;89;p1"/>
          <p:cNvSpPr txBox="1">
            <a:spLocks noGrp="1"/>
          </p:cNvSpPr>
          <p:nvPr>
            <p:ph type="ctrTitle" idx="4294967295"/>
          </p:nvPr>
        </p:nvSpPr>
        <p:spPr>
          <a:xfrm>
            <a:off x="928687" y="1357312"/>
            <a:ext cx="7643812" cy="144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Times New Roman"/>
              <a:buNone/>
            </a:pPr>
            <a:br>
              <a:rPr lang="en-US" sz="2000" b="0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en-US" sz="2000" b="0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en-US" sz="2000" b="0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en-US" sz="2000" b="0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2400" b="1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DEPARTMENT OF INFORMATION TECHNOLOGY</a:t>
            </a:r>
            <a:br>
              <a:rPr lang="en-US" sz="2000" b="1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en-US" sz="2000" b="0" i="0" u="none" strike="noStrike" cap="none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/>
          </a:p>
        </p:txBody>
      </p:sp>
      <p:pic>
        <p:nvPicPr>
          <p:cNvPr id="91" name="Google Shape;91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04800" y="381000"/>
            <a:ext cx="8534400" cy="976312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"/>
          <p:cNvSpPr txBox="1"/>
          <p:nvPr/>
        </p:nvSpPr>
        <p:spPr>
          <a:xfrm>
            <a:off x="1214437" y="2786062"/>
            <a:ext cx="7000875" cy="58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200"/>
              <a:buFont typeface="Arial"/>
              <a:buNone/>
            </a:pPr>
            <a:r>
              <a:rPr lang="en-US" sz="3200" b="0" i="0" u="none" strike="noStrike" cap="none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Internet of Things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898989"/>
                </a:buClr>
                <a:buSzPts val="1200"/>
                <a:buFont typeface="Calibri"/>
                <a:buNone/>
              </a:pPr>
              <a:t>2</a:t>
            </a:fld>
            <a:endParaRPr/>
          </a:p>
        </p:txBody>
      </p:sp>
      <p:pic>
        <p:nvPicPr>
          <p:cNvPr id="99" name="Google Shape;99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04800" y="381000"/>
            <a:ext cx="8534400" cy="976312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2"/>
          <p:cNvSpPr txBox="1"/>
          <p:nvPr/>
        </p:nvSpPr>
        <p:spPr>
          <a:xfrm>
            <a:off x="1000125" y="1571625"/>
            <a:ext cx="7000875" cy="58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200"/>
              <a:buFont typeface="Arial"/>
              <a:buNone/>
            </a:pPr>
            <a:r>
              <a:rPr lang="en-US" sz="32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Topic</a:t>
            </a:r>
            <a:endParaRPr/>
          </a:p>
        </p:txBody>
      </p:sp>
      <p:sp>
        <p:nvSpPr>
          <p:cNvPr id="101" name="Google Shape;101;p2"/>
          <p:cNvSpPr txBox="1"/>
          <p:nvPr/>
        </p:nvSpPr>
        <p:spPr>
          <a:xfrm>
            <a:off x="714375" y="3143250"/>
            <a:ext cx="7643812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91425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3200"/>
              <a:buFont typeface="Arial"/>
              <a:buNone/>
            </a:pPr>
            <a:r>
              <a:rPr lang="en-US" sz="3200" b="1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IoT &amp; M2M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3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200"/>
              <a:buFont typeface="Arial"/>
              <a:buNone/>
            </a:pPr>
            <a:r>
              <a:rPr lang="en-US" sz="3200" b="1" i="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Machine-to-Machine (M2M)</a:t>
            </a:r>
            <a:endParaRPr/>
          </a:p>
        </p:txBody>
      </p:sp>
      <p:sp>
        <p:nvSpPr>
          <p:cNvPr id="107" name="Google Shape;107;p3"/>
          <p:cNvSpPr txBox="1">
            <a:spLocks noGrp="1"/>
          </p:cNvSpPr>
          <p:nvPr>
            <p:ph type="body" idx="1"/>
          </p:nvPr>
        </p:nvSpPr>
        <p:spPr>
          <a:xfrm>
            <a:off x="457200" y="1394847"/>
            <a:ext cx="8401050" cy="47313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0" i="0" u="none" strike="noStrike" cap="none" dirty="0">
                <a:solidFill>
                  <a:schemeClr val="dk1"/>
                </a:solidFill>
                <a:latin typeface="+mn-lt"/>
                <a:ea typeface="Arial"/>
                <a:cs typeface="Arial"/>
                <a:sym typeface="Arial"/>
              </a:rPr>
              <a:t>Communicatio</a:t>
            </a:r>
            <a:r>
              <a:rPr lang="en-US" sz="2400" dirty="0">
                <a:latin typeface="+mn-lt"/>
                <a:ea typeface="Arial"/>
                <a:cs typeface="Arial"/>
                <a:sym typeface="Arial"/>
              </a:rPr>
              <a:t>n between machines with computing and communication facilities- free of human intervention</a:t>
            </a:r>
            <a:endParaRPr lang="en-US" sz="2400" b="0" i="0" u="none" strike="noStrike" cap="none" dirty="0">
              <a:solidFill>
                <a:schemeClr val="dk1"/>
              </a:solidFill>
              <a:latin typeface="+mn-lt"/>
              <a:ea typeface="Arial"/>
              <a:cs typeface="Arial"/>
              <a:sym typeface="Arial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endParaRPr lang="en-US" sz="2400" b="0" i="0" u="none" strike="noStrike" cap="none" dirty="0">
              <a:solidFill>
                <a:schemeClr val="dk1"/>
              </a:solidFill>
              <a:latin typeface="+mn-lt"/>
              <a:ea typeface="Arial"/>
              <a:cs typeface="Arial"/>
              <a:sym typeface="Arial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0" i="0" u="none" strike="noStrike" cap="none" dirty="0">
                <a:solidFill>
                  <a:schemeClr val="dk1"/>
                </a:solidFill>
                <a:latin typeface="+mn-lt"/>
                <a:ea typeface="Arial"/>
                <a:cs typeface="Arial"/>
                <a:sym typeface="Arial"/>
              </a:rPr>
              <a:t>Machine-to-Machine (M2M) refers to networking of machines (or devices) for the purpose of remote monitoring and control and data exchange.</a:t>
            </a:r>
          </a:p>
          <a:p>
            <a:pPr marL="342900" lvl="0" algn="just">
              <a:spcBef>
                <a:spcPts val="0"/>
              </a:spcBef>
              <a:buSzPts val="2400"/>
            </a:pPr>
            <a:endParaRPr lang="en-US" sz="2400" dirty="0">
              <a:latin typeface="+mn-lt"/>
              <a:ea typeface="Arial"/>
              <a:cs typeface="Arial"/>
              <a:sym typeface="Arial"/>
            </a:endParaRPr>
          </a:p>
          <a:p>
            <a:pPr marL="342900" lvl="0" algn="just">
              <a:spcBef>
                <a:spcPts val="0"/>
              </a:spcBef>
              <a:buSzPts val="2400"/>
            </a:pPr>
            <a:r>
              <a:rPr lang="en-US" sz="2400" dirty="0">
                <a:latin typeface="+mn-lt"/>
                <a:ea typeface="Arial"/>
                <a:cs typeface="Arial"/>
                <a:sym typeface="Arial"/>
              </a:rPr>
              <a:t>An M2M comprises of M2M Area Network, M2M Gateway and M2M Application</a:t>
            </a:r>
          </a:p>
          <a:p>
            <a:pPr marL="342900" lvl="0" algn="just">
              <a:spcBef>
                <a:spcPts val="0"/>
              </a:spcBef>
              <a:buSzPts val="2400"/>
            </a:pPr>
            <a:endParaRPr lang="en-US" sz="2400" dirty="0">
              <a:latin typeface="+mn-lt"/>
              <a:cs typeface="Arial"/>
              <a:sym typeface="Arial"/>
            </a:endParaRPr>
          </a:p>
          <a:p>
            <a:pPr marL="342900" algn="just">
              <a:spcBef>
                <a:spcPts val="0"/>
              </a:spcBef>
              <a:buSzPts val="2400"/>
            </a:pPr>
            <a:r>
              <a:rPr lang="en-IN" sz="2400" dirty="0">
                <a:latin typeface="Arial"/>
                <a:ea typeface="Arial"/>
                <a:cs typeface="Arial"/>
                <a:sym typeface="Arial"/>
              </a:rPr>
              <a:t>An M2M area network comprises of machines (or M2M nodes) which have embedded hardware modules for sensing, actuation and communication.</a:t>
            </a:r>
            <a:endParaRPr lang="en-IN" sz="2400" dirty="0"/>
          </a:p>
          <a:p>
            <a:pPr marL="342900" lvl="0" algn="just">
              <a:spcBef>
                <a:spcPts val="0"/>
              </a:spcBef>
              <a:buSzPts val="2400"/>
            </a:pPr>
            <a:endParaRPr sz="2400" dirty="0">
              <a:latin typeface="+mn-lt"/>
            </a:endParaRPr>
          </a:p>
          <a:p>
            <a:pPr marL="342900" marR="0" lvl="0" indent="-1905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0" i="0" u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4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200"/>
              <a:buFont typeface="Arial"/>
              <a:buNone/>
            </a:pPr>
            <a:r>
              <a:rPr lang="en-US" sz="3200" b="1" i="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Machine-to-Machine (M2M)</a:t>
            </a:r>
            <a:endParaRPr/>
          </a:p>
        </p:txBody>
      </p:sp>
      <p:sp>
        <p:nvSpPr>
          <p:cNvPr id="113" name="Google Shape;113;p4"/>
          <p:cNvSpPr txBox="1">
            <a:spLocks noGrp="1"/>
          </p:cNvSpPr>
          <p:nvPr>
            <p:ph type="body" idx="1"/>
          </p:nvPr>
        </p:nvSpPr>
        <p:spPr>
          <a:xfrm>
            <a:off x="457200" y="1332854"/>
            <a:ext cx="8229600" cy="47933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0" i="0" u="none" dirty="0">
                <a:solidFill>
                  <a:schemeClr val="dk1"/>
                </a:solidFill>
                <a:latin typeface="+mj-lt"/>
                <a:ea typeface="Arial"/>
                <a:cs typeface="Arial"/>
                <a:sym typeface="Arial"/>
              </a:rPr>
              <a:t>Primarily M2M are Similar in upper layer such as hardware, networking or devices. But they differ in system architecture, types of applications and underlying Technologies.</a:t>
            </a:r>
          </a:p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endParaRPr lang="en-US" sz="2400" dirty="0">
              <a:latin typeface="+mj-lt"/>
              <a:cs typeface="Arial"/>
              <a:sym typeface="Arial"/>
            </a:endParaRPr>
          </a:p>
          <a:p>
            <a:pPr marL="342900" lvl="0" algn="just">
              <a:lnSpc>
                <a:spcPct val="80000"/>
              </a:lnSpc>
              <a:spcBef>
                <a:spcPts val="0"/>
              </a:spcBef>
              <a:buSzPts val="2500"/>
            </a:pPr>
            <a:r>
              <a:rPr lang="en-IN" sz="2400" dirty="0">
                <a:latin typeface="+mj-lt"/>
                <a:ea typeface="Arial"/>
                <a:cs typeface="Arial"/>
                <a:sym typeface="Arial"/>
              </a:rPr>
              <a:t>Various communication protocols used include </a:t>
            </a:r>
            <a:r>
              <a:rPr lang="en-IN" sz="2400" dirty="0" err="1">
                <a:latin typeface="+mj-lt"/>
                <a:ea typeface="Arial"/>
                <a:cs typeface="Arial"/>
                <a:sym typeface="Arial"/>
              </a:rPr>
              <a:t>ZigBee</a:t>
            </a:r>
            <a:r>
              <a:rPr lang="en-IN" sz="2400" dirty="0">
                <a:latin typeface="+mj-lt"/>
                <a:ea typeface="Arial"/>
                <a:cs typeface="Arial"/>
                <a:sym typeface="Arial"/>
              </a:rPr>
              <a:t>, Bluetooth, </a:t>
            </a:r>
            <a:r>
              <a:rPr lang="en-IN" sz="2400" dirty="0" err="1">
                <a:latin typeface="+mj-lt"/>
                <a:ea typeface="Arial"/>
                <a:cs typeface="Arial"/>
                <a:sym typeface="Arial"/>
              </a:rPr>
              <a:t>ModBus</a:t>
            </a:r>
            <a:r>
              <a:rPr lang="en-IN" sz="2400" dirty="0">
                <a:latin typeface="+mj-lt"/>
                <a:ea typeface="Arial"/>
                <a:cs typeface="Arial"/>
                <a:sym typeface="Arial"/>
              </a:rPr>
              <a:t>, M-Bus, </a:t>
            </a:r>
            <a:r>
              <a:rPr lang="en-IN" sz="2400" dirty="0" err="1">
                <a:latin typeface="+mj-lt"/>
                <a:ea typeface="Arial"/>
                <a:cs typeface="Arial"/>
                <a:sym typeface="Arial"/>
              </a:rPr>
              <a:t>Wirless</a:t>
            </a:r>
            <a:r>
              <a:rPr lang="en-IN" sz="2400" dirty="0">
                <a:latin typeface="+mj-lt"/>
                <a:ea typeface="Arial"/>
                <a:cs typeface="Arial"/>
                <a:sym typeface="Arial"/>
              </a:rPr>
              <a:t> M-Bus, Power Line Communication (PLC), 6LoWPAN, IEEE 802.15.4, etc.</a:t>
            </a:r>
          </a:p>
          <a:p>
            <a:pPr marL="342900" lvl="0" algn="just">
              <a:lnSpc>
                <a:spcPct val="80000"/>
              </a:lnSpc>
              <a:spcBef>
                <a:spcPts val="0"/>
              </a:spcBef>
              <a:buSzPts val="2500"/>
            </a:pPr>
            <a:endParaRPr lang="en-IN" sz="2400" dirty="0">
              <a:latin typeface="+mj-lt"/>
            </a:endParaRPr>
          </a:p>
          <a:p>
            <a:pPr marL="342900" lvl="0" algn="just">
              <a:lnSpc>
                <a:spcPct val="80000"/>
              </a:lnSpc>
              <a:spcBef>
                <a:spcPts val="500"/>
              </a:spcBef>
              <a:buSzPts val="2500"/>
            </a:pPr>
            <a:r>
              <a:rPr lang="en-IN" sz="2400" dirty="0">
                <a:latin typeface="+mj-lt"/>
                <a:ea typeface="Arial"/>
                <a:cs typeface="Arial"/>
                <a:sym typeface="Arial"/>
              </a:rPr>
              <a:t>The communication network provides connectivity to remote M2M area networks.</a:t>
            </a:r>
            <a:endParaRPr lang="en-IN" sz="2400" dirty="0">
              <a:latin typeface="+mj-lt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endParaRPr sz="2400" dirty="0">
              <a:latin typeface="+mj-l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0"/>
          <p:cNvSpPr txBox="1">
            <a:spLocks noGrp="1"/>
          </p:cNvSpPr>
          <p:nvPr>
            <p:ph type="body" idx="1"/>
          </p:nvPr>
        </p:nvSpPr>
        <p:spPr>
          <a:xfrm>
            <a:off x="457200" y="1285875"/>
            <a:ext cx="8229600" cy="48402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Char char="•"/>
            </a:pPr>
            <a:r>
              <a:rPr lang="en-US" sz="2500" b="0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communication network can use either wired or wireless networks (IP based).</a:t>
            </a:r>
          </a:p>
          <a:p>
            <a:pPr marL="342900" marR="0" lvl="0" indent="-34290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Char char="•"/>
            </a:pPr>
            <a:endParaRPr dirty="0"/>
          </a:p>
          <a:p>
            <a:pPr marL="342900" marR="0" lvl="0" indent="-342900" algn="l" rtl="0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Char char="•"/>
            </a:pPr>
            <a:r>
              <a:rPr lang="en-US" sz="2500" b="0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While the M2M area networks use either proprietary or non-IP based communication protocols, the communication network uses IP-based networks.</a:t>
            </a:r>
            <a:endParaRPr dirty="0"/>
          </a:p>
          <a:p>
            <a:pPr marL="342900" marR="0" lvl="0" indent="-184150" algn="l" rtl="0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</a:pPr>
            <a:endParaRPr sz="2500" b="0" i="0" u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10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200"/>
              <a:buFont typeface="Arial"/>
              <a:buNone/>
            </a:pPr>
            <a:r>
              <a:rPr lang="en-US" sz="3200" b="1" i="0" u="none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Machine-to-Machine (M2M)</a:t>
            </a: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6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1397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7" name="Google Shape;127;p6" descr="G:\Screenshot_20190724-075531_YouTube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09965" y="679987"/>
            <a:ext cx="8183105" cy="53578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7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Arial"/>
              <a:buNone/>
            </a:pPr>
            <a:r>
              <a:rPr lang="en-US" sz="4400" b="1" i="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Block Diagram</a:t>
            </a:r>
            <a:endParaRPr/>
          </a:p>
        </p:txBody>
      </p:sp>
      <p:sp>
        <p:nvSpPr>
          <p:cNvPr id="133" name="Google Shape;133;p7"/>
          <p:cNvSpPr txBox="1"/>
          <p:nvPr/>
        </p:nvSpPr>
        <p:spPr>
          <a:xfrm>
            <a:off x="357187" y="1857375"/>
            <a:ext cx="1857375" cy="642937"/>
          </a:xfrm>
          <a:prstGeom prst="rect">
            <a:avLst/>
          </a:prstGeom>
          <a:solidFill>
            <a:schemeClr val="accent1"/>
          </a:solidFill>
          <a:ln w="25400" cap="flat" cmpd="sng">
            <a:solidFill>
              <a:srgbClr val="385D8A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lang="en-US" sz="1800" b="0" i="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M2M Area Network</a:t>
            </a:r>
            <a:endParaRPr/>
          </a:p>
        </p:txBody>
      </p:sp>
      <p:sp>
        <p:nvSpPr>
          <p:cNvPr id="134" name="Google Shape;134;p7"/>
          <p:cNvSpPr txBox="1"/>
          <p:nvPr/>
        </p:nvSpPr>
        <p:spPr>
          <a:xfrm>
            <a:off x="3357562" y="1857375"/>
            <a:ext cx="1857375" cy="642937"/>
          </a:xfrm>
          <a:prstGeom prst="rect">
            <a:avLst/>
          </a:prstGeom>
          <a:solidFill>
            <a:schemeClr val="accent1"/>
          </a:solidFill>
          <a:ln w="25400" cap="flat" cmpd="sng">
            <a:solidFill>
              <a:srgbClr val="385D8A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lang="en-US" sz="1800" b="0" i="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M2M Gateway</a:t>
            </a:r>
            <a:endParaRPr/>
          </a:p>
        </p:txBody>
      </p:sp>
      <p:sp>
        <p:nvSpPr>
          <p:cNvPr id="135" name="Google Shape;135;p7"/>
          <p:cNvSpPr txBox="1"/>
          <p:nvPr/>
        </p:nvSpPr>
        <p:spPr>
          <a:xfrm>
            <a:off x="3429000" y="4714875"/>
            <a:ext cx="1857375" cy="642937"/>
          </a:xfrm>
          <a:prstGeom prst="rect">
            <a:avLst/>
          </a:prstGeom>
          <a:solidFill>
            <a:schemeClr val="accent1"/>
          </a:solidFill>
          <a:ln w="25400" cap="flat" cmpd="sng">
            <a:solidFill>
              <a:srgbClr val="385D8A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lang="en-US" sz="1800" b="0" i="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M2M Gateway</a:t>
            </a:r>
            <a:endParaRPr/>
          </a:p>
        </p:txBody>
      </p:sp>
      <p:sp>
        <p:nvSpPr>
          <p:cNvPr id="136" name="Google Shape;136;p7"/>
          <p:cNvSpPr txBox="1"/>
          <p:nvPr/>
        </p:nvSpPr>
        <p:spPr>
          <a:xfrm>
            <a:off x="6429375" y="4714875"/>
            <a:ext cx="1857375" cy="642937"/>
          </a:xfrm>
          <a:prstGeom prst="rect">
            <a:avLst/>
          </a:prstGeom>
          <a:solidFill>
            <a:schemeClr val="accent1"/>
          </a:solidFill>
          <a:ln w="25400" cap="flat" cmpd="sng">
            <a:solidFill>
              <a:srgbClr val="385D8A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lang="en-US" sz="1800" b="0" i="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Wireless Networks</a:t>
            </a:r>
            <a:endParaRPr/>
          </a:p>
        </p:txBody>
      </p:sp>
      <p:sp>
        <p:nvSpPr>
          <p:cNvPr id="137" name="Google Shape;137;p7"/>
          <p:cNvSpPr txBox="1"/>
          <p:nvPr/>
        </p:nvSpPr>
        <p:spPr>
          <a:xfrm>
            <a:off x="6429375" y="3286125"/>
            <a:ext cx="1857375" cy="642937"/>
          </a:xfrm>
          <a:prstGeom prst="rect">
            <a:avLst/>
          </a:prstGeom>
          <a:solidFill>
            <a:schemeClr val="accent1"/>
          </a:solidFill>
          <a:ln w="25400" cap="flat" cmpd="sng">
            <a:solidFill>
              <a:srgbClr val="385D8A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lang="en-US" sz="1800" b="0" i="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M2M Application</a:t>
            </a:r>
            <a:endParaRPr/>
          </a:p>
        </p:txBody>
      </p:sp>
      <p:sp>
        <p:nvSpPr>
          <p:cNvPr id="138" name="Google Shape;138;p7"/>
          <p:cNvSpPr txBox="1"/>
          <p:nvPr/>
        </p:nvSpPr>
        <p:spPr>
          <a:xfrm>
            <a:off x="6357937" y="1857375"/>
            <a:ext cx="1857375" cy="642937"/>
          </a:xfrm>
          <a:prstGeom prst="rect">
            <a:avLst/>
          </a:prstGeom>
          <a:solidFill>
            <a:schemeClr val="accent1"/>
          </a:solidFill>
          <a:ln w="25400" cap="flat" cmpd="sng">
            <a:solidFill>
              <a:srgbClr val="385D8A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lang="en-US" sz="1800" b="0" i="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M2M Core Network</a:t>
            </a:r>
            <a:endParaRPr/>
          </a:p>
        </p:txBody>
      </p:sp>
      <p:sp>
        <p:nvSpPr>
          <p:cNvPr id="139" name="Google Shape;139;p7"/>
          <p:cNvSpPr txBox="1"/>
          <p:nvPr/>
        </p:nvSpPr>
        <p:spPr>
          <a:xfrm>
            <a:off x="357187" y="4714875"/>
            <a:ext cx="1857375" cy="642937"/>
          </a:xfrm>
          <a:prstGeom prst="rect">
            <a:avLst/>
          </a:prstGeom>
          <a:solidFill>
            <a:schemeClr val="accent1"/>
          </a:solidFill>
          <a:ln w="25400" cap="flat" cmpd="sng">
            <a:solidFill>
              <a:srgbClr val="385D8A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lang="en-US" sz="1800" b="0" i="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Automation Devices</a:t>
            </a:r>
            <a:endParaRPr/>
          </a:p>
        </p:txBody>
      </p:sp>
      <p:cxnSp>
        <p:nvCxnSpPr>
          <p:cNvPr id="140" name="Google Shape;140;p7"/>
          <p:cNvCxnSpPr/>
          <p:nvPr/>
        </p:nvCxnSpPr>
        <p:spPr>
          <a:xfrm>
            <a:off x="2214562" y="2178050"/>
            <a:ext cx="1143000" cy="1587"/>
          </a:xfrm>
          <a:prstGeom prst="straightConnector1">
            <a:avLst/>
          </a:prstGeom>
          <a:noFill/>
          <a:ln w="9525" cap="flat" cmpd="sng">
            <a:solidFill>
              <a:srgbClr val="4A7EBB"/>
            </a:solidFill>
            <a:prstDash val="solid"/>
            <a:miter lim="800000"/>
            <a:headEnd type="none" w="med" len="med"/>
            <a:tailEnd type="stealth" w="med" len="med"/>
          </a:ln>
        </p:spPr>
      </p:cxnSp>
      <p:cxnSp>
        <p:nvCxnSpPr>
          <p:cNvPr id="141" name="Google Shape;141;p7"/>
          <p:cNvCxnSpPr/>
          <p:nvPr/>
        </p:nvCxnSpPr>
        <p:spPr>
          <a:xfrm>
            <a:off x="5214937" y="2143125"/>
            <a:ext cx="1143000" cy="1587"/>
          </a:xfrm>
          <a:prstGeom prst="straightConnector1">
            <a:avLst/>
          </a:prstGeom>
          <a:noFill/>
          <a:ln w="9525" cap="flat" cmpd="sng">
            <a:solidFill>
              <a:srgbClr val="4A7EBB"/>
            </a:solidFill>
            <a:prstDash val="solid"/>
            <a:miter lim="800000"/>
            <a:headEnd type="none" w="med" len="med"/>
            <a:tailEnd type="stealth" w="med" len="med"/>
          </a:ln>
        </p:spPr>
      </p:cxnSp>
      <p:cxnSp>
        <p:nvCxnSpPr>
          <p:cNvPr id="142" name="Google Shape;142;p7"/>
          <p:cNvCxnSpPr/>
          <p:nvPr/>
        </p:nvCxnSpPr>
        <p:spPr>
          <a:xfrm>
            <a:off x="2214562" y="5037137"/>
            <a:ext cx="1214437" cy="1587"/>
          </a:xfrm>
          <a:prstGeom prst="straightConnector1">
            <a:avLst/>
          </a:prstGeom>
          <a:noFill/>
          <a:ln w="9525" cap="flat" cmpd="sng">
            <a:solidFill>
              <a:srgbClr val="4A7EBB"/>
            </a:solidFill>
            <a:prstDash val="solid"/>
            <a:miter lim="800000"/>
            <a:headEnd type="none" w="med" len="med"/>
            <a:tailEnd type="stealth" w="med" len="med"/>
          </a:ln>
        </p:spPr>
      </p:cxnSp>
      <p:cxnSp>
        <p:nvCxnSpPr>
          <p:cNvPr id="143" name="Google Shape;143;p7"/>
          <p:cNvCxnSpPr/>
          <p:nvPr/>
        </p:nvCxnSpPr>
        <p:spPr>
          <a:xfrm rot="-5400000">
            <a:off x="6965950" y="4322762"/>
            <a:ext cx="785812" cy="1587"/>
          </a:xfrm>
          <a:prstGeom prst="straightConnector1">
            <a:avLst/>
          </a:prstGeom>
          <a:noFill/>
          <a:ln w="9525" cap="flat" cmpd="sng">
            <a:solidFill>
              <a:srgbClr val="4A7EBB"/>
            </a:solidFill>
            <a:prstDash val="solid"/>
            <a:miter lim="800000"/>
            <a:headEnd type="none" w="med" len="med"/>
            <a:tailEnd type="stealth" w="med" len="med"/>
          </a:ln>
        </p:spPr>
      </p:cxnSp>
      <p:cxnSp>
        <p:nvCxnSpPr>
          <p:cNvPr id="144" name="Google Shape;144;p7"/>
          <p:cNvCxnSpPr/>
          <p:nvPr/>
        </p:nvCxnSpPr>
        <p:spPr>
          <a:xfrm rot="-5400000">
            <a:off x="6894512" y="2892425"/>
            <a:ext cx="785812" cy="1587"/>
          </a:xfrm>
          <a:prstGeom prst="straightConnector1">
            <a:avLst/>
          </a:prstGeom>
          <a:noFill/>
          <a:ln w="9525" cap="flat" cmpd="sng">
            <a:solidFill>
              <a:srgbClr val="4A7EBB"/>
            </a:solidFill>
            <a:prstDash val="solid"/>
            <a:miter lim="800000"/>
            <a:headEnd type="none" w="med" len="med"/>
            <a:tailEnd type="stealth" w="med" len="med"/>
          </a:ln>
        </p:spPr>
      </p:cxnSp>
      <p:cxnSp>
        <p:nvCxnSpPr>
          <p:cNvPr id="145" name="Google Shape;145;p7"/>
          <p:cNvCxnSpPr/>
          <p:nvPr/>
        </p:nvCxnSpPr>
        <p:spPr>
          <a:xfrm>
            <a:off x="5143500" y="5072062"/>
            <a:ext cx="1214437" cy="1587"/>
          </a:xfrm>
          <a:prstGeom prst="straightConnector1">
            <a:avLst/>
          </a:prstGeom>
          <a:noFill/>
          <a:ln w="9525" cap="flat" cmpd="sng">
            <a:solidFill>
              <a:srgbClr val="4A7EBB"/>
            </a:solidFill>
            <a:prstDash val="solid"/>
            <a:miter lim="800000"/>
            <a:headEnd type="none" w="med" len="med"/>
            <a:tailEnd type="stealth" w="med" len="med"/>
          </a:ln>
        </p:spPr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9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9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1397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8" name="Google Shape;158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03250" y="1219200"/>
            <a:ext cx="7937500" cy="441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1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600"/>
              <a:buFont typeface="Arial"/>
              <a:buNone/>
            </a:pPr>
            <a:r>
              <a:rPr lang="en-US" sz="3600" b="1" i="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M2M gateway</a:t>
            </a:r>
            <a:endParaRPr/>
          </a:p>
        </p:txBody>
      </p:sp>
      <p:sp>
        <p:nvSpPr>
          <p:cNvPr id="170" name="Google Shape;170;p1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0" i="0" u="none" dirty="0">
                <a:solidFill>
                  <a:schemeClr val="dk1"/>
                </a:solidFill>
                <a:latin typeface="+mn-lt"/>
                <a:ea typeface="Arial"/>
                <a:cs typeface="Arial"/>
                <a:sym typeface="Arial"/>
              </a:rPr>
              <a:t>Since non-IP based protocols are used within M2M area networks, the M2M nodes within one network cannot communicate with nodes in an external network.</a:t>
            </a:r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endParaRPr sz="2400" dirty="0">
              <a:latin typeface="+mn-lt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0" i="0" u="none" dirty="0">
                <a:solidFill>
                  <a:schemeClr val="dk1"/>
                </a:solidFill>
                <a:latin typeface="+mn-lt"/>
                <a:ea typeface="Arial"/>
                <a:cs typeface="Arial"/>
                <a:sym typeface="Arial"/>
              </a:rPr>
              <a:t>To enable the communication between remote M2M area networks, M2M gateways are used that performs translations to enable IP connectivity for M2M networks.</a:t>
            </a:r>
          </a:p>
          <a:p>
            <a:pPr marL="342900" marR="0" lvl="0" indent="-3429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endParaRPr lang="en-US" sz="2400" b="0" i="0" u="none" dirty="0">
              <a:solidFill>
                <a:schemeClr val="dk1"/>
              </a:solidFill>
              <a:latin typeface="+mn-lt"/>
              <a:ea typeface="Arial"/>
              <a:cs typeface="Arial"/>
              <a:sym typeface="Arial"/>
            </a:endParaRPr>
          </a:p>
          <a:p>
            <a:pPr marL="342900">
              <a:spcBef>
                <a:spcPts val="480"/>
              </a:spcBef>
              <a:buSzPts val="2400"/>
            </a:pPr>
            <a:r>
              <a:rPr lang="en-IN" sz="2400" dirty="0">
                <a:latin typeface="+mn-lt"/>
                <a:ea typeface="Arial"/>
                <a:cs typeface="Arial"/>
                <a:sym typeface="Arial"/>
              </a:rPr>
              <a:t>The M2M data is gathered into point solutions such as enterprise Applications, Service Management Applications, or remote Monitoring Applications.</a:t>
            </a:r>
            <a:endParaRPr lang="en-IN" sz="2400" dirty="0">
              <a:latin typeface="+mn-lt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endParaRPr dirty="0"/>
          </a:p>
          <a:p>
            <a:pPr marL="342900" marR="0" lvl="0" indent="-1905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0" i="0" u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2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600"/>
              <a:buFont typeface="Arial"/>
              <a:buNone/>
            </a:pPr>
            <a:r>
              <a:rPr lang="en-US" sz="3600" b="1" i="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M2M gateway</a:t>
            </a:r>
            <a:endParaRPr/>
          </a:p>
        </p:txBody>
      </p:sp>
      <p:pic>
        <p:nvPicPr>
          <p:cNvPr id="176" name="Google Shape;176;p1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85750" y="1714500"/>
            <a:ext cx="8570912" cy="33575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4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600"/>
              <a:buFont typeface="Arial"/>
              <a:buNone/>
            </a:pPr>
            <a:r>
              <a:rPr lang="en-US" sz="3600" b="1" i="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M2M Application Domain</a:t>
            </a:r>
            <a:endParaRPr/>
          </a:p>
        </p:txBody>
      </p:sp>
      <p:sp>
        <p:nvSpPr>
          <p:cNvPr id="188" name="Google Shape;188;p1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Smart Metering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Home Automation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Industrial Automation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Smart grids.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5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600"/>
              <a:buFont typeface="Arial"/>
              <a:buNone/>
            </a:pPr>
            <a:r>
              <a:rPr lang="en-US" sz="3600" b="1" i="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Difference between IoT and M2M</a:t>
            </a:r>
            <a:endParaRPr/>
          </a:p>
        </p:txBody>
      </p:sp>
      <p:sp>
        <p:nvSpPr>
          <p:cNvPr id="194" name="Google Shape;194;p15"/>
          <p:cNvSpPr txBox="1">
            <a:spLocks noGrp="1"/>
          </p:cNvSpPr>
          <p:nvPr>
            <p:ph type="body" idx="1"/>
          </p:nvPr>
        </p:nvSpPr>
        <p:spPr>
          <a:xfrm>
            <a:off x="247973" y="1332853"/>
            <a:ext cx="8438827" cy="52074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1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Communication Protocols</a:t>
            </a:r>
            <a:endParaRPr dirty="0"/>
          </a:p>
          <a:p>
            <a:pPr marL="342900" marR="0" lvl="0" indent="-342900" algn="just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 b="0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M2M and </a:t>
            </a:r>
            <a:r>
              <a:rPr lang="en-US" sz="2000" b="0" i="0" u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IoT</a:t>
            </a:r>
            <a:r>
              <a:rPr lang="en-US" sz="2000" b="0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can differ in how the communication between the machines or devices happens.</a:t>
            </a:r>
            <a:endParaRPr dirty="0"/>
          </a:p>
          <a:p>
            <a:pPr marL="342900" marR="0" lvl="0" indent="-342900" algn="just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 b="0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M2M uses either proprietary or non-IP based communication protocols for communication within the M2M area networks.</a:t>
            </a:r>
            <a:endParaRPr dirty="0"/>
          </a:p>
          <a:p>
            <a:pPr marL="342900" marR="0" lvl="0" indent="-342900" algn="just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1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Machines in M2M </a:t>
            </a:r>
            <a:r>
              <a:rPr lang="en-US" sz="2000" b="1" i="0" u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vs</a:t>
            </a:r>
            <a:r>
              <a:rPr lang="en-US" sz="2000" b="1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Things in </a:t>
            </a:r>
            <a:r>
              <a:rPr lang="en-US" sz="2000" b="1" i="0" u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IoT</a:t>
            </a:r>
            <a:endParaRPr dirty="0"/>
          </a:p>
          <a:p>
            <a:pPr marL="342900" marR="0" lvl="0" indent="-342900" algn="just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 b="0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"Things" in </a:t>
            </a:r>
            <a:r>
              <a:rPr lang="en-US" sz="2000" b="0" i="0" u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IoT</a:t>
            </a:r>
            <a:r>
              <a:rPr lang="en-US" sz="2000" b="0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refers to physical objects </a:t>
            </a:r>
            <a:r>
              <a:rPr lang="en-US" sz="2000" dirty="0">
                <a:latin typeface="Arial"/>
                <a:ea typeface="Arial"/>
                <a:cs typeface="Arial"/>
                <a:sym typeface="Arial"/>
              </a:rPr>
              <a:t>having</a:t>
            </a:r>
            <a:r>
              <a:rPr lang="en-US" sz="2000" b="0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unique identifiers (IP/ MAC address) that can sense and communicate with user applications or their internal physical states.</a:t>
            </a:r>
          </a:p>
          <a:p>
            <a:pPr marL="342900" marR="0" lvl="0" indent="-342900" algn="just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 dirty="0">
                <a:latin typeface="Arial"/>
                <a:cs typeface="Arial"/>
                <a:sym typeface="Arial"/>
              </a:rPr>
              <a:t>IOT systems have heterogeneous things( E.g., a home automation IOT system include various types of IOT devices, fire alarm, door alarm, lighting control devices.)</a:t>
            </a:r>
            <a:endParaRPr dirty="0"/>
          </a:p>
          <a:p>
            <a:pPr marL="342900" marR="0" lvl="0" indent="-342900" algn="just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 b="0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M2M systems, in contrast to </a:t>
            </a:r>
            <a:r>
              <a:rPr lang="en-US" sz="2000" b="0" i="0" u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IoT</a:t>
            </a:r>
            <a:r>
              <a:rPr lang="en-US" sz="2000" b="0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typically have homogeneous machine types within an M2M area network.</a:t>
            </a:r>
            <a:endParaRPr dirty="0"/>
          </a:p>
          <a:p>
            <a:pPr marL="342900" marR="0" lvl="0" indent="-215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endParaRPr sz="2000" b="0" i="0" u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6"/>
          <p:cNvSpPr txBox="1">
            <a:spLocks noGrp="1"/>
          </p:cNvSpPr>
          <p:nvPr>
            <p:ph type="title"/>
          </p:nvPr>
        </p:nvSpPr>
        <p:spPr>
          <a:xfrm>
            <a:off x="457200" y="-714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200"/>
              <a:buFont typeface="Arial"/>
              <a:buNone/>
            </a:pPr>
            <a:r>
              <a:rPr lang="en-US" sz="3200" b="1" i="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Difference between IoT and M2M</a:t>
            </a:r>
            <a:endParaRPr/>
          </a:p>
        </p:txBody>
      </p:sp>
      <p:sp>
        <p:nvSpPr>
          <p:cNvPr id="200" name="Google Shape;200;p16"/>
          <p:cNvSpPr txBox="1">
            <a:spLocks noGrp="1"/>
          </p:cNvSpPr>
          <p:nvPr>
            <p:ph type="body" idx="1"/>
          </p:nvPr>
        </p:nvSpPr>
        <p:spPr>
          <a:xfrm>
            <a:off x="457200" y="976393"/>
            <a:ext cx="8229600" cy="54089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1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Hardware </a:t>
            </a:r>
            <a:r>
              <a:rPr lang="en-US" sz="1800" b="1" i="0" u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vs</a:t>
            </a:r>
            <a:r>
              <a:rPr lang="en-US" sz="1800" b="1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Software Emphasis</a:t>
            </a:r>
            <a:endParaRPr dirty="0"/>
          </a:p>
          <a:p>
            <a:pPr marL="342900" marR="0" lvl="0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b="0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While the emphasis of M2M is more on hardware with embedded modules, the emphasis of </a:t>
            </a:r>
            <a:r>
              <a:rPr lang="en-US" sz="1800" b="0" i="0" u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IoT</a:t>
            </a:r>
            <a:r>
              <a:rPr lang="en-US" sz="1800" b="0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is more on software.</a:t>
            </a:r>
          </a:p>
          <a:p>
            <a:pPr marL="342900" marR="0" lvl="0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dirty="0" err="1">
                <a:latin typeface="Arial"/>
                <a:cs typeface="Arial"/>
                <a:sym typeface="Arial"/>
              </a:rPr>
              <a:t>IoT</a:t>
            </a:r>
            <a:r>
              <a:rPr lang="en-US" sz="1800" dirty="0">
                <a:latin typeface="Arial"/>
                <a:cs typeface="Arial"/>
                <a:sym typeface="Arial"/>
              </a:rPr>
              <a:t> system run specialized software for sensor data collection, data analysis and interfacing with cloud through IP-based communication.</a:t>
            </a:r>
            <a:endParaRPr dirty="0"/>
          </a:p>
          <a:p>
            <a:pPr marL="342900" marR="0" lvl="0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1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 Collection &amp; Analysis</a:t>
            </a:r>
            <a:endParaRPr dirty="0"/>
          </a:p>
          <a:p>
            <a:pPr marL="342900" marR="0" lvl="0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b="0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M2M data is collected in point solutions and often in on-premises storage</a:t>
            </a:r>
            <a:endParaRPr dirty="0"/>
          </a:p>
          <a:p>
            <a:pPr marL="342900" marR="0" lvl="0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infrastructure.</a:t>
            </a:r>
            <a:endParaRPr dirty="0"/>
          </a:p>
          <a:p>
            <a:pPr marL="342900" marR="0" lvl="0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b="0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In contrast to M2M, the data in </a:t>
            </a:r>
            <a:r>
              <a:rPr lang="en-US" sz="1800" b="0" i="0" u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IoT</a:t>
            </a:r>
            <a:r>
              <a:rPr lang="en-US" sz="1800" b="0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is collected in the cloud (can be public, private or hybrid cloud).</a:t>
            </a:r>
            <a:endParaRPr dirty="0"/>
          </a:p>
          <a:p>
            <a:pPr marL="342900" marR="0" lvl="0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 b="1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Applications</a:t>
            </a:r>
            <a:endParaRPr dirty="0"/>
          </a:p>
          <a:p>
            <a:pPr marL="342900" marR="0" lvl="0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b="0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M2M data is collected in point solutions and can be accessed by on-premises applications such as diagnosis applications, service management applications, and on premises enterprise applications.</a:t>
            </a:r>
            <a:endParaRPr dirty="0"/>
          </a:p>
          <a:p>
            <a:pPr marL="342900" marR="0" lvl="0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b="0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 b="0" i="0" u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IoT</a:t>
            </a:r>
            <a:r>
              <a:rPr lang="en-US" sz="1800" b="0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data is collected in the cloud and can be accessed by cloud applications</a:t>
            </a:r>
            <a:endParaRPr dirty="0"/>
          </a:p>
          <a:p>
            <a:pPr marL="342900" marR="0" lvl="0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0" i="0" u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7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200"/>
              <a:buFont typeface="Arial"/>
              <a:buNone/>
            </a:pPr>
            <a:r>
              <a:rPr lang="en-US" sz="3200" b="1" i="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Communication in IoT vs M2M</a:t>
            </a:r>
            <a:endParaRPr/>
          </a:p>
        </p:txBody>
      </p:sp>
      <p:sp>
        <p:nvSpPr>
          <p:cNvPr id="206" name="Google Shape;206;p17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1397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7" name="Google Shape;207;p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" y="1587500"/>
            <a:ext cx="9029700" cy="3683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D11E9A-4601-0F82-75C9-AEB06820DB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Overview of the Architecture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43FDFC-CA24-930F-2574-1E16972337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846136"/>
            <a:ext cx="8229600" cy="5188903"/>
          </a:xfrm>
        </p:spPr>
        <p:txBody>
          <a:bodyPr/>
          <a:lstStyle/>
          <a:p>
            <a:pPr marL="114300" indent="0">
              <a:buNone/>
            </a:pPr>
            <a:r>
              <a:rPr lang="en-US" dirty="0"/>
              <a:t>Layered communication model for IoT</a:t>
            </a:r>
          </a:p>
          <a:p>
            <a:pPr marL="114300" indent="0">
              <a:buNone/>
            </a:pPr>
            <a:r>
              <a:rPr lang="en-US" dirty="0"/>
              <a:t>Based on Internet protocol stack</a:t>
            </a:r>
          </a:p>
          <a:p>
            <a:pPr marL="114300" indent="0">
              <a:buNone/>
            </a:pPr>
            <a:r>
              <a:rPr lang="en-US" dirty="0"/>
              <a:t>It Shows 4 layers </a:t>
            </a:r>
          </a:p>
          <a:p>
            <a:pPr marL="571500" lvl="1" indent="0">
              <a:buNone/>
            </a:pPr>
            <a:r>
              <a:rPr lang="en-US" dirty="0"/>
              <a:t>1.Application Layer</a:t>
            </a:r>
          </a:p>
          <a:p>
            <a:pPr marL="571500" lvl="1" indent="0">
              <a:buNone/>
            </a:pPr>
            <a:r>
              <a:rPr lang="en-US" dirty="0"/>
              <a:t>2.Transport Layer</a:t>
            </a:r>
          </a:p>
          <a:p>
            <a:pPr marL="571500" lvl="1" indent="0">
              <a:buNone/>
            </a:pPr>
            <a:r>
              <a:rPr lang="en-US" dirty="0"/>
              <a:t>3.Network Layer</a:t>
            </a:r>
          </a:p>
          <a:p>
            <a:pPr marL="571500" lvl="1" indent="0">
              <a:buNone/>
            </a:pPr>
            <a:r>
              <a:rPr lang="en-US" dirty="0"/>
              <a:t>4.Link Layer</a:t>
            </a:r>
          </a:p>
          <a:p>
            <a:pPr marL="114300" indent="0">
              <a:buNone/>
            </a:pPr>
            <a:r>
              <a:rPr lang="en-US" dirty="0"/>
              <a:t>It Compares IoT (Internet-based) and M2M (Point-to-point)</a:t>
            </a:r>
          </a:p>
        </p:txBody>
      </p:sp>
    </p:spTree>
    <p:extLst>
      <p:ext uri="{BB962C8B-B14F-4D97-AF65-F5344CB8AC3E}">
        <p14:creationId xmlns:p14="http://schemas.microsoft.com/office/powerpoint/2010/main" val="130464189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CC3258-5C49-B68B-5488-67B04EF410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IoT Communication Stack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B04C88-86BA-7685-A915-E13417AAE9A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>
              <a:lnSpc>
                <a:spcPct val="150000"/>
              </a:lnSpc>
              <a:buNone/>
            </a:pPr>
            <a:r>
              <a:rPr lang="en-US" dirty="0"/>
              <a:t>1.Application Layer – Data meaning &amp; messaging</a:t>
            </a:r>
          </a:p>
          <a:p>
            <a:pPr marL="114300" indent="0">
              <a:lnSpc>
                <a:spcPct val="150000"/>
              </a:lnSpc>
              <a:buNone/>
            </a:pPr>
            <a:r>
              <a:rPr lang="en-US" dirty="0"/>
              <a:t>2.Transport Layer – End-to-end delivery</a:t>
            </a:r>
          </a:p>
          <a:p>
            <a:pPr marL="114300" indent="0">
              <a:lnSpc>
                <a:spcPct val="150000"/>
              </a:lnSpc>
              <a:buNone/>
            </a:pPr>
            <a:r>
              <a:rPr lang="en-US" dirty="0"/>
              <a:t>3.Network Layer – Addressing &amp; routing</a:t>
            </a:r>
          </a:p>
          <a:p>
            <a:pPr marL="114300" indent="0">
              <a:lnSpc>
                <a:spcPct val="150000"/>
              </a:lnSpc>
              <a:buNone/>
            </a:pPr>
            <a:r>
              <a:rPr lang="en-US" dirty="0"/>
              <a:t>4.Link Layer – Physical transmission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013035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98F4B4-8C72-4658-A73C-D889D17725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Application Layer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D25020-0DCD-3CF7-860B-3E547C652F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166019"/>
            <a:ext cx="8229600" cy="4525962"/>
          </a:xfrm>
        </p:spPr>
        <p:txBody>
          <a:bodyPr/>
          <a:lstStyle/>
          <a:p>
            <a:pPr marL="114300" indent="0">
              <a:buNone/>
            </a:pPr>
            <a:r>
              <a:rPr lang="en-US" dirty="0"/>
              <a:t>It defines how devices and applications communicate. The protocols are </a:t>
            </a:r>
          </a:p>
          <a:p>
            <a:pPr marL="114300" indent="0">
              <a:buNone/>
            </a:pPr>
            <a:r>
              <a:rPr lang="en-US" dirty="0"/>
              <a:t>HTTP – Web-based communication</a:t>
            </a:r>
          </a:p>
          <a:p>
            <a:pPr marL="114300" indent="0">
              <a:buNone/>
            </a:pPr>
            <a:r>
              <a:rPr lang="en-US" dirty="0"/>
              <a:t>CoAP – Lightweight REST for IoT</a:t>
            </a:r>
          </a:p>
          <a:p>
            <a:pPr marL="114300" indent="0">
              <a:buNone/>
            </a:pPr>
            <a:r>
              <a:rPr lang="en-US" dirty="0" err="1"/>
              <a:t>WebSockets</a:t>
            </a:r>
            <a:r>
              <a:rPr lang="en-US" dirty="0"/>
              <a:t> – Real-time communication</a:t>
            </a:r>
          </a:p>
          <a:p>
            <a:pPr marL="114300" indent="0">
              <a:buNone/>
            </a:pPr>
            <a:r>
              <a:rPr lang="en-US" dirty="0"/>
              <a:t>MQTT – Publish/Subscribe protocol</a:t>
            </a:r>
          </a:p>
          <a:p>
            <a:pPr marL="114300" indent="0">
              <a:buNone/>
            </a:pPr>
            <a:r>
              <a:rPr lang="en-US" dirty="0"/>
              <a:t>XMPP – Messaging protocol</a:t>
            </a:r>
          </a:p>
          <a:p>
            <a:pPr marL="114300" indent="0">
              <a:buNone/>
            </a:pPr>
            <a:r>
              <a:rPr lang="en-US" dirty="0"/>
              <a:t>DDS – Real-time industrial systems</a:t>
            </a:r>
          </a:p>
          <a:p>
            <a:pPr marL="114300" indent="0">
              <a:buNone/>
            </a:pPr>
            <a:r>
              <a:rPr lang="en-US" dirty="0"/>
              <a:t>AMQP – Enterprise message queuing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13892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BCB268-D57D-CAC5-96AA-6A5C240D82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Application Layer Models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34E130-3C9B-B739-03DD-200E5464D4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166019"/>
            <a:ext cx="8229600" cy="4525962"/>
          </a:xfrm>
        </p:spPr>
        <p:txBody>
          <a:bodyPr/>
          <a:lstStyle/>
          <a:p>
            <a:pPr marL="114300" indent="0">
              <a:buNone/>
            </a:pPr>
            <a:r>
              <a:rPr lang="en-US" b="1" dirty="0"/>
              <a:t>Communication Models</a:t>
            </a:r>
          </a:p>
          <a:p>
            <a:pPr marL="114300" indent="0">
              <a:buNone/>
            </a:pPr>
            <a:r>
              <a:rPr lang="en-US" b="1" dirty="0"/>
              <a:t>1. Request/Response</a:t>
            </a:r>
          </a:p>
          <a:p>
            <a:pPr marL="114300" indent="0">
              <a:buNone/>
            </a:pPr>
            <a:r>
              <a:rPr lang="en-US" dirty="0"/>
              <a:t>Example: HTTP</a:t>
            </a:r>
          </a:p>
          <a:p>
            <a:pPr marL="114300" indent="0">
              <a:buNone/>
            </a:pPr>
            <a:r>
              <a:rPr lang="en-US" dirty="0"/>
              <a:t>Client sends request, server responds</a:t>
            </a:r>
          </a:p>
          <a:p>
            <a:pPr marL="114300" indent="0">
              <a:buNone/>
            </a:pPr>
            <a:r>
              <a:rPr lang="en-US" b="1" dirty="0"/>
              <a:t>2. Publish/Subscribe</a:t>
            </a:r>
          </a:p>
          <a:p>
            <a:pPr marL="114300" indent="0">
              <a:buNone/>
            </a:pPr>
            <a:r>
              <a:rPr lang="en-US" dirty="0"/>
              <a:t>Example: MQTT</a:t>
            </a:r>
          </a:p>
          <a:p>
            <a:pPr marL="114300" indent="0">
              <a:buNone/>
            </a:pPr>
            <a:r>
              <a:rPr lang="en-US" dirty="0"/>
              <a:t>Devices publish data to a broker</a:t>
            </a:r>
          </a:p>
          <a:p>
            <a:pPr marL="114300" indent="0">
              <a:buNone/>
            </a:pPr>
            <a:r>
              <a:rPr lang="en-US" dirty="0"/>
              <a:t>Subscribers receive updates</a:t>
            </a:r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r>
              <a:rPr lang="en-US" b="1" dirty="0"/>
              <a:t>IoT commonly uses Publish/Subscribe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261213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8A6408-7E8F-472B-B57E-7769DEE543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Transport Layer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AC3DA9-A07E-3FA8-DC5A-C88326DEFA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>
              <a:buNone/>
            </a:pPr>
            <a:r>
              <a:rPr lang="en-US" dirty="0"/>
              <a:t>It Ensures end-to-end data delivery.</a:t>
            </a:r>
          </a:p>
          <a:p>
            <a:pPr marL="114300" indent="0">
              <a:buNone/>
            </a:pPr>
            <a:r>
              <a:rPr lang="en-US" b="1" dirty="0"/>
              <a:t>The Protocols are TCP and UDP</a:t>
            </a:r>
          </a:p>
          <a:p>
            <a:pPr marL="114300" indent="0">
              <a:buNone/>
            </a:pPr>
            <a:endParaRPr lang="en-US" dirty="0"/>
          </a:p>
          <a:p>
            <a:r>
              <a:rPr lang="en-US" dirty="0"/>
              <a:t>TCP is Reliable, Ordered delivery and Error checking</a:t>
            </a:r>
          </a:p>
          <a:p>
            <a:endParaRPr lang="en-US" dirty="0"/>
          </a:p>
          <a:p>
            <a:r>
              <a:rPr lang="en-US" dirty="0"/>
              <a:t>UDP is Faster, Lightweight and No delivery guarantee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448053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28ACD4-AAD7-2EC6-78FA-05290D7F60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TCP vs UDP in IoT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B4AAB3-256D-984F-4F82-8D051DD404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47B715C-8538-27BC-4DA2-AAEE92EE715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6827579"/>
              </p:ext>
            </p:extLst>
          </p:nvPr>
        </p:nvGraphicFramePr>
        <p:xfrm>
          <a:off x="457200" y="1600200"/>
          <a:ext cx="8229600" cy="3309425"/>
        </p:xfrm>
        <a:graphic>
          <a:graphicData uri="http://schemas.openxmlformats.org/drawingml/2006/table">
            <a:tbl>
              <a:tblPr>
                <a:tableStyleId>{125E5076-3810-47DD-B79F-674D7AD40C01}</a:tableStyleId>
              </a:tblPr>
              <a:tblGrid>
                <a:gridCol w="4114800">
                  <a:extLst>
                    <a:ext uri="{9D8B030D-6E8A-4147-A177-3AD203B41FA5}">
                      <a16:colId xmlns:a16="http://schemas.microsoft.com/office/drawing/2014/main" val="865062237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3662433938"/>
                    </a:ext>
                  </a:extLst>
                </a:gridCol>
              </a:tblGrid>
              <a:tr h="66188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/>
                        <a:t>TCP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dirty="0"/>
                        <a:t>UDP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54416956"/>
                  </a:ext>
                </a:extLst>
              </a:tr>
              <a:tr h="66188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Reliable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Fast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62954468"/>
                  </a:ext>
                </a:extLst>
              </a:tr>
              <a:tr h="66188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Connection-oriented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Connectionless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48235764"/>
                  </a:ext>
                </a:extLst>
              </a:tr>
              <a:tr h="66188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Used by MQTT, HTTP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Used by CoAP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2800276"/>
                  </a:ext>
                </a:extLst>
              </a:tr>
              <a:tr h="66188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Higher overhead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Low overhead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748298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0157826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0CFFD4-73C2-AB4C-1177-447239F1BF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Network Layer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D9D6F3-EF1A-6139-05AD-0A8848ACA6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It handles addressing and routing.</a:t>
            </a:r>
          </a:p>
          <a:p>
            <a:pPr marL="114300" indent="0">
              <a:buNone/>
            </a:pPr>
            <a:r>
              <a:rPr lang="en-US" b="1" dirty="0"/>
              <a:t>The Technologies are </a:t>
            </a:r>
          </a:p>
          <a:p>
            <a:r>
              <a:rPr lang="en-US" dirty="0"/>
              <a:t>IPv4 – Traditional internet protocol</a:t>
            </a:r>
          </a:p>
          <a:p>
            <a:endParaRPr lang="en-US" dirty="0"/>
          </a:p>
          <a:p>
            <a:r>
              <a:rPr lang="en-US" dirty="0"/>
              <a:t>IPv6 – Large address space</a:t>
            </a:r>
          </a:p>
          <a:p>
            <a:endParaRPr lang="en-US" dirty="0"/>
          </a:p>
          <a:p>
            <a:r>
              <a:rPr lang="en-US" dirty="0"/>
              <a:t>6LoWPAN – IPv6 for low-power devices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790117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C577C3-ACC9-2E5C-BE3E-5D0F30323D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Why IPv6 is Important for IoT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ECD3DC-B2E4-0A57-4A21-1CA67173AE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>
              <a:buNone/>
            </a:pPr>
            <a:r>
              <a:rPr lang="en-US" dirty="0"/>
              <a:t>Billions of IoT devices require unique IP addresses</a:t>
            </a:r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r>
              <a:rPr lang="en-US" dirty="0"/>
              <a:t>IPv4 address space is limited</a:t>
            </a:r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r>
              <a:rPr lang="en-US" dirty="0"/>
              <a:t> IPv6 provides:</a:t>
            </a:r>
          </a:p>
          <a:p>
            <a:pPr lvl="1"/>
            <a:r>
              <a:rPr lang="en-US" dirty="0"/>
              <a:t>Massive address capacity</a:t>
            </a:r>
          </a:p>
          <a:p>
            <a:pPr lvl="1"/>
            <a:r>
              <a:rPr lang="en-US" dirty="0"/>
              <a:t>Better scalability</a:t>
            </a:r>
          </a:p>
          <a:p>
            <a:pPr lvl="1"/>
            <a:r>
              <a:rPr lang="en-US" dirty="0"/>
              <a:t>Future-proof infrastructure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203360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590660-76D8-19B9-08DB-331FF0F308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Link Layer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AA968F-0572-F9B9-EC4F-42F047E65E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>
              <a:buNone/>
            </a:pPr>
            <a:r>
              <a:rPr lang="en-US" dirty="0"/>
              <a:t>Actual physical data transmission.</a:t>
            </a:r>
          </a:p>
          <a:p>
            <a:pPr marL="114300" indent="0">
              <a:buNone/>
            </a:pPr>
            <a:r>
              <a:rPr lang="en-US" b="1" dirty="0"/>
              <a:t>Technologies:</a:t>
            </a:r>
          </a:p>
          <a:p>
            <a:r>
              <a:rPr lang="en-US" dirty="0"/>
              <a:t>Ethernet (802.3) – Wired</a:t>
            </a:r>
          </a:p>
          <a:p>
            <a:r>
              <a:rPr lang="en-US" dirty="0"/>
              <a:t>Wi-Fi (802.11) – Wireless LAN</a:t>
            </a:r>
          </a:p>
          <a:p>
            <a:r>
              <a:rPr lang="en-US" dirty="0"/>
              <a:t>802.15.4 – Low-power IoT networks</a:t>
            </a:r>
          </a:p>
          <a:p>
            <a:r>
              <a:rPr lang="en-US" dirty="0"/>
              <a:t>WiMAX (802.16)</a:t>
            </a:r>
          </a:p>
          <a:p>
            <a:r>
              <a:rPr lang="en-US" dirty="0"/>
              <a:t>Cellular (2G/3G/LTE)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230270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6DCD4B-6F57-4333-1CC1-EFF8BF0637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IoT vs M2M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8925E0-D301-0D39-78F1-99261FF579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>
              <a:buNone/>
            </a:pPr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0034990-0C08-59F7-9B7A-2885CAF452D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47518265"/>
              </p:ext>
            </p:extLst>
          </p:nvPr>
        </p:nvGraphicFramePr>
        <p:xfrm>
          <a:off x="457200" y="2341525"/>
          <a:ext cx="8229600" cy="2624370"/>
        </p:xfrm>
        <a:graphic>
          <a:graphicData uri="http://schemas.openxmlformats.org/drawingml/2006/table">
            <a:tbl>
              <a:tblPr>
                <a:tableStyleId>{125E5076-3810-47DD-B79F-674D7AD40C01}</a:tableStyleId>
              </a:tblPr>
              <a:tblGrid>
                <a:gridCol w="4114800">
                  <a:extLst>
                    <a:ext uri="{9D8B030D-6E8A-4147-A177-3AD203B41FA5}">
                      <a16:colId xmlns:a16="http://schemas.microsoft.com/office/drawing/2014/main" val="3764707566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3253917849"/>
                    </a:ext>
                  </a:extLst>
                </a:gridCol>
              </a:tblGrid>
              <a:tr h="52487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dirty="0"/>
                        <a:t>IoT</a:t>
                      </a:r>
                      <a:endParaRPr lang="en-US" sz="1800" b="1" dirty="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dirty="0"/>
                        <a:t>M2M</a:t>
                      </a:r>
                      <a:endParaRPr lang="en-US" sz="1800" b="1" dirty="0">
                        <a:latin typeface="+mn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40189216"/>
                  </a:ext>
                </a:extLst>
              </a:tr>
              <a:tr h="52487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Internet-based</a:t>
                      </a:r>
                      <a:endParaRPr lang="en-US" sz="1800" dirty="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Direct communication</a:t>
                      </a:r>
                      <a:endParaRPr lang="en-US" sz="1800">
                        <a:latin typeface="+mn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69675113"/>
                  </a:ext>
                </a:extLst>
              </a:tr>
              <a:tr h="52487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Cloud-enabled</a:t>
                      </a:r>
                      <a:endParaRPr lang="en-US" sz="1800" dirty="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Standalone systems</a:t>
                      </a:r>
                      <a:endParaRPr lang="en-US" sz="1800">
                        <a:latin typeface="+mn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35884609"/>
                  </a:ext>
                </a:extLst>
              </a:tr>
              <a:tr h="52487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Uses standard protocols</a:t>
                      </a:r>
                      <a:endParaRPr lang="en-US" sz="1800" dirty="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Often proprietary</a:t>
                      </a:r>
                      <a:endParaRPr lang="en-US" sz="1800">
                        <a:latin typeface="+mn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1892146"/>
                  </a:ext>
                </a:extLst>
              </a:tr>
              <a:tr h="52487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Highly scalable</a:t>
                      </a:r>
                      <a:endParaRPr lang="en-US" sz="1800" dirty="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Limited scalability</a:t>
                      </a:r>
                      <a:endParaRPr lang="en-US" sz="1800" dirty="0">
                        <a:latin typeface="+mn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1493325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6614918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D80479-6472-E55A-D4F8-0A1AC05ECE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US" b="1" dirty="0"/>
            </a:br>
            <a:r>
              <a:rPr lang="en-US" b="1" dirty="0"/>
              <a:t> Smart Temperature Sensor</a:t>
            </a:r>
            <a:br>
              <a:rPr lang="en-US" b="1" dirty="0"/>
            </a:br>
            <a:r>
              <a:rPr lang="en-US" b="1" dirty="0"/>
              <a:t>Layer Mapping Example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55997B-43B5-B579-1714-03FAD5ABC3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r>
              <a:rPr lang="en-US" dirty="0"/>
              <a:t>Data Flow:</a:t>
            </a:r>
            <a:br>
              <a:rPr lang="en-US" dirty="0"/>
            </a:br>
            <a:r>
              <a:rPr lang="en-US" dirty="0"/>
              <a:t>Sensor → Wi-Fi → IP Network → TCP → MQTT → Cloud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285D00F5-6F35-30F9-8BEC-7462612884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07865291"/>
              </p:ext>
            </p:extLst>
          </p:nvPr>
        </p:nvGraphicFramePr>
        <p:xfrm>
          <a:off x="710419" y="2186781"/>
          <a:ext cx="7617656" cy="2343015"/>
        </p:xfrm>
        <a:graphic>
          <a:graphicData uri="http://schemas.openxmlformats.org/drawingml/2006/table">
            <a:tbl>
              <a:tblPr>
                <a:tableStyleId>{125E5076-3810-47DD-B79F-674D7AD40C01}</a:tableStyleId>
              </a:tblPr>
              <a:tblGrid>
                <a:gridCol w="3808828">
                  <a:extLst>
                    <a:ext uri="{9D8B030D-6E8A-4147-A177-3AD203B41FA5}">
                      <a16:colId xmlns:a16="http://schemas.microsoft.com/office/drawing/2014/main" val="1665316843"/>
                    </a:ext>
                  </a:extLst>
                </a:gridCol>
                <a:gridCol w="3808828">
                  <a:extLst>
                    <a:ext uri="{9D8B030D-6E8A-4147-A177-3AD203B41FA5}">
                      <a16:colId xmlns:a16="http://schemas.microsoft.com/office/drawing/2014/main" val="1753699591"/>
                    </a:ext>
                  </a:extLst>
                </a:gridCol>
              </a:tblGrid>
              <a:tr h="46860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/>
                        <a:t>Layer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Example Used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89810456"/>
                  </a:ext>
                </a:extLst>
              </a:tr>
              <a:tr h="46860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/>
                        <a:t>Application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MQTT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49496693"/>
                  </a:ext>
                </a:extLst>
              </a:tr>
              <a:tr h="46860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/>
                        <a:t>Transport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TCP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09132068"/>
                  </a:ext>
                </a:extLst>
              </a:tr>
              <a:tr h="46860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/>
                        <a:t>Network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IPv6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36257302"/>
                  </a:ext>
                </a:extLst>
              </a:tr>
              <a:tr h="46860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Link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/>
                        <a:t>Wi-Fi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4684229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4384571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C77BA3-9B3A-07DA-408D-C9F7632FD7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US" b="1" dirty="0"/>
            </a:br>
            <a:r>
              <a:rPr lang="en-US" b="1" dirty="0"/>
              <a:t>Benefits of IoT Layered Architecture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9F9501-3590-B0C0-8A8D-853576965B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Interoperability</a:t>
            </a:r>
          </a:p>
          <a:p>
            <a:r>
              <a:rPr lang="en-US" dirty="0"/>
              <a:t>Scalability</a:t>
            </a:r>
          </a:p>
          <a:p>
            <a:r>
              <a:rPr lang="en-US" dirty="0"/>
              <a:t>Flexibility</a:t>
            </a:r>
          </a:p>
          <a:p>
            <a:r>
              <a:rPr lang="en-US" dirty="0"/>
              <a:t>Cloud integration</a:t>
            </a:r>
          </a:p>
          <a:p>
            <a:r>
              <a:rPr lang="en-US" dirty="0"/>
              <a:t>Standardization</a:t>
            </a:r>
          </a:p>
          <a:p>
            <a:r>
              <a:rPr lang="en-US" dirty="0"/>
              <a:t>Supports billions of devices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66287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E757FA-425A-3F72-F6C8-FA64A4CCF4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Overall Idea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A0AB5E-1D57-EF76-A11C-99E0A70D06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IoT uses a layered IP-based architecture</a:t>
            </a:r>
          </a:p>
          <a:p>
            <a:r>
              <a:rPr lang="en-US" dirty="0"/>
              <a:t>Application layer defines communication style</a:t>
            </a:r>
          </a:p>
          <a:p>
            <a:r>
              <a:rPr lang="en-US" dirty="0"/>
              <a:t>Transport layer ensures delivery</a:t>
            </a:r>
          </a:p>
          <a:p>
            <a:r>
              <a:rPr lang="en-US" dirty="0"/>
              <a:t>Network layer provides addressing</a:t>
            </a:r>
          </a:p>
          <a:p>
            <a:r>
              <a:rPr lang="en-US" dirty="0"/>
              <a:t>Link layer handles physical connectivity</a:t>
            </a:r>
          </a:p>
          <a:p>
            <a:r>
              <a:rPr lang="en-US" dirty="0"/>
              <a:t>IoT extends traditional M2M systems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349554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IoE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6" name="Picture 2" descr="IO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8250" y="1743868"/>
            <a:ext cx="6667500" cy="42386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0657439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16767270"/>
              </p:ext>
            </p:extLst>
          </p:nvPr>
        </p:nvGraphicFramePr>
        <p:xfrm>
          <a:off x="457200" y="1205344"/>
          <a:ext cx="8229600" cy="5783786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1271848117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903978619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153210169"/>
                    </a:ext>
                  </a:extLst>
                </a:gridCol>
              </a:tblGrid>
              <a:tr h="373804"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1" dirty="0">
                          <a:effectLst/>
                          <a:latin typeface="ApercuProRegular"/>
                        </a:rPr>
                        <a:t>M2M</a:t>
                      </a:r>
                    </a:p>
                  </a:txBody>
                  <a:tcPr marL="68575" marR="68575" marT="68575" marB="68575" anchor="b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1" dirty="0" err="1">
                          <a:effectLst/>
                          <a:latin typeface="ApercuProRegular"/>
                        </a:rPr>
                        <a:t>IoT</a:t>
                      </a:r>
                      <a:endParaRPr lang="en-US" sz="1800" b="1" dirty="0">
                        <a:effectLst/>
                        <a:latin typeface="ApercuProRegular"/>
                      </a:endParaRPr>
                    </a:p>
                  </a:txBody>
                  <a:tcPr marL="68575" marR="68575" marT="68575" marB="68575" anchor="b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1" dirty="0">
                          <a:effectLst/>
                          <a:latin typeface="ApercuProRegular"/>
                        </a:rPr>
                        <a:t>IoE</a:t>
                      </a:r>
                    </a:p>
                  </a:txBody>
                  <a:tcPr marL="68575" marR="68575" marT="68575" marB="68575" anchor="b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754607"/>
                  </a:ext>
                </a:extLst>
              </a:tr>
              <a:tr h="373804">
                <a:tc>
                  <a:txBody>
                    <a:bodyPr/>
                    <a:lstStyle/>
                    <a:p>
                      <a:pPr fontAlgn="t"/>
                      <a:r>
                        <a:rPr lang="en-US" sz="1600">
                          <a:effectLst/>
                          <a:latin typeface="ApercuProRegular"/>
                        </a:rPr>
                        <a:t>M2M is a subset of IOT</a:t>
                      </a:r>
                    </a:p>
                  </a:txBody>
                  <a:tcPr marL="68575" marR="68575" marT="68575" marB="68575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600">
                          <a:effectLst/>
                          <a:latin typeface="ApercuProRegular"/>
                        </a:rPr>
                        <a:t>IoT is a superset of M2M</a:t>
                      </a:r>
                    </a:p>
                  </a:txBody>
                  <a:tcPr marL="68575" marR="68575" marT="68575" marB="68575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600">
                          <a:effectLst/>
                          <a:latin typeface="ApercuProRegular"/>
                        </a:rPr>
                        <a:t>IoE is superset of IoT</a:t>
                      </a:r>
                    </a:p>
                  </a:txBody>
                  <a:tcPr marL="68575" marR="68575" marT="68575" marB="68575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0231226"/>
                  </a:ext>
                </a:extLst>
              </a:tr>
              <a:tr h="3024494">
                <a:tc>
                  <a:txBody>
                    <a:bodyPr/>
                    <a:lstStyle/>
                    <a:p>
                      <a:pPr fontAlgn="base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>
                          <a:effectLst/>
                          <a:latin typeface="ApercuProRegular"/>
                        </a:rPr>
                        <a:t>M2M encompasses three key components such </a:t>
                      </a:r>
                      <a:r>
                        <a:rPr lang="en-US" sz="1600" dirty="0" err="1">
                          <a:effectLst/>
                          <a:latin typeface="ApercuProRegular"/>
                        </a:rPr>
                        <a:t>asDevices</a:t>
                      </a:r>
                      <a:r>
                        <a:rPr lang="en-US" sz="1600" dirty="0">
                          <a:effectLst/>
                          <a:latin typeface="ApercuProRegular"/>
                        </a:rPr>
                        <a:t> that generate or receive data from other devices</a:t>
                      </a:r>
                    </a:p>
                    <a:p>
                      <a:pPr fontAlgn="base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>
                          <a:effectLst/>
                          <a:latin typeface="ApercuProRegular"/>
                        </a:rPr>
                        <a:t>Communication for efficient data transfer between devices and gateways</a:t>
                      </a:r>
                    </a:p>
                    <a:p>
                      <a:pPr fontAlgn="base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>
                          <a:effectLst/>
                          <a:latin typeface="ApercuProRegular"/>
                        </a:rPr>
                        <a:t>An application designed to meet the needs of end users</a:t>
                      </a:r>
                    </a:p>
                  </a:txBody>
                  <a:tcPr marL="68575" marR="68575" marT="68575" marB="68575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base">
                        <a:buFont typeface="Arial" panose="020B0604020202020204" pitchFamily="34" charset="0"/>
                        <a:buChar char="•"/>
                      </a:pPr>
                      <a:r>
                        <a:rPr lang="en-US" sz="1600">
                          <a:effectLst/>
                          <a:latin typeface="ApercuProRegular"/>
                        </a:rPr>
                        <a:t>IOT encompasses four key components such asA sensor or device used to generate or receive data from another device</a:t>
                      </a:r>
                    </a:p>
                    <a:p>
                      <a:pPr fontAlgn="base">
                        <a:buFont typeface="Arial" panose="020B0604020202020204" pitchFamily="34" charset="0"/>
                        <a:buChar char="•"/>
                      </a:pPr>
                      <a:r>
                        <a:rPr lang="en-US" sz="1600">
                          <a:effectLst/>
                          <a:latin typeface="ApercuProRegular"/>
                        </a:rPr>
                        <a:t>Communication for transferring of data to internet or between devices</a:t>
                      </a:r>
                    </a:p>
                    <a:p>
                      <a:pPr fontAlgn="base">
                        <a:buFont typeface="Arial" panose="020B0604020202020204" pitchFamily="34" charset="0"/>
                        <a:buChar char="•"/>
                      </a:pPr>
                      <a:r>
                        <a:rPr lang="en-US" sz="1600">
                          <a:effectLst/>
                          <a:latin typeface="ApercuProRegular"/>
                        </a:rPr>
                        <a:t>Storage services, for efficient storage of data into database or to cloud</a:t>
                      </a:r>
                    </a:p>
                    <a:p>
                      <a:pPr fontAlgn="base">
                        <a:buFont typeface="Arial" panose="020B0604020202020204" pitchFamily="34" charset="0"/>
                        <a:buChar char="•"/>
                      </a:pPr>
                      <a:r>
                        <a:rPr lang="en-US" sz="1600">
                          <a:effectLst/>
                          <a:latin typeface="ApercuProRegular"/>
                        </a:rPr>
                        <a:t>Application to provide intended service</a:t>
                      </a:r>
                    </a:p>
                  </a:txBody>
                  <a:tcPr marL="68575" marR="68575" marT="68575" marB="68575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600">
                          <a:effectLst/>
                          <a:latin typeface="ApercuProRegular"/>
                        </a:rPr>
                        <a:t>IoE consists of four key components such as people, things, data, and processes</a:t>
                      </a:r>
                    </a:p>
                  </a:txBody>
                  <a:tcPr marL="68575" marR="68575" marT="68575" marB="68575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5777613"/>
                  </a:ext>
                </a:extLst>
              </a:tr>
              <a:tr h="815586">
                <a:tc>
                  <a:txBody>
                    <a:bodyPr/>
                    <a:lstStyle/>
                    <a:p>
                      <a:pPr fontAlgn="t"/>
                      <a:r>
                        <a:rPr lang="en-US" sz="1600">
                          <a:effectLst/>
                          <a:latin typeface="ApercuProRegular"/>
                        </a:rPr>
                        <a:t>Point to point communication exists between the devices</a:t>
                      </a:r>
                    </a:p>
                  </a:txBody>
                  <a:tcPr marL="68575" marR="68575" marT="68575" marB="68575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600">
                          <a:effectLst/>
                          <a:latin typeface="ApercuProRegular"/>
                        </a:rPr>
                        <a:t>IP network exists between devices, by integrating various communication protocols</a:t>
                      </a:r>
                    </a:p>
                  </a:txBody>
                  <a:tcPr marL="68575" marR="68575" marT="68575" marB="68575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600">
                          <a:effectLst/>
                          <a:latin typeface="ApercuProRegular"/>
                        </a:rPr>
                        <a:t>IoE is a network connection of people, data and things</a:t>
                      </a:r>
                    </a:p>
                  </a:txBody>
                  <a:tcPr marL="68575" marR="68575" marT="68575" marB="68575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1304333"/>
                  </a:ext>
                </a:extLst>
              </a:tr>
              <a:tr h="815586">
                <a:tc>
                  <a:txBody>
                    <a:bodyPr/>
                    <a:lstStyle/>
                    <a:p>
                      <a:pPr fontAlgn="t"/>
                      <a:r>
                        <a:rPr lang="en-US" sz="1600">
                          <a:effectLst/>
                          <a:latin typeface="ApercuProRegular"/>
                        </a:rPr>
                        <a:t>M2M communication may exist without the internet</a:t>
                      </a:r>
                    </a:p>
                  </a:txBody>
                  <a:tcPr marL="68575" marR="68575" marT="68575" marB="68575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600">
                          <a:effectLst/>
                          <a:latin typeface="ApercuProRegular"/>
                        </a:rPr>
                        <a:t>Devices in IoT require an active internet in most of the cases</a:t>
                      </a:r>
                    </a:p>
                  </a:txBody>
                  <a:tcPr marL="68575" marR="68575" marT="68575" marB="68575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600" dirty="0">
                          <a:effectLst/>
                          <a:latin typeface="ApercuProRegular"/>
                        </a:rPr>
                        <a:t>Devices and their application require active internet</a:t>
                      </a:r>
                    </a:p>
                  </a:txBody>
                  <a:tcPr marL="68575" marR="68575" marT="68575" marB="68575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07450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717125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97</TotalTime>
  <Words>1198</Words>
  <Application>Microsoft Office PowerPoint</Application>
  <PresentationFormat>On-screen Show (4:3)</PresentationFormat>
  <Paragraphs>205</Paragraphs>
  <Slides>29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4" baseType="lpstr">
      <vt:lpstr>ApercuProRegular</vt:lpstr>
      <vt:lpstr>Arial</vt:lpstr>
      <vt:lpstr>Calibri</vt:lpstr>
      <vt:lpstr>Times New Roman</vt:lpstr>
      <vt:lpstr>Office Theme</vt:lpstr>
      <vt:lpstr>    DEPARTMENT OF INFORMATION TECHNOLOGY  </vt:lpstr>
      <vt:lpstr>PowerPoint Presentation</vt:lpstr>
      <vt:lpstr>Machine-to-Machine (M2M)</vt:lpstr>
      <vt:lpstr>Machine-to-Machine (M2M)</vt:lpstr>
      <vt:lpstr>Machine-to-Machine (M2M)</vt:lpstr>
      <vt:lpstr>PowerPoint Presentation</vt:lpstr>
      <vt:lpstr>Block Diagram</vt:lpstr>
      <vt:lpstr>PowerPoint Presentation</vt:lpstr>
      <vt:lpstr>M2M gateway</vt:lpstr>
      <vt:lpstr>M2M gateway</vt:lpstr>
      <vt:lpstr>M2M Application Domain</vt:lpstr>
      <vt:lpstr>Difference between IoT and M2M</vt:lpstr>
      <vt:lpstr>Difference between IoT and M2M</vt:lpstr>
      <vt:lpstr>Communication in IoT vs M2M</vt:lpstr>
      <vt:lpstr>Overview of the Architecture </vt:lpstr>
      <vt:lpstr>IoT Communication Stack </vt:lpstr>
      <vt:lpstr>Application Layer </vt:lpstr>
      <vt:lpstr>Application Layer Models </vt:lpstr>
      <vt:lpstr>Transport Layer </vt:lpstr>
      <vt:lpstr>TCP vs UDP in IoT</vt:lpstr>
      <vt:lpstr>Network Layer </vt:lpstr>
      <vt:lpstr>Why IPv6 is Important for IoT </vt:lpstr>
      <vt:lpstr>Link Layer </vt:lpstr>
      <vt:lpstr>IoT vs M2M</vt:lpstr>
      <vt:lpstr>  Smart Temperature Sensor Layer Mapping Example </vt:lpstr>
      <vt:lpstr> Benefits of IoT Layered Architecture </vt:lpstr>
      <vt:lpstr>Overall Idea </vt:lpstr>
      <vt:lpstr>IoE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   DEPARTMENT OF INFORMATION TECHNOLOGY  </dc:title>
  <dc:creator>karthick</dc:creator>
  <cp:lastModifiedBy>Sarath</cp:lastModifiedBy>
  <cp:revision>7</cp:revision>
  <dcterms:created xsi:type="dcterms:W3CDTF">2019-07-26T03:43:39Z</dcterms:created>
  <dcterms:modified xsi:type="dcterms:W3CDTF">2026-02-23T00:42:00Z</dcterms:modified>
</cp:coreProperties>
</file>