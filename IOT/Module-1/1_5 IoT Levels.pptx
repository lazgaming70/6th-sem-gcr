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  <p:sldMasterId id="2147483658" r:id="rId3"/>
    <p:sldMasterId id="2147483660" r:id="rId4"/>
    <p:sldMasterId id="2147483662" r:id="rId5"/>
    <p:sldMasterId id="2147483664" r:id="rId6"/>
  </p:sldMasterIdLst>
  <p:notesMasterIdLst>
    <p:notesMasterId r:id="rId44"/>
  </p:notesMasterIdLst>
  <p:sldIdLst>
    <p:sldId id="256" r:id="rId7"/>
    <p:sldId id="257" r:id="rId8"/>
    <p:sldId id="283" r:id="rId9"/>
    <p:sldId id="284" r:id="rId10"/>
    <p:sldId id="285" r:id="rId11"/>
    <p:sldId id="288" r:id="rId12"/>
    <p:sldId id="258" r:id="rId13"/>
    <p:sldId id="289" r:id="rId14"/>
    <p:sldId id="259" r:id="rId15"/>
    <p:sldId id="260" r:id="rId16"/>
    <p:sldId id="261" r:id="rId17"/>
    <p:sldId id="262" r:id="rId18"/>
    <p:sldId id="263" r:id="rId19"/>
    <p:sldId id="290" r:id="rId20"/>
    <p:sldId id="264" r:id="rId21"/>
    <p:sldId id="265" r:id="rId22"/>
    <p:sldId id="266" r:id="rId23"/>
    <p:sldId id="267" r:id="rId24"/>
    <p:sldId id="268" r:id="rId25"/>
    <p:sldId id="294" r:id="rId26"/>
    <p:sldId id="269" r:id="rId27"/>
    <p:sldId id="270" r:id="rId28"/>
    <p:sldId id="271" r:id="rId29"/>
    <p:sldId id="272" r:id="rId30"/>
    <p:sldId id="295" r:id="rId31"/>
    <p:sldId id="273" r:id="rId32"/>
    <p:sldId id="274" r:id="rId33"/>
    <p:sldId id="296" r:id="rId34"/>
    <p:sldId id="275" r:id="rId35"/>
    <p:sldId id="276" r:id="rId36"/>
    <p:sldId id="277" r:id="rId37"/>
    <p:sldId id="297" r:id="rId38"/>
    <p:sldId id="278" r:id="rId39"/>
    <p:sldId id="279" r:id="rId40"/>
    <p:sldId id="280" r:id="rId41"/>
    <p:sldId id="298" r:id="rId42"/>
    <p:sldId id="282" r:id="rId43"/>
  </p:sldIdLst>
  <p:sldSz cx="9144000" cy="6858000" type="screen4x3"/>
  <p:notesSz cx="7315200" cy="9601200"/>
  <p:embeddedFontLst>
    <p:embeddedFont>
      <p:font typeface="Cambria" panose="02040503050406030204" pitchFamily="18" charset="0"/>
      <p:regular r:id="rId45"/>
      <p:bold r:id="rId46"/>
      <p:italic r:id="rId47"/>
      <p:boldItalic r:id="rId48"/>
    </p:embeddedFont>
    <p:embeddedFont>
      <p:font typeface="Lato Hairline" panose="020B0604020202020204" charset="0"/>
      <p:regular r:id="rId49"/>
      <p:bold r:id="rId50"/>
      <p:italic r:id="rId51"/>
      <p:boldItalic r:id="rId52"/>
    </p:embeddedFont>
    <p:embeddedFont>
      <p:font typeface="Libre Baskerville" panose="02000000000000000000" pitchFamily="2" charset="0"/>
      <p:regular r:id="rId53"/>
      <p:bold r:id="rId54"/>
      <p:italic r:id="rId55"/>
    </p:embeddedFont>
    <p:embeddedFont>
      <p:font typeface="Libre Franklin" pitchFamily="2" charset="0"/>
      <p:regular r:id="rId56"/>
      <p:bold r:id="rId57"/>
      <p:italic r:id="rId58"/>
      <p:boldItalic r:id="rId59"/>
    </p:embeddedFont>
    <p:embeddedFont>
      <p:font typeface="Overlock" panose="020B0604020202020204" charset="0"/>
      <p:regular r:id="rId60"/>
      <p:bold r:id="rId61"/>
      <p:italic r:id="rId62"/>
      <p:boldItalic r:id="rId63"/>
    </p:embeddedFont>
    <p:embeddedFont>
      <p:font typeface="Tahoma" panose="020B0604030504040204" pitchFamily="34" charset="0"/>
      <p:regular r:id="rId64"/>
      <p:bold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hMFRbCZAcETrN6KBZXahfFeZd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font" Target="fonts/font3.fntdata"/><Relationship Id="rId63" Type="http://schemas.openxmlformats.org/officeDocument/2006/relationships/font" Target="fonts/font19.fntdata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17.fntdata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font" Target="fonts/font20.fntdata"/><Relationship Id="rId8" Type="http://schemas.openxmlformats.org/officeDocument/2006/relationships/slide" Target="slides/slide2.xml"/><Relationship Id="rId51" Type="http://schemas.openxmlformats.org/officeDocument/2006/relationships/font" Target="fonts/font7.fntdata"/><Relationship Id="rId72" Type="http://customschemas.google.com/relationships/presentationmetadata" Target="meta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font" Target="fonts/font21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2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 rot="5400000">
            <a:off x="4709477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1"/>
          </p:nvPr>
        </p:nvSpPr>
        <p:spPr>
          <a:xfrm rot="5400000">
            <a:off x="7699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2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body" idx="3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body" idx="4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7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body" idx="2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7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457200" y="1798633"/>
            <a:ext cx="55113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>
            <a:off x="457200" y="2992533"/>
            <a:ext cx="5511300" cy="3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×"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ibre Baskerville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ibre Baskerville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ibre Baskerville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ibre Baskerville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ibre Baskerville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sldNum" idx="12"/>
          </p:nvPr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9"/>
          <p:cNvSpPr txBox="1"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9"/>
          <p:cNvSpPr txBox="1"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1"/>
          <p:cNvSpPr txBox="1"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ftr" idx="11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>
            <a:spLocks noGrp="1"/>
          </p:cNvSpPr>
          <p:nvPr>
            <p:ph type="sldNum" idx="12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3"/>
          <p:cNvSpPr txBox="1"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body" idx="2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3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3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"/>
          <p:cNvSpPr txBox="1"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5"/>
          <p:cNvSpPr txBox="1">
            <a:spLocks noGrp="1"/>
          </p:cNvSpPr>
          <p:nvPr>
            <p:ph type="body" idx="1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marL="914400" lvl="1" indent="-29336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825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850"/>
              <a:buChar char="⚫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720"/>
              <a:buChar char="⚫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5"/>
          <p:cNvSpPr>
            <a:spLocks noGrp="1"/>
          </p:cNvSpPr>
          <p:nvPr>
            <p:ph type="pic" idx="2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45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5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5"/>
          <p:cNvSpPr>
            <a:spLocks noGrp="1"/>
          </p:cNvSpPr>
          <p:nvPr>
            <p:ph type="sldNum" idx="12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28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" name="Google Shape;15;p28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" name="Google Shape;16;p28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" name="Google Shape;62;p30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3" name="Google Shape;63;p30" descr="paint_transparent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0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8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Google Shape;73;p38"/>
          <p:cNvSpPr/>
          <p:nvPr/>
        </p:nvSpPr>
        <p:spPr>
          <a:xfrm>
            <a:off x="65087" y="69850"/>
            <a:ext cx="9013825" cy="6691312"/>
          </a:xfrm>
          <a:prstGeom prst="roundRect">
            <a:avLst>
              <a:gd name="adj" fmla="val 1065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38"/>
          <p:cNvSpPr txBox="1"/>
          <p:nvPr/>
        </p:nvSpPr>
        <p:spPr>
          <a:xfrm>
            <a:off x="63500" y="1449387"/>
            <a:ext cx="9020175" cy="152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" name="Google Shape;75;p38"/>
          <p:cNvSpPr txBox="1"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rgbClr val="E6B1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38"/>
          <p:cNvSpPr txBox="1"/>
          <p:nvPr/>
        </p:nvSpPr>
        <p:spPr>
          <a:xfrm>
            <a:off x="63500" y="2976562"/>
            <a:ext cx="9020175" cy="111125"/>
          </a:xfrm>
          <a:prstGeom prst="rect">
            <a:avLst/>
          </a:prstGeom>
          <a:solidFill>
            <a:srgbClr val="9184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" name="Google Shape;77;p38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1" name="Google Shape;81;p38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4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91" name="Google Shape;91;p40"/>
          <p:cNvSpPr txBox="1"/>
          <p:nvPr/>
        </p:nvSpPr>
        <p:spPr>
          <a:xfrm rot="10800000" flipH="1">
            <a:off x="69850" y="2376487"/>
            <a:ext cx="901382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" name="Google Shape;92;p40"/>
          <p:cNvSpPr txBox="1"/>
          <p:nvPr/>
        </p:nvSpPr>
        <p:spPr>
          <a:xfrm>
            <a:off x="69850" y="2341562"/>
            <a:ext cx="9013825" cy="46037"/>
          </a:xfrm>
          <a:prstGeom prst="rect">
            <a:avLst/>
          </a:prstGeom>
          <a:solidFill>
            <a:srgbClr val="E6B1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40"/>
          <p:cNvSpPr txBox="1"/>
          <p:nvPr/>
        </p:nvSpPr>
        <p:spPr>
          <a:xfrm>
            <a:off x="68262" y="2468562"/>
            <a:ext cx="9015412" cy="46037"/>
          </a:xfrm>
          <a:prstGeom prst="rect">
            <a:avLst/>
          </a:prstGeom>
          <a:solidFill>
            <a:srgbClr val="9184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4" name="Google Shape;94;p40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ftr" idx="11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8" name="Google Shape;98;p40"/>
          <p:cNvSpPr>
            <a:spLocks noGrp="1"/>
          </p:cNvSpPr>
          <p:nvPr>
            <p:ph type="sldNum" idx="12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p42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" name="Google Shape;108;p4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42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" name="Google Shape;110;p42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3" name="Google Shape;113;p42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4" name="Google Shape;114;p42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4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44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" name="Google Shape;125;p44"/>
          <p:cNvSpPr txBox="1"/>
          <p:nvPr/>
        </p:nvSpPr>
        <p:spPr>
          <a:xfrm rot="10800000" flipH="1">
            <a:off x="68262" y="4683125"/>
            <a:ext cx="900747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44"/>
          <p:cNvSpPr txBox="1"/>
          <p:nvPr/>
        </p:nvSpPr>
        <p:spPr>
          <a:xfrm>
            <a:off x="68262" y="4649787"/>
            <a:ext cx="9007475" cy="46037"/>
          </a:xfrm>
          <a:prstGeom prst="rect">
            <a:avLst/>
          </a:prstGeom>
          <a:solidFill>
            <a:srgbClr val="E6B1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44"/>
          <p:cNvSpPr txBox="1"/>
          <p:nvPr/>
        </p:nvSpPr>
        <p:spPr>
          <a:xfrm>
            <a:off x="68262" y="4773612"/>
            <a:ext cx="9007475" cy="47625"/>
          </a:xfrm>
          <a:prstGeom prst="rect">
            <a:avLst/>
          </a:prstGeom>
          <a:solidFill>
            <a:srgbClr val="9184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44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29" name="Google Shape;129;p44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30" name="Google Shape;130;p44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1" name="Google Shape;131;p44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2" name="Google Shape;132;p44"/>
          <p:cNvSpPr>
            <a:spLocks noGrp="1"/>
          </p:cNvSpPr>
          <p:nvPr>
            <p:ph type="sldNum" idx="12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400"/>
                <a:buFont typeface="Calibri"/>
                <a:buNone/>
              </a:p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 txBox="1">
            <a:spLocks noGrp="1"/>
          </p:cNvSpPr>
          <p:nvPr>
            <p:ph type="ctrTitle" idx="4294967295"/>
          </p:nvPr>
        </p:nvSpPr>
        <p:spPr>
          <a:xfrm>
            <a:off x="928687" y="1828800"/>
            <a:ext cx="7643812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imes New Roman"/>
              <a:buNone/>
            </a:pPr>
            <a:br>
              <a:rPr lang="en-US"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DEPARTMENT OF INFORMATION TECHNOLOGY</a:t>
            </a:r>
            <a:br>
              <a:rPr lang="en-US" sz="20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381000"/>
            <a:ext cx="8534400" cy="9763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"/>
          <p:cNvSpPr txBox="1"/>
          <p:nvPr/>
        </p:nvSpPr>
        <p:spPr>
          <a:xfrm>
            <a:off x="1214437" y="2786062"/>
            <a:ext cx="700087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Internet of Things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400"/>
                <a:buFont typeface="Calibri"/>
                <a:buNone/>
              </a:p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381000"/>
            <a:ext cx="8534400" cy="976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"/>
          <p:cNvSpPr txBox="1"/>
          <p:nvPr/>
        </p:nvSpPr>
        <p:spPr>
          <a:xfrm>
            <a:off x="1000125" y="1571625"/>
            <a:ext cx="700087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714375" y="3143250"/>
            <a:ext cx="764381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IoT Levels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Levels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960" y="1463040"/>
            <a:ext cx="8031480" cy="45720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various levels of IOT levels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system comprises of the following components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Device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Resource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Controller service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Database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Web Service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Analysis Component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Application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464" y="247972"/>
            <a:ext cx="8531817" cy="5647841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Device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 IOT device allows identification, remote sensing, actuating and remote monitoring capabilities</a:t>
            </a:r>
          </a:p>
          <a:p>
            <a:pPr marL="542925" lvl="1" indent="-449263" algn="just">
              <a:buFont typeface="Wingdings" pitchFamily="2" charset="2"/>
              <a:buChar char="q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542925" lvl="1" indent="-449263" algn="just">
              <a:buFont typeface="Wingdings" pitchFamily="2" charset="2"/>
              <a:buChar char="q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Resources-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Software components </a:t>
            </a:r>
          </a:p>
          <a:p>
            <a:pPr marL="1000125" lvl="2" indent="-449263" algn="just"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that access, process and store server information or controlling actuators connected to the device</a:t>
            </a:r>
          </a:p>
          <a:p>
            <a:pPr marL="1000125" lvl="2" indent="-449263" algn="just"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Enables network access for the device.</a:t>
            </a:r>
          </a:p>
          <a:p>
            <a:pPr marL="542925" indent="-449263" algn="just">
              <a:buFont typeface="Wingdings" pitchFamily="2" charset="2"/>
              <a:buChar char="q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42925" indent="-449263" algn="just">
              <a:buFont typeface="Wingdings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Controller Service</a:t>
            </a:r>
          </a:p>
          <a:p>
            <a:pPr marL="1000125" lvl="1" indent="-449263"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Basic service that runs on the IOT device and it interacts with the web services</a:t>
            </a:r>
          </a:p>
          <a:p>
            <a:pPr marL="1000125" lvl="1" indent="-449263"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Sends data to the web service from the device</a:t>
            </a:r>
          </a:p>
          <a:p>
            <a:pPr marL="1000125" lvl="1" indent="-449263"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Receives commands from the application ( via web services) for controlling the services.</a:t>
            </a:r>
          </a:p>
          <a:p>
            <a:pPr marL="1000125" lvl="2" indent="-449263" algn="just">
              <a:spcBef>
                <a:spcPts val="575"/>
              </a:spcBef>
              <a:buClr>
                <a:schemeClr val="accent1"/>
              </a:buClr>
              <a:buFont typeface="Wingdings" pitchFamily="2" charset="2"/>
              <a:buChar char="q"/>
            </a:pPr>
            <a:endParaRPr lang="en-US" sz="1600" dirty="0">
              <a:latin typeface="+mn-lt"/>
            </a:endParaRPr>
          </a:p>
          <a:p>
            <a:pPr marL="542925" lvl="2" indent="-449263" algn="just">
              <a:buFont typeface="Wingdings" pitchFamily="2" charset="2"/>
              <a:buChar char="q"/>
            </a:pPr>
            <a:endParaRPr lang="en-US" dirty="0"/>
          </a:p>
          <a:p>
            <a:pPr marL="542925" lvl="1" indent="-449263" algn="just">
              <a:buFont typeface="Wingdings" pitchFamily="2" charset="2"/>
              <a:buChar char="q"/>
            </a:pPr>
            <a:endParaRPr lang="en-US" dirty="0"/>
          </a:p>
          <a:p>
            <a:pPr marL="542925" lvl="1" indent="-449263" algn="just">
              <a:buFont typeface="Wingdings" pitchFamily="2" charset="2"/>
              <a:buChar char="q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3663" lvl="1" indent="355600">
              <a:buFont typeface="Wingdings" pitchFamily="2" charset="2"/>
              <a:buChar char="q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Can be either local or in cloud and stores the data generated by the device</a:t>
            </a: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Web service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Acts as a link between the IOT device , application, database and analysis components.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Implemented using HTTP and REST or Web Socket Protocol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728420"/>
            <a:ext cx="7772400" cy="5291380"/>
          </a:xfrm>
        </p:spPr>
        <p:txBody>
          <a:bodyPr/>
          <a:lstStyle/>
          <a:p>
            <a:pPr marL="449263" indent="-317500">
              <a:buFont typeface="Wingdings" pitchFamily="2" charset="2"/>
              <a:buChar char="q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Analysis Component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Responsible for analyzing the IOT data ad generate result in the form ease of use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Can be done either locally or in cloud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Results are stored locally or cloud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49263" lvl="1" indent="-325438">
              <a:buFont typeface="Wingdings" pitchFamily="2" charset="2"/>
              <a:buChar char="q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Application </a:t>
            </a:r>
          </a:p>
          <a:p>
            <a:pPr lvl="1">
              <a:buFontTx/>
              <a:buChar char="-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Interface that users use to control and monitor various aspects of IOT system</a:t>
            </a:r>
          </a:p>
          <a:p>
            <a:pPr lvl="1">
              <a:buFontTx/>
              <a:buChar char="-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Allows users to view the system states and view the processed data.</a:t>
            </a:r>
          </a:p>
          <a:p>
            <a:pPr lvl="1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title"/>
          </p:nvPr>
        </p:nvSpPr>
        <p:spPr>
          <a:xfrm>
            <a:off x="290432" y="0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600" b="0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36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Level 1</a:t>
            </a:r>
            <a:endParaRPr dirty="0"/>
          </a:p>
        </p:txBody>
      </p:sp>
      <p:sp>
        <p:nvSpPr>
          <p:cNvPr id="163" name="Google Shape;163;p3"/>
          <p:cNvSpPr txBox="1">
            <a:spLocks noGrp="1"/>
          </p:cNvSpPr>
          <p:nvPr>
            <p:ph type="body" idx="1"/>
          </p:nvPr>
        </p:nvSpPr>
        <p:spPr>
          <a:xfrm>
            <a:off x="-228600" y="1422400"/>
            <a:ext cx="6598920" cy="491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indent="-455612" algn="just">
              <a:lnSpc>
                <a:spcPct val="150000"/>
              </a:lnSpc>
              <a:spcBef>
                <a:spcPts val="0"/>
              </a:spcBef>
              <a:buSzPts val="200"/>
            </a:pPr>
            <a:r>
              <a:rPr lang="en-US" sz="20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It has a single node/device that performs sensing and/or actuation, stores data, </a:t>
            </a:r>
            <a:r>
              <a:rPr lang="en-US" sz="2000" b="1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performs analysis and hosts the application locally.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608012" indent="-455612" algn="just">
              <a:lnSpc>
                <a:spcPct val="150000"/>
              </a:lnSpc>
              <a:spcBef>
                <a:spcPts val="1200"/>
              </a:spcBef>
              <a:buSzPts val="200"/>
            </a:pPr>
            <a:r>
              <a:rPr lang="en-US" sz="20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Suited for modeling low-cost and low-complexity solutions where data involved is not big and analysis requirements are not computationally intensive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609570" lvl="0" indent="-34287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99" y="572662"/>
            <a:ext cx="6339841" cy="593919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Have one sensor/ device to sense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to be stored locally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Analysis to be done locally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Monitoring/ Control can be done through an application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 complexity as the data is not huge.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2187" y="261937"/>
            <a:ext cx="4619625" cy="63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457200" y="1814135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4000" b="0" i="0" u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IoT Level 1</a:t>
            </a:r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body" idx="1"/>
          </p:nvPr>
        </p:nvSpPr>
        <p:spPr>
          <a:xfrm>
            <a:off x="457200" y="2992437"/>
            <a:ext cx="5511800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800" b="1" i="0" u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Example:</a:t>
            </a:r>
            <a:endParaRPr dirty="0"/>
          </a:p>
          <a:p>
            <a:pPr marL="608012" lvl="0" indent="-4429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800" b="1" i="0" u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608012" lvl="0" indent="-45561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3600" b="1" i="0" u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“Home Automation”</a:t>
            </a:r>
            <a:endParaRPr dirty="0"/>
          </a:p>
        </p:txBody>
      </p:sp>
      <p:sp>
        <p:nvSpPr>
          <p:cNvPr id="178" name="Google Shape;178;p5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>
            <a:spLocks noGrp="1"/>
          </p:cNvSpPr>
          <p:nvPr>
            <p:ph type="title"/>
          </p:nvPr>
        </p:nvSpPr>
        <p:spPr>
          <a:xfrm>
            <a:off x="390525" y="-285750"/>
            <a:ext cx="5510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2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Home Automation</a:t>
            </a:r>
            <a:endParaRPr/>
          </a:p>
        </p:txBody>
      </p:sp>
      <p:sp>
        <p:nvSpPr>
          <p:cNvPr id="184" name="Google Shape;184;p6"/>
          <p:cNvSpPr txBox="1">
            <a:spLocks noGrp="1"/>
          </p:cNvSpPr>
          <p:nvPr>
            <p:ph type="body" idx="1"/>
          </p:nvPr>
        </p:nvSpPr>
        <p:spPr>
          <a:xfrm>
            <a:off x="0" y="663892"/>
            <a:ext cx="6416040" cy="471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6425" lvl="0" indent="-26988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Arial" pitchFamily="34" charset="0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 Single node allows controlling the lights and appliances in a home remotely.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Arial" pitchFamily="34" charset="0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 The device (super set of node) used in this system interfaces with the lights and appliances using </a:t>
            </a:r>
            <a:r>
              <a:rPr lang="en-US" sz="2400" b="1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electronic relay switches.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Arial" pitchFamily="34" charset="0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 Status information of each light / appliances is maintained in local database.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Arial" pitchFamily="34" charset="0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 REST services deployed </a:t>
            </a: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locally </a:t>
            </a:r>
            <a:r>
              <a:rPr lang="en-US" sz="2400" b="1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allow retrieving and updating </a:t>
            </a: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the state of each light in status database.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608012" lvl="0" indent="-4429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70" lvl="0" indent="-34287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>
            <a:spLocks noGrp="1"/>
          </p:cNvSpPr>
          <p:nvPr>
            <p:ph type="title"/>
          </p:nvPr>
        </p:nvSpPr>
        <p:spPr>
          <a:xfrm>
            <a:off x="390525" y="277812"/>
            <a:ext cx="5510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2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Home Automation</a:t>
            </a:r>
            <a:endParaRPr/>
          </a:p>
        </p:txBody>
      </p:sp>
      <p:sp>
        <p:nvSpPr>
          <p:cNvPr id="191" name="Google Shape;191;p7"/>
          <p:cNvSpPr txBox="1">
            <a:spLocks noGrp="1"/>
          </p:cNvSpPr>
          <p:nvPr>
            <p:ph type="body" idx="1"/>
          </p:nvPr>
        </p:nvSpPr>
        <p:spPr>
          <a:xfrm>
            <a:off x="0" y="1368742"/>
            <a:ext cx="6205538" cy="471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6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-&gt;Controller service monitors the state of each light and triggers the relay switches accordingly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6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-&gt;Application deployed locally has a user interface for controlling lights.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608012" lvl="0" indent="-455612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6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-&gt;Since the device is be connected to Internet, the application can be accessed remotely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609570" lvl="0" indent="-34287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2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>
            <a:spLocks noGrp="1"/>
          </p:cNvSpPr>
          <p:nvPr>
            <p:ph type="title"/>
          </p:nvPr>
        </p:nvSpPr>
        <p:spPr>
          <a:xfrm>
            <a:off x="352425" y="392112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2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IoT Level 2</a:t>
            </a:r>
            <a:endParaRPr/>
          </a:p>
        </p:txBody>
      </p:sp>
      <p:sp>
        <p:nvSpPr>
          <p:cNvPr id="198" name="Google Shape;198;p8"/>
          <p:cNvSpPr txBox="1">
            <a:spLocks noGrp="1"/>
          </p:cNvSpPr>
          <p:nvPr>
            <p:ph type="body" idx="1"/>
          </p:nvPr>
        </p:nvSpPr>
        <p:spPr>
          <a:xfrm>
            <a:off x="352425" y="1803400"/>
            <a:ext cx="6246495" cy="466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-&gt;Single node performs sensing, actuation and </a:t>
            </a: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analysis 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shown in fig.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-&gt;Data is stored in cloud and application is usually cloud-based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-&gt;Suited for solutions where data involved is big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-&gt;Analysis is not computationally intensive and can be done locally itself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325464"/>
            <a:ext cx="6222569" cy="6140669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Frequency of sensing done by sensor is faster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 data is huge, cloud storage is preferred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Analysis is done locally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Controlled/ monitored through an application.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9349" y="323850"/>
            <a:ext cx="5612001" cy="621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>
            <a:spLocks noGrp="1"/>
          </p:cNvSpPr>
          <p:nvPr>
            <p:ph type="title"/>
          </p:nvPr>
        </p:nvSpPr>
        <p:spPr>
          <a:xfrm>
            <a:off x="457200" y="1798637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4000" b="0" i="0" u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IoT Level 2</a:t>
            </a:r>
            <a:endParaRPr/>
          </a:p>
        </p:txBody>
      </p:sp>
      <p:sp>
        <p:nvSpPr>
          <p:cNvPr id="213" name="Google Shape;213;p10"/>
          <p:cNvSpPr txBox="1">
            <a:spLocks noGrp="1"/>
          </p:cNvSpPr>
          <p:nvPr>
            <p:ph type="body" idx="1"/>
          </p:nvPr>
        </p:nvSpPr>
        <p:spPr>
          <a:xfrm>
            <a:off x="457200" y="2992437"/>
            <a:ext cx="5511800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608012" lvl="0" indent="-4429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800" b="1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8012" lvl="0" indent="-45561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36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“Smart Irrigation”</a:t>
            </a:r>
            <a:endParaRPr/>
          </a:p>
        </p:txBody>
      </p:sp>
      <p:sp>
        <p:nvSpPr>
          <p:cNvPr id="214" name="Google Shape;214;p10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>
            <a:spLocks noGrp="1"/>
          </p:cNvSpPr>
          <p:nvPr>
            <p:ph type="title"/>
          </p:nvPr>
        </p:nvSpPr>
        <p:spPr>
          <a:xfrm>
            <a:off x="457200" y="-174625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Smart Irrigation</a:t>
            </a:r>
            <a:endParaRPr/>
          </a:p>
        </p:txBody>
      </p:sp>
      <p:sp>
        <p:nvSpPr>
          <p:cNvPr id="220" name="Google Shape;220;p11"/>
          <p:cNvSpPr txBox="1">
            <a:spLocks noGrp="1"/>
          </p:cNvSpPr>
          <p:nvPr>
            <p:ph type="body" idx="1"/>
          </p:nvPr>
        </p:nvSpPr>
        <p:spPr>
          <a:xfrm>
            <a:off x="457200" y="1155700"/>
            <a:ext cx="5730240" cy="531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-&gt;Single node monitors soil moisture level and controls irrigation system.</a:t>
            </a:r>
            <a:endParaRPr/>
          </a:p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-&gt;Device collects soil moisture data from sensors.</a:t>
            </a:r>
            <a:endParaRPr/>
          </a:p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-&gt;The Controller service continuously monitors moisture level.</a:t>
            </a:r>
            <a:endParaRPr/>
          </a:p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-&gt;If moisture level drops below a threshold, irrigation is turned on.</a:t>
            </a:r>
            <a:endParaRPr/>
          </a:p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-&gt;Actuators – Solenoid valves can be used</a:t>
            </a:r>
            <a:endParaRPr/>
          </a:p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-&gt;REST – for storing and retrieving moisture data which is stored in the cloud database.</a:t>
            </a:r>
            <a:endParaRPr/>
          </a:p>
          <a:p>
            <a:pPr marL="608012" lvl="0" indent="-4429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70" lvl="0" indent="-342878" algn="l" rtl="0"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 txBox="1">
            <a:spLocks noGrp="1"/>
          </p:cNvSpPr>
          <p:nvPr>
            <p:ph type="title"/>
          </p:nvPr>
        </p:nvSpPr>
        <p:spPr>
          <a:xfrm>
            <a:off x="457200" y="-174625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4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Smart Irrigation</a:t>
            </a:r>
            <a:endParaRPr/>
          </a:p>
        </p:txBody>
      </p:sp>
      <p:sp>
        <p:nvSpPr>
          <p:cNvPr id="227" name="Google Shape;227;p12"/>
          <p:cNvSpPr txBox="1">
            <a:spLocks noGrp="1"/>
          </p:cNvSpPr>
          <p:nvPr>
            <p:ph type="body" idx="1"/>
          </p:nvPr>
        </p:nvSpPr>
        <p:spPr>
          <a:xfrm>
            <a:off x="201479" y="1155700"/>
            <a:ext cx="6519362" cy="531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-&gt;Cloud-based app is used for visualizing the moisture levels over a period of time, which can help in making decisions about irrigation schedules</a:t>
            </a:r>
            <a:endParaRPr dirty="0"/>
          </a:p>
        </p:txBody>
      </p:sp>
      <p:sp>
        <p:nvSpPr>
          <p:cNvPr id="228" name="Google Shape;228;p12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>
            <a:spLocks noGrp="1"/>
          </p:cNvSpPr>
          <p:nvPr>
            <p:ph type="title"/>
          </p:nvPr>
        </p:nvSpPr>
        <p:spPr>
          <a:xfrm>
            <a:off x="352425" y="392112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IoT Level 3</a:t>
            </a:r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body" idx="1"/>
          </p:nvPr>
        </p:nvSpPr>
        <p:spPr>
          <a:xfrm>
            <a:off x="352425" y="1803400"/>
            <a:ext cx="6185535" cy="466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-&gt;It also has a single node.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-&gt;Data is stored &amp; 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analyzed in the cloud 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application is cloud-based.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-&gt;Suited where data involved is big and analysis requirements are computationally intensive.</a:t>
            </a:r>
            <a:endParaRPr/>
          </a:p>
        </p:txBody>
      </p:sp>
      <p:sp>
        <p:nvSpPr>
          <p:cNvPr id="235" name="Google Shape;235;p13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325464"/>
            <a:ext cx="6222569" cy="6140669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Frequency of sensing done by sensor is faster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 data is huge, cloud storage is preferred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Analysis is done in the cloud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Controlled/ monitored through an application.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>
            <a:spLocks noGrp="1"/>
          </p:cNvSpPr>
          <p:nvPr>
            <p:ph type="title"/>
          </p:nvPr>
        </p:nvSpPr>
        <p:spPr>
          <a:xfrm>
            <a:off x="457200" y="1798637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</a:pPr>
            <a:endParaRPr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sp>
        <p:nvSpPr>
          <p:cNvPr id="241" name="Google Shape;241;p14"/>
          <p:cNvSpPr txBox="1">
            <a:spLocks noGrp="1"/>
          </p:cNvSpPr>
          <p:nvPr>
            <p:ph type="body" idx="1"/>
          </p:nvPr>
        </p:nvSpPr>
        <p:spPr>
          <a:xfrm>
            <a:off x="457200" y="2992437"/>
            <a:ext cx="5511800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570" lvl="0" indent="-34287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0750" y="342900"/>
            <a:ext cx="4762500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>
            <a:spLocks noGrp="1"/>
          </p:cNvSpPr>
          <p:nvPr>
            <p:ph type="title"/>
          </p:nvPr>
        </p:nvSpPr>
        <p:spPr>
          <a:xfrm>
            <a:off x="457200" y="1357312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IoT Level 3</a:t>
            </a:r>
            <a:endParaRPr/>
          </a:p>
        </p:txBody>
      </p:sp>
      <p:sp>
        <p:nvSpPr>
          <p:cNvPr id="249" name="Google Shape;249;p15"/>
          <p:cNvSpPr txBox="1">
            <a:spLocks noGrp="1"/>
          </p:cNvSpPr>
          <p:nvPr>
            <p:ph type="body" idx="1"/>
          </p:nvPr>
        </p:nvSpPr>
        <p:spPr>
          <a:xfrm>
            <a:off x="457200" y="2992437"/>
            <a:ext cx="7472362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608012" lvl="0" indent="-4429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800" b="1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8012" lvl="0" indent="-45561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36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“Tracking Package Handling”</a:t>
            </a:r>
            <a:endParaRPr/>
          </a:p>
        </p:txBody>
      </p:sp>
      <p:sp>
        <p:nvSpPr>
          <p:cNvPr id="250" name="Google Shape;250;p15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>
            <a:spLocks noGrp="1"/>
          </p:cNvSpPr>
          <p:nvPr>
            <p:ph type="title"/>
          </p:nvPr>
        </p:nvSpPr>
        <p:spPr>
          <a:xfrm>
            <a:off x="457200" y="-233362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Tracking Package Handling</a:t>
            </a:r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body" idx="1"/>
          </p:nvPr>
        </p:nvSpPr>
        <p:spPr>
          <a:xfrm>
            <a:off x="214312" y="1109662"/>
            <a:ext cx="6476048" cy="331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-&gt;Node monitors the vibration levels for a package being shipped.</a:t>
            </a:r>
            <a:endParaRPr/>
          </a:p>
          <a:p>
            <a:pPr marL="608012" lvl="0" indent="-455612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-&gt;Device uses sensors for monitoring vibration levels.</a:t>
            </a:r>
            <a:endParaRPr/>
          </a:p>
          <a:p>
            <a:pPr marL="608012" lvl="0" indent="-455612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-&gt;Controller service sends sensor data to cloud in real-time using </a:t>
            </a:r>
            <a:r>
              <a:rPr lang="en-US" sz="20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service.</a:t>
            </a:r>
            <a:endParaRPr/>
          </a:p>
          <a:p>
            <a:pPr marL="608012" lvl="0" indent="-455612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-&gt;Data is stored in cloud and visualized using a cloud-based application.</a:t>
            </a:r>
            <a:endParaRPr/>
          </a:p>
          <a:p>
            <a:pPr marL="608012" lvl="0" indent="-455612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-&gt;Analysis components in the cloud can trigger alerts if vibration levels become greater than a threshold.</a:t>
            </a:r>
            <a:endParaRPr/>
          </a:p>
          <a:p>
            <a:pPr marL="608012" lvl="0" indent="-455612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en-US" sz="2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service can send the sensor data to the cloud in real-time.</a:t>
            </a:r>
            <a:endParaRPr/>
          </a:p>
          <a:p>
            <a:pPr marL="608012" lvl="0" indent="-455612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🞲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-&gt;Cloud-based apps can subscribe to sensor data feeds for viewing real-time data.</a:t>
            </a: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8012" lvl="0" indent="-442912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70" lvl="0" indent="-34287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>
            <a:spLocks noGrp="1"/>
          </p:cNvSpPr>
          <p:nvPr>
            <p:ph type="title"/>
          </p:nvPr>
        </p:nvSpPr>
        <p:spPr>
          <a:xfrm>
            <a:off x="306705" y="0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600" b="1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3600" b="1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Level 4</a:t>
            </a:r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body" idx="1"/>
          </p:nvPr>
        </p:nvSpPr>
        <p:spPr>
          <a:xfrm>
            <a:off x="0" y="1176020"/>
            <a:ext cx="6490335" cy="472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-&gt;It has multiple nodes that perform </a:t>
            </a: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analysis for various applications.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-&gt;Data is stored in cloud and application is cloud based.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-&gt;It has local &amp; cloud-based observer nodes which can subscribe to and receive information collected in the cloud.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-&gt;Observer nodes can process information and use it for various applications.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-&gt;Observer nodes do not perform any control functions.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325464"/>
            <a:ext cx="6222569" cy="6140669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Multiple nodes that performs analysis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storage and analysis can be done in cloud.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Local and cloud based observer nodes- that process the information and use it for various purposes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do not perform any control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>
            <a:spLocks noGrp="1"/>
          </p:cNvSpPr>
          <p:nvPr>
            <p:ph type="title"/>
          </p:nvPr>
        </p:nvSpPr>
        <p:spPr>
          <a:xfrm>
            <a:off x="457200" y="1798637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</a:pPr>
            <a:endParaRPr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sp>
        <p:nvSpPr>
          <p:cNvPr id="270" name="Google Shape;270;p18"/>
          <p:cNvSpPr txBox="1">
            <a:spLocks noGrp="1"/>
          </p:cNvSpPr>
          <p:nvPr>
            <p:ph type="body" idx="1"/>
          </p:nvPr>
        </p:nvSpPr>
        <p:spPr>
          <a:xfrm>
            <a:off x="457200" y="2992437"/>
            <a:ext cx="5511800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570" lvl="0" indent="-34287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4437" y="284162"/>
            <a:ext cx="6648450" cy="61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IoT Level 4</a:t>
            </a:r>
            <a:endParaRPr/>
          </a:p>
        </p:txBody>
      </p:sp>
      <p:sp>
        <p:nvSpPr>
          <p:cNvPr id="278" name="Google Shape;278;p19"/>
          <p:cNvSpPr txBox="1">
            <a:spLocks noGrp="1"/>
          </p:cNvSpPr>
          <p:nvPr>
            <p:ph type="body" idx="1"/>
          </p:nvPr>
        </p:nvSpPr>
        <p:spPr>
          <a:xfrm>
            <a:off x="457200" y="2992437"/>
            <a:ext cx="5511800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dirty="0"/>
          </a:p>
          <a:p>
            <a:pPr marL="608012" lvl="0" indent="-4429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400" b="1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8012" lvl="0" indent="-45561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“Noise Monitoring”</a:t>
            </a:r>
            <a:endParaRPr dirty="0"/>
          </a:p>
          <a:p>
            <a:pPr marL="608012" lvl="0" indent="-45561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79" name="Google Shape;279;p19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959" y="400686"/>
            <a:ext cx="5511300" cy="526113"/>
          </a:xfrm>
        </p:spPr>
        <p:txBody>
          <a:bodyPr/>
          <a:lstStyle/>
          <a:p>
            <a:r>
              <a:rPr lang="en-US" dirty="0"/>
              <a:t>Noise Monitoring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5364"/>
            <a:ext cx="6537960" cy="521077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consists of multiple nodes placed in different locations for monitoring noise levels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node is equipped with sound sensor and are independent to each other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Each node runs its own controller service to send the data to cloud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data is stored in cloud and analyzed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Application is used to visualize the data.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>
            <a:spLocks noGrp="1"/>
          </p:cNvSpPr>
          <p:nvPr>
            <p:ph type="title"/>
          </p:nvPr>
        </p:nvSpPr>
        <p:spPr>
          <a:xfrm>
            <a:off x="306705" y="209232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4000" b="0" i="0" u="none" dirty="0" err="1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IoT</a:t>
            </a:r>
            <a:r>
              <a:rPr lang="en-US" sz="4000" b="0" i="0" u="none" dirty="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 Level 5</a:t>
            </a:r>
            <a:endParaRPr/>
          </a:p>
        </p:txBody>
      </p:sp>
      <p:sp>
        <p:nvSpPr>
          <p:cNvPr id="285" name="Google Shape;285;p20"/>
          <p:cNvSpPr txBox="1">
            <a:spLocks noGrp="1"/>
          </p:cNvSpPr>
          <p:nvPr>
            <p:ph type="body" idx="1"/>
          </p:nvPr>
        </p:nvSpPr>
        <p:spPr>
          <a:xfrm>
            <a:off x="0" y="1160780"/>
            <a:ext cx="6078855" cy="472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-&gt;End nodes perform sensing and actuation.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-&gt;Coordinator nodes collects data from end nodes and sends to the cloud.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-&gt;Coordinator acts as a gateway that provides Internet connectivity to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IoT</a:t>
            </a: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system.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-&gt;Controller service on coordinator device sends collected data to cloud.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>
            <a:spLocks noGrp="1"/>
          </p:cNvSpPr>
          <p:nvPr>
            <p:ph type="title"/>
          </p:nvPr>
        </p:nvSpPr>
        <p:spPr>
          <a:xfrm>
            <a:off x="457200" y="1798637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</a:pPr>
            <a:endParaRPr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sp>
        <p:nvSpPr>
          <p:cNvPr id="292" name="Google Shape;292;p21"/>
          <p:cNvSpPr txBox="1">
            <a:spLocks noGrp="1"/>
          </p:cNvSpPr>
          <p:nvPr>
            <p:ph type="body" idx="1"/>
          </p:nvPr>
        </p:nvSpPr>
        <p:spPr>
          <a:xfrm>
            <a:off x="457200" y="2992437"/>
            <a:ext cx="5511800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570" lvl="0" indent="-34287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"/>
            <a:ext cx="7886700" cy="623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>
            <a:spLocks noGrp="1"/>
          </p:cNvSpPr>
          <p:nvPr>
            <p:ph type="title"/>
          </p:nvPr>
        </p:nvSpPr>
        <p:spPr>
          <a:xfrm>
            <a:off x="457200" y="1798637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32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IoT Level 5</a:t>
            </a:r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body" idx="1"/>
          </p:nvPr>
        </p:nvSpPr>
        <p:spPr>
          <a:xfrm>
            <a:off x="774700" y="2857500"/>
            <a:ext cx="5511800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8012" lvl="0" indent="-455612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2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dirty="0"/>
          </a:p>
          <a:p>
            <a:pPr marL="608012" lvl="0" indent="-442912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200" b="1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8012" lvl="0" indent="-455612" algn="ctr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2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“Forest Fire Detection”</a:t>
            </a:r>
            <a:endParaRPr dirty="0"/>
          </a:p>
        </p:txBody>
      </p:sp>
      <p:sp>
        <p:nvSpPr>
          <p:cNvPr id="301" name="Google Shape;301;p22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193" y="806742"/>
            <a:ext cx="5511300" cy="278139"/>
          </a:xfrm>
        </p:spPr>
        <p:txBody>
          <a:bodyPr/>
          <a:lstStyle/>
          <a:p>
            <a:r>
              <a:rPr lang="en-US" dirty="0"/>
              <a:t>Forest Fire Detection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053885"/>
            <a:ext cx="6583681" cy="5412249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Multiple nodes are placed in different locations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Monitor temperature, humidity and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carbondioxide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levels in forest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node is equipped with sensor (TEMP, HUMIDITY, CO2)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Coordinator node (gateway)collects the data from the end node.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Controller service on the coordinator device sends the collected data to the cloud.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data is stored and analyzed in cloud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Application is used to visualize the data.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>
            <a:spLocks noGrp="1"/>
          </p:cNvSpPr>
          <p:nvPr>
            <p:ph type="title"/>
          </p:nvPr>
        </p:nvSpPr>
        <p:spPr>
          <a:xfrm>
            <a:off x="352425" y="392112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4000" b="0" i="0" u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IoT Level 6</a:t>
            </a:r>
            <a:endParaRPr/>
          </a:p>
        </p:txBody>
      </p:sp>
      <p:sp>
        <p:nvSpPr>
          <p:cNvPr id="307" name="Google Shape;307;p23"/>
          <p:cNvSpPr txBox="1">
            <a:spLocks noGrp="1"/>
          </p:cNvSpPr>
          <p:nvPr>
            <p:ph type="body" idx="1"/>
          </p:nvPr>
        </p:nvSpPr>
        <p:spPr>
          <a:xfrm>
            <a:off x="0" y="1739900"/>
            <a:ext cx="7720012" cy="472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-&gt;Multiple independent end nodes perform sensing and actuation.</a:t>
            </a:r>
            <a:endParaRPr/>
          </a:p>
          <a:p>
            <a:pPr marL="608012" lvl="0" indent="-45561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-&gt;Centralized controller is aware of the status of all end nodes and sends control commands to the nodes.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457200" y="1798637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ato Hairline"/>
              <a:buNone/>
            </a:pPr>
            <a:endParaRPr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sp>
        <p:nvSpPr>
          <p:cNvPr id="314" name="Google Shape;314;p24"/>
          <p:cNvSpPr txBox="1">
            <a:spLocks noGrp="1"/>
          </p:cNvSpPr>
          <p:nvPr>
            <p:ph type="body" idx="1"/>
          </p:nvPr>
        </p:nvSpPr>
        <p:spPr>
          <a:xfrm>
            <a:off x="457200" y="2992437"/>
            <a:ext cx="5511800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570" lvl="0" indent="-342878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462" y="361950"/>
            <a:ext cx="7839075" cy="61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/>
          <p:cNvSpPr txBox="1">
            <a:spLocks noGrp="1"/>
          </p:cNvSpPr>
          <p:nvPr>
            <p:ph type="title"/>
          </p:nvPr>
        </p:nvSpPr>
        <p:spPr>
          <a:xfrm>
            <a:off x="457200" y="1071562"/>
            <a:ext cx="551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4000" b="0" i="0" u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IoT Level 6</a:t>
            </a:r>
            <a:endParaRPr/>
          </a:p>
        </p:txBody>
      </p:sp>
      <p:sp>
        <p:nvSpPr>
          <p:cNvPr id="322" name="Google Shape;322;p25"/>
          <p:cNvSpPr txBox="1">
            <a:spLocks noGrp="1"/>
          </p:cNvSpPr>
          <p:nvPr>
            <p:ph type="body" idx="1"/>
          </p:nvPr>
        </p:nvSpPr>
        <p:spPr>
          <a:xfrm>
            <a:off x="457200" y="2428875"/>
            <a:ext cx="7115175" cy="34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8012" lvl="0" indent="-455612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Char char="▪"/>
            </a:pPr>
            <a:r>
              <a:rPr lang="en-US" sz="24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dirty="0"/>
          </a:p>
          <a:p>
            <a:pPr marL="608012" lvl="0" indent="-442912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Noto Sans Symbols"/>
              <a:buNone/>
            </a:pPr>
            <a:endParaRPr sz="2400" b="1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8012" lvl="0" indent="-455612" algn="ctr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31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“Weather Monitoring System”</a:t>
            </a:r>
            <a:endParaRPr dirty="0"/>
          </a:p>
        </p:txBody>
      </p:sp>
      <p:sp>
        <p:nvSpPr>
          <p:cNvPr id="323" name="Google Shape;323;p25"/>
          <p:cNvSpPr txBox="1"/>
          <p:nvPr/>
        </p:nvSpPr>
        <p:spPr>
          <a:xfrm>
            <a:off x="8480425" y="6230937"/>
            <a:ext cx="549275" cy="52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Libre Franklin"/>
                <a:buNone/>
              </a:p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715" y="186809"/>
            <a:ext cx="7880887" cy="681096"/>
          </a:xfrm>
        </p:spPr>
        <p:txBody>
          <a:bodyPr/>
          <a:lstStyle/>
          <a:p>
            <a:r>
              <a:rPr lang="en-US" dirty="0"/>
              <a:t>Weather Monitoring System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115878"/>
            <a:ext cx="6424047" cy="5350255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Multiple nodes are placed in different locations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Monitor temperature, humidity and pressure sensor.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stored and analysis done in cloud to aggregate the data and make predictions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Cloud based application is used to visualize the data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7" descr="images (3)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8887" t="24474" r="16316" b="29131"/>
          <a:stretch/>
        </p:blipFill>
        <p:spPr>
          <a:xfrm>
            <a:off x="1409700" y="2124075"/>
            <a:ext cx="561022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1231</Words>
  <Application>Microsoft Office PowerPoint</Application>
  <PresentationFormat>On-screen Show (4:3)</PresentationFormat>
  <Paragraphs>189</Paragraphs>
  <Slides>37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37</vt:i4>
      </vt:variant>
    </vt:vector>
  </HeadingPairs>
  <TitlesOfParts>
    <vt:vector size="54" baseType="lpstr">
      <vt:lpstr>Cambria</vt:lpstr>
      <vt:lpstr>Libre Baskerville</vt:lpstr>
      <vt:lpstr>Arial</vt:lpstr>
      <vt:lpstr>Calibri</vt:lpstr>
      <vt:lpstr>Times New Roman</vt:lpstr>
      <vt:lpstr>Lato Hairline</vt:lpstr>
      <vt:lpstr>Noto Sans Symbols</vt:lpstr>
      <vt:lpstr>Wingdings</vt:lpstr>
      <vt:lpstr>Libre Franklin</vt:lpstr>
      <vt:lpstr>Tahoma</vt:lpstr>
      <vt:lpstr>Overlock</vt:lpstr>
      <vt:lpstr>Equity</vt:lpstr>
      <vt:lpstr>5_Equity</vt:lpstr>
      <vt:lpstr>1_Equity</vt:lpstr>
      <vt:lpstr>2_Equity</vt:lpstr>
      <vt:lpstr>3_Equity</vt:lpstr>
      <vt:lpstr>4_Equity</vt:lpstr>
      <vt:lpstr>    DEPARTMENT OF INFORMATION TECHNOLOGY  </vt:lpstr>
      <vt:lpstr>PowerPoint Presentation</vt:lpstr>
      <vt:lpstr>IOT Levels</vt:lpstr>
      <vt:lpstr>PowerPoint Presentation</vt:lpstr>
      <vt:lpstr>PowerPoint Presentation</vt:lpstr>
      <vt:lpstr>PowerPoint Presentation</vt:lpstr>
      <vt:lpstr>IoT Level 1</vt:lpstr>
      <vt:lpstr>PowerPoint Presentation</vt:lpstr>
      <vt:lpstr>PowerPoint Presentation</vt:lpstr>
      <vt:lpstr>IoT Level 1</vt:lpstr>
      <vt:lpstr>Home Automation</vt:lpstr>
      <vt:lpstr>Home Automation</vt:lpstr>
      <vt:lpstr>IoT Level 2</vt:lpstr>
      <vt:lpstr>PowerPoint Presentation</vt:lpstr>
      <vt:lpstr>PowerPoint Presentation</vt:lpstr>
      <vt:lpstr>IoT Level 2</vt:lpstr>
      <vt:lpstr>Smart Irrigation</vt:lpstr>
      <vt:lpstr>Smart Irrigation</vt:lpstr>
      <vt:lpstr>IoT Level 3</vt:lpstr>
      <vt:lpstr>PowerPoint Presentation</vt:lpstr>
      <vt:lpstr>PowerPoint Presentation</vt:lpstr>
      <vt:lpstr>IoT Level 3</vt:lpstr>
      <vt:lpstr>Tracking Package Handling</vt:lpstr>
      <vt:lpstr>IoT Level 4</vt:lpstr>
      <vt:lpstr>PowerPoint Presentation</vt:lpstr>
      <vt:lpstr>PowerPoint Presentation</vt:lpstr>
      <vt:lpstr>IoT Level 4</vt:lpstr>
      <vt:lpstr>Noise Monitoring</vt:lpstr>
      <vt:lpstr>IoT Level 5</vt:lpstr>
      <vt:lpstr>PowerPoint Presentation</vt:lpstr>
      <vt:lpstr>IoT Level 5</vt:lpstr>
      <vt:lpstr>Forest Fire Detection</vt:lpstr>
      <vt:lpstr>IoT Level 6</vt:lpstr>
      <vt:lpstr>PowerPoint Presentation</vt:lpstr>
      <vt:lpstr>IoT Level 6</vt:lpstr>
      <vt:lpstr>Weather Monitoring 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DEPARTMENT OF INFORMATION TECHNOLOGY  </dc:title>
  <dc:creator>Chaiporn Jaikaeo</dc:creator>
  <cp:lastModifiedBy>classicvani@gmail.com</cp:lastModifiedBy>
  <cp:revision>8</cp:revision>
  <dcterms:created xsi:type="dcterms:W3CDTF">2005-06-04T03:33:42Z</dcterms:created>
  <dcterms:modified xsi:type="dcterms:W3CDTF">2026-02-08T18:08:13Z</dcterms:modified>
</cp:coreProperties>
</file>