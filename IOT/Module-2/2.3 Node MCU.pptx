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0"/>
  </p:notesMasterIdLst>
  <p:sldIdLst>
    <p:sldId id="290" r:id="rId3"/>
    <p:sldId id="291" r:id="rId4"/>
    <p:sldId id="292" r:id="rId5"/>
    <p:sldId id="293" r:id="rId6"/>
    <p:sldId id="294" r:id="rId7"/>
    <p:sldId id="256" r:id="rId8"/>
    <p:sldId id="257" r:id="rId9"/>
    <p:sldId id="258" r:id="rId10"/>
    <p:sldId id="259" r:id="rId11"/>
    <p:sldId id="276" r:id="rId12"/>
    <p:sldId id="260" r:id="rId13"/>
    <p:sldId id="261" r:id="rId14"/>
    <p:sldId id="262" r:id="rId15"/>
    <p:sldId id="263" r:id="rId16"/>
    <p:sldId id="264" r:id="rId17"/>
    <p:sldId id="265" r:id="rId18"/>
    <p:sldId id="266" r:id="rId19"/>
    <p:sldId id="267" r:id="rId20"/>
    <p:sldId id="268" r:id="rId21"/>
    <p:sldId id="269" r:id="rId22"/>
    <p:sldId id="271" r:id="rId23"/>
    <p:sldId id="272" r:id="rId24"/>
    <p:sldId id="274" r:id="rId25"/>
    <p:sldId id="277" r:id="rId26"/>
    <p:sldId id="278" r:id="rId27"/>
    <p:sldId id="279" r:id="rId28"/>
    <p:sldId id="280" r:id="rId29"/>
    <p:sldId id="282" r:id="rId30"/>
    <p:sldId id="283" r:id="rId31"/>
    <p:sldId id="284" r:id="rId32"/>
    <p:sldId id="281" r:id="rId33"/>
    <p:sldId id="285" r:id="rId34"/>
    <p:sldId id="286" r:id="rId35"/>
    <p:sldId id="287" r:id="rId36"/>
    <p:sldId id="288" r:id="rId37"/>
    <p:sldId id="275" r:id="rId38"/>
    <p:sldId id="28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5" d="100"/>
          <a:sy n="75" d="100"/>
        </p:scale>
        <p:origin x="4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EF67D0-822A-402C-A8A9-23D85FB07861}" type="datetimeFigureOut">
              <a:rPr lang="en-US" smtClean="0"/>
              <a:t>7/21/2025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DA79C-7F4F-4DC3-9D9F-E93DECE6F055}" type="slidenum">
              <a:rPr lang="en-US" smtClean="0"/>
              <a:t>‹#›</a:t>
            </a:fld>
            <a:endParaRPr lang="en-US"/>
          </a:p>
        </p:txBody>
      </p:sp>
    </p:spTree>
    <p:extLst>
      <p:ext uri="{BB962C8B-B14F-4D97-AF65-F5344CB8AC3E}">
        <p14:creationId xmlns:p14="http://schemas.microsoft.com/office/powerpoint/2010/main" val="4111244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7DCCC2E-CCAD-4883-B923-EDB6F8F2C9A2}" type="slidenum">
              <a:rPr lang="en-IN" altLang="en-US" smtClean="0">
                <a:latin typeface="Calibri" panose="020F0502020204030204" pitchFamily="34" charset="0"/>
              </a:rPr>
              <a:pPr/>
              <a:t>5</a:t>
            </a:fld>
            <a:endParaRPr lang="en-IN" altLang="en-US" smtClean="0">
              <a:latin typeface="Calibri" panose="020F0502020204030204" pitchFamily="34" charset="0"/>
            </a:endParaRPr>
          </a:p>
        </p:txBody>
      </p:sp>
    </p:spTree>
    <p:extLst>
      <p:ext uri="{BB962C8B-B14F-4D97-AF65-F5344CB8AC3E}">
        <p14:creationId xmlns:p14="http://schemas.microsoft.com/office/powerpoint/2010/main" val="2701828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E565-5CEC-4214-BC4D-66CA245479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216117-5272-4BA5-83CE-26720C489B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105877-F4CE-46F5-922E-913968A4233D}"/>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5" name="Footer Placeholder 4">
            <a:extLst>
              <a:ext uri="{FF2B5EF4-FFF2-40B4-BE49-F238E27FC236}">
                <a16:creationId xmlns:a16="http://schemas.microsoft.com/office/drawing/2014/main" id="{2CA19C95-DA5E-48FE-A3EC-B2BACE2B1C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B63CFE-19AF-4227-B6FB-F06C43D21BFF}"/>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2225478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F2D9-C609-44C4-AC70-298B05FF50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CBEA05-D295-4690-934C-5447641B28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527F4E-28CE-41A4-B1E1-4F22B2A52FD8}"/>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5" name="Footer Placeholder 4">
            <a:extLst>
              <a:ext uri="{FF2B5EF4-FFF2-40B4-BE49-F238E27FC236}">
                <a16:creationId xmlns:a16="http://schemas.microsoft.com/office/drawing/2014/main" id="{7EF5AD80-ADE6-414E-8E1E-1CC8E4C917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F1863E-E36B-488D-B412-EAC11BCF9FCD}"/>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2675109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6F0F0-2C79-48E9-83A4-9F396396ED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68FB0D5-585E-46B1-BFDB-A0E1DF21B6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C0955FF-30FE-4511-B7B4-2DF8194480CF}"/>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5" name="Footer Placeholder 4">
            <a:extLst>
              <a:ext uri="{FF2B5EF4-FFF2-40B4-BE49-F238E27FC236}">
                <a16:creationId xmlns:a16="http://schemas.microsoft.com/office/drawing/2014/main" id="{D6B54915-C655-4574-A189-1C29B107C7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A07DE0-6778-4519-A207-E1A70831C41E}"/>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222807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F86B1-9135-4DC3-8201-4B78AF0E5B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FD5E3E-9003-4BF5-B919-E734700F1B8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4F040B-2B57-43A8-A948-7373B9EACAE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9ABB95-4DEF-4EC5-BEB8-3B4DC8B7CC6A}"/>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6" name="Footer Placeholder 5">
            <a:extLst>
              <a:ext uri="{FF2B5EF4-FFF2-40B4-BE49-F238E27FC236}">
                <a16:creationId xmlns:a16="http://schemas.microsoft.com/office/drawing/2014/main" id="{8C9C4DAA-8971-473B-B3CE-B6DA40D075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DBDF2C-276C-43E2-A778-F5CB041A6246}"/>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423361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F8C73-98C5-4D72-BFB1-6E87EEC9C3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DD0A12-7E26-48D0-ACBB-006A482B37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499DC83-E5A5-475A-B11B-D01FE234536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24022F-A2DB-4E82-B932-AAEDF23AF4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625C72-5A50-4E89-92FB-3CC08F6CDA7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D968C8-3AB9-4B3D-882E-A656D09B5843}"/>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8" name="Footer Placeholder 7">
            <a:extLst>
              <a:ext uri="{FF2B5EF4-FFF2-40B4-BE49-F238E27FC236}">
                <a16:creationId xmlns:a16="http://schemas.microsoft.com/office/drawing/2014/main" id="{5399085B-DD7D-416F-BB49-DDBD27AC0C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9DFFD9C-3CA5-4A30-9B34-B4A698AD97A9}"/>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1407318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E6D8-5124-4913-A04F-EAA3C10720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8D2DD2-801C-45EF-8893-358BA12E2715}"/>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4" name="Footer Placeholder 3">
            <a:extLst>
              <a:ext uri="{FF2B5EF4-FFF2-40B4-BE49-F238E27FC236}">
                <a16:creationId xmlns:a16="http://schemas.microsoft.com/office/drawing/2014/main" id="{587AA66E-D202-44DD-81AE-EA2A26F113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A165A9-5634-4F13-81BC-5EB327758391}"/>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3954104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89E036-2BC7-4B53-81B2-6FA7E6651DF4}"/>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3" name="Footer Placeholder 2">
            <a:extLst>
              <a:ext uri="{FF2B5EF4-FFF2-40B4-BE49-F238E27FC236}">
                <a16:creationId xmlns:a16="http://schemas.microsoft.com/office/drawing/2014/main" id="{AEF5437B-02BC-42F4-876F-2164BCFE23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AC499B-DC4A-4161-A6B9-01C124B084A5}"/>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1574635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26F5-EC2C-42A0-98B8-28E0FF072C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9ADF9D-E997-4802-9FA2-EAF5C0804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FE2997-8437-475B-A06E-3C668E1714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DD3C7FE-343A-49E8-ACD3-C4F821AAD1F0}"/>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6" name="Footer Placeholder 5">
            <a:extLst>
              <a:ext uri="{FF2B5EF4-FFF2-40B4-BE49-F238E27FC236}">
                <a16:creationId xmlns:a16="http://schemas.microsoft.com/office/drawing/2014/main" id="{7BB07E01-7DB0-419D-BC78-26BF0F470A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7A80B8-8E96-4289-B3C4-8B21868ABBDF}"/>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2809154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A0E13-C3F4-4541-9759-089AEAD35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12B800-6089-4A15-ADC9-843BDE3A57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4D7EC2-765C-41B3-AD23-4005EAC671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E4BBB0B-DACB-429F-8F56-7FAA08546850}"/>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6" name="Footer Placeholder 5">
            <a:extLst>
              <a:ext uri="{FF2B5EF4-FFF2-40B4-BE49-F238E27FC236}">
                <a16:creationId xmlns:a16="http://schemas.microsoft.com/office/drawing/2014/main" id="{C42DE009-E193-4014-A7BA-2BFA3FD846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2C7FF5-87C6-4FE3-A410-90E667ED3555}"/>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4003424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B9B0-B7B6-40F3-A249-13891A4F50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F73CDB-B0F9-4879-844D-26475469ECE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6F3D43-11FB-4A04-88E6-1FBE887D7F87}"/>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5" name="Footer Placeholder 4">
            <a:extLst>
              <a:ext uri="{FF2B5EF4-FFF2-40B4-BE49-F238E27FC236}">
                <a16:creationId xmlns:a16="http://schemas.microsoft.com/office/drawing/2014/main" id="{8D3E5E81-7966-4197-923E-BDB627C717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A539F2-5905-4E65-B565-B1CF7F6D48E8}"/>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2599263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613BFC-EB65-4F4A-9A9B-86C7405A0B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918AF6-80BF-4357-A493-EDEE5715454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77BF34-0C30-4F4E-B21E-F3D4B653E840}"/>
              </a:ext>
            </a:extLst>
          </p:cNvPr>
          <p:cNvSpPr>
            <a:spLocks noGrp="1"/>
          </p:cNvSpPr>
          <p:nvPr>
            <p:ph type="dt" sz="half" idx="10"/>
          </p:nvPr>
        </p:nvSpPr>
        <p:spPr/>
        <p:txBody>
          <a:bodyPr/>
          <a:lstStyle/>
          <a:p>
            <a:fld id="{E7B8658B-349A-4D17-8CF4-9DCC75005FDB}" type="datetimeFigureOut">
              <a:rPr lang="en-IN" smtClean="0"/>
              <a:t>21-07-2025</a:t>
            </a:fld>
            <a:endParaRPr lang="en-IN"/>
          </a:p>
        </p:txBody>
      </p:sp>
      <p:sp>
        <p:nvSpPr>
          <p:cNvPr id="5" name="Footer Placeholder 4">
            <a:extLst>
              <a:ext uri="{FF2B5EF4-FFF2-40B4-BE49-F238E27FC236}">
                <a16:creationId xmlns:a16="http://schemas.microsoft.com/office/drawing/2014/main" id="{EE4406D6-A917-49FD-BEE3-05B6FB4CBE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0467E7-0348-45EE-AB3A-00B374494B7B}"/>
              </a:ext>
            </a:extLst>
          </p:cNvPr>
          <p:cNvSpPr>
            <a:spLocks noGrp="1"/>
          </p:cNvSpPr>
          <p:nvPr>
            <p:ph type="sldNum" sz="quarter" idx="12"/>
          </p:nvPr>
        </p:nvSpPr>
        <p:spPr/>
        <p:txBody>
          <a:bodyPr/>
          <a:lstStyle/>
          <a:p>
            <a:fld id="{6916006F-726A-416F-A875-A972A8650C5C}" type="slidenum">
              <a:rPr lang="en-IN" smtClean="0"/>
              <a:t>‹#›</a:t>
            </a:fld>
            <a:endParaRPr lang="en-IN"/>
          </a:p>
        </p:txBody>
      </p:sp>
    </p:spTree>
    <p:extLst>
      <p:ext uri="{BB962C8B-B14F-4D97-AF65-F5344CB8AC3E}">
        <p14:creationId xmlns:p14="http://schemas.microsoft.com/office/powerpoint/2010/main" val="1801237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E79FCBC-BAFF-4880-9C8D-FC7257B985CC}"/>
              </a:ext>
            </a:extLst>
          </p:cNvPr>
          <p:cNvSpPr>
            <a:spLocks noGrp="1"/>
          </p:cNvSpPr>
          <p:nvPr>
            <p:ph type="dt" sz="half" idx="10"/>
          </p:nvPr>
        </p:nvSpPr>
        <p:spPr/>
        <p:txBody>
          <a:bodyPr/>
          <a:lstStyle>
            <a:lvl1pPr>
              <a:defRPr/>
            </a:lvl1pPr>
          </a:lstStyle>
          <a:p>
            <a:pPr>
              <a:defRPr/>
            </a:pPr>
            <a:fld id="{311CF3B5-D13B-4503-95A0-1ED3427CF90B}" type="datetimeFigureOut">
              <a:rPr lang="en-US"/>
              <a:pPr>
                <a:defRPr/>
              </a:pPr>
              <a:t>7/21/2025</a:t>
            </a:fld>
            <a:endParaRPr lang="en-IN"/>
          </a:p>
        </p:txBody>
      </p:sp>
      <p:sp>
        <p:nvSpPr>
          <p:cNvPr id="5" name="Footer Placeholder 4">
            <a:extLst>
              <a:ext uri="{FF2B5EF4-FFF2-40B4-BE49-F238E27FC236}">
                <a16:creationId xmlns:a16="http://schemas.microsoft.com/office/drawing/2014/main" id="{87B05FA6-E8EB-4189-AB33-355F21595957}"/>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43DFD4A0-88B1-4F78-A67B-F4F95203BBB0}"/>
              </a:ext>
            </a:extLst>
          </p:cNvPr>
          <p:cNvSpPr>
            <a:spLocks noGrp="1"/>
          </p:cNvSpPr>
          <p:nvPr>
            <p:ph type="sldNum" sz="quarter" idx="12"/>
          </p:nvPr>
        </p:nvSpPr>
        <p:spPr/>
        <p:txBody>
          <a:bodyPr/>
          <a:lstStyle>
            <a:lvl1pPr>
              <a:defRPr/>
            </a:lvl1pPr>
          </a:lstStyle>
          <a:p>
            <a:fld id="{CF3A0524-ACFE-4256-A853-E11A2A1F8819}" type="slidenum">
              <a:rPr lang="en-IN" altLang="en-US"/>
              <a:pPr/>
              <a:t>‹#›</a:t>
            </a:fld>
            <a:endParaRPr lang="en-IN" altLang="en-US"/>
          </a:p>
        </p:txBody>
      </p:sp>
    </p:spTree>
    <p:extLst>
      <p:ext uri="{BB962C8B-B14F-4D97-AF65-F5344CB8AC3E}">
        <p14:creationId xmlns:p14="http://schemas.microsoft.com/office/powerpoint/2010/main" val="3735825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0AB664-0AB5-425A-BB01-1C4B1FB5B8BF}"/>
              </a:ext>
            </a:extLst>
          </p:cNvPr>
          <p:cNvSpPr>
            <a:spLocks noGrp="1"/>
          </p:cNvSpPr>
          <p:nvPr>
            <p:ph type="dt" sz="half" idx="10"/>
          </p:nvPr>
        </p:nvSpPr>
        <p:spPr/>
        <p:txBody>
          <a:bodyPr/>
          <a:lstStyle>
            <a:lvl1pPr>
              <a:defRPr/>
            </a:lvl1pPr>
          </a:lstStyle>
          <a:p>
            <a:pPr>
              <a:defRPr/>
            </a:pPr>
            <a:fld id="{D7EEFE97-F629-40E3-ABCE-609DAAA7D409}" type="datetimeFigureOut">
              <a:rPr lang="en-US"/>
              <a:pPr>
                <a:defRPr/>
              </a:pPr>
              <a:t>7/21/2025</a:t>
            </a:fld>
            <a:endParaRPr lang="en-IN"/>
          </a:p>
        </p:txBody>
      </p:sp>
      <p:sp>
        <p:nvSpPr>
          <p:cNvPr id="5" name="Footer Placeholder 4">
            <a:extLst>
              <a:ext uri="{FF2B5EF4-FFF2-40B4-BE49-F238E27FC236}">
                <a16:creationId xmlns:a16="http://schemas.microsoft.com/office/drawing/2014/main" id="{2BBA1DE2-66F8-4C18-B89F-2CA6F43B52B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69B714FD-B66B-4FA7-A05E-758C6258E82E}"/>
              </a:ext>
            </a:extLst>
          </p:cNvPr>
          <p:cNvSpPr>
            <a:spLocks noGrp="1"/>
          </p:cNvSpPr>
          <p:nvPr>
            <p:ph type="sldNum" sz="quarter" idx="12"/>
          </p:nvPr>
        </p:nvSpPr>
        <p:spPr/>
        <p:txBody>
          <a:bodyPr/>
          <a:lstStyle>
            <a:lvl1pPr>
              <a:defRPr/>
            </a:lvl1pPr>
          </a:lstStyle>
          <a:p>
            <a:fld id="{269221E0-6098-48AC-A150-AB02B817BDA4}" type="slidenum">
              <a:rPr lang="en-IN" altLang="en-US"/>
              <a:pPr/>
              <a:t>‹#›</a:t>
            </a:fld>
            <a:endParaRPr lang="en-IN" altLang="en-US"/>
          </a:p>
        </p:txBody>
      </p:sp>
    </p:spTree>
    <p:extLst>
      <p:ext uri="{BB962C8B-B14F-4D97-AF65-F5344CB8AC3E}">
        <p14:creationId xmlns:p14="http://schemas.microsoft.com/office/powerpoint/2010/main" val="729317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C1EB76-782F-44B8-BDE1-5FF9284C6CFD}"/>
              </a:ext>
            </a:extLst>
          </p:cNvPr>
          <p:cNvSpPr>
            <a:spLocks noGrp="1"/>
          </p:cNvSpPr>
          <p:nvPr>
            <p:ph type="dt" sz="half" idx="10"/>
          </p:nvPr>
        </p:nvSpPr>
        <p:spPr/>
        <p:txBody>
          <a:bodyPr/>
          <a:lstStyle>
            <a:lvl1pPr>
              <a:defRPr/>
            </a:lvl1pPr>
          </a:lstStyle>
          <a:p>
            <a:pPr>
              <a:defRPr/>
            </a:pPr>
            <a:fld id="{B7BC5451-00C8-481E-A184-83D3C372CBEF}" type="datetimeFigureOut">
              <a:rPr lang="en-US"/>
              <a:pPr>
                <a:defRPr/>
              </a:pPr>
              <a:t>7/21/2025</a:t>
            </a:fld>
            <a:endParaRPr lang="en-IN"/>
          </a:p>
        </p:txBody>
      </p:sp>
      <p:sp>
        <p:nvSpPr>
          <p:cNvPr id="5" name="Footer Placeholder 4">
            <a:extLst>
              <a:ext uri="{FF2B5EF4-FFF2-40B4-BE49-F238E27FC236}">
                <a16:creationId xmlns:a16="http://schemas.microsoft.com/office/drawing/2014/main" id="{3549E12E-4CCF-41A5-8B8C-654F01F0724E}"/>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75FE1752-E811-4B68-B04B-56E037F8E16E}"/>
              </a:ext>
            </a:extLst>
          </p:cNvPr>
          <p:cNvSpPr>
            <a:spLocks noGrp="1"/>
          </p:cNvSpPr>
          <p:nvPr>
            <p:ph type="sldNum" sz="quarter" idx="12"/>
          </p:nvPr>
        </p:nvSpPr>
        <p:spPr/>
        <p:txBody>
          <a:bodyPr/>
          <a:lstStyle>
            <a:lvl1pPr>
              <a:defRPr/>
            </a:lvl1pPr>
          </a:lstStyle>
          <a:p>
            <a:fld id="{E0982B52-2B21-45D1-A2AE-CC324E9ED3F0}" type="slidenum">
              <a:rPr lang="en-IN" altLang="en-US"/>
              <a:pPr/>
              <a:t>‹#›</a:t>
            </a:fld>
            <a:endParaRPr lang="en-IN" altLang="en-US"/>
          </a:p>
        </p:txBody>
      </p:sp>
    </p:spTree>
    <p:extLst>
      <p:ext uri="{BB962C8B-B14F-4D97-AF65-F5344CB8AC3E}">
        <p14:creationId xmlns:p14="http://schemas.microsoft.com/office/powerpoint/2010/main" val="40875628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D10D77C4-BABD-4DD0-888A-B56656F174EC}"/>
              </a:ext>
            </a:extLst>
          </p:cNvPr>
          <p:cNvSpPr>
            <a:spLocks noGrp="1"/>
          </p:cNvSpPr>
          <p:nvPr>
            <p:ph type="dt" sz="half" idx="10"/>
          </p:nvPr>
        </p:nvSpPr>
        <p:spPr/>
        <p:txBody>
          <a:bodyPr/>
          <a:lstStyle>
            <a:lvl1pPr>
              <a:defRPr/>
            </a:lvl1pPr>
          </a:lstStyle>
          <a:p>
            <a:pPr>
              <a:defRPr/>
            </a:pPr>
            <a:fld id="{9CD12F72-23EC-43E0-8C85-AC0106BA3EFC}" type="datetimeFigureOut">
              <a:rPr lang="en-US"/>
              <a:pPr>
                <a:defRPr/>
              </a:pPr>
              <a:t>7/21/2025</a:t>
            </a:fld>
            <a:endParaRPr lang="en-IN"/>
          </a:p>
        </p:txBody>
      </p:sp>
      <p:sp>
        <p:nvSpPr>
          <p:cNvPr id="6" name="Footer Placeholder 4">
            <a:extLst>
              <a:ext uri="{FF2B5EF4-FFF2-40B4-BE49-F238E27FC236}">
                <a16:creationId xmlns:a16="http://schemas.microsoft.com/office/drawing/2014/main" id="{8DE90695-00CD-44F6-88EF-DE2808D498B9}"/>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80822C48-D8B8-4D5E-8676-5229406A8B78}"/>
              </a:ext>
            </a:extLst>
          </p:cNvPr>
          <p:cNvSpPr>
            <a:spLocks noGrp="1"/>
          </p:cNvSpPr>
          <p:nvPr>
            <p:ph type="sldNum" sz="quarter" idx="12"/>
          </p:nvPr>
        </p:nvSpPr>
        <p:spPr/>
        <p:txBody>
          <a:bodyPr/>
          <a:lstStyle>
            <a:lvl1pPr>
              <a:defRPr/>
            </a:lvl1pPr>
          </a:lstStyle>
          <a:p>
            <a:fld id="{8506FF27-399B-4645-A4B2-F0A3AAA953E0}" type="slidenum">
              <a:rPr lang="en-IN" altLang="en-US"/>
              <a:pPr/>
              <a:t>‹#›</a:t>
            </a:fld>
            <a:endParaRPr lang="en-IN" altLang="en-US"/>
          </a:p>
        </p:txBody>
      </p:sp>
    </p:spTree>
    <p:extLst>
      <p:ext uri="{BB962C8B-B14F-4D97-AF65-F5344CB8AC3E}">
        <p14:creationId xmlns:p14="http://schemas.microsoft.com/office/powerpoint/2010/main" val="229603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3F656D4F-8B52-4373-84D1-5CECBF0187AA}"/>
              </a:ext>
            </a:extLst>
          </p:cNvPr>
          <p:cNvSpPr>
            <a:spLocks noGrp="1"/>
          </p:cNvSpPr>
          <p:nvPr>
            <p:ph type="dt" sz="half" idx="10"/>
          </p:nvPr>
        </p:nvSpPr>
        <p:spPr/>
        <p:txBody>
          <a:bodyPr/>
          <a:lstStyle>
            <a:lvl1pPr>
              <a:defRPr/>
            </a:lvl1pPr>
          </a:lstStyle>
          <a:p>
            <a:pPr>
              <a:defRPr/>
            </a:pPr>
            <a:fld id="{8A6AD76C-48BE-42FC-8581-2705B6F1C9C9}" type="datetimeFigureOut">
              <a:rPr lang="en-US"/>
              <a:pPr>
                <a:defRPr/>
              </a:pPr>
              <a:t>7/21/2025</a:t>
            </a:fld>
            <a:endParaRPr lang="en-IN"/>
          </a:p>
        </p:txBody>
      </p:sp>
      <p:sp>
        <p:nvSpPr>
          <p:cNvPr id="8" name="Footer Placeholder 4">
            <a:extLst>
              <a:ext uri="{FF2B5EF4-FFF2-40B4-BE49-F238E27FC236}">
                <a16:creationId xmlns:a16="http://schemas.microsoft.com/office/drawing/2014/main" id="{E116D5D6-22BC-4291-AFCF-718036D35AE5}"/>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DCC7905A-CC58-4FE8-8BFF-817AF71E691C}"/>
              </a:ext>
            </a:extLst>
          </p:cNvPr>
          <p:cNvSpPr>
            <a:spLocks noGrp="1"/>
          </p:cNvSpPr>
          <p:nvPr>
            <p:ph type="sldNum" sz="quarter" idx="12"/>
          </p:nvPr>
        </p:nvSpPr>
        <p:spPr/>
        <p:txBody>
          <a:bodyPr/>
          <a:lstStyle>
            <a:lvl1pPr>
              <a:defRPr/>
            </a:lvl1pPr>
          </a:lstStyle>
          <a:p>
            <a:fld id="{231F3DFA-5350-40C2-8E07-4BA8A3C1E7B2}" type="slidenum">
              <a:rPr lang="en-IN" altLang="en-US"/>
              <a:pPr/>
              <a:t>‹#›</a:t>
            </a:fld>
            <a:endParaRPr lang="en-IN" altLang="en-US"/>
          </a:p>
        </p:txBody>
      </p:sp>
    </p:spTree>
    <p:extLst>
      <p:ext uri="{BB962C8B-B14F-4D97-AF65-F5344CB8AC3E}">
        <p14:creationId xmlns:p14="http://schemas.microsoft.com/office/powerpoint/2010/main" val="5219658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9DB75F35-D533-4700-8466-A0555BED107D}"/>
              </a:ext>
            </a:extLst>
          </p:cNvPr>
          <p:cNvSpPr>
            <a:spLocks noGrp="1"/>
          </p:cNvSpPr>
          <p:nvPr>
            <p:ph type="dt" sz="half" idx="10"/>
          </p:nvPr>
        </p:nvSpPr>
        <p:spPr/>
        <p:txBody>
          <a:bodyPr/>
          <a:lstStyle>
            <a:lvl1pPr>
              <a:defRPr/>
            </a:lvl1pPr>
          </a:lstStyle>
          <a:p>
            <a:pPr>
              <a:defRPr/>
            </a:pPr>
            <a:fld id="{EE5B093D-281F-48C7-8F92-0AEBE8141679}" type="datetimeFigureOut">
              <a:rPr lang="en-US"/>
              <a:pPr>
                <a:defRPr/>
              </a:pPr>
              <a:t>7/21/2025</a:t>
            </a:fld>
            <a:endParaRPr lang="en-IN"/>
          </a:p>
        </p:txBody>
      </p:sp>
      <p:sp>
        <p:nvSpPr>
          <p:cNvPr id="4" name="Footer Placeholder 4">
            <a:extLst>
              <a:ext uri="{FF2B5EF4-FFF2-40B4-BE49-F238E27FC236}">
                <a16:creationId xmlns:a16="http://schemas.microsoft.com/office/drawing/2014/main" id="{52D5A752-1094-47B0-B7EB-E3EE8BC6B36D}"/>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A6D82608-F173-41C1-9FB2-3EBD87F119EB}"/>
              </a:ext>
            </a:extLst>
          </p:cNvPr>
          <p:cNvSpPr>
            <a:spLocks noGrp="1"/>
          </p:cNvSpPr>
          <p:nvPr>
            <p:ph type="sldNum" sz="quarter" idx="12"/>
          </p:nvPr>
        </p:nvSpPr>
        <p:spPr/>
        <p:txBody>
          <a:bodyPr/>
          <a:lstStyle>
            <a:lvl1pPr>
              <a:defRPr/>
            </a:lvl1pPr>
          </a:lstStyle>
          <a:p>
            <a:fld id="{8CDBDE59-15B1-49A0-8B66-9DE3B7998C9C}" type="slidenum">
              <a:rPr lang="en-IN" altLang="en-US"/>
              <a:pPr/>
              <a:t>‹#›</a:t>
            </a:fld>
            <a:endParaRPr lang="en-IN" altLang="en-US"/>
          </a:p>
        </p:txBody>
      </p:sp>
    </p:spTree>
    <p:extLst>
      <p:ext uri="{BB962C8B-B14F-4D97-AF65-F5344CB8AC3E}">
        <p14:creationId xmlns:p14="http://schemas.microsoft.com/office/powerpoint/2010/main" val="38746666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D16329F-4AD3-43A5-A4B3-C5206956A785}"/>
              </a:ext>
            </a:extLst>
          </p:cNvPr>
          <p:cNvSpPr>
            <a:spLocks noGrp="1"/>
          </p:cNvSpPr>
          <p:nvPr>
            <p:ph type="dt" sz="half" idx="10"/>
          </p:nvPr>
        </p:nvSpPr>
        <p:spPr/>
        <p:txBody>
          <a:bodyPr/>
          <a:lstStyle>
            <a:lvl1pPr>
              <a:defRPr/>
            </a:lvl1pPr>
          </a:lstStyle>
          <a:p>
            <a:pPr>
              <a:defRPr/>
            </a:pPr>
            <a:fld id="{5C98162A-4775-427E-B4C0-7EB9CF59158C}" type="datetimeFigureOut">
              <a:rPr lang="en-US"/>
              <a:pPr>
                <a:defRPr/>
              </a:pPr>
              <a:t>7/21/2025</a:t>
            </a:fld>
            <a:endParaRPr lang="en-IN"/>
          </a:p>
        </p:txBody>
      </p:sp>
      <p:sp>
        <p:nvSpPr>
          <p:cNvPr id="3" name="Footer Placeholder 4">
            <a:extLst>
              <a:ext uri="{FF2B5EF4-FFF2-40B4-BE49-F238E27FC236}">
                <a16:creationId xmlns:a16="http://schemas.microsoft.com/office/drawing/2014/main" id="{1BA7DA74-EDE6-43AC-8838-51F3EDC52439}"/>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B2D804AB-2D1C-4D37-BB6D-6AA606CDC005}"/>
              </a:ext>
            </a:extLst>
          </p:cNvPr>
          <p:cNvSpPr>
            <a:spLocks noGrp="1"/>
          </p:cNvSpPr>
          <p:nvPr>
            <p:ph type="sldNum" sz="quarter" idx="12"/>
          </p:nvPr>
        </p:nvSpPr>
        <p:spPr/>
        <p:txBody>
          <a:bodyPr/>
          <a:lstStyle>
            <a:lvl1pPr>
              <a:defRPr/>
            </a:lvl1pPr>
          </a:lstStyle>
          <a:p>
            <a:fld id="{441DCEA6-2A48-49CB-A23D-674184CFCC95}" type="slidenum">
              <a:rPr lang="en-IN" altLang="en-US"/>
              <a:pPr/>
              <a:t>‹#›</a:t>
            </a:fld>
            <a:endParaRPr lang="en-IN" altLang="en-US"/>
          </a:p>
        </p:txBody>
      </p:sp>
    </p:spTree>
    <p:extLst>
      <p:ext uri="{BB962C8B-B14F-4D97-AF65-F5344CB8AC3E}">
        <p14:creationId xmlns:p14="http://schemas.microsoft.com/office/powerpoint/2010/main" val="6942561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B9A2A25-CA7F-4D6E-954D-666455F0436E}"/>
              </a:ext>
            </a:extLst>
          </p:cNvPr>
          <p:cNvSpPr>
            <a:spLocks noGrp="1"/>
          </p:cNvSpPr>
          <p:nvPr>
            <p:ph type="dt" sz="half" idx="10"/>
          </p:nvPr>
        </p:nvSpPr>
        <p:spPr/>
        <p:txBody>
          <a:bodyPr/>
          <a:lstStyle>
            <a:lvl1pPr>
              <a:defRPr/>
            </a:lvl1pPr>
          </a:lstStyle>
          <a:p>
            <a:pPr>
              <a:defRPr/>
            </a:pPr>
            <a:fld id="{1990889E-88B2-40D5-BEB0-54190804BB88}" type="datetimeFigureOut">
              <a:rPr lang="en-US"/>
              <a:pPr>
                <a:defRPr/>
              </a:pPr>
              <a:t>7/21/2025</a:t>
            </a:fld>
            <a:endParaRPr lang="en-IN"/>
          </a:p>
        </p:txBody>
      </p:sp>
      <p:sp>
        <p:nvSpPr>
          <p:cNvPr id="6" name="Footer Placeholder 4">
            <a:extLst>
              <a:ext uri="{FF2B5EF4-FFF2-40B4-BE49-F238E27FC236}">
                <a16:creationId xmlns:a16="http://schemas.microsoft.com/office/drawing/2014/main" id="{6C2C5A7C-2DAA-4E4C-85CB-C45FEE133C0E}"/>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8A852A5E-2A4B-42D5-BC01-3EA2C1841773}"/>
              </a:ext>
            </a:extLst>
          </p:cNvPr>
          <p:cNvSpPr>
            <a:spLocks noGrp="1"/>
          </p:cNvSpPr>
          <p:nvPr>
            <p:ph type="sldNum" sz="quarter" idx="12"/>
          </p:nvPr>
        </p:nvSpPr>
        <p:spPr/>
        <p:txBody>
          <a:bodyPr/>
          <a:lstStyle>
            <a:lvl1pPr>
              <a:defRPr/>
            </a:lvl1pPr>
          </a:lstStyle>
          <a:p>
            <a:fld id="{A3D0A8AC-9998-4039-8C15-3FE4FE84A927}" type="slidenum">
              <a:rPr lang="en-IN" altLang="en-US"/>
              <a:pPr/>
              <a:t>‹#›</a:t>
            </a:fld>
            <a:endParaRPr lang="en-IN" altLang="en-US"/>
          </a:p>
        </p:txBody>
      </p:sp>
    </p:spTree>
    <p:extLst>
      <p:ext uri="{BB962C8B-B14F-4D97-AF65-F5344CB8AC3E}">
        <p14:creationId xmlns:p14="http://schemas.microsoft.com/office/powerpoint/2010/main" val="2047934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1B3E0F5-CDC1-472B-8372-62D9E4D433CE}"/>
              </a:ext>
            </a:extLst>
          </p:cNvPr>
          <p:cNvSpPr>
            <a:spLocks noGrp="1"/>
          </p:cNvSpPr>
          <p:nvPr>
            <p:ph type="dt" sz="half" idx="10"/>
          </p:nvPr>
        </p:nvSpPr>
        <p:spPr/>
        <p:txBody>
          <a:bodyPr/>
          <a:lstStyle>
            <a:lvl1pPr>
              <a:defRPr/>
            </a:lvl1pPr>
          </a:lstStyle>
          <a:p>
            <a:pPr>
              <a:defRPr/>
            </a:pPr>
            <a:fld id="{012CBBC6-5CE2-4C47-B906-BE73A901742F}" type="datetimeFigureOut">
              <a:rPr lang="en-US"/>
              <a:pPr>
                <a:defRPr/>
              </a:pPr>
              <a:t>7/21/2025</a:t>
            </a:fld>
            <a:endParaRPr lang="en-IN"/>
          </a:p>
        </p:txBody>
      </p:sp>
      <p:sp>
        <p:nvSpPr>
          <p:cNvPr id="6" name="Footer Placeholder 4">
            <a:extLst>
              <a:ext uri="{FF2B5EF4-FFF2-40B4-BE49-F238E27FC236}">
                <a16:creationId xmlns:a16="http://schemas.microsoft.com/office/drawing/2014/main" id="{E73AF7BB-FFEA-46E4-95D2-4272E66F6128}"/>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C5CDB747-2369-4EF3-AA51-D11C8AB49689}"/>
              </a:ext>
            </a:extLst>
          </p:cNvPr>
          <p:cNvSpPr>
            <a:spLocks noGrp="1"/>
          </p:cNvSpPr>
          <p:nvPr>
            <p:ph type="sldNum" sz="quarter" idx="12"/>
          </p:nvPr>
        </p:nvSpPr>
        <p:spPr/>
        <p:txBody>
          <a:bodyPr/>
          <a:lstStyle>
            <a:lvl1pPr>
              <a:defRPr/>
            </a:lvl1pPr>
          </a:lstStyle>
          <a:p>
            <a:fld id="{1F5C8666-1777-4522-BBD0-43F64A7B535A}" type="slidenum">
              <a:rPr lang="en-IN" altLang="en-US"/>
              <a:pPr/>
              <a:t>‹#›</a:t>
            </a:fld>
            <a:endParaRPr lang="en-IN" altLang="en-US"/>
          </a:p>
        </p:txBody>
      </p:sp>
    </p:spTree>
    <p:extLst>
      <p:ext uri="{BB962C8B-B14F-4D97-AF65-F5344CB8AC3E}">
        <p14:creationId xmlns:p14="http://schemas.microsoft.com/office/powerpoint/2010/main" val="280126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F7EA67-3A44-448F-86F1-151557AEE324}"/>
              </a:ext>
            </a:extLst>
          </p:cNvPr>
          <p:cNvSpPr>
            <a:spLocks noGrp="1"/>
          </p:cNvSpPr>
          <p:nvPr>
            <p:ph type="dt" sz="half" idx="10"/>
          </p:nvPr>
        </p:nvSpPr>
        <p:spPr/>
        <p:txBody>
          <a:bodyPr/>
          <a:lstStyle>
            <a:lvl1pPr>
              <a:defRPr/>
            </a:lvl1pPr>
          </a:lstStyle>
          <a:p>
            <a:pPr>
              <a:defRPr/>
            </a:pPr>
            <a:fld id="{E61F5355-0F76-47FB-B6C0-B293804835A1}" type="datetimeFigureOut">
              <a:rPr lang="en-US"/>
              <a:pPr>
                <a:defRPr/>
              </a:pPr>
              <a:t>7/21/2025</a:t>
            </a:fld>
            <a:endParaRPr lang="en-IN"/>
          </a:p>
        </p:txBody>
      </p:sp>
      <p:sp>
        <p:nvSpPr>
          <p:cNvPr id="5" name="Footer Placeholder 4">
            <a:extLst>
              <a:ext uri="{FF2B5EF4-FFF2-40B4-BE49-F238E27FC236}">
                <a16:creationId xmlns:a16="http://schemas.microsoft.com/office/drawing/2014/main" id="{42F4C2FE-7835-4E57-A2EA-33EF0E6C222F}"/>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DDE16A8B-44BE-41AE-957E-9A1FD557BDC6}"/>
              </a:ext>
            </a:extLst>
          </p:cNvPr>
          <p:cNvSpPr>
            <a:spLocks noGrp="1"/>
          </p:cNvSpPr>
          <p:nvPr>
            <p:ph type="sldNum" sz="quarter" idx="12"/>
          </p:nvPr>
        </p:nvSpPr>
        <p:spPr/>
        <p:txBody>
          <a:bodyPr/>
          <a:lstStyle>
            <a:lvl1pPr>
              <a:defRPr/>
            </a:lvl1pPr>
          </a:lstStyle>
          <a:p>
            <a:fld id="{38D22F20-B7CF-48AF-B716-DB7012D2839E}" type="slidenum">
              <a:rPr lang="en-IN" altLang="en-US"/>
              <a:pPr/>
              <a:t>‹#›</a:t>
            </a:fld>
            <a:endParaRPr lang="en-IN" altLang="en-US"/>
          </a:p>
        </p:txBody>
      </p:sp>
    </p:spTree>
    <p:extLst>
      <p:ext uri="{BB962C8B-B14F-4D97-AF65-F5344CB8AC3E}">
        <p14:creationId xmlns:p14="http://schemas.microsoft.com/office/powerpoint/2010/main" val="3126076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57FAD3-8C75-41B4-A111-8F88AC985057}"/>
              </a:ext>
            </a:extLst>
          </p:cNvPr>
          <p:cNvSpPr>
            <a:spLocks noGrp="1"/>
          </p:cNvSpPr>
          <p:nvPr>
            <p:ph type="dt" sz="half" idx="10"/>
          </p:nvPr>
        </p:nvSpPr>
        <p:spPr/>
        <p:txBody>
          <a:bodyPr/>
          <a:lstStyle>
            <a:lvl1pPr>
              <a:defRPr/>
            </a:lvl1pPr>
          </a:lstStyle>
          <a:p>
            <a:pPr>
              <a:defRPr/>
            </a:pPr>
            <a:fld id="{206341A6-83DA-4BD4-9B29-14FF6DCD8629}" type="datetimeFigureOut">
              <a:rPr lang="en-US"/>
              <a:pPr>
                <a:defRPr/>
              </a:pPr>
              <a:t>7/21/2025</a:t>
            </a:fld>
            <a:endParaRPr lang="en-IN"/>
          </a:p>
        </p:txBody>
      </p:sp>
      <p:sp>
        <p:nvSpPr>
          <p:cNvPr id="5" name="Footer Placeholder 4">
            <a:extLst>
              <a:ext uri="{FF2B5EF4-FFF2-40B4-BE49-F238E27FC236}">
                <a16:creationId xmlns:a16="http://schemas.microsoft.com/office/drawing/2014/main" id="{5148BAD5-5FB8-41E9-A4D2-7EBB63391F5D}"/>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25B4EA8E-7976-425A-B5BD-07A8C724BDAA}"/>
              </a:ext>
            </a:extLst>
          </p:cNvPr>
          <p:cNvSpPr>
            <a:spLocks noGrp="1"/>
          </p:cNvSpPr>
          <p:nvPr>
            <p:ph type="sldNum" sz="quarter" idx="12"/>
          </p:nvPr>
        </p:nvSpPr>
        <p:spPr/>
        <p:txBody>
          <a:bodyPr/>
          <a:lstStyle>
            <a:lvl1pPr>
              <a:defRPr/>
            </a:lvl1pPr>
          </a:lstStyle>
          <a:p>
            <a:fld id="{B04765E7-79B4-472D-8467-541C75A5A27A}" type="slidenum">
              <a:rPr lang="en-IN" altLang="en-US"/>
              <a:pPr/>
              <a:t>‹#›</a:t>
            </a:fld>
            <a:endParaRPr lang="en-IN" altLang="en-US"/>
          </a:p>
        </p:txBody>
      </p:sp>
    </p:spTree>
    <p:extLst>
      <p:ext uri="{BB962C8B-B14F-4D97-AF65-F5344CB8AC3E}">
        <p14:creationId xmlns:p14="http://schemas.microsoft.com/office/powerpoint/2010/main" val="150137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A6C154-6494-4CB7-B4E6-F4D5A7B0DD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6EF46A-E18F-450F-B04A-10F5F93ADA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E7EEE8-68E6-47DB-BFAB-946939B8DF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B8658B-349A-4D17-8CF4-9DCC75005FDB}" type="datetimeFigureOut">
              <a:rPr lang="en-IN" smtClean="0"/>
              <a:t>21-07-2025</a:t>
            </a:fld>
            <a:endParaRPr lang="en-IN"/>
          </a:p>
        </p:txBody>
      </p:sp>
      <p:sp>
        <p:nvSpPr>
          <p:cNvPr id="5" name="Footer Placeholder 4">
            <a:extLst>
              <a:ext uri="{FF2B5EF4-FFF2-40B4-BE49-F238E27FC236}">
                <a16:creationId xmlns:a16="http://schemas.microsoft.com/office/drawing/2014/main" id="{C3C4D1C6-9463-42AC-A47E-D0240FFB18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4AAD051-EE13-4F2C-9FDF-7A36538E29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16006F-726A-416F-A875-A972A8650C5C}" type="slidenum">
              <a:rPr lang="en-IN" smtClean="0"/>
              <a:t>‹#›</a:t>
            </a:fld>
            <a:endParaRPr lang="en-IN"/>
          </a:p>
        </p:txBody>
      </p:sp>
    </p:spTree>
    <p:extLst>
      <p:ext uri="{BB962C8B-B14F-4D97-AF65-F5344CB8AC3E}">
        <p14:creationId xmlns:p14="http://schemas.microsoft.com/office/powerpoint/2010/main" val="1897840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C6169C9-87CD-4A7B-B5F5-3AFCDA538701}"/>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850A7288-9CAC-4564-BF66-9FC87B394880}"/>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96967B86-2C26-4AFA-B34B-94A04B7B3D26}"/>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E6FC3704-62E6-4A89-A6D1-A209D5685879}" type="datetimeFigureOut">
              <a:rPr lang="en-US"/>
              <a:pPr>
                <a:defRPr/>
              </a:pPr>
              <a:t>7/21/2025</a:t>
            </a:fld>
            <a:endParaRPr lang="en-IN"/>
          </a:p>
        </p:txBody>
      </p:sp>
      <p:sp>
        <p:nvSpPr>
          <p:cNvPr id="5" name="Footer Placeholder 4">
            <a:extLst>
              <a:ext uri="{FF2B5EF4-FFF2-40B4-BE49-F238E27FC236}">
                <a16:creationId xmlns:a16="http://schemas.microsoft.com/office/drawing/2014/main" id="{583BA501-26FB-40E1-9DE3-CB12EDCB1333}"/>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B7378A6F-72C3-4DCD-A897-842DC96703BA}"/>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0B743FFE-E013-4805-8C3C-459392B33F19}" type="slidenum">
              <a:rPr lang="en-IN" altLang="en-US"/>
              <a:pPr/>
              <a:t>‹#›</a:t>
            </a:fld>
            <a:endParaRPr lang="en-IN" altLang="en-US"/>
          </a:p>
        </p:txBody>
      </p:sp>
    </p:spTree>
    <p:extLst>
      <p:ext uri="{BB962C8B-B14F-4D97-AF65-F5344CB8AC3E}">
        <p14:creationId xmlns:p14="http://schemas.microsoft.com/office/powerpoint/2010/main" val="790133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youtu.be/ee2Mu05eQl8"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en.wikipedia.org/wiki/Read-only_memory"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1992313" y="2971800"/>
            <a:ext cx="8424862" cy="492125"/>
          </a:xfrm>
        </p:spPr>
        <p:txBody>
          <a:bodyPr>
            <a:normAutofit fontScale="90000"/>
          </a:bodyPr>
          <a:lstStyle/>
          <a:p>
            <a:r>
              <a:rPr lang="en-US" altLang="en-US" sz="3200" b="1" smtClean="0">
                <a:latin typeface="Arial" panose="020B0604020202020204" pitchFamily="34" charset="0"/>
                <a:cs typeface="Arial" panose="020B0604020202020204" pitchFamily="34" charset="0"/>
              </a:rPr>
              <a:t>23ITC01</a:t>
            </a:r>
            <a:r>
              <a:rPr lang="en-IN" altLang="en-US" sz="3200" b="1" smtClean="0">
                <a:latin typeface="Arial" panose="020B0604020202020204" pitchFamily="34" charset="0"/>
                <a:cs typeface="Arial" panose="020B0604020202020204" pitchFamily="34" charset="0"/>
              </a:rPr>
              <a:t> </a:t>
            </a:r>
            <a:r>
              <a:rPr lang="en-US" altLang="en-US" sz="3200" b="1" smtClean="0">
                <a:latin typeface="Arial" panose="020B0604020202020204" pitchFamily="34" charset="0"/>
                <a:cs typeface="Arial" panose="020B0604020202020204" pitchFamily="34" charset="0"/>
              </a:rPr>
              <a:t>Internet of things </a:t>
            </a:r>
            <a:endParaRPr lang="en-IN" altLang="en-US" sz="3200" b="1" smtClean="0">
              <a:latin typeface="Arial" panose="020B0604020202020204" pitchFamily="34" charset="0"/>
              <a:cs typeface="Arial" panose="020B0604020202020204" pitchFamily="34" charset="0"/>
            </a:endParaRPr>
          </a:p>
        </p:txBody>
      </p:sp>
      <p:sp>
        <p:nvSpPr>
          <p:cNvPr id="5123" name="Subtitle 2"/>
          <p:cNvSpPr>
            <a:spLocks noGrp="1"/>
          </p:cNvSpPr>
          <p:nvPr>
            <p:ph type="subTitle" idx="4294967295"/>
          </p:nvPr>
        </p:nvSpPr>
        <p:spPr>
          <a:xfrm>
            <a:off x="2157413" y="5711825"/>
            <a:ext cx="3819525" cy="433388"/>
          </a:xfrm>
        </p:spPr>
        <p:txBody>
          <a:bodyPr/>
          <a:lstStyle/>
          <a:p>
            <a:endParaRPr lang="en-IN" altLang="en-US" sz="1600" smtClean="0">
              <a:solidFill>
                <a:srgbClr val="002060"/>
              </a:solidFill>
            </a:endParaRPr>
          </a:p>
          <a:p>
            <a:endParaRPr lang="en-IN" altLang="en-US" sz="1600" smtClean="0">
              <a:solidFill>
                <a:srgbClr val="002060"/>
              </a:solidFill>
            </a:endParaRPr>
          </a:p>
        </p:txBody>
      </p:sp>
      <p:sp>
        <p:nvSpPr>
          <p:cNvPr id="5124" name="Subtitle 2"/>
          <p:cNvSpPr txBox="1">
            <a:spLocks/>
          </p:cNvSpPr>
          <p:nvPr/>
        </p:nvSpPr>
        <p:spPr bwMode="auto">
          <a:xfrm>
            <a:off x="2776538" y="3506788"/>
            <a:ext cx="64008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a:spcBef>
                <a:spcPct val="20000"/>
              </a:spcBef>
              <a:buChar char="–"/>
              <a:defRPr sz="2800">
                <a:solidFill>
                  <a:schemeClr val="tx1"/>
                </a:solidFill>
                <a:latin typeface="Calibri" panose="020F0502020204030204" pitchFamily="34" charset="0"/>
              </a:defRPr>
            </a:lvl2pPr>
            <a:lvl3pPr>
              <a:spcBef>
                <a:spcPct val="20000"/>
              </a:spcBef>
              <a:buChar char="•"/>
              <a:defRPr sz="2400">
                <a:solidFill>
                  <a:schemeClr val="tx1"/>
                </a:solidFill>
                <a:latin typeface="Calibri" panose="020F0502020204030204" pitchFamily="34" charset="0"/>
              </a:defRPr>
            </a:lvl3pPr>
            <a:lvl4pPr>
              <a:spcBef>
                <a:spcPct val="20000"/>
              </a:spcBef>
              <a:buChar char="–"/>
              <a:defRPr sz="2000">
                <a:solidFill>
                  <a:schemeClr val="tx1"/>
                </a:solidFill>
                <a:latin typeface="Calibri" panose="020F0502020204030204" pitchFamily="34" charset="0"/>
              </a:defRPr>
            </a:lvl4pPr>
            <a:lvl5pPr>
              <a:spcBef>
                <a:spcPct val="20000"/>
              </a:spcBef>
              <a:buChar char="»"/>
              <a:defRPr sz="2000">
                <a:solidFill>
                  <a:schemeClr val="tx1"/>
                </a:solidFill>
                <a:latin typeface="Calibri" panose="020F0502020204030204" pitchFamily="34" charset="0"/>
              </a:defRPr>
            </a:lvl5pPr>
            <a:lvl6pPr eaLnBrk="0" fontAlgn="base" hangingPunct="0">
              <a:spcBef>
                <a:spcPct val="20000"/>
              </a:spcBef>
              <a:spcAft>
                <a:spcPct val="0"/>
              </a:spcAft>
              <a:buChar char="»"/>
              <a:defRPr sz="2000">
                <a:solidFill>
                  <a:schemeClr val="tx1"/>
                </a:solidFill>
                <a:latin typeface="Calibri" panose="020F0502020204030204" pitchFamily="34" charset="0"/>
              </a:defRPr>
            </a:lvl6pPr>
            <a:lvl7pPr eaLnBrk="0" fontAlgn="base" hangingPunct="0">
              <a:spcBef>
                <a:spcPct val="20000"/>
              </a:spcBef>
              <a:spcAft>
                <a:spcPct val="0"/>
              </a:spcAft>
              <a:buChar char="»"/>
              <a:defRPr sz="2000">
                <a:solidFill>
                  <a:schemeClr val="tx1"/>
                </a:solidFill>
                <a:latin typeface="Calibri" panose="020F0502020204030204" pitchFamily="34" charset="0"/>
              </a:defRPr>
            </a:lvl7pPr>
            <a:lvl8pPr eaLnBrk="0" fontAlgn="base" hangingPunct="0">
              <a:spcBef>
                <a:spcPct val="20000"/>
              </a:spcBef>
              <a:spcAft>
                <a:spcPct val="0"/>
              </a:spcAft>
              <a:buChar char="»"/>
              <a:defRPr sz="2000">
                <a:solidFill>
                  <a:schemeClr val="tx1"/>
                </a:solidFill>
                <a:latin typeface="Calibri" panose="020F0502020204030204" pitchFamily="34" charset="0"/>
              </a:defRPr>
            </a:lvl8pPr>
            <a:lvl9pPr eaLnBrk="0" fontAlgn="base" hangingPunct="0">
              <a:spcBef>
                <a:spcPct val="20000"/>
              </a:spcBef>
              <a:spcAft>
                <a:spcPct val="0"/>
              </a:spcAft>
              <a:buChar char="»"/>
              <a:defRPr sz="2000">
                <a:solidFill>
                  <a:schemeClr val="tx1"/>
                </a:solidFill>
                <a:latin typeface="Calibri" panose="020F0502020204030204" pitchFamily="34" charset="0"/>
              </a:defRPr>
            </a:lvl9pPr>
          </a:lstStyle>
          <a:p>
            <a:pPr algn="ctr" eaLnBrk="1" hangingPunct="1">
              <a:lnSpc>
                <a:spcPct val="150000"/>
              </a:lnSpc>
              <a:spcBef>
                <a:spcPct val="0"/>
              </a:spcBef>
              <a:buFont typeface="Wingdings" panose="05000000000000000000" pitchFamily="2" charset="2"/>
              <a:buNone/>
            </a:pPr>
            <a:r>
              <a:rPr lang="en-IN" altLang="en-US" sz="2400" b="1">
                <a:solidFill>
                  <a:srgbClr val="002060"/>
                </a:solidFill>
                <a:latin typeface="Arial" panose="020B0604020202020204" pitchFamily="34" charset="0"/>
              </a:rPr>
              <a:t>Class: III CSE</a:t>
            </a:r>
          </a:p>
          <a:p>
            <a:pPr algn="ctr" eaLnBrk="1" hangingPunct="1">
              <a:lnSpc>
                <a:spcPct val="150000"/>
              </a:lnSpc>
              <a:spcBef>
                <a:spcPct val="0"/>
              </a:spcBef>
              <a:buFont typeface="Wingdings" panose="05000000000000000000" pitchFamily="2" charset="2"/>
              <a:buNone/>
            </a:pPr>
            <a:r>
              <a:rPr lang="en-IN" altLang="en-US" sz="2400" b="1">
                <a:solidFill>
                  <a:srgbClr val="002060"/>
                </a:solidFill>
              </a:rPr>
              <a:t>Academic Year: 2025-2026 (ODD Sem)</a:t>
            </a:r>
          </a:p>
          <a:p>
            <a:pPr algn="ctr" eaLnBrk="1" hangingPunct="1">
              <a:lnSpc>
                <a:spcPct val="150000"/>
              </a:lnSpc>
              <a:spcBef>
                <a:spcPct val="0"/>
              </a:spcBef>
              <a:buFont typeface="Wingdings" panose="05000000000000000000" pitchFamily="2" charset="2"/>
              <a:buNone/>
            </a:pPr>
            <a:endParaRPr lang="en-IN" altLang="en-US" sz="2400" b="1">
              <a:solidFill>
                <a:srgbClr val="002060"/>
              </a:solidFill>
              <a:latin typeface="Arial" panose="020B0604020202020204" pitchFamily="34" charset="0"/>
            </a:endParaRPr>
          </a:p>
        </p:txBody>
      </p:sp>
      <p:sp>
        <p:nvSpPr>
          <p:cNvPr id="9" name="Subtitle 2"/>
          <p:cNvSpPr txBox="1">
            <a:spLocks/>
          </p:cNvSpPr>
          <p:nvPr/>
        </p:nvSpPr>
        <p:spPr>
          <a:xfrm>
            <a:off x="2238375" y="4886325"/>
            <a:ext cx="7921625" cy="638175"/>
          </a:xfrm>
          <a:prstGeom prst="rect">
            <a:avLst/>
          </a:prstGeom>
        </p:spPr>
        <p:txBody>
          <a:bodyPr/>
          <a:lstStyle>
            <a:lvl1pPr marL="0" indent="0" algn="ctr" defTabSz="914400" rtl="0" eaLnBrk="1" latinLnBrk="0" hangingPunct="1">
              <a:lnSpc>
                <a:spcPct val="150000"/>
              </a:lnSpc>
              <a:spcBef>
                <a:spcPts val="0"/>
              </a:spcBef>
              <a:buFont typeface="Wingdings" pitchFamily="2" charset="2"/>
              <a:buNone/>
              <a:defRPr sz="2000" kern="1200">
                <a:solidFill>
                  <a:schemeClr val="tx1">
                    <a:tint val="75000"/>
                  </a:schemeClr>
                </a:solidFill>
                <a:latin typeface="+mn-lt"/>
                <a:ea typeface="+mn-ea"/>
                <a:cs typeface="+mn-cs"/>
              </a:defRPr>
            </a:lvl1pPr>
            <a:lvl2pPr marL="457200" indent="0" algn="ctr" defTabSz="914400" rtl="0" eaLnBrk="1" latinLnBrk="0" hangingPunct="1">
              <a:lnSpc>
                <a:spcPct val="150000"/>
              </a:lnSpc>
              <a:spcBef>
                <a:spcPts val="0"/>
              </a:spcBef>
              <a:buFont typeface="Wingdings" pitchFamily="2" charset="2"/>
              <a:buNone/>
              <a:defRPr sz="2000" kern="1200">
                <a:solidFill>
                  <a:schemeClr val="tx1">
                    <a:tint val="75000"/>
                  </a:schemeClr>
                </a:solidFill>
                <a:latin typeface="+mn-lt"/>
                <a:ea typeface="+mn-ea"/>
                <a:cs typeface="+mn-cs"/>
              </a:defRPr>
            </a:lvl2pPr>
            <a:lvl3pPr marL="914400" indent="0" algn="ctr" defTabSz="914400" rtl="0" eaLnBrk="1" latinLnBrk="0" hangingPunct="1">
              <a:lnSpc>
                <a:spcPct val="150000"/>
              </a:lnSpc>
              <a:spcBef>
                <a:spcPts val="0"/>
              </a:spcBef>
              <a:buFont typeface="Wingdings" pitchFamily="2" charset="2"/>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150000"/>
              </a:lnSpc>
              <a:spcBef>
                <a:spcPts val="0"/>
              </a:spcBef>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150000"/>
              </a:lnSpc>
              <a:spcBef>
                <a:spcPts val="0"/>
              </a:spcBef>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IN" sz="2400" b="1" dirty="0">
                <a:solidFill>
                  <a:schemeClr val="bg2">
                    <a:lumMod val="25000"/>
                  </a:schemeClr>
                </a:solidFill>
                <a:latin typeface="Arial" pitchFamily="34" charset="0"/>
                <a:cs typeface="Arial" pitchFamily="34" charset="0"/>
              </a:rPr>
              <a:t>Module 1: </a:t>
            </a:r>
            <a:r>
              <a:rPr lang="en-US" sz="2400" b="1" dirty="0">
                <a:solidFill>
                  <a:schemeClr val="bg2">
                    <a:lumMod val="25000"/>
                  </a:schemeClr>
                </a:solidFill>
                <a:latin typeface="Arial" pitchFamily="34" charset="0"/>
                <a:cs typeface="Arial" pitchFamily="34" charset="0"/>
              </a:rPr>
              <a:t>INTRODUCTION TO INTERNET OF THINGS AND IOT DESIGN METHODOLOGIES</a:t>
            </a:r>
            <a:endParaRPr lang="en-IN" sz="2400" b="1" dirty="0">
              <a:solidFill>
                <a:srgbClr val="002060"/>
              </a:solidFill>
            </a:endParaRPr>
          </a:p>
          <a:p>
            <a:pPr>
              <a:defRPr/>
            </a:pPr>
            <a:endParaRPr lang="en-IN" sz="2400" dirty="0">
              <a:solidFill>
                <a:srgbClr val="002060"/>
              </a:solidFill>
              <a:latin typeface="Arial" pitchFamily="34" charset="0"/>
              <a:cs typeface="Arial" pitchFamily="34" charset="0"/>
            </a:endParaRPr>
          </a:p>
          <a:p>
            <a:pPr>
              <a:defRPr/>
            </a:pPr>
            <a:endParaRPr lang="en-IN" sz="1600" dirty="0">
              <a:solidFill>
                <a:srgbClr val="002060"/>
              </a:solidFill>
              <a:latin typeface="Arial" pitchFamily="34" charset="0"/>
              <a:cs typeface="Arial" pitchFamily="34" charset="0"/>
            </a:endParaRPr>
          </a:p>
          <a:p>
            <a:pPr algn="l">
              <a:defRPr/>
            </a:pPr>
            <a:r>
              <a:rPr lang="en-IN" sz="2400" b="1" dirty="0">
                <a:solidFill>
                  <a:schemeClr val="tx2">
                    <a:lumMod val="75000"/>
                  </a:schemeClr>
                </a:solidFill>
                <a:latin typeface="Arial" panose="020B0604020202020204" pitchFamily="34" charset="0"/>
                <a:cs typeface="Arial" panose="020B0604020202020204" pitchFamily="34" charset="0"/>
              </a:rPr>
              <a:t>                </a:t>
            </a:r>
            <a:endParaRPr lang="en-IN" sz="2400" dirty="0">
              <a:solidFill>
                <a:srgbClr val="002060"/>
              </a:solidFill>
            </a:endParaRPr>
          </a:p>
        </p:txBody>
      </p:sp>
      <p:pic>
        <p:nvPicPr>
          <p:cNvPr id="5126"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2875" y="963613"/>
            <a:ext cx="4492625" cy="195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88"/>
            <a:ext cx="115062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2877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AE6ABE1-A6D4-427F-9573-334EA4DA8B62}"/>
              </a:ext>
            </a:extLst>
          </p:cNvPr>
          <p:cNvSpPr/>
          <p:nvPr/>
        </p:nvSpPr>
        <p:spPr>
          <a:xfrm>
            <a:off x="0" y="28575"/>
            <a:ext cx="12192000" cy="914400"/>
          </a:xfrm>
          <a:prstGeom prst="roundRect">
            <a:avLst/>
          </a:prstGeom>
          <a:solidFill>
            <a:schemeClr val="accent1"/>
          </a:solidFill>
        </p:spPr>
        <p:style>
          <a:lnRef idx="3">
            <a:schemeClr val="lt1"/>
          </a:lnRef>
          <a:fillRef idx="1">
            <a:schemeClr val="dk1"/>
          </a:fillRef>
          <a:effectRef idx="1">
            <a:schemeClr val="dk1"/>
          </a:effectRef>
          <a:fontRef idx="minor">
            <a:schemeClr val="lt1"/>
          </a:fontRef>
        </p:style>
        <p:txBody>
          <a:bodyPr anchor="ctr"/>
          <a:lstStyle/>
          <a:p>
            <a:pPr algn="ctr">
              <a:defRPr/>
            </a:pPr>
            <a:r>
              <a:rPr lang="en-US" sz="2800" b="1" dirty="0">
                <a:solidFill>
                  <a:schemeClr val="bg1"/>
                </a:solidFill>
                <a:latin typeface="Arial" panose="020B0604020202020204" pitchFamily="34" charset="0"/>
                <a:cs typeface="Arial" panose="020B0604020202020204" pitchFamily="34" charset="0"/>
              </a:rPr>
              <a:t>23ITC01</a:t>
            </a:r>
            <a:r>
              <a:rPr lang="en-IN" sz="2800" b="1" dirty="0">
                <a:solidFill>
                  <a:schemeClr val="bg1"/>
                </a:solidFill>
                <a:latin typeface="Arial" panose="020B0604020202020204" pitchFamily="34" charset="0"/>
                <a:cs typeface="Arial" panose="020B0604020202020204" pitchFamily="34" charset="0"/>
              </a:rPr>
              <a:t> </a:t>
            </a:r>
            <a:r>
              <a:rPr lang="en-US" sz="2800" b="1" dirty="0">
                <a:solidFill>
                  <a:schemeClr val="bg1"/>
                </a:solidFill>
                <a:latin typeface="Arial" panose="020B0604020202020204" pitchFamily="34" charset="0"/>
                <a:cs typeface="Arial" panose="020B0604020202020204" pitchFamily="34" charset="0"/>
              </a:rPr>
              <a:t>Internet of things </a:t>
            </a:r>
            <a:r>
              <a:rPr lang="en-IN" sz="2800" b="1" dirty="0">
                <a:solidFill>
                  <a:schemeClr val="bg1"/>
                </a:solidFill>
                <a:latin typeface="Arial" panose="020B0604020202020204" pitchFamily="34" charset="0"/>
                <a:cs typeface="Arial" panose="020B0604020202020204" pitchFamily="34" charset="0"/>
              </a:rPr>
              <a:t>–Course Outcomes</a:t>
            </a:r>
          </a:p>
        </p:txBody>
      </p:sp>
      <p:graphicFrame>
        <p:nvGraphicFramePr>
          <p:cNvPr id="9" name="Table 9"/>
          <p:cNvGraphicFramePr>
            <a:graphicFrameLocks noGrp="1"/>
          </p:cNvGraphicFramePr>
          <p:nvPr>
            <p:extLst>
              <p:ext uri="{D42A27DB-BD31-4B8C-83A1-F6EECF244321}">
                <p14:modId xmlns:p14="http://schemas.microsoft.com/office/powerpoint/2010/main" val="657060227"/>
              </p:ext>
            </p:extLst>
          </p:nvPr>
        </p:nvGraphicFramePr>
        <p:xfrm>
          <a:off x="927100" y="1092199"/>
          <a:ext cx="10350500" cy="5432426"/>
        </p:xfrm>
        <a:graphic>
          <a:graphicData uri="http://schemas.openxmlformats.org/drawingml/2006/table">
            <a:tbl>
              <a:tblPr/>
              <a:tblGrid>
                <a:gridCol w="788905">
                  <a:extLst>
                    <a:ext uri="{9D8B030D-6E8A-4147-A177-3AD203B41FA5}">
                      <a16:colId xmlns:a16="http://schemas.microsoft.com/office/drawing/2014/main" val="1065418274"/>
                    </a:ext>
                  </a:extLst>
                </a:gridCol>
                <a:gridCol w="8652809">
                  <a:extLst>
                    <a:ext uri="{9D8B030D-6E8A-4147-A177-3AD203B41FA5}">
                      <a16:colId xmlns:a16="http://schemas.microsoft.com/office/drawing/2014/main" val="1315127447"/>
                    </a:ext>
                  </a:extLst>
                </a:gridCol>
                <a:gridCol w="908786">
                  <a:extLst>
                    <a:ext uri="{9D8B030D-6E8A-4147-A177-3AD203B41FA5}">
                      <a16:colId xmlns:a16="http://schemas.microsoft.com/office/drawing/2014/main" val="1970589359"/>
                    </a:ext>
                  </a:extLst>
                </a:gridCol>
              </a:tblGrid>
              <a:tr h="1071862">
                <a:tc>
                  <a:txBody>
                    <a:bodyPr/>
                    <a:lstStyle>
                      <a:lvl1pPr marL="165100">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165100" marR="0" lvl="0" indent="0" algn="l"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CO1</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61913">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61913" marR="0" lvl="0" indent="0" algn="just"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Understand the core principles and architecture of IoT systems to enable the development of IoT-based solutions.</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[U]</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4712674"/>
                  </a:ext>
                </a:extLst>
              </a:tr>
              <a:tr h="925628">
                <a:tc>
                  <a:txBody>
                    <a:bodyPr/>
                    <a:lstStyle>
                      <a:lvl1pPr marL="165100">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165100" marR="0" lvl="0" indent="0" algn="l"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CO2</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61913" indent="-61913">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61913" marR="0" lvl="0" indent="-61913" algn="just"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Calibri" panose="020F0502020204030204" pitchFamily="34" charset="0"/>
                          <a:cs typeface="Arial" panose="020B0604020202020204" pitchFamily="34" charset="0"/>
                        </a:rPr>
                        <a:t> Interpret design constraints and challenges in developing IoT    systems.</a:t>
                      </a:r>
                      <a:endParaRPr kumimoji="0" lang="en-US" altLang="en-US" sz="20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[AN]</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60072004"/>
                  </a:ext>
                </a:extLst>
              </a:tr>
              <a:tr h="1071862">
                <a:tc>
                  <a:txBody>
                    <a:bodyPr/>
                    <a:lstStyle>
                      <a:lvl1pPr marL="165100">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165100" marR="0" lvl="0" indent="0" algn="l"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CO3</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61913">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61913" marR="0" lvl="0" indent="0" algn="just"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rgbClr val="FF0000"/>
                          </a:solidFill>
                          <a:effectLst/>
                          <a:latin typeface="Calibri" panose="020F0502020204030204" pitchFamily="34" charset="0"/>
                          <a:cs typeface="Arial" panose="020B0604020202020204" pitchFamily="34" charset="0"/>
                        </a:rPr>
                        <a:t>Develop cost-effective IoT solutions and interface with embedded platforms like Arduino, Raspberry Pi, or similar boards.</a:t>
                      </a:r>
                      <a:endParaRPr kumimoji="0" lang="en-US" altLang="en-US" sz="2000" b="1" i="0" u="none" strike="noStrike" cap="none" normalizeH="0" baseline="0" smtClean="0">
                        <a:ln>
                          <a:noFill/>
                        </a:ln>
                        <a:solidFill>
                          <a:srgbClr val="FF0000"/>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rgbClr val="FF0000"/>
                          </a:solidFill>
                          <a:effectLst/>
                          <a:latin typeface="Calibri" panose="020F0502020204030204" pitchFamily="34" charset="0"/>
                          <a:cs typeface="Arial" panose="020B0604020202020204" pitchFamily="34" charset="0"/>
                        </a:rPr>
                        <a:t>[AP]</a:t>
                      </a:r>
                      <a:endParaRPr kumimoji="0" lang="en-US" altLang="en-US" sz="2000" b="1" i="0" u="none" strike="noStrike" cap="none" normalizeH="0" baseline="0" smtClean="0">
                        <a:ln>
                          <a:noFill/>
                        </a:ln>
                        <a:solidFill>
                          <a:srgbClr val="FF0000"/>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10458209"/>
                  </a:ext>
                </a:extLst>
              </a:tr>
              <a:tr h="1071862">
                <a:tc>
                  <a:txBody>
                    <a:bodyPr/>
                    <a:lstStyle>
                      <a:lvl1pPr marL="165100">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165100" marR="0" lvl="0" indent="0" algn="l"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CO4</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61913">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61913" marR="0" lvl="0" indent="0" algn="just"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Analyze cloud platforms for deploying, managing, and ensuring the security of IoT solutions.</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[AN]</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2000095"/>
                  </a:ext>
                </a:extLst>
              </a:tr>
              <a:tr h="1291212">
                <a:tc>
                  <a:txBody>
                    <a:bodyPr/>
                    <a:lstStyle>
                      <a:lvl1pPr marL="165100">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165100" marR="0" lvl="0" indent="0" algn="l"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Calibri" panose="020F0502020204030204" pitchFamily="34" charset="0"/>
                          <a:cs typeface="Arial" panose="020B0604020202020204" pitchFamily="34" charset="0"/>
                        </a:rPr>
                        <a:t>CO5</a:t>
                      </a:r>
                      <a:endParaRPr kumimoji="0" lang="en-US" altLang="en-US" sz="20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61913">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61913" marR="0" lvl="0" indent="0" algn="just"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chemeClr val="tx1"/>
                          </a:solidFill>
                          <a:effectLst/>
                          <a:latin typeface="Calibri" panose="020F0502020204030204" pitchFamily="34" charset="0"/>
                          <a:cs typeface="Arial" panose="020B0604020202020204" pitchFamily="34" charset="0"/>
                        </a:rPr>
                        <a:t>Apply data analytics to IoT data using Hadoop and MapReduce, demonstrating effective IoT design and implementation.</a:t>
                      </a:r>
                      <a:endParaRPr kumimoji="0" lang="en-US" altLang="en-US"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defRPr>
                      </a:lvl1pPr>
                      <a:lvl2pPr marL="742950" indent="-285750">
                        <a:spcBef>
                          <a:spcPct val="20000"/>
                        </a:spcBef>
                        <a:defRPr sz="2400">
                          <a:solidFill>
                            <a:schemeClr val="tx1"/>
                          </a:solidFill>
                          <a:latin typeface="Calibri" panose="020F0502020204030204" pitchFamily="34" charset="0"/>
                        </a:defRPr>
                      </a:lvl2pPr>
                      <a:lvl3pPr marL="1143000" indent="-228600">
                        <a:spcBef>
                          <a:spcPct val="20000"/>
                        </a:spcBef>
                        <a:defRPr sz="2000">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Calibri" panose="020F0502020204030204" pitchFamily="34" charset="0"/>
                          <a:cs typeface="Arial" panose="020B0604020202020204" pitchFamily="34" charset="0"/>
                        </a:rPr>
                        <a:t>[AP]</a:t>
                      </a:r>
                      <a:endParaRPr kumimoji="0" lang="en-US" altLang="en-US" sz="20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08143565"/>
                  </a:ext>
                </a:extLst>
              </a:tr>
            </a:tbl>
          </a:graphicData>
        </a:graphic>
      </p:graphicFrame>
    </p:spTree>
    <p:extLst>
      <p:ext uri="{BB962C8B-B14F-4D97-AF65-F5344CB8AC3E}">
        <p14:creationId xmlns:p14="http://schemas.microsoft.com/office/powerpoint/2010/main" val="301901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19484B5-A645-040C-A319-185C6CD491CC}"/>
              </a:ext>
            </a:extLst>
          </p:cNvPr>
          <p:cNvSpPr/>
          <p:nvPr/>
        </p:nvSpPr>
        <p:spPr>
          <a:xfrm>
            <a:off x="0" y="0"/>
            <a:ext cx="12052300" cy="914400"/>
          </a:xfrm>
          <a:prstGeom prst="roundRect">
            <a:avLst/>
          </a:prstGeom>
          <a:solidFill>
            <a:schemeClr val="accent1"/>
          </a:solidFill>
        </p:spPr>
        <p:style>
          <a:lnRef idx="3">
            <a:schemeClr val="lt1"/>
          </a:lnRef>
          <a:fillRef idx="1">
            <a:schemeClr val="dk1"/>
          </a:fillRef>
          <a:effectRef idx="1">
            <a:schemeClr val="dk1"/>
          </a:effectRef>
          <a:fontRef idx="minor">
            <a:schemeClr val="lt1"/>
          </a:fontRef>
        </p:style>
        <p:txBody>
          <a:bodyPr anchor="ctr"/>
          <a:lstStyle/>
          <a:p>
            <a:pPr algn="ctr">
              <a:defRPr/>
            </a:pPr>
            <a:r>
              <a:rPr lang="en-IN" sz="2800" b="1" dirty="0">
                <a:solidFill>
                  <a:schemeClr val="bg1"/>
                </a:solidFill>
                <a:latin typeface="Arial" panose="020B0604020202020204" pitchFamily="34" charset="0"/>
                <a:cs typeface="Arial" panose="020B0604020202020204" pitchFamily="34" charset="0"/>
              </a:rPr>
              <a:t>Syllabus</a:t>
            </a:r>
          </a:p>
        </p:txBody>
      </p:sp>
      <p:sp>
        <p:nvSpPr>
          <p:cNvPr id="7171" name="TextBox 2"/>
          <p:cNvSpPr txBox="1">
            <a:spLocks noChangeArrowheads="1"/>
          </p:cNvSpPr>
          <p:nvPr/>
        </p:nvSpPr>
        <p:spPr bwMode="auto">
          <a:xfrm>
            <a:off x="533400" y="936625"/>
            <a:ext cx="11188700"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pPr>
            <a:r>
              <a:rPr lang="en-US" altLang="en-US" b="1" dirty="0">
                <a:solidFill>
                  <a:srgbClr val="000000"/>
                </a:solidFill>
              </a:rPr>
              <a:t>Module 1: INTRODUCTION TO INTERNET OF THINGS AND IOT DESIGN METHODOLOGIES 	</a:t>
            </a:r>
            <a:r>
              <a:rPr lang="en-US" altLang="en-US" b="1" dirty="0" smtClean="0">
                <a:solidFill>
                  <a:srgbClr val="000000"/>
                </a:solidFill>
              </a:rPr>
              <a:t>15 </a:t>
            </a:r>
            <a:r>
              <a:rPr lang="en-US" altLang="en-US" b="1" dirty="0" err="1">
                <a:solidFill>
                  <a:srgbClr val="000000"/>
                </a:solidFill>
              </a:rPr>
              <a:t>hrs</a:t>
            </a:r>
            <a:r>
              <a:rPr lang="en-US" altLang="en-US" b="1" dirty="0">
                <a:solidFill>
                  <a:srgbClr val="000000"/>
                </a:solidFill>
              </a:rPr>
              <a:t> </a:t>
            </a:r>
            <a:endParaRPr lang="en-US" altLang="en-US" dirty="0">
              <a:solidFill>
                <a:srgbClr val="000000"/>
              </a:solidFill>
            </a:endParaRPr>
          </a:p>
          <a:p>
            <a:pPr algn="just">
              <a:lnSpc>
                <a:spcPct val="150000"/>
              </a:lnSpc>
            </a:pPr>
            <a:r>
              <a:rPr lang="en-IN" altLang="en-US" dirty="0">
                <a:solidFill>
                  <a:srgbClr val="000000"/>
                </a:solidFill>
              </a:rPr>
              <a:t>Characteristics of IoT, Physical Design of IoT, IoT Protocols, IoT Reference Architecture, Logical Design of IoT, IoT Levels &amp; Deployment Templates, Domain Specific IoT, IoT Vs M2M Vs IoE, IoT Design Methodologies. 	</a:t>
            </a:r>
            <a:endParaRPr lang="en-IN" altLang="en-US" dirty="0"/>
          </a:p>
          <a:p>
            <a:pPr algn="just">
              <a:lnSpc>
                <a:spcPct val="150000"/>
              </a:lnSpc>
            </a:pPr>
            <a:r>
              <a:rPr lang="en-IN" altLang="en-US" b="1" dirty="0" smtClean="0">
                <a:solidFill>
                  <a:srgbClr val="000000"/>
                </a:solidFill>
              </a:rPr>
              <a:t>Module </a:t>
            </a:r>
            <a:r>
              <a:rPr lang="en-IN" altLang="en-US" b="1" dirty="0">
                <a:solidFill>
                  <a:srgbClr val="000000"/>
                </a:solidFill>
              </a:rPr>
              <a:t>2: </a:t>
            </a:r>
            <a:r>
              <a:rPr lang="en-IN" altLang="en-US" b="1" dirty="0">
                <a:solidFill>
                  <a:srgbClr val="FF0000"/>
                </a:solidFill>
              </a:rPr>
              <a:t>SYSTEM HARDWARE FOR IOT</a:t>
            </a:r>
            <a:r>
              <a:rPr lang="en-IN" altLang="en-US" b="1" dirty="0">
                <a:solidFill>
                  <a:srgbClr val="000000"/>
                </a:solidFill>
              </a:rPr>
              <a:t> 			</a:t>
            </a:r>
            <a:r>
              <a:rPr lang="en-IN" altLang="en-US" b="1" dirty="0" smtClean="0">
                <a:solidFill>
                  <a:srgbClr val="000000"/>
                </a:solidFill>
              </a:rPr>
              <a:t>                                           5 </a:t>
            </a:r>
            <a:r>
              <a:rPr lang="en-IN" altLang="en-US" b="1" dirty="0">
                <a:solidFill>
                  <a:srgbClr val="000000"/>
                </a:solidFill>
              </a:rPr>
              <a:t>hrs </a:t>
            </a:r>
          </a:p>
          <a:p>
            <a:pPr algn="just">
              <a:lnSpc>
                <a:spcPct val="150000"/>
              </a:lnSpc>
            </a:pPr>
            <a:r>
              <a:rPr lang="en-IN" altLang="en-US" dirty="0">
                <a:solidFill>
                  <a:srgbClr val="000000"/>
                </a:solidFill>
              </a:rPr>
              <a:t>Sensors and Actuators – </a:t>
            </a:r>
            <a:r>
              <a:rPr lang="en-IN" altLang="en-US" dirty="0">
                <a:solidFill>
                  <a:srgbClr val="FF0000"/>
                </a:solidFill>
              </a:rPr>
              <a:t>Hardware Kits: </a:t>
            </a:r>
            <a:r>
              <a:rPr lang="en-IN" altLang="en-US" dirty="0">
                <a:solidFill>
                  <a:srgbClr val="000000"/>
                </a:solidFill>
              </a:rPr>
              <a:t>Arduino, </a:t>
            </a:r>
            <a:r>
              <a:rPr lang="en-IN" altLang="en-US" dirty="0">
                <a:solidFill>
                  <a:srgbClr val="FF0000"/>
                </a:solidFill>
              </a:rPr>
              <a:t>Node MCU</a:t>
            </a:r>
            <a:r>
              <a:rPr lang="en-IN" altLang="en-US" dirty="0">
                <a:solidFill>
                  <a:srgbClr val="000000"/>
                </a:solidFill>
              </a:rPr>
              <a:t>, Raspberry Pi. Arduino UNO: Physical Design – Interfaces – Arduino IDE – Arduino Programming with examples: Digital IO – Analog IO – Serial Communication – Condition and Looping statements. Raspberry Pi: Physical Design – Interfaces – Pi programming using Python with examples – Python Packages for IoT. 	</a:t>
            </a:r>
          </a:p>
          <a:p>
            <a:pPr algn="just">
              <a:lnSpc>
                <a:spcPct val="150000"/>
              </a:lnSpc>
            </a:pPr>
            <a:r>
              <a:rPr lang="en-IN" altLang="en-US" b="1" dirty="0">
                <a:solidFill>
                  <a:srgbClr val="000000"/>
                </a:solidFill>
              </a:rPr>
              <a:t>Module 3: </a:t>
            </a:r>
            <a:r>
              <a:rPr lang="en-US" altLang="en-US" b="1" dirty="0">
                <a:solidFill>
                  <a:srgbClr val="000000"/>
                </a:solidFill>
              </a:rPr>
              <a:t>CLOUD AND DATA ANALYTICS FOR IOT			</a:t>
            </a:r>
            <a:r>
              <a:rPr lang="en-US" altLang="en-US" b="1" dirty="0" smtClean="0">
                <a:solidFill>
                  <a:srgbClr val="000000"/>
                </a:solidFill>
              </a:rPr>
              <a:t>                                          10 </a:t>
            </a:r>
            <a:r>
              <a:rPr lang="en-US" altLang="en-US" b="1" dirty="0" err="1">
                <a:solidFill>
                  <a:srgbClr val="000000"/>
                </a:solidFill>
              </a:rPr>
              <a:t>hrs</a:t>
            </a:r>
            <a:r>
              <a:rPr lang="en-US" altLang="en-US" b="1" dirty="0">
                <a:solidFill>
                  <a:srgbClr val="000000"/>
                </a:solidFill>
              </a:rPr>
              <a:t> </a:t>
            </a:r>
          </a:p>
          <a:p>
            <a:pPr algn="just">
              <a:lnSpc>
                <a:spcPct val="150000"/>
              </a:lnSpc>
            </a:pPr>
            <a:r>
              <a:rPr lang="en-US" altLang="en-US" dirty="0">
                <a:solidFill>
                  <a:srgbClr val="000000"/>
                </a:solidFill>
              </a:rPr>
              <a:t>Cloud: Types of Cloud - loT with Cloud challenges - Selection of cloud for loT applications - Fog and Edge computing for loT - Cloud security aspects for loT applications. Data Analytics for IoT: Overview of Hadoop ecosystem – MapReduce architecture – MapReduce Job Execution – MapReduce Schedulers. Case study: Internet of Medical Things (</a:t>
            </a:r>
            <a:r>
              <a:rPr lang="en-US" altLang="en-US" dirty="0" err="1">
                <a:solidFill>
                  <a:srgbClr val="000000"/>
                </a:solidFill>
              </a:rPr>
              <a:t>IoMT</a:t>
            </a:r>
            <a:r>
              <a:rPr lang="en-US" altLang="en-US" dirty="0">
                <a:solidFill>
                  <a:srgbClr val="000000"/>
                </a:solidFill>
              </a:rPr>
              <a:t>) 	</a:t>
            </a:r>
          </a:p>
          <a:p>
            <a:pPr algn="just"/>
            <a:endParaRPr lang="en-IN" altLang="en-US" dirty="0">
              <a:solidFill>
                <a:srgbClr val="000000"/>
              </a:solidFill>
            </a:endParaRPr>
          </a:p>
        </p:txBody>
      </p:sp>
    </p:spTree>
    <p:extLst>
      <p:ext uri="{BB962C8B-B14F-4D97-AF65-F5344CB8AC3E}">
        <p14:creationId xmlns:p14="http://schemas.microsoft.com/office/powerpoint/2010/main" val="1558329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19484B5-A645-040C-A319-185C6CD491CC}"/>
              </a:ext>
            </a:extLst>
          </p:cNvPr>
          <p:cNvSpPr/>
          <p:nvPr/>
        </p:nvSpPr>
        <p:spPr>
          <a:xfrm>
            <a:off x="101600" y="0"/>
            <a:ext cx="10552113" cy="1052513"/>
          </a:xfrm>
          <a:prstGeom prst="roundRect">
            <a:avLst/>
          </a:prstGeom>
          <a:solidFill>
            <a:schemeClr val="accent1"/>
          </a:solidFill>
        </p:spPr>
        <p:style>
          <a:lnRef idx="3">
            <a:schemeClr val="lt1"/>
          </a:lnRef>
          <a:fillRef idx="1">
            <a:schemeClr val="dk1"/>
          </a:fillRef>
          <a:effectRef idx="1">
            <a:schemeClr val="dk1"/>
          </a:effectRef>
          <a:fontRef idx="minor">
            <a:schemeClr val="lt1"/>
          </a:fontRef>
        </p:style>
        <p:txBody>
          <a:bodyPr anchor="ctr"/>
          <a:lstStyle/>
          <a:p>
            <a:pPr algn="ctr">
              <a:defRPr/>
            </a:pPr>
            <a:r>
              <a:rPr lang="en-IN" sz="3200" b="1" dirty="0">
                <a:solidFill>
                  <a:schemeClr val="bg1"/>
                </a:solidFill>
                <a:latin typeface="Arial" panose="020B0604020202020204" pitchFamily="34" charset="0"/>
                <a:cs typeface="Arial" panose="020B0604020202020204" pitchFamily="34" charset="0"/>
              </a:rPr>
              <a:t>Books to refer</a:t>
            </a:r>
          </a:p>
        </p:txBody>
      </p:sp>
      <p:sp>
        <p:nvSpPr>
          <p:cNvPr id="3" name="TextBox 2">
            <a:extLst>
              <a:ext uri="{FF2B5EF4-FFF2-40B4-BE49-F238E27FC236}">
                <a16:creationId xmlns:a16="http://schemas.microsoft.com/office/drawing/2014/main" id="{3AD99156-ED67-B649-9031-CC7C2E0FD3B2}"/>
              </a:ext>
            </a:extLst>
          </p:cNvPr>
          <p:cNvSpPr txBox="1"/>
          <p:nvPr/>
        </p:nvSpPr>
        <p:spPr>
          <a:xfrm>
            <a:off x="546100" y="1268413"/>
            <a:ext cx="10744200" cy="6348412"/>
          </a:xfrm>
          <a:prstGeom prst="rect">
            <a:avLst/>
          </a:prstGeom>
          <a:noFill/>
        </p:spPr>
        <p:txBody>
          <a:bodyPr wrap="square">
            <a:spAutoFit/>
          </a:bodyPr>
          <a:lstStyle/>
          <a:p>
            <a:pPr algn="just">
              <a:defRPr/>
            </a:pPr>
            <a:r>
              <a:rPr lang="en-US" sz="2500" b="1" dirty="0">
                <a:solidFill>
                  <a:srgbClr val="FF0000"/>
                </a:solidFill>
              </a:rPr>
              <a:t>Text Books:</a:t>
            </a:r>
            <a:r>
              <a:rPr lang="en-US" sz="1350" dirty="0">
                <a:solidFill>
                  <a:srgbClr val="000000"/>
                </a:solidFill>
              </a:rPr>
              <a:t>	</a:t>
            </a:r>
          </a:p>
          <a:p>
            <a:pPr marL="214313" indent="-214313" algn="just">
              <a:buFont typeface="Wingdings" panose="05000000000000000000" pitchFamily="2" charset="2"/>
              <a:buChar char="q"/>
              <a:defRPr/>
            </a:pPr>
            <a:r>
              <a:rPr lang="en-US" sz="2000" dirty="0" err="1"/>
              <a:t>Arshdeep</a:t>
            </a:r>
            <a:r>
              <a:rPr lang="en-US" sz="2000" dirty="0"/>
              <a:t> </a:t>
            </a:r>
            <a:r>
              <a:rPr lang="en-US" sz="2000" dirty="0" err="1"/>
              <a:t>Bahga</a:t>
            </a:r>
            <a:r>
              <a:rPr lang="en-US" sz="2000" dirty="0"/>
              <a:t> and Vijay </a:t>
            </a:r>
            <a:r>
              <a:rPr lang="en-US" sz="2000" dirty="0" err="1"/>
              <a:t>Madisetti</a:t>
            </a:r>
            <a:r>
              <a:rPr lang="en-US" sz="2000" dirty="0"/>
              <a:t>, “Internet of Things: A Hands-on Approach”, 1st Edition, Universities Press, 2015. 	</a:t>
            </a:r>
          </a:p>
          <a:p>
            <a:pPr marL="214313" indent="-214313" algn="just">
              <a:buFont typeface="Wingdings" panose="05000000000000000000" pitchFamily="2" charset="2"/>
              <a:buChar char="q"/>
              <a:defRPr/>
            </a:pPr>
            <a:r>
              <a:rPr lang="en-US" sz="2000" dirty="0"/>
              <a:t>Hanes David, </a:t>
            </a:r>
            <a:r>
              <a:rPr lang="en-US" sz="2000" dirty="0" err="1"/>
              <a:t>Salgueiro</a:t>
            </a:r>
            <a:r>
              <a:rPr lang="en-US" sz="2000" dirty="0"/>
              <a:t> Gonzalo, </a:t>
            </a:r>
            <a:r>
              <a:rPr lang="en-US" sz="2000" dirty="0" err="1"/>
              <a:t>Grossetete</a:t>
            </a:r>
            <a:r>
              <a:rPr lang="en-US" sz="2000" dirty="0"/>
              <a:t> Patrick, Barton Rob, Henry Jerome, “IoT Fundamentals: Networking Technologies, Protocols and Use Cases for the Internet of Things”, 1st Edition, Pearson Education, </a:t>
            </a:r>
            <a:r>
              <a:rPr lang="en-US" sz="2000" dirty="0"/>
              <a:t>2017</a:t>
            </a:r>
            <a:r>
              <a:rPr lang="en-US" sz="2000" dirty="0"/>
              <a:t>	</a:t>
            </a:r>
          </a:p>
          <a:p>
            <a:pPr marL="214313" indent="-214313" algn="just">
              <a:buFont typeface="Wingdings" panose="05000000000000000000" pitchFamily="2" charset="2"/>
              <a:buChar char="q"/>
              <a:defRPr/>
            </a:pPr>
            <a:r>
              <a:rPr lang="en-US" sz="2000" dirty="0"/>
              <a:t>Mark Torvalds, “Arduino Programming: Step-by-step guide to mastering Arduino hardware and software”, 2nd Edition, 2018.</a:t>
            </a:r>
          </a:p>
          <a:p>
            <a:pPr algn="just">
              <a:defRPr/>
            </a:pPr>
            <a:endParaRPr lang="en-US" sz="2500" dirty="0"/>
          </a:p>
          <a:p>
            <a:pPr algn="just">
              <a:defRPr/>
            </a:pPr>
            <a:r>
              <a:rPr lang="en-US" sz="2500" b="1" dirty="0">
                <a:solidFill>
                  <a:srgbClr val="FF0000"/>
                </a:solidFill>
              </a:rPr>
              <a:t>Reference Books:</a:t>
            </a:r>
            <a:r>
              <a:rPr lang="en-US" sz="2500" b="1" dirty="0"/>
              <a:t> </a:t>
            </a:r>
          </a:p>
          <a:p>
            <a:pPr marL="214313" indent="-214313" algn="just">
              <a:buFont typeface="Wingdings" panose="05000000000000000000" pitchFamily="2" charset="2"/>
              <a:buChar char="q"/>
              <a:defRPr/>
            </a:pPr>
            <a:r>
              <a:rPr lang="en-US" sz="2000" dirty="0" err="1"/>
              <a:t>Srinivasa</a:t>
            </a:r>
            <a:r>
              <a:rPr lang="en-US" sz="2000" dirty="0"/>
              <a:t> K. G.,</a:t>
            </a:r>
            <a:r>
              <a:rPr lang="en-US" sz="2000" dirty="0" err="1"/>
              <a:t>Siddesh</a:t>
            </a:r>
            <a:r>
              <a:rPr lang="en-US" sz="2000" dirty="0"/>
              <a:t> G. M., </a:t>
            </a:r>
            <a:r>
              <a:rPr lang="en-US" sz="2000" dirty="0" err="1"/>
              <a:t>Hanumantha</a:t>
            </a:r>
            <a:r>
              <a:rPr lang="en-US" sz="2000" dirty="0"/>
              <a:t> Raju R., “Internet of Things”, 1st Edition, Cengage Learning India Pvt. Ltd., 2018. 	</a:t>
            </a:r>
          </a:p>
          <a:p>
            <a:pPr marL="214313" indent="-214313" algn="just">
              <a:buFont typeface="Wingdings" panose="05000000000000000000" pitchFamily="2" charset="2"/>
              <a:buChar char="q"/>
              <a:defRPr/>
            </a:pPr>
            <a:r>
              <a:rPr lang="en-US" sz="2000" dirty="0"/>
              <a:t>Raj Kamal, “Internet of Things”, 1st Edition, McGraw Hill Education, 2017. </a:t>
            </a:r>
          </a:p>
          <a:p>
            <a:pPr marL="214313" indent="-214313" algn="just">
              <a:buFont typeface="Wingdings" panose="05000000000000000000" pitchFamily="2" charset="2"/>
              <a:buChar char="q"/>
              <a:defRPr/>
            </a:pPr>
            <a:r>
              <a:rPr lang="en-US" sz="2000" dirty="0"/>
              <a:t>Dr. Simon Monk, “Programming the Raspberry Pi: Getting Started with Python”, 2nd Edition, McGraw-Hill Education, 2016. 	</a:t>
            </a:r>
          </a:p>
          <a:p>
            <a:pPr marL="214313" indent="-214313" algn="just">
              <a:buFont typeface="Wingdings" panose="05000000000000000000" pitchFamily="2" charset="2"/>
              <a:buChar char="q"/>
              <a:defRPr/>
            </a:pPr>
            <a:r>
              <a:rPr lang="en-US" sz="2000" dirty="0"/>
              <a:t>Blum, “Arduino Programming”, 1st Edition, Pearson Education, 2020. 	</a:t>
            </a:r>
          </a:p>
          <a:p>
            <a:pPr marL="214313" indent="-214313" algn="just">
              <a:buFont typeface="Wingdings" panose="05000000000000000000" pitchFamily="2" charset="2"/>
              <a:buChar char="q"/>
              <a:defRPr/>
            </a:pPr>
            <a:endParaRPr lang="en-US" sz="2000" b="1" dirty="0"/>
          </a:p>
          <a:p>
            <a:pPr algn="just">
              <a:defRPr/>
            </a:pPr>
            <a:r>
              <a:rPr lang="en-US" sz="2000" dirty="0"/>
              <a:t>	</a:t>
            </a:r>
          </a:p>
          <a:p>
            <a:pPr algn="just">
              <a:defRPr/>
            </a:pPr>
            <a:r>
              <a:rPr lang="en-US" dirty="0"/>
              <a:t> </a:t>
            </a:r>
            <a:r>
              <a:rPr lang="en-US" sz="1350" dirty="0"/>
              <a:t>	</a:t>
            </a:r>
          </a:p>
          <a:p>
            <a:pPr algn="just">
              <a:defRPr/>
            </a:pPr>
            <a:endParaRPr lang="en-IN" sz="1350" dirty="0">
              <a:solidFill>
                <a:srgbClr val="000000"/>
              </a:solidFill>
            </a:endParaRPr>
          </a:p>
        </p:txBody>
      </p:sp>
      <p:pic>
        <p:nvPicPr>
          <p:cNvPr id="5" name="Picture 4"/>
          <p:cNvPicPr>
            <a:picLocks noChangeAspect="1"/>
          </p:cNvPicPr>
          <p:nvPr/>
        </p:nvPicPr>
        <p:blipFill>
          <a:blip r:embed="rId2">
            <a:duotone>
              <a:schemeClr val="accent5">
                <a:shade val="45000"/>
                <a:satMod val="135000"/>
              </a:schemeClr>
              <a:prstClr val="white"/>
            </a:duotone>
          </a:blip>
          <a:stretch>
            <a:fillRect/>
          </a:stretch>
        </p:blipFill>
        <p:spPr>
          <a:xfrm>
            <a:off x="10606515" y="0"/>
            <a:ext cx="1585485" cy="980728"/>
          </a:xfrm>
          <a:prstGeom prst="rect">
            <a:avLst/>
          </a:prstGeom>
        </p:spPr>
      </p:pic>
    </p:spTree>
    <p:extLst>
      <p:ext uri="{BB962C8B-B14F-4D97-AF65-F5344CB8AC3E}">
        <p14:creationId xmlns:p14="http://schemas.microsoft.com/office/powerpoint/2010/main" val="20493926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92100" y="365125"/>
            <a:ext cx="11696700" cy="471488"/>
          </a:xfrm>
        </p:spPr>
        <p:txBody>
          <a:bodyPr>
            <a:normAutofit fontScale="90000"/>
          </a:bodyPr>
          <a:lstStyle/>
          <a:p>
            <a:pPr algn="ctr"/>
            <a:r>
              <a:rPr lang="en-IN" altLang="en-US" sz="3200" b="1" dirty="0" smtClean="0">
                <a:solidFill>
                  <a:srgbClr val="002060"/>
                </a:solidFill>
                <a:latin typeface="Arial" panose="020B0604020202020204" pitchFamily="34" charset="0"/>
                <a:cs typeface="Arial" panose="020B0604020202020204" pitchFamily="34" charset="0"/>
              </a:rPr>
              <a:t>Module 2</a:t>
            </a:r>
          </a:p>
        </p:txBody>
      </p:sp>
      <p:sp>
        <p:nvSpPr>
          <p:cNvPr id="9219" name="Content Placeholder 2"/>
          <p:cNvSpPr>
            <a:spLocks noGrp="1"/>
          </p:cNvSpPr>
          <p:nvPr>
            <p:ph idx="1"/>
          </p:nvPr>
        </p:nvSpPr>
        <p:spPr>
          <a:xfrm>
            <a:off x="685800" y="993775"/>
            <a:ext cx="10744199" cy="3139321"/>
          </a:xfrm>
        </p:spPr>
        <p:txBody>
          <a:bodyPr>
            <a:normAutofit/>
          </a:bodyPr>
          <a:lstStyle/>
          <a:p>
            <a:pPr algn="just">
              <a:buFontTx/>
              <a:buNone/>
            </a:pPr>
            <a:r>
              <a:rPr lang="en-IN" altLang="en-US" sz="2000" b="1" dirty="0" smtClean="0">
                <a:latin typeface="Arial" panose="020B0604020202020204" pitchFamily="34" charset="0"/>
                <a:cs typeface="Arial" panose="020B0604020202020204" pitchFamily="34" charset="0"/>
              </a:rPr>
              <a:t>SYSTEM HARDWARE FOR IOT:                   </a:t>
            </a:r>
            <a:r>
              <a:rPr lang="en-IN" altLang="en-US" sz="2000" b="1" dirty="0" smtClean="0">
                <a:solidFill>
                  <a:srgbClr val="000000"/>
                </a:solidFill>
                <a:latin typeface="Arial" panose="020B0604020202020204" pitchFamily="34" charset="0"/>
                <a:ea typeface="Carlito"/>
              </a:rPr>
              <a:t>			    </a:t>
            </a:r>
            <a:r>
              <a:rPr lang="en-IN" altLang="en-US" sz="2000" b="1" dirty="0" smtClean="0">
                <a:solidFill>
                  <a:srgbClr val="000000"/>
                </a:solidFill>
                <a:latin typeface="Arial" panose="020B0604020202020204" pitchFamily="34" charset="0"/>
                <a:ea typeface="Carlito"/>
              </a:rPr>
              <a:t>                            5 </a:t>
            </a:r>
            <a:r>
              <a:rPr lang="en-IN" altLang="en-US" sz="2000" b="1" dirty="0" smtClean="0">
                <a:solidFill>
                  <a:srgbClr val="000000"/>
                </a:solidFill>
                <a:latin typeface="Arial" panose="020B0604020202020204" pitchFamily="34" charset="0"/>
                <a:ea typeface="Carlito"/>
              </a:rPr>
              <a:t>hrs </a:t>
            </a:r>
          </a:p>
          <a:p>
            <a:pPr algn="just">
              <a:lnSpc>
                <a:spcPct val="150000"/>
              </a:lnSpc>
              <a:buFontTx/>
              <a:buNone/>
            </a:pPr>
            <a:r>
              <a:rPr lang="en-IN" altLang="en-US" sz="2000" b="1" dirty="0" smtClean="0">
                <a:solidFill>
                  <a:srgbClr val="FF0000"/>
                </a:solidFill>
                <a:latin typeface="Arial" panose="020B0604020202020204" pitchFamily="34" charset="0"/>
                <a:ea typeface="Carlito"/>
              </a:rPr>
              <a:t>Sensors and Actuators </a:t>
            </a:r>
            <a:r>
              <a:rPr lang="en-IN" altLang="en-US" sz="2000" dirty="0" smtClean="0">
                <a:solidFill>
                  <a:srgbClr val="000000"/>
                </a:solidFill>
                <a:latin typeface="Arial" panose="020B0604020202020204" pitchFamily="34" charset="0"/>
                <a:ea typeface="Carlito"/>
              </a:rPr>
              <a:t>– Hardware Kits: Arduino, </a:t>
            </a:r>
            <a:r>
              <a:rPr lang="en-IN" altLang="en-US" sz="2000" b="1" dirty="0" smtClean="0">
                <a:solidFill>
                  <a:srgbClr val="FF0000"/>
                </a:solidFill>
                <a:latin typeface="Arial" panose="020B0604020202020204" pitchFamily="34" charset="0"/>
                <a:ea typeface="Carlito"/>
              </a:rPr>
              <a:t>Node MCU</a:t>
            </a:r>
            <a:r>
              <a:rPr lang="en-IN" altLang="en-US" sz="2000" dirty="0" smtClean="0">
                <a:solidFill>
                  <a:srgbClr val="000000"/>
                </a:solidFill>
                <a:latin typeface="Arial" panose="020B0604020202020204" pitchFamily="34" charset="0"/>
                <a:ea typeface="Carlito"/>
              </a:rPr>
              <a:t>, Raspberry Pi. Arduino UNO: Physical Design – Interfaces – Arduino IDE – Arduino Programming with examples: Digital IO – Analog IO – Serial Communication – Condition and Looping statements. Raspberry Pi: Physical Design – Interfaces – Pi programming using Python with examples – Python Packages for IoT</a:t>
            </a:r>
            <a:endParaRPr lang="en-US" altLang="en-US" sz="2000" dirty="0" smtClean="0">
              <a:solidFill>
                <a:srgbClr val="002060"/>
              </a:solidFill>
              <a:latin typeface="Arial" panose="020B0604020202020204" pitchFamily="34" charset="0"/>
              <a:cs typeface="Arial" panose="020B0604020202020204" pitchFamily="34" charset="0"/>
            </a:endParaRPr>
          </a:p>
        </p:txBody>
      </p:sp>
      <p:sp>
        <p:nvSpPr>
          <p:cNvPr id="9220" name="Slide Number Placeholder 4"/>
          <p:cNvSpPr>
            <a:spLocks noGrp="1"/>
          </p:cNvSpPr>
          <p:nvPr>
            <p:ph type="sldNum" sz="quarter" idx="12"/>
          </p:nvPr>
        </p:nvSpPr>
        <p:spPr bwMode="auto">
          <a:xfrm>
            <a:off x="9625013" y="0"/>
            <a:ext cx="946150"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D5BED47-454A-4E00-BDCD-3430B32FE732}" type="slidenum">
              <a:rPr lang="en-IN" altLang="en-US" sz="1400" b="1" smtClean="0">
                <a:solidFill>
                  <a:srgbClr val="898989"/>
                </a:solidFill>
              </a:rPr>
              <a:pPr/>
              <a:t>5</a:t>
            </a:fld>
            <a:endParaRPr lang="en-IN" altLang="en-US" sz="1400" b="1" smtClean="0">
              <a:solidFill>
                <a:srgbClr val="898989"/>
              </a:solidFill>
            </a:endParaRPr>
          </a:p>
        </p:txBody>
      </p:sp>
      <p:sp>
        <p:nvSpPr>
          <p:cNvPr id="9221" name="Footer Placeholder 3"/>
          <p:cNvSpPr txBox="1">
            <a:spLocks/>
          </p:cNvSpPr>
          <p:nvPr/>
        </p:nvSpPr>
        <p:spPr bwMode="auto">
          <a:xfrm>
            <a:off x="1703388" y="6396038"/>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1400">
                <a:latin typeface="Arial" panose="020B0604020202020204" pitchFamily="34" charset="0"/>
              </a:rPr>
              <a:t>Module 2</a:t>
            </a:r>
          </a:p>
        </p:txBody>
      </p:sp>
      <p:sp>
        <p:nvSpPr>
          <p:cNvPr id="9222" name="TextBox 7"/>
          <p:cNvSpPr txBox="1">
            <a:spLocks noChangeArrowheads="1"/>
          </p:cNvSpPr>
          <p:nvPr/>
        </p:nvSpPr>
        <p:spPr bwMode="auto">
          <a:xfrm>
            <a:off x="4403725" y="5995988"/>
            <a:ext cx="3600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IN" altLang="en-US" sz="2000" b="1">
                <a:solidFill>
                  <a:srgbClr val="C00000"/>
                </a:solidFill>
              </a:rPr>
              <a:t>Watch this video: </a:t>
            </a:r>
            <a:r>
              <a:rPr lang="en-IN" altLang="en-US" sz="2000" b="1">
                <a:solidFill>
                  <a:srgbClr val="C00000"/>
                </a:solidFill>
                <a:hlinkClick r:id="rId3"/>
              </a:rPr>
              <a:t>Click Here</a:t>
            </a:r>
            <a:endParaRPr lang="en-US" altLang="en-US" sz="2000" u="sng"/>
          </a:p>
        </p:txBody>
      </p:sp>
      <p:sp>
        <p:nvSpPr>
          <p:cNvPr id="10" name="object 2"/>
          <p:cNvSpPr/>
          <p:nvPr/>
        </p:nvSpPr>
        <p:spPr>
          <a:xfrm>
            <a:off x="-100013" y="4021138"/>
            <a:ext cx="4183063" cy="2532062"/>
          </a:xfrm>
          <a:prstGeom prst="rect">
            <a:avLst/>
          </a:prstGeom>
          <a:blipFill>
            <a:blip r:embed="rId4" cstate="print"/>
            <a:stretch>
              <a:fillRect/>
            </a:stretch>
          </a:blipFill>
        </p:spPr>
        <p:txBody>
          <a:bodyPr lIns="0" tIns="0" rIns="0" bIns="0"/>
          <a:lstStyle/>
          <a:p>
            <a:pPr>
              <a:defRPr/>
            </a:pPr>
            <a:endParaRPr sz="1632"/>
          </a:p>
        </p:txBody>
      </p:sp>
      <p:pic>
        <p:nvPicPr>
          <p:cNvPr id="9224" name="Pictur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144000" y="4494213"/>
            <a:ext cx="1524000"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24102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14C0BD-2239-49DE-A73E-35A27739A85E}"/>
              </a:ext>
            </a:extLst>
          </p:cNvPr>
          <p:cNvSpPr>
            <a:spLocks noGrp="1"/>
          </p:cNvSpPr>
          <p:nvPr>
            <p:ph type="title"/>
          </p:nvPr>
        </p:nvSpPr>
        <p:spPr/>
        <p:txBody>
          <a:bodyPr/>
          <a:lstStyle/>
          <a:p>
            <a:pPr algn="ctr"/>
            <a:r>
              <a:rPr lang="en-IN" b="1" dirty="0" smtClean="0">
                <a:solidFill>
                  <a:srgbClr val="7030A0"/>
                </a:solidFill>
                <a:latin typeface="Arial" panose="020B0604020202020204" pitchFamily="34" charset="0"/>
                <a:cs typeface="Arial" panose="020B0604020202020204" pitchFamily="34" charset="0"/>
              </a:rPr>
              <a:t>2.3 Node </a:t>
            </a:r>
            <a:r>
              <a:rPr lang="en-IN" b="1" dirty="0">
                <a:solidFill>
                  <a:srgbClr val="7030A0"/>
                </a:solidFill>
                <a:latin typeface="Arial" panose="020B0604020202020204" pitchFamily="34" charset="0"/>
                <a:cs typeface="Arial" panose="020B0604020202020204" pitchFamily="34" charset="0"/>
              </a:rPr>
              <a:t>MCU</a:t>
            </a:r>
          </a:p>
        </p:txBody>
      </p:sp>
      <p:pic>
        <p:nvPicPr>
          <p:cNvPr id="6" name="Content Placeholder 5">
            <a:extLst>
              <a:ext uri="{FF2B5EF4-FFF2-40B4-BE49-F238E27FC236}">
                <a16:creationId xmlns:a16="http://schemas.microsoft.com/office/drawing/2014/main" id="{34AA41C6-F3D7-4F88-B4D9-7B5698DC4001}"/>
              </a:ext>
            </a:extLst>
          </p:cNvPr>
          <p:cNvPicPr>
            <a:picLocks noGrp="1" noChangeAspect="1"/>
          </p:cNvPicPr>
          <p:nvPr>
            <p:ph idx="1"/>
          </p:nvPr>
        </p:nvPicPr>
        <p:blipFill>
          <a:blip r:embed="rId2"/>
          <a:stretch>
            <a:fillRect/>
          </a:stretch>
        </p:blipFill>
        <p:spPr>
          <a:xfrm>
            <a:off x="838200" y="1507963"/>
            <a:ext cx="8741898" cy="5065558"/>
          </a:xfrm>
          <a:prstGeom prst="rect">
            <a:avLst/>
          </a:prstGeom>
        </p:spPr>
      </p:pic>
    </p:spTree>
    <p:extLst>
      <p:ext uri="{BB962C8B-B14F-4D97-AF65-F5344CB8AC3E}">
        <p14:creationId xmlns:p14="http://schemas.microsoft.com/office/powerpoint/2010/main" val="2632976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A4EC0-617A-4F75-A5EE-A0BD65BDFD45}"/>
              </a:ext>
            </a:extLst>
          </p:cNvPr>
          <p:cNvSpPr>
            <a:spLocks noGrp="1"/>
          </p:cNvSpPr>
          <p:nvPr>
            <p:ph type="title"/>
          </p:nvPr>
        </p:nvSpPr>
        <p:spPr/>
        <p:txBody>
          <a:bodyPr/>
          <a:lstStyle/>
          <a:p>
            <a:pPr algn="ctr"/>
            <a:r>
              <a:rPr lang="en-IN" b="1" dirty="0" smtClean="0">
                <a:solidFill>
                  <a:srgbClr val="7030A0"/>
                </a:solidFill>
                <a:latin typeface="Arial" panose="020B0604020202020204" pitchFamily="34" charset="0"/>
                <a:cs typeface="Arial" panose="020B0604020202020204" pitchFamily="34" charset="0"/>
              </a:rPr>
              <a:t>2.3 Node </a:t>
            </a:r>
            <a:r>
              <a:rPr lang="en-IN" b="1" dirty="0">
                <a:solidFill>
                  <a:srgbClr val="7030A0"/>
                </a:solidFill>
                <a:latin typeface="Arial" panose="020B0604020202020204" pitchFamily="34" charset="0"/>
                <a:cs typeface="Arial" panose="020B0604020202020204" pitchFamily="34" charset="0"/>
              </a:rPr>
              <a:t>MCU</a:t>
            </a:r>
            <a:endParaRPr lang="en-IN" dirty="0"/>
          </a:p>
        </p:txBody>
      </p:sp>
      <p:pic>
        <p:nvPicPr>
          <p:cNvPr id="4" name="Content Placeholder 3">
            <a:extLst>
              <a:ext uri="{FF2B5EF4-FFF2-40B4-BE49-F238E27FC236}">
                <a16:creationId xmlns:a16="http://schemas.microsoft.com/office/drawing/2014/main" id="{5D5DCD38-7E6D-4A2A-92D7-1BD8C94948A1}"/>
              </a:ext>
            </a:extLst>
          </p:cNvPr>
          <p:cNvPicPr>
            <a:picLocks noGrp="1" noChangeAspect="1"/>
          </p:cNvPicPr>
          <p:nvPr>
            <p:ph idx="1"/>
          </p:nvPr>
        </p:nvPicPr>
        <p:blipFill>
          <a:blip r:embed="rId2"/>
          <a:stretch>
            <a:fillRect/>
          </a:stretch>
        </p:blipFill>
        <p:spPr>
          <a:xfrm>
            <a:off x="1404875" y="1958129"/>
            <a:ext cx="9948925" cy="4712367"/>
          </a:xfrm>
          <a:prstGeom prst="rect">
            <a:avLst/>
          </a:prstGeom>
        </p:spPr>
      </p:pic>
    </p:spTree>
    <p:extLst>
      <p:ext uri="{BB962C8B-B14F-4D97-AF65-F5344CB8AC3E}">
        <p14:creationId xmlns:p14="http://schemas.microsoft.com/office/powerpoint/2010/main" val="2849203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9FDCAEC-FF16-49C4-9D4B-6F1F4BF159BA}"/>
              </a:ext>
            </a:extLst>
          </p:cNvPr>
          <p:cNvPicPr>
            <a:picLocks noGrp="1" noChangeAspect="1"/>
          </p:cNvPicPr>
          <p:nvPr>
            <p:ph idx="1"/>
          </p:nvPr>
        </p:nvPicPr>
        <p:blipFill>
          <a:blip r:embed="rId2"/>
          <a:stretch>
            <a:fillRect/>
          </a:stretch>
        </p:blipFill>
        <p:spPr>
          <a:xfrm>
            <a:off x="1117600" y="216461"/>
            <a:ext cx="10058400" cy="6104872"/>
          </a:xfrm>
          <a:prstGeom prst="rect">
            <a:avLst/>
          </a:prstGeom>
        </p:spPr>
      </p:pic>
    </p:spTree>
    <p:extLst>
      <p:ext uri="{BB962C8B-B14F-4D97-AF65-F5344CB8AC3E}">
        <p14:creationId xmlns:p14="http://schemas.microsoft.com/office/powerpoint/2010/main" val="2816488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479603-9B66-4B24-814F-DF54E1E8002B}"/>
              </a:ext>
            </a:extLst>
          </p:cNvPr>
          <p:cNvPicPr>
            <a:picLocks noChangeAspect="1"/>
          </p:cNvPicPr>
          <p:nvPr/>
        </p:nvPicPr>
        <p:blipFill>
          <a:blip r:embed="rId2"/>
          <a:stretch>
            <a:fillRect/>
          </a:stretch>
        </p:blipFill>
        <p:spPr>
          <a:xfrm>
            <a:off x="1097410" y="220404"/>
            <a:ext cx="9997179" cy="6417191"/>
          </a:xfrm>
          <a:prstGeom prst="rect">
            <a:avLst/>
          </a:prstGeom>
        </p:spPr>
      </p:pic>
    </p:spTree>
    <p:extLst>
      <p:ext uri="{BB962C8B-B14F-4D97-AF65-F5344CB8AC3E}">
        <p14:creationId xmlns:p14="http://schemas.microsoft.com/office/powerpoint/2010/main" val="4100046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99E-E3B0-4DE6-A0A4-C308F8B50DFB}"/>
              </a:ext>
            </a:extLst>
          </p:cNvPr>
          <p:cNvSpPr>
            <a:spLocks noGrp="1"/>
          </p:cNvSpPr>
          <p:nvPr>
            <p:ph type="title"/>
          </p:nvPr>
        </p:nvSpPr>
        <p:spPr/>
        <p:txBody>
          <a:bodyPr/>
          <a:lstStyle/>
          <a:p>
            <a:r>
              <a:rPr lang="en-IN" b="1" dirty="0" smtClean="0">
                <a:solidFill>
                  <a:srgbClr val="7030A0"/>
                </a:solidFill>
              </a:rPr>
              <a:t>2.3 Features </a:t>
            </a:r>
            <a:r>
              <a:rPr lang="en-IN" b="1" dirty="0">
                <a:solidFill>
                  <a:srgbClr val="7030A0"/>
                </a:solidFill>
              </a:rPr>
              <a:t>of NODE MCU</a:t>
            </a:r>
          </a:p>
        </p:txBody>
      </p:sp>
      <p:sp>
        <p:nvSpPr>
          <p:cNvPr id="3" name="Content Placeholder 2">
            <a:extLst>
              <a:ext uri="{FF2B5EF4-FFF2-40B4-BE49-F238E27FC236}">
                <a16:creationId xmlns:a16="http://schemas.microsoft.com/office/drawing/2014/main" id="{4045A85B-FC09-404B-9327-BA2665A4754E}"/>
              </a:ext>
            </a:extLst>
          </p:cNvPr>
          <p:cNvSpPr>
            <a:spLocks noGrp="1"/>
          </p:cNvSpPr>
          <p:nvPr>
            <p:ph idx="1"/>
          </p:nvPr>
        </p:nvSpPr>
        <p:spPr/>
        <p:txBody>
          <a:bodyPr>
            <a:normAutofit fontScale="85000" lnSpcReduction="20000"/>
          </a:bodyPr>
          <a:lstStyle/>
          <a:p>
            <a:pPr marL="0" lvl="0" indent="0" eaLnBrk="0" fontAlgn="base" hangingPunct="0">
              <a:lnSpc>
                <a:spcPct val="150000"/>
              </a:lnSpc>
              <a:spcBef>
                <a:spcPct val="0"/>
              </a:spcBef>
              <a:spcAft>
                <a:spcPct val="0"/>
              </a:spcAft>
              <a:buFontTx/>
              <a:buChar char="•"/>
            </a:pPr>
            <a:r>
              <a:rPr lang="en-US" altLang="en-US" b="1" dirty="0">
                <a:latin typeface="+mj-lt"/>
              </a:rPr>
              <a:t>Microcontroller: ESP8266EX</a:t>
            </a:r>
          </a:p>
          <a:p>
            <a:pPr marL="0" lvl="0" indent="0" eaLnBrk="0" fontAlgn="base" hangingPunct="0">
              <a:lnSpc>
                <a:spcPct val="150000"/>
              </a:lnSpc>
              <a:spcBef>
                <a:spcPct val="0"/>
              </a:spcBef>
              <a:spcAft>
                <a:spcPct val="0"/>
              </a:spcAft>
              <a:buFontTx/>
              <a:buChar char="•"/>
            </a:pPr>
            <a:r>
              <a:rPr lang="en-US" altLang="en-US" b="1" dirty="0">
                <a:latin typeface="+mj-lt"/>
              </a:rPr>
              <a:t>Processor: 32-bit </a:t>
            </a:r>
            <a:r>
              <a:rPr lang="en-US" altLang="en-US" b="1" dirty="0" err="1">
                <a:latin typeface="+mj-lt"/>
              </a:rPr>
              <a:t>Tensilica</a:t>
            </a:r>
            <a:r>
              <a:rPr lang="en-US" altLang="en-US" b="1" dirty="0">
                <a:latin typeface="+mj-lt"/>
              </a:rPr>
              <a:t> L106 RISC processor </a:t>
            </a:r>
          </a:p>
          <a:p>
            <a:pPr>
              <a:lnSpc>
                <a:spcPct val="150000"/>
              </a:lnSpc>
            </a:pPr>
            <a:r>
              <a:rPr lang="en-GB" b="1" dirty="0">
                <a:latin typeface="+mj-lt"/>
              </a:rPr>
              <a:t>Clock Speed: 80 MHz (can be overclocked to 160 MHz)</a:t>
            </a:r>
          </a:p>
          <a:p>
            <a:pPr marL="0" lvl="0" indent="0" eaLnBrk="0" fontAlgn="base" hangingPunct="0">
              <a:lnSpc>
                <a:spcPct val="150000"/>
              </a:lnSpc>
              <a:spcBef>
                <a:spcPct val="0"/>
              </a:spcBef>
              <a:spcAft>
                <a:spcPct val="0"/>
              </a:spcAft>
              <a:buFontTx/>
              <a:buChar char="•"/>
            </a:pPr>
            <a:r>
              <a:rPr lang="en-US" altLang="en-US" b="1" dirty="0">
                <a:latin typeface="+mj-lt"/>
              </a:rPr>
              <a:t>Flash Memory: 4MB (default), expandable up to 16MB</a:t>
            </a:r>
          </a:p>
          <a:p>
            <a:pPr marL="0" lvl="0" indent="0" eaLnBrk="0" fontAlgn="base" hangingPunct="0">
              <a:lnSpc>
                <a:spcPct val="150000"/>
              </a:lnSpc>
              <a:spcBef>
                <a:spcPct val="0"/>
              </a:spcBef>
              <a:spcAft>
                <a:spcPct val="0"/>
              </a:spcAft>
              <a:buFontTx/>
              <a:buChar char="•"/>
            </a:pPr>
            <a:r>
              <a:rPr lang="en-US" altLang="en-US" b="1" dirty="0">
                <a:latin typeface="+mj-lt"/>
              </a:rPr>
              <a:t>RAM: 64KB instruction RAM + 96KB data RAM</a:t>
            </a:r>
          </a:p>
          <a:p>
            <a:pPr>
              <a:lnSpc>
                <a:spcPct val="150000"/>
              </a:lnSpc>
            </a:pPr>
            <a:r>
              <a:rPr lang="en-IN" b="1" dirty="0">
                <a:latin typeface="+mj-lt"/>
              </a:rPr>
              <a:t>Wi-Fi: 802.11 b/g/n (2.4 GHz) with WPA/WPA2 security</a:t>
            </a:r>
          </a:p>
          <a:p>
            <a:pPr marL="0" lvl="0" indent="0" eaLnBrk="0" fontAlgn="base" hangingPunct="0">
              <a:lnSpc>
                <a:spcPct val="150000"/>
              </a:lnSpc>
              <a:spcBef>
                <a:spcPct val="0"/>
              </a:spcBef>
              <a:spcAft>
                <a:spcPct val="0"/>
              </a:spcAft>
              <a:buFontTx/>
              <a:buChar char="•"/>
            </a:pPr>
            <a:r>
              <a:rPr lang="en-US" altLang="en-US" b="1" dirty="0">
                <a:latin typeface="+mj-lt"/>
              </a:rPr>
              <a:t>SPI, UART, I2C Support: Communication with external devices</a:t>
            </a:r>
          </a:p>
          <a:p>
            <a:pPr marL="0" lvl="0" indent="0" eaLnBrk="0" fontAlgn="base" hangingPunct="0">
              <a:lnSpc>
                <a:spcPct val="150000"/>
              </a:lnSpc>
              <a:spcBef>
                <a:spcPct val="0"/>
              </a:spcBef>
              <a:spcAft>
                <a:spcPct val="0"/>
              </a:spcAft>
              <a:buFontTx/>
              <a:buChar char="•"/>
            </a:pPr>
            <a:r>
              <a:rPr lang="en-US" altLang="en-US" b="1" dirty="0">
                <a:latin typeface="+mj-lt"/>
              </a:rPr>
              <a:t>ADC (Analog-to-Digital Converter): 10-bit ADC (0-1V range) </a:t>
            </a:r>
          </a:p>
          <a:p>
            <a:pPr>
              <a:lnSpc>
                <a:spcPct val="150000"/>
              </a:lnSpc>
            </a:pPr>
            <a:endParaRPr lang="en-IN" b="1" dirty="0">
              <a:latin typeface="+mj-lt"/>
            </a:endParaRPr>
          </a:p>
        </p:txBody>
      </p:sp>
      <p:sp>
        <p:nvSpPr>
          <p:cNvPr id="4" name="Rectangle 1">
            <a:extLst>
              <a:ext uri="{FF2B5EF4-FFF2-40B4-BE49-F238E27FC236}">
                <a16:creationId xmlns:a16="http://schemas.microsoft.com/office/drawing/2014/main" id="{8D29D385-F655-4309-B8FD-D16E31C2FD9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8732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81591-C22C-452A-ADBB-080F1618EA52}"/>
              </a:ext>
            </a:extLst>
          </p:cNvPr>
          <p:cNvSpPr>
            <a:spLocks noGrp="1"/>
          </p:cNvSpPr>
          <p:nvPr>
            <p:ph idx="1"/>
          </p:nvPr>
        </p:nvSpPr>
        <p:spPr>
          <a:xfrm>
            <a:off x="599050" y="221907"/>
            <a:ext cx="11217812" cy="4575175"/>
          </a:xfrm>
        </p:spPr>
        <p:txBody>
          <a:bodyPr>
            <a:noAutofit/>
          </a:bodyPr>
          <a:lstStyle/>
          <a:p>
            <a:pPr algn="just">
              <a:lnSpc>
                <a:spcPct val="150000"/>
              </a:lnSpc>
            </a:pPr>
            <a:r>
              <a:rPr lang="en-GB" sz="2400" dirty="0">
                <a:latin typeface="Arial" panose="020B0604020202020204" pitchFamily="34" charset="0"/>
                <a:cs typeface="Arial" panose="020B0604020202020204" pitchFamily="34" charset="0"/>
              </a:rPr>
              <a:t>The ESP8266 uses a 32bit microcontroller with 16 bit instructions. </a:t>
            </a:r>
          </a:p>
          <a:p>
            <a:pPr algn="just">
              <a:lnSpc>
                <a:spcPct val="150000"/>
              </a:lnSpc>
            </a:pPr>
            <a:r>
              <a:rPr lang="en-GB" sz="2400" dirty="0">
                <a:latin typeface="Arial" panose="020B0604020202020204" pitchFamily="34" charset="0"/>
                <a:cs typeface="Arial" panose="020B0604020202020204" pitchFamily="34" charset="0"/>
              </a:rPr>
              <a:t>It is Harvard architecture which mostly means that instruction memory and data memory are completely separate.</a:t>
            </a:r>
          </a:p>
          <a:p>
            <a:pPr algn="just">
              <a:lnSpc>
                <a:spcPct val="150000"/>
              </a:lnSpc>
            </a:pPr>
            <a:r>
              <a:rPr lang="en-GB" sz="2400" dirty="0">
                <a:latin typeface="Arial" panose="020B0604020202020204" pitchFamily="34" charset="0"/>
                <a:cs typeface="Arial" panose="020B0604020202020204" pitchFamily="34" charset="0"/>
              </a:rPr>
              <a:t>The ESP8266 has on die program Read-Only Memory (</a:t>
            </a:r>
            <a:r>
              <a:rPr lang="en-GB" sz="2400" dirty="0">
                <a:latin typeface="Arial" panose="020B0604020202020204" pitchFamily="34" charset="0"/>
                <a:cs typeface="Arial" panose="020B0604020202020204" pitchFamily="34" charset="0"/>
                <a:hlinkClick r:id="rId2"/>
              </a:rPr>
              <a:t>ROM</a:t>
            </a:r>
            <a:r>
              <a:rPr lang="en-GB" sz="2400" dirty="0">
                <a:latin typeface="Arial" panose="020B0604020202020204" pitchFamily="34" charset="0"/>
                <a:cs typeface="Arial" panose="020B0604020202020204" pitchFamily="34" charset="0"/>
              </a:rPr>
              <a:t>) which includes some library code and a first stage boot loader.</a:t>
            </a:r>
          </a:p>
          <a:p>
            <a:pPr algn="just">
              <a:lnSpc>
                <a:spcPct val="150000"/>
              </a:lnSpc>
            </a:pPr>
            <a:r>
              <a:rPr lang="en-GB" sz="2400" dirty="0">
                <a:latin typeface="Arial" panose="020B0604020202020204" pitchFamily="34" charset="0"/>
                <a:cs typeface="Arial" panose="020B0604020202020204" pitchFamily="34" charset="0"/>
              </a:rPr>
              <a:t> All the rest of the code must be stored in external Serial flash memory (provides only serial access to the data - rather than addressing individual bytes, the user reads or writes large contiguous groups of bytes in the address space serially).</a:t>
            </a:r>
          </a:p>
          <a:p>
            <a:pPr algn="just">
              <a:lnSpc>
                <a:spcPct val="150000"/>
              </a:lnSpc>
            </a:pPr>
            <a:r>
              <a:rPr lang="en-GB" sz="2400" dirty="0">
                <a:latin typeface="Arial" panose="020B0604020202020204" pitchFamily="34" charset="0"/>
                <a:cs typeface="Arial" panose="020B0604020202020204" pitchFamily="34" charset="0"/>
              </a:rPr>
              <a:t>Depending on your ESP8266, the amount of available flash memory can vary.</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8073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E7CC78-0B57-4F27-8B0B-E95A251F9749}"/>
              </a:ext>
            </a:extLst>
          </p:cNvPr>
          <p:cNvSpPr>
            <a:spLocks noGrp="1"/>
          </p:cNvSpPr>
          <p:nvPr>
            <p:ph idx="1"/>
          </p:nvPr>
        </p:nvSpPr>
        <p:spPr>
          <a:xfrm>
            <a:off x="613117" y="531398"/>
            <a:ext cx="10515600" cy="5953808"/>
          </a:xfrm>
        </p:spPr>
        <p:txBody>
          <a:bodyPr>
            <a:normAutofit/>
          </a:bodyPr>
          <a:lstStyle/>
          <a:p>
            <a:pPr algn="just">
              <a:lnSpc>
                <a:spcPct val="150000"/>
              </a:lnSpc>
            </a:pPr>
            <a:r>
              <a:rPr lang="en-GB" sz="2400" dirty="0">
                <a:latin typeface="Arial" panose="020B0604020202020204" pitchFamily="34" charset="0"/>
                <a:cs typeface="Arial" panose="020B0604020202020204" pitchFamily="34" charset="0"/>
              </a:rPr>
              <a:t>As any other microcontroller, ESP8266 has a set of GPIO pins (General Purpose Input(Output pins) that we can use to “control” external sensors.</a:t>
            </a:r>
          </a:p>
          <a:p>
            <a:pPr algn="just">
              <a:lnSpc>
                <a:spcPct val="150000"/>
              </a:lnSpc>
            </a:pPr>
            <a:r>
              <a:rPr lang="en-GB" sz="2400" dirty="0">
                <a:latin typeface="Arial" panose="020B0604020202020204" pitchFamily="34" charset="0"/>
                <a:cs typeface="Arial" panose="020B0604020202020204" pitchFamily="34" charset="0"/>
              </a:rPr>
              <a:t>Our ESP8266 has 17 GPIO pins but only 11 can be used (among 17 pins, 6 are used for communication with the on-board flash memory chip). It also has an </a:t>
            </a:r>
            <a:r>
              <a:rPr lang="en-GB" sz="2400" dirty="0" err="1">
                <a:latin typeface="Arial" panose="020B0604020202020204" pitchFamily="34" charset="0"/>
                <a:cs typeface="Arial" panose="020B0604020202020204" pitchFamily="34" charset="0"/>
              </a:rPr>
              <a:t>analog</a:t>
            </a:r>
            <a:r>
              <a:rPr lang="en-GB" sz="2400" dirty="0">
                <a:latin typeface="Arial" panose="020B0604020202020204" pitchFamily="34" charset="0"/>
                <a:cs typeface="Arial" panose="020B0604020202020204" pitchFamily="34" charset="0"/>
              </a:rPr>
              <a:t> input (to convert a voltage level into a digital value that can be stored and processed in the ESP8266).</a:t>
            </a:r>
          </a:p>
          <a:p>
            <a:pPr algn="just">
              <a:lnSpc>
                <a:spcPct val="150000"/>
              </a:lnSpc>
            </a:pPr>
            <a:r>
              <a:rPr lang="en-GB" sz="2400" dirty="0">
                <a:latin typeface="Arial" panose="020B0604020202020204" pitchFamily="34" charset="0"/>
                <a:cs typeface="Arial" panose="020B0604020202020204" pitchFamily="34" charset="0"/>
              </a:rPr>
              <a:t>It also has a WIFI communication to connect your ESP8266 to your WIFI network, connect to the internet, host a web server, let your smartphone connect to it, etc.</a:t>
            </a:r>
          </a:p>
          <a:p>
            <a:pPr algn="just">
              <a:lnSpc>
                <a:spcPct val="150000"/>
              </a:lnSpc>
            </a:pP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9460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287A5-C2CD-4983-8D95-AC69B81834EE}"/>
              </a:ext>
            </a:extLst>
          </p:cNvPr>
          <p:cNvSpPr>
            <a:spLocks noGrp="1"/>
          </p:cNvSpPr>
          <p:nvPr>
            <p:ph type="title"/>
          </p:nvPr>
        </p:nvSpPr>
        <p:spPr/>
        <p:txBody>
          <a:bodyPr>
            <a:normAutofit/>
          </a:bodyPr>
          <a:lstStyle/>
          <a:p>
            <a:r>
              <a:rPr lang="en-IN" b="1" dirty="0">
                <a:solidFill>
                  <a:srgbClr val="7030A0"/>
                </a:solidFill>
                <a:latin typeface="Arial" panose="020B0604020202020204" pitchFamily="34" charset="0"/>
                <a:cs typeface="Arial" panose="020B0604020202020204" pitchFamily="34" charset="0"/>
              </a:rPr>
              <a:t>Power Pins:</a:t>
            </a:r>
          </a:p>
        </p:txBody>
      </p:sp>
      <p:sp>
        <p:nvSpPr>
          <p:cNvPr id="3" name="Content Placeholder 2">
            <a:extLst>
              <a:ext uri="{FF2B5EF4-FFF2-40B4-BE49-F238E27FC236}">
                <a16:creationId xmlns:a16="http://schemas.microsoft.com/office/drawing/2014/main" id="{B93B5B36-27B5-4E1D-9FD1-7EF1A4A414A4}"/>
              </a:ext>
            </a:extLst>
          </p:cNvPr>
          <p:cNvSpPr>
            <a:spLocks noGrp="1"/>
          </p:cNvSpPr>
          <p:nvPr>
            <p:ph idx="1"/>
          </p:nvPr>
        </p:nvSpPr>
        <p:spPr/>
        <p:txBody>
          <a:bodyPr/>
          <a:lstStyle/>
          <a:p>
            <a:pPr algn="just"/>
            <a:r>
              <a:rPr lang="en-GB" dirty="0"/>
              <a:t>There are four power pins. </a:t>
            </a:r>
            <a:r>
              <a:rPr lang="en-GB" b="1" dirty="0"/>
              <a:t>VIN</a:t>
            </a:r>
            <a:r>
              <a:rPr lang="en-GB" dirty="0"/>
              <a:t> pin and three </a:t>
            </a:r>
            <a:r>
              <a:rPr lang="en-GB" b="1" dirty="0"/>
              <a:t>3.3V</a:t>
            </a:r>
            <a:r>
              <a:rPr lang="en-GB" dirty="0"/>
              <a:t> </a:t>
            </a:r>
            <a:r>
              <a:rPr lang="en-GB" dirty="0" err="1"/>
              <a:t>pins.</a:t>
            </a:r>
            <a:r>
              <a:rPr lang="en-GB" b="1" dirty="0" err="1"/>
              <a:t>VIN</a:t>
            </a:r>
            <a:r>
              <a:rPr lang="en-GB" dirty="0"/>
              <a:t> can be used to directly supply the </a:t>
            </a:r>
            <a:r>
              <a:rPr lang="en-GB" dirty="0" err="1"/>
              <a:t>NodeMCU</a:t>
            </a:r>
            <a:r>
              <a:rPr lang="en-GB" dirty="0"/>
              <a:t>/ESP8266 and its peripherals.</a:t>
            </a:r>
          </a:p>
          <a:p>
            <a:pPr algn="just"/>
            <a:r>
              <a:rPr lang="en-GB" dirty="0"/>
              <a:t> Power delivered on </a:t>
            </a:r>
            <a:r>
              <a:rPr lang="en-GB" b="1" dirty="0"/>
              <a:t>VIN</a:t>
            </a:r>
            <a:r>
              <a:rPr lang="en-GB" dirty="0"/>
              <a:t> is regulated through the onboard regulator on the </a:t>
            </a:r>
            <a:r>
              <a:rPr lang="en-GB" dirty="0" err="1"/>
              <a:t>NodeMCU</a:t>
            </a:r>
            <a:r>
              <a:rPr lang="en-GB" dirty="0"/>
              <a:t> module – you can also supply 5V regulated to the </a:t>
            </a:r>
            <a:r>
              <a:rPr lang="en-GB" b="1" dirty="0"/>
              <a:t>VIN</a:t>
            </a:r>
            <a:r>
              <a:rPr lang="en-GB" dirty="0"/>
              <a:t> pin</a:t>
            </a:r>
          </a:p>
          <a:p>
            <a:pPr algn="just"/>
            <a:r>
              <a:rPr lang="en-GB" b="1" dirty="0"/>
              <a:t>3.3V</a:t>
            </a:r>
            <a:r>
              <a:rPr lang="en-GB" dirty="0"/>
              <a:t> pins are the output of the onboard voltage regulator and can be used to supply power to external components</a:t>
            </a:r>
            <a:r>
              <a:rPr lang="en-GB" dirty="0" smtClean="0"/>
              <a:t>.</a:t>
            </a:r>
            <a:endParaRPr lang="en-GB" dirty="0"/>
          </a:p>
          <a:p>
            <a:pPr algn="just"/>
            <a:r>
              <a:rPr lang="en-GB" dirty="0"/>
              <a:t>GND are the ground pins of </a:t>
            </a:r>
            <a:r>
              <a:rPr lang="en-GB" dirty="0" err="1"/>
              <a:t>NodeMCU</a:t>
            </a:r>
            <a:r>
              <a:rPr lang="en-GB" dirty="0"/>
              <a:t>/ESP8266</a:t>
            </a:r>
          </a:p>
          <a:p>
            <a:pPr algn="just"/>
            <a:endParaRPr lang="en-GB" dirty="0"/>
          </a:p>
          <a:p>
            <a:endParaRPr lang="en-IN" dirty="0"/>
          </a:p>
        </p:txBody>
      </p:sp>
    </p:spTree>
    <p:extLst>
      <p:ext uri="{BB962C8B-B14F-4D97-AF65-F5344CB8AC3E}">
        <p14:creationId xmlns:p14="http://schemas.microsoft.com/office/powerpoint/2010/main" val="433235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3B26E-6C40-4BB8-ACA2-A892BFA31092}"/>
              </a:ext>
            </a:extLst>
          </p:cNvPr>
          <p:cNvSpPr>
            <a:spLocks noGrp="1"/>
          </p:cNvSpPr>
          <p:nvPr>
            <p:ph type="title"/>
          </p:nvPr>
        </p:nvSpPr>
        <p:spPr/>
        <p:txBody>
          <a:bodyPr/>
          <a:lstStyle/>
          <a:p>
            <a:r>
              <a:rPr lang="en-GB" b="1" dirty="0">
                <a:solidFill>
                  <a:srgbClr val="7030A0"/>
                </a:solidFill>
                <a:latin typeface="Arial" panose="020B0604020202020204" pitchFamily="34" charset="0"/>
                <a:cs typeface="Arial" panose="020B0604020202020204" pitchFamily="34" charset="0"/>
              </a:rPr>
              <a:t>I2C Pins</a:t>
            </a:r>
            <a:endParaRPr lang="en-IN" b="1" dirty="0">
              <a:solidFill>
                <a:srgbClr val="7030A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9EAEE65-C5DC-466D-8335-0738D2D7871D}"/>
              </a:ext>
            </a:extLst>
          </p:cNvPr>
          <p:cNvSpPr>
            <a:spLocks noGrp="1"/>
          </p:cNvSpPr>
          <p:nvPr>
            <p:ph idx="1"/>
          </p:nvPr>
        </p:nvSpPr>
        <p:spPr/>
        <p:txBody>
          <a:bodyPr/>
          <a:lstStyle/>
          <a:p>
            <a:pPr algn="just"/>
            <a:r>
              <a:rPr lang="en-GB" dirty="0"/>
              <a:t>I2C Pins are used to connect I2C sensors and peripherals. </a:t>
            </a:r>
          </a:p>
          <a:p>
            <a:pPr algn="just"/>
            <a:r>
              <a:rPr lang="en-GB" dirty="0"/>
              <a:t>Both I2C Master and I2C Slave are supported. </a:t>
            </a:r>
          </a:p>
          <a:p>
            <a:pPr algn="just"/>
            <a:r>
              <a:rPr lang="en-GB" dirty="0"/>
              <a:t>I2C interface functionality can be realized programmatically, and the clock frequency is 100 kHz at a maximum. </a:t>
            </a:r>
          </a:p>
          <a:p>
            <a:pPr algn="just"/>
            <a:r>
              <a:rPr lang="en-GB" dirty="0"/>
              <a:t>It should be noted that I2C clock frequency should be higher than the slowest clock frequency of the slave device.</a:t>
            </a:r>
          </a:p>
          <a:p>
            <a:endParaRPr lang="en-IN" dirty="0"/>
          </a:p>
        </p:txBody>
      </p:sp>
    </p:spTree>
    <p:extLst>
      <p:ext uri="{BB962C8B-B14F-4D97-AF65-F5344CB8AC3E}">
        <p14:creationId xmlns:p14="http://schemas.microsoft.com/office/powerpoint/2010/main" val="1187014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A0F9D-366E-437E-AC7E-8851E46E24BC}"/>
              </a:ext>
            </a:extLst>
          </p:cNvPr>
          <p:cNvSpPr>
            <a:spLocks noGrp="1"/>
          </p:cNvSpPr>
          <p:nvPr>
            <p:ph type="title"/>
          </p:nvPr>
        </p:nvSpPr>
        <p:spPr/>
        <p:txBody>
          <a:bodyPr/>
          <a:lstStyle/>
          <a:p>
            <a:r>
              <a:rPr lang="en-GB" b="1" dirty="0">
                <a:solidFill>
                  <a:srgbClr val="7030A0"/>
                </a:solidFill>
                <a:latin typeface="Arial" panose="020B0604020202020204" pitchFamily="34" charset="0"/>
                <a:cs typeface="Arial" panose="020B0604020202020204" pitchFamily="34" charset="0"/>
              </a:rPr>
              <a:t>GPIO Pins</a:t>
            </a:r>
            <a:endParaRPr lang="en-IN" b="1" dirty="0">
              <a:solidFill>
                <a:srgbClr val="7030A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6287261-4856-46CF-8DF5-C4C18C37A87C}"/>
              </a:ext>
            </a:extLst>
          </p:cNvPr>
          <p:cNvSpPr>
            <a:spLocks noGrp="1"/>
          </p:cNvSpPr>
          <p:nvPr>
            <p:ph idx="1"/>
          </p:nvPr>
        </p:nvSpPr>
        <p:spPr>
          <a:xfrm>
            <a:off x="838200" y="1435100"/>
            <a:ext cx="10515600" cy="4741863"/>
          </a:xfrm>
        </p:spPr>
        <p:txBody>
          <a:bodyPr>
            <a:normAutofit fontScale="55000" lnSpcReduction="20000"/>
          </a:bodyPr>
          <a:lstStyle/>
          <a:p>
            <a:pPr marL="0" indent="0" algn="just">
              <a:lnSpc>
                <a:spcPct val="150000"/>
              </a:lnSpc>
              <a:buNone/>
            </a:pPr>
            <a:endParaRPr lang="en-GB" dirty="0">
              <a:latin typeface="Arial" panose="020B0604020202020204" pitchFamily="34" charset="0"/>
              <a:cs typeface="Arial" panose="020B0604020202020204" pitchFamily="34" charset="0"/>
            </a:endParaRPr>
          </a:p>
          <a:p>
            <a:pPr lvl="1" algn="just">
              <a:lnSpc>
                <a:spcPct val="170000"/>
              </a:lnSpc>
            </a:pPr>
            <a:r>
              <a:rPr lang="en-GB" sz="3800" dirty="0" err="1">
                <a:latin typeface="Arial" panose="020B0604020202020204" pitchFamily="34" charset="0"/>
                <a:cs typeface="Arial" panose="020B0604020202020204" pitchFamily="34" charset="0"/>
              </a:rPr>
              <a:t>NodeMCU</a:t>
            </a:r>
            <a:r>
              <a:rPr lang="en-GB" sz="3800" dirty="0">
                <a:latin typeface="Arial" panose="020B0604020202020204" pitchFamily="34" charset="0"/>
                <a:cs typeface="Arial" panose="020B0604020202020204" pitchFamily="34" charset="0"/>
              </a:rPr>
              <a:t>/ESP8266 has 17 GPIO pins which can be assigned to functions such as I2C, I2S, UART, PWM, IR Remote Control, LED Light and Button programmatically. </a:t>
            </a:r>
          </a:p>
          <a:p>
            <a:pPr lvl="1" algn="just">
              <a:lnSpc>
                <a:spcPct val="170000"/>
              </a:lnSpc>
            </a:pPr>
            <a:r>
              <a:rPr lang="en-GB" sz="3800" dirty="0">
                <a:latin typeface="Arial" panose="020B0604020202020204" pitchFamily="34" charset="0"/>
                <a:cs typeface="Arial" panose="020B0604020202020204" pitchFamily="34" charset="0"/>
              </a:rPr>
              <a:t>Each digital enabled GPIO can be configured to internal pull-up or pull-down, or set to high impedance. </a:t>
            </a:r>
          </a:p>
          <a:p>
            <a:pPr lvl="1" algn="just">
              <a:lnSpc>
                <a:spcPct val="170000"/>
              </a:lnSpc>
            </a:pPr>
            <a:r>
              <a:rPr lang="en-GB" sz="3800" dirty="0">
                <a:latin typeface="Arial" panose="020B0604020202020204" pitchFamily="34" charset="0"/>
                <a:cs typeface="Arial" panose="020B0604020202020204" pitchFamily="34" charset="0"/>
              </a:rPr>
              <a:t>When configured as an input, it can also be set to edge-trigger or level-trigger to generate CPU interrupts.</a:t>
            </a:r>
          </a:p>
          <a:p>
            <a:pPr marL="457200" lvl="1" indent="0" algn="just">
              <a:lnSpc>
                <a:spcPct val="150000"/>
              </a:lnSpc>
              <a:buNone/>
            </a:pPr>
            <a:r>
              <a:rPr lang="en-GB" dirty="0">
                <a:latin typeface="Arial" panose="020B0604020202020204" pitchFamily="34" charset="0"/>
                <a:cs typeface="Arial" panose="020B0604020202020204" pitchFamily="34" charset="0"/>
              </a:rPr>
              <a:t/>
            </a:r>
            <a:br>
              <a:rPr lang="en-GB" dirty="0">
                <a:latin typeface="Arial" panose="020B0604020202020204" pitchFamily="34" charset="0"/>
                <a:cs typeface="Arial" panose="020B0604020202020204" pitchFamily="34" charset="0"/>
              </a:rPr>
            </a:b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4594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DEC13-42BE-4E15-9A9F-8F4DBCE0058D}"/>
              </a:ext>
            </a:extLst>
          </p:cNvPr>
          <p:cNvSpPr>
            <a:spLocks noGrp="1"/>
          </p:cNvSpPr>
          <p:nvPr>
            <p:ph type="title"/>
          </p:nvPr>
        </p:nvSpPr>
        <p:spPr/>
        <p:txBody>
          <a:bodyPr/>
          <a:lstStyle/>
          <a:p>
            <a:r>
              <a:rPr lang="en-GB" b="1" dirty="0">
                <a:solidFill>
                  <a:srgbClr val="7030A0"/>
                </a:solidFill>
                <a:latin typeface="Arial" panose="020B0604020202020204" pitchFamily="34" charset="0"/>
                <a:cs typeface="Arial" panose="020B0604020202020204" pitchFamily="34" charset="0"/>
              </a:rPr>
              <a:t>ADC Channel </a:t>
            </a:r>
            <a:endParaRPr lang="en-IN" b="1" dirty="0">
              <a:solidFill>
                <a:srgbClr val="7030A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DCF827B-DC24-44FC-AD93-7ABA7591F502}"/>
              </a:ext>
            </a:extLst>
          </p:cNvPr>
          <p:cNvSpPr>
            <a:spLocks noGrp="1"/>
          </p:cNvSpPr>
          <p:nvPr>
            <p:ph idx="1"/>
          </p:nvPr>
        </p:nvSpPr>
        <p:spPr/>
        <p:txBody>
          <a:bodyPr/>
          <a:lstStyle/>
          <a:p>
            <a:pPr marL="0" indent="0" algn="just">
              <a:lnSpc>
                <a:spcPct val="150000"/>
              </a:lnSpc>
              <a:buNone/>
            </a:pPr>
            <a:endParaRPr lang="en-GB" dirty="0">
              <a:latin typeface="Arial" panose="020B0604020202020204" pitchFamily="34" charset="0"/>
              <a:cs typeface="Arial" panose="020B0604020202020204" pitchFamily="34" charset="0"/>
            </a:endParaRPr>
          </a:p>
          <a:p>
            <a:pPr lvl="1" algn="just">
              <a:lnSpc>
                <a:spcPct val="150000"/>
              </a:lnSpc>
            </a:pPr>
            <a:r>
              <a:rPr lang="en-GB" dirty="0">
                <a:latin typeface="Arial" panose="020B0604020202020204" pitchFamily="34" charset="0"/>
                <a:cs typeface="Arial" panose="020B0604020202020204" pitchFamily="34" charset="0"/>
              </a:rPr>
              <a:t>The </a:t>
            </a:r>
            <a:r>
              <a:rPr lang="en-GB" dirty="0" err="1">
                <a:latin typeface="Arial" panose="020B0604020202020204" pitchFamily="34" charset="0"/>
                <a:cs typeface="Arial" panose="020B0604020202020204" pitchFamily="34" charset="0"/>
              </a:rPr>
              <a:t>NodeMCU</a:t>
            </a:r>
            <a:r>
              <a:rPr lang="en-GB" dirty="0">
                <a:latin typeface="Arial" panose="020B0604020202020204" pitchFamily="34" charset="0"/>
                <a:cs typeface="Arial" panose="020B0604020202020204" pitchFamily="34" charset="0"/>
              </a:rPr>
              <a:t> is embedded with a 10-bit precision SAR ADC. The two functions can be implemented using ADC. </a:t>
            </a:r>
          </a:p>
          <a:p>
            <a:pPr lvl="1" algn="just">
              <a:lnSpc>
                <a:spcPct val="150000"/>
              </a:lnSpc>
            </a:pPr>
            <a:r>
              <a:rPr lang="en-GB" dirty="0">
                <a:latin typeface="Arial" panose="020B0604020202020204" pitchFamily="34" charset="0"/>
                <a:cs typeface="Arial" panose="020B0604020202020204" pitchFamily="34" charset="0"/>
              </a:rPr>
              <a:t>Testing power supply voltage of VDD3P3 pin and testing input voltage of TOUT pin. However, they cannot be implemented at the same time.</a:t>
            </a:r>
          </a:p>
          <a:p>
            <a:pPr algn="just">
              <a:lnSpc>
                <a:spcPct val="150000"/>
              </a:lnSpc>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5645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2141-DEF1-42E7-BDB6-92122CB48170}"/>
              </a:ext>
            </a:extLst>
          </p:cNvPr>
          <p:cNvSpPr>
            <a:spLocks noGrp="1"/>
          </p:cNvSpPr>
          <p:nvPr>
            <p:ph type="title"/>
          </p:nvPr>
        </p:nvSpPr>
        <p:spPr/>
        <p:txBody>
          <a:bodyPr/>
          <a:lstStyle/>
          <a:p>
            <a:r>
              <a:rPr lang="en-GB" b="1" dirty="0">
                <a:solidFill>
                  <a:srgbClr val="7030A0"/>
                </a:solidFill>
                <a:latin typeface="Arial" panose="020B0604020202020204" pitchFamily="34" charset="0"/>
                <a:cs typeface="Arial" panose="020B0604020202020204" pitchFamily="34" charset="0"/>
              </a:rPr>
              <a:t>UART Pins</a:t>
            </a:r>
            <a:endParaRPr lang="en-IN" b="1" dirty="0">
              <a:solidFill>
                <a:srgbClr val="7030A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D8326FE-80E5-461B-AB96-49746B9BBD76}"/>
              </a:ext>
            </a:extLst>
          </p:cNvPr>
          <p:cNvSpPr>
            <a:spLocks noGrp="1"/>
          </p:cNvSpPr>
          <p:nvPr>
            <p:ph idx="1"/>
          </p:nvPr>
        </p:nvSpPr>
        <p:spPr/>
        <p:txBody>
          <a:bodyPr/>
          <a:lstStyle/>
          <a:p>
            <a:pPr algn="just">
              <a:lnSpc>
                <a:spcPct val="150000"/>
              </a:lnSpc>
            </a:pP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NodeMCU</a:t>
            </a:r>
            <a:r>
              <a:rPr lang="en-GB" dirty="0">
                <a:latin typeface="Arial" panose="020B0604020202020204" pitchFamily="34" charset="0"/>
                <a:cs typeface="Arial" panose="020B0604020202020204" pitchFamily="34" charset="0"/>
              </a:rPr>
              <a:t>/ESP8266 has 2 UART interfaces (UART0 and UART1) which provide asynchronous communication (RS232 and RS485), and can communicate at up to 4.5 Mbps. </a:t>
            </a:r>
          </a:p>
          <a:p>
            <a:pPr algn="just">
              <a:lnSpc>
                <a:spcPct val="150000"/>
              </a:lnSpc>
            </a:pPr>
            <a:r>
              <a:rPr lang="en-GB" dirty="0">
                <a:latin typeface="Arial" panose="020B0604020202020204" pitchFamily="34" charset="0"/>
                <a:cs typeface="Arial" panose="020B0604020202020204" pitchFamily="34" charset="0"/>
              </a:rPr>
              <a:t>UART0 (TXD0, RXD0, RST0 &amp; CTS0 pins) can be used for communication. However, UART1 (TXD1 pin) features only data transmit signal so, it is usually used for printing log.</a:t>
            </a:r>
          </a:p>
          <a:p>
            <a:pPr algn="just">
              <a:lnSpc>
                <a:spcPct val="150000"/>
              </a:lnSpc>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9833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FD23B-48AE-49CE-B2AB-8687E1E25EAC}"/>
              </a:ext>
            </a:extLst>
          </p:cNvPr>
          <p:cNvSpPr>
            <a:spLocks noGrp="1"/>
          </p:cNvSpPr>
          <p:nvPr>
            <p:ph type="title"/>
          </p:nvPr>
        </p:nvSpPr>
        <p:spPr/>
        <p:txBody>
          <a:bodyPr/>
          <a:lstStyle/>
          <a:p>
            <a:r>
              <a:rPr lang="en-GB" b="1" dirty="0">
                <a:solidFill>
                  <a:srgbClr val="7030A0"/>
                </a:solidFill>
                <a:latin typeface="Arial" panose="020B0604020202020204" pitchFamily="34" charset="0"/>
                <a:cs typeface="Arial" panose="020B0604020202020204" pitchFamily="34" charset="0"/>
              </a:rPr>
              <a:t>SPI Pins</a:t>
            </a:r>
            <a:endParaRPr lang="en-IN" b="1" dirty="0">
              <a:solidFill>
                <a:srgbClr val="7030A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18736F0-2792-49D9-A074-8BD2A27CCE87}"/>
              </a:ext>
            </a:extLst>
          </p:cNvPr>
          <p:cNvSpPr>
            <a:spLocks noGrp="1"/>
          </p:cNvSpPr>
          <p:nvPr>
            <p:ph idx="1"/>
          </p:nvPr>
        </p:nvSpPr>
        <p:spPr/>
        <p:txBody>
          <a:bodyPr/>
          <a:lstStyle/>
          <a:p>
            <a:pPr>
              <a:lnSpc>
                <a:spcPct val="150000"/>
              </a:lnSpc>
            </a:pP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NodeMCU</a:t>
            </a:r>
            <a:r>
              <a:rPr lang="en-GB" dirty="0">
                <a:latin typeface="Arial" panose="020B0604020202020204" pitchFamily="34" charset="0"/>
                <a:cs typeface="Arial" panose="020B0604020202020204" pitchFamily="34" charset="0"/>
              </a:rPr>
              <a:t>/ESP8266 features two SPIs (SPI and HSPI) in slave and master modes. These SPIs also support the following general-purpose SPI features:</a:t>
            </a:r>
          </a:p>
          <a:p>
            <a:pPr lvl="1">
              <a:lnSpc>
                <a:spcPct val="150000"/>
              </a:lnSpc>
            </a:pPr>
            <a:r>
              <a:rPr lang="en-GB" dirty="0">
                <a:latin typeface="Arial" panose="020B0604020202020204" pitchFamily="34" charset="0"/>
                <a:cs typeface="Arial" panose="020B0604020202020204" pitchFamily="34" charset="0"/>
              </a:rPr>
              <a:t>4 timing modes of the SPI format transfer</a:t>
            </a:r>
          </a:p>
          <a:p>
            <a:pPr lvl="1">
              <a:lnSpc>
                <a:spcPct val="150000"/>
              </a:lnSpc>
            </a:pPr>
            <a:r>
              <a:rPr lang="en-GB" dirty="0">
                <a:latin typeface="Arial" panose="020B0604020202020204" pitchFamily="34" charset="0"/>
                <a:cs typeface="Arial" panose="020B0604020202020204" pitchFamily="34" charset="0"/>
              </a:rPr>
              <a:t>Up to 80 MHz and the divided clocks of 80 MHz</a:t>
            </a:r>
          </a:p>
          <a:p>
            <a:pPr lvl="1">
              <a:lnSpc>
                <a:spcPct val="150000"/>
              </a:lnSpc>
            </a:pPr>
            <a:r>
              <a:rPr lang="en-GB" dirty="0">
                <a:latin typeface="Arial" panose="020B0604020202020204" pitchFamily="34" charset="0"/>
                <a:cs typeface="Arial" panose="020B0604020202020204" pitchFamily="34" charset="0"/>
              </a:rPr>
              <a:t>Up to 64-Byte FIFO</a:t>
            </a:r>
          </a:p>
          <a:p>
            <a:pPr>
              <a:lnSpc>
                <a:spcPct val="150000"/>
              </a:lnSpc>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9277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E268D-A306-4E98-94F6-8846A30FD7C2}"/>
              </a:ext>
            </a:extLst>
          </p:cNvPr>
          <p:cNvSpPr>
            <a:spLocks noGrp="1"/>
          </p:cNvSpPr>
          <p:nvPr>
            <p:ph type="title"/>
          </p:nvPr>
        </p:nvSpPr>
        <p:spPr/>
        <p:txBody>
          <a:bodyPr/>
          <a:lstStyle/>
          <a:p>
            <a:r>
              <a:rPr lang="en-IN" dirty="0">
                <a:solidFill>
                  <a:srgbClr val="7030A0"/>
                </a:solidFill>
                <a:latin typeface="Arial" panose="020B0604020202020204" pitchFamily="34" charset="0"/>
                <a:cs typeface="Arial" panose="020B0604020202020204" pitchFamily="34" charset="0"/>
              </a:rPr>
              <a:t>SDIO Pins</a:t>
            </a:r>
          </a:p>
        </p:txBody>
      </p:sp>
      <p:sp>
        <p:nvSpPr>
          <p:cNvPr id="3" name="Content Placeholder 2">
            <a:extLst>
              <a:ext uri="{FF2B5EF4-FFF2-40B4-BE49-F238E27FC236}">
                <a16:creationId xmlns:a16="http://schemas.microsoft.com/office/drawing/2014/main" id="{42B821D1-39F8-4030-A63C-FC6537998DCD}"/>
              </a:ext>
            </a:extLst>
          </p:cNvPr>
          <p:cNvSpPr>
            <a:spLocks noGrp="1"/>
          </p:cNvSpPr>
          <p:nvPr>
            <p:ph idx="1"/>
          </p:nvPr>
        </p:nvSpPr>
        <p:spPr/>
        <p:txBody>
          <a:bodyPr/>
          <a:lstStyle/>
          <a:p>
            <a:pPr algn="just">
              <a:lnSpc>
                <a:spcPct val="150000"/>
              </a:lnSpc>
            </a:pP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NodeMCU</a:t>
            </a:r>
            <a:r>
              <a:rPr lang="en-IN" dirty="0">
                <a:latin typeface="Arial" panose="020B0604020202020204" pitchFamily="34" charset="0"/>
                <a:cs typeface="Arial" panose="020B0604020202020204" pitchFamily="34" charset="0"/>
              </a:rPr>
              <a:t>/ESP8266 features Secure Digital </a:t>
            </a:r>
            <a:r>
              <a:rPr lang="en-IN" dirty="0" err="1">
                <a:latin typeface="Arial" panose="020B0604020202020204" pitchFamily="34" charset="0"/>
                <a:cs typeface="Arial" panose="020B0604020202020204" pitchFamily="34" charset="0"/>
              </a:rPr>
              <a:t>Input/Output</a:t>
            </a:r>
            <a:r>
              <a:rPr lang="en-IN" dirty="0">
                <a:latin typeface="Arial" panose="020B0604020202020204" pitchFamily="34" charset="0"/>
                <a:cs typeface="Arial" panose="020B0604020202020204" pitchFamily="34" charset="0"/>
              </a:rPr>
              <a:t> Interface (SDIO) which is used to directly interface SD cards. 4-bit 25 MHz SDIO v1.1 and 4-bit 50 MHz SDIO v2.0 are supported.</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4602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C52DF-68BB-4A33-8209-ECD70D191CC7}"/>
              </a:ext>
            </a:extLst>
          </p:cNvPr>
          <p:cNvSpPr>
            <a:spLocks noGrp="1"/>
          </p:cNvSpPr>
          <p:nvPr>
            <p:ph idx="1"/>
          </p:nvPr>
        </p:nvSpPr>
        <p:spPr>
          <a:xfrm>
            <a:off x="838200" y="295422"/>
            <a:ext cx="10515600" cy="5881541"/>
          </a:xfrm>
        </p:spPr>
        <p:txBody>
          <a:bodyPr>
            <a:normAutofit lnSpcReduction="10000"/>
          </a:bodyPr>
          <a:lstStyle/>
          <a:p>
            <a:pPr algn="just">
              <a:lnSpc>
                <a:spcPct val="150000"/>
              </a:lnSpc>
            </a:pPr>
            <a:endParaRPr lang="en-GB" dirty="0">
              <a:latin typeface="Arial" panose="020B0604020202020204" pitchFamily="34" charset="0"/>
              <a:cs typeface="Arial" panose="020B0604020202020204" pitchFamily="34" charset="0"/>
            </a:endParaRPr>
          </a:p>
          <a:p>
            <a:pPr lvl="1" algn="just">
              <a:lnSpc>
                <a:spcPct val="150000"/>
              </a:lnSpc>
            </a:pPr>
            <a:r>
              <a:rPr lang="en-GB" b="1" dirty="0">
                <a:solidFill>
                  <a:srgbClr val="7030A0"/>
                </a:solidFill>
                <a:latin typeface="Arial" panose="020B0604020202020204" pitchFamily="34" charset="0"/>
                <a:cs typeface="Arial" panose="020B0604020202020204" pitchFamily="34" charset="0"/>
              </a:rPr>
              <a:t>PWM Pins</a:t>
            </a:r>
            <a:r>
              <a:rPr lang="en-GB" dirty="0">
                <a:latin typeface="Arial" panose="020B0604020202020204" pitchFamily="34" charset="0"/>
                <a:cs typeface="Arial" panose="020B0604020202020204" pitchFamily="34" charset="0"/>
              </a:rPr>
              <a:t> The board has 4 channels of Pulse Width Modulation (PWM). The PWM output can be implemented programmatically and used for driving digital motors and LEDs. PWM frequency range is adjustable from 1000 </a:t>
            </a:r>
            <a:r>
              <a:rPr lang="en-GB" dirty="0" err="1">
                <a:latin typeface="Arial" panose="020B0604020202020204" pitchFamily="34" charset="0"/>
                <a:cs typeface="Arial" panose="020B0604020202020204" pitchFamily="34" charset="0"/>
              </a:rPr>
              <a:t>μs</a:t>
            </a:r>
            <a:r>
              <a:rPr lang="en-GB" dirty="0">
                <a:latin typeface="Arial" panose="020B0604020202020204" pitchFamily="34" charset="0"/>
                <a:cs typeface="Arial" panose="020B0604020202020204" pitchFamily="34" charset="0"/>
              </a:rPr>
              <a:t> to 10000 </a:t>
            </a:r>
            <a:r>
              <a:rPr lang="en-GB" dirty="0" err="1">
                <a:latin typeface="Arial" panose="020B0604020202020204" pitchFamily="34" charset="0"/>
                <a:cs typeface="Arial" panose="020B0604020202020204" pitchFamily="34" charset="0"/>
              </a:rPr>
              <a:t>μs</a:t>
            </a:r>
            <a:r>
              <a:rPr lang="en-GB" dirty="0">
                <a:latin typeface="Arial" panose="020B0604020202020204" pitchFamily="34" charset="0"/>
                <a:cs typeface="Arial" panose="020B0604020202020204" pitchFamily="34" charset="0"/>
              </a:rPr>
              <a:t> (100 Hz and 1 kHz).</a:t>
            </a:r>
          </a:p>
          <a:p>
            <a:pPr lvl="1" algn="just">
              <a:lnSpc>
                <a:spcPct val="150000"/>
              </a:lnSpc>
            </a:pPr>
            <a:r>
              <a:rPr lang="en-GB" b="1" dirty="0">
                <a:solidFill>
                  <a:srgbClr val="7030A0"/>
                </a:solidFill>
                <a:latin typeface="Arial" panose="020B0604020202020204" pitchFamily="34" charset="0"/>
                <a:cs typeface="Arial" panose="020B0604020202020204" pitchFamily="34" charset="0"/>
              </a:rPr>
              <a:t>Control Pins</a:t>
            </a:r>
            <a:r>
              <a:rPr lang="en-GB" dirty="0">
                <a:latin typeface="Arial" panose="020B0604020202020204" pitchFamily="34" charset="0"/>
                <a:cs typeface="Arial" panose="020B0604020202020204" pitchFamily="34" charset="0"/>
              </a:rPr>
              <a:t> are used to control the </a:t>
            </a:r>
            <a:r>
              <a:rPr lang="en-GB" dirty="0" err="1">
                <a:latin typeface="Arial" panose="020B0604020202020204" pitchFamily="34" charset="0"/>
                <a:cs typeface="Arial" panose="020B0604020202020204" pitchFamily="34" charset="0"/>
              </a:rPr>
              <a:t>NodeMCU</a:t>
            </a:r>
            <a:r>
              <a:rPr lang="en-GB" dirty="0">
                <a:latin typeface="Arial" panose="020B0604020202020204" pitchFamily="34" charset="0"/>
                <a:cs typeface="Arial" panose="020B0604020202020204" pitchFamily="34" charset="0"/>
              </a:rPr>
              <a:t>/ESP8266. These pins include Chip Enable pin (EN), Reset pin (RST) and WAKE pin.</a:t>
            </a:r>
          </a:p>
          <a:p>
            <a:pPr lvl="2" algn="just">
              <a:lnSpc>
                <a:spcPct val="150000"/>
              </a:lnSpc>
            </a:pPr>
            <a:r>
              <a:rPr lang="en-GB" b="1" dirty="0">
                <a:latin typeface="Arial" panose="020B0604020202020204" pitchFamily="34" charset="0"/>
                <a:cs typeface="Arial" panose="020B0604020202020204" pitchFamily="34" charset="0"/>
              </a:rPr>
              <a:t>EN:</a:t>
            </a:r>
            <a:r>
              <a:rPr lang="en-GB" dirty="0">
                <a:latin typeface="Arial" panose="020B0604020202020204" pitchFamily="34" charset="0"/>
                <a:cs typeface="Arial" panose="020B0604020202020204" pitchFamily="34" charset="0"/>
              </a:rPr>
              <a:t> The ESP8266 chip is enabled when EN pin is pulled HIGH. When pulled LOW the chip works at minimum power.</a:t>
            </a:r>
          </a:p>
          <a:p>
            <a:pPr lvl="2" algn="just">
              <a:lnSpc>
                <a:spcPct val="150000"/>
              </a:lnSpc>
            </a:pPr>
            <a:r>
              <a:rPr lang="en-GB" b="1" dirty="0">
                <a:latin typeface="Arial" panose="020B0604020202020204" pitchFamily="34" charset="0"/>
                <a:cs typeface="Arial" panose="020B0604020202020204" pitchFamily="34" charset="0"/>
              </a:rPr>
              <a:t>RST:</a:t>
            </a:r>
            <a:r>
              <a:rPr lang="en-GB" dirty="0">
                <a:latin typeface="Arial" panose="020B0604020202020204" pitchFamily="34" charset="0"/>
                <a:cs typeface="Arial" panose="020B0604020202020204" pitchFamily="34" charset="0"/>
              </a:rPr>
              <a:t> RST pin is used to reset the ESP8266 chip.</a:t>
            </a:r>
          </a:p>
          <a:p>
            <a:pPr lvl="2" algn="just">
              <a:lnSpc>
                <a:spcPct val="150000"/>
              </a:lnSpc>
            </a:pPr>
            <a:r>
              <a:rPr lang="en-GB" b="1" dirty="0">
                <a:latin typeface="Arial" panose="020B0604020202020204" pitchFamily="34" charset="0"/>
                <a:cs typeface="Arial" panose="020B0604020202020204" pitchFamily="34" charset="0"/>
              </a:rPr>
              <a:t>WAKE:</a:t>
            </a:r>
            <a:r>
              <a:rPr lang="en-GB" dirty="0">
                <a:latin typeface="Arial" panose="020B0604020202020204" pitchFamily="34" charset="0"/>
                <a:cs typeface="Arial" panose="020B0604020202020204" pitchFamily="34" charset="0"/>
              </a:rPr>
              <a:t> Wake pin is used to wake the chip from deep-sleep.</a:t>
            </a:r>
          </a:p>
          <a:p>
            <a:pPr algn="just">
              <a:lnSpc>
                <a:spcPct val="150000"/>
              </a:lnSpc>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7096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A628FEB-5D2D-4A00-84FF-30290D2B6673}"/>
              </a:ext>
            </a:extLst>
          </p:cNvPr>
          <p:cNvSpPr>
            <a:spLocks noGrp="1"/>
          </p:cNvSpPr>
          <p:nvPr>
            <p:ph type="title"/>
          </p:nvPr>
        </p:nvSpPr>
        <p:spPr>
          <a:xfrm>
            <a:off x="2024063" y="142875"/>
            <a:ext cx="8229600" cy="1143000"/>
          </a:xfrm>
        </p:spPr>
        <p:txBody>
          <a:bodyPr/>
          <a:lstStyle/>
          <a:p>
            <a:r>
              <a:rPr lang="en-IN" altLang="en-US"/>
              <a:t>On-board Switches &amp; LED Indicator</a:t>
            </a:r>
          </a:p>
        </p:txBody>
      </p:sp>
      <p:sp>
        <p:nvSpPr>
          <p:cNvPr id="13315" name="Content Placeholder 2">
            <a:extLst>
              <a:ext uri="{FF2B5EF4-FFF2-40B4-BE49-F238E27FC236}">
                <a16:creationId xmlns:a16="http://schemas.microsoft.com/office/drawing/2014/main" id="{9896A4DB-8BFA-46DE-9894-850BB40CF671}"/>
              </a:ext>
            </a:extLst>
          </p:cNvPr>
          <p:cNvSpPr>
            <a:spLocks noGrp="1"/>
          </p:cNvSpPr>
          <p:nvPr>
            <p:ph idx="1"/>
          </p:nvPr>
        </p:nvSpPr>
        <p:spPr>
          <a:xfrm>
            <a:off x="2595563" y="4429125"/>
            <a:ext cx="6686550" cy="2286000"/>
          </a:xfrm>
        </p:spPr>
        <p:txBody>
          <a:bodyPr/>
          <a:lstStyle/>
          <a:p>
            <a:r>
              <a:rPr lang="en-IN" altLang="en-US" sz="2800"/>
              <a:t>RST – Reset the ESP8266 chip</a:t>
            </a:r>
          </a:p>
          <a:p>
            <a:r>
              <a:rPr lang="en-IN" altLang="en-US" sz="2800"/>
              <a:t>FLASH – Download new programs</a:t>
            </a:r>
          </a:p>
          <a:p>
            <a:r>
              <a:rPr lang="en-IN" altLang="en-US" sz="2800"/>
              <a:t>Blue LED – User Programmable</a:t>
            </a:r>
          </a:p>
          <a:p>
            <a:pPr>
              <a:buFont typeface="Arial" panose="020B0604020202020204" pitchFamily="34" charset="0"/>
              <a:buNone/>
            </a:pPr>
            <a:endParaRPr lang="en-IN" altLang="en-US" sz="2800"/>
          </a:p>
          <a:p>
            <a:pPr>
              <a:buFont typeface="Arial" panose="020B0604020202020204" pitchFamily="34" charset="0"/>
              <a:buNone/>
            </a:pPr>
            <a:endParaRPr lang="en-IN" altLang="en-US" sz="2800">
              <a:latin typeface="Times New Roman" panose="02020603050405020304" pitchFamily="18" charset="0"/>
              <a:cs typeface="Times New Roman" panose="02020603050405020304" pitchFamily="18" charset="0"/>
            </a:endParaRPr>
          </a:p>
        </p:txBody>
      </p:sp>
      <p:pic>
        <p:nvPicPr>
          <p:cNvPr id="13316" name="Picture 2" descr="ESP8266 NodeMCU Hardware Specifications - Reset Flash Buttons &amp; LED Indicators">
            <a:extLst>
              <a:ext uri="{FF2B5EF4-FFF2-40B4-BE49-F238E27FC236}">
                <a16:creationId xmlns:a16="http://schemas.microsoft.com/office/drawing/2014/main" id="{29160BBC-F321-4B72-9E50-EC69A604C5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5813" y="1071563"/>
            <a:ext cx="37719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E17822F-173A-439A-BF7C-ECD696ADA610}"/>
              </a:ext>
            </a:extLst>
          </p:cNvPr>
          <p:cNvSpPr>
            <a:spLocks noGrp="1"/>
          </p:cNvSpPr>
          <p:nvPr>
            <p:ph type="title"/>
          </p:nvPr>
        </p:nvSpPr>
        <p:spPr>
          <a:xfrm>
            <a:off x="2024063" y="142875"/>
            <a:ext cx="8229600" cy="1143000"/>
          </a:xfrm>
        </p:spPr>
        <p:txBody>
          <a:bodyPr/>
          <a:lstStyle/>
          <a:p>
            <a:r>
              <a:rPr lang="en-IN" altLang="en-US"/>
              <a:t>Serial Communication</a:t>
            </a:r>
          </a:p>
        </p:txBody>
      </p:sp>
      <p:sp>
        <p:nvSpPr>
          <p:cNvPr id="14339" name="Content Placeholder 2">
            <a:extLst>
              <a:ext uri="{FF2B5EF4-FFF2-40B4-BE49-F238E27FC236}">
                <a16:creationId xmlns:a16="http://schemas.microsoft.com/office/drawing/2014/main" id="{A74505EC-4C64-42FC-B5A1-310F7F533B1E}"/>
              </a:ext>
            </a:extLst>
          </p:cNvPr>
          <p:cNvSpPr>
            <a:spLocks noGrp="1"/>
          </p:cNvSpPr>
          <p:nvPr>
            <p:ph idx="1"/>
          </p:nvPr>
        </p:nvSpPr>
        <p:spPr>
          <a:xfrm>
            <a:off x="2595563" y="4429125"/>
            <a:ext cx="6686550" cy="2286000"/>
          </a:xfrm>
        </p:spPr>
        <p:txBody>
          <a:bodyPr/>
          <a:lstStyle/>
          <a:p>
            <a:r>
              <a:rPr lang="en-IN" altLang="en-US" sz="2800"/>
              <a:t>CP2102 USB-to-UART converter</a:t>
            </a:r>
          </a:p>
          <a:p>
            <a:r>
              <a:rPr lang="en-IN" altLang="en-US" sz="2800"/>
              <a:t>4.5 Mbps communication speed</a:t>
            </a:r>
          </a:p>
          <a:p>
            <a:r>
              <a:rPr lang="en-IN" altLang="en-US" sz="2800"/>
              <a:t>Flow Control support</a:t>
            </a:r>
          </a:p>
          <a:p>
            <a:endParaRPr lang="en-IN" altLang="en-US" sz="2800"/>
          </a:p>
          <a:p>
            <a:pPr>
              <a:buFont typeface="Arial" panose="020B0604020202020204" pitchFamily="34" charset="0"/>
              <a:buNone/>
            </a:pPr>
            <a:endParaRPr lang="en-IN" altLang="en-US" sz="2800"/>
          </a:p>
          <a:p>
            <a:pPr>
              <a:buFont typeface="Arial" panose="020B0604020202020204" pitchFamily="34" charset="0"/>
              <a:buNone/>
            </a:pPr>
            <a:endParaRPr lang="en-IN" altLang="en-US" sz="2800">
              <a:latin typeface="Times New Roman" panose="02020603050405020304" pitchFamily="18" charset="0"/>
              <a:cs typeface="Times New Roman" panose="02020603050405020304" pitchFamily="18" charset="0"/>
            </a:endParaRPr>
          </a:p>
        </p:txBody>
      </p:sp>
      <p:pic>
        <p:nvPicPr>
          <p:cNvPr id="14340" name="Picture 2" descr="ESP8266 NodeMCU Hardware Specifications - CP2102 USB to TTL Converter">
            <a:extLst>
              <a:ext uri="{FF2B5EF4-FFF2-40B4-BE49-F238E27FC236}">
                <a16:creationId xmlns:a16="http://schemas.microsoft.com/office/drawing/2014/main" id="{5A34090C-C9EC-4FEA-9CC3-5A302C4BCC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8626" y="1357313"/>
            <a:ext cx="30956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9FD31951-CD4C-4A2F-A43F-19244E0F03EF}"/>
              </a:ext>
            </a:extLst>
          </p:cNvPr>
          <p:cNvSpPr>
            <a:spLocks noGrp="1"/>
          </p:cNvSpPr>
          <p:nvPr>
            <p:ph type="title"/>
          </p:nvPr>
        </p:nvSpPr>
        <p:spPr/>
        <p:txBody>
          <a:bodyPr/>
          <a:lstStyle/>
          <a:p>
            <a:r>
              <a:rPr lang="en-GB" b="1" kern="0" dirty="0" smtClean="0">
                <a:solidFill>
                  <a:prstClr val="black"/>
                </a:solidFill>
                <a:latin typeface="Lato"/>
                <a:ea typeface="Lato"/>
                <a:cs typeface="Lato"/>
                <a:sym typeface="Lato"/>
              </a:rPr>
              <a:t>NODE MCU </a:t>
            </a:r>
            <a:r>
              <a:rPr lang="en-GB" b="1" kern="0" dirty="0">
                <a:solidFill>
                  <a:prstClr val="black"/>
                </a:solidFill>
                <a:latin typeface="Lato"/>
                <a:ea typeface="Lato"/>
                <a:cs typeface="Lato"/>
                <a:sym typeface="Lato"/>
              </a:rPr>
              <a:t/>
            </a:r>
            <a:br>
              <a:rPr lang="en-GB" b="1" kern="0" dirty="0">
                <a:solidFill>
                  <a:prstClr val="black"/>
                </a:solidFill>
                <a:latin typeface="Lato"/>
                <a:ea typeface="Lato"/>
                <a:cs typeface="Lato"/>
                <a:sym typeface="Lato"/>
              </a:rPr>
            </a:br>
            <a:endParaRPr lang="en-IN" altLang="en-US" dirty="0"/>
          </a:p>
        </p:txBody>
      </p:sp>
      <p:sp>
        <p:nvSpPr>
          <p:cNvPr id="16387" name="Content Placeholder 2">
            <a:extLst>
              <a:ext uri="{FF2B5EF4-FFF2-40B4-BE49-F238E27FC236}">
                <a16:creationId xmlns:a16="http://schemas.microsoft.com/office/drawing/2014/main" id="{7F8B07C9-BACC-4C40-86EB-99F6578D296B}"/>
              </a:ext>
            </a:extLst>
          </p:cNvPr>
          <p:cNvSpPr>
            <a:spLocks noGrp="1"/>
          </p:cNvSpPr>
          <p:nvPr>
            <p:ph idx="1"/>
          </p:nvPr>
        </p:nvSpPr>
        <p:spPr>
          <a:xfrm>
            <a:off x="495300" y="1104901"/>
            <a:ext cx="11087100" cy="5021264"/>
          </a:xfrm>
        </p:spPr>
        <p:txBody>
          <a:bodyPr/>
          <a:lstStyle/>
          <a:p>
            <a:pPr marL="0" indent="0">
              <a:buNone/>
            </a:pPr>
            <a:endParaRPr lang="en-IN" altLang="en-US" dirty="0"/>
          </a:p>
        </p:txBody>
      </p:sp>
      <p:sp>
        <p:nvSpPr>
          <p:cNvPr id="4" name="Google Shape;359;p29">
            <a:extLst>
              <a:ext uri="{FF2B5EF4-FFF2-40B4-BE49-F238E27FC236}">
                <a16:creationId xmlns:a16="http://schemas.microsoft.com/office/drawing/2014/main" id="{AD8B0A6F-FB6F-43DC-A62D-BF2178AE5088}"/>
              </a:ext>
            </a:extLst>
          </p:cNvPr>
          <p:cNvSpPr txBox="1"/>
          <p:nvPr/>
        </p:nvSpPr>
        <p:spPr>
          <a:xfrm>
            <a:off x="1947864" y="1611313"/>
            <a:ext cx="4237037" cy="1993900"/>
          </a:xfrm>
          <a:prstGeom prst="rect">
            <a:avLst/>
          </a:prstGeom>
          <a:noFill/>
          <a:ln>
            <a:noFill/>
          </a:ln>
        </p:spPr>
        <p:txBody>
          <a:bodyPr spcFirstLastPara="1" lIns="91425" tIns="91425" rIns="91425" bIns="91425"/>
          <a:lstStyle/>
          <a:p>
            <a:pPr marL="457200" indent="-355600">
              <a:lnSpc>
                <a:spcPct val="115000"/>
              </a:lnSpc>
              <a:buClr>
                <a:srgbClr val="FFFFFF"/>
              </a:buClr>
              <a:buSzPts val="2000"/>
              <a:buFont typeface="Lato"/>
              <a:buChar char="●"/>
              <a:defRPr/>
            </a:pPr>
            <a:endParaRPr lang="en-GB" sz="2000" b="1" kern="0" dirty="0" smtClean="0">
              <a:solidFill>
                <a:prstClr val="black"/>
              </a:solidFill>
              <a:latin typeface="Lato"/>
              <a:ea typeface="Lato"/>
              <a:cs typeface="Lato"/>
              <a:sym typeface="Lato"/>
            </a:endParaRPr>
          </a:p>
          <a:p>
            <a:pPr marL="457200" indent="-355600">
              <a:lnSpc>
                <a:spcPct val="115000"/>
              </a:lnSpc>
              <a:buClr>
                <a:srgbClr val="FFFFFF"/>
              </a:buClr>
              <a:buSzPts val="2000"/>
              <a:buFont typeface="Lato"/>
              <a:buChar char="●"/>
              <a:defRPr/>
            </a:pPr>
            <a:r>
              <a:rPr lang="en-GB" sz="2400" b="1" kern="0" dirty="0" smtClean="0">
                <a:solidFill>
                  <a:prstClr val="black"/>
                </a:solidFill>
                <a:latin typeface="Lato"/>
                <a:ea typeface="Lato"/>
                <a:cs typeface="Lato"/>
                <a:sym typeface="Lato"/>
              </a:rPr>
              <a:t>Advantages</a:t>
            </a:r>
            <a:r>
              <a:rPr lang="en-GB" sz="2000" b="1" kern="0" dirty="0" smtClean="0">
                <a:solidFill>
                  <a:prstClr val="black"/>
                </a:solidFill>
                <a:latin typeface="Lato"/>
                <a:ea typeface="Lato"/>
                <a:cs typeface="Lato"/>
                <a:sym typeface="Lato"/>
              </a:rPr>
              <a:t> </a:t>
            </a:r>
          </a:p>
          <a:p>
            <a:pPr marL="558800" indent="-457200">
              <a:lnSpc>
                <a:spcPct val="115000"/>
              </a:lnSpc>
              <a:buClr>
                <a:srgbClr val="FFFFFF"/>
              </a:buClr>
              <a:buSzPts val="2000"/>
              <a:buFont typeface="Wingdings" panose="05000000000000000000" pitchFamily="2" charset="2"/>
              <a:buChar char="v"/>
              <a:defRPr/>
            </a:pPr>
            <a:r>
              <a:rPr lang="en-GB" sz="2000" b="1" kern="0" dirty="0" smtClean="0">
                <a:solidFill>
                  <a:prstClr val="black"/>
                </a:solidFill>
                <a:latin typeface="Lato"/>
                <a:ea typeface="Lato"/>
                <a:cs typeface="Lato"/>
                <a:sym typeface="Lato"/>
              </a:rPr>
              <a:t>Low </a:t>
            </a:r>
            <a:r>
              <a:rPr lang="en-GB" sz="2000" b="1" kern="0" dirty="0">
                <a:solidFill>
                  <a:prstClr val="black"/>
                </a:solidFill>
                <a:latin typeface="Lato"/>
                <a:ea typeface="Lato"/>
                <a:cs typeface="Lato"/>
                <a:sym typeface="Lato"/>
              </a:rPr>
              <a:t>energy consumption</a:t>
            </a:r>
            <a:endParaRPr sz="2000" b="1" kern="0" dirty="0">
              <a:solidFill>
                <a:prstClr val="black"/>
              </a:solidFill>
              <a:latin typeface="Lato"/>
              <a:ea typeface="Lato"/>
              <a:cs typeface="Lato"/>
              <a:sym typeface="Lato"/>
            </a:endParaRPr>
          </a:p>
          <a:p>
            <a:pPr marL="558800" indent="-457200">
              <a:lnSpc>
                <a:spcPct val="115000"/>
              </a:lnSpc>
              <a:buClr>
                <a:srgbClr val="FFFFFF"/>
              </a:buClr>
              <a:buSzPts val="2000"/>
              <a:buFont typeface="Wingdings" panose="05000000000000000000" pitchFamily="2" charset="2"/>
              <a:buChar char="v"/>
              <a:defRPr/>
            </a:pPr>
            <a:r>
              <a:rPr lang="en-GB" sz="2000" b="1" kern="0" dirty="0">
                <a:solidFill>
                  <a:prstClr val="black"/>
                </a:solidFill>
                <a:latin typeface="Lato"/>
                <a:ea typeface="Lato"/>
                <a:cs typeface="Lato"/>
                <a:sym typeface="Lato"/>
              </a:rPr>
              <a:t>Integrated support for WIFI network</a:t>
            </a:r>
            <a:endParaRPr sz="2000" b="1" kern="0" dirty="0">
              <a:solidFill>
                <a:prstClr val="black"/>
              </a:solidFill>
              <a:latin typeface="Lato"/>
              <a:ea typeface="Lato"/>
              <a:cs typeface="Lato"/>
              <a:sym typeface="Lato"/>
            </a:endParaRPr>
          </a:p>
          <a:p>
            <a:pPr marL="558800" indent="-457200">
              <a:lnSpc>
                <a:spcPct val="115000"/>
              </a:lnSpc>
              <a:buClr>
                <a:srgbClr val="FFFFFF"/>
              </a:buClr>
              <a:buSzPts val="2000"/>
              <a:buFont typeface="Wingdings" panose="05000000000000000000" pitchFamily="2" charset="2"/>
              <a:buChar char="v"/>
              <a:defRPr/>
            </a:pPr>
            <a:r>
              <a:rPr lang="en-GB" sz="2000" b="1" kern="0" dirty="0">
                <a:solidFill>
                  <a:prstClr val="black"/>
                </a:solidFill>
                <a:latin typeface="Lato"/>
                <a:ea typeface="Lato"/>
                <a:cs typeface="Lato"/>
                <a:sym typeface="Lato"/>
              </a:rPr>
              <a:t>Reduced size of the board</a:t>
            </a:r>
            <a:endParaRPr sz="2000" b="1" kern="0" dirty="0">
              <a:solidFill>
                <a:prstClr val="black"/>
              </a:solidFill>
              <a:latin typeface="Lato"/>
              <a:ea typeface="Lato"/>
              <a:cs typeface="Lato"/>
              <a:sym typeface="Lato"/>
            </a:endParaRPr>
          </a:p>
          <a:p>
            <a:pPr marL="558800" indent="-457200">
              <a:lnSpc>
                <a:spcPct val="115000"/>
              </a:lnSpc>
              <a:buClr>
                <a:srgbClr val="FFFFFF"/>
              </a:buClr>
              <a:buSzPts val="2000"/>
              <a:buFont typeface="Wingdings" panose="05000000000000000000" pitchFamily="2" charset="2"/>
              <a:buChar char="v"/>
              <a:defRPr/>
            </a:pPr>
            <a:r>
              <a:rPr lang="en-GB" sz="2000" b="1" kern="0" dirty="0">
                <a:solidFill>
                  <a:prstClr val="black"/>
                </a:solidFill>
                <a:latin typeface="Lato"/>
                <a:ea typeface="Lato"/>
                <a:cs typeface="Lato"/>
                <a:sym typeface="Lato"/>
              </a:rPr>
              <a:t>Low Cost</a:t>
            </a:r>
            <a:endParaRPr sz="2000" b="1" kern="0" dirty="0">
              <a:solidFill>
                <a:prstClr val="black"/>
              </a:solidFill>
              <a:latin typeface="Lato"/>
              <a:ea typeface="Lato"/>
              <a:cs typeface="Lato"/>
              <a:sym typeface="Lato"/>
            </a:endParaRPr>
          </a:p>
        </p:txBody>
      </p:sp>
      <p:sp>
        <p:nvSpPr>
          <p:cNvPr id="5" name="Google Shape;360;p29">
            <a:extLst>
              <a:ext uri="{FF2B5EF4-FFF2-40B4-BE49-F238E27FC236}">
                <a16:creationId xmlns:a16="http://schemas.microsoft.com/office/drawing/2014/main" id="{52D40080-6FB9-4A0A-A3CA-0FA16C331827}"/>
              </a:ext>
            </a:extLst>
          </p:cNvPr>
          <p:cNvSpPr txBox="1"/>
          <p:nvPr/>
        </p:nvSpPr>
        <p:spPr>
          <a:xfrm>
            <a:off x="6985000" y="1611313"/>
            <a:ext cx="3209925" cy="1566863"/>
          </a:xfrm>
          <a:prstGeom prst="rect">
            <a:avLst/>
          </a:prstGeom>
          <a:noFill/>
          <a:ln>
            <a:noFill/>
          </a:ln>
        </p:spPr>
        <p:txBody>
          <a:bodyPr spcFirstLastPara="1" lIns="91425" tIns="91425" rIns="91425" bIns="91425"/>
          <a:lstStyle/>
          <a:p>
            <a:pPr>
              <a:lnSpc>
                <a:spcPct val="204545"/>
              </a:lnSpc>
              <a:buClr>
                <a:srgbClr val="000000"/>
              </a:buClr>
              <a:defRPr/>
            </a:pPr>
            <a:r>
              <a:rPr lang="en-GB" sz="2400" b="1" kern="0" dirty="0">
                <a:solidFill>
                  <a:prstClr val="black"/>
                </a:solidFill>
                <a:latin typeface="Lato"/>
                <a:ea typeface="Lato"/>
                <a:cs typeface="Lato"/>
                <a:sym typeface="Lato"/>
              </a:rPr>
              <a:t>Disadvantages</a:t>
            </a:r>
            <a:endParaRPr sz="2400" b="1" kern="0" dirty="0">
              <a:solidFill>
                <a:prstClr val="black"/>
              </a:solidFill>
              <a:latin typeface="Lato"/>
              <a:ea typeface="Lato"/>
              <a:cs typeface="Lato"/>
              <a:sym typeface="Lato"/>
            </a:endParaRPr>
          </a:p>
          <a:p>
            <a:pPr>
              <a:lnSpc>
                <a:spcPct val="115000"/>
              </a:lnSpc>
              <a:buClr>
                <a:srgbClr val="FFFFFF"/>
              </a:buClr>
              <a:buSzPts val="2000"/>
              <a:defRPr/>
            </a:pPr>
            <a:r>
              <a:rPr lang="en-GB" sz="2000" b="1" kern="0" dirty="0">
                <a:solidFill>
                  <a:prstClr val="black"/>
                </a:solidFill>
                <a:latin typeface="Lato"/>
                <a:ea typeface="Lato"/>
                <a:cs typeface="Lato"/>
                <a:sym typeface="Lato"/>
              </a:rPr>
              <a:t>Need to learn a new language and IDE</a:t>
            </a:r>
            <a:endParaRPr sz="2000" b="1" kern="0" dirty="0">
              <a:solidFill>
                <a:prstClr val="black"/>
              </a:solidFill>
              <a:latin typeface="Lato"/>
              <a:ea typeface="Lato"/>
              <a:cs typeface="Lato"/>
              <a:sym typeface="Lato"/>
            </a:endParaRPr>
          </a:p>
          <a:p>
            <a:pPr>
              <a:lnSpc>
                <a:spcPct val="115000"/>
              </a:lnSpc>
              <a:buClr>
                <a:srgbClr val="FFFFFF"/>
              </a:buClr>
              <a:buSzPts val="2000"/>
              <a:defRPr/>
            </a:pPr>
            <a:r>
              <a:rPr lang="en-GB" sz="2000" b="1" kern="0" dirty="0">
                <a:solidFill>
                  <a:prstClr val="black"/>
                </a:solidFill>
                <a:latin typeface="Lato"/>
                <a:ea typeface="Lato"/>
                <a:cs typeface="Lato"/>
                <a:sym typeface="Lato"/>
              </a:rPr>
              <a:t>Less </a:t>
            </a:r>
            <a:r>
              <a:rPr lang="en-GB" sz="2000" b="1" kern="0" dirty="0" err="1">
                <a:solidFill>
                  <a:prstClr val="black"/>
                </a:solidFill>
                <a:latin typeface="Lato"/>
                <a:ea typeface="Lato"/>
                <a:cs typeface="Lato"/>
                <a:sym typeface="Lato"/>
              </a:rPr>
              <a:t>pinout</a:t>
            </a:r>
            <a:endParaRPr sz="2000" b="1" kern="0" dirty="0">
              <a:solidFill>
                <a:prstClr val="black"/>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0768-FEEB-463E-8670-00CC2031AA13}"/>
              </a:ext>
            </a:extLst>
          </p:cNvPr>
          <p:cNvSpPr>
            <a:spLocks noGrp="1"/>
          </p:cNvSpPr>
          <p:nvPr>
            <p:ph type="title"/>
          </p:nvPr>
        </p:nvSpPr>
        <p:spPr/>
        <p:txBody>
          <a:bodyPr/>
          <a:lstStyle/>
          <a:p>
            <a:r>
              <a:rPr lang="en-IN" b="1" dirty="0"/>
              <a:t>Smart Irrigation System using ESP32</a:t>
            </a:r>
            <a:br>
              <a:rPr lang="en-IN" b="1" dirty="0"/>
            </a:br>
            <a:endParaRPr lang="en-IN" dirty="0"/>
          </a:p>
        </p:txBody>
      </p:sp>
      <p:sp>
        <p:nvSpPr>
          <p:cNvPr id="3" name="Content Placeholder 2">
            <a:extLst>
              <a:ext uri="{FF2B5EF4-FFF2-40B4-BE49-F238E27FC236}">
                <a16:creationId xmlns:a16="http://schemas.microsoft.com/office/drawing/2014/main" id="{0C15A815-5D91-4887-A079-2E763BF9B2A5}"/>
              </a:ext>
            </a:extLst>
          </p:cNvPr>
          <p:cNvSpPr>
            <a:spLocks noGrp="1"/>
          </p:cNvSpPr>
          <p:nvPr>
            <p:ph idx="1"/>
          </p:nvPr>
        </p:nvSpPr>
        <p:spPr>
          <a:xfrm>
            <a:off x="609600" y="846138"/>
            <a:ext cx="10972800" cy="4525963"/>
          </a:xfrm>
        </p:spPr>
        <p:txBody>
          <a:bodyPr/>
          <a:lstStyle/>
          <a:p>
            <a:pPr algn="just">
              <a:lnSpc>
                <a:spcPct val="150000"/>
              </a:lnSpc>
            </a:pPr>
            <a:r>
              <a:rPr lang="en-GB" sz="2400" dirty="0"/>
              <a:t>The smart irrigation system using ESP32 automatically takes care of the optimization of the basic soil conditions. </a:t>
            </a:r>
          </a:p>
          <a:p>
            <a:pPr algn="just">
              <a:lnSpc>
                <a:spcPct val="150000"/>
              </a:lnSpc>
            </a:pPr>
            <a:r>
              <a:rPr lang="en-GB" sz="2400" dirty="0"/>
              <a:t>It continuously checks for values from different sensors and sends commands to the other components to work accordingly.</a:t>
            </a:r>
          </a:p>
          <a:p>
            <a:pPr algn="just">
              <a:lnSpc>
                <a:spcPct val="150000"/>
              </a:lnSpc>
            </a:pPr>
            <a:r>
              <a:rPr lang="en-GB" sz="2400" dirty="0"/>
              <a:t>The Internet of Things (IoT) is a highly demanding field that is applied in multiple domains of life such as agricultural.</a:t>
            </a:r>
          </a:p>
          <a:p>
            <a:pPr algn="just">
              <a:lnSpc>
                <a:spcPct val="150000"/>
              </a:lnSpc>
            </a:pPr>
            <a:r>
              <a:rPr lang="en-GB" sz="2400" dirty="0"/>
              <a:t>It is the most dominant field that has been revolutionized by integrating sensors, machines, data analytics, etc. </a:t>
            </a:r>
          </a:p>
          <a:p>
            <a:pPr algn="just">
              <a:lnSpc>
                <a:spcPct val="150000"/>
              </a:lnSpc>
            </a:pPr>
            <a:r>
              <a:rPr lang="en-GB" sz="2400" dirty="0"/>
              <a:t>It has the potential to increase efficiency and performance, improve resource management, enhance crop quality, and, as a result, empower farmers.</a:t>
            </a:r>
            <a:endParaRPr lang="en-IN" sz="2400" dirty="0"/>
          </a:p>
        </p:txBody>
      </p:sp>
    </p:spTree>
    <p:extLst>
      <p:ext uri="{BB962C8B-B14F-4D97-AF65-F5344CB8AC3E}">
        <p14:creationId xmlns:p14="http://schemas.microsoft.com/office/powerpoint/2010/main" val="1492941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99DCC-FAF1-4A60-85C7-62647A8201D3}"/>
              </a:ext>
            </a:extLst>
          </p:cNvPr>
          <p:cNvSpPr>
            <a:spLocks noGrp="1"/>
          </p:cNvSpPr>
          <p:nvPr>
            <p:ph type="title"/>
          </p:nvPr>
        </p:nvSpPr>
        <p:spPr/>
        <p:txBody>
          <a:bodyPr/>
          <a:lstStyle/>
          <a:p>
            <a:r>
              <a:rPr lang="en-IN" dirty="0"/>
              <a:t>Block Diagram</a:t>
            </a:r>
          </a:p>
        </p:txBody>
      </p:sp>
      <p:pic>
        <p:nvPicPr>
          <p:cNvPr id="4" name="Content Placeholder 3">
            <a:extLst>
              <a:ext uri="{FF2B5EF4-FFF2-40B4-BE49-F238E27FC236}">
                <a16:creationId xmlns:a16="http://schemas.microsoft.com/office/drawing/2014/main" id="{8BF45388-1EC3-490E-90F5-784EDE63A452}"/>
              </a:ext>
            </a:extLst>
          </p:cNvPr>
          <p:cNvPicPr>
            <a:picLocks noGrp="1" noChangeAspect="1"/>
          </p:cNvPicPr>
          <p:nvPr>
            <p:ph idx="1"/>
          </p:nvPr>
        </p:nvPicPr>
        <p:blipFill>
          <a:blip r:embed="rId2"/>
          <a:stretch>
            <a:fillRect/>
          </a:stretch>
        </p:blipFill>
        <p:spPr>
          <a:xfrm>
            <a:off x="749860" y="1417638"/>
            <a:ext cx="10832540" cy="4930414"/>
          </a:xfrm>
          <a:prstGeom prst="rect">
            <a:avLst/>
          </a:prstGeom>
        </p:spPr>
      </p:pic>
    </p:spTree>
    <p:extLst>
      <p:ext uri="{BB962C8B-B14F-4D97-AF65-F5344CB8AC3E}">
        <p14:creationId xmlns:p14="http://schemas.microsoft.com/office/powerpoint/2010/main" val="3771049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28CDA-A35B-425B-B187-240FF3BFB9A6}"/>
              </a:ext>
            </a:extLst>
          </p:cNvPr>
          <p:cNvSpPr>
            <a:spLocks noGrp="1"/>
          </p:cNvSpPr>
          <p:nvPr>
            <p:ph type="title"/>
          </p:nvPr>
        </p:nvSpPr>
        <p:spPr/>
        <p:txBody>
          <a:bodyPr/>
          <a:lstStyle/>
          <a:p>
            <a:r>
              <a:rPr lang="en-IN" dirty="0"/>
              <a:t>Use a Smart Irrigation System</a:t>
            </a:r>
            <a:r>
              <a:rPr lang="en-IN" b="1" dirty="0"/>
              <a:t/>
            </a:r>
            <a:br>
              <a:rPr lang="en-IN" b="1" dirty="0"/>
            </a:br>
            <a:endParaRPr lang="en-IN" dirty="0"/>
          </a:p>
        </p:txBody>
      </p:sp>
      <p:sp>
        <p:nvSpPr>
          <p:cNvPr id="3" name="Content Placeholder 2">
            <a:extLst>
              <a:ext uri="{FF2B5EF4-FFF2-40B4-BE49-F238E27FC236}">
                <a16:creationId xmlns:a16="http://schemas.microsoft.com/office/drawing/2014/main" id="{98A0DE8E-4C0C-4CCA-9F9D-3663856667ED}"/>
              </a:ext>
            </a:extLst>
          </p:cNvPr>
          <p:cNvSpPr>
            <a:spLocks noGrp="1"/>
          </p:cNvSpPr>
          <p:nvPr>
            <p:ph idx="1"/>
          </p:nvPr>
        </p:nvSpPr>
        <p:spPr/>
        <p:txBody>
          <a:bodyPr/>
          <a:lstStyle/>
          <a:p>
            <a:pPr marL="0" indent="0" algn="just">
              <a:buNone/>
            </a:pPr>
            <a:r>
              <a:rPr lang="en-GB" dirty="0">
                <a:solidFill>
                  <a:srgbClr val="7030A0"/>
                </a:solidFill>
              </a:rPr>
              <a:t>Smart Irrigation System Conserves Water</a:t>
            </a:r>
            <a:endParaRPr lang="en-GB" b="1" dirty="0">
              <a:solidFill>
                <a:srgbClr val="7030A0"/>
              </a:solidFill>
            </a:endParaRPr>
          </a:p>
          <a:p>
            <a:pPr algn="just"/>
            <a:r>
              <a:rPr lang="en-GB" dirty="0"/>
              <a:t>The sensors of this system continuously sense the values of soil moisture and deliver water only when required. </a:t>
            </a:r>
          </a:p>
          <a:p>
            <a:pPr algn="just"/>
            <a:r>
              <a:rPr lang="en-GB" dirty="0"/>
              <a:t>The water schedule does not remain the same all the time, but multiple factors affect the required amount of water for the plant, such as humidity in the air and temperature. </a:t>
            </a:r>
          </a:p>
          <a:p>
            <a:pPr algn="just"/>
            <a:r>
              <a:rPr lang="en-GB" dirty="0"/>
              <a:t>These factors are regularly monitored by the sensors</a:t>
            </a:r>
            <a:endParaRPr lang="en-IN" dirty="0"/>
          </a:p>
        </p:txBody>
      </p:sp>
    </p:spTree>
    <p:extLst>
      <p:ext uri="{BB962C8B-B14F-4D97-AF65-F5344CB8AC3E}">
        <p14:creationId xmlns:p14="http://schemas.microsoft.com/office/powerpoint/2010/main" val="15912377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A1F6E5-520E-47F3-ACFB-076967DD17A5}"/>
              </a:ext>
            </a:extLst>
          </p:cNvPr>
          <p:cNvSpPr>
            <a:spLocks noGrp="1"/>
          </p:cNvSpPr>
          <p:nvPr>
            <p:ph idx="1"/>
          </p:nvPr>
        </p:nvSpPr>
        <p:spPr>
          <a:xfrm>
            <a:off x="609600" y="478303"/>
            <a:ext cx="10972800" cy="5647862"/>
          </a:xfrm>
        </p:spPr>
        <p:txBody>
          <a:bodyPr/>
          <a:lstStyle/>
          <a:p>
            <a:pPr marL="0" indent="0">
              <a:buNone/>
            </a:pPr>
            <a:r>
              <a:rPr lang="en-IN" dirty="0">
                <a:solidFill>
                  <a:srgbClr val="7030A0"/>
                </a:solidFill>
              </a:rPr>
              <a:t>Smart Irrigation System Results in Better Yield</a:t>
            </a:r>
          </a:p>
          <a:p>
            <a:r>
              <a:rPr lang="en-GB" dirty="0"/>
              <a:t>The frequency of watering is an important factor in the plant's health and yield. </a:t>
            </a:r>
          </a:p>
          <a:p>
            <a:r>
              <a:rPr lang="en-GB" dirty="0"/>
              <a:t>With the help of this system, the optimal watering level leads to thriving plants with healthy growth. </a:t>
            </a:r>
            <a:r>
              <a:rPr lang="en-IN" b="1" dirty="0"/>
              <a:t/>
            </a:r>
            <a:br>
              <a:rPr lang="en-IN" b="1" dirty="0"/>
            </a:br>
            <a:endParaRPr lang="en-IN" dirty="0"/>
          </a:p>
        </p:txBody>
      </p:sp>
    </p:spTree>
    <p:extLst>
      <p:ext uri="{BB962C8B-B14F-4D97-AF65-F5344CB8AC3E}">
        <p14:creationId xmlns:p14="http://schemas.microsoft.com/office/powerpoint/2010/main" val="2040326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A1F6E5-520E-47F3-ACFB-076967DD17A5}"/>
              </a:ext>
            </a:extLst>
          </p:cNvPr>
          <p:cNvSpPr>
            <a:spLocks noGrp="1"/>
          </p:cNvSpPr>
          <p:nvPr>
            <p:ph idx="1"/>
          </p:nvPr>
        </p:nvSpPr>
        <p:spPr>
          <a:xfrm>
            <a:off x="609600" y="478303"/>
            <a:ext cx="10972800" cy="5647862"/>
          </a:xfrm>
        </p:spPr>
        <p:txBody>
          <a:bodyPr/>
          <a:lstStyle/>
          <a:p>
            <a:pPr marL="0" indent="0" algn="just">
              <a:buNone/>
            </a:pPr>
            <a:r>
              <a:rPr lang="en-GB" dirty="0">
                <a:solidFill>
                  <a:srgbClr val="7030A0"/>
                </a:solidFill>
              </a:rPr>
              <a:t>Smart Irrigation System using ESP32 is a Time Saver</a:t>
            </a:r>
            <a:endParaRPr lang="en-GB" b="1" dirty="0">
              <a:solidFill>
                <a:srgbClr val="7030A0"/>
              </a:solidFill>
            </a:endParaRPr>
          </a:p>
          <a:p>
            <a:pPr algn="just"/>
            <a:r>
              <a:rPr lang="en-GB" dirty="0"/>
              <a:t>The most prominent advantage of this watering system is that it saves time.</a:t>
            </a:r>
          </a:p>
          <a:p>
            <a:pPr algn="just"/>
            <a:r>
              <a:rPr lang="en-GB" dirty="0"/>
              <a:t>The plants have a unique nourishment system that requires watering early in the morning or at the optimal time. </a:t>
            </a:r>
          </a:p>
          <a:p>
            <a:r>
              <a:rPr lang="en-GB" dirty="0"/>
              <a:t>This is usually different from the human routine, and the automatic watering system is a stress-free solution in such situations. </a:t>
            </a:r>
            <a:r>
              <a:rPr lang="en-IN" b="1" dirty="0"/>
              <a:t/>
            </a:r>
            <a:br>
              <a:rPr lang="en-IN" b="1" dirty="0"/>
            </a:br>
            <a:endParaRPr lang="en-IN" dirty="0"/>
          </a:p>
        </p:txBody>
      </p:sp>
    </p:spTree>
    <p:extLst>
      <p:ext uri="{BB962C8B-B14F-4D97-AF65-F5344CB8AC3E}">
        <p14:creationId xmlns:p14="http://schemas.microsoft.com/office/powerpoint/2010/main" val="133723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A1F6E5-520E-47F3-ACFB-076967DD17A5}"/>
              </a:ext>
            </a:extLst>
          </p:cNvPr>
          <p:cNvSpPr>
            <a:spLocks noGrp="1"/>
          </p:cNvSpPr>
          <p:nvPr>
            <p:ph idx="1"/>
          </p:nvPr>
        </p:nvSpPr>
        <p:spPr>
          <a:xfrm>
            <a:off x="609600" y="478303"/>
            <a:ext cx="10972800" cy="5647862"/>
          </a:xfrm>
        </p:spPr>
        <p:txBody>
          <a:bodyPr/>
          <a:lstStyle/>
          <a:p>
            <a:pPr marL="0" indent="0" algn="just">
              <a:buNone/>
            </a:pPr>
            <a:r>
              <a:rPr lang="en-GB" dirty="0">
                <a:solidFill>
                  <a:srgbClr val="7030A0"/>
                </a:solidFill>
              </a:rPr>
              <a:t>Flow Diagram of Smart Irrigation System using ESP32</a:t>
            </a:r>
          </a:p>
          <a:p>
            <a:pPr marL="0" indent="0" algn="just">
              <a:buNone/>
            </a:pPr>
            <a:r>
              <a:rPr lang="en-IN" b="1" dirty="0"/>
              <a:t/>
            </a:r>
            <a:br>
              <a:rPr lang="en-IN" b="1" dirty="0"/>
            </a:br>
            <a:endParaRPr lang="en-IN" dirty="0"/>
          </a:p>
        </p:txBody>
      </p:sp>
      <p:pic>
        <p:nvPicPr>
          <p:cNvPr id="2" name="Picture 1">
            <a:extLst>
              <a:ext uri="{FF2B5EF4-FFF2-40B4-BE49-F238E27FC236}">
                <a16:creationId xmlns:a16="http://schemas.microsoft.com/office/drawing/2014/main" id="{68DB27B5-BB2E-49F4-9AC8-6AC4C3BB3257}"/>
              </a:ext>
            </a:extLst>
          </p:cNvPr>
          <p:cNvPicPr>
            <a:picLocks noChangeAspect="1"/>
          </p:cNvPicPr>
          <p:nvPr/>
        </p:nvPicPr>
        <p:blipFill>
          <a:blip r:embed="rId2"/>
          <a:stretch>
            <a:fillRect/>
          </a:stretch>
        </p:blipFill>
        <p:spPr>
          <a:xfrm>
            <a:off x="1591283" y="1173023"/>
            <a:ext cx="9283043" cy="5496692"/>
          </a:xfrm>
          <a:prstGeom prst="rect">
            <a:avLst/>
          </a:prstGeom>
        </p:spPr>
      </p:pic>
    </p:spTree>
    <p:extLst>
      <p:ext uri="{BB962C8B-B14F-4D97-AF65-F5344CB8AC3E}">
        <p14:creationId xmlns:p14="http://schemas.microsoft.com/office/powerpoint/2010/main" val="3971077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87A09F-2224-4FBA-B1F3-88FD3816DAC7}"/>
              </a:ext>
            </a:extLst>
          </p:cNvPr>
          <p:cNvSpPr>
            <a:spLocks noGrp="1"/>
          </p:cNvSpPr>
          <p:nvPr>
            <p:ph idx="1"/>
          </p:nvPr>
        </p:nvSpPr>
        <p:spPr/>
        <p:txBody>
          <a:bodyPr/>
          <a:lstStyle/>
          <a:p>
            <a:pPr algn="just"/>
            <a:r>
              <a:rPr lang="en-GB" dirty="0"/>
              <a:t>Two temperature sensors placed at different points on the soil, and these provide the values from two different parts of the soil. </a:t>
            </a:r>
          </a:p>
          <a:p>
            <a:pPr algn="just"/>
            <a:r>
              <a:rPr lang="en-GB" dirty="0"/>
              <a:t>The ESP32 is coded in the Arduino IDE, continuously checks the information from the sensors, and when the threshold values mentioned in the code are encountered, </a:t>
            </a:r>
          </a:p>
          <a:p>
            <a:pPr algn="just"/>
            <a:r>
              <a:rPr lang="en-GB" dirty="0"/>
              <a:t>Whenever the moisture of the plants is lower than the set values, the pump starts, and the steady flow of water starts on the soil. </a:t>
            </a:r>
          </a:p>
          <a:p>
            <a:pPr algn="just"/>
            <a:endParaRPr lang="en-IN" dirty="0"/>
          </a:p>
        </p:txBody>
      </p:sp>
      <p:sp>
        <p:nvSpPr>
          <p:cNvPr id="4" name="Title 1">
            <a:extLst>
              <a:ext uri="{FF2B5EF4-FFF2-40B4-BE49-F238E27FC236}">
                <a16:creationId xmlns:a16="http://schemas.microsoft.com/office/drawing/2014/main" id="{75F0E7F4-EE5C-4BFB-8A01-ACAA2B9C1869}"/>
              </a:ext>
            </a:extLst>
          </p:cNvPr>
          <p:cNvSpPr>
            <a:spLocks noGrp="1"/>
          </p:cNvSpPr>
          <p:nvPr>
            <p:ph type="title"/>
          </p:nvPr>
        </p:nvSpPr>
        <p:spPr>
          <a:xfrm>
            <a:off x="609600" y="274638"/>
            <a:ext cx="10972800" cy="1143000"/>
          </a:xfrm>
        </p:spPr>
        <p:txBody>
          <a:bodyPr/>
          <a:lstStyle/>
          <a:p>
            <a:r>
              <a:rPr lang="en-GB" dirty="0">
                <a:solidFill>
                  <a:srgbClr val="7030A0"/>
                </a:solidFill>
              </a:rPr>
              <a:t>Smart Irrigation System using ESP32</a:t>
            </a:r>
            <a:endParaRPr lang="en-IN" dirty="0"/>
          </a:p>
        </p:txBody>
      </p:sp>
    </p:spTree>
    <p:extLst>
      <p:ext uri="{BB962C8B-B14F-4D97-AF65-F5344CB8AC3E}">
        <p14:creationId xmlns:p14="http://schemas.microsoft.com/office/powerpoint/2010/main" val="3975672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BFA8E-9675-40C7-B907-49D1AA2FAC10}"/>
              </a:ext>
            </a:extLst>
          </p:cNvPr>
          <p:cNvSpPr>
            <a:spLocks noGrp="1"/>
          </p:cNvSpPr>
          <p:nvPr>
            <p:ph type="title"/>
          </p:nvPr>
        </p:nvSpPr>
        <p:spPr/>
        <p:txBody>
          <a:bodyPr/>
          <a:lstStyle/>
          <a:p>
            <a:r>
              <a:rPr lang="en-GB" dirty="0">
                <a:solidFill>
                  <a:srgbClr val="7030A0"/>
                </a:solidFill>
              </a:rPr>
              <a:t>Smart Irrigation System using ESP32</a:t>
            </a:r>
            <a:endParaRPr lang="en-IN" dirty="0"/>
          </a:p>
        </p:txBody>
      </p:sp>
      <p:sp>
        <p:nvSpPr>
          <p:cNvPr id="3" name="Content Placeholder 2">
            <a:extLst>
              <a:ext uri="{FF2B5EF4-FFF2-40B4-BE49-F238E27FC236}">
                <a16:creationId xmlns:a16="http://schemas.microsoft.com/office/drawing/2014/main" id="{60554E35-EFE2-4ABA-9AF1-EBDB3CA9CBDD}"/>
              </a:ext>
            </a:extLst>
          </p:cNvPr>
          <p:cNvSpPr>
            <a:spLocks noGrp="1"/>
          </p:cNvSpPr>
          <p:nvPr>
            <p:ph idx="1"/>
          </p:nvPr>
        </p:nvSpPr>
        <p:spPr/>
        <p:txBody>
          <a:bodyPr/>
          <a:lstStyle/>
          <a:p>
            <a:r>
              <a:rPr lang="en-GB" dirty="0"/>
              <a:t>Similarly, the temperature sensed by the DHT11 is used to provide the necessary optimized conditions.</a:t>
            </a:r>
          </a:p>
          <a:p>
            <a:r>
              <a:rPr lang="en-GB" dirty="0"/>
              <a:t>The water flow in the smart irrigation system using ESP32 is controlled with the help of relays</a:t>
            </a:r>
          </a:p>
          <a:p>
            <a:r>
              <a:rPr lang="en-GB" dirty="0"/>
              <a:t>The relay controls the water pump or water valve in the smart irrigation system. </a:t>
            </a:r>
          </a:p>
          <a:p>
            <a:r>
              <a:rPr lang="en-GB" dirty="0"/>
              <a:t>It takes the values from the moisture sensors and allows the water to flow from different systems connected to them. </a:t>
            </a:r>
            <a:endParaRPr lang="en-IN" dirty="0"/>
          </a:p>
        </p:txBody>
      </p:sp>
    </p:spTree>
    <p:extLst>
      <p:ext uri="{BB962C8B-B14F-4D97-AF65-F5344CB8AC3E}">
        <p14:creationId xmlns:p14="http://schemas.microsoft.com/office/powerpoint/2010/main" val="32869822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9323C-E4D4-4E6A-83AD-885A6244B094}"/>
              </a:ext>
            </a:extLst>
          </p:cNvPr>
          <p:cNvSpPr>
            <a:spLocks noGrp="1"/>
          </p:cNvSpPr>
          <p:nvPr>
            <p:ph type="title"/>
          </p:nvPr>
        </p:nvSpPr>
        <p:spPr/>
        <p:txBody>
          <a:bodyPr/>
          <a:lstStyle/>
          <a:p>
            <a:r>
              <a:rPr lang="en-GB" dirty="0">
                <a:solidFill>
                  <a:srgbClr val="7030A0"/>
                </a:solidFill>
              </a:rPr>
              <a:t>Smart Irrigation System using ESP32</a:t>
            </a:r>
            <a:endParaRPr lang="en-IN" dirty="0"/>
          </a:p>
        </p:txBody>
      </p:sp>
      <p:sp>
        <p:nvSpPr>
          <p:cNvPr id="3" name="Content Placeholder 2">
            <a:extLst>
              <a:ext uri="{FF2B5EF4-FFF2-40B4-BE49-F238E27FC236}">
                <a16:creationId xmlns:a16="http://schemas.microsoft.com/office/drawing/2014/main" id="{47B9362A-97CD-40D9-9EE3-3FD34D89F8FC}"/>
              </a:ext>
            </a:extLst>
          </p:cNvPr>
          <p:cNvSpPr>
            <a:spLocks noGrp="1"/>
          </p:cNvSpPr>
          <p:nvPr>
            <p:ph idx="1"/>
          </p:nvPr>
        </p:nvSpPr>
        <p:spPr>
          <a:xfrm>
            <a:off x="609600" y="1417638"/>
            <a:ext cx="10972800" cy="4525963"/>
          </a:xfrm>
        </p:spPr>
        <p:txBody>
          <a:bodyPr/>
          <a:lstStyle/>
          <a:p>
            <a:r>
              <a:rPr lang="en-GB" b="1" dirty="0"/>
              <a:t>Reads the soil moisture level</a:t>
            </a:r>
            <a:r>
              <a:rPr lang="en-GB" dirty="0"/>
              <a:t> from the sensor using </a:t>
            </a:r>
            <a:r>
              <a:rPr lang="en-GB" b="1" dirty="0"/>
              <a:t>GPIO 34</a:t>
            </a:r>
            <a:r>
              <a:rPr lang="en-GB" dirty="0"/>
              <a:t> (Analog Input).</a:t>
            </a:r>
          </a:p>
          <a:p>
            <a:r>
              <a:rPr lang="en-GB" b="1" dirty="0"/>
              <a:t>Compares the moisture level</a:t>
            </a:r>
            <a:r>
              <a:rPr lang="en-GB" dirty="0"/>
              <a:t> with a predefined </a:t>
            </a:r>
            <a:r>
              <a:rPr lang="en-GB" b="1" dirty="0"/>
              <a:t>threshold</a:t>
            </a:r>
            <a:r>
              <a:rPr lang="en-GB" dirty="0"/>
              <a:t> (500).</a:t>
            </a:r>
          </a:p>
          <a:p>
            <a:r>
              <a:rPr lang="en-GB" b="1" dirty="0"/>
              <a:t>If soil is dry</a:t>
            </a:r>
            <a:r>
              <a:rPr lang="en-GB" dirty="0"/>
              <a:t> (moisture &lt; 500) → The </a:t>
            </a:r>
            <a:r>
              <a:rPr lang="en-GB" b="1" dirty="0"/>
              <a:t>relay turns ON</a:t>
            </a:r>
            <a:r>
              <a:rPr lang="en-GB" dirty="0"/>
              <a:t>, activating the </a:t>
            </a:r>
            <a:r>
              <a:rPr lang="en-GB" b="1" dirty="0"/>
              <a:t>water pump</a:t>
            </a:r>
            <a:r>
              <a:rPr lang="en-GB" dirty="0"/>
              <a:t>.</a:t>
            </a:r>
          </a:p>
          <a:p>
            <a:r>
              <a:rPr lang="en-GB" b="1" dirty="0"/>
              <a:t>If soil is wet</a:t>
            </a:r>
            <a:r>
              <a:rPr lang="en-GB" dirty="0"/>
              <a:t> (moisture ≥ 500) → The </a:t>
            </a:r>
            <a:r>
              <a:rPr lang="en-GB" b="1" dirty="0"/>
              <a:t>relay turns OFF</a:t>
            </a:r>
            <a:r>
              <a:rPr lang="en-GB" dirty="0"/>
              <a:t>, stopping the </a:t>
            </a:r>
            <a:r>
              <a:rPr lang="en-GB" b="1" dirty="0"/>
              <a:t>water pump</a:t>
            </a:r>
            <a:r>
              <a:rPr lang="en-GB" dirty="0"/>
              <a:t>.</a:t>
            </a:r>
          </a:p>
          <a:p>
            <a:r>
              <a:rPr lang="en-GB" b="1" dirty="0"/>
              <a:t>Updates the Serial Monitor</a:t>
            </a:r>
            <a:r>
              <a:rPr lang="en-GB" dirty="0"/>
              <a:t> every 5 seconds with the </a:t>
            </a:r>
            <a:r>
              <a:rPr lang="en-GB" b="1" dirty="0"/>
              <a:t>moisture level and pump status</a:t>
            </a:r>
            <a:r>
              <a:rPr lang="en-GB" dirty="0"/>
              <a:t>.</a:t>
            </a:r>
          </a:p>
          <a:p>
            <a:endParaRPr lang="en-IN" dirty="0"/>
          </a:p>
        </p:txBody>
      </p:sp>
    </p:spTree>
    <p:extLst>
      <p:ext uri="{BB962C8B-B14F-4D97-AF65-F5344CB8AC3E}">
        <p14:creationId xmlns:p14="http://schemas.microsoft.com/office/powerpoint/2010/main" val="533890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BED7-8092-4B08-BB5B-6EF53B9B3CD1}"/>
              </a:ext>
            </a:extLst>
          </p:cNvPr>
          <p:cNvSpPr>
            <a:spLocks noGrp="1"/>
          </p:cNvSpPr>
          <p:nvPr>
            <p:ph type="title"/>
          </p:nvPr>
        </p:nvSpPr>
        <p:spPr/>
        <p:txBody>
          <a:bodyPr/>
          <a:lstStyle/>
          <a:p>
            <a:r>
              <a:rPr lang="en-GB" b="1" dirty="0">
                <a:solidFill>
                  <a:srgbClr val="7030A0"/>
                </a:solidFill>
              </a:rPr>
              <a:t>Smart Irrigation System using ESP32 -</a:t>
            </a:r>
            <a:r>
              <a:rPr lang="en-IN" b="1" dirty="0">
                <a:solidFill>
                  <a:srgbClr val="7030A0"/>
                </a:solidFill>
              </a:rPr>
              <a:t>Program</a:t>
            </a:r>
          </a:p>
        </p:txBody>
      </p:sp>
      <p:sp>
        <p:nvSpPr>
          <p:cNvPr id="3" name="Content Placeholder 2">
            <a:extLst>
              <a:ext uri="{FF2B5EF4-FFF2-40B4-BE49-F238E27FC236}">
                <a16:creationId xmlns:a16="http://schemas.microsoft.com/office/drawing/2014/main" id="{A7890A57-324D-4DD7-B6A7-585F6F34E5E5}"/>
              </a:ext>
            </a:extLst>
          </p:cNvPr>
          <p:cNvSpPr>
            <a:spLocks noGrp="1"/>
          </p:cNvSpPr>
          <p:nvPr>
            <p:ph idx="1"/>
          </p:nvPr>
        </p:nvSpPr>
        <p:spPr>
          <a:xfrm>
            <a:off x="609600" y="1166018"/>
            <a:ext cx="10972800" cy="4525963"/>
          </a:xfrm>
        </p:spPr>
        <p:txBody>
          <a:bodyPr/>
          <a:lstStyle/>
          <a:p>
            <a:pPr marL="0" indent="0">
              <a:buNone/>
            </a:pPr>
            <a:r>
              <a:rPr lang="en-IN" dirty="0"/>
              <a:t>#define SOIL_SENSOR_PIN 34 </a:t>
            </a:r>
          </a:p>
          <a:p>
            <a:pPr marL="0" indent="0">
              <a:buNone/>
            </a:pPr>
            <a:r>
              <a:rPr lang="en-IN" dirty="0"/>
              <a:t>#define RELAY_PIN 26 </a:t>
            </a:r>
          </a:p>
          <a:p>
            <a:pPr marL="0" indent="0">
              <a:buNone/>
            </a:pPr>
            <a:r>
              <a:rPr lang="en-IN" dirty="0"/>
              <a:t>#define MOISTURE_THRESHOLD 500 </a:t>
            </a:r>
          </a:p>
          <a:p>
            <a:pPr marL="0" indent="0">
              <a:buNone/>
            </a:pPr>
            <a:r>
              <a:rPr lang="en-IN" dirty="0"/>
              <a:t>void setup() </a:t>
            </a:r>
          </a:p>
          <a:p>
            <a:pPr marL="0" indent="0">
              <a:buNone/>
            </a:pPr>
            <a:r>
              <a:rPr lang="en-IN" dirty="0"/>
              <a:t>{ </a:t>
            </a:r>
          </a:p>
          <a:p>
            <a:pPr marL="0" indent="0">
              <a:buNone/>
            </a:pPr>
            <a:r>
              <a:rPr lang="en-IN" dirty="0" err="1"/>
              <a:t>Serial.begin</a:t>
            </a:r>
            <a:r>
              <a:rPr lang="en-IN" dirty="0"/>
              <a:t>(115200); </a:t>
            </a:r>
          </a:p>
          <a:p>
            <a:pPr marL="0" indent="0">
              <a:buNone/>
            </a:pPr>
            <a:r>
              <a:rPr lang="en-IN" dirty="0" err="1"/>
              <a:t>pinMode</a:t>
            </a:r>
            <a:r>
              <a:rPr lang="en-IN" dirty="0"/>
              <a:t>(RELAY_PIN, OUTPUT); </a:t>
            </a:r>
          </a:p>
          <a:p>
            <a:pPr marL="0" indent="0">
              <a:buNone/>
            </a:pPr>
            <a:r>
              <a:rPr lang="en-IN" dirty="0" err="1"/>
              <a:t>digitalWrite</a:t>
            </a:r>
            <a:r>
              <a:rPr lang="en-IN" dirty="0"/>
              <a:t>(RELAY_PIN, LOW);</a:t>
            </a:r>
          </a:p>
          <a:p>
            <a:pPr marL="0" indent="0">
              <a:buNone/>
            </a:pPr>
            <a:r>
              <a:rPr lang="en-IN" dirty="0"/>
              <a:t>}</a:t>
            </a:r>
          </a:p>
        </p:txBody>
      </p:sp>
    </p:spTree>
    <p:extLst>
      <p:ext uri="{BB962C8B-B14F-4D97-AF65-F5344CB8AC3E}">
        <p14:creationId xmlns:p14="http://schemas.microsoft.com/office/powerpoint/2010/main" val="3016458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AD05B-9E96-4145-8073-D90198D1827E}"/>
              </a:ext>
            </a:extLst>
          </p:cNvPr>
          <p:cNvSpPr>
            <a:spLocks noGrp="1"/>
          </p:cNvSpPr>
          <p:nvPr>
            <p:ph type="title"/>
          </p:nvPr>
        </p:nvSpPr>
        <p:spPr>
          <a:xfrm>
            <a:off x="609600" y="274638"/>
            <a:ext cx="10972800" cy="891380"/>
          </a:xfrm>
        </p:spPr>
        <p:txBody>
          <a:bodyPr/>
          <a:lstStyle/>
          <a:p>
            <a:r>
              <a:rPr lang="en-GB" b="1" dirty="0">
                <a:solidFill>
                  <a:srgbClr val="7030A0"/>
                </a:solidFill>
              </a:rPr>
              <a:t>Smart Irrigation System using ESP32 -</a:t>
            </a:r>
            <a:r>
              <a:rPr lang="en-IN" b="1" dirty="0">
                <a:solidFill>
                  <a:srgbClr val="7030A0"/>
                </a:solidFill>
              </a:rPr>
              <a:t>Program</a:t>
            </a:r>
            <a:endParaRPr lang="en-IN" dirty="0"/>
          </a:p>
        </p:txBody>
      </p:sp>
      <p:sp>
        <p:nvSpPr>
          <p:cNvPr id="3" name="Content Placeholder 2">
            <a:extLst>
              <a:ext uri="{FF2B5EF4-FFF2-40B4-BE49-F238E27FC236}">
                <a16:creationId xmlns:a16="http://schemas.microsoft.com/office/drawing/2014/main" id="{07DBFE17-A8C5-4F66-909F-37BEEC8B181C}"/>
              </a:ext>
            </a:extLst>
          </p:cNvPr>
          <p:cNvSpPr>
            <a:spLocks noGrp="1"/>
          </p:cNvSpPr>
          <p:nvPr>
            <p:ph idx="1"/>
          </p:nvPr>
        </p:nvSpPr>
        <p:spPr>
          <a:xfrm>
            <a:off x="609600" y="1011274"/>
            <a:ext cx="10972800" cy="4525963"/>
          </a:xfrm>
        </p:spPr>
        <p:txBody>
          <a:bodyPr/>
          <a:lstStyle/>
          <a:p>
            <a:pPr marL="0" indent="0">
              <a:buNone/>
            </a:pPr>
            <a:r>
              <a:rPr lang="en-IN" dirty="0"/>
              <a:t>void loop() </a:t>
            </a:r>
          </a:p>
          <a:p>
            <a:pPr marL="0" indent="0">
              <a:buNone/>
            </a:pPr>
            <a:r>
              <a:rPr lang="en-IN" dirty="0"/>
              <a:t>{ </a:t>
            </a:r>
          </a:p>
          <a:p>
            <a:pPr marL="0" indent="0">
              <a:buNone/>
            </a:pPr>
            <a:r>
              <a:rPr lang="en-IN" dirty="0"/>
              <a:t>int moisture = </a:t>
            </a:r>
            <a:r>
              <a:rPr lang="en-IN" dirty="0" err="1"/>
              <a:t>analogRead</a:t>
            </a:r>
            <a:r>
              <a:rPr lang="en-IN" dirty="0"/>
              <a:t>(SOIL_SENSOR_PIN);</a:t>
            </a:r>
          </a:p>
          <a:p>
            <a:pPr marL="0" indent="0">
              <a:buNone/>
            </a:pPr>
            <a:r>
              <a:rPr lang="en-IN" dirty="0" err="1"/>
              <a:t>Serial.print</a:t>
            </a:r>
            <a:r>
              <a:rPr lang="en-IN" dirty="0"/>
              <a:t>("Soil Moisture Level: "); </a:t>
            </a:r>
          </a:p>
          <a:p>
            <a:pPr marL="0" indent="0">
              <a:buNone/>
            </a:pPr>
            <a:r>
              <a:rPr lang="en-IN" dirty="0" err="1"/>
              <a:t>Serial.println</a:t>
            </a:r>
            <a:r>
              <a:rPr lang="en-IN" dirty="0"/>
              <a:t>(moisture); </a:t>
            </a:r>
          </a:p>
          <a:p>
            <a:pPr marL="0" indent="0">
              <a:buNone/>
            </a:pPr>
            <a:r>
              <a:rPr lang="en-IN" dirty="0"/>
              <a:t>if (moisture &lt; MOISTURE_THRESHOLD) </a:t>
            </a:r>
          </a:p>
          <a:p>
            <a:pPr marL="0" indent="0">
              <a:buNone/>
            </a:pPr>
            <a:r>
              <a:rPr lang="en-IN" dirty="0"/>
              <a:t>{</a:t>
            </a:r>
          </a:p>
          <a:p>
            <a:pPr marL="0" indent="0">
              <a:buNone/>
            </a:pPr>
            <a:r>
              <a:rPr lang="en-IN" dirty="0" err="1"/>
              <a:t>Serial.println</a:t>
            </a:r>
            <a:r>
              <a:rPr lang="en-IN" dirty="0"/>
              <a:t>("Soil is dry. Turning ON Water Pump..."); </a:t>
            </a:r>
            <a:r>
              <a:rPr lang="en-IN" dirty="0" err="1"/>
              <a:t>digitalWrite</a:t>
            </a:r>
            <a:r>
              <a:rPr lang="en-IN" dirty="0"/>
              <a:t>(RELAY_PIN, HIGH);</a:t>
            </a:r>
          </a:p>
          <a:p>
            <a:pPr marL="0" indent="0">
              <a:buNone/>
            </a:pPr>
            <a:r>
              <a:rPr lang="en-IN" dirty="0"/>
              <a:t>} </a:t>
            </a:r>
          </a:p>
        </p:txBody>
      </p:sp>
    </p:spTree>
    <p:extLst>
      <p:ext uri="{BB962C8B-B14F-4D97-AF65-F5344CB8AC3E}">
        <p14:creationId xmlns:p14="http://schemas.microsoft.com/office/powerpoint/2010/main" val="3868909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FEE96-63A6-4D06-8B8E-7FACFE5DA7B6}"/>
              </a:ext>
            </a:extLst>
          </p:cNvPr>
          <p:cNvSpPr>
            <a:spLocks noGrp="1"/>
          </p:cNvSpPr>
          <p:nvPr>
            <p:ph type="title"/>
          </p:nvPr>
        </p:nvSpPr>
        <p:spPr/>
        <p:txBody>
          <a:bodyPr/>
          <a:lstStyle/>
          <a:p>
            <a:r>
              <a:rPr lang="en-GB" b="1" dirty="0">
                <a:solidFill>
                  <a:srgbClr val="7030A0"/>
                </a:solidFill>
              </a:rPr>
              <a:t>Smart Irrigation System using ESP32 -</a:t>
            </a:r>
            <a:r>
              <a:rPr lang="en-IN" b="1" dirty="0">
                <a:solidFill>
                  <a:srgbClr val="7030A0"/>
                </a:solidFill>
              </a:rPr>
              <a:t>Program</a:t>
            </a:r>
            <a:endParaRPr lang="en-IN" dirty="0"/>
          </a:p>
        </p:txBody>
      </p:sp>
      <p:sp>
        <p:nvSpPr>
          <p:cNvPr id="3" name="Content Placeholder 2">
            <a:extLst>
              <a:ext uri="{FF2B5EF4-FFF2-40B4-BE49-F238E27FC236}">
                <a16:creationId xmlns:a16="http://schemas.microsoft.com/office/drawing/2014/main" id="{ACBEE069-7B45-4D0D-B6D8-370ED59B336D}"/>
              </a:ext>
            </a:extLst>
          </p:cNvPr>
          <p:cNvSpPr>
            <a:spLocks noGrp="1"/>
          </p:cNvSpPr>
          <p:nvPr>
            <p:ph idx="1"/>
          </p:nvPr>
        </p:nvSpPr>
        <p:spPr>
          <a:xfrm>
            <a:off x="609600" y="1417638"/>
            <a:ext cx="10972800" cy="4525963"/>
          </a:xfrm>
        </p:spPr>
        <p:txBody>
          <a:bodyPr/>
          <a:lstStyle/>
          <a:p>
            <a:pPr marL="0" indent="0">
              <a:buNone/>
            </a:pPr>
            <a:r>
              <a:rPr lang="en-GB" dirty="0"/>
              <a:t>else </a:t>
            </a:r>
          </a:p>
          <a:p>
            <a:pPr marL="0" indent="0">
              <a:buNone/>
            </a:pPr>
            <a:r>
              <a:rPr lang="en-GB" dirty="0"/>
              <a:t>{ </a:t>
            </a:r>
          </a:p>
          <a:p>
            <a:pPr marL="0" indent="0">
              <a:buNone/>
            </a:pPr>
            <a:r>
              <a:rPr lang="en-GB" dirty="0" err="1"/>
              <a:t>Serial.println</a:t>
            </a:r>
            <a:r>
              <a:rPr lang="en-GB" dirty="0"/>
              <a:t>("Soil has enough moisture. Turning OFF Water Pump..."); </a:t>
            </a:r>
          </a:p>
          <a:p>
            <a:pPr marL="0" indent="0">
              <a:buNone/>
            </a:pPr>
            <a:r>
              <a:rPr lang="en-GB" dirty="0" err="1"/>
              <a:t>digitalWrite</a:t>
            </a:r>
            <a:r>
              <a:rPr lang="en-GB" dirty="0"/>
              <a:t>(RELAY_PIN, LOW);</a:t>
            </a:r>
          </a:p>
          <a:p>
            <a:pPr marL="0" indent="0">
              <a:buNone/>
            </a:pPr>
            <a:r>
              <a:rPr lang="en-GB" dirty="0"/>
              <a:t>}</a:t>
            </a:r>
          </a:p>
          <a:p>
            <a:pPr marL="0" indent="0">
              <a:buNone/>
            </a:pPr>
            <a:r>
              <a:rPr lang="en-GB" dirty="0"/>
              <a:t>delay(5000);</a:t>
            </a:r>
          </a:p>
          <a:p>
            <a:pPr marL="0" indent="0">
              <a:buNone/>
            </a:pPr>
            <a:r>
              <a:rPr lang="en-GB" dirty="0"/>
              <a:t>}</a:t>
            </a:r>
            <a:endParaRPr lang="en-IN" dirty="0"/>
          </a:p>
        </p:txBody>
      </p:sp>
    </p:spTree>
    <p:extLst>
      <p:ext uri="{BB962C8B-B14F-4D97-AF65-F5344CB8AC3E}">
        <p14:creationId xmlns:p14="http://schemas.microsoft.com/office/powerpoint/2010/main" val="4212779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3">
            <a:extLst>
              <a:ext uri="{FF2B5EF4-FFF2-40B4-BE49-F238E27FC236}">
                <a16:creationId xmlns:a16="http://schemas.microsoft.com/office/drawing/2014/main" id="{D594CFAF-900E-4A2C-AA34-12EE4A895736}"/>
              </a:ext>
            </a:extLst>
          </p:cNvPr>
          <p:cNvSpPr>
            <a:spLocks noGrp="1"/>
          </p:cNvSpPr>
          <p:nvPr>
            <p:ph type="title"/>
          </p:nvPr>
        </p:nvSpPr>
        <p:spPr>
          <a:xfrm>
            <a:off x="1981200" y="274639"/>
            <a:ext cx="8229600" cy="511175"/>
          </a:xfrm>
        </p:spPr>
        <p:txBody>
          <a:bodyPr/>
          <a:lstStyle/>
          <a:p>
            <a:r>
              <a:rPr lang="en-IN" altLang="en-US" sz="2000" b="1">
                <a:latin typeface="Times New Roman" panose="02020603050405020304" pitchFamily="18" charset="0"/>
                <a:cs typeface="Times New Roman" panose="02020603050405020304" pitchFamily="18" charset="0"/>
              </a:rPr>
              <a:t>To write an Arduino sketch for connecting ESP8266 to WiFi Service</a:t>
            </a:r>
          </a:p>
        </p:txBody>
      </p:sp>
      <p:sp>
        <p:nvSpPr>
          <p:cNvPr id="3" name="Content Placeholder 2">
            <a:extLst>
              <a:ext uri="{FF2B5EF4-FFF2-40B4-BE49-F238E27FC236}">
                <a16:creationId xmlns:a16="http://schemas.microsoft.com/office/drawing/2014/main" id="{38FE2A5A-6E95-4A78-82AD-5CE5303AD673}"/>
              </a:ext>
            </a:extLst>
          </p:cNvPr>
          <p:cNvSpPr>
            <a:spLocks noGrp="1"/>
          </p:cNvSpPr>
          <p:nvPr>
            <p:ph sz="half" idx="1"/>
          </p:nvPr>
        </p:nvSpPr>
        <p:spPr>
          <a:xfrm>
            <a:off x="2024034" y="928670"/>
            <a:ext cx="8072494" cy="5715040"/>
          </a:xfrm>
        </p:spPr>
        <p:txBody>
          <a:bodyPr numCol="2" rtlCol="0">
            <a:normAutofit fontScale="70000" lnSpcReduction="20000"/>
          </a:bodyPr>
          <a:lstStyle/>
          <a:p>
            <a:pPr fontAlgn="auto">
              <a:spcAft>
                <a:spcPts val="0"/>
              </a:spcAft>
              <a:buNone/>
              <a:defRPr/>
            </a:pPr>
            <a:endParaRPr lang="en-IN" dirty="0"/>
          </a:p>
          <a:p>
            <a:pPr fontAlgn="auto">
              <a:spcAft>
                <a:spcPts val="0"/>
              </a:spcAft>
              <a:buNone/>
              <a:defRPr/>
            </a:pPr>
            <a:r>
              <a:rPr lang="en-IN" dirty="0"/>
              <a:t>#include &lt;ESP8266WiFi.h&gt;</a:t>
            </a:r>
          </a:p>
          <a:p>
            <a:pPr fontAlgn="auto">
              <a:spcAft>
                <a:spcPts val="0"/>
              </a:spcAft>
              <a:buNone/>
              <a:defRPr/>
            </a:pPr>
            <a:r>
              <a:rPr lang="en-IN" dirty="0"/>
              <a:t>char </a:t>
            </a:r>
            <a:r>
              <a:rPr lang="en-IN" dirty="0" err="1"/>
              <a:t>ssid</a:t>
            </a:r>
            <a:r>
              <a:rPr lang="en-IN" dirty="0"/>
              <a:t>[]=“SSID”;</a:t>
            </a:r>
          </a:p>
          <a:p>
            <a:pPr fontAlgn="auto">
              <a:spcAft>
                <a:spcPts val="0"/>
              </a:spcAft>
              <a:buNone/>
              <a:defRPr/>
            </a:pPr>
            <a:r>
              <a:rPr lang="en-IN" dirty="0"/>
              <a:t>char pass[]=“pass”; </a:t>
            </a:r>
          </a:p>
          <a:p>
            <a:pPr fontAlgn="auto">
              <a:spcAft>
                <a:spcPts val="0"/>
              </a:spcAft>
              <a:buNone/>
              <a:defRPr/>
            </a:pPr>
            <a:r>
              <a:rPr lang="en-IN" dirty="0"/>
              <a:t>void setup()</a:t>
            </a:r>
          </a:p>
          <a:p>
            <a:pPr fontAlgn="auto">
              <a:spcAft>
                <a:spcPts val="0"/>
              </a:spcAft>
              <a:buNone/>
              <a:defRPr/>
            </a:pPr>
            <a:r>
              <a:rPr lang="en-IN" dirty="0"/>
              <a:t>{</a:t>
            </a:r>
          </a:p>
          <a:p>
            <a:pPr fontAlgn="auto">
              <a:spcAft>
                <a:spcPts val="0"/>
              </a:spcAft>
              <a:buNone/>
              <a:defRPr/>
            </a:pPr>
            <a:r>
              <a:rPr lang="en-IN" dirty="0" err="1"/>
              <a:t>Serial.begin</a:t>
            </a:r>
            <a:r>
              <a:rPr lang="en-IN" dirty="0"/>
              <a:t>(115200);</a:t>
            </a:r>
          </a:p>
          <a:p>
            <a:pPr fontAlgn="auto">
              <a:spcAft>
                <a:spcPts val="0"/>
              </a:spcAft>
              <a:buNone/>
              <a:defRPr/>
            </a:pPr>
            <a:r>
              <a:rPr lang="en-IN" dirty="0"/>
              <a:t>delay(1000);</a:t>
            </a:r>
          </a:p>
          <a:p>
            <a:pPr fontAlgn="auto">
              <a:spcAft>
                <a:spcPts val="0"/>
              </a:spcAft>
              <a:buNone/>
              <a:defRPr/>
            </a:pPr>
            <a:r>
              <a:rPr lang="en-IN" dirty="0" err="1"/>
              <a:t>Serial.print</a:t>
            </a:r>
            <a:r>
              <a:rPr lang="en-IN" dirty="0"/>
              <a:t>(“Trying to Connect…”);</a:t>
            </a:r>
          </a:p>
          <a:p>
            <a:pPr fontAlgn="auto">
              <a:spcAft>
                <a:spcPts val="0"/>
              </a:spcAft>
              <a:buNone/>
              <a:defRPr/>
            </a:pPr>
            <a:r>
              <a:rPr lang="en-IN" dirty="0" err="1"/>
              <a:t>Serial.println</a:t>
            </a:r>
            <a:r>
              <a:rPr lang="en-IN" dirty="0"/>
              <a:t>(</a:t>
            </a:r>
            <a:r>
              <a:rPr lang="en-IN" dirty="0" err="1"/>
              <a:t>ssid</a:t>
            </a:r>
            <a:r>
              <a:rPr lang="en-IN" dirty="0"/>
              <a:t>);</a:t>
            </a:r>
          </a:p>
          <a:p>
            <a:pPr fontAlgn="auto">
              <a:spcAft>
                <a:spcPts val="0"/>
              </a:spcAft>
              <a:buNone/>
              <a:defRPr/>
            </a:pPr>
            <a:r>
              <a:rPr lang="en-IN" dirty="0"/>
              <a:t>delay(1000);</a:t>
            </a:r>
          </a:p>
          <a:p>
            <a:pPr fontAlgn="auto">
              <a:spcAft>
                <a:spcPts val="0"/>
              </a:spcAft>
              <a:buNone/>
              <a:defRPr/>
            </a:pPr>
            <a:endParaRPr lang="en-IN" dirty="0"/>
          </a:p>
          <a:p>
            <a:pPr fontAlgn="auto">
              <a:spcAft>
                <a:spcPts val="0"/>
              </a:spcAft>
              <a:buNone/>
              <a:defRPr/>
            </a:pPr>
            <a:r>
              <a:rPr lang="en-IN" dirty="0" err="1"/>
              <a:t>WiFi.disconnect</a:t>
            </a:r>
            <a:r>
              <a:rPr lang="en-IN" dirty="0"/>
              <a:t>(); //Disconnect any other </a:t>
            </a:r>
            <a:r>
              <a:rPr lang="en-IN" dirty="0" err="1"/>
              <a:t>Wifi</a:t>
            </a:r>
            <a:r>
              <a:rPr lang="en-IN" dirty="0"/>
              <a:t> is connected</a:t>
            </a:r>
          </a:p>
          <a:p>
            <a:pPr fontAlgn="auto">
              <a:spcAft>
                <a:spcPts val="0"/>
              </a:spcAft>
              <a:buNone/>
              <a:defRPr/>
            </a:pPr>
            <a:r>
              <a:rPr lang="en-IN" dirty="0" err="1"/>
              <a:t>WiFi.begin</a:t>
            </a:r>
            <a:r>
              <a:rPr lang="en-IN" dirty="0"/>
              <a:t>(</a:t>
            </a:r>
            <a:r>
              <a:rPr lang="en-IN" dirty="0" err="1"/>
              <a:t>ssid</a:t>
            </a:r>
            <a:r>
              <a:rPr lang="en-IN" dirty="0"/>
              <a:t>, pass);</a:t>
            </a:r>
          </a:p>
          <a:p>
            <a:pPr fontAlgn="auto">
              <a:spcAft>
                <a:spcPts val="0"/>
              </a:spcAft>
              <a:buNone/>
              <a:defRPr/>
            </a:pPr>
            <a:r>
              <a:rPr lang="en-IN" dirty="0"/>
              <a:t>while(</a:t>
            </a:r>
            <a:r>
              <a:rPr lang="en-IN" dirty="0" err="1"/>
              <a:t>WiFi.status</a:t>
            </a:r>
            <a:r>
              <a:rPr lang="en-IN" dirty="0"/>
              <a:t>() != WL_CONNECTED)</a:t>
            </a:r>
          </a:p>
          <a:p>
            <a:pPr fontAlgn="auto">
              <a:spcAft>
                <a:spcPts val="0"/>
              </a:spcAft>
              <a:buNone/>
              <a:defRPr/>
            </a:pPr>
            <a:r>
              <a:rPr lang="en-IN" dirty="0"/>
              <a:t>{</a:t>
            </a:r>
          </a:p>
          <a:p>
            <a:pPr fontAlgn="auto">
              <a:spcAft>
                <a:spcPts val="0"/>
              </a:spcAft>
              <a:buNone/>
              <a:defRPr/>
            </a:pPr>
            <a:r>
              <a:rPr lang="en-IN" dirty="0"/>
              <a:t>delay(500);</a:t>
            </a:r>
          </a:p>
          <a:p>
            <a:pPr fontAlgn="auto">
              <a:spcAft>
                <a:spcPts val="0"/>
              </a:spcAft>
              <a:buNone/>
              <a:defRPr/>
            </a:pPr>
            <a:r>
              <a:rPr lang="en-IN" dirty="0" err="1"/>
              <a:t>Serial.print</a:t>
            </a:r>
            <a:r>
              <a:rPr lang="en-IN" dirty="0"/>
              <a:t>(“…”);</a:t>
            </a:r>
          </a:p>
          <a:p>
            <a:pPr fontAlgn="auto">
              <a:spcAft>
                <a:spcPts val="0"/>
              </a:spcAft>
              <a:buNone/>
              <a:defRPr/>
            </a:pPr>
            <a:r>
              <a:rPr lang="en-IN" dirty="0"/>
              <a:t>}</a:t>
            </a:r>
          </a:p>
          <a:p>
            <a:pPr fontAlgn="auto">
              <a:spcAft>
                <a:spcPts val="0"/>
              </a:spcAft>
              <a:buNone/>
              <a:defRPr/>
            </a:pPr>
            <a:r>
              <a:rPr lang="en-IN" dirty="0" err="1"/>
              <a:t>Serial.print</a:t>
            </a:r>
            <a:r>
              <a:rPr lang="en-IN" dirty="0"/>
              <a:t>(“SSID...=“);</a:t>
            </a:r>
          </a:p>
          <a:p>
            <a:pPr fontAlgn="auto">
              <a:spcAft>
                <a:spcPts val="0"/>
              </a:spcAft>
              <a:buNone/>
              <a:defRPr/>
            </a:pPr>
            <a:r>
              <a:rPr lang="en-IN" dirty="0" err="1"/>
              <a:t>Serial.println</a:t>
            </a:r>
            <a:r>
              <a:rPr lang="en-IN" dirty="0"/>
              <a:t> (</a:t>
            </a:r>
            <a:r>
              <a:rPr lang="en-IN" dirty="0" err="1"/>
              <a:t>WiFi.SSID</a:t>
            </a:r>
            <a:r>
              <a:rPr lang="en-IN" dirty="0"/>
              <a:t>());</a:t>
            </a:r>
          </a:p>
          <a:p>
            <a:pPr fontAlgn="auto">
              <a:spcAft>
                <a:spcPts val="0"/>
              </a:spcAft>
              <a:buNone/>
              <a:defRPr/>
            </a:pPr>
            <a:r>
              <a:rPr lang="en-IN" dirty="0" err="1"/>
              <a:t>Serial.println</a:t>
            </a:r>
            <a:r>
              <a:rPr lang="en-IN" dirty="0"/>
              <a:t>(“Successfully connected!!!”);</a:t>
            </a:r>
          </a:p>
          <a:p>
            <a:pPr fontAlgn="auto">
              <a:spcAft>
                <a:spcPts val="0"/>
              </a:spcAft>
              <a:buNone/>
              <a:defRPr/>
            </a:pPr>
            <a:r>
              <a:rPr lang="en-IN" dirty="0" err="1"/>
              <a:t>Serial.print</a:t>
            </a:r>
            <a:r>
              <a:rPr lang="en-IN" dirty="0"/>
              <a:t>(“IP Address allotted to </a:t>
            </a:r>
            <a:r>
              <a:rPr lang="en-IN" dirty="0" err="1"/>
              <a:t>NodeMcu</a:t>
            </a:r>
            <a:r>
              <a:rPr lang="en-IN" dirty="0"/>
              <a:t> ESP..”);</a:t>
            </a:r>
          </a:p>
          <a:p>
            <a:pPr fontAlgn="auto">
              <a:spcAft>
                <a:spcPts val="0"/>
              </a:spcAft>
              <a:buNone/>
              <a:defRPr/>
            </a:pPr>
            <a:r>
              <a:rPr lang="en-IN" dirty="0" err="1"/>
              <a:t>Serial.println</a:t>
            </a:r>
            <a:r>
              <a:rPr lang="en-IN" dirty="0"/>
              <a:t>(</a:t>
            </a:r>
            <a:r>
              <a:rPr lang="en-IN" dirty="0" err="1"/>
              <a:t>WiFi.localIP</a:t>
            </a:r>
            <a:r>
              <a:rPr lang="en-IN" dirty="0"/>
              <a:t>());</a:t>
            </a:r>
          </a:p>
          <a:p>
            <a:pPr fontAlgn="auto">
              <a:spcAft>
                <a:spcPts val="0"/>
              </a:spcAft>
              <a:buNone/>
              <a:defRPr/>
            </a:pPr>
            <a:r>
              <a:rPr lang="en-IN" dirty="0" err="1"/>
              <a:t>Serial.print</a:t>
            </a:r>
            <a:r>
              <a:rPr lang="en-IN" dirty="0"/>
              <a:t>(“MAC Address of </a:t>
            </a:r>
            <a:r>
              <a:rPr lang="en-IN"/>
              <a:t>ESP...”);</a:t>
            </a:r>
            <a:endParaRPr lang="en-IN" dirty="0"/>
          </a:p>
          <a:p>
            <a:pPr fontAlgn="auto">
              <a:spcAft>
                <a:spcPts val="0"/>
              </a:spcAft>
              <a:buNone/>
              <a:defRPr/>
            </a:pPr>
            <a:r>
              <a:rPr lang="en-IN" dirty="0" err="1"/>
              <a:t>Serial.println</a:t>
            </a:r>
            <a:r>
              <a:rPr lang="en-IN" dirty="0"/>
              <a:t>(</a:t>
            </a:r>
            <a:r>
              <a:rPr lang="en-IN" dirty="0" err="1"/>
              <a:t>WiFi.macAddress</a:t>
            </a:r>
            <a:r>
              <a:rPr lang="en-IN" dirty="0"/>
              <a:t>());</a:t>
            </a:r>
          </a:p>
          <a:p>
            <a:pPr fontAlgn="auto">
              <a:spcAft>
                <a:spcPts val="0"/>
              </a:spcAft>
              <a:buNone/>
              <a:defRPr/>
            </a:pPr>
            <a:r>
              <a:rPr lang="en-IN" dirty="0"/>
              <a:t>// To print some diagnostic info</a:t>
            </a:r>
          </a:p>
          <a:p>
            <a:pPr fontAlgn="auto">
              <a:spcAft>
                <a:spcPts val="0"/>
              </a:spcAft>
              <a:buNone/>
              <a:defRPr/>
            </a:pPr>
            <a:r>
              <a:rPr lang="en-IN" dirty="0" err="1"/>
              <a:t>WiFi.printDiag</a:t>
            </a:r>
            <a:r>
              <a:rPr lang="en-IN" dirty="0"/>
              <a:t>(Serial);</a:t>
            </a:r>
          </a:p>
          <a:p>
            <a:pPr fontAlgn="auto">
              <a:spcAft>
                <a:spcPts val="0"/>
              </a:spcAft>
              <a:buNone/>
              <a:defRPr/>
            </a:pPr>
            <a:r>
              <a:rPr lang="en-IN" dirty="0"/>
              <a:t>}</a:t>
            </a:r>
          </a:p>
          <a:p>
            <a:pPr fontAlgn="auto">
              <a:spcAft>
                <a:spcPts val="0"/>
              </a:spcAft>
              <a:buNone/>
              <a:defRPr/>
            </a:pPr>
            <a:r>
              <a:rPr lang="en-IN" dirty="0"/>
              <a:t>void loop()</a:t>
            </a:r>
          </a:p>
          <a:p>
            <a:pPr fontAlgn="auto">
              <a:spcAft>
                <a:spcPts val="0"/>
              </a:spcAft>
              <a:buNone/>
              <a:defRPr/>
            </a:pPr>
            <a:r>
              <a:rPr lang="en-IN" dirty="0"/>
              <a:t>{</a:t>
            </a:r>
          </a:p>
          <a:p>
            <a:pPr fontAlgn="auto">
              <a:spcAft>
                <a:spcPts val="0"/>
              </a:spcAft>
              <a:buNone/>
              <a:defRPr/>
            </a:pPr>
            <a:r>
              <a:rPr lang="en-IN" dirty="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70100" y="4534964"/>
            <a:ext cx="8978900" cy="1107996"/>
          </a:xfrm>
          <a:prstGeom prst="rect">
            <a:avLst/>
          </a:prstGeom>
          <a:noFill/>
        </p:spPr>
        <p:txBody>
          <a:bodyPr wrap="square" rtlCol="0">
            <a:spAutoFit/>
          </a:bodyPr>
          <a:lstStyle/>
          <a:p>
            <a:r>
              <a:rPr lang="en-IN" sz="3300" b="1" dirty="0">
                <a:latin typeface="Arial" panose="020B0604020202020204" pitchFamily="34" charset="0"/>
                <a:cs typeface="Arial" panose="020B0604020202020204" pitchFamily="34" charset="0"/>
              </a:rPr>
              <a:t>2</a:t>
            </a:r>
            <a:r>
              <a:rPr lang="en-IN" sz="3300" b="1" dirty="0" smtClean="0">
                <a:latin typeface="Arial" panose="020B0604020202020204" pitchFamily="34" charset="0"/>
                <a:cs typeface="Arial" panose="020B0604020202020204" pitchFamily="34" charset="0"/>
              </a:rPr>
              <a:t>.2 </a:t>
            </a:r>
            <a:r>
              <a:rPr lang="en-US" sz="3300" b="1" dirty="0">
                <a:latin typeface="Arial" panose="020B0604020202020204" pitchFamily="34" charset="0"/>
                <a:cs typeface="Arial" panose="020B0604020202020204" pitchFamily="34" charset="0"/>
              </a:rPr>
              <a:t>Hardware Kits: </a:t>
            </a:r>
            <a:r>
              <a:rPr lang="en-US" sz="3300" b="1" dirty="0">
                <a:latin typeface="Arial" panose="020B0604020202020204" pitchFamily="34" charset="0"/>
                <a:cs typeface="Arial" panose="020B0604020202020204" pitchFamily="34" charset="0"/>
              </a:rPr>
              <a:t>Raspberry </a:t>
            </a:r>
            <a:r>
              <a:rPr lang="en-US" sz="3300" b="1" dirty="0">
                <a:latin typeface="Arial" panose="020B0604020202020204" pitchFamily="34" charset="0"/>
                <a:cs typeface="Arial" panose="020B0604020202020204" pitchFamily="34" charset="0"/>
              </a:rPr>
              <a:t>Pi </a:t>
            </a:r>
            <a:r>
              <a:rPr lang="en-US" dirty="0"/>
              <a:t>	</a:t>
            </a:r>
          </a:p>
          <a:p>
            <a:pPr algn="ctr"/>
            <a:endParaRPr lang="en-US" sz="3300"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4223793" y="1556793"/>
            <a:ext cx="2752725" cy="2416065"/>
          </a:xfrm>
          <a:prstGeom prst="rect">
            <a:avLst/>
          </a:prstGeom>
        </p:spPr>
      </p:pic>
    </p:spTree>
    <p:extLst>
      <p:ext uri="{BB962C8B-B14F-4D97-AF65-F5344CB8AC3E}">
        <p14:creationId xmlns:p14="http://schemas.microsoft.com/office/powerpoint/2010/main" val="3835640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3660</TotalTime>
  <Words>1472</Words>
  <Application>Microsoft Office PowerPoint</Application>
  <PresentationFormat>Widescreen</PresentationFormat>
  <Paragraphs>223</Paragraphs>
  <Slides>37</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37</vt:i4>
      </vt:variant>
    </vt:vector>
  </HeadingPairs>
  <TitlesOfParts>
    <vt:vector size="46" baseType="lpstr">
      <vt:lpstr>Arial</vt:lpstr>
      <vt:lpstr>Calibri</vt:lpstr>
      <vt:lpstr>Calibri Light</vt:lpstr>
      <vt:lpstr>Carlito</vt:lpstr>
      <vt:lpstr>Lato</vt:lpstr>
      <vt:lpstr>Times New Roman</vt:lpstr>
      <vt:lpstr>Wingdings</vt:lpstr>
      <vt:lpstr>Office Theme</vt:lpstr>
      <vt:lpstr>1_Office Theme</vt:lpstr>
      <vt:lpstr>23ITC01 Internet of things </vt:lpstr>
      <vt:lpstr>PowerPoint Presentation</vt:lpstr>
      <vt:lpstr>PowerPoint Presentation</vt:lpstr>
      <vt:lpstr>PowerPoint Presentation</vt:lpstr>
      <vt:lpstr>Module 2</vt:lpstr>
      <vt:lpstr>2.3 Node MCU</vt:lpstr>
      <vt:lpstr>2.3 Node MCU</vt:lpstr>
      <vt:lpstr>PowerPoint Presentation</vt:lpstr>
      <vt:lpstr>PowerPoint Presentation</vt:lpstr>
      <vt:lpstr>2.3 Features of NODE MCU</vt:lpstr>
      <vt:lpstr>PowerPoint Presentation</vt:lpstr>
      <vt:lpstr>PowerPoint Presentation</vt:lpstr>
      <vt:lpstr>Power Pins:</vt:lpstr>
      <vt:lpstr>I2C Pins</vt:lpstr>
      <vt:lpstr>GPIO Pins</vt:lpstr>
      <vt:lpstr>ADC Channel </vt:lpstr>
      <vt:lpstr>UART Pins</vt:lpstr>
      <vt:lpstr>SPI Pins</vt:lpstr>
      <vt:lpstr>SDIO Pins</vt:lpstr>
      <vt:lpstr>PowerPoint Presentation</vt:lpstr>
      <vt:lpstr>On-board Switches &amp; LED Indicator</vt:lpstr>
      <vt:lpstr>Serial Communication</vt:lpstr>
      <vt:lpstr>NODE MCU  </vt:lpstr>
      <vt:lpstr>Smart Irrigation System using ESP32 </vt:lpstr>
      <vt:lpstr>Block Diagram</vt:lpstr>
      <vt:lpstr>Use a Smart Irrigation System </vt:lpstr>
      <vt:lpstr>PowerPoint Presentation</vt:lpstr>
      <vt:lpstr>PowerPoint Presentation</vt:lpstr>
      <vt:lpstr>PowerPoint Presentation</vt:lpstr>
      <vt:lpstr>Smart Irrigation System using ESP32</vt:lpstr>
      <vt:lpstr>Smart Irrigation System using ESP32</vt:lpstr>
      <vt:lpstr>Smart Irrigation System using ESP32</vt:lpstr>
      <vt:lpstr>Smart Irrigation System using ESP32 -Program</vt:lpstr>
      <vt:lpstr>Smart Irrigation System using ESP32 -Program</vt:lpstr>
      <vt:lpstr>Smart Irrigation System using ESP32 -Program</vt:lpstr>
      <vt:lpstr>To write an Arduino sketch for connecting ESP8266 to WiFi Service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 MCU</dc:title>
  <dc:creator>JOBY-TITUS</dc:creator>
  <cp:lastModifiedBy>Admin</cp:lastModifiedBy>
  <cp:revision>21</cp:revision>
  <dcterms:created xsi:type="dcterms:W3CDTF">2025-02-17T08:34:18Z</dcterms:created>
  <dcterms:modified xsi:type="dcterms:W3CDTF">2025-07-21T17:09:13Z</dcterms:modified>
</cp:coreProperties>
</file>