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62" r:id="rId10"/>
    <p:sldId id="263" r:id="rId11"/>
    <p:sldId id="264" r:id="rId12"/>
    <p:sldId id="265" r:id="rId13"/>
    <p:sldId id="266" r:id="rId14"/>
    <p:sldId id="267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09ACF-D908-E771-049C-0FA137E27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D7113-C422-EE10-3F37-D48BB4DB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F40E6-177C-0F90-3438-A06BEF8A3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6B87-C9DB-4B1D-9C7D-203C3E690F0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0F970-3E68-0C68-FADA-C316E168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02122-F1D6-A5C5-76BE-88FC04FB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A29-88BF-4A36-8613-65A4C9FB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75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65944-541C-80A0-3AA0-3B763BB99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DD89A-057D-8614-79C1-803BCC77D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93456-F275-F3A4-FADB-5D80DCA3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6B87-C9DB-4B1D-9C7D-203C3E690F0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27905-D00D-D20B-817D-BD11C6562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85179-2108-F242-3A60-E2D17FE72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A29-88BF-4A36-8613-65A4C9FB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87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1374-6574-A14C-BCE2-D3F86BDE5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5ED1F-177D-C574-3F19-40C94F130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65959-1F79-9864-372C-B1AD859F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6B87-C9DB-4B1D-9C7D-203C3E690F0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250A9-3273-FD77-10E3-6CF014844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6AC9E-C006-7693-4F29-1FA9F6A19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A29-88BF-4A36-8613-65A4C9FB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94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884F-D2D1-B24E-6126-94F4BAC0D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A1E74-15A6-842E-F429-D95B8DEBB0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D1951-0ACC-981A-6CA3-8120DE1AA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8AB7A-2238-D551-DA5A-150584CD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6B87-C9DB-4B1D-9C7D-203C3E690F0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E03B6-CD62-6D3E-F2B2-3789C0FD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AFCCA-B36F-9376-EF95-D49E6CD07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A29-88BF-4A36-8613-65A4C9FB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4F62-4B7F-90C6-7BCC-C4515BE3E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04842-0F07-4183-B1C5-45003B9CB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34D78-45F8-F4E2-83B6-85C42E582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1145DA-3F46-87B6-09BD-3746676FE3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3E297-67B6-23CA-4DC7-4ADF314F2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C6BFF4-DF85-A580-ECA4-D33829CA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6B87-C9DB-4B1D-9C7D-203C3E690F0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69F9F4-EB0A-AB0D-C7C1-EAF7AA41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AADE1C-C385-CC66-66A3-ACF37A043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A29-88BF-4A36-8613-65A4C9FB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7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8EF74-B93F-748F-7F31-E226C37B8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9D1EC7-77DC-359C-CA56-D48EC7AA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6B87-C9DB-4B1D-9C7D-203C3E690F0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169060-E980-53CD-3A34-7F3946BE4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DBD681-C131-F159-E0D0-C25A36348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A29-88BF-4A36-8613-65A4C9FB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21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CA428-2A17-7C88-3652-9BE72B53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6B87-C9DB-4B1D-9C7D-203C3E690F0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62AAC4-2ABB-3F55-40A1-79873C6BE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BA0B6-CE91-91C3-777B-F995EAB1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A29-88BF-4A36-8613-65A4C9FB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82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F33F6-43F4-5DD2-F2DB-4649B058E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BF628-DB4D-6CDC-5E84-BD94F8E1F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4E865-15FC-7094-BB3E-AEC04BCCA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3CA6D-A316-9C0B-86EC-5ABCF06C3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6B87-C9DB-4B1D-9C7D-203C3E690F0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15C51-1F9F-9374-F7FC-57D0E3C3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A2E72-CBC3-3687-056F-912AFBF23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A29-88BF-4A36-8613-65A4C9FB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2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D4A59-794C-97B2-875E-B3E19CA7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678ACE-40E1-83CC-AEE4-CA6BD57B95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AF356-F99F-994B-D610-EC678B53B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B60CB-317F-2194-0BE2-66C33FF81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6B87-C9DB-4B1D-9C7D-203C3E690F0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5A2BE-FB8F-E07F-A400-993D43CD0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206B7-C438-7C2D-7A00-C512A6F16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A29-88BF-4A36-8613-65A4C9FB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50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C94FD-BE12-C63C-C1CC-BF7551DF5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93EB3-D468-27FB-DF37-4EAE4E3C1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72A68-3DB8-7DD0-86D0-0B39469CA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6B87-C9DB-4B1D-9C7D-203C3E690F0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CA8DD-34D3-7D20-31A6-EC766F1A5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561D5-B291-C479-D574-2DCFEEF91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A29-88BF-4A36-8613-65A4C9FB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4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477941-8241-6821-243D-559B888D52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A7572E-A843-E79C-1D0A-626705BD9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F7BF5-8CA2-AB7A-6E0C-F68116000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6B87-C9DB-4B1D-9C7D-203C3E690F0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90C67-3FB1-8D5B-465A-712D428F3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4A982-4E2B-8A3D-CBC8-4014A97ED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A29-88BF-4A36-8613-65A4C9FB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28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448D59-2982-B191-A35B-8A6E2C84B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5604A-C8E8-D76B-F00F-FD9AF6757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8236B-511A-4AEE-C640-7A0135641F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96B87-C9DB-4B1D-9C7D-203C3E690F0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779FD-C679-9EE1-A6F8-DB0C9798A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C0291-2661-0647-35D9-38837BCF8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B6A29-88BF-4A36-8613-65A4C9FB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C2265-1F2D-1B11-16F9-69AD2AE68A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Serial Communication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0019CA-0BEC-0C8F-CD61-0FFC49022F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708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2CF96-F9E7-1E5A-84DE-7D30234DD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Introduction to Serial Communication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0A3F4-7D44-59DE-A142-D42C2DFBB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Serial communication</a:t>
            </a:r>
            <a:r>
              <a:rPr lang="en-US" dirty="0"/>
              <a:t>   is data transmission </a:t>
            </a:r>
            <a:r>
              <a:rPr lang="en-US" b="1" dirty="0"/>
              <a:t>one bit at a time</a:t>
            </a:r>
            <a:r>
              <a:rPr lang="en-US" dirty="0"/>
              <a:t> over a single line.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Parallel communication</a:t>
            </a:r>
            <a:r>
              <a:rPr lang="en-US" dirty="0"/>
              <a:t> (multiple bits simultaneously on multiple wires)</a:t>
            </a:r>
          </a:p>
          <a:p>
            <a:pPr marL="0" indent="0">
              <a:buNone/>
            </a:pPr>
            <a:r>
              <a:rPr lang="en-US" b="1" dirty="0"/>
              <a:t> Key Idea: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Serial → </a:t>
            </a:r>
            <a:r>
              <a:rPr lang="en-US" b="1" dirty="0"/>
              <a:t>simple, low wiring, reliable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Parallel → </a:t>
            </a:r>
            <a:r>
              <a:rPr lang="en-US" b="1" dirty="0"/>
              <a:t>faster but complex and costly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84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D320-AED0-798C-616D-28B441363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B7277B-0D84-F788-8C30-3F4FFF188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3034" y="365125"/>
            <a:ext cx="6894854" cy="606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76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09897-D79F-5CBE-1F05-E4BE39E9A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Serial vs Parallel Communication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F403BB-BDB6-690C-C951-C15D86E74E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8638315"/>
              </p:ext>
            </p:extLst>
          </p:nvPr>
        </p:nvGraphicFramePr>
        <p:xfrm>
          <a:off x="838200" y="1856935"/>
          <a:ext cx="10515600" cy="4206238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8447144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36179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53144063"/>
                    </a:ext>
                  </a:extLst>
                </a:gridCol>
              </a:tblGrid>
              <a:tr h="644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Parallel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5454656"/>
                  </a:ext>
                </a:extLst>
              </a:tr>
              <a:tr h="9821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transfer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One bit at a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Multiple bits simultaneously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497866"/>
                  </a:ext>
                </a:extLst>
              </a:tr>
              <a:tr h="644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Wires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417022"/>
                  </a:ext>
                </a:extLst>
              </a:tr>
              <a:tr h="644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275803"/>
                  </a:ext>
                </a:extLst>
              </a:tr>
              <a:tr h="644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117909"/>
                  </a:ext>
                </a:extLst>
              </a:tr>
              <a:tr h="644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2633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27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59A8A-224F-7C47-5958-8E2DE02F1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Serial Communication Concept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27F9A-04FA-CCF4-BCEB-5C2447DF5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Uses </a:t>
            </a:r>
            <a:r>
              <a:rPr lang="en-US" b="1" dirty="0"/>
              <a:t>two main lines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TX (Transmit)</a:t>
            </a:r>
            <a:endParaRPr lang="en-US" dirty="0"/>
          </a:p>
          <a:p>
            <a:pPr lvl="1"/>
            <a:r>
              <a:rPr lang="en-US" b="1" dirty="0"/>
              <a:t>RX (Receive)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Working: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TX of device A → RX of device 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RX of device A → TX of device 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765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7C9C-5E76-A5A2-90CF-F6BC28E1E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Serial Communication in Arduino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33393-CF9F-5161-3D8C-C6073B036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Arduino communicates with:</a:t>
            </a:r>
          </a:p>
          <a:p>
            <a:pPr lvl="1"/>
            <a:r>
              <a:rPr lang="en-US" dirty="0"/>
              <a:t>Computer (via USB)</a:t>
            </a:r>
          </a:p>
          <a:p>
            <a:pPr lvl="1"/>
            <a:r>
              <a:rPr lang="en-US" dirty="0"/>
              <a:t>Other devices (sensors, modules)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Important Points: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Uses </a:t>
            </a:r>
            <a:r>
              <a:rPr lang="en-US" b="1" dirty="0"/>
              <a:t>pins 0 (RX) and 1 (TX)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USB is internally connected to these pins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These pins </a:t>
            </a:r>
            <a:r>
              <a:rPr lang="en-US" b="1" dirty="0"/>
              <a:t>cannot be used for I/O when serial is active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520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41ACD-E5F9-20BC-D47D-F618DE865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Happens Internally When Serial Data is Sent?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F2B39-D516-1A9C-1BDD-9D655319E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7618"/>
            <a:ext cx="10515600" cy="5009345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When Arduino sends data: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Data (character/number) is converted into binary form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Binary data is placed inside a frame structure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Bits are shifted out sequentially using a shift register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Electrical voltage levels represent 0s and 1s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Receiver reconstructs the original data from bit stream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Communication happens at hardware register level inside the microcontroller.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38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6F57B-D6BA-BB6F-F3B0-A1F71FCC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Frame Structure in Serial Communication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B6A3F-FB08-5625-8D90-57467F293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009"/>
            <a:ext cx="10515600" cy="5135954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Each transmitted character is packed into a </a:t>
            </a:r>
            <a:r>
              <a:rPr lang="en-US" b="1" dirty="0"/>
              <a:t>frame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Start Bit | Data Bits | Parity Bit (optional) | Stop Bit(s)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Components: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Start Bit (1 bit)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Always LOW (0)</a:t>
            </a:r>
          </a:p>
          <a:p>
            <a:pPr marL="457200" lvl="1" indent="0">
              <a:buNone/>
            </a:pPr>
            <a:r>
              <a:rPr lang="en-US" dirty="0"/>
              <a:t>Indicates beginning of transmission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Data Bits (5–9 bits)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Usually 8 bits</a:t>
            </a:r>
          </a:p>
          <a:p>
            <a:pPr marL="457200" lvl="1" indent="0">
              <a:buNone/>
            </a:pPr>
            <a:r>
              <a:rPr lang="en-US" dirty="0"/>
              <a:t>Contains actual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Parity Bit (optional)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Used for error detection</a:t>
            </a:r>
          </a:p>
          <a:p>
            <a:pPr marL="457200" lvl="1" indent="0">
              <a:buNone/>
            </a:pPr>
            <a:r>
              <a:rPr lang="en-US" dirty="0"/>
              <a:t>Even or Odd parity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Stop Bit (1 or 2 bits)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Always HIGH (1)</a:t>
            </a:r>
          </a:p>
          <a:p>
            <a:pPr marL="457200" lvl="1" indent="0">
              <a:buNone/>
            </a:pPr>
            <a:r>
              <a:rPr lang="en-US" dirty="0"/>
              <a:t>Marks end of frame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604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3CD7-F0F5-4B0E-6695-BDA874148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Starting Serial Communication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5D5CB-DD7D-BA3A-59C9-E47F1D81C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Function:</a:t>
            </a:r>
          </a:p>
          <a:p>
            <a:pPr marL="0" indent="0">
              <a:buNone/>
            </a:pPr>
            <a:r>
              <a:rPr lang="en-US" dirty="0" err="1"/>
              <a:t>Serial.begin</a:t>
            </a:r>
            <a:r>
              <a:rPr lang="en-US" dirty="0"/>
              <a:t>(9600);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Explanation: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Initializes serial communication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9600 = baud rate (bits per second)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Both devices must use the </a:t>
            </a:r>
            <a:r>
              <a:rPr lang="en-US" b="1" dirty="0"/>
              <a:t>same baud rate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920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D6035-06A8-912E-15DC-DCD93245C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Sending Data (Serial Output)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0B8D9-7977-3021-0A98-1FF450BB7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7280"/>
            <a:ext cx="10515600" cy="5079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Functions:</a:t>
            </a:r>
          </a:p>
          <a:p>
            <a:pPr marL="0" indent="0">
              <a:buNone/>
            </a:pPr>
            <a:r>
              <a:rPr lang="en-US" dirty="0" err="1"/>
              <a:t>Serial.print</a:t>
            </a:r>
            <a:r>
              <a:rPr lang="en-US" dirty="0"/>
              <a:t>("Hello");</a:t>
            </a:r>
            <a:br>
              <a:rPr lang="en-US" dirty="0"/>
            </a:br>
            <a:r>
              <a:rPr lang="en-US" dirty="0" err="1"/>
              <a:t>Serial.println</a:t>
            </a:r>
            <a:r>
              <a:rPr lang="en-US" dirty="0"/>
              <a:t>("World");</a:t>
            </a:r>
          </a:p>
          <a:p>
            <a:pPr marL="0" indent="0">
              <a:buNone/>
            </a:pPr>
            <a:r>
              <a:rPr lang="en-US" b="1" dirty="0"/>
              <a:t>Difference:</a:t>
            </a:r>
          </a:p>
          <a:p>
            <a:pPr marL="0" indent="0">
              <a:buNone/>
            </a:pPr>
            <a:r>
              <a:rPr lang="en-US" dirty="0"/>
              <a:t>print() → same line</a:t>
            </a:r>
          </a:p>
          <a:p>
            <a:pPr marL="0" indent="0">
              <a:buNone/>
            </a:pPr>
            <a:r>
              <a:rPr lang="en-US" dirty="0" err="1"/>
              <a:t>println</a:t>
            </a:r>
            <a:r>
              <a:rPr lang="en-US" dirty="0"/>
              <a:t>() → new line</a:t>
            </a:r>
          </a:p>
          <a:p>
            <a:pPr marL="0" indent="0">
              <a:buNone/>
            </a:pPr>
            <a:r>
              <a:rPr lang="en-US" dirty="0"/>
              <a:t>Used for:</a:t>
            </a:r>
          </a:p>
          <a:p>
            <a:pPr marL="0" indent="0">
              <a:buNone/>
            </a:pPr>
            <a:r>
              <a:rPr lang="en-US" dirty="0"/>
              <a:t>Debugging</a:t>
            </a:r>
          </a:p>
          <a:p>
            <a:pPr marL="0" indent="0">
              <a:buNone/>
            </a:pPr>
            <a:r>
              <a:rPr lang="en-US" dirty="0"/>
              <a:t>Monitoring sensor values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610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F86BD-1F48-35AD-D67A-A1632CFE1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Sending Data (LED Status)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85387-6246-A6E3-A877-3E972E6F5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void setup() {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err="1"/>
              <a:t>pinMode</a:t>
            </a:r>
            <a:r>
              <a:rPr lang="en-US" dirty="0"/>
              <a:t>(13, OUTPUT);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err="1"/>
              <a:t>Serial.begin</a:t>
            </a:r>
            <a:r>
              <a:rPr lang="en-US" dirty="0"/>
              <a:t>(9600);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void loop() {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err="1"/>
              <a:t>digitalWrite</a:t>
            </a:r>
            <a:r>
              <a:rPr lang="en-US" dirty="0"/>
              <a:t>(13, HIGH);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err="1"/>
              <a:t>Serial.println</a:t>
            </a:r>
            <a:r>
              <a:rPr lang="en-US" dirty="0"/>
              <a:t>("LED is On");</a:t>
            </a:r>
            <a:br>
              <a:rPr lang="en-US" dirty="0"/>
            </a:br>
            <a:r>
              <a:rPr lang="en-US" dirty="0"/>
              <a:t>  delay(1000);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</a:t>
            </a:r>
            <a:r>
              <a:rPr lang="en-US" dirty="0" err="1"/>
              <a:t>digitalWrite</a:t>
            </a:r>
            <a:r>
              <a:rPr lang="en-US" dirty="0"/>
              <a:t>(13, LOW);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err="1"/>
              <a:t>Serial.println</a:t>
            </a:r>
            <a:r>
              <a:rPr lang="en-US" dirty="0"/>
              <a:t>("LED is Off");</a:t>
            </a:r>
            <a:br>
              <a:rPr lang="en-US" dirty="0"/>
            </a:br>
            <a:r>
              <a:rPr lang="en-US" dirty="0"/>
              <a:t>  delay(1000);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581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D0B07-8B93-9F3D-AFF6-F573BA0F3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Receiving Data (Serial Input)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0B4B5-0ED5-89E0-0E04-C1B88261D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 err="1"/>
              <a:t>Serial.read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Explanation:</a:t>
            </a:r>
          </a:p>
          <a:p>
            <a:pPr marL="0" indent="0">
              <a:buNone/>
            </a:pPr>
            <a:r>
              <a:rPr lang="en-US" dirty="0"/>
              <a:t>Reads incoming data from serial buffer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472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77884-2483-49BF-64B7-BA69961B7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Controlling LED via Serial Input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D3EA0-718A-1573-7C08-FD93DBBAD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ledPin</a:t>
            </a:r>
            <a:r>
              <a:rPr lang="en-US" dirty="0"/>
              <a:t> = 13;</a:t>
            </a:r>
            <a:br>
              <a:rPr lang="en-US" dirty="0"/>
            </a:br>
            <a:r>
              <a:rPr lang="en-US" dirty="0"/>
              <a:t>int value;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void setup() {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err="1"/>
              <a:t>Serial.begin</a:t>
            </a:r>
            <a:r>
              <a:rPr lang="en-US" dirty="0"/>
              <a:t>(9600);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err="1"/>
              <a:t>pinMode</a:t>
            </a:r>
            <a:r>
              <a:rPr lang="en-US" dirty="0"/>
              <a:t>(</a:t>
            </a:r>
            <a:r>
              <a:rPr lang="en-US" dirty="0" err="1"/>
              <a:t>ledPin</a:t>
            </a:r>
            <a:r>
              <a:rPr lang="en-US" dirty="0"/>
              <a:t>, OUTPUT);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void loop() {</a:t>
            </a:r>
            <a:br>
              <a:rPr lang="en-US" dirty="0"/>
            </a:br>
            <a:r>
              <a:rPr lang="en-US" dirty="0"/>
              <a:t>  value = </a:t>
            </a:r>
            <a:r>
              <a:rPr lang="en-US" dirty="0" err="1"/>
              <a:t>Serial.read</a:t>
            </a:r>
            <a:r>
              <a:rPr lang="en-US" dirty="0"/>
              <a:t>();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if (value == '1')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digitalWrite</a:t>
            </a:r>
            <a:r>
              <a:rPr lang="en-US" dirty="0"/>
              <a:t>(</a:t>
            </a:r>
            <a:r>
              <a:rPr lang="en-US" dirty="0" err="1"/>
              <a:t>ledPin</a:t>
            </a:r>
            <a:r>
              <a:rPr lang="en-US" dirty="0"/>
              <a:t>, HIGH);</a:t>
            </a:r>
            <a:br>
              <a:rPr lang="en-US" dirty="0"/>
            </a:br>
            <a:r>
              <a:rPr lang="en-US" dirty="0"/>
              <a:t>  } </a:t>
            </a:r>
            <a:br>
              <a:rPr lang="en-US" dirty="0"/>
            </a:br>
            <a:r>
              <a:rPr lang="en-US" dirty="0"/>
              <a:t>  else if (value == '0')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digitalWrite</a:t>
            </a:r>
            <a:r>
              <a:rPr lang="en-US" dirty="0"/>
              <a:t>(</a:t>
            </a:r>
            <a:r>
              <a:rPr lang="en-US" dirty="0" err="1"/>
              <a:t>ledPin</a:t>
            </a:r>
            <a:r>
              <a:rPr lang="en-US" dirty="0"/>
              <a:t>, LOW);</a:t>
            </a:r>
            <a:br>
              <a:rPr lang="en-US" dirty="0"/>
            </a:br>
            <a:r>
              <a:rPr lang="en-US" dirty="0"/>
              <a:t>  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702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3524-ECBF-78D5-236A-4200B211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Serial Functions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00139D6-F61F-D771-349D-6988870310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8708958"/>
              </p:ext>
            </p:extLst>
          </p:nvPr>
        </p:nvGraphicFramePr>
        <p:xfrm>
          <a:off x="838200" y="1690688"/>
          <a:ext cx="10515600" cy="4257421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4182853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28005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b="1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634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Serial.begin()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Start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7702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Serial.print()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Send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0093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Serial.println()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Send data with newline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221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Serial.read()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Read incoming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503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Serial.available()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Check data availability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201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Serial.flush()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 dirty="0"/>
                        <a:t>Wait for transmission completion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9121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654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DB0FD-8CD4-6C5A-26AC-50C7BB9A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9B6A3-94CA-EA7E-B467-993E6FE05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Less wiring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Long-distance communication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Low cost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Simple implementation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176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678</Words>
  <Application>Microsoft Office PowerPoint</Application>
  <PresentationFormat>Widescreen</PresentationFormat>
  <Paragraphs>115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Serial Communication </vt:lpstr>
      <vt:lpstr>Introduction to Serial Communication  </vt:lpstr>
      <vt:lpstr>PowerPoint Presentation</vt:lpstr>
      <vt:lpstr>Serial vs Parallel Communication </vt:lpstr>
      <vt:lpstr>Basic Serial Communication Concept </vt:lpstr>
      <vt:lpstr>Serial Communication in Arduino </vt:lpstr>
      <vt:lpstr>What Happens Internally When Serial Data is Sent? </vt:lpstr>
      <vt:lpstr>Frame Structure in Serial Communication </vt:lpstr>
      <vt:lpstr>Starting Serial Communication </vt:lpstr>
      <vt:lpstr>Sending Data (Serial Output) </vt:lpstr>
      <vt:lpstr>Example: Sending Data (LED Status) </vt:lpstr>
      <vt:lpstr>Receiving Data (Serial Input) </vt:lpstr>
      <vt:lpstr>Controlling LED via Serial Input </vt:lpstr>
      <vt:lpstr>Important Serial Functions</vt:lpstr>
      <vt:lpstr>Advantages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Sarath</dc:creator>
  <cp:lastModifiedBy>Sarath</cp:lastModifiedBy>
  <cp:revision>1</cp:revision>
  <dcterms:created xsi:type="dcterms:W3CDTF">2026-02-28T01:50:52Z</dcterms:created>
  <dcterms:modified xsi:type="dcterms:W3CDTF">2026-02-28T01:54:04Z</dcterms:modified>
</cp:coreProperties>
</file>