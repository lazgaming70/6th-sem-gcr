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9" r:id="rId2"/>
    <p:sldId id="264" r:id="rId3"/>
    <p:sldId id="256" r:id="rId4"/>
    <p:sldId id="257" r:id="rId5"/>
    <p:sldId id="258" r:id="rId6"/>
    <p:sldId id="259" r:id="rId7"/>
    <p:sldId id="260" r:id="rId8"/>
    <p:sldId id="261" r:id="rId9"/>
    <p:sldId id="266" r:id="rId10"/>
    <p:sldId id="267" r:id="rId11"/>
    <p:sldId id="268" r:id="rId12"/>
    <p:sldId id="270" r:id="rId13"/>
    <p:sldId id="271" r:id="rId14"/>
    <p:sldId id="272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5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3A219-68CC-4B66-BABC-D60C42948B13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9032-918A-4F5F-BECE-01AE54A98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886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A1DD9A-60FA-4D5B-B48C-D8976FA3BEC2}" type="slidenum">
              <a:rPr lang="en-IN" altLang="en-US" smtClean="0">
                <a:latin typeface="Calibri" panose="020F0502020204030204" pitchFamily="34" charset="0"/>
              </a:rPr>
              <a:pPr/>
              <a:t>1</a:t>
            </a:fld>
            <a:endParaRPr lang="en-IN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81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e2Mu05eQl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ongodb.com/nosql-explained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89100" y="428625"/>
            <a:ext cx="7582691" cy="431978"/>
          </a:xfrm>
        </p:spPr>
        <p:txBody>
          <a:bodyPr/>
          <a:lstStyle/>
          <a:p>
            <a:pPr algn="ctr"/>
            <a:r>
              <a:rPr lang="en-IN" altLang="en-US" sz="2807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</a:t>
            </a:r>
            <a:r>
              <a:rPr lang="en-IN" altLang="en-US" sz="2807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altLang="en-US" sz="2807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27100" y="1308550"/>
            <a:ext cx="8839199" cy="2585323"/>
          </a:xfrm>
        </p:spPr>
        <p:txBody>
          <a:bodyPr/>
          <a:lstStyle/>
          <a:p>
            <a:pPr algn="just"/>
            <a:r>
              <a:rPr lang="en-US" alt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DATA ANALYTICS FOR IOT</a:t>
            </a: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algn="just"/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Cloud: Types of Cloud - loT with Cloud challenges - Selection of cloud for loT applications - Fog and Edge computing for loT - Cloud security aspects for loT applications. Data Analytics for IoT: Overview of Hadoop ecosystem – MapReduce architecture – MapReduce Job Execution – MapReduce Schedulers. Case study: Internet of Medical Things (IoMT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41939" y="773906"/>
            <a:ext cx="829852" cy="189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51641" indent="-25063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02525" indent="-20050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03535" indent="-20050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04546" indent="-20050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05556" indent="-2005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606566" indent="-2005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07576" indent="-2005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08586" indent="-2005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D58B0F9-C55A-48A8-A0FF-1ADC7A560F4D}" type="slidenum">
              <a:rPr lang="en-IN" altLang="en-US" sz="1228" b="1">
                <a:solidFill>
                  <a:srgbClr val="898989"/>
                </a:solidFill>
              </a:rPr>
              <a:pPr/>
              <a:t>1</a:t>
            </a:fld>
            <a:endParaRPr lang="en-IN" altLang="en-US" sz="1228" b="1">
              <a:solidFill>
                <a:srgbClr val="898989"/>
              </a:solidFill>
            </a:endParaRPr>
          </a:p>
        </p:txBody>
      </p:sp>
      <p:sp>
        <p:nvSpPr>
          <p:cNvPr id="9221" name="Footer Placeholder 3"/>
          <p:cNvSpPr txBox="1">
            <a:spLocks/>
          </p:cNvSpPr>
          <p:nvPr/>
        </p:nvSpPr>
        <p:spPr bwMode="auto">
          <a:xfrm>
            <a:off x="1494013" y="6383765"/>
            <a:ext cx="2539683" cy="320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228">
                <a:latin typeface="Arial" panose="020B0604020202020204" pitchFamily="34" charset="0"/>
              </a:rPr>
              <a:t>Module 2</a:t>
            </a:r>
          </a:p>
        </p:txBody>
      </p:sp>
      <p:sp>
        <p:nvSpPr>
          <p:cNvPr id="9222" name="TextBox 7"/>
          <p:cNvSpPr txBox="1">
            <a:spLocks noChangeArrowheads="1"/>
          </p:cNvSpPr>
          <p:nvPr/>
        </p:nvSpPr>
        <p:spPr bwMode="auto">
          <a:xfrm>
            <a:off x="3862434" y="6032888"/>
            <a:ext cx="3465466" cy="362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 sz="1754" b="1" dirty="0">
                <a:solidFill>
                  <a:srgbClr val="C00000"/>
                </a:solidFill>
              </a:rPr>
              <a:t>Watch this video: </a:t>
            </a:r>
            <a:r>
              <a:rPr lang="en-IN" altLang="en-US" sz="1754" b="1" dirty="0">
                <a:solidFill>
                  <a:srgbClr val="C00000"/>
                </a:solidFill>
                <a:hlinkClick r:id="rId3"/>
              </a:rPr>
              <a:t>Click Here</a:t>
            </a:r>
            <a:endParaRPr lang="en-US" altLang="en-US" sz="1754" u="sng" dirty="0"/>
          </a:p>
        </p:txBody>
      </p:sp>
      <p:sp>
        <p:nvSpPr>
          <p:cNvPr id="10" name="object 2"/>
          <p:cNvSpPr/>
          <p:nvPr/>
        </p:nvSpPr>
        <p:spPr>
          <a:xfrm>
            <a:off x="-87719" y="4300780"/>
            <a:ext cx="3668895" cy="22208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1431"/>
          </a:p>
        </p:txBody>
      </p:sp>
      <p:pic>
        <p:nvPicPr>
          <p:cNvPr id="922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4715706"/>
            <a:ext cx="1336675" cy="1482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224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900" y="657225"/>
            <a:ext cx="9170339" cy="901208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US" sz="2400" b="1" smtClean="0"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IN" sz="2400" dirty="0" smtClean="0">
                <a:latin typeface="Arial"/>
                <a:cs typeface="Arial"/>
              </a:rPr>
              <a:t>What</a:t>
            </a:r>
            <a:r>
              <a:rPr lang="en-IN" sz="2400" spc="-5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is</a:t>
            </a:r>
            <a:r>
              <a:rPr lang="en-IN" sz="2400" spc="-2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structured</a:t>
            </a:r>
            <a:r>
              <a:rPr lang="en-IN" sz="2400" spc="-35" dirty="0" smtClean="0">
                <a:latin typeface="Arial"/>
                <a:cs typeface="Arial"/>
              </a:rPr>
              <a:t> </a:t>
            </a:r>
            <a:r>
              <a:rPr lang="en-IN" sz="2400" spc="-20" dirty="0" smtClean="0">
                <a:latin typeface="Arial"/>
                <a:cs typeface="Arial"/>
              </a:rPr>
              <a:t>data?</a:t>
            </a:r>
            <a:endParaRPr lang="en-IN" sz="2400" dirty="0" smtClean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IN" sz="2400" dirty="0" smtClean="0">
                <a:latin typeface="Arial"/>
                <a:cs typeface="Arial"/>
              </a:rPr>
              <a:t>Characteristics</a:t>
            </a:r>
            <a:r>
              <a:rPr lang="en-IN" sz="2400" spc="-65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of</a:t>
            </a:r>
            <a:r>
              <a:rPr lang="en-IN" sz="2400" spc="-65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structured</a:t>
            </a:r>
            <a:r>
              <a:rPr lang="en-IN" sz="2400" spc="-80" dirty="0" smtClean="0">
                <a:latin typeface="Arial"/>
                <a:cs typeface="Arial"/>
              </a:rPr>
              <a:t> </a:t>
            </a:r>
            <a:r>
              <a:rPr lang="en-IN" sz="2400" spc="-20" dirty="0" smtClean="0">
                <a:latin typeface="Arial"/>
                <a:cs typeface="Arial"/>
              </a:rPr>
              <a:t>data</a:t>
            </a: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US" sz="2400" spc="-20" dirty="0" smtClean="0">
                <a:latin typeface="Arial"/>
                <a:cs typeface="Arial"/>
              </a:rPr>
              <a:t>Examples </a:t>
            </a: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IN" sz="2400" dirty="0" smtClean="0">
                <a:latin typeface="Arial"/>
                <a:cs typeface="Arial"/>
              </a:rPr>
              <a:t>What</a:t>
            </a:r>
            <a:r>
              <a:rPr lang="en-IN" sz="2400" spc="-4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is</a:t>
            </a:r>
            <a:r>
              <a:rPr lang="en-IN" sz="2400" spc="-3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unstructured</a:t>
            </a:r>
            <a:r>
              <a:rPr lang="en-IN" sz="2400" spc="-25" dirty="0" smtClean="0">
                <a:latin typeface="Arial"/>
                <a:cs typeface="Arial"/>
              </a:rPr>
              <a:t> </a:t>
            </a:r>
            <a:r>
              <a:rPr lang="en-IN" sz="2400" spc="-20" dirty="0" smtClean="0">
                <a:latin typeface="Arial"/>
                <a:cs typeface="Arial"/>
              </a:rPr>
              <a:t>data?</a:t>
            </a: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IN" sz="2400" dirty="0" smtClean="0">
                <a:latin typeface="Arial"/>
                <a:cs typeface="Arial"/>
              </a:rPr>
              <a:t>Characteristics</a:t>
            </a:r>
            <a:r>
              <a:rPr lang="en-IN" sz="2400" spc="-55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of</a:t>
            </a:r>
            <a:r>
              <a:rPr lang="en-IN" sz="2400" spc="-75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unstructured</a:t>
            </a:r>
            <a:r>
              <a:rPr lang="en-IN" sz="2400" spc="-85" dirty="0" smtClean="0">
                <a:latin typeface="Arial"/>
                <a:cs typeface="Arial"/>
              </a:rPr>
              <a:t> </a:t>
            </a:r>
            <a:r>
              <a:rPr lang="en-IN" sz="2400" spc="-20" dirty="0" smtClean="0">
                <a:latin typeface="Arial"/>
                <a:cs typeface="Arial"/>
              </a:rPr>
              <a:t>data</a:t>
            </a: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IN" sz="2400" dirty="0" smtClean="0">
                <a:latin typeface="Arial"/>
                <a:cs typeface="Arial"/>
              </a:rPr>
              <a:t>Structured</a:t>
            </a:r>
            <a:r>
              <a:rPr lang="en-IN" sz="2400" spc="-6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Vs</a:t>
            </a:r>
            <a:r>
              <a:rPr lang="en-IN" sz="2400" spc="-40" dirty="0" smtClean="0">
                <a:latin typeface="Arial"/>
                <a:cs typeface="Arial"/>
              </a:rPr>
              <a:t> </a:t>
            </a:r>
            <a:r>
              <a:rPr lang="en-IN" sz="2400" dirty="0" smtClean="0">
                <a:latin typeface="Arial"/>
                <a:cs typeface="Arial"/>
              </a:rPr>
              <a:t>Unstructured</a:t>
            </a:r>
            <a:r>
              <a:rPr lang="en-IN" sz="2400" spc="-35" dirty="0" smtClean="0">
                <a:latin typeface="Arial"/>
                <a:cs typeface="Arial"/>
              </a:rPr>
              <a:t> </a:t>
            </a:r>
            <a:r>
              <a:rPr lang="en-IN" sz="2400" spc="-20" dirty="0" smtClean="0">
                <a:latin typeface="Arial"/>
                <a:cs typeface="Arial"/>
              </a:rPr>
              <a:t>Data</a:t>
            </a: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r>
              <a:rPr lang="en-US" sz="2400" spc="-20" dirty="0" smtClean="0">
                <a:latin typeface="Arial"/>
                <a:cs typeface="Arial"/>
              </a:rPr>
              <a:t>Activity </a:t>
            </a:r>
            <a:endParaRPr lang="en-IN" sz="2400" dirty="0" smtClean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1155"/>
              </a:spcBef>
              <a:buFont typeface="Wingdings" panose="05000000000000000000" pitchFamily="2" charset="2"/>
              <a:buChar char="v"/>
            </a:pPr>
            <a:endParaRPr lang="en-IN" sz="2400" dirty="0" smtClean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1155"/>
              </a:spcBef>
            </a:pPr>
            <a:endParaRPr lang="en-IN" sz="2400" dirty="0"/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lang="en-US" sz="16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lang="en-US"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lang="en-US" sz="16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22IO602-Internet of Things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330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300" y="502029"/>
            <a:ext cx="9170339" cy="412356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structured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data?</a:t>
            </a:r>
            <a:endParaRPr sz="2000" dirty="0">
              <a:latin typeface="Arial"/>
              <a:cs typeface="Arial"/>
            </a:endParaRPr>
          </a:p>
          <a:p>
            <a:pPr marL="12700" marR="10160" algn="just">
              <a:lnSpc>
                <a:spcPct val="150000"/>
              </a:lnSpc>
              <a:spcBef>
                <a:spcPts val="1175"/>
              </a:spcBef>
            </a:pP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usually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composed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alphanumeric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characters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translated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 native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into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predefined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before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predetermined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model.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cells,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rows,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columns.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1075"/>
              </a:spcBef>
            </a:pPr>
            <a:r>
              <a:rPr sz="2000" b="1" dirty="0">
                <a:latin typeface="Arial"/>
                <a:cs typeface="Arial"/>
              </a:rPr>
              <a:t>A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good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way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visualize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structured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think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about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how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Excel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sheet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looks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with </a:t>
            </a:r>
            <a:r>
              <a:rPr sz="2000" b="1" dirty="0">
                <a:latin typeface="Arial"/>
                <a:cs typeface="Arial"/>
              </a:rPr>
              <a:t>its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cells,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rows,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columns.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  <a:spcBef>
                <a:spcPts val="1105"/>
              </a:spcBef>
            </a:pPr>
            <a:r>
              <a:rPr sz="2000" dirty="0">
                <a:latin typeface="Arial MT"/>
                <a:cs typeface="Arial MT"/>
              </a:rPr>
              <a:t>Examples</a:t>
            </a:r>
            <a:r>
              <a:rPr sz="2000" spc="2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structured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2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include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financial</a:t>
            </a:r>
            <a:r>
              <a:rPr sz="2000" b="1" spc="2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data,</a:t>
            </a:r>
            <a:r>
              <a:rPr sz="2000" b="1" spc="2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addresses,</a:t>
            </a:r>
            <a:r>
              <a:rPr sz="2000" b="1" spc="2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latitude</a:t>
            </a:r>
            <a:r>
              <a:rPr sz="2000" b="1" spc="2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2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longitude,</a:t>
            </a:r>
            <a:r>
              <a:rPr sz="2000" b="1" spc="29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and </a:t>
            </a:r>
            <a:r>
              <a:rPr sz="2000" b="1" spc="-10" dirty="0">
                <a:latin typeface="Arial"/>
                <a:cs typeface="Arial"/>
              </a:rPr>
              <a:t>dates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35268" y="4468003"/>
            <a:ext cx="4738501" cy="2799687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300" y="502028"/>
            <a:ext cx="9550704" cy="5613716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include: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7620" indent="-228600" algn="just">
              <a:lnSpc>
                <a:spcPct val="150000"/>
              </a:lnSpc>
              <a:spcBef>
                <a:spcPts val="1115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Quantitative</a:t>
            </a:r>
            <a:r>
              <a:rPr sz="20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referred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quantitative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because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20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measurable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numeric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counted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numbers,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dates).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 algn="just">
              <a:lnSpc>
                <a:spcPct val="150000"/>
              </a:lnSpc>
              <a:spcBef>
                <a:spcPts val="1075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sz="2000" b="1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databases:</a:t>
            </a:r>
            <a:r>
              <a:rPr sz="200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databases,</a:t>
            </a:r>
            <a:r>
              <a:rPr sz="20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0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composed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columns.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12065" indent="-228600" algn="just">
              <a:lnSpc>
                <a:spcPct val="150000"/>
              </a:lnSpc>
              <a:spcBef>
                <a:spcPts val="1095"/>
              </a:spcBef>
              <a:buFont typeface="Symbol"/>
              <a:buChar char=""/>
              <a:tabLst>
                <a:tab pos="469265" algn="l"/>
                <a:tab pos="52768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	Each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certain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kind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(sometimes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called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attribute),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actual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value.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227965" algn="just">
              <a:lnSpc>
                <a:spcPct val="150000"/>
              </a:lnSpc>
              <a:spcBef>
                <a:spcPts val="980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(sometimes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called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tuple)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pertaining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individual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5308" y="5604685"/>
            <a:ext cx="6097996" cy="1523059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58950"/>
            <a:ext cx="8890635" cy="125996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850"/>
              </a:lnSpc>
              <a:spcBef>
                <a:spcPts val="225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3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sz="2000" spc="3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below,</a:t>
            </a:r>
            <a:r>
              <a:rPr sz="2000" spc="3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sz="2000" spc="3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sz="20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sz="20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sz="2000" spc="3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4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columns</a:t>
            </a:r>
            <a:r>
              <a:rPr sz="2000" b="1" spc="3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(or</a:t>
            </a:r>
            <a:r>
              <a:rPr sz="2000" b="1" spc="3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attributes)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CustomerID,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FirstName,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LastName,</a:t>
            </a:r>
            <a:r>
              <a:rPr sz="20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made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cells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contain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customer.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250307"/>
            <a:ext cx="8894445" cy="14093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90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2000" spc="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sz="20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illustrates</a:t>
            </a:r>
            <a:r>
              <a:rPr sz="20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sz="20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predefined</a:t>
            </a:r>
            <a:r>
              <a:rPr sz="20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relationships</a:t>
            </a:r>
            <a:r>
              <a:rPr sz="2000" spc="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20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created</a:t>
            </a:r>
            <a:r>
              <a:rPr sz="20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0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predefined</a:t>
            </a:r>
            <a:r>
              <a:rPr sz="200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sz="2000" spc="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housed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0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sz="20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b="1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sz="2000"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Name,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LastName,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assigned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 CustomerID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700" y="2689671"/>
            <a:ext cx="7620000" cy="2232785"/>
          </a:xfrm>
          <a:prstGeom prst="rect">
            <a:avLst/>
          </a:prstGeom>
        </p:spPr>
      </p:pic>
      <p:sp>
        <p:nvSpPr>
          <p:cNvPr id="5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300" y="612766"/>
            <a:ext cx="2209800" cy="5255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61999"/>
            <a:ext cx="8886190" cy="50545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850"/>
              </a:lnSpc>
              <a:spcBef>
                <a:spcPts val="225"/>
              </a:spcBef>
            </a:pPr>
            <a:r>
              <a:rPr sz="1600" dirty="0">
                <a:latin typeface="Arial MT"/>
                <a:cs typeface="Arial MT"/>
              </a:rPr>
              <a:t>Further,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additional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relationships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created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tables using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unique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identifier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found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in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row,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called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primary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key.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700" y="1901952"/>
            <a:ext cx="7620000" cy="4514024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1295526"/>
            <a:ext cx="8662670" cy="2581348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40665" marR="5080" indent="-228600">
              <a:lnSpc>
                <a:spcPct val="150000"/>
              </a:lnSpc>
              <a:spcBef>
                <a:spcPts val="225"/>
              </a:spcBef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b="1" dirty="0">
                <a:latin typeface="Arial"/>
                <a:cs typeface="Arial"/>
              </a:rPr>
              <a:t>RDBMS</a:t>
            </a:r>
            <a:r>
              <a:rPr sz="1600" b="1" spc="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(relational</a:t>
            </a:r>
            <a:r>
              <a:rPr sz="1600" b="1" spc="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database</a:t>
            </a:r>
            <a:r>
              <a:rPr sz="1600" b="1" spc="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management</a:t>
            </a:r>
            <a:r>
              <a:rPr sz="1600" b="1" spc="5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systems):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RDBMS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programs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build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manage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relational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databases.</a:t>
            </a:r>
            <a:endParaRPr sz="1600" dirty="0">
              <a:latin typeface="Arial MT"/>
              <a:cs typeface="Arial MT"/>
            </a:endParaRPr>
          </a:p>
          <a:p>
            <a:pPr marL="240665" indent="-227965">
              <a:lnSpc>
                <a:spcPct val="150000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RDBMS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responsible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applying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logic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ensure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ingested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structured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</a:t>
            </a:r>
            <a:endParaRPr sz="1600" dirty="0">
              <a:latin typeface="Arial MT"/>
              <a:cs typeface="Arial MT"/>
            </a:endParaRPr>
          </a:p>
          <a:p>
            <a:pPr marL="240665" marR="9525">
              <a:lnSpc>
                <a:spcPct val="150000"/>
              </a:lnSpc>
              <a:spcBef>
                <a:spcPts val="110"/>
              </a:spcBef>
            </a:pPr>
            <a:r>
              <a:rPr sz="1600" dirty="0">
                <a:latin typeface="Arial MT"/>
                <a:cs typeface="Arial MT"/>
              </a:rPr>
              <a:t>correct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format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ingested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database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placed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correct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table(s),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columns,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rows.</a:t>
            </a:r>
            <a:endParaRPr sz="1600" dirty="0">
              <a:latin typeface="Arial MT"/>
              <a:cs typeface="Arial MT"/>
            </a:endParaRPr>
          </a:p>
          <a:p>
            <a:pPr marL="240665" marR="8255" indent="-228600">
              <a:lnSpc>
                <a:spcPct val="150000"/>
              </a:lnSpc>
              <a:spcBef>
                <a:spcPts val="10"/>
              </a:spcBef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SQL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(structured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query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language)</a:t>
            </a:r>
            <a:r>
              <a:rPr sz="1600" spc="20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programming</a:t>
            </a:r>
            <a:r>
              <a:rPr sz="1600" spc="19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language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primary</a:t>
            </a:r>
            <a:r>
              <a:rPr sz="1600" spc="2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language</a:t>
            </a:r>
            <a:r>
              <a:rPr sz="1600" spc="2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2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by </a:t>
            </a:r>
            <a:r>
              <a:rPr sz="1600" dirty="0">
                <a:latin typeface="Arial MT"/>
                <a:cs typeface="Arial MT"/>
              </a:rPr>
              <a:t>RDBMSs.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Common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RDBMS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include: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8135" y="4591558"/>
            <a:ext cx="2615565" cy="143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1875"/>
              </a:lnSpc>
              <a:spcBef>
                <a:spcPts val="105"/>
              </a:spcBef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Microsoft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SQL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Server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ts val="1839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Oracle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DB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ts val="1850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Amazon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Aurora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ts val="1835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MySQL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(opensource)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ts val="1835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PostgreSQL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(opensource)</a:t>
            </a:r>
            <a:endParaRPr sz="1600">
              <a:latin typeface="Arial MT"/>
              <a:cs typeface="Arial MT"/>
            </a:endParaRPr>
          </a:p>
          <a:p>
            <a:pPr marL="240665" indent="-227965">
              <a:lnSpc>
                <a:spcPts val="1885"/>
              </a:lnSpc>
              <a:buSzPct val="62500"/>
              <a:buFont typeface="Symbol"/>
              <a:buChar char=""/>
              <a:tabLst>
                <a:tab pos="240665" algn="l"/>
              </a:tabLst>
            </a:pPr>
            <a:r>
              <a:rPr sz="1600" dirty="0">
                <a:latin typeface="Arial MT"/>
                <a:cs typeface="Arial MT"/>
              </a:rPr>
              <a:t>SQLite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(opensource)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4300" y="4314826"/>
            <a:ext cx="4324350" cy="2133600"/>
          </a:xfrm>
          <a:prstGeom prst="rect">
            <a:avLst/>
          </a:prstGeom>
        </p:spPr>
      </p:pic>
      <p:sp>
        <p:nvSpPr>
          <p:cNvPr id="5" name="Google Shape;85;p12"/>
          <p:cNvSpPr txBox="1"/>
          <p:nvPr/>
        </p:nvSpPr>
        <p:spPr>
          <a:xfrm>
            <a:off x="0" y="-32085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3666"/>
            <a:ext cx="8888095" cy="59881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8255" indent="-228600">
              <a:lnSpc>
                <a:spcPct val="200000"/>
              </a:lnSpc>
              <a:spcBef>
                <a:spcPts val="1525"/>
              </a:spcBef>
              <a:buFont typeface="Symbol"/>
              <a:buChar char=""/>
              <a:tabLst>
                <a:tab pos="469265" algn="l"/>
                <a:tab pos="1819910" algn="l"/>
                <a:tab pos="2934335" algn="l"/>
                <a:tab pos="3500754" algn="l"/>
                <a:tab pos="4164965" algn="l"/>
                <a:tab pos="5321935" algn="l"/>
                <a:tab pos="5934075" algn="l"/>
                <a:tab pos="6845300" algn="l"/>
                <a:tab pos="8172450" algn="l"/>
              </a:tabLst>
            </a:pP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Accounting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helps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accounting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firms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transactions,</a:t>
            </a:r>
            <a:r>
              <a:rPr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prepare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statements,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taxes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efficiently.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>
              <a:lnSpc>
                <a:spcPct val="200000"/>
              </a:lnSpc>
              <a:spcBef>
                <a:spcPts val="55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CRM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CRM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spc="2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manage</a:t>
            </a:r>
            <a:r>
              <a:rPr spc="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spc="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info,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spc="2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programs,</a:t>
            </a:r>
            <a:r>
              <a:rPr spc="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relationships.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9525" indent="-228600">
              <a:lnSpc>
                <a:spcPct val="2000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SEO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spc="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spc="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markup)</a:t>
            </a:r>
            <a:r>
              <a:rPr spc="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boosts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spc="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rankings</a:t>
            </a:r>
            <a:r>
              <a:rPr spc="2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improving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understanding.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9525" indent="-228600">
              <a:lnSpc>
                <a:spcPct val="200000"/>
              </a:lnSpc>
              <a:spcBef>
                <a:spcPts val="55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b="1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Analysts</a:t>
            </a:r>
            <a:r>
              <a:rPr spc="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pc="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detailed</a:t>
            </a:r>
            <a:r>
              <a:rPr spc="2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spc="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2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pattern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discovery,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driving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informed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decisions.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>
              <a:lnSpc>
                <a:spcPct val="200000"/>
              </a:lnSpc>
              <a:spcBef>
                <a:spcPts val="55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b="1" spc="3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3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spc="4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leverage</a:t>
            </a:r>
            <a:r>
              <a:rPr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pc="3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quick,</a:t>
            </a:r>
            <a:r>
              <a:rPr spc="4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  <a:r>
              <a:rPr spc="3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analysis,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performing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tasks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regression.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85;p12"/>
          <p:cNvSpPr txBox="1"/>
          <p:nvPr/>
        </p:nvSpPr>
        <p:spPr>
          <a:xfrm>
            <a:off x="0" y="0"/>
            <a:ext cx="10693400" cy="5020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3606"/>
            <a:ext cx="8837295" cy="32835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data?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276860" indent="-228600">
              <a:lnSpc>
                <a:spcPct val="150000"/>
              </a:lnSpc>
              <a:spcBef>
                <a:spcPts val="1300"/>
              </a:spcBef>
              <a:buFont typeface="Symbol"/>
              <a:buChar char=""/>
              <a:tabLst>
                <a:tab pos="46926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counted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traditional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analytical methods.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>
              <a:lnSpc>
                <a:spcPct val="150000"/>
              </a:lnSpc>
              <a:spcBef>
                <a:spcPts val="114"/>
              </a:spcBef>
              <a:buFont typeface="Symbol"/>
              <a:buChar char=""/>
              <a:tabLst>
                <a:tab pos="46926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format,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cannot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predefined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model.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44830" indent="-228600">
              <a:lnSpc>
                <a:spcPct val="150000"/>
              </a:lnSpc>
              <a:spcBef>
                <a:spcPts val="90"/>
              </a:spcBef>
              <a:buFont typeface="Symbol"/>
              <a:buChar char=""/>
              <a:tabLst>
                <a:tab pos="46926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z="200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satellite</a:t>
            </a:r>
            <a:r>
              <a:rPr sz="200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imagery,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audio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files,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files,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even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emails.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02316" y="4619625"/>
            <a:ext cx="5688767" cy="2260725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22170" y="3596759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Module 3 </a:t>
            </a:r>
            <a:endParaRPr lang="en-IN" dirty="0"/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709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300" y="410953"/>
            <a:ext cx="9551974" cy="376898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Characteristics</a:t>
            </a:r>
            <a:r>
              <a:rPr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b="1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b="1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14604" indent="-228600">
              <a:spcBef>
                <a:spcPts val="1140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Qualitative</a:t>
            </a:r>
            <a:r>
              <a:rPr b="1"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data:</a:t>
            </a:r>
            <a:r>
              <a:rPr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3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referred</a:t>
            </a:r>
            <a:r>
              <a:rPr spc="3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3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3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qualitative</a:t>
            </a:r>
            <a:r>
              <a:rPr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3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because</a:t>
            </a:r>
            <a:r>
              <a:rPr spc="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pc="3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nonnumeric,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contain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images,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text-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heavy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nature.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>
              <a:spcBef>
                <a:spcPts val="1105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addition,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very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difficult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format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doesn't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lend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itself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traditional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tools.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 algn="just">
              <a:spcBef>
                <a:spcPts val="1050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b="1"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databases:</a:t>
            </a:r>
            <a:r>
              <a:rPr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highly</a:t>
            </a:r>
            <a:r>
              <a:rPr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spc="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format.</a:t>
            </a:r>
            <a:r>
              <a:rPr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result,</a:t>
            </a:r>
            <a:r>
              <a:rPr spc="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spc="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spc="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spc="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optimized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format</a:t>
            </a:r>
            <a:r>
              <a:rPr spc="2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being</a:t>
            </a:r>
            <a:r>
              <a:rPr spc="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housed,</a:t>
            </a:r>
            <a:r>
              <a:rPr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well</a:t>
            </a:r>
            <a:r>
              <a:rPr spc="2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pc="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spc="8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pc="8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efficiently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pc="9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spc="9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files,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videos,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scanned documents).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5080" indent="-228600">
              <a:spcBef>
                <a:spcPts val="1155"/>
              </a:spcBef>
              <a:buFont typeface="Symbol"/>
              <a:buChar char=""/>
              <a:tabLst>
                <a:tab pos="469265" algn="l"/>
                <a:tab pos="527685" algn="l"/>
              </a:tabLst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NoSQL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databases,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named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because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don't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employ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language,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non-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tabular,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differently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780" y="4419703"/>
            <a:ext cx="4724400" cy="26208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818" y="4713497"/>
            <a:ext cx="3686174" cy="2033274"/>
          </a:xfrm>
          <a:prstGeom prst="rect">
            <a:avLst/>
          </a:prstGeom>
        </p:spPr>
      </p:pic>
      <p:sp>
        <p:nvSpPr>
          <p:cNvPr id="5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168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900" y="581025"/>
            <a:ext cx="9323374" cy="46378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9525" indent="-228600">
              <a:lnSpc>
                <a:spcPct val="150000"/>
              </a:lnSpc>
              <a:spcBef>
                <a:spcPts val="1670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b="1" spc="3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Media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spc="3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semi-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3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spc="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profiles)</a:t>
            </a:r>
            <a:r>
              <a:rPr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3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3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(e.g., messages).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227965">
              <a:lnSpc>
                <a:spcPct val="150000"/>
              </a:lnSpc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Often</a:t>
            </a:r>
            <a:r>
              <a:rPr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semi-structured;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content,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including</a:t>
            </a:r>
            <a:r>
              <a:rPr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text,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video,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images,</a:t>
            </a:r>
            <a:r>
              <a:rPr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unstructured.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227965">
              <a:lnSpc>
                <a:spcPct val="150000"/>
              </a:lnSpc>
              <a:spcBef>
                <a:spcPts val="20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Documents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Word,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PDFs,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presentations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227965">
              <a:lnSpc>
                <a:spcPct val="150000"/>
              </a:lnSpc>
              <a:spcBef>
                <a:spcPts val="25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r>
              <a:rPr b="1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Responses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Open-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ended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responses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"liked"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photos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9525" indent="-228600">
              <a:lnSpc>
                <a:spcPct val="150000"/>
              </a:lnSpc>
              <a:spcBef>
                <a:spcPts val="130"/>
              </a:spcBef>
              <a:buFont typeface="Symbol"/>
              <a:buChar char=""/>
              <a:tabLst>
                <a:tab pos="469265" algn="l"/>
              </a:tabLst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Scientific</a:t>
            </a:r>
            <a:r>
              <a:rPr b="1"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r>
              <a:rPr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spc="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fields</a:t>
            </a:r>
            <a:r>
              <a:rPr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weather,</a:t>
            </a:r>
            <a:r>
              <a:rPr spc="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spc="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exploration,</a:t>
            </a:r>
            <a:r>
              <a:rPr spc="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marR="11430" indent="-228600">
              <a:lnSpc>
                <a:spcPct val="150000"/>
              </a:lnSpc>
              <a:spcBef>
                <a:spcPts val="55"/>
              </a:spcBef>
              <a:buFont typeface="Symbol"/>
              <a:buChar char=""/>
              <a:tabLst>
                <a:tab pos="469265" algn="l"/>
                <a:tab pos="1428750" algn="l"/>
                <a:tab pos="1931670" algn="l"/>
                <a:tab pos="2766060" algn="l"/>
                <a:tab pos="3700779" algn="l"/>
                <a:tab pos="4535170" algn="l"/>
                <a:tab pos="5013325" algn="l"/>
                <a:tab pos="5801360" algn="l"/>
                <a:tab pos="6319520" algn="l"/>
                <a:tab pos="7263765" algn="l"/>
                <a:tab pos="7781290" algn="l"/>
                <a:tab pos="8704580" algn="l"/>
              </a:tabLst>
            </a:pP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1" spc="-2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:IoT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vast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amounts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unstructured</a:t>
            </a:r>
            <a:r>
              <a:rPr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1574" y="4889604"/>
            <a:ext cx="5981700" cy="2185674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134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52850" y="883666"/>
            <a:ext cx="318643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Arial"/>
                <a:cs typeface="Arial"/>
              </a:rPr>
              <a:t>Structured</a:t>
            </a:r>
            <a:r>
              <a:rPr sz="1600" b="1" spc="-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Vs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Unstructured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Data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700" y="1710252"/>
            <a:ext cx="8915400" cy="4585773"/>
          </a:xfrm>
          <a:prstGeom prst="rect">
            <a:avLst/>
          </a:prstGeom>
        </p:spPr>
      </p:pic>
      <p:sp>
        <p:nvSpPr>
          <p:cNvPr id="4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741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820037"/>
            <a:ext cx="4807585" cy="12450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i="1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i="1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i="1" spc="-65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i="1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</a:t>
            </a:r>
            <a:r>
              <a:rPr b="1" i="1" spc="-65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i="1" spc="-20" dirty="0">
                <a:solidFill>
                  <a:srgbClr val="2D74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1300" marR="5080">
              <a:lnSpc>
                <a:spcPct val="170200"/>
              </a:lnSpc>
              <a:spcBef>
                <a:spcPts val="120"/>
              </a:spcBef>
            </a:pPr>
            <a:r>
              <a:rPr b="1" i="1" dirty="0"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b="1" i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i="1" dirty="0"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b="1" i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names,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ages,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grades.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"David",</a:t>
            </a:r>
            <a:r>
              <a:rPr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23,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"B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406468"/>
            <a:ext cx="8313420" cy="2363468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b="1" dirty="0">
                <a:latin typeface="Arial"/>
                <a:cs typeface="Arial"/>
              </a:rPr>
              <a:t>Key: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organized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into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table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can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easily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manipulated.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i="1" dirty="0">
                <a:solidFill>
                  <a:srgbClr val="2D74B5"/>
                </a:solidFill>
                <a:latin typeface="Arial"/>
                <a:cs typeface="Arial"/>
              </a:rPr>
              <a:t>Activity</a:t>
            </a:r>
            <a:r>
              <a:rPr i="1" dirty="0">
                <a:solidFill>
                  <a:srgbClr val="2D74B5"/>
                </a:solidFill>
                <a:latin typeface="Arial"/>
                <a:cs typeface="Arial"/>
              </a:rPr>
              <a:t>:</a:t>
            </a:r>
            <a:r>
              <a:rPr i="1" spc="-60" dirty="0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b="1" i="1" dirty="0">
                <a:solidFill>
                  <a:srgbClr val="2D74B5"/>
                </a:solidFill>
                <a:latin typeface="Arial"/>
                <a:cs typeface="Arial"/>
              </a:rPr>
              <a:t>Unstructured</a:t>
            </a:r>
            <a:r>
              <a:rPr b="1" i="1" spc="-60" dirty="0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b="1" i="1" spc="-20" dirty="0">
                <a:solidFill>
                  <a:srgbClr val="2D74B5"/>
                </a:solidFill>
                <a:latin typeface="Arial"/>
                <a:cs typeface="Arial"/>
              </a:rPr>
              <a:t>Data</a:t>
            </a:r>
            <a:endParaRPr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440"/>
              </a:spcBef>
            </a:pPr>
            <a:r>
              <a:rPr b="1" dirty="0">
                <a:latin typeface="Arial"/>
                <a:cs typeface="Arial"/>
              </a:rPr>
              <a:t>Task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2: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block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text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(e.g.,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email).</a:t>
            </a:r>
            <a:endParaRPr dirty="0">
              <a:latin typeface="Arial MT"/>
              <a:cs typeface="Arial MT"/>
            </a:endParaRPr>
          </a:p>
          <a:p>
            <a:pPr marL="469265" marR="5080">
              <a:lnSpc>
                <a:spcPts val="1850"/>
              </a:lnSpc>
              <a:spcBef>
                <a:spcPts val="1465"/>
              </a:spcBef>
            </a:pPr>
            <a:r>
              <a:rPr dirty="0">
                <a:latin typeface="Arial MT"/>
                <a:cs typeface="Arial MT"/>
              </a:rPr>
              <a:t>"Hi,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hope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doing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well.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wanted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know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about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upcoming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meeting</a:t>
            </a:r>
            <a:r>
              <a:rPr spc="-25" dirty="0">
                <a:latin typeface="Arial MT"/>
                <a:cs typeface="Arial MT"/>
              </a:rPr>
              <a:t> on </a:t>
            </a:r>
            <a:r>
              <a:rPr dirty="0">
                <a:latin typeface="Arial MT"/>
                <a:cs typeface="Arial MT"/>
              </a:rPr>
              <a:t>Friday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10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AM.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Please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confirm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your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attendance.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Thanks!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b="1" dirty="0">
                <a:latin typeface="Arial"/>
                <a:cs typeface="Arial"/>
              </a:rPr>
              <a:t>Key: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extract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information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text.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657850" cy="8858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58714" y="2682397"/>
            <a:ext cx="3810000" cy="1553990"/>
          </a:xfrm>
          <a:prstGeom prst="rect">
            <a:avLst/>
          </a:prstGeom>
        </p:spPr>
      </p:pic>
      <p:sp>
        <p:nvSpPr>
          <p:cNvPr id="6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044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74776"/>
            <a:ext cx="760095" cy="733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2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1F5F"/>
                </a:solidFill>
                <a:latin typeface="Arial"/>
                <a:cs typeface="Arial"/>
              </a:rPr>
              <a:t>Answer </a:t>
            </a:r>
            <a:r>
              <a:rPr sz="1600" b="1" dirty="0">
                <a:latin typeface="Arial"/>
                <a:cs typeface="Arial"/>
              </a:rPr>
              <a:t>Task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1: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811016"/>
            <a:ext cx="2952750" cy="1332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001F5F"/>
                </a:solidFill>
                <a:latin typeface="Arial"/>
                <a:cs typeface="Arial"/>
              </a:rPr>
              <a:t>Answer</a:t>
            </a:r>
            <a:endParaRPr sz="16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spcBef>
                <a:spcPts val="1325"/>
              </a:spcBef>
            </a:pPr>
            <a:r>
              <a:rPr sz="1600" b="1" dirty="0">
                <a:latin typeface="Arial"/>
                <a:cs typeface="Arial"/>
              </a:rPr>
              <a:t>Task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Extract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information.</a:t>
            </a:r>
            <a:endParaRPr sz="1600">
              <a:latin typeface="Arial MT"/>
              <a:cs typeface="Arial MT"/>
            </a:endParaRPr>
          </a:p>
          <a:p>
            <a:pPr marL="469265" indent="-227965">
              <a:lnSpc>
                <a:spcPts val="1885"/>
              </a:lnSpc>
              <a:spcBef>
                <a:spcPts val="1340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Date: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Friday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10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AM</a:t>
            </a:r>
            <a:endParaRPr sz="1600">
              <a:latin typeface="Arial MT"/>
              <a:cs typeface="Arial MT"/>
            </a:endParaRPr>
          </a:p>
          <a:p>
            <a:pPr marL="469265" indent="-227965">
              <a:lnSpc>
                <a:spcPts val="1885"/>
              </a:lnSpc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Action: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Confirm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attendance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62099" y="1580488"/>
            <a:ext cx="4057650" cy="2150999"/>
          </a:xfrm>
          <a:prstGeom prst="rect">
            <a:avLst/>
          </a:prstGeom>
        </p:spPr>
      </p:pic>
      <p:sp>
        <p:nvSpPr>
          <p:cNvPr id="5" name="Google Shape;85;p12"/>
          <p:cNvSpPr txBox="1"/>
          <p:nvPr/>
        </p:nvSpPr>
        <p:spPr>
          <a:xfrm>
            <a:off x="0" y="20143"/>
            <a:ext cx="10693400" cy="390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23ITC01-Internet of Things</a:t>
            </a:r>
            <a:endParaRPr lang="en-IN"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7;p13">
            <a:extLst>
              <a:ext uri="{FF2B5EF4-FFF2-40B4-BE49-F238E27FC236}">
                <a16:creationId xmlns:a16="http://schemas.microsoft.com/office/drawing/2014/main" xmlns="" id="{2E207A4B-B1A4-CF6B-D139-FEE2456130E9}"/>
              </a:ext>
            </a:extLst>
          </p:cNvPr>
          <p:cNvSpPr/>
          <p:nvPr/>
        </p:nvSpPr>
        <p:spPr>
          <a:xfrm>
            <a:off x="0" y="7110099"/>
            <a:ext cx="10693400" cy="43312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857" tIns="48915" rIns="97857" bIns="48915" anchor="ctr" anchorCtr="0">
            <a:noAutofit/>
          </a:bodyPr>
          <a:lstStyle/>
          <a:p>
            <a:pPr algn="l" rtl="0">
              <a:buClr>
                <a:srgbClr val="000000"/>
              </a:buClr>
              <a:buSzPts val="1600"/>
            </a:pPr>
            <a:r>
              <a:rPr lang="en-IN" sz="1712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Module 3                                                                    </a:t>
            </a:r>
            <a:r>
              <a:rPr lang="en-IN" sz="1712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712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3100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884</Words>
  <Application>Microsoft Office PowerPoint</Application>
  <PresentationFormat>Custom</PresentationFormat>
  <Paragraphs>107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MT</vt:lpstr>
      <vt:lpstr>Calibri</vt:lpstr>
      <vt:lpstr>Symbol</vt:lpstr>
      <vt:lpstr>Wingdings</vt:lpstr>
      <vt:lpstr>Office Theme</vt:lpstr>
      <vt:lpstr>Module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31</cp:revision>
  <dcterms:created xsi:type="dcterms:W3CDTF">2025-01-03T21:47:33Z</dcterms:created>
  <dcterms:modified xsi:type="dcterms:W3CDTF">2026-03-23T06:57:38Z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2025-01-03T00:00:00Z</vt:filetime>
  </property>
  <property fmtid="{D5CDD505-2E9C-101B-9397-08002B2CF9AE}" pid="5" name="Producer">
    <vt:lpwstr>www.ilovepdf.com</vt:lpwstr>
  </property>
</Properties>
</file>