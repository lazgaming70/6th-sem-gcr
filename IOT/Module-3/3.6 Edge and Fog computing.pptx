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311" r:id="rId2"/>
    <p:sldId id="292" r:id="rId3"/>
    <p:sldId id="306" r:id="rId4"/>
    <p:sldId id="293" r:id="rId5"/>
    <p:sldId id="294" r:id="rId6"/>
    <p:sldId id="295" r:id="rId7"/>
    <p:sldId id="296" r:id="rId8"/>
    <p:sldId id="297" r:id="rId9"/>
    <p:sldId id="298" r:id="rId10"/>
    <p:sldId id="299" r:id="rId11"/>
    <p:sldId id="300" r:id="rId12"/>
    <p:sldId id="301" r:id="rId13"/>
    <p:sldId id="302" r:id="rId14"/>
    <p:sldId id="303" r:id="rId15"/>
    <p:sldId id="304" r:id="rId16"/>
    <p:sldId id="305" r:id="rId17"/>
    <p:sldId id="312" r:id="rId18"/>
    <p:sldId id="313" r:id="rId1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9" d="100"/>
          <a:sy n="89" d="100"/>
        </p:scale>
        <p:origin x="355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3DE976-86F0-46BC-ABE6-893746D1602C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37B0B5-0D8D-4AAA-81D4-3B632A0AC3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5382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1024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6FA1DD9A-60FA-4D5B-B48C-D8976FA3BEC2}" type="slidenum">
              <a:rPr lang="en-IN" altLang="en-US" smtClean="0">
                <a:latin typeface="Calibri" panose="020F0502020204030204" pitchFamily="34" charset="0"/>
              </a:rPr>
              <a:pPr/>
              <a:t>1</a:t>
            </a:fld>
            <a:endParaRPr lang="en-IN" altLang="en-US" smtClean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84060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E2006B1-7EC7-3DF5-0E33-4458E2DFE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3869980"/>
            <a:ext cx="10515600" cy="69249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AC2E3691-1A24-50A7-6269-6103098D0A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27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886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7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59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4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31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1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04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09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96BABE2-EE45-AE4F-EA43-B5719012FF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77940"/>
            <a:ext cx="2804160" cy="276999"/>
          </a:xfrm>
        </p:spPr>
        <p:txBody>
          <a:bodyPr/>
          <a:lstStyle/>
          <a:p>
            <a:r>
              <a:rPr lang="en-US"/>
              <a:t>Module 1</a:t>
            </a:r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22A6F584-8FC6-5ADA-DD89-C1F236299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45280" y="6377940"/>
            <a:ext cx="3901440" cy="276999"/>
          </a:xfrm>
        </p:spPr>
        <p:txBody>
          <a:bodyPr/>
          <a:lstStyle/>
          <a:p>
            <a:r>
              <a:rPr lang="en-IN"/>
              <a:t>18EC301 Digital Electronics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56C0DE2-A024-B595-1FDE-09EEC87C6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78240" y="6377940"/>
            <a:ext cx="2804160" cy="276999"/>
          </a:xfrm>
        </p:spPr>
        <p:txBody>
          <a:bodyPr/>
          <a:lstStyle/>
          <a:p>
            <a:fld id="{3A1A9F74-F044-47D8-B51B-A9D52BA69B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59883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5010" y="231140"/>
            <a:ext cx="10147084" cy="12768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939" y="1801495"/>
            <a:ext cx="10206355" cy="35223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ee2Mu05eQl8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>
          <a:xfrm>
            <a:off x="2779285" y="388679"/>
            <a:ext cx="6875992" cy="391774"/>
          </a:xfrm>
        </p:spPr>
        <p:txBody>
          <a:bodyPr/>
          <a:lstStyle/>
          <a:p>
            <a:pPr algn="ctr"/>
            <a:r>
              <a:rPr lang="en-IN" altLang="en-US" sz="2546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3</a:t>
            </a:r>
          </a:p>
        </p:txBody>
      </p:sp>
      <p:sp>
        <p:nvSpPr>
          <p:cNvPr id="9219" name="Content Placeholder 2"/>
          <p:cNvSpPr>
            <a:spLocks noGrp="1"/>
          </p:cNvSpPr>
          <p:nvPr>
            <p:ph idx="4294967295"/>
          </p:nvPr>
        </p:nvSpPr>
        <p:spPr>
          <a:xfrm>
            <a:off x="1333501" y="1186595"/>
            <a:ext cx="10218964" cy="2010166"/>
          </a:xfrm>
        </p:spPr>
        <p:txBody>
          <a:bodyPr/>
          <a:lstStyle/>
          <a:p>
            <a:pPr algn="just"/>
            <a:r>
              <a:rPr lang="en-US" altLang="en-US" sz="2177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CLOUD AND DATA ANALYTICS FOR IOT</a:t>
            </a:r>
            <a:r>
              <a:rPr lang="en-US" altLang="en-US" sz="2177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	</a:t>
            </a:r>
          </a:p>
          <a:p>
            <a:pPr algn="just"/>
            <a:r>
              <a:rPr lang="en-US" altLang="en-US" sz="2177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Cloud: Types of Cloud - loT with Cloud challenges - Selection of cloud for loT applications - </a:t>
            </a:r>
            <a:r>
              <a:rPr lang="en-US" altLang="en-US" sz="2177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Fog and Edge computing for loT </a:t>
            </a:r>
            <a:r>
              <a:rPr lang="en-US" altLang="en-US" sz="2177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Cloud security aspects for loT applications. Data Analytics for IoT: Overview of Hadoop ecosystem – MapReduce architecture – MapReduce Job Execution – MapReduce Schedulers. Case study: Internet of Medical Things (IoMT</a:t>
            </a:r>
            <a:r>
              <a:rPr lang="en-US" altLang="en-US" sz="1813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altLang="en-US" sz="1813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220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902766" y="701780"/>
            <a:ext cx="752511" cy="17126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90906" indent="-227272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09087" indent="-181818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72722" indent="-181818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636357" indent="-181818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1999992" indent="-18181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363626" indent="-18181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2727261" indent="-18181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090896" indent="-18181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8D58B0F9-C55A-48A8-A0FF-1ADC7A560F4D}" type="slidenum">
              <a:rPr lang="en-IN" altLang="en-US" sz="1113" b="1">
                <a:solidFill>
                  <a:srgbClr val="898989"/>
                </a:solidFill>
              </a:rPr>
              <a:pPr/>
              <a:t>1</a:t>
            </a:fld>
            <a:endParaRPr lang="en-IN" altLang="en-US" sz="1113" b="1">
              <a:solidFill>
                <a:srgbClr val="898989"/>
              </a:solidFill>
            </a:endParaRPr>
          </a:p>
        </p:txBody>
      </p:sp>
      <p:sp>
        <p:nvSpPr>
          <p:cNvPr id="9221" name="Footer Placeholder 3"/>
          <p:cNvSpPr txBox="1">
            <a:spLocks/>
          </p:cNvSpPr>
          <p:nvPr/>
        </p:nvSpPr>
        <p:spPr bwMode="auto">
          <a:xfrm>
            <a:off x="176894" y="6422572"/>
            <a:ext cx="1156607" cy="4354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IN" altLang="en-US" sz="1113" dirty="0">
                <a:latin typeface="Arial" panose="020B0604020202020204" pitchFamily="34" charset="0"/>
              </a:rPr>
              <a:t>Module 3</a:t>
            </a:r>
          </a:p>
        </p:txBody>
      </p:sp>
      <p:sp>
        <p:nvSpPr>
          <p:cNvPr id="9222" name="TextBox 7"/>
          <p:cNvSpPr txBox="1">
            <a:spLocks noChangeArrowheads="1"/>
          </p:cNvSpPr>
          <p:nvPr/>
        </p:nvSpPr>
        <p:spPr bwMode="auto">
          <a:xfrm>
            <a:off x="4750066" y="5470629"/>
            <a:ext cx="375439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IN" altLang="en-US" sz="2000" b="1" dirty="0">
                <a:solidFill>
                  <a:srgbClr val="C00000"/>
                </a:solidFill>
              </a:rPr>
              <a:t>Watch this video: </a:t>
            </a:r>
            <a:r>
              <a:rPr lang="en-IN" altLang="en-US" sz="2000" b="1" dirty="0">
                <a:solidFill>
                  <a:srgbClr val="C00000"/>
                </a:solidFill>
                <a:hlinkClick r:id="rId3"/>
              </a:rPr>
              <a:t>Click Here</a:t>
            </a:r>
            <a:endParaRPr lang="en-US" altLang="en-US" sz="2000" u="sng" dirty="0"/>
          </a:p>
        </p:txBody>
      </p:sp>
      <p:sp>
        <p:nvSpPr>
          <p:cNvPr id="10" name="object 2"/>
          <p:cNvSpPr/>
          <p:nvPr/>
        </p:nvSpPr>
        <p:spPr>
          <a:xfrm>
            <a:off x="176895" y="3855283"/>
            <a:ext cx="4171861" cy="256728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lIns="0" tIns="0" rIns="0" bIns="0"/>
          <a:lstStyle/>
          <a:p>
            <a:pPr>
              <a:defRPr/>
            </a:pPr>
            <a:endParaRPr sz="1297"/>
          </a:p>
        </p:txBody>
      </p:sp>
      <p:pic>
        <p:nvPicPr>
          <p:cNvPr id="9224" name="Picture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0286" y="4553938"/>
            <a:ext cx="1741714" cy="1932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60807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5010" y="231140"/>
            <a:ext cx="10147084" cy="1354217"/>
          </a:xfrm>
        </p:spPr>
        <p:txBody>
          <a:bodyPr/>
          <a:lstStyle/>
          <a:p>
            <a:r>
              <a:rPr lang="en-US" b="1" dirty="0"/>
              <a:t>Introduction to Edge and Fog Computing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6939" y="1801495"/>
            <a:ext cx="10206355" cy="4308872"/>
          </a:xfrm>
        </p:spPr>
        <p:txBody>
          <a:bodyPr/>
          <a:lstStyle/>
          <a:p>
            <a:pPr lvl="0">
              <a:lnSpc>
                <a:spcPct val="150000"/>
              </a:lnSpc>
            </a:pPr>
            <a:r>
              <a:rPr lang="en-US" b="1" dirty="0" smtClean="0"/>
              <a:t>Edge </a:t>
            </a:r>
            <a:r>
              <a:rPr lang="en-US" b="1" dirty="0"/>
              <a:t>Computing:</a:t>
            </a:r>
            <a:r>
              <a:rPr lang="en-US" dirty="0"/>
              <a:t> A distributed computing paradigm that processes data at the source (edge) instead of relying on a central cloud.</a:t>
            </a:r>
          </a:p>
          <a:p>
            <a:pPr lvl="0">
              <a:lnSpc>
                <a:spcPct val="150000"/>
              </a:lnSpc>
            </a:pPr>
            <a:r>
              <a:rPr lang="en-US" b="1" dirty="0"/>
              <a:t>Fog Computing:</a:t>
            </a:r>
            <a:r>
              <a:rPr lang="en-US" dirty="0"/>
              <a:t> Extends cloud computing closer to the network edge, offering additional computing and storage.</a:t>
            </a:r>
          </a:p>
          <a:p>
            <a:pPr lvl="0">
              <a:lnSpc>
                <a:spcPct val="150000"/>
              </a:lnSpc>
            </a:pPr>
            <a:r>
              <a:rPr lang="en-US" b="1" dirty="0"/>
              <a:t>Importance in IoT:</a:t>
            </a:r>
            <a:r>
              <a:rPr lang="en-US" dirty="0"/>
              <a:t> Enables real-time data processing, reduces latency, and improves efficiency.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6220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5010" y="231141"/>
            <a:ext cx="10147084" cy="1354217"/>
          </a:xfrm>
        </p:spPr>
        <p:txBody>
          <a:bodyPr/>
          <a:lstStyle/>
          <a:p>
            <a:r>
              <a:rPr lang="en-US" b="1" dirty="0"/>
              <a:t>Introduction to Edge and Fog Computing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011" y="838200"/>
            <a:ext cx="6516790" cy="502919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0" y="969281"/>
            <a:ext cx="4705350" cy="490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654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5010" y="231140"/>
            <a:ext cx="10147084" cy="677108"/>
          </a:xfrm>
        </p:spPr>
        <p:txBody>
          <a:bodyPr/>
          <a:lstStyle/>
          <a:p>
            <a:r>
              <a:rPr lang="en-US" b="1" dirty="0"/>
              <a:t>Need for Edge Computing in IoT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6939" y="1801495"/>
            <a:ext cx="10206355" cy="3662541"/>
          </a:xfrm>
        </p:spPr>
        <p:txBody>
          <a:bodyPr/>
          <a:lstStyle/>
          <a:p>
            <a:pPr marL="457200" lvl="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 smtClean="0"/>
              <a:t>IoT </a:t>
            </a:r>
            <a:r>
              <a:rPr lang="en-US" dirty="0"/>
              <a:t>devices generate vast amounts of data.</a:t>
            </a:r>
          </a:p>
          <a:p>
            <a:pPr marL="457200" lvl="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/>
              <a:t>Traditional cloud computing introduces high latency.</a:t>
            </a:r>
          </a:p>
          <a:p>
            <a:pPr marL="457200" lvl="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/>
              <a:t>Edge computing enables faster data processing and </a:t>
            </a:r>
            <a:r>
              <a:rPr lang="en-US" dirty="0" smtClean="0"/>
              <a:t>decision making</a:t>
            </a:r>
            <a:r>
              <a:rPr lang="en-US" dirty="0"/>
              <a:t>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/>
              <a:t>Reduces bandwidth costs by processing data locally</a:t>
            </a:r>
            <a:r>
              <a:rPr lang="en-US" dirty="0" smtClean="0"/>
              <a:t>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989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5010" y="231140"/>
            <a:ext cx="10147084" cy="2031325"/>
          </a:xfrm>
        </p:spPr>
        <p:txBody>
          <a:bodyPr/>
          <a:lstStyle/>
          <a:p>
            <a:r>
              <a:rPr lang="en-US" b="1" dirty="0"/>
              <a:t>How Edge Computing Works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6939" y="1801495"/>
            <a:ext cx="10206355" cy="3811172"/>
          </a:xfrm>
        </p:spPr>
        <p:txBody>
          <a:bodyPr/>
          <a:lstStyle/>
          <a:p>
            <a:pPr marL="457200" lvl="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 smtClean="0"/>
              <a:t>IoT </a:t>
            </a:r>
            <a:r>
              <a:rPr lang="en-US" dirty="0"/>
              <a:t>devices collect data.</a:t>
            </a:r>
          </a:p>
          <a:p>
            <a:pPr marL="457200" lvl="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/>
              <a:t>Data is processed locally on edge devices (e.g., routers, gateways, or microcontrollers).</a:t>
            </a:r>
          </a:p>
          <a:p>
            <a:pPr marL="457200" lvl="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/>
              <a:t>Processed insights are sent to the cloud only when necessary.</a:t>
            </a:r>
          </a:p>
          <a:p>
            <a:pPr marL="457200" lvl="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/>
              <a:t>Enables real-time decision-making without cloud dependency.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1921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5010" y="231140"/>
            <a:ext cx="10147084" cy="2031325"/>
          </a:xfrm>
        </p:spPr>
        <p:txBody>
          <a:bodyPr/>
          <a:lstStyle/>
          <a:p>
            <a:r>
              <a:rPr lang="en-US" b="1" dirty="0"/>
              <a:t>Advantages of Edge Computing in IoT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6939" y="1801495"/>
            <a:ext cx="10206355" cy="4457502"/>
          </a:xfrm>
        </p:spPr>
        <p:txBody>
          <a:bodyPr/>
          <a:lstStyle/>
          <a:p>
            <a:pPr marL="457200" lvl="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b="1" dirty="0" smtClean="0"/>
              <a:t>Reduced </a:t>
            </a:r>
            <a:r>
              <a:rPr lang="en-US" b="1" dirty="0"/>
              <a:t>Latency:</a:t>
            </a:r>
            <a:r>
              <a:rPr lang="en-US" dirty="0"/>
              <a:t> Faster response times for critical applications.</a:t>
            </a:r>
          </a:p>
          <a:p>
            <a:pPr marL="457200" lvl="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b="1" dirty="0"/>
              <a:t>Bandwidth Optimization:</a:t>
            </a:r>
            <a:r>
              <a:rPr lang="en-US" dirty="0"/>
              <a:t> Less data sent to the cloud reduces congestion.</a:t>
            </a:r>
          </a:p>
          <a:p>
            <a:pPr marL="457200" lvl="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b="1" dirty="0"/>
              <a:t>Enhanced Security:</a:t>
            </a:r>
            <a:r>
              <a:rPr lang="en-US" dirty="0"/>
              <a:t> Local data processing minimizes security risks.</a:t>
            </a:r>
          </a:p>
          <a:p>
            <a:pPr marL="457200" lvl="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b="1" dirty="0"/>
              <a:t>Reliability:</a:t>
            </a:r>
            <a:r>
              <a:rPr lang="en-US" dirty="0"/>
              <a:t> Operates even with limited or no cloud connectivity.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b="1" dirty="0"/>
              <a:t>Energy Efficiency:</a:t>
            </a:r>
            <a:r>
              <a:rPr lang="en-US" dirty="0"/>
              <a:t> Reduces power consumption by minimizing cloud interactions</a:t>
            </a:r>
          </a:p>
        </p:txBody>
      </p:sp>
    </p:spTree>
    <p:extLst>
      <p:ext uri="{BB962C8B-B14F-4D97-AF65-F5344CB8AC3E}">
        <p14:creationId xmlns:p14="http://schemas.microsoft.com/office/powerpoint/2010/main" val="3385526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5010" y="231140"/>
            <a:ext cx="10147084" cy="1354217"/>
          </a:xfrm>
        </p:spPr>
        <p:txBody>
          <a:bodyPr/>
          <a:lstStyle/>
          <a:p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3008804"/>
              </p:ext>
            </p:extLst>
          </p:nvPr>
        </p:nvGraphicFramePr>
        <p:xfrm>
          <a:off x="762000" y="1981199"/>
          <a:ext cx="10515600" cy="3886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xmlns="" val="58514171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xmlns="" val="25421362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xmlns="" val="417125195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xmlns="" val="1263062310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Feature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Edge Computing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Fog Computing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Cloud Computing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xmlns="" val="1149436369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Processing Location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Device-level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Network-level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Remote Data Centers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xmlns="" val="3893116470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Latency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Low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Medium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xmlns="" val="591395865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Bandwidth Usage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Low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Medium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xmlns="" val="2136043856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Security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Medium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Low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xmlns="" val="252709677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Real-time Processing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Yes</a:t>
                      </a:r>
                      <a:endParaRPr lang="en-US" sz="16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  <a:endParaRPr lang="en-US" sz="16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xmlns="" val="4287640479"/>
                  </a:ext>
                </a:extLst>
              </a:tr>
            </a:tbl>
          </a:graphicData>
        </a:graphic>
      </p:graphicFrame>
      <p:sp>
        <p:nvSpPr>
          <p:cNvPr id="5" name="Rectangle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014125"/>
            <a:ext cx="1036161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Comparison - Edge vs. Fog vs. Cloud Computing</a:t>
            </a:r>
            <a:endParaRPr kumimoji="0" lang="en-US" altLang="en-US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8471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5010" y="231140"/>
            <a:ext cx="10147084" cy="2031325"/>
          </a:xfrm>
        </p:spPr>
        <p:txBody>
          <a:bodyPr/>
          <a:lstStyle/>
          <a:p>
            <a:r>
              <a:rPr lang="en-US" b="1" dirty="0"/>
              <a:t>Real-World Applications of Edge Computing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1" y="1676400"/>
            <a:ext cx="10513694" cy="5103833"/>
          </a:xfrm>
        </p:spPr>
        <p:txBody>
          <a:bodyPr/>
          <a:lstStyle/>
          <a:p>
            <a:pPr marL="457200" lvl="0" indent="-4572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b="1" dirty="0" smtClean="0"/>
              <a:t>Smart </a:t>
            </a:r>
            <a:r>
              <a:rPr lang="en-US" b="1" dirty="0"/>
              <a:t>Cities:</a:t>
            </a:r>
            <a:r>
              <a:rPr lang="en-US" dirty="0"/>
              <a:t> Traffic management, surveillance, and environmental monitoring.</a:t>
            </a:r>
          </a:p>
          <a:p>
            <a:pPr marL="457200" lvl="0" indent="-4572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b="1" dirty="0"/>
              <a:t>Healthcare:</a:t>
            </a:r>
            <a:r>
              <a:rPr lang="en-US" dirty="0"/>
              <a:t> Remote patient monitoring and real-time diagnostics.</a:t>
            </a:r>
          </a:p>
          <a:p>
            <a:pPr marL="457200" lvl="0" indent="-4572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b="1" dirty="0"/>
              <a:t>Industrial IoT (IIoT):</a:t>
            </a:r>
            <a:r>
              <a:rPr lang="en-US" dirty="0"/>
              <a:t> Predictive maintenance in factories.</a:t>
            </a:r>
          </a:p>
          <a:p>
            <a:pPr marL="457200" lvl="0" indent="-4572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b="1" dirty="0"/>
              <a:t>Autonomous Vehicles:</a:t>
            </a:r>
            <a:r>
              <a:rPr lang="en-US" dirty="0"/>
              <a:t> Real-time data processing for navigation.</a:t>
            </a:r>
          </a:p>
          <a:p>
            <a:pPr marL="457200" lvl="0" indent="-4572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b="1" dirty="0"/>
              <a:t>Retail:</a:t>
            </a:r>
            <a:r>
              <a:rPr lang="en-US" dirty="0"/>
              <a:t> Personalized shopping experiences and inventory management.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0830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5010" y="231140"/>
            <a:ext cx="10147084" cy="2031325"/>
          </a:xfrm>
        </p:spPr>
        <p:txBody>
          <a:bodyPr/>
          <a:lstStyle/>
          <a:p>
            <a:r>
              <a:rPr lang="en-US" b="1" dirty="0"/>
              <a:t>Challenges and Future Trends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1" y="1219201"/>
            <a:ext cx="10285094" cy="6060718"/>
          </a:xfrm>
        </p:spPr>
        <p:txBody>
          <a:bodyPr/>
          <a:lstStyle/>
          <a:p>
            <a:pPr lvl="0">
              <a:lnSpc>
                <a:spcPct val="200000"/>
              </a:lnSpc>
            </a:pPr>
            <a:r>
              <a:rPr lang="en-US" b="1" dirty="0" smtClean="0">
                <a:latin typeface="Arial" panose="020B0604020202020204" pitchFamily="34" charset="0"/>
                <a:cs typeface="Arial" panose="020B0604020202020204" pitchFamily="34" charset="0"/>
              </a:rPr>
              <a:t>Challenges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Security risks due to distributed nature.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Managing a large number of edge devices.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Higher initial infrastructure costs.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>
              <a:lnSpc>
                <a:spcPct val="200000"/>
              </a:lnSpc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Future Trends: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AI-driven edge computing for smarter decision-making.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5G integration for enhanced connectivity.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Growth of edge data centers.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1630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5010" y="231140"/>
            <a:ext cx="10147084" cy="677108"/>
          </a:xfrm>
        </p:spPr>
        <p:txBody>
          <a:bodyPr/>
          <a:lstStyle/>
          <a:p>
            <a:r>
              <a:rPr lang="en-US" dirty="0"/>
              <a:t>Role of Edge Computing in IoT</a:t>
            </a:r>
            <a:endParaRPr lang="en-US" b="1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1" y="1219201"/>
            <a:ext cx="10208894" cy="4739759"/>
          </a:xfrm>
        </p:spPr>
        <p:txBody>
          <a:bodyPr/>
          <a:lstStyle/>
          <a:p>
            <a:pPr marL="457200" lvl="0" indent="-457200" algn="just">
              <a:buFont typeface="Wingdings" panose="05000000000000000000" pitchFamily="2" charset="2"/>
              <a:buChar char="v"/>
            </a:pPr>
            <a:r>
              <a:rPr lang="en-US" b="1" dirty="0" smtClean="0"/>
              <a:t>Real-Time </a:t>
            </a:r>
            <a:r>
              <a:rPr lang="en-US" b="1" dirty="0"/>
              <a:t>Processing:</a:t>
            </a:r>
            <a:r>
              <a:rPr lang="en-US" dirty="0"/>
              <a:t> Enables immediate response to IoT data without relying on cloud latency.</a:t>
            </a:r>
          </a:p>
          <a:p>
            <a:pPr marL="457200" lvl="0" indent="-457200" algn="just">
              <a:buFont typeface="Wingdings" panose="05000000000000000000" pitchFamily="2" charset="2"/>
              <a:buChar char="v"/>
            </a:pPr>
            <a:r>
              <a:rPr lang="en-US" b="1" dirty="0"/>
              <a:t>Decentralized Data Handling:</a:t>
            </a:r>
            <a:r>
              <a:rPr lang="en-US" dirty="0"/>
              <a:t> Reduces dependency on centralized cloud infrastructure, improving efficiency.</a:t>
            </a:r>
          </a:p>
          <a:p>
            <a:pPr marL="457200" lvl="0" indent="-457200" algn="just">
              <a:buFont typeface="Wingdings" panose="05000000000000000000" pitchFamily="2" charset="2"/>
              <a:buChar char="v"/>
            </a:pPr>
            <a:r>
              <a:rPr lang="en-US" b="1" dirty="0"/>
              <a:t>Bandwidth Reduction:</a:t>
            </a:r>
            <a:r>
              <a:rPr lang="en-US" dirty="0"/>
              <a:t> Filters and processes critical data at the edge, reducing unnecessary cloud communication.</a:t>
            </a:r>
          </a:p>
          <a:p>
            <a:pPr marL="457200" lvl="0" indent="-457200" algn="just">
              <a:buFont typeface="Wingdings" panose="05000000000000000000" pitchFamily="2" charset="2"/>
              <a:buChar char="v"/>
            </a:pPr>
            <a:r>
              <a:rPr lang="en-US" b="1" dirty="0"/>
              <a:t>Enhanced Security &amp; Privacy:</a:t>
            </a:r>
            <a:r>
              <a:rPr lang="en-US" dirty="0"/>
              <a:t> Data remains closer to the source, reducing risks associated with cloud storage.</a:t>
            </a:r>
          </a:p>
          <a:p>
            <a:pPr marL="457200" lvl="0" indent="-457200" algn="just">
              <a:buFont typeface="Wingdings" panose="05000000000000000000" pitchFamily="2" charset="2"/>
              <a:buChar char="v"/>
            </a:pPr>
            <a:r>
              <a:rPr lang="en-US" b="1" dirty="0"/>
              <a:t>Improved Reliability:</a:t>
            </a:r>
            <a:r>
              <a:rPr lang="en-US" dirty="0"/>
              <a:t> Works even with limited or no internet connectivity, ensuring continuous IoT operations</a:t>
            </a:r>
          </a:p>
          <a:p>
            <a:pPr marL="457200" indent="-457200" algn="just">
              <a:buFont typeface="Wingdings" panose="05000000000000000000" pitchFamily="2" charset="2"/>
              <a:buChar char="v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619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5010" y="231140"/>
            <a:ext cx="10147084" cy="1354217"/>
          </a:xfrm>
        </p:spPr>
        <p:txBody>
          <a:bodyPr/>
          <a:lstStyle/>
          <a:p>
            <a:r>
              <a:rPr lang="en-US" b="1" dirty="0"/>
              <a:t>Comparison Between Edge Computing and Cloud Computing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1" y="1585356"/>
            <a:ext cx="10208894" cy="5816977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 smtClean="0"/>
              <a:t>Edge </a:t>
            </a:r>
            <a:r>
              <a:rPr lang="en-US" dirty="0"/>
              <a:t>Computing and Cloud Computing are two paradigms that handle data processing differently. While </a:t>
            </a:r>
            <a:r>
              <a:rPr lang="en-US" b="1" dirty="0"/>
              <a:t>Cloud Computing</a:t>
            </a:r>
            <a:r>
              <a:rPr lang="en-US" dirty="0"/>
              <a:t> relies on centralized data centers, </a:t>
            </a:r>
            <a:r>
              <a:rPr lang="en-US" b="1" dirty="0"/>
              <a:t>Edge Computing</a:t>
            </a:r>
            <a:r>
              <a:rPr lang="en-US" dirty="0"/>
              <a:t> processes data closer to the source.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Below </a:t>
            </a:r>
            <a:r>
              <a:rPr lang="en-US" dirty="0"/>
              <a:t>is a detailed comparison:</a:t>
            </a:r>
          </a:p>
          <a:p>
            <a:pPr>
              <a:lnSpc>
                <a:spcPct val="150000"/>
              </a:lnSpc>
            </a:pPr>
            <a:r>
              <a:rPr lang="en-US" b="1" i="1" dirty="0"/>
              <a:t>1. Processing Location</a:t>
            </a:r>
          </a:p>
          <a:p>
            <a:pPr lvl="0">
              <a:lnSpc>
                <a:spcPct val="150000"/>
              </a:lnSpc>
            </a:pPr>
            <a:r>
              <a:rPr lang="en-US" b="1" dirty="0"/>
              <a:t>Edge Computing:</a:t>
            </a:r>
            <a:r>
              <a:rPr lang="en-US" dirty="0"/>
              <a:t> Data is processed at the edge of the network, such as IoT devices, local servers, or gateways.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827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5010" y="231140"/>
            <a:ext cx="10147084" cy="1354217"/>
          </a:xfrm>
        </p:spPr>
        <p:txBody>
          <a:bodyPr/>
          <a:lstStyle/>
          <a:p>
            <a:r>
              <a:rPr lang="en-US" b="1" dirty="0"/>
              <a:t>Comparison Between Edge Computing and Cloud Computing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1" y="1585356"/>
            <a:ext cx="10208894" cy="5601533"/>
          </a:xfrm>
        </p:spPr>
        <p:txBody>
          <a:bodyPr/>
          <a:lstStyle/>
          <a:p>
            <a:pPr lvl="0"/>
            <a:r>
              <a:rPr lang="en-US" b="1" dirty="0"/>
              <a:t>Cloud Computing:</a:t>
            </a:r>
            <a:r>
              <a:rPr lang="en-US" dirty="0"/>
              <a:t> Data is processed in centralized cloud data centers located far from the source.</a:t>
            </a:r>
          </a:p>
          <a:p>
            <a:r>
              <a:rPr lang="en-US" i="1" dirty="0"/>
              <a:t>2. Latency</a:t>
            </a:r>
            <a:endParaRPr lang="en-US" b="1" i="1" dirty="0"/>
          </a:p>
          <a:p>
            <a:pPr lvl="0"/>
            <a:r>
              <a:rPr lang="en-US" b="1" dirty="0"/>
              <a:t>Edge Computing:</a:t>
            </a:r>
            <a:r>
              <a:rPr lang="en-US" dirty="0"/>
              <a:t> Provides </a:t>
            </a:r>
            <a:r>
              <a:rPr lang="en-US" b="1" dirty="0"/>
              <a:t>low latency</a:t>
            </a:r>
            <a:r>
              <a:rPr lang="en-US" dirty="0"/>
              <a:t> as data is processed near the source, making it suitable for real-time applications.</a:t>
            </a:r>
          </a:p>
          <a:p>
            <a:pPr lvl="0"/>
            <a:r>
              <a:rPr lang="en-US" b="1" dirty="0"/>
              <a:t>Cloud Computing:</a:t>
            </a:r>
            <a:r>
              <a:rPr lang="en-US" dirty="0"/>
              <a:t> Higher latency due to data transmission to remote servers, causing delays in time-sensitive applications.</a:t>
            </a:r>
          </a:p>
          <a:p>
            <a:r>
              <a:rPr lang="en-US" i="1" dirty="0"/>
              <a:t>3. Bandwidth Usage</a:t>
            </a:r>
            <a:endParaRPr lang="en-US" b="1" i="1" dirty="0"/>
          </a:p>
          <a:p>
            <a:pPr lvl="0" algn="just"/>
            <a:r>
              <a:rPr lang="en-US" b="1" dirty="0"/>
              <a:t>Edge Computing:</a:t>
            </a:r>
            <a:r>
              <a:rPr lang="en-US" dirty="0"/>
              <a:t> Reduces bandwidth consumption by processing data locally, sending only relevant insights to the cloud.</a:t>
            </a:r>
          </a:p>
          <a:p>
            <a:pPr lvl="0" algn="just"/>
            <a:r>
              <a:rPr lang="en-US" b="1" dirty="0"/>
              <a:t>Cloud Computing:</a:t>
            </a:r>
            <a:r>
              <a:rPr lang="en-US" dirty="0"/>
              <a:t> Consumes more bandwidth as all raw data is transferred to centralized servers for processing.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703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5010" y="231140"/>
            <a:ext cx="10147084" cy="1354217"/>
          </a:xfrm>
        </p:spPr>
        <p:txBody>
          <a:bodyPr/>
          <a:lstStyle/>
          <a:p>
            <a:r>
              <a:rPr lang="en-US" b="1" dirty="0"/>
              <a:t>Comparison Between Edge Computing and Cloud Computing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1" y="1585356"/>
            <a:ext cx="10208894" cy="4739759"/>
          </a:xfrm>
        </p:spPr>
        <p:txBody>
          <a:bodyPr/>
          <a:lstStyle/>
          <a:p>
            <a:r>
              <a:rPr lang="en-US" i="1" dirty="0"/>
              <a:t>Security &amp; Privacy</a:t>
            </a:r>
            <a:endParaRPr lang="en-US" b="1" i="1" dirty="0"/>
          </a:p>
          <a:p>
            <a:pPr lvl="0" algn="just"/>
            <a:r>
              <a:rPr lang="en-US" b="1" dirty="0"/>
              <a:t>Edge Computing:</a:t>
            </a:r>
            <a:r>
              <a:rPr lang="en-US" dirty="0"/>
              <a:t> More secure as sensitive data is processed locally, reducing risks associated with data transmission.</a:t>
            </a:r>
          </a:p>
          <a:p>
            <a:pPr lvl="0" algn="just"/>
            <a:r>
              <a:rPr lang="en-US" b="1" dirty="0"/>
              <a:t>Cloud Computing:</a:t>
            </a:r>
            <a:r>
              <a:rPr lang="en-US" dirty="0"/>
              <a:t> Security risks are higher due to centralized data storage and potential exposure during transmission.</a:t>
            </a:r>
          </a:p>
          <a:p>
            <a:pPr algn="just"/>
            <a:r>
              <a:rPr lang="en-US" i="1" dirty="0"/>
              <a:t>5. Reliability &amp; Availability</a:t>
            </a:r>
            <a:endParaRPr lang="en-US" b="1" i="1" dirty="0"/>
          </a:p>
          <a:p>
            <a:pPr lvl="0" algn="just"/>
            <a:r>
              <a:rPr lang="en-US" b="1" dirty="0"/>
              <a:t>Edge Computing:</a:t>
            </a:r>
            <a:r>
              <a:rPr lang="en-US" dirty="0"/>
              <a:t> Works even with </a:t>
            </a:r>
            <a:r>
              <a:rPr lang="en-US" b="1" dirty="0"/>
              <a:t>limited or no internet connectivity</a:t>
            </a:r>
            <a:r>
              <a:rPr lang="en-US" dirty="0"/>
              <a:t>, making it more reliable in remote areas.</a:t>
            </a:r>
          </a:p>
          <a:p>
            <a:pPr lvl="0" algn="just"/>
            <a:r>
              <a:rPr lang="en-US" b="1" dirty="0"/>
              <a:t>Cloud Computing:</a:t>
            </a:r>
            <a:r>
              <a:rPr lang="en-US" dirty="0"/>
              <a:t> Requires </a:t>
            </a:r>
            <a:r>
              <a:rPr lang="en-US" b="1" dirty="0"/>
              <a:t>continuous internet connectivity</a:t>
            </a:r>
            <a:r>
              <a:rPr lang="en-US" dirty="0"/>
              <a:t> for real-time access and data processing.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8091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5010" y="231140"/>
            <a:ext cx="10147084" cy="1354217"/>
          </a:xfrm>
        </p:spPr>
        <p:txBody>
          <a:bodyPr/>
          <a:lstStyle/>
          <a:p>
            <a:r>
              <a:rPr lang="en-US" b="1" dirty="0"/>
              <a:t>Comparison Between Edge Computing and Cloud Computing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6939" y="1801495"/>
            <a:ext cx="10206355" cy="5170646"/>
          </a:xfrm>
        </p:spPr>
        <p:txBody>
          <a:bodyPr/>
          <a:lstStyle/>
          <a:p>
            <a:r>
              <a:rPr lang="en-US" i="1" dirty="0"/>
              <a:t>6. Scalability</a:t>
            </a:r>
            <a:endParaRPr lang="en-US" b="1" i="1" dirty="0"/>
          </a:p>
          <a:p>
            <a:pPr lvl="0"/>
            <a:r>
              <a:rPr lang="en-US" b="1" dirty="0"/>
              <a:t>Edge Computing:</a:t>
            </a:r>
            <a:r>
              <a:rPr lang="en-US" dirty="0"/>
              <a:t> Scalability is </a:t>
            </a:r>
            <a:r>
              <a:rPr lang="en-US" b="1" dirty="0"/>
              <a:t>limited</a:t>
            </a:r>
            <a:r>
              <a:rPr lang="en-US" dirty="0"/>
              <a:t> by local hardware constraints, making it more difficult to scale compared to the cloud.</a:t>
            </a:r>
          </a:p>
          <a:p>
            <a:pPr lvl="0"/>
            <a:r>
              <a:rPr lang="en-US" b="1" dirty="0"/>
              <a:t>Cloud Computing:</a:t>
            </a:r>
            <a:r>
              <a:rPr lang="en-US" dirty="0"/>
              <a:t> Easily </a:t>
            </a:r>
            <a:r>
              <a:rPr lang="en-US" b="1" dirty="0"/>
              <a:t>scalable</a:t>
            </a:r>
            <a:r>
              <a:rPr lang="en-US" dirty="0"/>
              <a:t> with flexible storage and processing power in large-scale data centers</a:t>
            </a:r>
            <a:r>
              <a:rPr lang="en-US" dirty="0" smtClean="0"/>
              <a:t>.</a:t>
            </a:r>
          </a:p>
          <a:p>
            <a:r>
              <a:rPr lang="en-US" i="1" dirty="0" smtClean="0"/>
              <a:t>7. Cost </a:t>
            </a:r>
            <a:r>
              <a:rPr lang="en-US" i="1" dirty="0"/>
              <a:t>Efficiency</a:t>
            </a:r>
            <a:endParaRPr lang="en-US" b="1" i="1" dirty="0"/>
          </a:p>
          <a:p>
            <a:pPr lvl="0"/>
            <a:r>
              <a:rPr lang="en-US" b="1" dirty="0"/>
              <a:t>Edge Computing:</a:t>
            </a:r>
            <a:r>
              <a:rPr lang="en-US" dirty="0"/>
              <a:t> Reduces </a:t>
            </a:r>
            <a:r>
              <a:rPr lang="en-US" b="1" dirty="0"/>
              <a:t>operational costs</a:t>
            </a:r>
            <a:r>
              <a:rPr lang="en-US" dirty="0"/>
              <a:t> by lowering bandwidth usage and cloud dependency but may have higher hardware costs.</a:t>
            </a:r>
          </a:p>
          <a:p>
            <a:pPr lvl="0"/>
            <a:r>
              <a:rPr lang="en-US" b="1" dirty="0"/>
              <a:t>Cloud Computing:</a:t>
            </a:r>
            <a:r>
              <a:rPr lang="en-US" dirty="0"/>
              <a:t> Lower hardware costs but </a:t>
            </a:r>
            <a:r>
              <a:rPr lang="en-US" b="1" dirty="0"/>
              <a:t>higher operational costs</a:t>
            </a:r>
            <a:r>
              <a:rPr lang="en-US" dirty="0"/>
              <a:t> for data transmission and storage.</a:t>
            </a:r>
          </a:p>
          <a:p>
            <a:pPr lvl="0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6173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5010" y="231140"/>
            <a:ext cx="10147084" cy="1354217"/>
          </a:xfrm>
        </p:spPr>
        <p:txBody>
          <a:bodyPr/>
          <a:lstStyle/>
          <a:p>
            <a:r>
              <a:rPr lang="en-US" b="1" dirty="0"/>
              <a:t>Comparison Between Edge Computing and Cloud Computing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6939" y="1801495"/>
            <a:ext cx="10206355" cy="5601533"/>
          </a:xfrm>
        </p:spPr>
        <p:txBody>
          <a:bodyPr/>
          <a:lstStyle/>
          <a:p>
            <a:pPr algn="just"/>
            <a:r>
              <a:rPr lang="en-US" i="1" dirty="0" smtClean="0"/>
              <a:t>8. Real-Time </a:t>
            </a:r>
            <a:r>
              <a:rPr lang="en-US" i="1" dirty="0"/>
              <a:t>Decision Making</a:t>
            </a:r>
            <a:endParaRPr lang="en-US" b="1" i="1" dirty="0"/>
          </a:p>
          <a:p>
            <a:pPr lvl="0" algn="just"/>
            <a:r>
              <a:rPr lang="en-US" b="1" dirty="0"/>
              <a:t>Edge Computing:</a:t>
            </a:r>
            <a:r>
              <a:rPr lang="en-US" dirty="0"/>
              <a:t> Supports </a:t>
            </a:r>
            <a:r>
              <a:rPr lang="en-US" b="1" dirty="0"/>
              <a:t>real-time processing</a:t>
            </a:r>
            <a:r>
              <a:rPr lang="en-US" dirty="0"/>
              <a:t>, making it ideal for applications like </a:t>
            </a:r>
            <a:r>
              <a:rPr lang="en-US" b="1" dirty="0"/>
              <a:t>autonomous vehicles, smart grids, and healthcare monitoring</a:t>
            </a:r>
            <a:r>
              <a:rPr lang="en-US" dirty="0"/>
              <a:t>.</a:t>
            </a:r>
          </a:p>
          <a:p>
            <a:pPr lvl="0" algn="just"/>
            <a:r>
              <a:rPr lang="en-US" b="1" dirty="0"/>
              <a:t>Cloud Computing:</a:t>
            </a:r>
            <a:r>
              <a:rPr lang="en-US" dirty="0"/>
              <a:t> Slower response time due to network dependency, which is unsuitable for </a:t>
            </a:r>
            <a:r>
              <a:rPr lang="en-US" b="1" dirty="0"/>
              <a:t>time-sensitive applications</a:t>
            </a:r>
            <a:r>
              <a:rPr lang="en-US" dirty="0"/>
              <a:t>.</a:t>
            </a:r>
          </a:p>
          <a:p>
            <a:pPr algn="just"/>
            <a:r>
              <a:rPr lang="en-US" i="1" dirty="0"/>
              <a:t>9. Use Cases</a:t>
            </a:r>
            <a:endParaRPr lang="en-US" b="1" i="1" dirty="0"/>
          </a:p>
          <a:p>
            <a:pPr lvl="0" algn="just"/>
            <a:r>
              <a:rPr lang="en-US" b="1" dirty="0"/>
              <a:t>Edge Computing:</a:t>
            </a:r>
            <a:r>
              <a:rPr lang="en-US" dirty="0"/>
              <a:t> Suitable for </a:t>
            </a:r>
            <a:r>
              <a:rPr lang="en-US" b="1" dirty="0"/>
              <a:t>Autonomous Vehicles, Industrial IoT (IIoT), Smart Cities, Remote Healthcare, and Security Surveillance</a:t>
            </a:r>
            <a:r>
              <a:rPr lang="en-US" dirty="0"/>
              <a:t>.</a:t>
            </a:r>
          </a:p>
          <a:p>
            <a:pPr lvl="0" algn="just"/>
            <a:r>
              <a:rPr lang="en-US" b="1" dirty="0"/>
              <a:t>Cloud Computing:</a:t>
            </a:r>
            <a:r>
              <a:rPr lang="en-US" dirty="0"/>
              <a:t> Used for </a:t>
            </a:r>
            <a:r>
              <a:rPr lang="en-US" b="1" dirty="0"/>
              <a:t>Big Data Analysis, AI Model Training, Centralized Data Storage, and Enterprise Applications</a:t>
            </a:r>
            <a:r>
              <a:rPr lang="en-US" dirty="0"/>
              <a:t>.</a:t>
            </a:r>
          </a:p>
          <a:p>
            <a:pPr lvl="0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1934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5010" y="231140"/>
            <a:ext cx="10147084" cy="1354217"/>
          </a:xfrm>
        </p:spPr>
        <p:txBody>
          <a:bodyPr/>
          <a:lstStyle/>
          <a:p>
            <a:r>
              <a:rPr lang="en-US" b="1" dirty="0"/>
              <a:t>Comparison Between Edge Computing and Cloud Computing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6939" y="1801495"/>
            <a:ext cx="10589261" cy="4308872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i="1" dirty="0" smtClean="0"/>
              <a:t>10.Energy </a:t>
            </a:r>
            <a:r>
              <a:rPr lang="en-US" i="1" dirty="0"/>
              <a:t>Consumption</a:t>
            </a:r>
            <a:endParaRPr lang="en-US" b="1" i="1" dirty="0"/>
          </a:p>
          <a:p>
            <a:pPr lvl="0" algn="just">
              <a:lnSpc>
                <a:spcPct val="150000"/>
              </a:lnSpc>
            </a:pPr>
            <a:r>
              <a:rPr lang="en-US" b="1" dirty="0"/>
              <a:t>Edge Computing:</a:t>
            </a:r>
            <a:r>
              <a:rPr lang="en-US" dirty="0"/>
              <a:t> More </a:t>
            </a:r>
            <a:r>
              <a:rPr lang="en-US" b="1" dirty="0"/>
              <a:t>energy-efficient</a:t>
            </a:r>
            <a:r>
              <a:rPr lang="en-US" dirty="0"/>
              <a:t> as it processes data locally, reducing the need for data transfer.</a:t>
            </a:r>
          </a:p>
          <a:p>
            <a:pPr lvl="0" algn="just">
              <a:lnSpc>
                <a:spcPct val="150000"/>
              </a:lnSpc>
            </a:pPr>
            <a:r>
              <a:rPr lang="en-US" b="1" dirty="0"/>
              <a:t>Cloud Computing:</a:t>
            </a:r>
            <a:r>
              <a:rPr lang="en-US" dirty="0"/>
              <a:t> Requires large-scale </a:t>
            </a:r>
            <a:r>
              <a:rPr lang="en-US" b="1" dirty="0"/>
              <a:t>data centers</a:t>
            </a:r>
            <a:r>
              <a:rPr lang="en-US" dirty="0"/>
              <a:t>, which consume significant energy for storage and computing.</a:t>
            </a:r>
          </a:p>
          <a:p>
            <a:pPr lvl="0" algn="just">
              <a:lnSpc>
                <a:spcPct val="150000"/>
              </a:lnSpc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8934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87508" y="4258474"/>
            <a:ext cx="684076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3.7 IOT Security </a:t>
            </a:r>
            <a:r>
              <a:rPr lang="en-US" sz="3200" b="1" smtClean="0">
                <a:latin typeface="Arial" panose="020B0604020202020204" pitchFamily="34" charset="0"/>
                <a:cs typeface="Arial" panose="020B0604020202020204" pitchFamily="34" charset="0"/>
              </a:rPr>
              <a:t>for IoT </a:t>
            </a:r>
            <a:r>
              <a:rPr lang="en-US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Application</a:t>
            </a:r>
            <a:endParaRPr lang="en-US" sz="2700" b="1" dirty="0">
              <a:cs typeface="Times New Roman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1846" y="2024846"/>
            <a:ext cx="2064544" cy="1812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6003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xmlns="" id="{7E60093F-0782-A66A-5E6C-EE0498255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2650" y="2060849"/>
            <a:ext cx="7886700" cy="1071189"/>
          </a:xfrm>
        </p:spPr>
        <p:txBody>
          <a:bodyPr>
            <a:normAutofit/>
          </a:bodyPr>
          <a:lstStyle/>
          <a:p>
            <a:pPr algn="ctr"/>
            <a:r>
              <a:rPr lang="en-IN" sz="5400" b="1" i="1" dirty="0">
                <a:solidFill>
                  <a:srgbClr val="FF0000"/>
                </a:solidFill>
                <a:latin typeface="Castellar" panose="020A0402060406010301" pitchFamily="18" charset="0"/>
              </a:rPr>
              <a:t>Thank You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C05E76C-FA83-ED85-351A-568D3DAA5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Module 1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2EA34983-4E20-35B0-4F7D-2E95E1DA6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A9F74-F044-47D8-B51B-A9D52BA69BA6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90354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513</TotalTime>
  <Words>972</Words>
  <Application>Microsoft Office PowerPoint</Application>
  <PresentationFormat>Widescreen</PresentationFormat>
  <Paragraphs>117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Castellar</vt:lpstr>
      <vt:lpstr>Times New Roman</vt:lpstr>
      <vt:lpstr>Wingdings</vt:lpstr>
      <vt:lpstr>Office Theme</vt:lpstr>
      <vt:lpstr>Module 3</vt:lpstr>
      <vt:lpstr>Introduction to Edge and Fog Computing </vt:lpstr>
      <vt:lpstr>Introduction to Edge and Fog Computing </vt:lpstr>
      <vt:lpstr>Need for Edge Computing in IoT</vt:lpstr>
      <vt:lpstr>How Edge Computing Works  </vt:lpstr>
      <vt:lpstr>Advantages of Edge Computing in IoT  </vt:lpstr>
      <vt:lpstr> </vt:lpstr>
      <vt:lpstr>Real-World Applications of Edge Computing  </vt:lpstr>
      <vt:lpstr>Challenges and Future Trends  </vt:lpstr>
      <vt:lpstr>Role of Edge Computing in IoT</vt:lpstr>
      <vt:lpstr>Comparison Between Edge Computing and Cloud Computing</vt:lpstr>
      <vt:lpstr>Comparison Between Edge Computing and Cloud Computing</vt:lpstr>
      <vt:lpstr>Comparison Between Edge Computing and Cloud Computing</vt:lpstr>
      <vt:lpstr>Comparison Between Edge Computing and Cloud Computing</vt:lpstr>
      <vt:lpstr>Comparison Between Edge Computing and Cloud Computing</vt:lpstr>
      <vt:lpstr>Comparison Between Edge Computing and Cloud Computing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dc:description/>
  <cp:lastModifiedBy>hp</cp:lastModifiedBy>
  <cp:revision>45</cp:revision>
  <dcterms:created xsi:type="dcterms:W3CDTF">2025-01-07T16:10:46Z</dcterms:created>
  <dcterms:modified xsi:type="dcterms:W3CDTF">2026-03-23T06:46:41Z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2018-01-17T00:00:00Z</vt:filetime>
  </property>
  <property fmtid="{D5CDD505-2E9C-101B-9397-08002B2CF9AE}" pid="3" name="LastSaved">
    <vt:filetime>2025-01-07T00:00:00Z</vt:filetime>
  </property>
  <property fmtid="{D5CDD505-2E9C-101B-9397-08002B2CF9AE}" pid="4" name="SourceModified">
    <vt:lpwstr>D:20180117165321+11'23'</vt:lpwstr>
  </property>
</Properties>
</file>