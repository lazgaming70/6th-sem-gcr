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70" r:id="rId2"/>
    <p:sldId id="285" r:id="rId3"/>
    <p:sldId id="286" r:id="rId4"/>
    <p:sldId id="317" r:id="rId5"/>
    <p:sldId id="318" r:id="rId6"/>
    <p:sldId id="287" r:id="rId7"/>
    <p:sldId id="346" r:id="rId8"/>
    <p:sldId id="347" r:id="rId9"/>
    <p:sldId id="348" r:id="rId10"/>
    <p:sldId id="349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62" r:id="rId33"/>
    <p:sldId id="363" r:id="rId34"/>
    <p:sldId id="364" r:id="rId35"/>
    <p:sldId id="365" r:id="rId36"/>
  </p:sldIdLst>
  <p:sldSz cx="6845300" cy="5130800"/>
  <p:notesSz cx="6845300" cy="5130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122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7038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76675" y="0"/>
            <a:ext cx="2967038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6FD27-DD90-4FC9-B63B-48F4BE19C02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641350"/>
            <a:ext cx="2311400" cy="1731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4213" y="2468563"/>
            <a:ext cx="5476875" cy="20208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73625"/>
            <a:ext cx="2967038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76675" y="4873625"/>
            <a:ext cx="2967038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87641-C35D-48E2-84E8-9E17E197B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65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A1DD9A-60FA-4D5B-B48C-D8976FA3BEC2}" type="slidenum">
              <a:rPr lang="en-IN" altLang="en-US" smtClean="0">
                <a:latin typeface="Calibri" panose="020F0502020204030204" pitchFamily="34" charset="0"/>
              </a:rPr>
              <a:pPr/>
              <a:t>1</a:t>
            </a:fld>
            <a:endParaRPr lang="en-IN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0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45299" cy="5129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3266" y="298259"/>
            <a:ext cx="5482590" cy="1306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7747" y="2873248"/>
            <a:ext cx="4796155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582" y="1180084"/>
            <a:ext cx="2980467" cy="3386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28599" y="1180084"/>
            <a:ext cx="2980467" cy="3386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45299" cy="51291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527" y="57663"/>
            <a:ext cx="577913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696" y="842556"/>
            <a:ext cx="5931535" cy="2945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29561" y="4771644"/>
            <a:ext cx="2192528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582" y="4771644"/>
            <a:ext cx="1575879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3188" y="4771644"/>
            <a:ext cx="1575879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e2Mu05eQl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081265" y="419131"/>
            <a:ext cx="4854003" cy="276551"/>
          </a:xfrm>
        </p:spPr>
        <p:txBody>
          <a:bodyPr/>
          <a:lstStyle/>
          <a:p>
            <a:pPr algn="ctr"/>
            <a:r>
              <a:rPr lang="en-IN" altLang="en-US" sz="1797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3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93477" y="982408"/>
            <a:ext cx="5658347" cy="1890774"/>
          </a:xfrm>
        </p:spPr>
        <p:txBody>
          <a:bodyPr/>
          <a:lstStyle/>
          <a:p>
            <a:pPr algn="just"/>
            <a:r>
              <a:rPr lang="en-US" altLang="en-US" sz="1536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AND DATA ANALYTICS FOR IOT</a:t>
            </a:r>
            <a:r>
              <a:rPr lang="en-US" altLang="en-US" sz="153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 algn="just"/>
            <a:r>
              <a:rPr lang="en-US" altLang="en-US" sz="153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Cloud: Types of Cloud - loT with Cloud challenges - Selection of cloud for loT applications - Fog and Edge computing for loT - Cloud security aspects for loT applications. </a:t>
            </a:r>
            <a:r>
              <a:rPr lang="en-US" altLang="en-US" sz="1536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Analytics for IoT: Overview of Hadoop ecosystem</a:t>
            </a:r>
            <a:r>
              <a:rPr lang="en-US" altLang="en-US" sz="153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MapReduce architecture – MapReduce Job Execution – MapReduce Schedulers. Case study: Internet of Medical Things (IoMT</a:t>
            </a:r>
            <a:r>
              <a:rPr lang="en-US" altLang="en-US" sz="128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28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404044" y="640160"/>
            <a:ext cx="531224" cy="1209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17115" indent="-160429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1716" indent="-12834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98403" indent="-12834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55090" indent="-12834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411776" indent="-1283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668463" indent="-1283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925149" indent="-1283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181836" indent="-1283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D58B0F9-C55A-48A8-A0FF-1ADC7A560F4D}" type="slidenum">
              <a:rPr lang="en-IN" altLang="en-US" sz="786" b="1">
                <a:solidFill>
                  <a:srgbClr val="898989"/>
                </a:solidFill>
              </a:rPr>
              <a:pPr/>
              <a:t>1</a:t>
            </a:fld>
            <a:endParaRPr lang="en-IN" altLang="en-US" sz="786" b="1">
              <a:solidFill>
                <a:srgbClr val="898989"/>
              </a:solidFill>
            </a:endParaRPr>
          </a:p>
        </p:txBody>
      </p:sp>
      <p:sp>
        <p:nvSpPr>
          <p:cNvPr id="9221" name="Footer Placeholder 3"/>
          <p:cNvSpPr txBox="1">
            <a:spLocks/>
          </p:cNvSpPr>
          <p:nvPr/>
        </p:nvSpPr>
        <p:spPr bwMode="auto">
          <a:xfrm>
            <a:off x="956382" y="4231269"/>
            <a:ext cx="1625759" cy="20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786">
                <a:latin typeface="Arial" panose="020B0604020202020204" pitchFamily="34" charset="0"/>
              </a:rPr>
              <a:t>Module 2</a:t>
            </a:r>
          </a:p>
        </p:txBody>
      </p:sp>
      <p:sp>
        <p:nvSpPr>
          <p:cNvPr id="9222" name="TextBox 7"/>
          <p:cNvSpPr txBox="1">
            <a:spLocks noChangeArrowheads="1"/>
          </p:cNvSpPr>
          <p:nvPr/>
        </p:nvSpPr>
        <p:spPr bwMode="auto">
          <a:xfrm>
            <a:off x="2472508" y="4006658"/>
            <a:ext cx="2218392" cy="2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 sz="1123" b="1" dirty="0">
                <a:solidFill>
                  <a:srgbClr val="C00000"/>
                </a:solidFill>
              </a:rPr>
              <a:t>Watch this video: </a:t>
            </a:r>
            <a:r>
              <a:rPr lang="en-IN" altLang="en-US" sz="1123" b="1" dirty="0">
                <a:solidFill>
                  <a:srgbClr val="C00000"/>
                </a:solidFill>
                <a:hlinkClick r:id="rId3"/>
              </a:rPr>
              <a:t>Click Here</a:t>
            </a:r>
            <a:endParaRPr lang="en-US" altLang="en-US" sz="1123" u="sng" dirty="0"/>
          </a:p>
        </p:txBody>
      </p:sp>
      <p:sp>
        <p:nvSpPr>
          <p:cNvPr id="10" name="object 2"/>
          <p:cNvSpPr/>
          <p:nvPr/>
        </p:nvSpPr>
        <p:spPr>
          <a:xfrm>
            <a:off x="-56153" y="2897862"/>
            <a:ext cx="2348616" cy="14216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916"/>
          </a:p>
        </p:txBody>
      </p:sp>
      <p:pic>
        <p:nvPicPr>
          <p:cNvPr id="922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3163473"/>
            <a:ext cx="855663" cy="9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11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23191"/>
            <a:ext cx="6845299" cy="51292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758950" y="448610"/>
            <a:ext cx="5843812" cy="580628"/>
          </a:xfrm>
          <a:prstGeom prst="rect">
            <a:avLst/>
          </a:prstGeom>
        </p:spPr>
        <p:txBody>
          <a:bodyPr vert="horz" wrap="square" lIns="0" tIns="201633" rIns="0" bIns="0" rtlCol="0">
            <a:spAutoFit/>
          </a:bodyPr>
          <a:lstStyle/>
          <a:p>
            <a:pPr marL="1950720">
              <a:lnSpc>
                <a:spcPct val="100000"/>
              </a:lnSpc>
              <a:spcBef>
                <a:spcPts val="110"/>
              </a:spcBef>
            </a:pPr>
            <a:r>
              <a:rPr sz="2450" spc="70" dirty="0"/>
              <a:t>Hadoop</a:t>
            </a:r>
            <a:r>
              <a:rPr sz="2450" spc="-175" dirty="0"/>
              <a:t> </a:t>
            </a:r>
            <a:r>
              <a:rPr sz="2450" spc="-10" dirty="0"/>
              <a:t>Ecosystem</a:t>
            </a:r>
            <a:endParaRPr sz="2450" dirty="0"/>
          </a:p>
        </p:txBody>
      </p:sp>
      <p:sp>
        <p:nvSpPr>
          <p:cNvPr id="4" name="object 4"/>
          <p:cNvSpPr txBox="1"/>
          <p:nvPr/>
        </p:nvSpPr>
        <p:spPr>
          <a:xfrm>
            <a:off x="69850" y="1346200"/>
            <a:ext cx="6629400" cy="251992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marR="5080" indent="-285750" algn="just">
              <a:lnSpc>
                <a:spcPct val="150000"/>
              </a:lnSpc>
              <a:spcBef>
                <a:spcPts val="110"/>
              </a:spcBef>
              <a:buFont typeface="Wingdings" panose="05000000000000000000" pitchFamily="2" charset="2"/>
              <a:buChar char="v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refers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8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4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open-source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projects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0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together </a:t>
            </a:r>
            <a:r>
              <a:rPr spc="8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provide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10" dirty="0">
                <a:latin typeface="Arial" panose="020B0604020202020204" pitchFamily="34" charset="0"/>
                <a:cs typeface="Arial" panose="020B0604020202020204" pitchFamily="34" charset="0"/>
              </a:rPr>
              <a:t>comprehensive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managing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datasets,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often </a:t>
            </a:r>
            <a:r>
              <a:rPr spc="45" dirty="0">
                <a:latin typeface="Arial" panose="020B0604020202020204" pitchFamily="34" charset="0"/>
                <a:cs typeface="Arial" panose="020B0604020202020204" pitchFamily="34" charset="0"/>
              </a:rPr>
              <a:t>referred</a:t>
            </a:r>
            <a:r>
              <a:rPr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8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Big</a:t>
            </a:r>
            <a:r>
              <a:rPr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r>
              <a:rPr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spc="-14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marR="5080" indent="-285750" algn="just">
              <a:lnSpc>
                <a:spcPct val="150000"/>
              </a:lnSpc>
              <a:spcBef>
                <a:spcPts val="110"/>
              </a:spcBef>
              <a:buFont typeface="Wingdings" panose="05000000000000000000" pitchFamily="2" charset="2"/>
              <a:buChar char="v"/>
            </a:pPr>
            <a:r>
              <a:rPr spc="-70" dirty="0" smtClean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pc="-1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built</a:t>
            </a:r>
            <a:r>
              <a:rPr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Hadoop,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35" dirty="0">
                <a:latin typeface="Arial" panose="020B0604020202020204" pitchFamily="34" charset="0"/>
                <a:cs typeface="Arial" panose="020B0604020202020204" pitchFamily="34" charset="0"/>
              </a:rPr>
              <a:t>distributed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6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massive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r>
              <a:rPr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85;p12"/>
          <p:cNvSpPr txBox="1"/>
          <p:nvPr/>
        </p:nvSpPr>
        <p:spPr>
          <a:xfrm>
            <a:off x="0" y="0"/>
            <a:ext cx="6845300" cy="3213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2642" tIns="31313" rIns="62642" bIns="31313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96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096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920" y="902793"/>
            <a:ext cx="6477000" cy="415754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05104" indent="-192405" algn="just">
              <a:lnSpc>
                <a:spcPct val="150000"/>
              </a:lnSpc>
              <a:spcBef>
                <a:spcPts val="240"/>
              </a:spcBef>
              <a:buAutoNum type="arabicPeriod"/>
              <a:tabLst>
                <a:tab pos="205104" algn="l"/>
              </a:tabLst>
            </a:pP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z="1600" b="1" spc="95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sz="1600" b="1" spc="1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Components:</a:t>
            </a:r>
            <a:endParaRPr sz="16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" marR="62230" lvl="1" algn="just">
              <a:lnSpc>
                <a:spcPct val="150000"/>
              </a:lnSpc>
              <a:spcBef>
                <a:spcPts val="90"/>
              </a:spcBef>
              <a:buSzPct val="96296"/>
              <a:tabLst>
                <a:tab pos="78740" algn="l"/>
              </a:tabLst>
            </a:pPr>
            <a:r>
              <a:rPr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z="1600" b="1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r>
              <a:rPr sz="1600" b="1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sz="1600" b="1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1600" b="1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5" dirty="0">
                <a:latin typeface="Arial" panose="020B0604020202020204" pitchFamily="34" charset="0"/>
                <a:cs typeface="Arial" panose="020B0604020202020204" pitchFamily="34" charset="0"/>
              </a:rPr>
              <a:t>(HDFS):</a:t>
            </a:r>
            <a:r>
              <a:rPr sz="1600" b="1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r>
              <a:rPr sz="16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16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designed</a:t>
            </a:r>
            <a:r>
              <a:rPr sz="16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amounts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machines.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breaks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smaller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stores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them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various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nodes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fault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  <a:r>
              <a:rPr sz="16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" marR="75565" lvl="1" algn="just">
              <a:lnSpc>
                <a:spcPct val="150000"/>
              </a:lnSpc>
              <a:spcBef>
                <a:spcPts val="45"/>
              </a:spcBef>
              <a:buSzPct val="96296"/>
              <a:tabLst>
                <a:tab pos="78740" algn="l"/>
              </a:tabLst>
            </a:pPr>
            <a:r>
              <a:rPr lang="en-US" sz="1600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1600" b="1" spc="20" dirty="0" smtClean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sz="1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sz="1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sz="1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z="1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  <a:r>
              <a:rPr sz="16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clusters.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splits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chunks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processes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them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0" dirty="0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(filtering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sorting)</a:t>
            </a: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Reduce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(aggregating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results).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345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7920" y="533461"/>
            <a:ext cx="6044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n-US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  <a:r>
              <a:rPr lang="en-US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lang="en-US" b="1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r>
              <a:rPr lang="en-US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85;p12"/>
          <p:cNvSpPr txBox="1"/>
          <p:nvPr/>
        </p:nvSpPr>
        <p:spPr>
          <a:xfrm>
            <a:off x="0" y="0"/>
            <a:ext cx="6845300" cy="3213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2642" tIns="31313" rIns="62642" bIns="31313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96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096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250" y="97588"/>
            <a:ext cx="6409055" cy="47218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5"/>
              </a:spcBef>
            </a:pPr>
            <a:endParaRPr sz="1350" dirty="0">
              <a:latin typeface="Tahoma"/>
              <a:cs typeface="Tahoma"/>
            </a:endParaRPr>
          </a:p>
          <a:p>
            <a:pPr marL="198755" indent="-186055" algn="just">
              <a:lnSpc>
                <a:spcPct val="150000"/>
              </a:lnSpc>
              <a:buAutoNum type="arabicPeriod" startAt="2"/>
              <a:tabLst>
                <a:tab pos="198755" algn="l"/>
              </a:tabLst>
            </a:pP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z="1600" b="1" spc="75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r>
              <a:rPr sz="1600" b="1" spc="75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1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Tools:</a:t>
            </a:r>
            <a:endParaRPr sz="16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740" lvl="1" indent="-69850" algn="just">
              <a:lnSpc>
                <a:spcPct val="150000"/>
              </a:lnSpc>
              <a:spcBef>
                <a:spcPts val="125"/>
              </a:spcBef>
              <a:buSzPct val="96296"/>
              <a:buFont typeface="Arial MT"/>
              <a:buChar char="•"/>
              <a:tabLst>
                <a:tab pos="78740" algn="l"/>
              </a:tabLst>
            </a:pPr>
            <a:r>
              <a:rPr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Apache</a:t>
            </a:r>
            <a:r>
              <a:rPr sz="1600" b="1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Hive: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warehouse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built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top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Hadoop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managing</a:t>
            </a:r>
            <a:r>
              <a:rPr sz="16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datasets.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Hive</a:t>
            </a:r>
            <a:r>
              <a:rPr sz="1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provides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SQL-like</a:t>
            </a:r>
            <a:r>
              <a:rPr sz="16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language,</a:t>
            </a:r>
            <a:r>
              <a:rPr sz="16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HiveQL,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querying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manner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traditional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databases.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110489" lvl="1" indent="-3810" algn="just">
              <a:lnSpc>
                <a:spcPct val="150000"/>
              </a:lnSpc>
              <a:spcBef>
                <a:spcPts val="110"/>
              </a:spcBef>
              <a:buSzPct val="96296"/>
              <a:buFont typeface="Arial MT"/>
              <a:buChar char="•"/>
              <a:tabLst>
                <a:tab pos="78740" algn="l"/>
              </a:tabLs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Apache</a:t>
            </a:r>
            <a:r>
              <a:rPr sz="16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HBase:</a:t>
            </a:r>
            <a:r>
              <a:rPr sz="16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r>
              <a:rPr sz="16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built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top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storing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volumes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columnar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format.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 is</a:t>
            </a:r>
            <a:r>
              <a:rPr sz="1600"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suitable for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read/write access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datasets.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222250" lvl="1" indent="-3810" algn="just">
              <a:lnSpc>
                <a:spcPct val="150000"/>
              </a:lnSpc>
              <a:spcBef>
                <a:spcPts val="100"/>
              </a:spcBef>
              <a:buSzPct val="96296"/>
              <a:buFont typeface="Arial MT"/>
              <a:buChar char="•"/>
              <a:tabLst>
                <a:tab pos="78740" algn="l"/>
              </a:tabLs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Apache</a:t>
            </a:r>
            <a:r>
              <a:rPr sz="16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Pig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high-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creating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programs.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Pig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uses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called</a:t>
            </a:r>
            <a:r>
              <a:rPr sz="16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Pig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Latin,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simplifies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7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writing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complex 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sz="1600"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jobs.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85;p12"/>
          <p:cNvSpPr txBox="1"/>
          <p:nvPr/>
        </p:nvSpPr>
        <p:spPr>
          <a:xfrm>
            <a:off x="0" y="0"/>
            <a:ext cx="6845300" cy="3213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2642" tIns="31313" rIns="62642" bIns="31313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96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096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771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101600"/>
            <a:ext cx="6845299" cy="51292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494" y="584200"/>
            <a:ext cx="5431156" cy="34817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dirty="0"/>
              <a:t>Key</a:t>
            </a:r>
            <a:r>
              <a:rPr sz="2150" b="1" spc="-20" dirty="0"/>
              <a:t> </a:t>
            </a:r>
            <a:r>
              <a:rPr sz="2150" b="1" dirty="0"/>
              <a:t>Concepts</a:t>
            </a:r>
            <a:r>
              <a:rPr sz="2150" b="1" spc="-15" dirty="0"/>
              <a:t> </a:t>
            </a:r>
            <a:r>
              <a:rPr sz="2150" b="1" spc="85" dirty="0"/>
              <a:t>of</a:t>
            </a:r>
            <a:r>
              <a:rPr sz="2150" b="1" spc="-15" dirty="0"/>
              <a:t> </a:t>
            </a:r>
            <a:r>
              <a:rPr sz="2150" b="1" spc="75" dirty="0"/>
              <a:t>Hadoop</a:t>
            </a:r>
            <a:r>
              <a:rPr sz="2150" b="1" spc="-15" dirty="0"/>
              <a:t> </a:t>
            </a:r>
            <a:r>
              <a:rPr sz="2150" b="1" spc="-10" dirty="0"/>
              <a:t>Ecosystem</a:t>
            </a:r>
            <a:r>
              <a:rPr sz="2150" spc="-10" dirty="0"/>
              <a:t>:</a:t>
            </a:r>
            <a:endParaRPr sz="2150" dirty="0"/>
          </a:p>
        </p:txBody>
      </p:sp>
      <p:sp>
        <p:nvSpPr>
          <p:cNvPr id="4" name="object 4"/>
          <p:cNvSpPr txBox="1"/>
          <p:nvPr/>
        </p:nvSpPr>
        <p:spPr>
          <a:xfrm>
            <a:off x="277494" y="1270000"/>
            <a:ext cx="6290310" cy="314188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328930" indent="-8255" algn="just">
              <a:lnSpc>
                <a:spcPct val="200000"/>
              </a:lnSpc>
              <a:spcBef>
                <a:spcPts val="60"/>
              </a:spcBef>
              <a:buSzPct val="97368"/>
              <a:buFont typeface="Arial MT"/>
              <a:buChar char="•"/>
              <a:tabLst>
                <a:tab pos="104775" algn="l"/>
              </a:tabLst>
            </a:pPr>
            <a:r>
              <a:rPr sz="1900" dirty="0">
                <a:latin typeface="Tahoma"/>
                <a:cs typeface="Tahoma"/>
              </a:rPr>
              <a:t>	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b="1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Processing:</a:t>
            </a:r>
            <a:r>
              <a:rPr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MapReduce,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Spark,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Pig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help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vast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amounts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distributed nodes.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480059" indent="-8255" algn="just">
              <a:lnSpc>
                <a:spcPct val="200000"/>
              </a:lnSpc>
              <a:spcBef>
                <a:spcPts val="135"/>
              </a:spcBef>
              <a:buSzPct val="97368"/>
              <a:buFont typeface="Arial MT"/>
              <a:buChar char="•"/>
              <a:tabLst>
                <a:tab pos="10477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	Data</a:t>
            </a:r>
            <a:r>
              <a:rPr b="1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Storage:</a:t>
            </a:r>
            <a:r>
              <a:rPr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managing</a:t>
            </a:r>
            <a:r>
              <a:rPr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datasets.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" marR="982344">
              <a:lnSpc>
                <a:spcPts val="2510"/>
              </a:lnSpc>
              <a:spcBef>
                <a:spcPts val="10"/>
              </a:spcBef>
              <a:buSzPct val="97368"/>
              <a:tabLst>
                <a:tab pos="104775" algn="l"/>
              </a:tabLst>
            </a:pPr>
            <a:endParaRPr sz="1200" dirty="0">
              <a:latin typeface="Tahoma"/>
              <a:cs typeface="Tahoma"/>
            </a:endParaRPr>
          </a:p>
        </p:txBody>
      </p:sp>
      <p:sp>
        <p:nvSpPr>
          <p:cNvPr id="5" name="Google Shape;85;p12"/>
          <p:cNvSpPr txBox="1"/>
          <p:nvPr/>
        </p:nvSpPr>
        <p:spPr>
          <a:xfrm>
            <a:off x="0" y="0"/>
            <a:ext cx="6845300" cy="3213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2642" tIns="31313" rIns="62642" bIns="31313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96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096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398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2291"/>
            <a:ext cx="6845299" cy="51292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2290" y="242291"/>
            <a:ext cx="5466360" cy="6790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150" dirty="0" smtClean="0"/>
              <a:t/>
            </a:r>
            <a:br>
              <a:rPr lang="en-US" sz="2150" dirty="0" smtClean="0"/>
            </a:br>
            <a:r>
              <a:rPr sz="2150" b="1" dirty="0" smtClean="0"/>
              <a:t>Key</a:t>
            </a:r>
            <a:r>
              <a:rPr sz="2150" b="1" spc="-20" dirty="0" smtClean="0"/>
              <a:t> </a:t>
            </a:r>
            <a:r>
              <a:rPr sz="2150" b="1" dirty="0"/>
              <a:t>Concepts</a:t>
            </a:r>
            <a:r>
              <a:rPr sz="2150" b="1" spc="-15" dirty="0"/>
              <a:t> </a:t>
            </a:r>
            <a:r>
              <a:rPr sz="2150" b="1" spc="85" dirty="0"/>
              <a:t>of</a:t>
            </a:r>
            <a:r>
              <a:rPr sz="2150" b="1" spc="-15" dirty="0"/>
              <a:t> </a:t>
            </a:r>
            <a:r>
              <a:rPr sz="2150" b="1" spc="75" dirty="0"/>
              <a:t>Hadoop</a:t>
            </a:r>
            <a:r>
              <a:rPr sz="2150" b="1" spc="-15" dirty="0"/>
              <a:t> </a:t>
            </a:r>
            <a:r>
              <a:rPr sz="2150" b="1" spc="-10" dirty="0"/>
              <a:t>Ecosystem</a:t>
            </a:r>
            <a:r>
              <a:rPr sz="2150" spc="-10" dirty="0"/>
              <a:t>:</a:t>
            </a:r>
            <a:endParaRPr sz="2150" dirty="0"/>
          </a:p>
        </p:txBody>
      </p:sp>
      <p:sp>
        <p:nvSpPr>
          <p:cNvPr id="4" name="object 4"/>
          <p:cNvSpPr txBox="1"/>
          <p:nvPr/>
        </p:nvSpPr>
        <p:spPr>
          <a:xfrm>
            <a:off x="242290" y="965200"/>
            <a:ext cx="6456959" cy="307007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982344" indent="-8255" algn="just">
              <a:lnSpc>
                <a:spcPct val="150000"/>
              </a:lnSpc>
              <a:spcBef>
                <a:spcPts val="10"/>
              </a:spcBef>
              <a:buSzPct val="97368"/>
              <a:buFont typeface="Arial MT"/>
              <a:buChar char="•"/>
              <a:tabLst>
                <a:tab pos="104775" algn="l"/>
              </a:tabLst>
            </a:pPr>
            <a:r>
              <a:rPr sz="1900" dirty="0">
                <a:latin typeface="Tahoma"/>
                <a:cs typeface="Tahoma"/>
              </a:rPr>
              <a:t>	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sz="16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Processing:</a:t>
            </a:r>
            <a:r>
              <a:rPr sz="16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sz="16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sz="16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5" dirty="0">
                <a:latin typeface="Arial" panose="020B0604020202020204" pitchFamily="34" charset="0"/>
                <a:cs typeface="Arial" panose="020B0604020202020204" pitchFamily="34" charset="0"/>
              </a:rPr>
              <a:t>Kaa</a:t>
            </a:r>
            <a:r>
              <a:rPr sz="16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Spark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Streaming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processing.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106680" indent="-8255" algn="just">
              <a:lnSpc>
                <a:spcPct val="150000"/>
              </a:lnSpc>
              <a:spcBef>
                <a:spcPts val="15"/>
              </a:spcBef>
              <a:buSzPct val="97368"/>
              <a:buFont typeface="Arial MT"/>
              <a:buChar char="•"/>
              <a:tabLst>
                <a:tab pos="104775" algn="l"/>
              </a:tabLst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	Data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Integration:</a:t>
            </a:r>
            <a:r>
              <a:rPr sz="16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sz="16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sz="16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Flume,</a:t>
            </a:r>
            <a:r>
              <a:rPr sz="16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Sqoop,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Nifi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handle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collection,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transfer,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20"/>
              </a:spcBef>
            </a:pP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-8255" algn="just">
              <a:lnSpc>
                <a:spcPct val="150000"/>
              </a:lnSpc>
              <a:spcBef>
                <a:spcPts val="120"/>
              </a:spcBef>
              <a:buSzPct val="97368"/>
              <a:buFont typeface="Arial MT"/>
              <a:buChar char="•"/>
              <a:tabLst>
                <a:tab pos="104775" algn="l"/>
              </a:tabLst>
            </a:pPr>
            <a:r>
              <a:rPr sz="1600" spc="75" dirty="0">
                <a:latin typeface="Arial" panose="020B0604020202020204" pitchFamily="34" charset="0"/>
                <a:cs typeface="Arial" panose="020B0604020202020204" pitchFamily="34" charset="0"/>
              </a:rPr>
              <a:t>	Metadata</a:t>
            </a:r>
            <a:r>
              <a:rPr sz="16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Governance: Apache Atlas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 other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tools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r>
              <a:rPr sz="1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metadata</a:t>
            </a:r>
            <a:r>
              <a:rPr sz="1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governance</a:t>
            </a:r>
            <a:r>
              <a:rPr sz="16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large-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sz="16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20"/>
              </a:spcBef>
            </a:pP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systems.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85;p12"/>
          <p:cNvSpPr txBox="1"/>
          <p:nvPr/>
        </p:nvSpPr>
        <p:spPr>
          <a:xfrm>
            <a:off x="0" y="0"/>
            <a:ext cx="6845300" cy="32136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2642" tIns="31313" rIns="62642" bIns="31313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96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096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06" y="508000"/>
            <a:ext cx="6613031" cy="85513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What’s Hadoop Used For?</a:t>
            </a:r>
            <a:b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Major Use Cases per Cloudera (2012)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197187"/>
            <a:ext cx="6613031" cy="3386091"/>
          </a:xfrm>
        </p:spPr>
        <p:txBody>
          <a:bodyPr>
            <a:normAutofit/>
          </a:bodyPr>
          <a:lstStyle/>
          <a:p>
            <a:r>
              <a:rPr lang="en-US" sz="2000" b="1" dirty="0"/>
              <a:t>Data processing</a:t>
            </a:r>
          </a:p>
          <a:p>
            <a:pPr lvl="1"/>
            <a:r>
              <a:rPr lang="en-US" sz="2000" dirty="0"/>
              <a:t>Building search indexes</a:t>
            </a:r>
          </a:p>
          <a:p>
            <a:pPr lvl="1"/>
            <a:r>
              <a:rPr lang="en-US" sz="2000" dirty="0"/>
              <a:t>Log processing</a:t>
            </a:r>
          </a:p>
          <a:p>
            <a:pPr lvl="1"/>
            <a:r>
              <a:rPr lang="en-US" sz="2000" dirty="0"/>
              <a:t>“Click Sessionization”</a:t>
            </a:r>
          </a:p>
          <a:p>
            <a:pPr lvl="1"/>
            <a:r>
              <a:rPr lang="en-US" sz="2000" dirty="0"/>
              <a:t>Data processing pipelines</a:t>
            </a:r>
          </a:p>
          <a:p>
            <a:pPr lvl="1"/>
            <a:r>
              <a:rPr lang="en-US" sz="2000" dirty="0"/>
              <a:t>Video &amp; Image analysis</a:t>
            </a:r>
          </a:p>
          <a:p>
            <a:r>
              <a:rPr lang="en-US" sz="2000" b="1" dirty="0"/>
              <a:t>Analytics</a:t>
            </a:r>
          </a:p>
          <a:p>
            <a:pPr lvl="1"/>
            <a:r>
              <a:rPr lang="en-US" sz="2000" dirty="0"/>
              <a:t>Recommendation systems (Machine Learning)</a:t>
            </a:r>
          </a:p>
          <a:p>
            <a:pPr lvl="1"/>
            <a:r>
              <a:rPr lang="en-US" sz="2000" dirty="0"/>
              <a:t>Batch reporting</a:t>
            </a:r>
          </a:p>
          <a:p>
            <a:r>
              <a:rPr lang="en-US" sz="2000" dirty="0"/>
              <a:t>Real time applications (“home of the brave”)</a:t>
            </a:r>
          </a:p>
          <a:p>
            <a:r>
              <a:rPr lang="en-US" sz="2000" dirty="0"/>
              <a:t>Data Warehousing</a:t>
            </a:r>
          </a:p>
        </p:txBody>
      </p:sp>
      <p:sp>
        <p:nvSpPr>
          <p:cNvPr id="4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304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94" y="313869"/>
            <a:ext cx="6278880" cy="399062"/>
          </a:xfrm>
        </p:spPr>
        <p:txBody>
          <a:bodyPr>
            <a:normAutofit/>
          </a:bodyPr>
          <a:lstStyle/>
          <a:p>
            <a:r>
              <a:rPr lang="en-US" sz="2394" dirty="0"/>
              <a:t>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0" y="772223"/>
            <a:ext cx="6613031" cy="447780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Google File System (GFS) cited as the original concept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Certain common attributes between GFS &amp; HDFS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Pattern emphasis: Write Once, Read Many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Sound familiar?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Remember WORM drives? </a:t>
            </a:r>
            <a:r>
              <a:rPr lang="en-US" sz="17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jukebox library?  Before CDs (CD-R)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Back when dirt was new… almost…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WORM optical storage was still about greater price:performance at larger storage volumes vs. the prevailing [disk] technology – though still better p:p than The Other White Meat of the day, Tape!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Very Large Files: One file could span the entire HDFS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Commodity Hardware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2 socket; 64-bit; local disks; no RAID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Co-locate data and compute resources</a:t>
            </a:r>
          </a:p>
          <a:p>
            <a:pPr lvl="1"/>
            <a:endParaRPr lang="en-US" sz="1945" dirty="0"/>
          </a:p>
          <a:p>
            <a:endParaRPr lang="en-US" sz="2244" dirty="0"/>
          </a:p>
          <a:p>
            <a:endParaRPr lang="en-US" sz="209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04" y="471960"/>
            <a:ext cx="1418096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244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" y="355600"/>
            <a:ext cx="6278880" cy="214489"/>
          </a:xfrm>
        </p:spPr>
        <p:txBody>
          <a:bodyPr>
            <a:normAutofit fontScale="90000"/>
          </a:bodyPr>
          <a:lstStyle/>
          <a:p>
            <a:r>
              <a:rPr lang="en-US" sz="2394" dirty="0"/>
              <a:t>HDFS:  What It’s </a:t>
            </a:r>
            <a:r>
              <a:rPr lang="en-US" sz="2394" i="1" dirty="0"/>
              <a:t>Not</a:t>
            </a:r>
            <a:r>
              <a:rPr lang="en-US" sz="2394" dirty="0"/>
              <a:t> Good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798124"/>
            <a:ext cx="6613031" cy="421865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Many, many small files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Scalability issue for the namenode (more in a moment)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Latency Access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It’s all about Throughput (N=XR) 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about minimizing service time (or latency to first data read)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Multiple writers; updates at offsets within a file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One writer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Create/append/rename/move/delete - that’s it!  No updates!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a substitute for a relational database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 stored in files, not indexed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find something, must read all the data (ultimately, by a MapReduce job/tasks)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Selling SAN or NAS – NetApp &amp; EMC need not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in </a:t>
            </a:r>
            <a:r>
              <a:rPr 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COBOL</a:t>
            </a:r>
          </a:p>
          <a:p>
            <a:pPr lvl="0"/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Selling mainframes &amp; FICON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76" y="1041400"/>
            <a:ext cx="1418096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716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" y="342053"/>
            <a:ext cx="6202680" cy="456071"/>
          </a:xfrm>
        </p:spPr>
        <p:txBody>
          <a:bodyPr>
            <a:normAutofit/>
          </a:bodyPr>
          <a:lstStyle/>
          <a:p>
            <a:r>
              <a:rPr lang="en-US" sz="2394" dirty="0"/>
              <a:t>HDFS Concepts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798124"/>
            <a:ext cx="6613031" cy="4275667"/>
          </a:xfrm>
        </p:spPr>
        <p:txBody>
          <a:bodyPr>
            <a:normAutofit lnSpcReduction="10000"/>
          </a:bodyPr>
          <a:lstStyle/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Core architectural goal: Fault-tolerance in the face of massive parallelism (many devices, high probability of HW failure)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Monitoring, detection, fast automated recovery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Focus is batch throughput</a:t>
            </a:r>
          </a:p>
          <a:p>
            <a:pPr lvl="1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Hence support for very large files; large block size; single writer, create or append (no update) and a high read ratio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Master/Slave: Separate filesystem metadata &amp; app data</a:t>
            </a:r>
          </a:p>
          <a:p>
            <a:pPr lvl="1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One NameNode manages the filesystem and client access</a:t>
            </a:r>
          </a:p>
          <a:p>
            <a:pPr lvl="2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All metadata - namespace tree &amp; map of file blocks to DataNodes - stored in memory and persisted on disk </a:t>
            </a:r>
          </a:p>
          <a:p>
            <a:pPr lvl="2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Namespace is a traditional hierarchical file organization (directory tree)</a:t>
            </a:r>
            <a:endParaRPr lang="en-US" sz="119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DataNodes manage locally attached storage (JBOD, no RAID)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Not layered on or dependent on any other filesystem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078" y="228035"/>
            <a:ext cx="1425222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627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70" y="1197187"/>
            <a:ext cx="6156960" cy="2891497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748" dirty="0"/>
          </a:p>
          <a:p>
            <a:endParaRPr lang="en-US" sz="748" dirty="0"/>
          </a:p>
          <a:p>
            <a:endParaRPr lang="en-US" sz="748" dirty="0"/>
          </a:p>
          <a:p>
            <a:endParaRPr lang="en-US" sz="748" dirty="0"/>
          </a:p>
          <a:p>
            <a:r>
              <a:rPr lang="en-US" sz="748" dirty="0"/>
              <a:t>http://hadoop.apache.org/common/docs/current/hdfs_design.html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36" y="413315"/>
            <a:ext cx="6228221" cy="4304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41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170" y="285044"/>
            <a:ext cx="6156960" cy="456071"/>
          </a:xfrm>
        </p:spPr>
        <p:txBody>
          <a:bodyPr>
            <a:normAutofit/>
          </a:bodyPr>
          <a:lstStyle/>
          <a:p>
            <a:r>
              <a:rPr lang="en-US" sz="2394" dirty="0"/>
              <a:t>HDFS Concepts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741115"/>
            <a:ext cx="6613031" cy="4332676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095" dirty="0">
                <a:solidFill>
                  <a:prstClr val="black"/>
                </a:solidFill>
              </a:rPr>
              <a:t>Block-oriented</a:t>
            </a:r>
          </a:p>
          <a:p>
            <a:pPr lvl="1"/>
            <a:r>
              <a:rPr lang="en-US" sz="1945" dirty="0">
                <a:solidFill>
                  <a:prstClr val="black"/>
                </a:solidFill>
              </a:rPr>
              <a:t>Not your father’s block size:  64 MB by default</a:t>
            </a:r>
          </a:p>
          <a:p>
            <a:pPr lvl="2"/>
            <a:r>
              <a:rPr lang="en-US" sz="1646" dirty="0">
                <a:solidFill>
                  <a:prstClr val="black"/>
                </a:solidFill>
              </a:rPr>
              <a:t>Block size selectable on a file-by-file basis</a:t>
            </a:r>
          </a:p>
          <a:p>
            <a:pPr lvl="3"/>
            <a:r>
              <a:rPr lang="en-US" sz="1272" dirty="0">
                <a:solidFill>
                  <a:prstClr val="black"/>
                </a:solidFill>
              </a:rPr>
              <a:t>What if an HDFS block was 512 bytes or 4KB instead of 64 MB?</a:t>
            </a:r>
          </a:p>
          <a:p>
            <a:pPr lvl="4"/>
            <a:r>
              <a:rPr lang="en-US" sz="1197" dirty="0">
                <a:solidFill>
                  <a:prstClr val="black"/>
                </a:solidFill>
              </a:rPr>
              <a:t>Metadata would be 128K (131,072) times or 16K (16,384) times larger, impacting memory on NameNode and potentially limiting the total HDFS storage size in the cluster</a:t>
            </a:r>
          </a:p>
          <a:p>
            <a:pPr lvl="4"/>
            <a:r>
              <a:rPr lang="en-US" sz="1197" dirty="0">
                <a:solidFill>
                  <a:prstClr val="black"/>
                </a:solidFill>
              </a:rPr>
              <a:t>Total storage also sensitive to total number of files in HDFS</a:t>
            </a:r>
            <a:endParaRPr lang="en-US" dirty="0">
              <a:solidFill>
                <a:prstClr val="black"/>
              </a:solidFill>
            </a:endParaRPr>
          </a:p>
          <a:p>
            <a:pPr lvl="1"/>
            <a:r>
              <a:rPr lang="en-US" sz="1945" dirty="0">
                <a:solidFill>
                  <a:prstClr val="black"/>
                </a:solidFill>
              </a:rPr>
              <a:t>All blocks in a file are the same size, except the last block</a:t>
            </a:r>
          </a:p>
          <a:p>
            <a:pPr lvl="1"/>
            <a:r>
              <a:rPr lang="en-US" sz="1945" dirty="0">
                <a:solidFill>
                  <a:schemeClr val="tx2"/>
                </a:solidFill>
              </a:rPr>
              <a:t>Large block size minimizes seek time</a:t>
            </a:r>
          </a:p>
          <a:p>
            <a:pPr lvl="2"/>
            <a:r>
              <a:rPr lang="en-US" sz="1646" dirty="0">
                <a:solidFill>
                  <a:prstClr val="black"/>
                </a:solidFill>
              </a:rPr>
              <a:t>Approaches disk spiral transfer rate ~100 MB/sec</a:t>
            </a:r>
          </a:p>
          <a:p>
            <a:pPr lvl="2"/>
            <a:r>
              <a:rPr lang="en-US" sz="1646" dirty="0">
                <a:solidFill>
                  <a:prstClr val="black"/>
                </a:solidFill>
              </a:rPr>
              <a:t>Disk read-ahead may further minimize track to track seek time</a:t>
            </a:r>
          </a:p>
          <a:p>
            <a:pPr lvl="2"/>
            <a:r>
              <a:rPr lang="en-US" sz="1646" dirty="0">
                <a:solidFill>
                  <a:prstClr val="black"/>
                </a:solidFill>
              </a:rPr>
              <a:t>High aggregate file read bandwidth, # disks/node X 100 GB/sec</a:t>
            </a:r>
          </a:p>
          <a:p>
            <a:pPr lvl="1"/>
            <a:r>
              <a:rPr lang="en-US" sz="1945" dirty="0"/>
              <a:t>Divides incoming files into blocks, storing them redundantly across DataNodes in the cluster: Replication for fault-tolerance</a:t>
            </a:r>
          </a:p>
          <a:p>
            <a:pPr lvl="2"/>
            <a:r>
              <a:rPr lang="en-US" sz="1646" dirty="0"/>
              <a:t>Replication Factor per-file</a:t>
            </a:r>
          </a:p>
          <a:p>
            <a:pPr lvl="2"/>
            <a:r>
              <a:rPr lang="en-US" sz="1646" dirty="0"/>
              <a:t>Location of block replicas can change over time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908" y="741115"/>
            <a:ext cx="1425222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4095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38" y="624543"/>
            <a:ext cx="6156960" cy="368434"/>
          </a:xfrm>
        </p:spPr>
        <p:txBody>
          <a:bodyPr/>
          <a:lstStyle/>
          <a:p>
            <a:r>
              <a:rPr lang="en-US" sz="2394" dirty="0">
                <a:solidFill>
                  <a:prstClr val="black"/>
                </a:solidFill>
              </a:rPr>
              <a:t>HDFS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197187"/>
            <a:ext cx="6613031" cy="3876604"/>
          </a:xfrm>
        </p:spPr>
        <p:txBody>
          <a:bodyPr>
            <a:normAutofit/>
          </a:bodyPr>
          <a:lstStyle/>
          <a:p>
            <a:r>
              <a:rPr lang="en-US" sz="2095" dirty="0"/>
              <a:t>Built with Java</a:t>
            </a:r>
          </a:p>
          <a:p>
            <a:r>
              <a:rPr lang="en-US" sz="2095" dirty="0"/>
              <a:t>Typically runs on a Linux distribution</a:t>
            </a:r>
          </a:p>
          <a:p>
            <a:pPr lvl="1"/>
            <a:r>
              <a:rPr lang="en-US" sz="1795" dirty="0"/>
              <a:t>But it’s Java…</a:t>
            </a:r>
          </a:p>
          <a:p>
            <a:endParaRPr lang="en-US" sz="2095" dirty="0"/>
          </a:p>
          <a:p>
            <a:pPr lvl="1"/>
            <a:endParaRPr lang="en-US" sz="1795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319" y="787597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600" b="1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6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23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5" y="501796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NameNode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026160"/>
            <a:ext cx="6556022" cy="40476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9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SPOF, single point of failure</a:t>
            </a:r>
          </a:p>
          <a:p>
            <a:pPr lvl="0" algn="just"/>
            <a:r>
              <a:rPr lang="en-US" sz="209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 persisted in the file FsImage</a:t>
            </a:r>
          </a:p>
          <a:p>
            <a:pPr lvl="0" algn="just"/>
            <a:r>
              <a:rPr lang="en-US" sz="209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since last checkpoint logged separately in a transaction log called the EditLog</a:t>
            </a:r>
          </a:p>
          <a:p>
            <a:pPr lvl="0" algn="just"/>
            <a:r>
              <a:rPr lang="en-US" sz="209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files stored in NameNodes’s local filesystem</a:t>
            </a:r>
          </a:p>
          <a:p>
            <a:pPr lvl="1" algn="just"/>
            <a:r>
              <a:rPr lang="en-US" sz="179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Availability:  Redundant copies to NAS or other servers</a:t>
            </a:r>
          </a:p>
          <a:p>
            <a:pPr lvl="0" algn="just"/>
            <a:r>
              <a:rPr lang="en-US" sz="209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Counter-intuitive:</a:t>
            </a:r>
          </a:p>
          <a:p>
            <a:pPr lvl="1" algn="just"/>
            <a:r>
              <a:rPr lang="en-US" sz="179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 done only at NameNode startup </a:t>
            </a:r>
          </a:p>
          <a:p>
            <a:pPr lvl="2" algn="just"/>
            <a:r>
              <a:rPr lang="en-US" sz="1496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EditLog read to update FsImage; FsImage mapped into memory; EditLog truncated; ready to rock!</a:t>
            </a:r>
          </a:p>
          <a:p>
            <a:pPr algn="just"/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The NameNode does not directly call DataNodes but piggy-backs instructions in its replies to DataNodes’ heartbeat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Replicate blocks to other nodes (pipeline approach)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Remove block replicas (load balancing)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Restart (re-register, re-join cluster) or shutdown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Send a block report NOW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798124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302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" y="490514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DataNodes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083169"/>
            <a:ext cx="6556022" cy="393361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block replica is made up of 2 files on a DataNode’s local file system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data itself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Block metadata</a:t>
            </a:r>
          </a:p>
          <a:p>
            <a:pPr lvl="2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Block checksum and generation timestamp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startup the DataNode connects to the NameNode &amp; performs a handshake to verify ID and version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Shutdown if either does not match: Prevent corruption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Nodes cannot “register” with NameNode; i.e., join the cluster unless they have a matching ID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Blocks consume only the space needed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Hadoop optimizes for full blocks until the last block of the file is written</a:t>
            </a:r>
          </a:p>
          <a:p>
            <a:pPr lvl="1"/>
            <a:endParaRPr lang="en-US" sz="1795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241" y="706673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167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4" y="498505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DataNodes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083169"/>
            <a:ext cx="6613031" cy="393361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Sends a block report to the NameNode about all block replicas it contains, at DataNode “startup” and hourly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Sends heartbeat to NameNode @ 3 sec intervals (default)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 minute timeout, DataNode removed by NameNode and new replicas of its blocks scheduled for creation on other DataNodes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Heartbeat also contains info used by NameNode’s storage allocation and load balancing algorithms</a:t>
            </a:r>
          </a:p>
          <a:p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478637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404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28" y="492512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Back to the NameNode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083169"/>
            <a:ext cx="6556022" cy="3933613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Filesystem metadata is persisted in the file “FsImage”</a:t>
            </a:r>
          </a:p>
          <a:p>
            <a:pPr lvl="0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since last checkpoint logged separately in a transaction log called the “EditLog”</a:t>
            </a:r>
          </a:p>
          <a:p>
            <a:pPr lvl="0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files stored in NameNodes’s local filesystem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Availability:  Redundant copies to NAS or other servers</a:t>
            </a:r>
          </a:p>
          <a:p>
            <a:pPr lvl="0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Counter-intuitive: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 done only at NameNode startup</a:t>
            </a:r>
          </a:p>
          <a:p>
            <a:pPr lvl="2" algn="just"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Replay EditLog to update FsImage; FsImage mapped into memory; EditLog truncated; ready to rock!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050" y="687720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1379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5" y="538542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Client Read &amp;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083169"/>
            <a:ext cx="6556022" cy="250839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Client read request first contacts the NameNode for locations of file data blocks; reads blocks from closest DataNode(s)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Uses block checksum to detect corruption, a common problem in clusters of 100s-1,000s of nodes and disks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Client write operation sends path to NameNode; requests NameNode to select Replication Factor number of DataNodes to host block replicas; writes data to DataNodes in serial pipeline manner (more in a moment)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File create: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446" y="3403599"/>
            <a:ext cx="4161649" cy="1720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606835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658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" y="490514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Client Write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7" y="1083169"/>
            <a:ext cx="6698544" cy="3078480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Write Pipeline</a:t>
            </a:r>
          </a:p>
          <a:p>
            <a:pPr lvl="1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 bytes pushed to the pipeline as a sequence of packets</a:t>
            </a:r>
          </a:p>
          <a:p>
            <a:pPr lvl="2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Client buffers bytes until a packet buffer fills (64KB default)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or until file is closed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then packet is pushed into the pipeline</a:t>
            </a:r>
          </a:p>
          <a:p>
            <a:pPr lvl="3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Client calculates &amp; sends checksum with block</a:t>
            </a:r>
          </a:p>
          <a:p>
            <a:pPr lvl="3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Recall that data and metadata (incl. checksum) are stored separately on DataNode</a:t>
            </a:r>
          </a:p>
          <a:p>
            <a:pPr lvl="1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Asynchronous I/O</a:t>
            </a:r>
          </a:p>
          <a:p>
            <a:pPr lvl="2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Client does not wait for ACK to packet by DataNode, continues pushing packets</a:t>
            </a:r>
          </a:p>
          <a:p>
            <a:pPr lvl="2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Limit to the # of outstanding packets = “packet window size” of client</a:t>
            </a:r>
          </a:p>
          <a:p>
            <a:pPr lvl="3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i.e., the queue size (N=XR)</a:t>
            </a:r>
          </a:p>
          <a:p>
            <a:pPr lvl="1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Data visible to new reader at file close or using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hflush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call</a:t>
            </a:r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706673"/>
            <a:ext cx="1422847" cy="456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381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5" y="293060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b="1" dirty="0">
                <a:solidFill>
                  <a:schemeClr val="accent1">
                    <a:lumMod val="75000"/>
                  </a:schemeClr>
                </a:solidFill>
              </a:rPr>
              <a:t>HDFS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706673"/>
            <a:ext cx="6506915" cy="4310109"/>
          </a:xfrm>
        </p:spPr>
        <p:txBody>
          <a:bodyPr>
            <a:normAutofit/>
          </a:bodyPr>
          <a:lstStyle/>
          <a:p>
            <a:pPr algn="just"/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Locality and High Performance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HDFS is atypical of conventional non-distributed file systems in that its API exposes the location of a file’s blocks, with major implications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Frameworks like MapReduce can thus </a:t>
            </a:r>
            <a:r>
              <a:rPr lang="en-US" sz="1795" u="sng" dirty="0">
                <a:latin typeface="Arial" panose="020B0604020202020204" pitchFamily="34" charset="0"/>
                <a:cs typeface="Arial" panose="020B0604020202020204" pitchFamily="34" charset="0"/>
              </a:rPr>
              <a:t>schedule a task to execute where the data is located</a:t>
            </a:r>
          </a:p>
          <a:p>
            <a:pPr lvl="2" algn="just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Send computation to the data, not the other way around</a:t>
            </a:r>
          </a:p>
          <a:p>
            <a:pPr lvl="3" algn="just"/>
            <a:r>
              <a:rPr lang="en-US" sz="1197" dirty="0">
                <a:latin typeface="Arial" panose="020B0604020202020204" pitchFamily="34" charset="0"/>
                <a:cs typeface="Arial" panose="020B0604020202020204" pitchFamily="34" charset="0"/>
              </a:rPr>
              <a:t>Reduces network infrastructure costs, reduces elapsed time</a:t>
            </a:r>
          </a:p>
          <a:p>
            <a:pPr lvl="2" algn="just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Highest read performance when a task executes with data on local disks</a:t>
            </a:r>
          </a:p>
          <a:p>
            <a:pPr lvl="3" algn="just"/>
            <a:r>
              <a:rPr lang="en-US" sz="1197" dirty="0">
                <a:latin typeface="Arial" panose="020B0604020202020204" pitchFamily="34" charset="0"/>
                <a:cs typeface="Arial" panose="020B0604020202020204" pitchFamily="34" charset="0"/>
              </a:rPr>
              <a:t>Point-to-point SAS/SATA disks, no shared bus, a key technology enabler</a:t>
            </a:r>
          </a:p>
          <a:p>
            <a:pPr lvl="3" algn="just"/>
            <a:r>
              <a:rPr lang="en-US" sz="1197" dirty="0">
                <a:latin typeface="Arial" panose="020B0604020202020204" pitchFamily="34" charset="0"/>
                <a:cs typeface="Arial" panose="020B0604020202020204" pitchFamily="34" charset="0"/>
              </a:rPr>
              <a:t>Massive price : performance benefit over SAN storage</a:t>
            </a:r>
          </a:p>
          <a:p>
            <a:pPr lvl="1" algn="just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Supports application per-file replication factor (default 3)</a:t>
            </a:r>
          </a:p>
          <a:p>
            <a:pPr lvl="3"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Improves fault tolerance</a:t>
            </a:r>
          </a:p>
          <a:p>
            <a:pPr lvl="3" algn="just"/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Increases read bandwidth for heavily accessed files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433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" y="660400"/>
            <a:ext cx="6526107" cy="385382"/>
          </a:xfrm>
        </p:spPr>
        <p:txBody>
          <a:bodyPr>
            <a:normAutofit/>
          </a:bodyPr>
          <a:lstStyle/>
          <a:p>
            <a:r>
              <a:rPr lang="en-US" sz="2394" dirty="0"/>
              <a:t>Typical Hadoop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50" y="1422400"/>
            <a:ext cx="6727049" cy="3933613"/>
          </a:xfrm>
        </p:spPr>
        <p:txBody>
          <a:bodyPr>
            <a:normAutofit/>
          </a:bodyPr>
          <a:lstStyle/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Dual socket 1U/2U rack mount server</a:t>
            </a:r>
          </a:p>
          <a:p>
            <a:pPr lvl="1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Internal disk requirement negates use of blades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Quad core CPUs &gt;2 GHz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16-24 GB memory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4 to 6 data disks @ 1TB</a:t>
            </a:r>
          </a:p>
          <a:p>
            <a:pPr lvl="1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Performance &amp; economics target for heavily queried data, busy processors</a:t>
            </a:r>
          </a:p>
          <a:p>
            <a:pPr lvl="1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Use cases focusing on long-term storage might deploy a DL370 5U form factor with 14 internal 3.5” disks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1 GbE NIC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</a:p>
        </p:txBody>
      </p:sp>
      <p:sp>
        <p:nvSpPr>
          <p:cNvPr id="4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556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26" y="490514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Hadoop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26" y="1083169"/>
            <a:ext cx="6727049" cy="3933613"/>
          </a:xfrm>
        </p:spPr>
        <p:txBody>
          <a:bodyPr>
            <a:normAutofit/>
          </a:bodyPr>
          <a:lstStyle/>
          <a:p>
            <a:pPr algn="just"/>
            <a:r>
              <a:rPr lang="en-US" sz="1795" dirty="0"/>
              <a:t>Software framework for “easily” writing applications that process vast (multi-TB) amounts of data in parallel on very large clusters of commodity hardware with reliability and fault-tolerance</a:t>
            </a:r>
          </a:p>
          <a:p>
            <a:pPr algn="just"/>
            <a:r>
              <a:rPr lang="en-US" sz="1795" dirty="0"/>
              <a:t>A MapReduce job normally divides the input data into separate chunks which are then processed in parallel by Map tasks.  The framework guarrantees Map output is sorted for input to Reduce</a:t>
            </a:r>
          </a:p>
          <a:p>
            <a:pPr algn="just"/>
            <a:r>
              <a:rPr lang="en-US" sz="1795" dirty="0"/>
              <a:t>The sorted outputs are inputs to the Reduce tasks</a:t>
            </a:r>
          </a:p>
          <a:p>
            <a:pPr algn="just"/>
            <a:r>
              <a:rPr lang="en-US" sz="1795" dirty="0"/>
              <a:t>Input and output are stored in HDFS</a:t>
            </a:r>
          </a:p>
          <a:p>
            <a:pPr algn="just"/>
            <a:r>
              <a:rPr lang="en-US" sz="1795" dirty="0"/>
              <a:t>Framework performs task scheduling; task monitoring &amp; re-execution of failed tasks</a:t>
            </a:r>
          </a:p>
          <a:p>
            <a:pPr lvl="0" algn="just"/>
            <a:r>
              <a:rPr lang="en-US" sz="1795" dirty="0">
                <a:solidFill>
                  <a:prstClr val="black"/>
                </a:solidFill>
              </a:rPr>
              <a:t>Massive aggregate cluster bandwidth</a:t>
            </a:r>
          </a:p>
          <a:p>
            <a:pPr lvl="1" algn="just"/>
            <a:r>
              <a:rPr lang="en-US" sz="1496" dirty="0">
                <a:solidFill>
                  <a:prstClr val="black"/>
                </a:solidFill>
              </a:rPr>
              <a:t># nodes X # disks X ~100 MB/sec</a:t>
            </a:r>
            <a:endParaRPr lang="en-US" sz="1496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0" y="473666"/>
            <a:ext cx="2007188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575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26" y="490514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Language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26" y="1083169"/>
            <a:ext cx="6727049" cy="3933613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Java (native)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Streaming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Any language supporting Unix STREAMS interface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Read from stdin, write to stdout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Redirection as usual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Highly suited to text processing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Line by line input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Key-value pair output of Map program written as </a:t>
            </a: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tab-delimited line to stdout</a:t>
            </a:r>
          </a:p>
          <a:p>
            <a:pPr lvl="2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 Framework sorts the Map task output</a:t>
            </a:r>
          </a:p>
          <a:p>
            <a:pPr lvl="2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function reads sorted lines from stdin</a:t>
            </a:r>
          </a:p>
          <a:p>
            <a:pPr lvl="2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finally writes to stdout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Python; Perl; Ruby; etc.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Pipes</a:t>
            </a:r>
          </a:p>
          <a:p>
            <a:pPr lvl="1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C++ interface for MapReduce</a:t>
            </a:r>
          </a:p>
          <a:p>
            <a:pPr lvl="2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Sockets interface (not streams, not java native interface JNI)</a:t>
            </a:r>
          </a:p>
          <a:p>
            <a:pPr lvl="1"/>
            <a:endParaRPr lang="en-US" sz="1496" dirty="0"/>
          </a:p>
          <a:p>
            <a:endParaRPr lang="en-US" sz="1496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978" y="1046639"/>
            <a:ext cx="2007188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251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5" y="427601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Hadoop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083169"/>
            <a:ext cx="6556022" cy="3933613"/>
          </a:xfrm>
        </p:spPr>
        <p:txBody>
          <a:bodyPr>
            <a:normAutofit/>
          </a:bodyPr>
          <a:lstStyle/>
          <a:p>
            <a:r>
              <a:rPr lang="en-US" sz="2095" dirty="0"/>
              <a:t>Master/Slave architecture</a:t>
            </a:r>
          </a:p>
          <a:p>
            <a:pPr lvl="1"/>
            <a:r>
              <a:rPr lang="en-US" sz="1795" dirty="0"/>
              <a:t>One master </a:t>
            </a:r>
            <a:r>
              <a:rPr lang="en-US" sz="1795" i="1" dirty="0"/>
              <a:t>Jobtracker</a:t>
            </a:r>
            <a:r>
              <a:rPr lang="en-US" sz="1795" dirty="0"/>
              <a:t> in the cluster</a:t>
            </a:r>
          </a:p>
          <a:p>
            <a:pPr lvl="1"/>
            <a:r>
              <a:rPr lang="en-US" sz="1795" dirty="0"/>
              <a:t>One slave </a:t>
            </a:r>
            <a:r>
              <a:rPr lang="en-US" sz="1795" i="1" dirty="0"/>
              <a:t>Tasktracker</a:t>
            </a:r>
            <a:r>
              <a:rPr lang="en-US" sz="1795" dirty="0"/>
              <a:t> per DataNode</a:t>
            </a:r>
          </a:p>
          <a:p>
            <a:r>
              <a:rPr lang="en-US" sz="2095" i="1" dirty="0"/>
              <a:t>Jobtracker</a:t>
            </a:r>
            <a:r>
              <a:rPr lang="en-US" sz="2095" dirty="0"/>
              <a:t> </a:t>
            </a:r>
          </a:p>
          <a:p>
            <a:pPr lvl="1"/>
            <a:r>
              <a:rPr lang="en-US" sz="1795" dirty="0"/>
              <a:t>Schedules a job’s constituent tasks on slaves</a:t>
            </a:r>
          </a:p>
          <a:p>
            <a:pPr lvl="1"/>
            <a:r>
              <a:rPr lang="en-US" sz="1795" dirty="0"/>
              <a:t>Monitors tasks, re-executes upon task failure</a:t>
            </a:r>
          </a:p>
          <a:p>
            <a:r>
              <a:rPr lang="en-US" sz="2095" i="1" dirty="0"/>
              <a:t>Tasktracker</a:t>
            </a:r>
            <a:r>
              <a:rPr lang="en-US" sz="2095" dirty="0"/>
              <a:t> executes tasks by direction of the </a:t>
            </a:r>
            <a:r>
              <a:rPr lang="en-US" sz="2095" i="1" dirty="0">
                <a:solidFill>
                  <a:prstClr val="black"/>
                </a:solidFill>
              </a:rPr>
              <a:t>Jobtracker</a:t>
            </a:r>
            <a:r>
              <a:rPr lang="en-US" sz="2095" dirty="0">
                <a:solidFill>
                  <a:prstClr val="black"/>
                </a:solidFill>
              </a:rPr>
              <a:t> </a:t>
            </a:r>
          </a:p>
          <a:p>
            <a:endParaRPr lang="en-US" sz="2095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69" y="706673"/>
            <a:ext cx="2007188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27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43" y="279400"/>
            <a:ext cx="6556023" cy="427273"/>
          </a:xfrm>
        </p:spPr>
        <p:txBody>
          <a:bodyPr>
            <a:normAutofit/>
          </a:bodyPr>
          <a:lstStyle/>
          <a:p>
            <a:r>
              <a:rPr lang="en-US" sz="2394" dirty="0"/>
              <a:t>Hadoop MapReduce Job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43" y="1147019"/>
            <a:ext cx="6556022" cy="3933613"/>
          </a:xfrm>
        </p:spPr>
        <p:txBody>
          <a:bodyPr>
            <a:normAutofit/>
          </a:bodyPr>
          <a:lstStyle/>
          <a:p>
            <a:r>
              <a:rPr lang="en-US" sz="2095" dirty="0"/>
              <a:t>Client MapReduce program submits job through JobClient.runJob API</a:t>
            </a:r>
          </a:p>
          <a:p>
            <a:pPr lvl="1"/>
            <a:r>
              <a:rPr lang="en-US" sz="1496" dirty="0"/>
              <a:t>Job Client (in client JVM on client node) sends request to JobTracker (on JobTracker node), which will coordinate job execution in the cluster</a:t>
            </a:r>
          </a:p>
          <a:p>
            <a:pPr lvl="2"/>
            <a:r>
              <a:rPr lang="en-US" sz="1347" dirty="0"/>
              <a:t>JobTracker returns Job ID</a:t>
            </a:r>
          </a:p>
          <a:p>
            <a:pPr lvl="1"/>
            <a:r>
              <a:rPr lang="en-US" sz="1496" dirty="0"/>
              <a:t>JobClient calculates splits of input data</a:t>
            </a:r>
          </a:p>
          <a:p>
            <a:pPr lvl="1"/>
            <a:r>
              <a:rPr lang="en-US" sz="1496" dirty="0"/>
              <a:t>JobClient “fans the job out” to multiple systems</a:t>
            </a:r>
          </a:p>
          <a:p>
            <a:pPr lvl="2"/>
            <a:r>
              <a:rPr lang="en-US" sz="1197" dirty="0"/>
              <a:t>Copies program components (Java jar, config file) and calculated input data splits to JobTracker’s filesystem.  Write (default) 10 copies of this to 10 JobTrackers (recall JobTracker is one per DataNode)</a:t>
            </a:r>
          </a:p>
          <a:p>
            <a:pPr lvl="1"/>
            <a:r>
              <a:rPr lang="en-US" sz="1496" dirty="0"/>
              <a:t>JobTracker inserts job into its queue for its scheduler to dequeue and init</a:t>
            </a:r>
          </a:p>
          <a:p>
            <a:pPr lvl="2"/>
            <a:r>
              <a:rPr lang="en-US" sz="1197" dirty="0"/>
              <a:t>Init: Create job object to represent tasks it executes, and track task progress/status</a:t>
            </a:r>
          </a:p>
          <a:p>
            <a:pPr lvl="1"/>
            <a:r>
              <a:rPr lang="en-US" sz="1496" dirty="0"/>
              <a:t>JobClient informs JobTracker that job is ready to execute</a:t>
            </a:r>
          </a:p>
          <a:p>
            <a:pPr lvl="1"/>
            <a:r>
              <a:rPr lang="en-US" sz="1496" dirty="0"/>
              <a:t>JobTracker creates list of tasks to run</a:t>
            </a:r>
          </a:p>
          <a:p>
            <a:pPr lvl="2"/>
            <a:r>
              <a:rPr lang="en-US" sz="1197" dirty="0"/>
              <a:t>Retrieves (from HDFS) the input data splits computed by JobClient</a:t>
            </a:r>
          </a:p>
          <a:p>
            <a:pPr lvl="2"/>
            <a:r>
              <a:rPr lang="en-US" sz="1197" dirty="0"/>
              <a:t>Creates one Map task per data split</a:t>
            </a:r>
          </a:p>
          <a:p>
            <a:pPr lvl="1"/>
            <a:endParaRPr lang="en-US" sz="1795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596908"/>
            <a:ext cx="2008993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24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" y="524363"/>
            <a:ext cx="6670040" cy="592655"/>
          </a:xfrm>
        </p:spPr>
        <p:txBody>
          <a:bodyPr>
            <a:normAutofit/>
          </a:bodyPr>
          <a:lstStyle/>
          <a:p>
            <a:r>
              <a:rPr lang="en-US" sz="2394" dirty="0"/>
              <a:t>TaskTracker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43" y="1147019"/>
            <a:ext cx="6556022" cy="3933613"/>
          </a:xfrm>
        </p:spPr>
        <p:txBody>
          <a:bodyPr>
            <a:normAutofit/>
          </a:bodyPr>
          <a:lstStyle/>
          <a:p>
            <a:r>
              <a:rPr lang="en-US" sz="1795" dirty="0"/>
              <a:t>TaskTrackers communication with JobTracker</a:t>
            </a:r>
          </a:p>
          <a:p>
            <a:pPr lvl="1"/>
            <a:r>
              <a:rPr lang="en-US" sz="1496" dirty="0"/>
              <a:t>Default loop, sends periodic heartbeat message to JobTracker</a:t>
            </a:r>
          </a:p>
          <a:p>
            <a:pPr lvl="2"/>
            <a:r>
              <a:rPr lang="en-US" sz="1197" dirty="0"/>
              <a:t>Tasktracker is alive</a:t>
            </a:r>
          </a:p>
          <a:p>
            <a:pPr lvl="2"/>
            <a:r>
              <a:rPr lang="en-US" sz="1197" dirty="0"/>
              <a:t>Available (or not) to run a task</a:t>
            </a:r>
          </a:p>
          <a:p>
            <a:pPr lvl="2"/>
            <a:r>
              <a:rPr lang="en-US" sz="1197" dirty="0"/>
              <a:t>JobTracker sends task to run in heartbeat response message if TaskTracker available</a:t>
            </a:r>
          </a:p>
          <a:p>
            <a:r>
              <a:rPr lang="en-US" sz="1795" dirty="0"/>
              <a:t>TaskTrackers have limited queue size for Map and for Reduce tasks</a:t>
            </a:r>
          </a:p>
          <a:p>
            <a:pPr lvl="1"/>
            <a:r>
              <a:rPr lang="en-US" sz="1496" dirty="0"/>
              <a:t>Queue size mapped to # cores &amp; physical memory on TaskTracker node</a:t>
            </a:r>
          </a:p>
          <a:p>
            <a:r>
              <a:rPr lang="en-US" sz="1795" dirty="0"/>
              <a:t>TaskTracker scheduler will schedule Map tasks before Reduce tasks</a:t>
            </a:r>
          </a:p>
          <a:p>
            <a:r>
              <a:rPr lang="en-US" sz="1795" dirty="0"/>
              <a:t>Copies jar file from HDFS to TaskTracker filesystem</a:t>
            </a:r>
          </a:p>
          <a:p>
            <a:pPr lvl="1"/>
            <a:r>
              <a:rPr lang="en-US" sz="1496" dirty="0"/>
              <a:t>Unwinds jar file into a local working directory create for task</a:t>
            </a:r>
          </a:p>
          <a:p>
            <a:r>
              <a:rPr lang="en-US" sz="1795" dirty="0"/>
              <a:t>Creates TaskRunner to run the task</a:t>
            </a:r>
          </a:p>
          <a:p>
            <a:pPr lvl="1"/>
            <a:r>
              <a:rPr lang="en-US" sz="1496" dirty="0"/>
              <a:t>TaskRunner starts a JVM for each task</a:t>
            </a:r>
          </a:p>
          <a:p>
            <a:pPr lvl="1"/>
            <a:r>
              <a:rPr lang="en-US" sz="1496" dirty="0"/>
              <a:t>Separate JVM per task isolates TaskTracker from user M/R program bugs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057" y="250602"/>
            <a:ext cx="2008993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688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52" y="812799"/>
            <a:ext cx="6359912" cy="4318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496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4" y="431800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TaskTracker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43" y="1147019"/>
            <a:ext cx="6556022" cy="3933613"/>
          </a:xfrm>
        </p:spPr>
        <p:txBody>
          <a:bodyPr>
            <a:normAutofit/>
          </a:bodyPr>
          <a:lstStyle/>
          <a:p>
            <a:r>
              <a:rPr lang="en-US" sz="1795" dirty="0"/>
              <a:t>TaskTracker per-task JVM (children) communicate to parent</a:t>
            </a:r>
          </a:p>
          <a:p>
            <a:pPr lvl="1"/>
            <a:r>
              <a:rPr lang="en-US" sz="1496" dirty="0"/>
              <a:t>Status, progress of each task, every few seconds via “umbilical” interface</a:t>
            </a:r>
          </a:p>
          <a:p>
            <a:pPr lvl="1"/>
            <a:r>
              <a:rPr lang="en-US" sz="1496" dirty="0"/>
              <a:t>Streaming interface communicates with process via stdin/stdout</a:t>
            </a:r>
          </a:p>
          <a:p>
            <a:r>
              <a:rPr lang="en-US" sz="1795" dirty="0"/>
              <a:t>MapReduce jobs are long-running</a:t>
            </a:r>
          </a:p>
          <a:p>
            <a:pPr lvl="1"/>
            <a:r>
              <a:rPr lang="en-US" sz="1496" dirty="0"/>
              <a:t>Minutes to hours</a:t>
            </a:r>
          </a:p>
          <a:p>
            <a:pPr lvl="1"/>
            <a:r>
              <a:rPr lang="en-US" sz="1496" dirty="0"/>
              <a:t>Status and progress important to communicate</a:t>
            </a:r>
          </a:p>
          <a:p>
            <a:pPr lvl="2"/>
            <a:r>
              <a:rPr lang="en-US" sz="1197" dirty="0"/>
              <a:t>State: Running, successful completion, failed</a:t>
            </a:r>
          </a:p>
          <a:p>
            <a:pPr lvl="2"/>
            <a:r>
              <a:rPr lang="en-US" sz="1197" dirty="0"/>
              <a:t>Progress of map &amp; reduce tasks</a:t>
            </a:r>
          </a:p>
          <a:p>
            <a:pPr lvl="2"/>
            <a:r>
              <a:rPr lang="en-US" sz="1197" dirty="0"/>
              <a:t>Job counters</a:t>
            </a:r>
          </a:p>
          <a:p>
            <a:pPr lvl="2"/>
            <a:r>
              <a:rPr lang="en-US" sz="1197" dirty="0"/>
              <a:t>User-defined status messages</a:t>
            </a:r>
          </a:p>
          <a:p>
            <a:r>
              <a:rPr lang="en-US" sz="1795" dirty="0"/>
              <a:t>Task Progress:  How is this defined?</a:t>
            </a:r>
          </a:p>
          <a:p>
            <a:pPr lvl="1"/>
            <a:r>
              <a:rPr lang="en-US" sz="1496" dirty="0"/>
              <a:t>Input record read (Map or Reduce)</a:t>
            </a:r>
          </a:p>
          <a:p>
            <a:pPr lvl="1"/>
            <a:r>
              <a:rPr lang="en-US" sz="1496" dirty="0"/>
              <a:t>Output record written</a:t>
            </a:r>
          </a:p>
          <a:p>
            <a:pPr lvl="1"/>
            <a:r>
              <a:rPr lang="en-US" sz="1496" dirty="0"/>
              <a:t>Set status description on Reporter, increment Reporter counter, call to Reporter progress() method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0" y="576930"/>
            <a:ext cx="2008993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815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261" y="552115"/>
            <a:ext cx="6613031" cy="592655"/>
          </a:xfrm>
        </p:spPr>
        <p:txBody>
          <a:bodyPr>
            <a:normAutofit/>
          </a:bodyPr>
          <a:lstStyle/>
          <a:p>
            <a:r>
              <a:rPr lang="en-US" sz="2394" dirty="0"/>
              <a:t>Job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43" y="1147019"/>
            <a:ext cx="6556022" cy="3933613"/>
          </a:xfrm>
        </p:spPr>
        <p:txBody>
          <a:bodyPr>
            <a:normAutofit/>
          </a:bodyPr>
          <a:lstStyle/>
          <a:p>
            <a:r>
              <a:rPr lang="en-US" sz="1795" dirty="0"/>
              <a:t>JobTracker receives last task’s completion notification</a:t>
            </a:r>
          </a:p>
          <a:p>
            <a:pPr lvl="1"/>
            <a:r>
              <a:rPr lang="en-US" sz="1496" dirty="0"/>
              <a:t>Changes job status to “successful”</a:t>
            </a:r>
          </a:p>
          <a:p>
            <a:pPr lvl="1"/>
            <a:r>
              <a:rPr lang="en-US" sz="1496" dirty="0">
                <a:solidFill>
                  <a:prstClr val="black"/>
                </a:solidFill>
              </a:rPr>
              <a:t>Can send HTTP job notification message to JobClient</a:t>
            </a:r>
          </a:p>
          <a:p>
            <a:r>
              <a:rPr lang="en-US" sz="1795" dirty="0"/>
              <a:t>JobClient learns of success at its next polling interval to JobTracker</a:t>
            </a:r>
          </a:p>
          <a:p>
            <a:pPr lvl="1"/>
            <a:r>
              <a:rPr lang="en-US" sz="1496" dirty="0"/>
              <a:t>Sends message to user</a:t>
            </a:r>
          </a:p>
          <a:p>
            <a:r>
              <a:rPr lang="en-US" sz="1795" dirty="0"/>
              <a:t>JobTracker performs cleanup, commands TaskTrackers to cleanup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307" y="395219"/>
            <a:ext cx="2008993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685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" y="279400"/>
            <a:ext cx="6418705" cy="1254196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2095" dirty="0"/>
              <a:t>Example Job &amp; Filesystem Interaction</a:t>
            </a:r>
            <a:br>
              <a:rPr lang="en-US" sz="2095" dirty="0"/>
            </a:br>
            <a:r>
              <a:rPr lang="en-US" sz="2095" dirty="0"/>
              <a:t>Multiple Map tasks, one Reduce task</a:t>
            </a:r>
            <a:br>
              <a:rPr lang="en-US" sz="2095" dirty="0"/>
            </a:br>
            <a:r>
              <a:rPr lang="en-US" sz="2095" dirty="0"/>
              <a:t>Map reads from HDFS, writes to local FS</a:t>
            </a:r>
            <a:br>
              <a:rPr lang="en-US" sz="2095" dirty="0"/>
            </a:br>
            <a:r>
              <a:rPr lang="en-US" sz="2095" dirty="0"/>
              <a:t>Reduce reads from local FS, writes to HDFS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" t="26513" r="4738" b="6119"/>
          <a:stretch/>
        </p:blipFill>
        <p:spPr bwMode="auto">
          <a:xfrm>
            <a:off x="686224" y="1995310"/>
            <a:ext cx="5472853" cy="293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0" y="1379489"/>
            <a:ext cx="2007188" cy="570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23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" y="507999"/>
            <a:ext cx="6324601" cy="575169"/>
          </a:xfrm>
        </p:spPr>
        <p:txBody>
          <a:bodyPr>
            <a:normAutofit fontScale="90000"/>
          </a:bodyPr>
          <a:lstStyle/>
          <a:p>
            <a:r>
              <a:rPr lang="en-US" sz="2095" dirty="0"/>
              <a:t>Example # Job &amp; Filesystem Interaction</a:t>
            </a:r>
            <a:br>
              <a:rPr lang="en-US" sz="2095" dirty="0"/>
            </a:br>
            <a:r>
              <a:rPr lang="en-US" sz="2095" dirty="0"/>
              <a:t>Multiple Map tasks, Two Reduce tasks</a:t>
            </a:r>
            <a:br>
              <a:rPr lang="en-US" sz="2095" dirty="0"/>
            </a:br>
            <a:r>
              <a:rPr lang="en-US" sz="2095" dirty="0"/>
              <a:t>Each Reduce writes one partition per Reduce task to HDFS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" t="16794" r="3341" b="5266"/>
          <a:stretch/>
        </p:blipFill>
        <p:spPr bwMode="auto">
          <a:xfrm>
            <a:off x="686223" y="1539240"/>
            <a:ext cx="5404443" cy="28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97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27" y="57663"/>
            <a:ext cx="5779135" cy="253916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197187"/>
            <a:ext cx="6556022" cy="3386091"/>
          </a:xfrm>
        </p:spPr>
        <p:txBody>
          <a:bodyPr>
            <a:normAutofit/>
          </a:bodyPr>
          <a:lstStyle/>
          <a:p>
            <a:r>
              <a:rPr lang="en-US" sz="2095" dirty="0"/>
              <a:t>Apache Hive!</a:t>
            </a:r>
          </a:p>
          <a:p>
            <a:r>
              <a:rPr lang="en-US" sz="2095" dirty="0"/>
              <a:t>Data warehouse system providing structure onto HDFS</a:t>
            </a:r>
          </a:p>
          <a:p>
            <a:r>
              <a:rPr lang="en-US" sz="2095" dirty="0"/>
              <a:t>SQL-like query language, HiveQL</a:t>
            </a:r>
          </a:p>
          <a:p>
            <a:r>
              <a:rPr lang="en-US" sz="2095" dirty="0"/>
              <a:t>Also supports traditional map/reduce programs</a:t>
            </a:r>
          </a:p>
          <a:p>
            <a:r>
              <a:rPr lang="en-US" sz="2095" dirty="0"/>
              <a:t>Popular with data researchers</a:t>
            </a:r>
          </a:p>
          <a:p>
            <a:pPr lvl="1"/>
            <a:r>
              <a:rPr lang="en-US" sz="1795" dirty="0"/>
              <a:t>Bitly; LinkedIn to name two</a:t>
            </a:r>
          </a:p>
          <a:p>
            <a:r>
              <a:rPr lang="en-US" sz="2095" dirty="0"/>
              <a:t>Originated &amp; developed at Facebook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692" y="660400"/>
            <a:ext cx="815940" cy="74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490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27" y="57663"/>
            <a:ext cx="5779135" cy="253916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70" y="1197187"/>
            <a:ext cx="6156960" cy="370557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95" dirty="0"/>
              <a:t>Apache Pig!</a:t>
            </a:r>
          </a:p>
          <a:p>
            <a:pPr algn="just"/>
            <a:r>
              <a:rPr lang="en-US" sz="2095" dirty="0"/>
              <a:t>High-level language for data analysis</a:t>
            </a:r>
          </a:p>
          <a:p>
            <a:pPr algn="just"/>
            <a:r>
              <a:rPr lang="en-US" sz="2095" dirty="0"/>
              <a:t>Program structure “…amenable to substantial parallelization”</a:t>
            </a:r>
          </a:p>
          <a:p>
            <a:pPr algn="just"/>
            <a:r>
              <a:rPr lang="en-US" sz="2095" dirty="0"/>
              <a:t>“Complex tasks comprised of multiple interrelated data transformations are explicitly encoded as data flow sequences, making them easy to write, understand, and maintain.”</a:t>
            </a:r>
          </a:p>
          <a:p>
            <a:pPr algn="just"/>
            <a:r>
              <a:rPr lang="en-US" sz="2095" dirty="0"/>
              <a:t>Popular with data researchers who are also skilled in Python as their analysis toolset and “glue” language</a:t>
            </a:r>
          </a:p>
          <a:p>
            <a:pPr algn="just"/>
            <a:r>
              <a:rPr lang="en-US" sz="2095" dirty="0"/>
              <a:t>Originated &amp; developed at Yahoo!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050" y="584200"/>
            <a:ext cx="534458" cy="755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198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394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197187"/>
            <a:ext cx="6613031" cy="3386091"/>
          </a:xfrm>
        </p:spPr>
        <p:txBody>
          <a:bodyPr>
            <a:normAutofit/>
          </a:bodyPr>
          <a:lstStyle/>
          <a:p>
            <a:r>
              <a:rPr lang="en-US" sz="2095" dirty="0"/>
              <a:t>Apache HBase!</a:t>
            </a:r>
          </a:p>
          <a:p>
            <a:pPr lvl="1"/>
            <a:r>
              <a:rPr lang="en-US" sz="1795" dirty="0"/>
              <a:t>Realtime, Random R/W access to Big Data</a:t>
            </a:r>
          </a:p>
          <a:p>
            <a:pPr lvl="1"/>
            <a:r>
              <a:rPr lang="en-US" sz="1795" dirty="0"/>
              <a:t>Column-oriented</a:t>
            </a:r>
          </a:p>
          <a:p>
            <a:pPr lvl="2"/>
            <a:r>
              <a:rPr lang="en-US" sz="1496" dirty="0"/>
              <a:t>Modeled after Google’s Bigtable for structured data</a:t>
            </a:r>
          </a:p>
          <a:p>
            <a:pPr lvl="1"/>
            <a:r>
              <a:rPr lang="en-US" sz="1795" dirty="0"/>
              <a:t>Massive distributed database layered onto clusters of commodity hardware</a:t>
            </a:r>
          </a:p>
          <a:p>
            <a:pPr lvl="2"/>
            <a:r>
              <a:rPr lang="en-US" sz="1496" dirty="0"/>
              <a:t>Goal: Very large tables, billions of rows X millions of columns</a:t>
            </a:r>
          </a:p>
          <a:p>
            <a:pPr lvl="1"/>
            <a:r>
              <a:rPr lang="en-US" dirty="0" smtClean="0"/>
              <a:t>HDFS underlies HBase</a:t>
            </a:r>
          </a:p>
          <a:p>
            <a:r>
              <a:rPr lang="en-US" sz="2095" dirty="0"/>
              <a:t>Originally developed at Powerset; acquired by Microsoft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962025"/>
            <a:ext cx="1893170" cy="470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91888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412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27" y="57663"/>
            <a:ext cx="5779135" cy="253916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35" y="1197187"/>
            <a:ext cx="6613031" cy="3762587"/>
          </a:xfrm>
        </p:spPr>
        <p:txBody>
          <a:bodyPr>
            <a:normAutofit/>
          </a:bodyPr>
          <a:lstStyle/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Apache Zookeeper!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Goal: Provide highly reliable distributed coordination services via a set of primitives for distributed apps to build on</a:t>
            </a:r>
          </a:p>
          <a:p>
            <a:pPr lvl="1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“Because Coordinating Distributed Systems is a Zoo”  (!)</a:t>
            </a:r>
          </a:p>
          <a:p>
            <a:pPr lvl="2"/>
            <a:r>
              <a:rPr lang="en-US" sz="1496" dirty="0">
                <a:latin typeface="Arial" panose="020B0604020202020204" pitchFamily="34" charset="0"/>
                <a:cs typeface="Arial" panose="020B0604020202020204" pitchFamily="34" charset="0"/>
              </a:rPr>
              <a:t>Common distributed services notoriously difficult to develop &amp; maintain on an application by application basis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Centralized distributed synchronization; group services; naming; configuration information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High performance, highly available, ordered access</a:t>
            </a:r>
          </a:p>
          <a:p>
            <a:pPr lvl="1"/>
            <a:r>
              <a:rPr lang="en-US" sz="1795" dirty="0">
                <a:latin typeface="Arial" panose="020B0604020202020204" pitchFamily="34" charset="0"/>
                <a:cs typeface="Arial" panose="020B0604020202020204" pitchFamily="34" charset="0"/>
              </a:rPr>
              <a:t>In memory.  Replicated.  Synchronization at client by API</a:t>
            </a:r>
          </a:p>
          <a:p>
            <a:r>
              <a:rPr lang="en-US" sz="2095" dirty="0">
                <a:latin typeface="Arial" panose="020B0604020202020204" pitchFamily="34" charset="0"/>
                <a:cs typeface="Arial" panose="020B0604020202020204" pitchFamily="34" charset="0"/>
              </a:rPr>
              <a:t>Originated &amp; developed at Yahoo!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311579"/>
            <a:ext cx="912141" cy="1083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6845300" cy="303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4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22IT602-Internet of Things</a:t>
            </a:r>
            <a:endParaRPr sz="14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6;p12"/>
          <p:cNvSpPr/>
          <p:nvPr/>
        </p:nvSpPr>
        <p:spPr>
          <a:xfrm>
            <a:off x="0" y="4818542"/>
            <a:ext cx="6845300" cy="2614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9071" tIns="29528" rIns="59071" bIns="29528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033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Module-3 </a:t>
            </a:r>
            <a:endParaRPr sz="1033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6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2597</Words>
  <Application>Microsoft Office PowerPoint</Application>
  <PresentationFormat>Custom</PresentationFormat>
  <Paragraphs>372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MT</vt:lpstr>
      <vt:lpstr>Calibri</vt:lpstr>
      <vt:lpstr>Tahoma</vt:lpstr>
      <vt:lpstr>Wingdings</vt:lpstr>
      <vt:lpstr>Office Theme</vt:lpstr>
      <vt:lpstr>Module 3</vt:lpstr>
      <vt:lpstr>Hadoop Ecosystem</vt:lpstr>
      <vt:lpstr>PowerPoint Presentation</vt:lpstr>
      <vt:lpstr>PowerPoint Presentation</vt:lpstr>
      <vt:lpstr>Key Concepts of Hadoop Ecosystem:</vt:lpstr>
      <vt:lpstr> Key Concepts of Hadoop Ecosystem:</vt:lpstr>
      <vt:lpstr>What’s Hadoop Used For? Major Use Cases per Cloudera (2012)</vt:lpstr>
      <vt:lpstr>HDFS</vt:lpstr>
      <vt:lpstr>HDFS:  What It’s Not Good For</vt:lpstr>
      <vt:lpstr>HDFS Concepts &amp; Architecture</vt:lpstr>
      <vt:lpstr>PowerPoint Presentation</vt:lpstr>
      <vt:lpstr>HDFS Concepts &amp; Architecture</vt:lpstr>
      <vt:lpstr>HDFS</vt:lpstr>
      <vt:lpstr>NameNode</vt:lpstr>
      <vt:lpstr>DataNodes</vt:lpstr>
      <vt:lpstr>DataNodes (cont’d)</vt:lpstr>
      <vt:lpstr>Back to the NameNode</vt:lpstr>
      <vt:lpstr>Client Read &amp; Write</vt:lpstr>
      <vt:lpstr>Client Write (cont’d)</vt:lpstr>
      <vt:lpstr>HDFS Key Points</vt:lpstr>
      <vt:lpstr>Typical Hadoop Node</vt:lpstr>
      <vt:lpstr>Hadoop MapReduce</vt:lpstr>
      <vt:lpstr>Language Support</vt:lpstr>
      <vt:lpstr>Hadoop MapReduce</vt:lpstr>
      <vt:lpstr>Hadoop MapReduce Job Execution</vt:lpstr>
      <vt:lpstr>TaskTracker</vt:lpstr>
      <vt:lpstr>PowerPoint Presentation</vt:lpstr>
      <vt:lpstr>TaskTracker</vt:lpstr>
      <vt:lpstr>Job Completion</vt:lpstr>
      <vt:lpstr>Example Job &amp; Filesystem Interaction Multiple Map tasks, one Reduce task Map reads from HDFS, writes to local FS Reduce reads from local FS, writes to HDFS</vt:lpstr>
      <vt:lpstr>Example # Job &amp; Filesystem Interaction Multiple Map tasks, Two Reduce tasks Each Reduce writes one partition per Reduce task to HDFS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Unit-4: Data Analytics And Supporting Services-</dc:title>
  <dc:creator>hp</dc:creator>
  <cp:lastModifiedBy>hp</cp:lastModifiedBy>
  <cp:revision>37</cp:revision>
  <dcterms:created xsi:type="dcterms:W3CDTF">2025-01-05T02:47:29Z</dcterms:created>
  <dcterms:modified xsi:type="dcterms:W3CDTF">2026-03-23T06:57:02Z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2025-01-05T00:00:00Z</vt:filetime>
  </property>
  <property fmtid="{D5CDD505-2E9C-101B-9397-08002B2CF9AE}" pid="3" name="Creator">
    <vt:lpwstr>Mozilla/5.0 (X11; Linux x86_64) AppleWebKit/537.36 (KHTML, like Gecko) Chrome/112.0.0.0 Safari/537.36</vt:lpwstr>
  </property>
  <property fmtid="{D5CDD505-2E9C-101B-9397-08002B2CF9AE}" pid="4" name="LastSaved">
    <vt:filetime>2025-01-05T00:00:00Z</vt:filetime>
  </property>
  <property fmtid="{D5CDD505-2E9C-101B-9397-08002B2CF9AE}" pid="5" name="Producer">
    <vt:lpwstr>Skia/PDF m112</vt:lpwstr>
  </property>
</Properties>
</file>