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308" r:id="rId5"/>
    <p:sldId id="336" r:id="rId6"/>
    <p:sldId id="337" r:id="rId7"/>
    <p:sldId id="338" r:id="rId8"/>
    <p:sldId id="339" r:id="rId9"/>
    <p:sldId id="340" r:id="rId10"/>
    <p:sldId id="341" r:id="rId11"/>
    <p:sldId id="348" r:id="rId12"/>
    <p:sldId id="349" r:id="rId13"/>
    <p:sldId id="356" r:id="rId14"/>
    <p:sldId id="357" r:id="rId15"/>
    <p:sldId id="358" r:id="rId16"/>
    <p:sldId id="370" r:id="rId17"/>
    <p:sldId id="367" r:id="rId18"/>
    <p:sldId id="360" r:id="rId19"/>
    <p:sldId id="29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yqOMm8s71iXEvIf7BnyAtGYp+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25E630-8704-450E-95E2-79D3BF339E1F}">
  <a:tblStyle styleId="{6725E630-8704-450E-95E2-79D3BF339E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29" autoAdjust="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0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b6384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b22b6384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128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/45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128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r>
              <a:rPr lang="en-US"/>
              <a:t>/45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609600" y="1318091"/>
            <a:ext cx="10363200" cy="225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br>
              <a:rPr lang="en-US" sz="3600" b="1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ANALOG AND PULSE MODULATION</a:t>
            </a:r>
            <a:br>
              <a:rPr lang="en-US" sz="3600" b="1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dirty="0">
                <a:latin typeface="Arial"/>
                <a:ea typeface="Arial"/>
                <a:cs typeface="Arial"/>
                <a:sym typeface="Arial"/>
              </a:rPr>
            </a:br>
            <a:endParaRPr lang="en-US" sz="36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 descr="imag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703" y="691287"/>
            <a:ext cx="1084193" cy="903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</a:t>
            </a:fld>
            <a:endParaRPr/>
          </a:p>
        </p:txBody>
      </p:sp>
      <p:pic>
        <p:nvPicPr>
          <p:cNvPr id="123" name="Google Shape;123;p5" descr="EMB.bmp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487612"/>
            <a:ext cx="952500" cy="102576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124815" y="183370"/>
            <a:ext cx="974425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SRI KRISHNA COLLEGE OF ENGINEERING AND TECHNOLOGY</a:t>
            </a:r>
            <a:endParaRPr sz="2800" b="1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Pulse modulation"/>
          <p:cNvPicPr>
            <a:picLocks noChangeAspect="1" noChangeArrowheads="1"/>
          </p:cNvPicPr>
          <p:nvPr/>
        </p:nvPicPr>
        <p:blipFill>
          <a:blip r:embed="rId5"/>
          <a:srcRect l="59367" t="26067" r="6045" b="18303"/>
          <a:stretch>
            <a:fillRect/>
          </a:stretch>
        </p:blipFill>
        <p:spPr bwMode="auto">
          <a:xfrm>
            <a:off x="4784361" y="3463248"/>
            <a:ext cx="2398426" cy="28931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dirty="0"/>
          </a:p>
        </p:txBody>
      </p:sp>
      <p:sp>
        <p:nvSpPr>
          <p:cNvPr id="132" name="Google Shape;13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</a:t>
            </a:r>
            <a:endParaRPr/>
          </a:p>
        </p:txBody>
      </p:sp>
      <p:pic>
        <p:nvPicPr>
          <p:cNvPr id="134" name="Google Shape;134;p2" descr="imag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703" y="691287"/>
            <a:ext cx="1019175" cy="845965"/>
          </a:xfrm>
          <a:prstGeom prst="rect">
            <a:avLst/>
          </a:prstGeom>
          <a:noFill/>
          <a:ln>
            <a:noFill/>
          </a:ln>
        </p:spPr>
      </p:pic>
      <p:sp>
        <p:nvSpPr>
          <p:cNvPr id="61442" name="AutoShape 2" descr="Pulse-code modulati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44" name="AutoShape 4" descr="Pulse-code modulati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46" name="AutoShape 6" descr="Pulse-code modulati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6018" name="Picture 2" descr="Pulse Code Modulation (PCM) - EEWe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60446" y="1269518"/>
            <a:ext cx="6286500" cy="48291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>
                <a:solidFill>
                  <a:srgbClr val="130CA0"/>
                </a:solidFill>
                <a:latin typeface="Arial"/>
                <a:cs typeface="Arial"/>
                <a:sym typeface="Arial"/>
              </a:rPr>
              <a:t>Pulse Code Modulation</a:t>
            </a:r>
            <a:endParaRPr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>
                <a:latin typeface="+mj-lt"/>
              </a:rPr>
              <a:t>In pulse code modulation (PCM), a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message signal is represented by a sequence of coded pulses</a:t>
            </a:r>
            <a:r>
              <a:rPr lang="en-IN" dirty="0">
                <a:latin typeface="+mj-lt"/>
              </a:rPr>
              <a:t>, which is accomplished by representing the signal in discrete form in both time and amplitude.</a:t>
            </a:r>
          </a:p>
          <a:p>
            <a:r>
              <a:rPr lang="en-IN" dirty="0">
                <a:latin typeface="+mj-lt"/>
              </a:rPr>
              <a:t>The basic operations performed in the transmitter of a PCM system are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sampling, quantization, and encoding</a:t>
            </a:r>
            <a:r>
              <a:rPr lang="en-IN" dirty="0">
                <a:latin typeface="+mj-lt"/>
              </a:rPr>
              <a:t>.</a:t>
            </a:r>
          </a:p>
          <a:p>
            <a:r>
              <a:rPr lang="en-IN" dirty="0">
                <a:latin typeface="+mj-lt"/>
              </a:rPr>
              <a:t>The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low-pass filter</a:t>
            </a:r>
            <a:r>
              <a:rPr lang="en-IN" dirty="0">
                <a:latin typeface="+mj-lt"/>
              </a:rPr>
              <a:t> prior to sampling is included merely to prevent aliasing of the message signal. </a:t>
            </a:r>
          </a:p>
          <a:p>
            <a:r>
              <a:rPr lang="en-IN" dirty="0">
                <a:latin typeface="+mj-lt"/>
              </a:rPr>
              <a:t>The quantizing and encoding operations are usually performed in the same circuit, which is called an </a:t>
            </a:r>
            <a:r>
              <a:rPr lang="en-IN" dirty="0" err="1">
                <a:latin typeface="+mj-lt"/>
              </a:rPr>
              <a:t>analog</a:t>
            </a:r>
            <a:r>
              <a:rPr lang="en-IN" dirty="0">
                <a:latin typeface="+mj-lt"/>
              </a:rPr>
              <a:t>-to-digital converter.</a:t>
            </a: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2766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  <a:sym typeface="Arial"/>
              </a:rPr>
              <a:t>Pulse Code Modulation </a:t>
            </a: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System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4</a:t>
            </a:fld>
            <a:endParaRPr/>
          </a:p>
        </p:txBody>
      </p:sp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2908" y="1368442"/>
            <a:ext cx="10807985" cy="5048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Operations - Sampling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889870" y="134506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incoming message (baseband) signal is sampled with a train of rectangular pulses, narrow enough to closely approximate the instantaneous sampling process.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sampling rate must be in accordance with the sampling theorem.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practice, an anti-alias (low-pass) filter is used at the front end of the sampler in order to exclude frequencies greater than W before sampling.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Thus the application of sampling permits the reduction of the continuously varying message signal (of some finite duration) to a limited number of discrete values per second.</a:t>
            </a: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IN" sz="4000" b="1" dirty="0">
                <a:solidFill>
                  <a:srgbClr val="130CA0"/>
                </a:solidFill>
                <a:latin typeface="Arial"/>
                <a:cs typeface="Arial"/>
                <a:sym typeface="Arial"/>
              </a:rPr>
              <a:t>Operations - Non-uniform Quantization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sampled version of the message signal is then quantized, thereby providing a new representation of the signal that is discrete in both time and amplitude.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certain applications, however, it is preferable to use a variable separation between the representation levels.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By using a non-uniform quantizer with the feature that the step size increases as the separation from the origin of the input–output amplitude characteristic is increased, the large end-step of the quantizer can take care of possible excursions of the voice signal into the large amplitude ranges that occur relatively infrequently.</a:t>
            </a: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Operations - Encoding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dirty="0">
                <a:latin typeface="+mj-lt"/>
              </a:rPr>
              <a:t>In combining the processes of sampling and quantization, the specification of a continuous message (baseband) signal becomes limited to a discrete set of values, but not in the form best suited to transmission over a wire line or radio path. </a:t>
            </a:r>
          </a:p>
          <a:p>
            <a:r>
              <a:rPr lang="en-IN" dirty="0">
                <a:latin typeface="+mj-lt"/>
              </a:rPr>
              <a:t>To exploit the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advantages of sampling and quantization </a:t>
            </a:r>
            <a:r>
              <a:rPr lang="en-IN" dirty="0">
                <a:latin typeface="+mj-lt"/>
              </a:rPr>
              <a:t>for the purpose of making the transmitted signal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more robust to noise</a:t>
            </a:r>
            <a:r>
              <a:rPr lang="en-IN" dirty="0">
                <a:latin typeface="+mj-lt"/>
              </a:rPr>
              <a:t>, interference and other channel degradations,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the use of an encoding process </a:t>
            </a:r>
            <a:r>
              <a:rPr lang="en-IN" dirty="0">
                <a:latin typeface="+mj-lt"/>
              </a:rPr>
              <a:t>is required to translate the discrete set of sample values to a more appropriate form of signal. </a:t>
            </a:r>
            <a:endParaRPr lang="en-IN" dirty="0">
              <a:latin typeface="+mj-lt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Any plan for representing this discrete set of values as a particular arrangement of discrete events is called a code.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One of the discrete events in a code is called a code element or symbol.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For example, the presence or absence of a pulse is a symbol.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A particular arrangement of symbols used in a code to represent a single value of the discrete set is called a code word or character.</a:t>
            </a:r>
          </a:p>
          <a:p>
            <a:pPr marL="228600" indent="-50800">
              <a:buSzPts val="2800"/>
            </a:pPr>
            <a:endParaRPr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8</a:t>
            </a:fld>
            <a:endParaRPr/>
          </a:p>
        </p:txBody>
      </p:sp>
      <p:sp>
        <p:nvSpPr>
          <p:cNvPr id="7" name="Google Shape;140;gb22b638441_0_0">
            <a:extLst>
              <a:ext uri="{FF2B5EF4-FFF2-40B4-BE49-F238E27FC236}">
                <a16:creationId xmlns:a16="http://schemas.microsoft.com/office/drawing/2014/main" id="{6B816593-F65E-4DF4-BC0B-7259CA89E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Operations - Encoding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933450" y="2766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Binary codes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practice, a binary code is preferred over other codes (e.g., ternary code) for two reasons: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1. The maximum advantage over the effects of noise in a transmission medium is obtained by using a binary code, because a binary symbol withstands a relatively high level of noise.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2. The binary code is easy to generate and regenerate.</a:t>
            </a:r>
            <a:endParaRPr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Distortion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most important feature of a PCM system lies in the ability to control the effects of distortion and noise produced by transmitting a PCM signal over a channel.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This capability is accomplished by reconstructing the PCM signal by means of a chain of regenerative repeaters located at sufficiently close spacing along the transmission route.</a:t>
            </a:r>
          </a:p>
          <a:p>
            <a:pPr marL="228600" indent="-50800">
              <a:buSzPts val="2800"/>
            </a:pPr>
            <a:endParaRPr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Differential PCM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 </a:t>
            </a: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Often voice and video signals do not change much from one 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  sample to next.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- Such signals has energy concentrated in lower frequency.  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- Sampling faster than necessary generates redundant information.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Can save bandwidth by not sending all samples.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       * Send true samples occasionally.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       * In between, send only change from previous value. 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       * Change values can be sent using a fewer number of bits 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            than true samples.</a:t>
            </a:r>
            <a:b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</a:br>
            <a:endParaRPr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DPCM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Differential pulse code modulation is a derivative of the standard PCM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It uses the fact that the range of differences in amplitudes between successive samples of the audio waveform is less than the range of the actual sample amplitudes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chemeClr val="tx1"/>
                </a:solidFill>
                <a:latin typeface="+mj-lt"/>
                <a:ea typeface="Arial"/>
                <a:cs typeface="Arial"/>
                <a:sym typeface="Arial"/>
              </a:rPr>
              <a:t>Hence fewer bits to represent the difference signals</a:t>
            </a:r>
          </a:p>
          <a:p>
            <a:pPr marL="228600" indent="-50800">
              <a:buSzPts val="2800"/>
            </a:pPr>
            <a:endParaRPr lang="en-IN" dirty="0"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228600" indent="-50800">
              <a:buSzPts val="2800"/>
            </a:pPr>
            <a:endParaRPr>
              <a:solidFill>
                <a:schemeClr val="tx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Prediction 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447800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 A redundant signal helps to infer the rest, or at least make the most probable estimate.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If past 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behavior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 of a signal up to a certain point in time is known, it is possible to make some inference about its future values; such a process is commonly called </a:t>
            </a:r>
            <a:r>
              <a:rPr lang="en-IN" dirty="0">
                <a:solidFill>
                  <a:srgbClr val="C00000"/>
                </a:solidFill>
                <a:latin typeface="+mj-lt"/>
                <a:ea typeface="Arial"/>
                <a:cs typeface="Arial"/>
                <a:sym typeface="Arial"/>
              </a:rPr>
              <a:t>prediction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Suppose then a message signal is sampled at the rate to produce a sequence of correlated samples seconds apart; this sequence is denoted by The fact that it is possible to predict future values of the signal provides motivation for the differential quantization scheme. </a:t>
            </a: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Transmitter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930966" y="1314238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this scheme, the input signal to the quantizer is defined by</a:t>
            </a:r>
          </a:p>
          <a:p>
            <a:pPr marL="228600" indent="-50800">
              <a:buSzPts val="2800"/>
            </a:pPr>
            <a:endParaRPr lang="en-US" dirty="0"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228600" indent="-50800">
              <a:buSzPts val="2800"/>
            </a:pP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input is m and prediction is m(cap).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This predicted value is produced by using a prediction filter whose input consists of a quantized version of m(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IN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difference signal e(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IN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 is called the prediction error, since it is the amount by which the prediction filter fails to predict the incoming message signal exactly.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effective approach to implement the prediction filter is to use a tapped-delay-line filter or discrete-time filter.</a:t>
            </a:r>
          </a:p>
          <a:p>
            <a:pPr marL="228600" indent="-50800">
              <a:buSzPts val="2800"/>
            </a:pPr>
            <a:endParaRPr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14</a:t>
            </a:fld>
            <a:endParaRPr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26204" y="1936376"/>
          <a:ext cx="3747889" cy="53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38100000" imgH="5486400" progId="Equation.3">
                  <p:embed/>
                </p:oleObj>
              </mc:Choice>
              <mc:Fallback>
                <p:oleObj name="Equation" r:id="rId3" imgW="38100000" imgH="54864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204" y="1936376"/>
                        <a:ext cx="3747889" cy="5396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334767" y="0"/>
            <a:ext cx="30248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600" b="1" dirty="0">
                <a:solidFill>
                  <a:srgbClr val="130CA0"/>
                </a:solidFill>
                <a:latin typeface="Arial"/>
                <a:cs typeface="Arial"/>
              </a:rPr>
              <a:t>DPCM system</a:t>
            </a:r>
            <a:endParaRPr sz="36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15</a:t>
            </a:fld>
            <a:endParaRPr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7270" y="157617"/>
            <a:ext cx="8601985" cy="6198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1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DPCM System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704934" y="1427252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 The signal </a:t>
            </a:r>
            <a:r>
              <a:rPr lang="en-US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m</a:t>
            </a:r>
            <a:r>
              <a:rPr lang="en-US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q</a:t>
            </a: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(</a:t>
            </a:r>
            <a:r>
              <a:rPr lang="en-US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US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 is 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quantized version of the message sample m(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IN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If the prediction is good, the average power of the prediction error will be smaller than the average power of so that a quantizer with a given number of levels can be adjusted to produce a quantization error with a smaller average power than would be possible if were quantized directly using PCM.</a:t>
            </a:r>
            <a:endParaRPr dirty="0"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2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Receiver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1" name="Google Shape;141;gb22b638441_0_0"/>
          <p:cNvSpPr txBox="1">
            <a:spLocks noGrp="1"/>
          </p:cNvSpPr>
          <p:nvPr>
            <p:ph type="body" idx="1"/>
          </p:nvPr>
        </p:nvSpPr>
        <p:spPr>
          <a:xfrm>
            <a:off x="848774" y="1180676"/>
            <a:ext cx="10880100" cy="49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It consists of a decoder to reconstruct the quantized error signal. 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The quantized version of the original input is reconstructed from the decoder output using the same prediction filter in the transmitter.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the absence of channel noise, the encoded signal at the receiver input is identical to the encoded signal at the transmitter output.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An estimate of the original message signal m(t) is obtained by passing the sequence </a:t>
            </a:r>
            <a:r>
              <a:rPr lang="en-US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m</a:t>
            </a:r>
            <a:r>
              <a:rPr lang="en-US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q</a:t>
            </a: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(</a:t>
            </a:r>
            <a:r>
              <a:rPr lang="en-US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US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US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 through a low-pass reconstruction filter.</a:t>
            </a:r>
          </a:p>
          <a:p>
            <a:pPr marL="228600" indent="-50800">
              <a:buSzPts val="2800"/>
            </a:pP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In a noise-free environment, the prediction filters in the transmitter and receiver operate on the same sequence of samples {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m</a:t>
            </a:r>
            <a:r>
              <a:rPr lang="en-IN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q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(</a:t>
            </a:r>
            <a:r>
              <a:rPr lang="en-IN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nT</a:t>
            </a:r>
            <a:r>
              <a:rPr lang="en-IN" baseline="-25000" dirty="0" err="1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s</a:t>
            </a:r>
            <a:r>
              <a:rPr lang="en-IN" dirty="0">
                <a:solidFill>
                  <a:srgbClr val="222222"/>
                </a:solidFill>
                <a:latin typeface="+mj-lt"/>
                <a:ea typeface="Arial"/>
                <a:cs typeface="Arial"/>
                <a:sym typeface="Arial"/>
              </a:rPr>
              <a:t>)}.</a:t>
            </a:r>
            <a:endParaRPr>
              <a:solidFill>
                <a:srgbClr val="22222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22b638441_0_0"/>
          <p:cNvSpPr txBox="1">
            <a:spLocks noGrp="1"/>
          </p:cNvSpPr>
          <p:nvPr>
            <p:ph type="title"/>
          </p:nvPr>
        </p:nvSpPr>
        <p:spPr>
          <a:xfrm>
            <a:off x="838200" y="1958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 b="1" dirty="0">
                <a:solidFill>
                  <a:srgbClr val="130CA0"/>
                </a:solidFill>
                <a:latin typeface="Arial"/>
                <a:cs typeface="Arial"/>
              </a:rPr>
              <a:t>PCM vs DPCM</a:t>
            </a:r>
            <a:endParaRPr sz="4000" b="1" dirty="0">
              <a:solidFill>
                <a:srgbClr val="130CA0"/>
              </a:solidFill>
              <a:latin typeface="Arial"/>
              <a:cs typeface="Arial"/>
            </a:endParaRPr>
          </a:p>
        </p:txBody>
      </p:sp>
      <p:sp>
        <p:nvSpPr>
          <p:cNvPr id="142" name="Google Shape;142;gb22b638441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18</a:t>
            </a:fld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8148" y="1315091"/>
          <a:ext cx="9762732" cy="4684162"/>
        </p:xfrm>
        <a:graphic>
          <a:graphicData uri="http://schemas.openxmlformats.org/drawingml/2006/table">
            <a:tbl>
              <a:tblPr>
                <a:tableStyleId>{6725E630-8704-450E-95E2-79D3BF339E1F}</a:tableStyleId>
              </a:tblPr>
              <a:tblGrid>
                <a:gridCol w="4881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1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88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PCM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60385" marB="6038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DPCM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60385" marB="6038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23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In PCM, feedback is not provided.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While in DPCM, feedback is provided.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39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It has good signal to noise ration.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While it has moderate signal to noise ratio.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23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It is less efficient than DPCM.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While it is more efficient than PCM.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39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For transmission channel, PCM needs high bandwidth(B).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Whereas DPCM needs less bandwidth(B) than PCM.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39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PCM is complex than DPCM in terms of complexity.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While DPCM is simple in terms of complexity.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392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In PCM, seven bits are transmitted per eight sample.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In DPCM, four bits are transmitted per six sample.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54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>
                          <a:latin typeface="+mj-lt"/>
                        </a:rPr>
                        <a:t>In PCM, for transmitting bits rate varies from fifty five to sixty four.</a:t>
                      </a:r>
                      <a:endParaRPr lang="en-IN" sz="1800" b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latin typeface="+mj-lt"/>
                        </a:rPr>
                        <a:t>While in DPCM, for transmitting bits rate varies from thirty two to forty eight.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marL="60385" marR="60385" marT="84540" marB="8454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22" descr="Thank You Letter Danger: 5 Things You Should Never Include!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60198" y="1020417"/>
            <a:ext cx="7394619" cy="492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1322</Words>
  <Application>Microsoft Office PowerPoint</Application>
  <PresentationFormat>Widescreen</PresentationFormat>
  <Paragraphs>98</Paragraphs>
  <Slides>19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Office Theme</vt:lpstr>
      <vt:lpstr>Equation</vt:lpstr>
      <vt:lpstr> ANALOG AND PULSE MODULATION  </vt:lpstr>
      <vt:lpstr>PowerPoint Presentation</vt:lpstr>
      <vt:lpstr>Pulse Code Modulation</vt:lpstr>
      <vt:lpstr>Pulse Code Modulation System</vt:lpstr>
      <vt:lpstr>Operations - Sampling</vt:lpstr>
      <vt:lpstr>Operations - Non-uniform Quantization</vt:lpstr>
      <vt:lpstr>Operations - Encoding</vt:lpstr>
      <vt:lpstr>Operations - Encoding</vt:lpstr>
      <vt:lpstr>Binary codes</vt:lpstr>
      <vt:lpstr>Distortion</vt:lpstr>
      <vt:lpstr>Differential PCM</vt:lpstr>
      <vt:lpstr>DPCM</vt:lpstr>
      <vt:lpstr>Prediction </vt:lpstr>
      <vt:lpstr>Transmitter</vt:lpstr>
      <vt:lpstr>DPCM system</vt:lpstr>
      <vt:lpstr>DPCM System</vt:lpstr>
      <vt:lpstr>Receiver</vt:lpstr>
      <vt:lpstr>PCM vs DPCM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KRISHNA COLLEGE OF ENGINEERING AND TECHNOLOGY</dc:title>
  <dc:creator>Karthikeyan</dc:creator>
  <cp:lastModifiedBy>Naveed Mohammed</cp:lastModifiedBy>
  <cp:revision>76</cp:revision>
  <dcterms:created xsi:type="dcterms:W3CDTF">2020-05-12T10:18:25Z</dcterms:created>
  <dcterms:modified xsi:type="dcterms:W3CDTF">2026-03-23T06:54:59Z</dcterms:modified>
</cp:coreProperties>
</file>