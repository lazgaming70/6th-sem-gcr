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293" r:id="rId9"/>
    <p:sldId id="262" r:id="rId10"/>
    <p:sldId id="291" r:id="rId11"/>
    <p:sldId id="263" r:id="rId12"/>
    <p:sldId id="264" r:id="rId13"/>
    <p:sldId id="265" r:id="rId14"/>
    <p:sldId id="266" r:id="rId15"/>
    <p:sldId id="267" r:id="rId16"/>
    <p:sldId id="268" r:id="rId17"/>
    <p:sldId id="269" r:id="rId18"/>
    <p:sldId id="287" r:id="rId19"/>
    <p:sldId id="270" r:id="rId20"/>
    <p:sldId id="271" r:id="rId21"/>
    <p:sldId id="282" r:id="rId22"/>
    <p:sldId id="272" r:id="rId23"/>
    <p:sldId id="273" r:id="rId24"/>
    <p:sldId id="274" r:id="rId25"/>
    <p:sldId id="295" r:id="rId26"/>
    <p:sldId id="296" r:id="rId27"/>
    <p:sldId id="297" r:id="rId28"/>
    <p:sldId id="298" r:id="rId29"/>
    <p:sldId id="299" r:id="rId30"/>
    <p:sldId id="300" r:id="rId31"/>
    <p:sldId id="301" r:id="rId32"/>
    <p:sldId id="275" r:id="rId33"/>
    <p:sldId id="276" r:id="rId34"/>
    <p:sldId id="277" r:id="rId35"/>
    <p:sldId id="278" r:id="rId36"/>
    <p:sldId id="279" r:id="rId37"/>
    <p:sldId id="280" r:id="rId38"/>
    <p:sldId id="283" r:id="rId39"/>
    <p:sldId id="285" r:id="rId40"/>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16"/>
    <p:restoredTop sz="94736"/>
  </p:normalViewPr>
  <p:slideViewPr>
    <p:cSldViewPr showGuides="1">
      <p:cViewPr>
        <p:scale>
          <a:sx n="94" d="100"/>
          <a:sy n="94" d="100"/>
        </p:scale>
        <p:origin x="-128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126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126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0964"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126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
        <p:nvSpPr>
          <p:cNvPr id="1127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127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43011" name="Rectangle 2"/>
          <p:cNvSpPr>
            <a:spLocks noRot="1" noTextEdit="1"/>
          </p:cNvSpPr>
          <p:nvPr>
            <p:ph type="sldImg"/>
          </p:nvPr>
        </p:nvSpPr>
        <p:spPr>
          <a:ln/>
        </p:spPr>
      </p:sp>
      <p:sp>
        <p:nvSpPr>
          <p:cNvPr id="43012"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44035" name="Rectangle 2"/>
          <p:cNvSpPr>
            <a:spLocks noRot="1" noTextEdit="1"/>
          </p:cNvSpPr>
          <p:nvPr>
            <p:ph type="sldImg"/>
          </p:nvPr>
        </p:nvSpPr>
        <p:spPr>
          <a:ln/>
        </p:spPr>
      </p:sp>
      <p:sp>
        <p:nvSpPr>
          <p:cNvPr id="44036"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45059" name="Rectangle 2"/>
          <p:cNvSpPr>
            <a:spLocks noRot="1" noTextEdit="1"/>
          </p:cNvSpPr>
          <p:nvPr>
            <p:ph type="sldImg"/>
          </p:nvPr>
        </p:nvSpPr>
        <p:spPr>
          <a:ln/>
        </p:spPr>
      </p:sp>
      <p:sp>
        <p:nvSpPr>
          <p:cNvPr id="45060"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46083" name="Rectangle 2"/>
          <p:cNvSpPr>
            <a:spLocks noRot="1" noTextEdit="1"/>
          </p:cNvSpPr>
          <p:nvPr>
            <p:ph type="sldImg"/>
          </p:nvPr>
        </p:nvSpPr>
        <p:spPr>
          <a:ln/>
        </p:spPr>
      </p:sp>
      <p:sp>
        <p:nvSpPr>
          <p:cNvPr id="46084"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47107" name="Rectangle 2"/>
          <p:cNvSpPr>
            <a:spLocks noRot="1" noTextEdit="1"/>
          </p:cNvSpPr>
          <p:nvPr>
            <p:ph type="sldImg"/>
          </p:nvPr>
        </p:nvSpPr>
        <p:spPr>
          <a:ln/>
        </p:spPr>
      </p:sp>
      <p:sp>
        <p:nvSpPr>
          <p:cNvPr id="47108"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48131" name="Rectangle 2"/>
          <p:cNvSpPr>
            <a:spLocks noRot="1" noTextEdit="1"/>
          </p:cNvSpPr>
          <p:nvPr>
            <p:ph type="sldImg"/>
          </p:nvPr>
        </p:nvSpPr>
        <p:spPr>
          <a:ln/>
        </p:spPr>
      </p:sp>
      <p:sp>
        <p:nvSpPr>
          <p:cNvPr id="48132"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49155" name="Rectangle 2"/>
          <p:cNvSpPr>
            <a:spLocks noRot="1" noTextEdit="1"/>
          </p:cNvSpPr>
          <p:nvPr>
            <p:ph type="sldImg"/>
          </p:nvPr>
        </p:nvSpPr>
        <p:spPr>
          <a:ln/>
        </p:spPr>
      </p:sp>
      <p:sp>
        <p:nvSpPr>
          <p:cNvPr id="49156"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50179" name="Rectangle 2"/>
          <p:cNvSpPr>
            <a:spLocks noRot="1" noTextEdit="1"/>
          </p:cNvSpPr>
          <p:nvPr>
            <p:ph type="sldImg"/>
          </p:nvPr>
        </p:nvSpPr>
        <p:spPr>
          <a:ln/>
        </p:spPr>
      </p:sp>
      <p:sp>
        <p:nvSpPr>
          <p:cNvPr id="50180"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51203" name="Rectangle 2"/>
          <p:cNvSpPr>
            <a:spLocks noRot="1" noTextEdit="1"/>
          </p:cNvSpPr>
          <p:nvPr>
            <p:ph type="sldImg"/>
          </p:nvPr>
        </p:nvSpPr>
        <p:spPr>
          <a:ln/>
        </p:spPr>
      </p:sp>
      <p:sp>
        <p:nvSpPr>
          <p:cNvPr id="51204"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52227" name="Rectangle 2"/>
          <p:cNvSpPr>
            <a:spLocks noRot="1" noTextEdit="1"/>
          </p:cNvSpPr>
          <p:nvPr>
            <p:ph type="sldImg"/>
          </p:nvPr>
        </p:nvSpPr>
        <p:spPr>
          <a:ln/>
        </p:spPr>
      </p:sp>
      <p:sp>
        <p:nvSpPr>
          <p:cNvPr id="52228"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53251" name="Rectangle 2"/>
          <p:cNvSpPr>
            <a:spLocks noRot="1" noTextEdit="1"/>
          </p:cNvSpPr>
          <p:nvPr>
            <p:ph type="sldImg"/>
          </p:nvPr>
        </p:nvSpPr>
        <p:spPr>
          <a:ln/>
        </p:spPr>
      </p:sp>
      <p:sp>
        <p:nvSpPr>
          <p:cNvPr id="53252"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54275" name="Rectangle 2"/>
          <p:cNvSpPr>
            <a:spLocks noRot="1" noTextEdit="1"/>
          </p:cNvSpPr>
          <p:nvPr>
            <p:ph type="sldImg"/>
          </p:nvPr>
        </p:nvSpPr>
        <p:spPr>
          <a:ln/>
        </p:spPr>
      </p:sp>
      <p:sp>
        <p:nvSpPr>
          <p:cNvPr id="54276"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55299" name="Rectangle 2"/>
          <p:cNvSpPr>
            <a:spLocks noRot="1" noTextEdit="1"/>
          </p:cNvSpPr>
          <p:nvPr>
            <p:ph type="sldImg"/>
          </p:nvPr>
        </p:nvSpPr>
        <p:spPr>
          <a:ln/>
        </p:spPr>
      </p:sp>
      <p:sp>
        <p:nvSpPr>
          <p:cNvPr id="55300"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56323" name="Rectangle 2"/>
          <p:cNvSpPr>
            <a:spLocks noRot="1" noTextEdit="1"/>
          </p:cNvSpPr>
          <p:nvPr>
            <p:ph type="sldImg"/>
          </p:nvPr>
        </p:nvSpPr>
        <p:spPr>
          <a:ln/>
        </p:spPr>
      </p:sp>
      <p:sp>
        <p:nvSpPr>
          <p:cNvPr id="56324"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57347" name="Rectangle 2"/>
          <p:cNvSpPr>
            <a:spLocks noRot="1" noTextEdit="1"/>
          </p:cNvSpPr>
          <p:nvPr>
            <p:ph type="sldImg"/>
          </p:nvPr>
        </p:nvSpPr>
        <p:spPr>
          <a:ln/>
        </p:spPr>
      </p:sp>
      <p:sp>
        <p:nvSpPr>
          <p:cNvPr id="57348"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58371" name="Rectangle 2"/>
          <p:cNvSpPr>
            <a:spLocks noRot="1" noTextEdit="1"/>
          </p:cNvSpPr>
          <p:nvPr>
            <p:ph type="sldImg"/>
          </p:nvPr>
        </p:nvSpPr>
        <p:spPr>
          <a:ln/>
        </p:spPr>
      </p:sp>
      <p:sp>
        <p:nvSpPr>
          <p:cNvPr id="58372"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59395" name="Rectangle 2"/>
          <p:cNvSpPr>
            <a:spLocks noRot="1" noTextEdit="1"/>
          </p:cNvSpPr>
          <p:nvPr>
            <p:ph type="sldImg"/>
          </p:nvPr>
        </p:nvSpPr>
        <p:spPr>
          <a:ln/>
        </p:spPr>
      </p:sp>
      <p:sp>
        <p:nvSpPr>
          <p:cNvPr id="59396"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60419" name="Rectangle 2"/>
          <p:cNvSpPr>
            <a:spLocks noRot="1" noTextEdit="1"/>
          </p:cNvSpPr>
          <p:nvPr>
            <p:ph type="sldImg"/>
          </p:nvPr>
        </p:nvSpPr>
        <p:spPr>
          <a:ln/>
        </p:spPr>
      </p:sp>
      <p:sp>
        <p:nvSpPr>
          <p:cNvPr id="60420"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61443" name="Rectangle 2"/>
          <p:cNvSpPr>
            <a:spLocks noRot="1" noTextEdit="1"/>
          </p:cNvSpPr>
          <p:nvPr>
            <p:ph type="sldImg"/>
          </p:nvPr>
        </p:nvSpPr>
        <p:spPr>
          <a:ln/>
        </p:spPr>
      </p:sp>
      <p:sp>
        <p:nvSpPr>
          <p:cNvPr id="61444"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62467" name="Rectangle 2"/>
          <p:cNvSpPr>
            <a:spLocks noRot="1" noTextEdit="1"/>
          </p:cNvSpPr>
          <p:nvPr>
            <p:ph type="sldImg"/>
          </p:nvPr>
        </p:nvSpPr>
        <p:spPr>
          <a:ln/>
        </p:spPr>
      </p:sp>
      <p:sp>
        <p:nvSpPr>
          <p:cNvPr id="62468"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63491" name="Rectangle 2"/>
          <p:cNvSpPr>
            <a:spLocks noRot="1" noTextEdit="1"/>
          </p:cNvSpPr>
          <p:nvPr>
            <p:ph type="sldImg"/>
          </p:nvPr>
        </p:nvSpPr>
        <p:spPr>
          <a:ln/>
        </p:spPr>
      </p:sp>
      <p:sp>
        <p:nvSpPr>
          <p:cNvPr id="63492"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64515" name="Rectangle 2"/>
          <p:cNvSpPr>
            <a:spLocks noRot="1" noTextEdit="1"/>
          </p:cNvSpPr>
          <p:nvPr>
            <p:ph type="sldImg"/>
          </p:nvPr>
        </p:nvSpPr>
        <p:spPr>
          <a:ln/>
        </p:spPr>
      </p:sp>
      <p:sp>
        <p:nvSpPr>
          <p:cNvPr id="64516"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65539" name="Rectangle 2"/>
          <p:cNvSpPr>
            <a:spLocks noRot="1" noTextEdit="1"/>
          </p:cNvSpPr>
          <p:nvPr>
            <p:ph type="sldImg"/>
          </p:nvPr>
        </p:nvSpPr>
        <p:spPr>
          <a:ln/>
        </p:spPr>
      </p:sp>
      <p:sp>
        <p:nvSpPr>
          <p:cNvPr id="65540"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fld>
            <a:endParaRPr lang="en-US" sz="1200" dirty="0"/>
          </a:p>
        </p:txBody>
      </p:sp>
      <p:sp>
        <p:nvSpPr>
          <p:cNvPr id="66563" name="Rectangle 2"/>
          <p:cNvSpPr>
            <a:spLocks noRot="1" noTextEdit="1"/>
          </p:cNvSpPr>
          <p:nvPr>
            <p:ph type="sldImg"/>
          </p:nvPr>
        </p:nvSpPr>
        <p:spPr>
          <a:ln/>
        </p:spPr>
      </p:sp>
      <p:sp>
        <p:nvSpPr>
          <p:cNvPr id="66564" name="Rectangle 3"/>
          <p:cNvSpPr>
            <a:spLocks noGrp="1"/>
          </p:cNvSpPr>
          <p:nvPr>
            <p:ph type="body" idx="1"/>
          </p:nvPr>
        </p:nvSpPr>
        <p:spPr>
          <a:ln/>
        </p:spPr>
        <p:txBody>
          <a:bodyPr wrap="square" lIns="91440" tIns="45720" rIns="91440" bIns="45720" anchor="t" anchorCtr="0"/>
          <a:p>
            <a:pPr lvl="0" eaLnBrk="1" hangingPunct="1"/>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en-IN"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IN"/>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IN"/>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Content Placeholder 4"/>
          <p:cNvSpPr>
            <a:spLocks noGrp="1"/>
          </p:cNvSpPr>
          <p:nvPr>
            <p:ph sz="quarter" idx="3"/>
          </p:nvPr>
        </p:nvSpPr>
        <p:spPr>
          <a:xfrm>
            <a:off x="4648200" y="3938588"/>
            <a:ext cx="4038600" cy="218757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6" name="Date Placeholder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Footer Placeholder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Slide Number Placeholder 7"/>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p>
            <a:pPr lvl="0"/>
            <a:r>
              <a:rPr dirty="0"/>
              <a:t>Click to edit Master title style</a:t>
            </a:r>
            <a:endParaRPr dirty="0"/>
          </a:p>
        </p:txBody>
      </p:sp>
      <p:sp>
        <p:nvSpPr>
          <p:cNvPr id="1027" name="Rectangle 3"/>
          <p:cNvSpPr>
            <a:spLocks noGrp="1"/>
          </p:cNvSpPr>
          <p:nvPr>
            <p:ph type="body" idx="1"/>
          </p:nvPr>
        </p:nvSpPr>
        <p:spPr>
          <a:xfrm>
            <a:off x="457200" y="1600200"/>
            <a:ext cx="8229600" cy="4525963"/>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sz="14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3.xml"/><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5.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13.xml"/><Relationship Id="rId4" Type="http://schemas.openxmlformats.org/officeDocument/2006/relationships/image" Target="../media/image8.wmf"/><Relationship Id="rId3" Type="http://schemas.openxmlformats.org/officeDocument/2006/relationships/oleObject" Target="../embeddings/oleObject5.bin"/><Relationship Id="rId2" Type="http://schemas.openxmlformats.org/officeDocument/2006/relationships/image" Target="../media/image7.wmf"/><Relationship Id="rId1"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oleObject" Target="../embeddings/oleObject6.bin"/></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oleObject" Target="../embeddings/oleObject7.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oleObject" Target="../embeddings/oleObject8.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oleObject" Target="../embeddings/oleObject9.bin"/></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oleObject" Target="../embeddings/oleObject10.bin"/></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11.bin"/></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18.wmf"/><Relationship Id="rId3" Type="http://schemas.openxmlformats.org/officeDocument/2006/relationships/oleObject" Target="../embeddings/oleObject13.bin"/><Relationship Id="rId2" Type="http://schemas.openxmlformats.org/officeDocument/2006/relationships/image" Target="../media/image17.wmf"/><Relationship Id="rId1" Type="http://schemas.openxmlformats.org/officeDocument/2006/relationships/oleObject" Target="../embeddings/oleObject12.bin"/></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14.bin"/></Relationships>
</file>

<file path=ppt/slides/_rels/slide35.xml.rels><?xml version="1.0" encoding="UTF-8" standalone="yes"?>
<Relationships xmlns="http://schemas.openxmlformats.org/package/2006/relationships"><Relationship Id="rId9" Type="http://schemas.openxmlformats.org/officeDocument/2006/relationships/notesSlide" Target="../notesSlides/notesSlide24.xml"/><Relationship Id="rId8" Type="http://schemas.openxmlformats.org/officeDocument/2006/relationships/vmlDrawing" Target="../drawings/vmlDrawing12.vml"/><Relationship Id="rId7" Type="http://schemas.openxmlformats.org/officeDocument/2006/relationships/slideLayout" Target="../slideLayouts/slideLayout2.xml"/><Relationship Id="rId6" Type="http://schemas.openxmlformats.org/officeDocument/2006/relationships/image" Target="../media/image22.wmf"/><Relationship Id="rId5" Type="http://schemas.openxmlformats.org/officeDocument/2006/relationships/oleObject" Target="../embeddings/oleObject17.bin"/><Relationship Id="rId4" Type="http://schemas.openxmlformats.org/officeDocument/2006/relationships/image" Target="../media/image21.wmf"/><Relationship Id="rId3" Type="http://schemas.openxmlformats.org/officeDocument/2006/relationships/oleObject" Target="../embeddings/oleObject16.bin"/><Relationship Id="rId2" Type="http://schemas.openxmlformats.org/officeDocument/2006/relationships/image" Target="../media/image20.wmf"/><Relationship Id="rId1" Type="http://schemas.openxmlformats.org/officeDocument/2006/relationships/oleObject" Target="../embeddings/oleObject15.bin"/></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p:cNvSpPr>
          <p:nvPr>
            <p:ph type="title"/>
          </p:nvPr>
        </p:nvSpPr>
        <p:spPr>
          <a:ln/>
        </p:spPr>
        <p:txBody>
          <a:bodyPr vert="horz" wrap="square" lIns="91440" tIns="45720" rIns="91440" bIns="45720" anchor="ctr" anchorCtr="0"/>
          <a:p>
            <a:pPr eaLnBrk="1" hangingPunct="1"/>
            <a:r>
              <a:rPr dirty="0"/>
              <a:t> </a:t>
            </a:r>
            <a:endParaRPr dirty="0"/>
          </a:p>
        </p:txBody>
      </p:sp>
      <p:sp>
        <p:nvSpPr>
          <p:cNvPr id="3075" name="Rectangle 3"/>
          <p:cNvSpPr>
            <a:spLocks noGrp="1"/>
          </p:cNvSpPr>
          <p:nvPr>
            <p:ph idx="1"/>
          </p:nvPr>
        </p:nvSpPr>
        <p:spPr>
          <a:ln/>
        </p:spPr>
        <p:txBody>
          <a:bodyPr vert="horz" wrap="square" lIns="91440" tIns="45720" rIns="91440" bIns="45720" anchor="t" anchorCtr="0"/>
          <a:p>
            <a:pPr eaLnBrk="1" hangingPunct="1">
              <a:lnSpc>
                <a:spcPct val="90000"/>
              </a:lnSpc>
            </a:pPr>
            <a:r>
              <a:rPr sz="2400" dirty="0">
                <a:solidFill>
                  <a:srgbClr val="0000FF"/>
                </a:solidFill>
              </a:rPr>
              <a:t>Digital modulation</a:t>
            </a:r>
            <a:endParaRPr sz="2400" dirty="0">
              <a:solidFill>
                <a:srgbClr val="0000FF"/>
              </a:solidFill>
            </a:endParaRPr>
          </a:p>
          <a:p>
            <a:pPr eaLnBrk="1" hangingPunct="1">
              <a:lnSpc>
                <a:spcPct val="90000"/>
              </a:lnSpc>
            </a:pPr>
            <a:endParaRPr sz="2400" dirty="0">
              <a:solidFill>
                <a:srgbClr val="0000FF"/>
              </a:solidFill>
            </a:endParaRPr>
          </a:p>
          <a:p>
            <a:pPr lvl="1" eaLnBrk="1" hangingPunct="1">
              <a:lnSpc>
                <a:spcPct val="90000"/>
              </a:lnSpc>
            </a:pPr>
            <a:r>
              <a:rPr sz="2000" dirty="0"/>
              <a:t>  </a:t>
            </a:r>
            <a:r>
              <a:rPr sz="2000" dirty="0">
                <a:solidFill>
                  <a:schemeClr val="bg2"/>
                </a:solidFill>
              </a:rPr>
              <a:t>Is the transmittal of digitally modulated analog signals       between two or more points in a communications system.</a:t>
            </a:r>
            <a:endParaRPr sz="2000" dirty="0">
              <a:solidFill>
                <a:schemeClr val="bg2"/>
              </a:solidFill>
            </a:endParaRPr>
          </a:p>
          <a:p>
            <a:pPr lvl="1" eaLnBrk="1" hangingPunct="1">
              <a:lnSpc>
                <a:spcPct val="90000"/>
              </a:lnSpc>
            </a:pPr>
            <a:endParaRPr sz="2000" dirty="0">
              <a:solidFill>
                <a:schemeClr val="bg2"/>
              </a:solidFill>
            </a:endParaRPr>
          </a:p>
          <a:p>
            <a:pPr lvl="1" eaLnBrk="1" hangingPunct="1">
              <a:lnSpc>
                <a:spcPct val="90000"/>
              </a:lnSpc>
            </a:pPr>
            <a:r>
              <a:rPr sz="2000" dirty="0">
                <a:solidFill>
                  <a:schemeClr val="bg2"/>
                </a:solidFill>
              </a:rPr>
              <a:t>  Can be propagated through Earth’s atmosphere and used in wireless communication system - </a:t>
            </a:r>
            <a:r>
              <a:rPr sz="2000" i="1" dirty="0">
                <a:solidFill>
                  <a:srgbClr val="0000FF"/>
                </a:solidFill>
              </a:rPr>
              <a:t>digital radio.</a:t>
            </a:r>
            <a:endParaRPr sz="2000" i="1" dirty="0">
              <a:solidFill>
                <a:srgbClr val="0000FF"/>
              </a:solidFill>
            </a:endParaRPr>
          </a:p>
          <a:p>
            <a:pPr lvl="1" eaLnBrk="1" hangingPunct="1">
              <a:lnSpc>
                <a:spcPct val="90000"/>
              </a:lnSpc>
            </a:pPr>
            <a:endParaRPr sz="2000" i="1" dirty="0">
              <a:solidFill>
                <a:srgbClr val="0000FF"/>
              </a:solidFill>
            </a:endParaRPr>
          </a:p>
          <a:p>
            <a:pPr lvl="1" eaLnBrk="1" hangingPunct="1">
              <a:lnSpc>
                <a:spcPct val="90000"/>
              </a:lnSpc>
            </a:pPr>
            <a:r>
              <a:rPr sz="2000" dirty="0">
                <a:solidFill>
                  <a:schemeClr val="bg2"/>
                </a:solidFill>
              </a:rPr>
              <a:t>  Offer several outstanding advantages over traditional analog system.</a:t>
            </a:r>
            <a:endParaRPr sz="2000" dirty="0">
              <a:solidFill>
                <a:schemeClr val="bg2"/>
              </a:solidFill>
            </a:endParaRPr>
          </a:p>
          <a:p>
            <a:pPr lvl="2" eaLnBrk="1" hangingPunct="1">
              <a:lnSpc>
                <a:spcPct val="90000"/>
              </a:lnSpc>
            </a:pPr>
            <a:r>
              <a:rPr sz="1800" dirty="0">
                <a:solidFill>
                  <a:schemeClr val="bg2"/>
                </a:solidFill>
              </a:rPr>
              <a:t> Ease of processing</a:t>
            </a:r>
            <a:endParaRPr sz="1800" dirty="0">
              <a:solidFill>
                <a:schemeClr val="bg2"/>
              </a:solidFill>
            </a:endParaRPr>
          </a:p>
          <a:p>
            <a:pPr lvl="2" eaLnBrk="1" hangingPunct="1">
              <a:lnSpc>
                <a:spcPct val="90000"/>
              </a:lnSpc>
            </a:pPr>
            <a:r>
              <a:rPr sz="1800" dirty="0">
                <a:solidFill>
                  <a:schemeClr val="bg2"/>
                </a:solidFill>
              </a:rPr>
              <a:t> Ease of multiplexing</a:t>
            </a:r>
            <a:endParaRPr sz="1800" dirty="0">
              <a:solidFill>
                <a:schemeClr val="bg2"/>
              </a:solidFill>
            </a:endParaRPr>
          </a:p>
          <a:p>
            <a:pPr lvl="2" eaLnBrk="1" hangingPunct="1">
              <a:lnSpc>
                <a:spcPct val="90000"/>
              </a:lnSpc>
            </a:pPr>
            <a:r>
              <a:rPr sz="1800" dirty="0">
                <a:solidFill>
                  <a:schemeClr val="bg2"/>
                </a:solidFill>
              </a:rPr>
              <a:t> Noise immunity</a:t>
            </a:r>
            <a:endParaRPr sz="1800" dirty="0">
              <a:solidFill>
                <a:schemeClr val="bg2"/>
              </a:solidFill>
            </a:endParaRPr>
          </a:p>
          <a:p>
            <a:pPr eaLnBrk="1" hangingPunct="1">
              <a:lnSpc>
                <a:spcPct val="90000"/>
              </a:lnSpc>
            </a:pPr>
            <a:endParaRPr sz="2400" dirty="0"/>
          </a:p>
        </p:txBody>
      </p:sp>
      <p:sp>
        <p:nvSpPr>
          <p:cNvPr id="3076" name="WordArt 4"/>
          <p:cNvSpPr>
            <a:spLocks noTextEdit="1"/>
          </p:cNvSpPr>
          <p:nvPr/>
        </p:nvSpPr>
        <p:spPr>
          <a:xfrm>
            <a:off x="1219200" y="533400"/>
            <a:ext cx="5486400" cy="762000"/>
          </a:xfrm>
          <a:prstGeom prst="rect">
            <a:avLst/>
          </a:prstGeom>
        </p:spPr>
        <p:txBody>
          <a:bodyPr wrap="none" fromWordArt="1">
            <a:prstTxWarp prst="textPlain">
              <a:avLst>
                <a:gd name="adj" fmla="val 50000"/>
              </a:avLst>
            </a:prstTxWarp>
            <a:normAutofit/>
          </a:bodyPr>
          <a:p>
            <a:pPr algn="ctr"/>
            <a:r>
              <a:rPr lang="en-US" sz="3600">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Arial Black" panose="020B0A04020102020204" charset="0"/>
                <a:ea typeface="Arial Black" panose="020B0A04020102020204" charset="0"/>
              </a:rPr>
              <a:t>Introduction to Digital Modulation</a:t>
            </a:r>
            <a:endParaRPr lang="en-US" sz="3600">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Arial Black" panose="020B0A04020102020204" charset="0"/>
              <a:ea typeface="Arial Black" panose="020B0A040201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3"/>
          <p:cNvSpPr>
            <a:spLocks noGrp="1"/>
          </p:cNvSpPr>
          <p:nvPr>
            <p:ph idx="1"/>
          </p:nvPr>
        </p:nvSpPr>
        <p:spPr>
          <a:ln/>
        </p:spPr>
        <p:txBody>
          <a:bodyPr vert="horz" wrap="square" lIns="91440" tIns="45720" rIns="91440" bIns="45720" anchor="t" anchorCtr="0"/>
          <a:p>
            <a:pPr eaLnBrk="1" hangingPunct="1"/>
            <a:r>
              <a:rPr sz="3600" dirty="0">
                <a:solidFill>
                  <a:srgbClr val="0000FF"/>
                </a:solidFill>
              </a:rPr>
              <a:t>Applications:</a:t>
            </a:r>
            <a:endParaRPr sz="3600" dirty="0">
              <a:solidFill>
                <a:srgbClr val="0000FF"/>
              </a:solidFill>
            </a:endParaRPr>
          </a:p>
          <a:p>
            <a:pPr lvl="2" eaLnBrk="1" hangingPunct="1"/>
            <a:r>
              <a:rPr sz="2800" dirty="0"/>
              <a:t>  Low speed voice band data comm. modems</a:t>
            </a:r>
            <a:endParaRPr sz="2800" dirty="0"/>
          </a:p>
          <a:p>
            <a:pPr lvl="2" eaLnBrk="1" hangingPunct="1"/>
            <a:r>
              <a:rPr sz="2800" dirty="0"/>
              <a:t>  High speed data transmission systems</a:t>
            </a:r>
            <a:endParaRPr sz="2800" dirty="0"/>
          </a:p>
          <a:p>
            <a:pPr lvl="2" eaLnBrk="1" hangingPunct="1"/>
            <a:r>
              <a:rPr sz="2800" dirty="0"/>
              <a:t>  Digital microwave &amp; satellite comm. systems</a:t>
            </a:r>
            <a:endParaRPr sz="2800" dirty="0"/>
          </a:p>
          <a:p>
            <a:pPr lvl="2" eaLnBrk="1" hangingPunct="1"/>
            <a:r>
              <a:rPr sz="2800" dirty="0"/>
              <a:t>  PCS </a:t>
            </a:r>
            <a:r>
              <a:rPr sz="2800" i="1" dirty="0">
                <a:solidFill>
                  <a:schemeClr val="folHlink"/>
                </a:solidFill>
              </a:rPr>
              <a:t>(personal communication systems)</a:t>
            </a:r>
            <a:r>
              <a:rPr sz="2800" dirty="0"/>
              <a:t> telephone</a:t>
            </a:r>
            <a:endParaRPr sz="2800" dirty="0"/>
          </a:p>
        </p:txBody>
      </p:sp>
      <p:sp>
        <p:nvSpPr>
          <p:cNvPr id="4099" name="WordArt 4"/>
          <p:cNvSpPr/>
          <p:nvPr/>
        </p:nvSpPr>
        <p:spPr>
          <a:xfrm>
            <a:off x="457200" y="274638"/>
            <a:ext cx="8229600" cy="1143000"/>
          </a:xfrm>
          <a:prstGeom prst="rect">
            <a:avLst/>
          </a:prstGeom>
        </p:spPr>
        <p:txBody>
          <a:bodyPr wrap="none" fromWordArt="1">
            <a:prstTxWarp prst="textPlain">
              <a:avLst>
                <a:gd name="adj" fmla="val 50000"/>
              </a:avLst>
            </a:prstTxWarp>
            <a:normAutofit/>
          </a:bodyPr>
          <a:p>
            <a:pPr algn="ctr"/>
            <a:r>
              <a:rPr lang="en-US" sz="3600">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Arial Black" panose="020B0A04020102020204" charset="0"/>
                <a:ea typeface="Arial Black" panose="020B0A04020102020204" charset="0"/>
              </a:rPr>
              <a:t>Introduction to Digital Modulation</a:t>
            </a:r>
            <a:endParaRPr lang="en-US" sz="3600">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Arial Black" panose="020B0A04020102020204" charset="0"/>
              <a:ea typeface="Arial Black" panose="020B0A040201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WordArt 4"/>
          <p:cNvSpPr/>
          <p:nvPr/>
        </p:nvSpPr>
        <p:spPr>
          <a:xfrm>
            <a:off x="381000" y="304800"/>
            <a:ext cx="8229600" cy="685800"/>
          </a:xfrm>
          <a:prstGeom prst="rect">
            <a:avLst/>
          </a:prstGeom>
        </p:spPr>
        <p:txBody>
          <a:bodyPr wrap="none" fromWordArt="1">
            <a:prstTxWarp prst="textPlain">
              <a:avLst>
                <a:gd name="adj" fmla="val 50000"/>
              </a:avLst>
            </a:prstTxWarp>
            <a:normAutofit/>
          </a:bodyPr>
          <a:p>
            <a:pPr algn="ctr"/>
            <a:r>
              <a:rPr lang="en-US" sz="3600">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Arial Black" panose="020B0A04020102020204" charset="0"/>
                <a:ea typeface="Arial Black" panose="020B0A04020102020204" charset="0"/>
              </a:rPr>
              <a:t>Introduction to Digital Modulation</a:t>
            </a:r>
            <a:endParaRPr lang="en-US" sz="3600">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Arial Black" panose="020B0A04020102020204" charset="0"/>
              <a:ea typeface="Arial Black" panose="020B0A04020102020204" charset="0"/>
            </a:endParaRPr>
          </a:p>
        </p:txBody>
      </p:sp>
      <p:sp>
        <p:nvSpPr>
          <p:cNvPr id="5123" name="Rectangle 3"/>
          <p:cNvSpPr>
            <a:spLocks noGrp="1"/>
          </p:cNvSpPr>
          <p:nvPr>
            <p:ph type="body" sz="half" idx="1"/>
          </p:nvPr>
        </p:nvSpPr>
        <p:spPr>
          <a:xfrm>
            <a:off x="533400" y="1143000"/>
            <a:ext cx="4038600" cy="533400"/>
          </a:xfrm>
          <a:ln/>
        </p:spPr>
        <p:txBody>
          <a:bodyPr vert="horz" wrap="square" lIns="91440" tIns="45720" rIns="91440" bIns="45720" anchor="t" anchorCtr="0"/>
          <a:p>
            <a:pPr eaLnBrk="1" hangingPunct="1">
              <a:buClrTx/>
              <a:buSzTx/>
              <a:buFontTx/>
            </a:pPr>
            <a:r>
              <a:rPr sz="2800" dirty="0">
                <a:solidFill>
                  <a:schemeClr val="accent2"/>
                </a:solidFill>
                <a:latin typeface="Arial Narrow" panose="020B0606020202030204" pitchFamily="34" charset="0"/>
              </a:rPr>
              <a:t>Why digital modulation?</a:t>
            </a:r>
            <a:endParaRPr sz="2800" dirty="0">
              <a:solidFill>
                <a:schemeClr val="accent2"/>
              </a:solidFill>
              <a:latin typeface="Arial Narrow" panose="020B0606020202030204" pitchFamily="34" charset="0"/>
            </a:endParaRPr>
          </a:p>
        </p:txBody>
      </p:sp>
      <p:sp>
        <p:nvSpPr>
          <p:cNvPr id="5124" name="Rectangle 5"/>
          <p:cNvSpPr/>
          <p:nvPr/>
        </p:nvSpPr>
        <p:spPr>
          <a:xfrm>
            <a:off x="990600" y="1676400"/>
            <a:ext cx="7696200" cy="1735138"/>
          </a:xfrm>
          <a:prstGeom prst="rect">
            <a:avLst/>
          </a:prstGeom>
          <a:noFill/>
          <a:ln w="9525">
            <a:noFill/>
          </a:ln>
        </p:spPr>
        <p:txBody>
          <a:bodyPr>
            <a:spAutoFit/>
          </a:bodyPr>
          <a:p>
            <a:pPr>
              <a:spcBef>
                <a:spcPct val="50000"/>
              </a:spcBef>
              <a:buChar char="•"/>
            </a:pPr>
            <a:r>
              <a:rPr sz="2400" dirty="0">
                <a:latin typeface="Arial" panose="020B0604020202020204" pitchFamily="34" charset="0"/>
              </a:rPr>
              <a:t>The modulation of digital signals with analogue carriers allows an improvement in signal to noise ratio as compared to analogue modulating schemes.</a:t>
            </a:r>
            <a:endParaRPr sz="2400" dirty="0">
              <a:latin typeface="Arial" panose="020B0604020202020204" pitchFamily="34" charset="0"/>
            </a:endParaRPr>
          </a:p>
          <a:p>
            <a:pPr>
              <a:spcBef>
                <a:spcPct val="50000"/>
              </a:spcBef>
              <a:buChar char="•"/>
            </a:pPr>
            <a:endParaRPr sz="2400" dirty="0">
              <a:latin typeface="Arial" panose="020B0604020202020204" pitchFamily="34" charset="0"/>
            </a:endParaRPr>
          </a:p>
        </p:txBody>
      </p:sp>
      <p:pic>
        <p:nvPicPr>
          <p:cNvPr id="5125" name="Picture 7"/>
          <p:cNvPicPr>
            <a:picLocks noChangeAspect="1"/>
          </p:cNvPicPr>
          <p:nvPr>
            <p:ph sz="half" idx="2"/>
          </p:nvPr>
        </p:nvPicPr>
        <p:blipFill>
          <a:blip r:embed="rId1"/>
          <a:srcRect/>
          <a:stretch>
            <a:fillRect/>
          </a:stretch>
        </p:blipFill>
        <p:spPr>
          <a:xfrm>
            <a:off x="838200" y="3048000"/>
            <a:ext cx="7620000" cy="3200400"/>
          </a:xfr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3"/>
          <p:cNvSpPr>
            <a:spLocks noGrp="1"/>
          </p:cNvSpPr>
          <p:nvPr>
            <p:ph idx="1"/>
          </p:nvPr>
        </p:nvSpPr>
        <p:spPr>
          <a:xfrm>
            <a:off x="457200" y="1600200"/>
            <a:ext cx="3352800" cy="762000"/>
          </a:xfrm>
          <a:ln/>
        </p:spPr>
        <p:txBody>
          <a:bodyPr vert="horz" wrap="square" lIns="91440" tIns="45720" rIns="91440" bIns="45720" anchor="t" anchorCtr="0"/>
          <a:p>
            <a:pPr eaLnBrk="1" hangingPunct="1"/>
            <a:r>
              <a:rPr dirty="0">
                <a:solidFill>
                  <a:schemeClr val="accent2"/>
                </a:solidFill>
                <a:latin typeface="Arial Narrow" panose="020B0606020202030204" pitchFamily="34" charset="0"/>
              </a:rPr>
              <a:t>Important Criteria</a:t>
            </a:r>
            <a:endParaRPr dirty="0">
              <a:solidFill>
                <a:schemeClr val="accent2"/>
              </a:solidFill>
              <a:latin typeface="Arial Narrow" panose="020B0606020202030204" pitchFamily="34" charset="0"/>
            </a:endParaRPr>
          </a:p>
        </p:txBody>
      </p:sp>
      <p:sp>
        <p:nvSpPr>
          <p:cNvPr id="6147" name="Rectangle 4"/>
          <p:cNvSpPr/>
          <p:nvPr/>
        </p:nvSpPr>
        <p:spPr>
          <a:xfrm>
            <a:off x="609600" y="2438400"/>
            <a:ext cx="8077200" cy="3503613"/>
          </a:xfrm>
          <a:prstGeom prst="rect">
            <a:avLst/>
          </a:prstGeom>
          <a:noFill/>
          <a:ln w="9525">
            <a:noFill/>
          </a:ln>
        </p:spPr>
        <p:txBody>
          <a:bodyPr>
            <a:spAutoFit/>
          </a:bodyPr>
          <a:p>
            <a:pPr marL="342900" indent="-342900">
              <a:buNone/>
            </a:pPr>
            <a:r>
              <a:rPr sz="3200" b="1" dirty="0">
                <a:latin typeface="Arial" panose="020B0604020202020204" pitchFamily="34" charset="0"/>
              </a:rPr>
              <a:t>1.  High spectral efficiency</a:t>
            </a:r>
            <a:endParaRPr sz="3200" b="1" dirty="0">
              <a:latin typeface="Arial" panose="020B0604020202020204" pitchFamily="34" charset="0"/>
            </a:endParaRPr>
          </a:p>
          <a:p>
            <a:pPr marL="342900" indent="-342900">
              <a:buNone/>
            </a:pPr>
            <a:r>
              <a:rPr sz="3200" b="1" dirty="0">
                <a:latin typeface="Arial" panose="020B0604020202020204" pitchFamily="34" charset="0"/>
              </a:rPr>
              <a:t>2.  High power efficiency</a:t>
            </a:r>
            <a:endParaRPr sz="3200" b="1" dirty="0">
              <a:latin typeface="Arial" panose="020B0604020202020204" pitchFamily="34" charset="0"/>
            </a:endParaRPr>
          </a:p>
          <a:p>
            <a:pPr marL="342900" indent="-342900">
              <a:buNone/>
            </a:pPr>
            <a:r>
              <a:rPr sz="3200" b="1" dirty="0">
                <a:latin typeface="Arial" panose="020B0604020202020204" pitchFamily="34" charset="0"/>
              </a:rPr>
              <a:t>3.  Robust to multipath</a:t>
            </a:r>
            <a:endParaRPr sz="3200" b="1" dirty="0">
              <a:latin typeface="Arial" panose="020B0604020202020204" pitchFamily="34" charset="0"/>
            </a:endParaRPr>
          </a:p>
          <a:p>
            <a:pPr marL="342900" indent="-342900">
              <a:buNone/>
            </a:pPr>
            <a:r>
              <a:rPr sz="3200" b="1" dirty="0">
                <a:latin typeface="Arial" panose="020B0604020202020204" pitchFamily="34" charset="0"/>
              </a:rPr>
              <a:t>4.  Low cost and ease of implementation</a:t>
            </a:r>
            <a:endParaRPr sz="3200" b="1" dirty="0">
              <a:latin typeface="Arial" panose="020B0604020202020204" pitchFamily="34" charset="0"/>
            </a:endParaRPr>
          </a:p>
          <a:p>
            <a:pPr marL="342900" indent="-342900">
              <a:buAutoNum type="arabicPeriod" startAt="5"/>
            </a:pPr>
            <a:r>
              <a:rPr sz="3200" b="1" dirty="0">
                <a:latin typeface="Arial" panose="020B0604020202020204" pitchFamily="34" charset="0"/>
              </a:rPr>
              <a:t>  Low carrier-to-co channel  </a:t>
            </a:r>
            <a:endParaRPr sz="3200" b="1" dirty="0">
              <a:latin typeface="Arial" panose="020B0604020202020204" pitchFamily="34" charset="0"/>
            </a:endParaRPr>
          </a:p>
          <a:p>
            <a:pPr marL="342900" indent="-342900">
              <a:buNone/>
            </a:pPr>
            <a:r>
              <a:rPr sz="3200" b="1" dirty="0">
                <a:latin typeface="Arial" panose="020B0604020202020204" pitchFamily="34" charset="0"/>
              </a:rPr>
              <a:t>     interference ratio</a:t>
            </a:r>
            <a:endParaRPr sz="3200" b="1" dirty="0">
              <a:latin typeface="Arial" panose="020B0604020202020204" pitchFamily="34" charset="0"/>
            </a:endParaRPr>
          </a:p>
          <a:p>
            <a:pPr marL="342900" indent="-342900">
              <a:buNone/>
            </a:pPr>
            <a:r>
              <a:rPr sz="3200" b="1" dirty="0">
                <a:latin typeface="Arial" panose="020B0604020202020204" pitchFamily="34" charset="0"/>
              </a:rPr>
              <a:t>6.  Low out-of-band radiation</a:t>
            </a:r>
            <a:endParaRPr sz="3200" b="1" dirty="0">
              <a:latin typeface="Arial" panose="020B0604020202020204" pitchFamily="34" charset="0"/>
            </a:endParaRPr>
          </a:p>
        </p:txBody>
      </p:sp>
      <p:sp>
        <p:nvSpPr>
          <p:cNvPr id="6148" name="WordArt 5"/>
          <p:cNvSpPr/>
          <p:nvPr/>
        </p:nvSpPr>
        <p:spPr>
          <a:xfrm>
            <a:off x="457200" y="274638"/>
            <a:ext cx="8229600" cy="1143000"/>
          </a:xfrm>
          <a:prstGeom prst="rect">
            <a:avLst/>
          </a:prstGeom>
        </p:spPr>
        <p:txBody>
          <a:bodyPr wrap="none" fromWordArt="1">
            <a:prstTxWarp prst="textPlain">
              <a:avLst>
                <a:gd name="adj" fmla="val 50000"/>
              </a:avLst>
            </a:prstTxWarp>
            <a:normAutofit/>
          </a:bodyPr>
          <a:p>
            <a:pPr algn="ctr"/>
            <a:r>
              <a:rPr lang="en-US" sz="3600">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Arial Black" panose="020B0A04020102020204" charset="0"/>
                <a:ea typeface="Arial Black" panose="020B0A04020102020204" charset="0"/>
              </a:rPr>
              <a:t>Introduction to Digital Modulation</a:t>
            </a:r>
            <a:endParaRPr lang="en-US" sz="3600">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Arial Black" panose="020B0A04020102020204" charset="0"/>
              <a:ea typeface="Arial Black" panose="020B0A040201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3"/>
          <p:cNvSpPr>
            <a:spLocks noGrp="1"/>
          </p:cNvSpPr>
          <p:nvPr>
            <p:ph idx="1"/>
          </p:nvPr>
        </p:nvSpPr>
        <p:spPr>
          <a:ln/>
        </p:spPr>
        <p:txBody>
          <a:bodyPr vert="horz" wrap="square" lIns="91440" tIns="45720" rIns="91440" bIns="45720" anchor="t" anchorCtr="0"/>
          <a:p>
            <a:pPr eaLnBrk="1" hangingPunct="1">
              <a:lnSpc>
                <a:spcPct val="90000"/>
              </a:lnSpc>
              <a:buNone/>
            </a:pPr>
            <a:r>
              <a:rPr b="1" dirty="0">
                <a:latin typeface="Times New Roman" panose="02020603050405020304" pitchFamily="18" charset="0"/>
                <a:cs typeface="Times New Roman" panose="02020603050405020304" pitchFamily="18" charset="0"/>
              </a:rPr>
              <a:t>7.		Constant or near constant envelop</a:t>
            </a:r>
            <a:endParaRPr b="1" dirty="0">
              <a:latin typeface="Times New Roman" panose="02020603050405020304" pitchFamily="18" charset="0"/>
              <a:cs typeface="Times New Roman" panose="02020603050405020304" pitchFamily="18" charset="0"/>
            </a:endParaRPr>
          </a:p>
          <a:p>
            <a:pPr eaLnBrk="1" hangingPunct="1">
              <a:lnSpc>
                <a:spcPct val="90000"/>
              </a:lnSpc>
              <a:buNone/>
            </a:pPr>
            <a:r>
              <a:rPr b="1" dirty="0">
                <a:latin typeface="Times New Roman" panose="02020603050405020304" pitchFamily="18" charset="0"/>
                <a:cs typeface="Times New Roman" panose="02020603050405020304" pitchFamily="18" charset="0"/>
              </a:rPr>
              <a:t>8.		Bandwidth Efficiency</a:t>
            </a:r>
            <a:endParaRPr b="1" dirty="0">
              <a:latin typeface="Times New Roman" panose="02020603050405020304" pitchFamily="18" charset="0"/>
              <a:cs typeface="Times New Roman" panose="02020603050405020304" pitchFamily="18" charset="0"/>
            </a:endParaRPr>
          </a:p>
          <a:p>
            <a:pPr lvl="2" eaLnBrk="1" hangingPunct="1">
              <a:lnSpc>
                <a:spcPct val="90000"/>
              </a:lnSpc>
            </a:pPr>
            <a:r>
              <a:rPr b="1" dirty="0">
                <a:solidFill>
                  <a:schemeClr val="hlink"/>
                </a:solidFill>
                <a:latin typeface="Times New Roman" panose="02020603050405020304" pitchFamily="18" charset="0"/>
                <a:cs typeface="Times New Roman" panose="02020603050405020304" pitchFamily="18" charset="0"/>
              </a:rPr>
              <a:t>Ability to accommodate data within a limited bandwidth</a:t>
            </a:r>
            <a:endParaRPr b="1" dirty="0">
              <a:solidFill>
                <a:schemeClr val="hlink"/>
              </a:solidFill>
              <a:latin typeface="Times New Roman" panose="02020603050405020304" pitchFamily="18" charset="0"/>
              <a:cs typeface="Times New Roman" panose="02020603050405020304" pitchFamily="18" charset="0"/>
            </a:endParaRPr>
          </a:p>
          <a:p>
            <a:pPr lvl="2" eaLnBrk="1" hangingPunct="1">
              <a:lnSpc>
                <a:spcPct val="90000"/>
              </a:lnSpc>
            </a:pPr>
            <a:r>
              <a:rPr b="1" dirty="0">
                <a:solidFill>
                  <a:schemeClr val="hlink"/>
                </a:solidFill>
                <a:latin typeface="Times New Roman" panose="02020603050405020304" pitchFamily="18" charset="0"/>
                <a:cs typeface="Times New Roman" panose="02020603050405020304" pitchFamily="18" charset="0"/>
              </a:rPr>
              <a:t>Tradeoff between data rate and pulse width</a:t>
            </a:r>
            <a:endParaRPr b="1" dirty="0">
              <a:solidFill>
                <a:schemeClr val="hlink"/>
              </a:solidFill>
              <a:latin typeface="Times New Roman" panose="02020603050405020304" pitchFamily="18" charset="0"/>
              <a:cs typeface="Times New Roman" panose="02020603050405020304" pitchFamily="18" charset="0"/>
            </a:endParaRPr>
          </a:p>
          <a:p>
            <a:pPr eaLnBrk="1" hangingPunct="1">
              <a:lnSpc>
                <a:spcPct val="90000"/>
              </a:lnSpc>
              <a:buNone/>
            </a:pPr>
            <a:r>
              <a:rPr b="1" dirty="0">
                <a:latin typeface="Times New Roman" panose="02020603050405020304" pitchFamily="18" charset="0"/>
                <a:cs typeface="Times New Roman" panose="02020603050405020304" pitchFamily="18" charset="0"/>
              </a:rPr>
              <a:t>9.		Power Efficiency</a:t>
            </a:r>
            <a:endParaRPr b="1" dirty="0">
              <a:latin typeface="Times New Roman" panose="02020603050405020304" pitchFamily="18" charset="0"/>
              <a:cs typeface="Times New Roman" panose="02020603050405020304" pitchFamily="18" charset="0"/>
            </a:endParaRPr>
          </a:p>
          <a:p>
            <a:pPr lvl="2" eaLnBrk="1" hangingPunct="1">
              <a:lnSpc>
                <a:spcPct val="90000"/>
              </a:lnSpc>
            </a:pPr>
            <a:r>
              <a:rPr b="1" dirty="0">
                <a:solidFill>
                  <a:schemeClr val="hlink"/>
                </a:solidFill>
                <a:latin typeface="Times New Roman" panose="02020603050405020304" pitchFamily="18" charset="0"/>
                <a:cs typeface="Times New Roman" panose="02020603050405020304" pitchFamily="18" charset="0"/>
              </a:rPr>
              <a:t>To preserve the fidelity of the digital message at low power levels.</a:t>
            </a:r>
            <a:endParaRPr b="1" dirty="0">
              <a:solidFill>
                <a:schemeClr val="hlink"/>
              </a:solidFill>
              <a:latin typeface="Times New Roman" panose="02020603050405020304" pitchFamily="18" charset="0"/>
              <a:cs typeface="Times New Roman" panose="02020603050405020304" pitchFamily="18" charset="0"/>
            </a:endParaRPr>
          </a:p>
          <a:p>
            <a:pPr lvl="2" eaLnBrk="1" hangingPunct="1">
              <a:lnSpc>
                <a:spcPct val="90000"/>
              </a:lnSpc>
            </a:pPr>
            <a:r>
              <a:rPr b="1" dirty="0">
                <a:solidFill>
                  <a:schemeClr val="hlink"/>
                </a:solidFill>
                <a:latin typeface="Times New Roman" panose="02020603050405020304" pitchFamily="18" charset="0"/>
                <a:cs typeface="Times New Roman" panose="02020603050405020304" pitchFamily="18" charset="0"/>
              </a:rPr>
              <a:t>Can increase noise immunity by increasing signal power</a:t>
            </a:r>
            <a:endParaRPr b="1" dirty="0">
              <a:solidFill>
                <a:schemeClr val="hlink"/>
              </a:solidFill>
              <a:latin typeface="Times New Roman" panose="02020603050405020304" pitchFamily="18" charset="0"/>
              <a:cs typeface="Times New Roman" panose="02020603050405020304" pitchFamily="18" charset="0"/>
            </a:endParaRPr>
          </a:p>
          <a:p>
            <a:pPr eaLnBrk="1" hangingPunct="1">
              <a:lnSpc>
                <a:spcPct val="90000"/>
              </a:lnSpc>
            </a:pPr>
            <a:endParaRPr dirty="0"/>
          </a:p>
        </p:txBody>
      </p:sp>
      <p:sp>
        <p:nvSpPr>
          <p:cNvPr id="7171" name="WordArt 4"/>
          <p:cNvSpPr/>
          <p:nvPr/>
        </p:nvSpPr>
        <p:spPr>
          <a:xfrm>
            <a:off x="457200" y="274638"/>
            <a:ext cx="8229600" cy="1143000"/>
          </a:xfrm>
          <a:prstGeom prst="rect">
            <a:avLst/>
          </a:prstGeom>
        </p:spPr>
        <p:txBody>
          <a:bodyPr wrap="none" fromWordArt="1">
            <a:prstTxWarp prst="textPlain">
              <a:avLst>
                <a:gd name="adj" fmla="val 50000"/>
              </a:avLst>
            </a:prstTxWarp>
            <a:normAutofit/>
          </a:bodyPr>
          <a:p>
            <a:pPr algn="ctr"/>
            <a:r>
              <a:rPr lang="en-US" sz="3600">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Arial Black" panose="020B0A04020102020204" charset="0"/>
                <a:ea typeface="Arial Black" panose="020B0A04020102020204" charset="0"/>
              </a:rPr>
              <a:t>Introduction to Digital Modulation</a:t>
            </a:r>
            <a:endParaRPr lang="en-US" sz="3600">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Arial Black" panose="020B0A04020102020204" charset="0"/>
              <a:ea typeface="Arial Black" panose="020B0A0402010202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ctrTitle"/>
          </p:nvPr>
        </p:nvSpPr>
        <p:spPr>
          <a:ln/>
        </p:spPr>
        <p:txBody>
          <a:bodyPr vert="horz" wrap="square" lIns="91440" tIns="45720" rIns="91440" bIns="45720" anchor="ctr" anchorCtr="0"/>
          <a:p>
            <a:pPr eaLnBrk="1" hangingPunct="1">
              <a:buClrTx/>
              <a:buSzTx/>
              <a:buFontTx/>
            </a:pPr>
            <a:r>
              <a:rPr b="1" dirty="0"/>
              <a:t>PULSE MODULATION</a:t>
            </a:r>
            <a:endParaRPr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3"/>
          <p:cNvSpPr>
            <a:spLocks noGrp="1"/>
          </p:cNvSpPr>
          <p:nvPr>
            <p:ph idx="1"/>
          </p:nvPr>
        </p:nvSpPr>
        <p:spPr>
          <a:ln/>
        </p:spPr>
        <p:txBody>
          <a:bodyPr vert="horz" wrap="square" lIns="91440" tIns="45720" rIns="91440" bIns="45720" anchor="t" anchorCtr="0"/>
          <a:p>
            <a:pPr eaLnBrk="1" hangingPunct="1"/>
            <a:r>
              <a:rPr dirty="0"/>
              <a:t>Pulse modulation includes many different methods of converting information into pulse form for transferring pulses from a source to a destination.</a:t>
            </a:r>
            <a:endParaRPr dirty="0"/>
          </a:p>
          <a:p>
            <a:pPr eaLnBrk="1" hangingPunct="1"/>
            <a:r>
              <a:rPr dirty="0"/>
              <a:t>Divided into two categories;</a:t>
            </a:r>
            <a:endParaRPr dirty="0"/>
          </a:p>
          <a:p>
            <a:pPr eaLnBrk="1" hangingPunct="1"/>
            <a:r>
              <a:rPr dirty="0"/>
              <a:t>1. Analog Pulse Modulation (APM)</a:t>
            </a:r>
            <a:endParaRPr dirty="0"/>
          </a:p>
          <a:p>
            <a:pPr eaLnBrk="1" hangingPunct="1"/>
            <a:r>
              <a:rPr dirty="0"/>
              <a:t>2. Digital Pulse Modulation   (DPM)</a:t>
            </a:r>
            <a:endParaRPr dirty="0"/>
          </a:p>
        </p:txBody>
      </p:sp>
      <p:sp>
        <p:nvSpPr>
          <p:cNvPr id="9219" name="WordArt 4"/>
          <p:cNvSpPr/>
          <p:nvPr/>
        </p:nvSpPr>
        <p:spPr>
          <a:xfrm>
            <a:off x="457200" y="274638"/>
            <a:ext cx="8229600" cy="1143000"/>
          </a:xfrm>
          <a:prstGeom prst="rect">
            <a:avLst/>
          </a:prstGeom>
        </p:spPr>
        <p:txBody>
          <a:bodyPr wrap="none" fromWordArt="1">
            <a:prstTxWarp prst="textPlain">
              <a:avLst>
                <a:gd name="adj" fmla="val 50000"/>
              </a:avLst>
            </a:prstTxWarp>
            <a:normAutofit/>
          </a:bodyPr>
          <a:p>
            <a:pPr algn="ctr"/>
            <a:r>
              <a:rPr lang="en-US" sz="3600">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Arial Black" panose="020B0A04020102020204" charset="0"/>
                <a:ea typeface="Arial Black" panose="020B0A04020102020204" charset="0"/>
              </a:rPr>
              <a:t>Introduction to Pulse Modulation</a:t>
            </a:r>
            <a:endParaRPr lang="en-US" sz="3600">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Arial Black" panose="020B0A04020102020204" charset="0"/>
              <a:ea typeface="Arial Black" panose="020B0A0402010202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ln/>
        </p:spPr>
        <p:txBody>
          <a:bodyPr vert="horz" wrap="square" lIns="91440" tIns="45720" rIns="91440" bIns="45720" anchor="ctr" anchorCtr="0"/>
          <a:p>
            <a:pPr eaLnBrk="1" hangingPunct="1"/>
            <a:r>
              <a:rPr sz="4000" b="1" dirty="0">
                <a:solidFill>
                  <a:schemeClr val="hlink"/>
                </a:solidFill>
              </a:rPr>
              <a:t>PULSE MODULATION</a:t>
            </a:r>
            <a:endParaRPr sz="4000" b="1" dirty="0">
              <a:solidFill>
                <a:schemeClr val="hlink"/>
              </a:solidFill>
            </a:endParaRPr>
          </a:p>
        </p:txBody>
      </p:sp>
      <p:sp>
        <p:nvSpPr>
          <p:cNvPr id="10243" name="Rectangle 3"/>
          <p:cNvSpPr>
            <a:spLocks noGrp="1"/>
          </p:cNvSpPr>
          <p:nvPr>
            <p:ph type="body" sz="half" idx="1"/>
          </p:nvPr>
        </p:nvSpPr>
        <p:spPr>
          <a:xfrm>
            <a:off x="457200" y="1600200"/>
            <a:ext cx="7924800" cy="4525963"/>
          </a:xfrm>
          <a:ln/>
        </p:spPr>
        <p:txBody>
          <a:bodyPr vert="horz" wrap="square" lIns="91440" tIns="45720" rIns="91440" bIns="45720" anchor="t" anchorCtr="0"/>
          <a:p>
            <a:pPr eaLnBrk="1" hangingPunct="1">
              <a:buClrTx/>
              <a:buSzTx/>
              <a:buFontTx/>
            </a:pPr>
            <a:r>
              <a:rPr sz="2400" b="1" dirty="0"/>
              <a:t>Sampling analog information signal</a:t>
            </a:r>
            <a:endParaRPr sz="2400" b="1" dirty="0"/>
          </a:p>
          <a:p>
            <a:pPr eaLnBrk="1" hangingPunct="1">
              <a:buClrTx/>
              <a:buSzTx/>
              <a:buFontTx/>
            </a:pPr>
            <a:r>
              <a:rPr sz="2400" b="1" dirty="0"/>
              <a:t>Converting samples into discrete pulses</a:t>
            </a:r>
            <a:endParaRPr sz="2400" b="1" dirty="0"/>
          </a:p>
          <a:p>
            <a:pPr eaLnBrk="1" hangingPunct="1">
              <a:buClrTx/>
              <a:buSzTx/>
              <a:buFontTx/>
            </a:pPr>
            <a:r>
              <a:rPr sz="2400" b="1" dirty="0"/>
              <a:t>Transport the pulses over physical transmission medium.</a:t>
            </a:r>
            <a:endParaRPr sz="2400" b="1" dirty="0"/>
          </a:p>
          <a:p>
            <a:pPr eaLnBrk="1" hangingPunct="1">
              <a:buClrTx/>
              <a:buSzTx/>
              <a:buFontTx/>
            </a:pPr>
            <a:endParaRPr sz="2400" b="1" dirty="0"/>
          </a:p>
          <a:p>
            <a:pPr eaLnBrk="1" hangingPunct="1">
              <a:buClrTx/>
              <a:buSzTx/>
              <a:buFontTx/>
            </a:pPr>
            <a:r>
              <a:rPr sz="2800" b="1" dirty="0"/>
              <a:t>Four (4) Methods</a:t>
            </a:r>
            <a:endParaRPr sz="2800" b="1" dirty="0"/>
          </a:p>
          <a:p>
            <a:pPr eaLnBrk="1" hangingPunct="1">
              <a:buClrTx/>
              <a:buSzTx/>
              <a:buFontTx/>
              <a:buNone/>
            </a:pPr>
            <a:r>
              <a:rPr sz="2800" dirty="0"/>
              <a:t>		</a:t>
            </a:r>
            <a:r>
              <a:rPr sz="2400" b="1" dirty="0"/>
              <a:t>1</a:t>
            </a:r>
            <a:r>
              <a:rPr sz="2800" dirty="0"/>
              <a:t>.	</a:t>
            </a:r>
            <a:r>
              <a:rPr sz="2400" b="1" dirty="0"/>
              <a:t>PAM</a:t>
            </a:r>
            <a:endParaRPr sz="2400" b="1" dirty="0"/>
          </a:p>
          <a:p>
            <a:pPr eaLnBrk="1" hangingPunct="1">
              <a:buClrTx/>
              <a:buSzTx/>
              <a:buFontTx/>
              <a:buNone/>
            </a:pPr>
            <a:r>
              <a:rPr sz="2400" b="1" dirty="0"/>
              <a:t>		2.	PWM</a:t>
            </a:r>
            <a:endParaRPr sz="2400" b="1" dirty="0"/>
          </a:p>
          <a:p>
            <a:pPr eaLnBrk="1" hangingPunct="1">
              <a:buClrTx/>
              <a:buSzTx/>
              <a:buFontTx/>
              <a:buNone/>
            </a:pPr>
            <a:r>
              <a:rPr sz="2400" b="1" dirty="0"/>
              <a:t>		3.	PPM</a:t>
            </a:r>
            <a:endParaRPr sz="2400" b="1" dirty="0"/>
          </a:p>
          <a:p>
            <a:pPr eaLnBrk="1" hangingPunct="1">
              <a:buClrTx/>
              <a:buSzTx/>
              <a:buFontTx/>
              <a:buNone/>
            </a:pPr>
            <a:r>
              <a:rPr sz="2400" b="1" dirty="0"/>
              <a:t>		4.	PCM </a:t>
            </a:r>
            <a:endParaRPr sz="2400" b="1" dirty="0"/>
          </a:p>
        </p:txBody>
      </p:sp>
      <p:graphicFrame>
        <p:nvGraphicFramePr>
          <p:cNvPr id="10244" name="Object 4"/>
          <p:cNvGraphicFramePr>
            <a:graphicFrameLocks noChangeAspect="1"/>
          </p:cNvGraphicFramePr>
          <p:nvPr>
            <p:ph sz="quarter" idx="2"/>
          </p:nvPr>
        </p:nvGraphicFramePr>
        <p:xfrm>
          <a:off x="3505200" y="4267200"/>
          <a:ext cx="514350" cy="1295400"/>
        </p:xfrm>
        <a:graphic>
          <a:graphicData uri="http://schemas.openxmlformats.org/presentationml/2006/ole">
            <mc:AlternateContent xmlns:mc="http://schemas.openxmlformats.org/markup-compatibility/2006">
              <mc:Choice xmlns:v="urn:schemas-microsoft-com:vml" Requires="v">
                <p:oleObj spid="_x0000_s3077" name="" r:id="rId1" imgW="165100" imgH="215900" progId="Equation.3">
                  <p:embed/>
                </p:oleObj>
              </mc:Choice>
              <mc:Fallback>
                <p:oleObj name="" r:id="rId1" imgW="165100" imgH="215900" progId="Equation.3">
                  <p:embed/>
                  <p:pic>
                    <p:nvPicPr>
                      <p:cNvPr id="0" name="Picture 3076"/>
                      <p:cNvPicPr/>
                      <p:nvPr/>
                    </p:nvPicPr>
                    <p:blipFill>
                      <a:blip r:embed="rId2"/>
                      <a:srcRect/>
                      <a:stretch>
                        <a:fillRect/>
                      </a:stretch>
                    </p:blipFill>
                    <p:spPr>
                      <a:xfrm>
                        <a:off x="3505200" y="4267200"/>
                        <a:ext cx="514350" cy="1295400"/>
                      </a:xfrm>
                      <a:prstGeom prst="rect">
                        <a:avLst/>
                      </a:prstGeom>
                      <a:noFill/>
                      <a:ln w="38100">
                        <a:miter/>
                      </a:ln>
                    </p:spPr>
                  </p:pic>
                </p:oleObj>
              </mc:Fallback>
            </mc:AlternateContent>
          </a:graphicData>
        </a:graphic>
      </p:graphicFrame>
      <p:sp>
        <p:nvSpPr>
          <p:cNvPr id="10245" name="Text Box 5"/>
          <p:cNvSpPr txBox="1"/>
          <p:nvPr/>
        </p:nvSpPr>
        <p:spPr>
          <a:xfrm>
            <a:off x="3733800" y="3810000"/>
            <a:ext cx="1600200" cy="366713"/>
          </a:xfrm>
          <a:prstGeom prst="rect">
            <a:avLst/>
          </a:prstGeom>
          <a:noFill/>
          <a:ln w="9525">
            <a:noFill/>
          </a:ln>
        </p:spPr>
        <p:txBody>
          <a:bodyPr>
            <a:spAutoFit/>
          </a:bodyPr>
          <a:p>
            <a:pPr>
              <a:spcBef>
                <a:spcPct val="50000"/>
              </a:spcBef>
            </a:pPr>
            <a:endParaRPr dirty="0">
              <a:latin typeface="Arial" panose="020B0604020202020204" pitchFamily="34" charset="0"/>
            </a:endParaRPr>
          </a:p>
        </p:txBody>
      </p:sp>
      <p:sp>
        <p:nvSpPr>
          <p:cNvPr id="10246" name="Text Box 6"/>
          <p:cNvSpPr txBox="1"/>
          <p:nvPr/>
        </p:nvSpPr>
        <p:spPr>
          <a:xfrm>
            <a:off x="4267200" y="4572000"/>
            <a:ext cx="3352800" cy="396875"/>
          </a:xfrm>
          <a:prstGeom prst="rect">
            <a:avLst/>
          </a:prstGeom>
          <a:noFill/>
          <a:ln w="9525">
            <a:noFill/>
          </a:ln>
        </p:spPr>
        <p:txBody>
          <a:bodyPr>
            <a:spAutoFit/>
          </a:bodyPr>
          <a:p>
            <a:pPr>
              <a:spcBef>
                <a:spcPct val="50000"/>
              </a:spcBef>
            </a:pPr>
            <a:r>
              <a:rPr sz="2000" b="1" dirty="0">
                <a:latin typeface="Arial" panose="020B0604020202020204" pitchFamily="34" charset="0"/>
              </a:rPr>
              <a:t>Analog Pulse Modulation</a:t>
            </a:r>
            <a:endParaRPr sz="2000" b="1" dirty="0">
              <a:latin typeface="Arial" panose="020B0604020202020204" pitchFamily="34" charset="0"/>
            </a:endParaRPr>
          </a:p>
        </p:txBody>
      </p:sp>
      <p:graphicFrame>
        <p:nvGraphicFramePr>
          <p:cNvPr id="10247" name="Object 7"/>
          <p:cNvGraphicFramePr>
            <a:graphicFrameLocks noChangeAspect="1"/>
          </p:cNvGraphicFramePr>
          <p:nvPr>
            <p:ph sz="quarter" idx="3"/>
          </p:nvPr>
        </p:nvGraphicFramePr>
        <p:xfrm>
          <a:off x="3429000" y="5562600"/>
          <a:ext cx="606425" cy="511175"/>
        </p:xfrm>
        <a:graphic>
          <a:graphicData uri="http://schemas.openxmlformats.org/presentationml/2006/ole">
            <mc:AlternateContent xmlns:mc="http://schemas.openxmlformats.org/markup-compatibility/2006">
              <mc:Choice xmlns:v="urn:schemas-microsoft-com:vml" Requires="v">
                <p:oleObj spid="_x0000_s3076" name="" r:id="rId3" imgW="165100" imgH="215900" progId="Equation.3">
                  <p:embed/>
                </p:oleObj>
              </mc:Choice>
              <mc:Fallback>
                <p:oleObj name="" r:id="rId3" imgW="165100" imgH="215900" progId="Equation.3">
                  <p:embed/>
                  <p:pic>
                    <p:nvPicPr>
                      <p:cNvPr id="0" name="Picture 3075"/>
                      <p:cNvPicPr/>
                      <p:nvPr/>
                    </p:nvPicPr>
                    <p:blipFill>
                      <a:blip r:embed="rId4"/>
                      <a:srcRect/>
                      <a:stretch>
                        <a:fillRect/>
                      </a:stretch>
                    </p:blipFill>
                    <p:spPr>
                      <a:xfrm>
                        <a:off x="3429000" y="5562600"/>
                        <a:ext cx="606425" cy="511175"/>
                      </a:xfrm>
                      <a:prstGeom prst="rect">
                        <a:avLst/>
                      </a:prstGeom>
                      <a:noFill/>
                      <a:ln w="38100">
                        <a:miter/>
                      </a:ln>
                    </p:spPr>
                  </p:pic>
                </p:oleObj>
              </mc:Fallback>
            </mc:AlternateContent>
          </a:graphicData>
        </a:graphic>
      </p:graphicFrame>
      <p:sp>
        <p:nvSpPr>
          <p:cNvPr id="10248" name="Text Box 8"/>
          <p:cNvSpPr txBox="1"/>
          <p:nvPr/>
        </p:nvSpPr>
        <p:spPr>
          <a:xfrm>
            <a:off x="4191000" y="5562600"/>
            <a:ext cx="3505200" cy="396875"/>
          </a:xfrm>
          <a:prstGeom prst="rect">
            <a:avLst/>
          </a:prstGeom>
          <a:noFill/>
          <a:ln w="9525">
            <a:noFill/>
          </a:ln>
        </p:spPr>
        <p:txBody>
          <a:bodyPr>
            <a:spAutoFit/>
          </a:bodyPr>
          <a:p>
            <a:pPr>
              <a:spcBef>
                <a:spcPct val="50000"/>
              </a:spcBef>
            </a:pPr>
            <a:r>
              <a:rPr sz="2000" b="1" dirty="0">
                <a:latin typeface="Arial" panose="020B0604020202020204" pitchFamily="34" charset="0"/>
              </a:rPr>
              <a:t>Digital Pulse Modulation</a:t>
            </a:r>
            <a:endParaRPr sz="2000" b="1" dirty="0">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ln/>
        </p:spPr>
        <p:txBody>
          <a:bodyPr vert="horz" wrap="square" lIns="91440" tIns="45720" rIns="91440" bIns="45720" anchor="ctr" anchorCtr="0"/>
          <a:p>
            <a:pPr eaLnBrk="1" hangingPunct="1"/>
            <a:r>
              <a:rPr sz="4000" dirty="0">
                <a:solidFill>
                  <a:schemeClr val="accent2"/>
                </a:solidFill>
              </a:rPr>
              <a:t>PULSE MODULATION :Sampling</a:t>
            </a:r>
            <a:endParaRPr sz="4000" dirty="0">
              <a:solidFill>
                <a:schemeClr val="accent2"/>
              </a:solidFill>
            </a:endParaRPr>
          </a:p>
        </p:txBody>
      </p:sp>
      <p:sp>
        <p:nvSpPr>
          <p:cNvPr id="11267" name="Rectangle 3"/>
          <p:cNvSpPr>
            <a:spLocks noGrp="1"/>
          </p:cNvSpPr>
          <p:nvPr>
            <p:ph idx="1"/>
          </p:nvPr>
        </p:nvSpPr>
        <p:spPr>
          <a:ln/>
        </p:spPr>
        <p:txBody>
          <a:bodyPr vert="horz" wrap="square" lIns="91440" tIns="45720" rIns="91440" bIns="45720" anchor="t" anchorCtr="0"/>
          <a:p>
            <a:pPr eaLnBrk="1" hangingPunct="1">
              <a:lnSpc>
                <a:spcPct val="90000"/>
              </a:lnSpc>
            </a:pPr>
            <a:r>
              <a:rPr dirty="0">
                <a:solidFill>
                  <a:schemeClr val="folHlink"/>
                </a:solidFill>
              </a:rPr>
              <a:t>What is sampling?</a:t>
            </a:r>
            <a:endParaRPr dirty="0">
              <a:solidFill>
                <a:schemeClr val="folHlink"/>
              </a:solidFill>
            </a:endParaRPr>
          </a:p>
          <a:p>
            <a:pPr eaLnBrk="1" hangingPunct="1">
              <a:lnSpc>
                <a:spcPct val="90000"/>
              </a:lnSpc>
            </a:pPr>
            <a:r>
              <a:rPr dirty="0"/>
              <a:t>Sampling is </a:t>
            </a:r>
            <a:r>
              <a:rPr dirty="0">
                <a:solidFill>
                  <a:srgbClr val="FF0000"/>
                </a:solidFill>
              </a:rPr>
              <a:t>the process of taking periodic sample of the waveform</a:t>
            </a:r>
            <a:r>
              <a:rPr dirty="0"/>
              <a:t> to be transmitted.</a:t>
            </a:r>
            <a:endParaRPr dirty="0"/>
          </a:p>
          <a:p>
            <a:pPr eaLnBrk="1" hangingPunct="1">
              <a:lnSpc>
                <a:spcPct val="90000"/>
              </a:lnSpc>
            </a:pPr>
            <a:r>
              <a:rPr dirty="0"/>
              <a:t>“</a:t>
            </a:r>
            <a:r>
              <a:rPr dirty="0">
                <a:solidFill>
                  <a:srgbClr val="CC0066"/>
                </a:solidFill>
              </a:rPr>
              <a:t>the more samples that are taken, the more final outcome looks like the original wave. </a:t>
            </a:r>
            <a:endParaRPr dirty="0">
              <a:solidFill>
                <a:srgbClr val="CC0066"/>
              </a:solidFill>
            </a:endParaRPr>
          </a:p>
          <a:p>
            <a:pPr eaLnBrk="1" hangingPunct="1">
              <a:lnSpc>
                <a:spcPct val="90000"/>
              </a:lnSpc>
            </a:pPr>
            <a:r>
              <a:rPr dirty="0">
                <a:solidFill>
                  <a:srgbClr val="CC0066"/>
                </a:solidFill>
              </a:rPr>
              <a:t>However if fewer samples are taken, then other kinds information could be transmitted.”</a:t>
            </a:r>
            <a:endParaRPr dirty="0">
              <a:solidFill>
                <a:srgbClr val="CC0066"/>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457200" y="274638"/>
            <a:ext cx="8229600" cy="868362"/>
          </a:xfrm>
          <a:ln/>
        </p:spPr>
        <p:txBody>
          <a:bodyPr vert="horz" wrap="square" lIns="91440" tIns="45720" rIns="91440" bIns="45720" anchor="ctr" anchorCtr="0"/>
          <a:p>
            <a:pPr eaLnBrk="1" hangingPunct="1"/>
            <a:r>
              <a:rPr sz="4000" dirty="0">
                <a:solidFill>
                  <a:schemeClr val="accent2"/>
                </a:solidFill>
              </a:rPr>
              <a:t>PULSE MODULATION :Sampling</a:t>
            </a:r>
            <a:endParaRPr sz="4000" dirty="0">
              <a:solidFill>
                <a:schemeClr val="accent2"/>
              </a:solidFill>
            </a:endParaRPr>
          </a:p>
        </p:txBody>
      </p:sp>
      <p:sp>
        <p:nvSpPr>
          <p:cNvPr id="12291" name="Rectangle 3"/>
          <p:cNvSpPr>
            <a:spLocks noGrp="1"/>
          </p:cNvSpPr>
          <p:nvPr>
            <p:ph idx="1"/>
          </p:nvPr>
        </p:nvSpPr>
        <p:spPr>
          <a:ln/>
        </p:spPr>
        <p:txBody>
          <a:bodyPr vert="horz" wrap="square" lIns="91440" tIns="45720" rIns="91440" bIns="45720" anchor="t" anchorCtr="0"/>
          <a:p>
            <a:pPr eaLnBrk="1" hangingPunct="1">
              <a:lnSpc>
                <a:spcPct val="80000"/>
              </a:lnSpc>
            </a:pPr>
            <a:r>
              <a:rPr sz="2800" dirty="0">
                <a:solidFill>
                  <a:schemeClr val="folHlink"/>
                </a:solidFill>
              </a:rPr>
              <a:t>Sampling theorem (Nyquist’s theorem)</a:t>
            </a:r>
            <a:endParaRPr sz="2800" dirty="0">
              <a:solidFill>
                <a:schemeClr val="folHlink"/>
              </a:solidFill>
            </a:endParaRPr>
          </a:p>
          <a:p>
            <a:pPr eaLnBrk="1" hangingPunct="1">
              <a:lnSpc>
                <a:spcPct val="80000"/>
              </a:lnSpc>
            </a:pPr>
            <a:r>
              <a:rPr sz="2800" dirty="0"/>
              <a:t>- is used to determine minimum sampling rate for any signal so that the signal will be correctly restored at the receiver.</a:t>
            </a:r>
            <a:endParaRPr sz="2800" dirty="0"/>
          </a:p>
          <a:p>
            <a:pPr eaLnBrk="1" hangingPunct="1">
              <a:lnSpc>
                <a:spcPct val="80000"/>
              </a:lnSpc>
            </a:pPr>
            <a:r>
              <a:rPr sz="2800" dirty="0">
                <a:solidFill>
                  <a:schemeClr val="folHlink"/>
                </a:solidFill>
              </a:rPr>
              <a:t>Nyquist’s theorem states that,</a:t>
            </a:r>
            <a:endParaRPr sz="2800" dirty="0">
              <a:solidFill>
                <a:schemeClr val="folHlink"/>
              </a:solidFill>
            </a:endParaRPr>
          </a:p>
          <a:p>
            <a:pPr eaLnBrk="1" hangingPunct="1">
              <a:lnSpc>
                <a:spcPct val="80000"/>
              </a:lnSpc>
            </a:pPr>
            <a:r>
              <a:rPr sz="2800" dirty="0">
                <a:solidFill>
                  <a:schemeClr val="accent2"/>
                </a:solidFill>
              </a:rPr>
              <a:t>“The original information signal can be reconstructed at the  receiver with minimal distortion if the sampling rate in the pulse modulation system is equal to or greater than twice the maximum information signal frequency”</a:t>
            </a:r>
            <a:endParaRPr sz="2800" dirty="0">
              <a:solidFill>
                <a:schemeClr val="accent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ln/>
        </p:spPr>
        <p:txBody>
          <a:bodyPr vert="horz" wrap="square" lIns="91440" tIns="45720" rIns="91440" bIns="45720" anchor="ctr" anchorCtr="0"/>
          <a:p>
            <a:pPr eaLnBrk="1" hangingPunct="1"/>
            <a:r>
              <a:rPr sz="4000" dirty="0">
                <a:solidFill>
                  <a:schemeClr val="accent2"/>
                </a:solidFill>
              </a:rPr>
              <a:t>PULSE MODULATION :Sampling</a:t>
            </a:r>
            <a:endParaRPr sz="4000" dirty="0">
              <a:solidFill>
                <a:schemeClr val="accent2"/>
              </a:solidFill>
            </a:endParaRPr>
          </a:p>
        </p:txBody>
      </p:sp>
      <p:sp>
        <p:nvSpPr>
          <p:cNvPr id="13315" name="Rectangle 3"/>
          <p:cNvSpPr>
            <a:spLocks noGrp="1"/>
          </p:cNvSpPr>
          <p:nvPr>
            <p:ph idx="1"/>
          </p:nvPr>
        </p:nvSpPr>
        <p:spPr>
          <a:ln/>
        </p:spPr>
        <p:txBody>
          <a:bodyPr vert="horz" wrap="square" lIns="91440" tIns="45720" rIns="91440" bIns="45720" anchor="t" anchorCtr="0"/>
          <a:p>
            <a:pPr eaLnBrk="1" hangingPunct="1"/>
            <a:r>
              <a:rPr dirty="0"/>
              <a:t> </a:t>
            </a:r>
            <a:endParaRPr dirty="0"/>
          </a:p>
        </p:txBody>
      </p:sp>
      <p:sp>
        <p:nvSpPr>
          <p:cNvPr id="13316" name="Rectangle 7"/>
          <p:cNvSpPr/>
          <p:nvPr/>
        </p:nvSpPr>
        <p:spPr>
          <a:xfrm>
            <a:off x="609600" y="1752600"/>
            <a:ext cx="8305800" cy="4267200"/>
          </a:xfrm>
          <a:prstGeom prst="rect">
            <a:avLst/>
          </a:prstGeom>
          <a:noFill/>
          <a:ln w="9525">
            <a:noFill/>
          </a:ln>
        </p:spPr>
        <p:txBody>
          <a:bodyPr/>
          <a:p>
            <a:pPr marL="342900" indent="-342900">
              <a:spcBef>
                <a:spcPct val="20000"/>
              </a:spcBef>
              <a:buChar char="•"/>
            </a:pPr>
            <a:r>
              <a:rPr sz="4000" dirty="0">
                <a:latin typeface="Arial" panose="020B0604020202020204" pitchFamily="34" charset="0"/>
              </a:rPr>
              <a:t>sampling frequency</a:t>
            </a:r>
            <a:endParaRPr sz="4000" dirty="0">
              <a:latin typeface="Arial" panose="020B0604020202020204" pitchFamily="34" charset="0"/>
            </a:endParaRPr>
          </a:p>
          <a:p>
            <a:pPr marL="342900" indent="-342900">
              <a:spcBef>
                <a:spcPct val="20000"/>
              </a:spcBef>
              <a:buChar char="•"/>
            </a:pPr>
            <a:r>
              <a:rPr sz="4000" dirty="0">
                <a:latin typeface="Arial" panose="020B0604020202020204" pitchFamily="34" charset="0"/>
              </a:rPr>
              <a:t>	                    </a:t>
            </a:r>
            <a:endParaRPr sz="4000" dirty="0">
              <a:latin typeface="Arial" panose="020B0604020202020204" pitchFamily="34" charset="0"/>
            </a:endParaRPr>
          </a:p>
          <a:p>
            <a:pPr marL="342900" indent="-342900">
              <a:spcBef>
                <a:spcPct val="20000"/>
              </a:spcBef>
              <a:buChar char="•"/>
            </a:pPr>
            <a:r>
              <a:rPr sz="4000" baseline="-25000" dirty="0">
                <a:latin typeface="Arial" panose="020B0604020202020204" pitchFamily="34" charset="0"/>
              </a:rPr>
              <a:t>fs=sampling frequency and</a:t>
            </a:r>
            <a:endParaRPr sz="4000" baseline="-25000" dirty="0">
              <a:latin typeface="Arial" panose="020B0604020202020204" pitchFamily="34" charset="0"/>
            </a:endParaRPr>
          </a:p>
          <a:p>
            <a:pPr marL="342900" indent="-342900">
              <a:spcBef>
                <a:spcPct val="20000"/>
              </a:spcBef>
              <a:buChar char="•"/>
            </a:pPr>
            <a:r>
              <a:rPr sz="4000" baseline="-25000" dirty="0">
                <a:latin typeface="Arial" panose="020B0604020202020204" pitchFamily="34" charset="0"/>
              </a:rPr>
              <a:t> fm(max) = maximun frequency of the modulating signal.</a:t>
            </a:r>
            <a:endParaRPr sz="4000" baseline="-25000" dirty="0">
              <a:latin typeface="Arial" panose="020B0604020202020204" pitchFamily="34" charset="0"/>
            </a:endParaRPr>
          </a:p>
        </p:txBody>
      </p:sp>
      <p:sp>
        <p:nvSpPr>
          <p:cNvPr id="13317" name="Rectangle 9"/>
          <p:cNvSpPr/>
          <p:nvPr/>
        </p:nvSpPr>
        <p:spPr>
          <a:xfrm>
            <a:off x="0" y="0"/>
            <a:ext cx="9144000" cy="0"/>
          </a:xfrm>
          <a:prstGeom prst="rect">
            <a:avLst/>
          </a:prstGeom>
          <a:noFill/>
          <a:ln w="9525">
            <a:noFill/>
          </a:ln>
        </p:spPr>
        <p:txBody>
          <a:bodyPr wrap="none" anchor="ctr" anchorCtr="0">
            <a:spAutoFit/>
          </a:bodyPr>
          <a:p>
            <a:endParaRPr lang="en-IN" altLang="x-none" dirty="0">
              <a:latin typeface="Arial" panose="020B0604020202020204" pitchFamily="34" charset="0"/>
            </a:endParaRPr>
          </a:p>
        </p:txBody>
      </p:sp>
      <p:sp>
        <p:nvSpPr>
          <p:cNvPr id="13318" name="Rectangle 11"/>
          <p:cNvSpPr/>
          <p:nvPr/>
        </p:nvSpPr>
        <p:spPr>
          <a:xfrm>
            <a:off x="0" y="0"/>
            <a:ext cx="9144000" cy="0"/>
          </a:xfrm>
          <a:prstGeom prst="rect">
            <a:avLst/>
          </a:prstGeom>
          <a:noFill/>
          <a:ln w="9525">
            <a:noFill/>
          </a:ln>
        </p:spPr>
        <p:txBody>
          <a:bodyPr wrap="none" anchor="ctr" anchorCtr="0">
            <a:spAutoFit/>
          </a:bodyPr>
          <a:p>
            <a:endParaRPr lang="en-IN" altLang="x-none" dirty="0">
              <a:latin typeface="Arial" panose="020B0604020202020204" pitchFamily="34" charset="0"/>
            </a:endParaRPr>
          </a:p>
        </p:txBody>
      </p:sp>
      <p:sp>
        <p:nvSpPr>
          <p:cNvPr id="13319" name="Rectangle 13"/>
          <p:cNvSpPr/>
          <p:nvPr/>
        </p:nvSpPr>
        <p:spPr>
          <a:xfrm>
            <a:off x="0" y="3228975"/>
            <a:ext cx="9144000" cy="0"/>
          </a:xfrm>
          <a:prstGeom prst="rect">
            <a:avLst/>
          </a:prstGeom>
          <a:noFill/>
          <a:ln w="9525">
            <a:noFill/>
          </a:ln>
        </p:spPr>
        <p:txBody>
          <a:bodyPr wrap="none" anchor="ctr" anchorCtr="0">
            <a:spAutoFit/>
          </a:bodyPr>
          <a:p>
            <a:endParaRPr lang="en-IN" altLang="x-none" dirty="0">
              <a:latin typeface="Arial" panose="020B0604020202020204" pitchFamily="34" charset="0"/>
            </a:endParaRPr>
          </a:p>
        </p:txBody>
      </p:sp>
      <p:graphicFrame>
        <p:nvGraphicFramePr>
          <p:cNvPr id="13320" name="Object 12"/>
          <p:cNvGraphicFramePr>
            <a:graphicFrameLocks noChangeAspect="1"/>
          </p:cNvGraphicFramePr>
          <p:nvPr/>
        </p:nvGraphicFramePr>
        <p:xfrm>
          <a:off x="2743200" y="2514600"/>
          <a:ext cx="1981200" cy="762000"/>
        </p:xfrm>
        <a:graphic>
          <a:graphicData uri="http://schemas.openxmlformats.org/presentationml/2006/ole">
            <mc:AlternateContent xmlns:mc="http://schemas.openxmlformats.org/markup-compatibility/2006">
              <mc:Choice xmlns:v="urn:schemas-microsoft-com:vml" Requires="v">
                <p:oleObj spid="_x0000_s3078" name="" r:id="rId1" imgW="622300" imgH="241300" progId="Equation.3">
                  <p:embed/>
                </p:oleObj>
              </mc:Choice>
              <mc:Fallback>
                <p:oleObj name="" r:id="rId1" imgW="622300" imgH="241300" progId="Equation.3">
                  <p:embed/>
                  <p:pic>
                    <p:nvPicPr>
                      <p:cNvPr id="0" name="Picture 3077"/>
                      <p:cNvPicPr/>
                      <p:nvPr/>
                    </p:nvPicPr>
                    <p:blipFill>
                      <a:blip r:embed="rId2"/>
                      <a:stretch>
                        <a:fillRect/>
                      </a:stretch>
                    </p:blipFill>
                    <p:spPr>
                      <a:xfrm>
                        <a:off x="2743200" y="2514600"/>
                        <a:ext cx="1981200" cy="762000"/>
                      </a:xfrm>
                      <a:prstGeom prst="rect">
                        <a:avLst/>
                      </a:prstGeom>
                      <a:noFill/>
                      <a:ln w="38100">
                        <a:noFill/>
                        <a:miter/>
                      </a:ln>
                    </p:spPr>
                  </p:pic>
                </p:oleObj>
              </mc:Fallback>
            </mc:AlternateContent>
          </a:graphicData>
        </a:graphic>
      </p:graphicFrame>
      <p:sp>
        <p:nvSpPr>
          <p:cNvPr id="13321" name="Rectangle 16"/>
          <p:cNvSpPr/>
          <p:nvPr/>
        </p:nvSpPr>
        <p:spPr>
          <a:xfrm>
            <a:off x="0" y="0"/>
            <a:ext cx="9144000" cy="0"/>
          </a:xfrm>
          <a:prstGeom prst="rect">
            <a:avLst/>
          </a:prstGeom>
          <a:noFill/>
          <a:ln w="9525">
            <a:noFill/>
          </a:ln>
        </p:spPr>
        <p:txBody>
          <a:bodyPr wrap="none" anchor="ctr" anchorCtr="0">
            <a:spAutoFit/>
          </a:bodyPr>
          <a:p>
            <a:endParaRPr lang="en-IN" altLang="x-none" dirty="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ln/>
        </p:spPr>
        <p:txBody>
          <a:bodyPr vert="horz" wrap="square" lIns="91440" tIns="45720" rIns="91440" bIns="45720" anchor="ctr" anchorCtr="0"/>
          <a:p>
            <a:pPr eaLnBrk="1" hangingPunct="1"/>
            <a:r>
              <a:rPr sz="4000" dirty="0">
                <a:solidFill>
                  <a:schemeClr val="accent2"/>
                </a:solidFill>
              </a:rPr>
              <a:t>PULSE MODULATION :Sampling</a:t>
            </a:r>
            <a:endParaRPr sz="4000" dirty="0">
              <a:solidFill>
                <a:schemeClr val="accent2"/>
              </a:solidFill>
            </a:endParaRPr>
          </a:p>
        </p:txBody>
      </p:sp>
      <p:sp>
        <p:nvSpPr>
          <p:cNvPr id="14339" name="Rectangle 3"/>
          <p:cNvSpPr>
            <a:spLocks noGrp="1"/>
          </p:cNvSpPr>
          <p:nvPr>
            <p:ph idx="1"/>
          </p:nvPr>
        </p:nvSpPr>
        <p:spPr>
          <a:xfrm>
            <a:off x="457200" y="1600200"/>
            <a:ext cx="8229600" cy="5257800"/>
          </a:xfrm>
          <a:ln/>
        </p:spPr>
        <p:txBody>
          <a:bodyPr vert="horz" wrap="square" lIns="91440" tIns="45720" rIns="91440" bIns="45720" anchor="t" anchorCtr="0"/>
          <a:p>
            <a:pPr eaLnBrk="1" hangingPunct="1"/>
            <a:r>
              <a:rPr dirty="0"/>
              <a:t>Basic condition of sampling process</a:t>
            </a:r>
            <a:endParaRPr dirty="0"/>
          </a:p>
          <a:p>
            <a:pPr eaLnBrk="1" hangingPunct="1"/>
            <a:r>
              <a:rPr dirty="0"/>
              <a:t>1) sampling at Fs =2fm(max)</a:t>
            </a:r>
            <a:endParaRPr dirty="0"/>
          </a:p>
          <a:p>
            <a:pPr eaLnBrk="1" hangingPunct="1"/>
            <a:endParaRPr dirty="0"/>
          </a:p>
          <a:p>
            <a:pPr eaLnBrk="1" hangingPunct="1"/>
            <a:endParaRPr dirty="0"/>
          </a:p>
          <a:p>
            <a:pPr eaLnBrk="1" hangingPunct="1"/>
            <a:endParaRPr dirty="0"/>
          </a:p>
          <a:p>
            <a:pPr eaLnBrk="1" hangingPunct="1"/>
            <a:r>
              <a:rPr dirty="0"/>
              <a:t>                  fs          2fs</a:t>
            </a:r>
            <a:endParaRPr dirty="0"/>
          </a:p>
          <a:p>
            <a:pPr eaLnBrk="1" hangingPunct="1"/>
            <a:r>
              <a:rPr dirty="0"/>
              <a:t> figure 4.1 :</a:t>
            </a:r>
            <a:endParaRPr dirty="0"/>
          </a:p>
          <a:p>
            <a:pPr eaLnBrk="1" hangingPunct="1"/>
            <a:r>
              <a:rPr sz="2400" dirty="0"/>
              <a:t>Frequency spectrum of modulating signal when sampled at fs=2fm(max)</a:t>
            </a:r>
            <a:endParaRPr sz="2400" dirty="0"/>
          </a:p>
        </p:txBody>
      </p:sp>
      <p:grpSp>
        <p:nvGrpSpPr>
          <p:cNvPr id="14340" name="Group 4"/>
          <p:cNvGrpSpPr>
            <a:grpSpLocks noChangeAspect="1"/>
          </p:cNvGrpSpPr>
          <p:nvPr/>
        </p:nvGrpSpPr>
        <p:grpSpPr>
          <a:xfrm>
            <a:off x="0" y="1828800"/>
            <a:ext cx="6629400" cy="2744788"/>
            <a:chOff x="2992" y="1402"/>
            <a:chExt cx="7200" cy="3087"/>
          </a:xfrm>
        </p:grpSpPr>
        <p:sp>
          <p:nvSpPr>
            <p:cNvPr id="14341" name="AutoShape 5"/>
            <p:cNvSpPr>
              <a:spLocks noChangeAspect="1"/>
            </p:cNvSpPr>
            <p:nvPr/>
          </p:nvSpPr>
          <p:spPr>
            <a:xfrm>
              <a:off x="2992" y="1402"/>
              <a:ext cx="7200" cy="3087"/>
            </a:xfrm>
            <a:prstGeom prst="rect">
              <a:avLst/>
            </a:prstGeom>
            <a:noFill/>
            <a:ln w="9525">
              <a:noFill/>
            </a:ln>
          </p:spPr>
          <p:txBody>
            <a:bodyPr/>
            <a:p>
              <a:endParaRPr lang="en-IN" altLang="x-none" dirty="0">
                <a:latin typeface="Arial" panose="020B0604020202020204" pitchFamily="34" charset="0"/>
              </a:endParaRPr>
            </a:p>
          </p:txBody>
        </p:sp>
        <p:sp>
          <p:nvSpPr>
            <p:cNvPr id="14342" name="Line 6"/>
            <p:cNvSpPr/>
            <p:nvPr/>
          </p:nvSpPr>
          <p:spPr>
            <a:xfrm>
              <a:off x="4792" y="4488"/>
              <a:ext cx="4050" cy="0"/>
            </a:xfrm>
            <a:prstGeom prst="line">
              <a:avLst/>
            </a:prstGeom>
            <a:ln w="9525" cap="flat" cmpd="sng">
              <a:solidFill>
                <a:srgbClr val="000000"/>
              </a:solidFill>
              <a:prstDash val="solid"/>
              <a:headEnd type="none" w="med" len="med"/>
              <a:tailEnd type="none" w="med" len="med"/>
            </a:ln>
          </p:spPr>
        </p:sp>
        <p:sp>
          <p:nvSpPr>
            <p:cNvPr id="14343" name="Line 7"/>
            <p:cNvSpPr/>
            <p:nvPr/>
          </p:nvSpPr>
          <p:spPr>
            <a:xfrm flipV="1">
              <a:off x="4792" y="2019"/>
              <a:ext cx="0" cy="2469"/>
            </a:xfrm>
            <a:prstGeom prst="line">
              <a:avLst/>
            </a:prstGeom>
            <a:ln w="9525" cap="flat" cmpd="sng">
              <a:solidFill>
                <a:srgbClr val="000000"/>
              </a:solidFill>
              <a:prstDash val="solid"/>
              <a:headEnd type="none" w="med" len="med"/>
              <a:tailEnd type="triangle" w="med" len="med"/>
            </a:ln>
          </p:spPr>
        </p:sp>
        <p:sp>
          <p:nvSpPr>
            <p:cNvPr id="14344" name="Text Box 8"/>
            <p:cNvSpPr txBox="1"/>
            <p:nvPr/>
          </p:nvSpPr>
          <p:spPr>
            <a:xfrm>
              <a:off x="4942" y="1711"/>
              <a:ext cx="1200" cy="307"/>
            </a:xfrm>
            <a:prstGeom prst="rect">
              <a:avLst/>
            </a:prstGeom>
            <a:solidFill>
              <a:srgbClr val="FFFFFF"/>
            </a:solidFill>
            <a:ln w="9525" cap="flat" cmpd="sng">
              <a:solidFill>
                <a:srgbClr val="000000"/>
              </a:solidFill>
              <a:prstDash val="solid"/>
              <a:miter/>
              <a:headEnd type="none" w="med" len="med"/>
              <a:tailEnd type="none" w="med" len="med"/>
            </a:ln>
          </p:spPr>
          <p:txBody>
            <a:bodyPr/>
            <a:p>
              <a:r>
                <a:rPr sz="1200" dirty="0">
                  <a:latin typeface="Arial" panose="020B0604020202020204" pitchFamily="34" charset="0"/>
                </a:rPr>
                <a:t>V( Volts)</a:t>
              </a:r>
              <a:endParaRPr dirty="0">
                <a:latin typeface="Arial" panose="020B0604020202020204" pitchFamily="34" charset="0"/>
              </a:endParaRPr>
            </a:p>
          </p:txBody>
        </p:sp>
        <p:sp>
          <p:nvSpPr>
            <p:cNvPr id="14345" name="Line 9"/>
            <p:cNvSpPr/>
            <p:nvPr/>
          </p:nvSpPr>
          <p:spPr>
            <a:xfrm flipV="1">
              <a:off x="6292" y="3408"/>
              <a:ext cx="1" cy="1080"/>
            </a:xfrm>
            <a:prstGeom prst="line">
              <a:avLst/>
            </a:prstGeom>
            <a:ln w="9525" cap="flat" cmpd="sng">
              <a:solidFill>
                <a:srgbClr val="000000"/>
              </a:solidFill>
              <a:prstDash val="solid"/>
              <a:headEnd type="none" w="med" len="med"/>
              <a:tailEnd type="none" w="med" len="med"/>
            </a:ln>
          </p:spPr>
        </p:sp>
        <p:sp>
          <p:nvSpPr>
            <p:cNvPr id="14346" name="Line 10"/>
            <p:cNvSpPr/>
            <p:nvPr/>
          </p:nvSpPr>
          <p:spPr>
            <a:xfrm flipV="1">
              <a:off x="7792" y="3408"/>
              <a:ext cx="1" cy="1080"/>
            </a:xfrm>
            <a:prstGeom prst="line">
              <a:avLst/>
            </a:prstGeom>
            <a:ln w="9525" cap="flat" cmpd="sng">
              <a:solidFill>
                <a:srgbClr val="000000"/>
              </a:solidFill>
              <a:prstDash val="solid"/>
              <a:headEnd type="none" w="med" len="med"/>
              <a:tailEnd type="none" w="med" len="med"/>
            </a:ln>
          </p:spPr>
        </p:sp>
        <p:sp>
          <p:nvSpPr>
            <p:cNvPr id="14347" name="Line 11"/>
            <p:cNvSpPr/>
            <p:nvPr/>
          </p:nvSpPr>
          <p:spPr>
            <a:xfrm>
              <a:off x="5842" y="4488"/>
              <a:ext cx="0" cy="0"/>
            </a:xfrm>
            <a:prstGeom prst="line">
              <a:avLst/>
            </a:prstGeom>
            <a:ln w="9525" cap="flat" cmpd="sng">
              <a:solidFill>
                <a:srgbClr val="000000"/>
              </a:solidFill>
              <a:prstDash val="solid"/>
              <a:headEnd type="none" w="med" len="med"/>
              <a:tailEnd type="none" w="med" len="med"/>
            </a:ln>
          </p:spPr>
        </p:sp>
        <p:sp>
          <p:nvSpPr>
            <p:cNvPr id="14348" name="Line 12"/>
            <p:cNvSpPr/>
            <p:nvPr/>
          </p:nvSpPr>
          <p:spPr>
            <a:xfrm>
              <a:off x="4792" y="3716"/>
              <a:ext cx="450" cy="0"/>
            </a:xfrm>
            <a:prstGeom prst="line">
              <a:avLst/>
            </a:prstGeom>
            <a:ln w="9525" cap="flat" cmpd="sng">
              <a:solidFill>
                <a:srgbClr val="000000"/>
              </a:solidFill>
              <a:prstDash val="solid"/>
              <a:headEnd type="none" w="med" len="med"/>
              <a:tailEnd type="none" w="med" len="med"/>
            </a:ln>
          </p:spPr>
        </p:sp>
        <p:sp>
          <p:nvSpPr>
            <p:cNvPr id="14349" name="Line 13"/>
            <p:cNvSpPr/>
            <p:nvPr/>
          </p:nvSpPr>
          <p:spPr>
            <a:xfrm>
              <a:off x="5242" y="3716"/>
              <a:ext cx="300" cy="772"/>
            </a:xfrm>
            <a:prstGeom prst="line">
              <a:avLst/>
            </a:prstGeom>
            <a:ln w="9525" cap="flat" cmpd="sng">
              <a:solidFill>
                <a:srgbClr val="000000"/>
              </a:solidFill>
              <a:prstDash val="solid"/>
              <a:headEnd type="none" w="med" len="med"/>
              <a:tailEnd type="none" w="med" len="med"/>
            </a:ln>
          </p:spPr>
        </p:sp>
        <p:sp>
          <p:nvSpPr>
            <p:cNvPr id="14350" name="Line 14"/>
            <p:cNvSpPr/>
            <p:nvPr/>
          </p:nvSpPr>
          <p:spPr>
            <a:xfrm>
              <a:off x="5842" y="3716"/>
              <a:ext cx="450" cy="1"/>
            </a:xfrm>
            <a:prstGeom prst="line">
              <a:avLst/>
            </a:prstGeom>
            <a:ln w="9525" cap="flat" cmpd="sng">
              <a:solidFill>
                <a:srgbClr val="000000"/>
              </a:solidFill>
              <a:prstDash val="solid"/>
              <a:headEnd type="none" w="med" len="med"/>
              <a:tailEnd type="none" w="med" len="med"/>
            </a:ln>
          </p:spPr>
        </p:sp>
        <p:sp>
          <p:nvSpPr>
            <p:cNvPr id="14351" name="Line 15"/>
            <p:cNvSpPr/>
            <p:nvPr/>
          </p:nvSpPr>
          <p:spPr>
            <a:xfrm flipV="1">
              <a:off x="5542" y="3716"/>
              <a:ext cx="300" cy="772"/>
            </a:xfrm>
            <a:prstGeom prst="line">
              <a:avLst/>
            </a:prstGeom>
            <a:ln w="9525" cap="flat" cmpd="sng">
              <a:solidFill>
                <a:srgbClr val="000000"/>
              </a:solidFill>
              <a:prstDash val="solid"/>
              <a:headEnd type="none" w="med" len="med"/>
              <a:tailEnd type="none" w="med" len="med"/>
            </a:ln>
          </p:spPr>
        </p:sp>
        <p:sp>
          <p:nvSpPr>
            <p:cNvPr id="14352" name="Line 16"/>
            <p:cNvSpPr/>
            <p:nvPr/>
          </p:nvSpPr>
          <p:spPr>
            <a:xfrm>
              <a:off x="6292" y="3716"/>
              <a:ext cx="450" cy="1"/>
            </a:xfrm>
            <a:prstGeom prst="line">
              <a:avLst/>
            </a:prstGeom>
            <a:ln w="9525" cap="flat" cmpd="sng">
              <a:solidFill>
                <a:srgbClr val="000000"/>
              </a:solidFill>
              <a:prstDash val="solid"/>
              <a:headEnd type="none" w="med" len="med"/>
              <a:tailEnd type="none" w="med" len="med"/>
            </a:ln>
          </p:spPr>
        </p:sp>
        <p:sp>
          <p:nvSpPr>
            <p:cNvPr id="14353" name="Line 17"/>
            <p:cNvSpPr/>
            <p:nvPr/>
          </p:nvSpPr>
          <p:spPr>
            <a:xfrm>
              <a:off x="6742" y="3716"/>
              <a:ext cx="300" cy="773"/>
            </a:xfrm>
            <a:prstGeom prst="line">
              <a:avLst/>
            </a:prstGeom>
            <a:ln w="9525" cap="flat" cmpd="sng">
              <a:solidFill>
                <a:srgbClr val="000000"/>
              </a:solidFill>
              <a:prstDash val="solid"/>
              <a:headEnd type="none" w="med" len="med"/>
              <a:tailEnd type="none" w="med" len="med"/>
            </a:ln>
          </p:spPr>
        </p:sp>
        <p:sp>
          <p:nvSpPr>
            <p:cNvPr id="14354" name="Line 18"/>
            <p:cNvSpPr/>
            <p:nvPr/>
          </p:nvSpPr>
          <p:spPr>
            <a:xfrm flipV="1">
              <a:off x="7042" y="3716"/>
              <a:ext cx="300" cy="773"/>
            </a:xfrm>
            <a:prstGeom prst="line">
              <a:avLst/>
            </a:prstGeom>
            <a:ln w="9525" cap="flat" cmpd="sng">
              <a:solidFill>
                <a:srgbClr val="000000"/>
              </a:solidFill>
              <a:prstDash val="solid"/>
              <a:headEnd type="none" w="med" len="med"/>
              <a:tailEnd type="none" w="med" len="med"/>
            </a:ln>
          </p:spPr>
        </p:sp>
        <p:sp>
          <p:nvSpPr>
            <p:cNvPr id="14355" name="Line 19"/>
            <p:cNvSpPr/>
            <p:nvPr/>
          </p:nvSpPr>
          <p:spPr>
            <a:xfrm>
              <a:off x="7342" y="3716"/>
              <a:ext cx="450" cy="1"/>
            </a:xfrm>
            <a:prstGeom prst="line">
              <a:avLst/>
            </a:prstGeom>
            <a:ln w="9525" cap="flat" cmpd="sng">
              <a:solidFill>
                <a:srgbClr val="000000"/>
              </a:solidFill>
              <a:prstDash val="solid"/>
              <a:headEnd type="none" w="med" len="med"/>
              <a:tailEnd type="none" w="med" len="med"/>
            </a:ln>
          </p:spPr>
        </p:sp>
        <p:sp>
          <p:nvSpPr>
            <p:cNvPr id="14356" name="Line 20"/>
            <p:cNvSpPr/>
            <p:nvPr/>
          </p:nvSpPr>
          <p:spPr>
            <a:xfrm>
              <a:off x="7792" y="3716"/>
              <a:ext cx="450" cy="1"/>
            </a:xfrm>
            <a:prstGeom prst="line">
              <a:avLst/>
            </a:prstGeom>
            <a:ln w="9525" cap="flat" cmpd="sng">
              <a:solidFill>
                <a:srgbClr val="000000"/>
              </a:solidFill>
              <a:prstDash val="solid"/>
              <a:headEnd type="none" w="med" len="med"/>
              <a:tailEnd type="none" w="med" len="med"/>
            </a:ln>
          </p:spPr>
        </p:sp>
        <p:sp>
          <p:nvSpPr>
            <p:cNvPr id="14357" name="Line 21"/>
            <p:cNvSpPr/>
            <p:nvPr/>
          </p:nvSpPr>
          <p:spPr>
            <a:xfrm>
              <a:off x="8242" y="3716"/>
              <a:ext cx="300" cy="773"/>
            </a:xfrm>
            <a:prstGeom prst="line">
              <a:avLst/>
            </a:prstGeom>
            <a:ln w="9525" cap="flat" cmpd="sng">
              <a:solidFill>
                <a:srgbClr val="000000"/>
              </a:solidFill>
              <a:prstDash val="solid"/>
              <a:headEnd type="none" w="med" len="med"/>
              <a:tailEnd type="none" w="med" len="med"/>
            </a:ln>
          </p:spPr>
        </p:sp>
        <p:sp>
          <p:nvSpPr>
            <p:cNvPr id="14358" name="Line 22"/>
            <p:cNvSpPr/>
            <p:nvPr/>
          </p:nvSpPr>
          <p:spPr>
            <a:xfrm>
              <a:off x="5092" y="5105"/>
              <a:ext cx="0" cy="0"/>
            </a:xfrm>
            <a:prstGeom prst="line">
              <a:avLst/>
            </a:prstGeom>
            <a:ln w="9525" cap="flat" cmpd="sng">
              <a:solidFill>
                <a:srgbClr val="000000"/>
              </a:solidFill>
              <a:prstDash val="solid"/>
              <a:headEnd type="none" w="med" len="med"/>
              <a:tailEnd type="none" w="med" len="med"/>
            </a:ln>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ln/>
        </p:spPr>
        <p:txBody>
          <a:bodyPr vert="horz" wrap="square" lIns="91440" tIns="45720" rIns="91440" bIns="45720" anchor="ctr" anchorCtr="0"/>
          <a:p>
            <a:pPr eaLnBrk="1" hangingPunct="1"/>
            <a:r>
              <a:rPr sz="4000" dirty="0">
                <a:solidFill>
                  <a:schemeClr val="accent2"/>
                </a:solidFill>
              </a:rPr>
              <a:t>PULSE MODULATION :Sampling</a:t>
            </a:r>
            <a:endParaRPr sz="4000" dirty="0">
              <a:solidFill>
                <a:schemeClr val="accent2"/>
              </a:solidFill>
            </a:endParaRPr>
          </a:p>
        </p:txBody>
      </p:sp>
      <p:sp>
        <p:nvSpPr>
          <p:cNvPr id="15363" name="Rectangle 3"/>
          <p:cNvSpPr>
            <a:spLocks noGrp="1"/>
          </p:cNvSpPr>
          <p:nvPr>
            <p:ph idx="1"/>
          </p:nvPr>
        </p:nvSpPr>
        <p:spPr>
          <a:ln/>
        </p:spPr>
        <p:txBody>
          <a:bodyPr vert="horz" wrap="square" lIns="91440" tIns="45720" rIns="91440" bIns="45720" anchor="t" anchorCtr="0"/>
          <a:p>
            <a:pPr eaLnBrk="1" hangingPunct="1"/>
            <a:r>
              <a:rPr dirty="0"/>
              <a:t>When the modulating is sampled at a minimum sampling frequency, the frequency spectrum is as shown in figure 4.1.</a:t>
            </a:r>
            <a:endParaRPr dirty="0"/>
          </a:p>
          <a:p>
            <a:pPr eaLnBrk="1" hangingPunct="1"/>
            <a:r>
              <a:rPr dirty="0"/>
              <a:t>In practice it is difficult to design a low pass filter, in order to restore the original modulating signal</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xfrm>
            <a:off x="457200" y="274638"/>
            <a:ext cx="8229600" cy="715962"/>
          </a:xfrm>
          <a:ln/>
        </p:spPr>
        <p:txBody>
          <a:bodyPr vert="horz" wrap="square" lIns="91440" tIns="45720" rIns="91440" bIns="45720" anchor="ctr" anchorCtr="0"/>
          <a:p>
            <a:pPr eaLnBrk="1" hangingPunct="1"/>
            <a:r>
              <a:rPr sz="4000" dirty="0">
                <a:solidFill>
                  <a:schemeClr val="accent2"/>
                </a:solidFill>
              </a:rPr>
              <a:t>PULSE MODULATION :Sampling</a:t>
            </a:r>
            <a:endParaRPr sz="4000" dirty="0">
              <a:solidFill>
                <a:schemeClr val="accent2"/>
              </a:solidFill>
            </a:endParaRPr>
          </a:p>
        </p:txBody>
      </p:sp>
      <p:sp>
        <p:nvSpPr>
          <p:cNvPr id="16387" name="Rectangle 3"/>
          <p:cNvSpPr>
            <a:spLocks noGrp="1"/>
          </p:cNvSpPr>
          <p:nvPr>
            <p:ph type="body" sz="half" idx="1"/>
          </p:nvPr>
        </p:nvSpPr>
        <p:spPr>
          <a:xfrm>
            <a:off x="609600" y="914400"/>
            <a:ext cx="8153400" cy="5638800"/>
          </a:xfrm>
          <a:ln/>
        </p:spPr>
        <p:txBody>
          <a:bodyPr vert="horz" wrap="square" lIns="91440" tIns="45720" rIns="91440" bIns="45720" anchor="t" anchorCtr="0"/>
          <a:p>
            <a:pPr eaLnBrk="1" hangingPunct="1">
              <a:buClrTx/>
              <a:buSzTx/>
              <a:buFontTx/>
            </a:pPr>
            <a:r>
              <a:rPr sz="2400" dirty="0">
                <a:solidFill>
                  <a:schemeClr val="hlink"/>
                </a:solidFill>
              </a:rPr>
              <a:t>2) sampling at fs&gt; 2fm(max)</a:t>
            </a:r>
            <a:endParaRPr sz="2400" dirty="0">
              <a:solidFill>
                <a:schemeClr val="hlink"/>
              </a:solidFill>
            </a:endParaRPr>
          </a:p>
          <a:p>
            <a:pPr eaLnBrk="1" hangingPunct="1">
              <a:buClrTx/>
              <a:buSzTx/>
              <a:buFontTx/>
            </a:pPr>
            <a:r>
              <a:rPr sz="2400" dirty="0"/>
              <a:t>This sampling rate creates a guard band between fm(max) and the lowest frequency component (fs-fm(max)) of the sampling harmonics.</a:t>
            </a:r>
            <a:endParaRPr sz="2400" dirty="0"/>
          </a:p>
          <a:p>
            <a:pPr eaLnBrk="1" hangingPunct="1">
              <a:buClrTx/>
              <a:buSzTx/>
              <a:buFontTx/>
            </a:pPr>
            <a:r>
              <a:rPr sz="2400" dirty="0"/>
              <a:t>Therefore a more practical LPF can be used to restore the modulating signal.</a:t>
            </a:r>
            <a:endParaRPr sz="2400" dirty="0"/>
          </a:p>
          <a:p>
            <a:pPr eaLnBrk="1" hangingPunct="1">
              <a:buClrTx/>
              <a:buSzTx/>
              <a:buFontTx/>
            </a:pPr>
            <a:endParaRPr sz="2400" dirty="0"/>
          </a:p>
          <a:p>
            <a:pPr eaLnBrk="1" hangingPunct="1">
              <a:buClrTx/>
              <a:buSzTx/>
              <a:buFontTx/>
            </a:pPr>
            <a:endParaRPr sz="2400" dirty="0"/>
          </a:p>
          <a:p>
            <a:pPr eaLnBrk="1" hangingPunct="1">
              <a:buClrTx/>
              <a:buSzTx/>
              <a:buFontTx/>
            </a:pPr>
            <a:endParaRPr sz="2400" dirty="0"/>
          </a:p>
          <a:p>
            <a:pPr eaLnBrk="1" hangingPunct="1">
              <a:buClrTx/>
              <a:buSzTx/>
              <a:buFontTx/>
            </a:pPr>
            <a:endParaRPr sz="2400" dirty="0"/>
          </a:p>
          <a:p>
            <a:pPr eaLnBrk="1" hangingPunct="1">
              <a:buClrTx/>
              <a:buSzTx/>
              <a:buFontTx/>
            </a:pPr>
            <a:endParaRPr sz="2400" dirty="0"/>
          </a:p>
          <a:p>
            <a:pPr eaLnBrk="1" hangingPunct="1">
              <a:buClrTx/>
              <a:buSzTx/>
              <a:buFontTx/>
            </a:pPr>
            <a:endParaRPr sz="2400" dirty="0"/>
          </a:p>
          <a:p>
            <a:pPr eaLnBrk="1" hangingPunct="1">
              <a:buClrTx/>
              <a:buSzTx/>
              <a:buFontTx/>
            </a:pPr>
            <a:r>
              <a:rPr sz="2400" dirty="0"/>
              <a:t>Figure 4.2 Sampling at fs&gt; 2fm(max</a:t>
            </a:r>
            <a:r>
              <a:rPr sz="2400" dirty="0">
                <a:solidFill>
                  <a:schemeClr val="hlink"/>
                </a:solidFill>
              </a:rPr>
              <a:t>)</a:t>
            </a:r>
            <a:endParaRPr sz="2400" dirty="0"/>
          </a:p>
          <a:p>
            <a:pPr eaLnBrk="1" hangingPunct="1">
              <a:buClrTx/>
              <a:buSzTx/>
              <a:buFontTx/>
            </a:pPr>
            <a:endParaRPr sz="2400" dirty="0"/>
          </a:p>
        </p:txBody>
      </p:sp>
      <p:pic>
        <p:nvPicPr>
          <p:cNvPr id="16388" name="Picture 4" descr="lsmple1"/>
          <p:cNvPicPr>
            <a:picLocks noChangeAspect="1"/>
          </p:cNvPicPr>
          <p:nvPr>
            <p:ph sz="half" idx="2"/>
          </p:nvPr>
        </p:nvPicPr>
        <p:blipFill>
          <a:blip r:embed="rId1"/>
          <a:srcRect/>
          <a:stretch>
            <a:fillRect/>
          </a:stretch>
        </p:blipFill>
        <p:spPr>
          <a:xfrm>
            <a:off x="2057400" y="3200400"/>
            <a:ext cx="5486400" cy="2819400"/>
          </a:xfr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457200" y="274638"/>
            <a:ext cx="8229600" cy="715962"/>
          </a:xfrm>
          <a:ln/>
        </p:spPr>
        <p:txBody>
          <a:bodyPr vert="horz" wrap="square" lIns="91440" tIns="45720" rIns="91440" bIns="45720" anchor="ctr" anchorCtr="0"/>
          <a:p>
            <a:pPr eaLnBrk="1" hangingPunct="1"/>
            <a:r>
              <a:rPr sz="4000" dirty="0">
                <a:solidFill>
                  <a:schemeClr val="accent2"/>
                </a:solidFill>
              </a:rPr>
              <a:t>PULSE MODULATION :Sampling</a:t>
            </a:r>
            <a:endParaRPr sz="4000" dirty="0">
              <a:solidFill>
                <a:schemeClr val="accent2"/>
              </a:solidFill>
            </a:endParaRPr>
          </a:p>
        </p:txBody>
      </p:sp>
      <p:sp>
        <p:nvSpPr>
          <p:cNvPr id="17411" name="Rectangle 3"/>
          <p:cNvSpPr>
            <a:spLocks noGrp="1"/>
          </p:cNvSpPr>
          <p:nvPr>
            <p:ph type="body" sz="half" idx="1"/>
          </p:nvPr>
        </p:nvSpPr>
        <p:spPr>
          <a:xfrm>
            <a:off x="381000" y="914400"/>
            <a:ext cx="8305800" cy="5562600"/>
          </a:xfrm>
          <a:ln/>
        </p:spPr>
        <p:txBody>
          <a:bodyPr vert="horz" wrap="square" lIns="91440" tIns="45720" rIns="91440" bIns="45720" anchor="t" anchorCtr="0"/>
          <a:p>
            <a:pPr eaLnBrk="1" hangingPunct="1">
              <a:buClrTx/>
              <a:buSzTx/>
              <a:buFontTx/>
            </a:pPr>
            <a:r>
              <a:rPr sz="2800" dirty="0"/>
              <a:t>Sampling at fs &lt; 2fm(max)</a:t>
            </a:r>
            <a:endParaRPr sz="2800" dirty="0"/>
          </a:p>
          <a:p>
            <a:pPr eaLnBrk="1" hangingPunct="1">
              <a:buClrTx/>
              <a:buSzTx/>
              <a:buFontTx/>
            </a:pPr>
            <a:r>
              <a:rPr sz="2800" dirty="0"/>
              <a:t>When the sampling rate is less than the minimum  value, distortion will occurs. This distortion is called </a:t>
            </a:r>
            <a:r>
              <a:rPr sz="2800" dirty="0">
                <a:solidFill>
                  <a:srgbClr val="FF0000"/>
                </a:solidFill>
              </a:rPr>
              <a:t>aliasing</a:t>
            </a:r>
            <a:r>
              <a:rPr sz="2800" dirty="0"/>
              <a:t>.</a:t>
            </a:r>
            <a:endParaRPr sz="2800" dirty="0"/>
          </a:p>
          <a:p>
            <a:pPr eaLnBrk="1" hangingPunct="1">
              <a:buClrTx/>
              <a:buSzTx/>
              <a:buFontTx/>
            </a:pPr>
            <a:endParaRPr sz="2800" dirty="0"/>
          </a:p>
          <a:p>
            <a:pPr eaLnBrk="1" hangingPunct="1">
              <a:buClrTx/>
              <a:buSzTx/>
              <a:buFontTx/>
            </a:pPr>
            <a:endParaRPr sz="2800" dirty="0"/>
          </a:p>
          <a:p>
            <a:pPr eaLnBrk="1" hangingPunct="1">
              <a:buClrTx/>
              <a:buSzTx/>
              <a:buFontTx/>
            </a:pPr>
            <a:endParaRPr sz="2800" dirty="0"/>
          </a:p>
          <a:p>
            <a:pPr eaLnBrk="1" hangingPunct="1">
              <a:buClrTx/>
              <a:buSzTx/>
              <a:buFontTx/>
            </a:pPr>
            <a:endParaRPr sz="2800" dirty="0"/>
          </a:p>
          <a:p>
            <a:pPr eaLnBrk="1" hangingPunct="1">
              <a:buClrTx/>
              <a:buSzTx/>
              <a:buFontTx/>
            </a:pPr>
            <a:endParaRPr sz="2800" dirty="0"/>
          </a:p>
          <a:p>
            <a:pPr eaLnBrk="1" hangingPunct="1">
              <a:buClrTx/>
              <a:buSzTx/>
              <a:buFontTx/>
            </a:pPr>
            <a:endParaRPr sz="2800" dirty="0"/>
          </a:p>
          <a:p>
            <a:pPr eaLnBrk="1" hangingPunct="1">
              <a:buClrTx/>
              <a:buSzTx/>
              <a:buFontTx/>
            </a:pPr>
            <a:r>
              <a:rPr sz="2400" dirty="0"/>
              <a:t>Figure 4.3 Sampling at fs &lt; 2fm(max)</a:t>
            </a:r>
            <a:endParaRPr sz="2400" dirty="0"/>
          </a:p>
          <a:p>
            <a:pPr eaLnBrk="1" hangingPunct="1">
              <a:buClrTx/>
              <a:buSzTx/>
              <a:buFontTx/>
            </a:pPr>
            <a:endParaRPr sz="2800" dirty="0"/>
          </a:p>
        </p:txBody>
      </p:sp>
      <p:pic>
        <p:nvPicPr>
          <p:cNvPr id="17412" name="Picture 7" descr="sample2"/>
          <p:cNvPicPr>
            <a:picLocks noChangeAspect="1"/>
          </p:cNvPicPr>
          <p:nvPr>
            <p:ph sz="half" idx="2"/>
          </p:nvPr>
        </p:nvPicPr>
        <p:blipFill>
          <a:blip r:embed="rId1"/>
          <a:srcRect/>
          <a:stretch>
            <a:fillRect/>
          </a:stretch>
        </p:blipFill>
        <p:spPr>
          <a:xfrm>
            <a:off x="1219200" y="2895600"/>
            <a:ext cx="6781800" cy="2819400"/>
          </a:xfr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body" sz="half" idx="1"/>
          </p:nvPr>
        </p:nvSpPr>
        <p:spPr>
          <a:xfrm>
            <a:off x="457200" y="1600200"/>
            <a:ext cx="8229600" cy="3276600"/>
          </a:xfrm>
          <a:ln/>
        </p:spPr>
        <p:txBody>
          <a:bodyPr vert="horz" wrap="square" lIns="91440" tIns="45720" rIns="91440" bIns="45720" anchor="t" anchorCtr="0"/>
          <a:p>
            <a:pPr eaLnBrk="1" hangingPunct="1">
              <a:buClrTx/>
              <a:buSzTx/>
              <a:buFontTx/>
            </a:pPr>
            <a:r>
              <a:rPr sz="2000" b="1" dirty="0"/>
              <a:t>Aliasing effect can be eliminated by using an anti-aliasing filter prior to sampling and using a sampling rate slightly higher than Nyquist rate (</a:t>
            </a:r>
            <a:r>
              <a:rPr sz="2000" b="1" i="1" dirty="0"/>
              <a:t>fs</a:t>
            </a:r>
            <a:r>
              <a:rPr sz="2000" b="1" dirty="0"/>
              <a:t>=2</a:t>
            </a:r>
            <a:r>
              <a:rPr sz="2000" b="1" i="1" dirty="0"/>
              <a:t>W</a:t>
            </a:r>
            <a:r>
              <a:rPr sz="2000" b="1" dirty="0"/>
              <a:t>).</a:t>
            </a:r>
            <a:r>
              <a:rPr sz="2800" dirty="0"/>
              <a:t> </a:t>
            </a:r>
            <a:endParaRPr sz="2800" dirty="0"/>
          </a:p>
        </p:txBody>
      </p:sp>
      <p:graphicFrame>
        <p:nvGraphicFramePr>
          <p:cNvPr id="18435" name="Object 3"/>
          <p:cNvGraphicFramePr>
            <a:graphicFrameLocks noChangeAspect="1"/>
          </p:cNvGraphicFramePr>
          <p:nvPr>
            <p:ph sz="quarter" idx="2"/>
          </p:nvPr>
        </p:nvGraphicFramePr>
        <p:xfrm>
          <a:off x="990600" y="3657600"/>
          <a:ext cx="609600" cy="423863"/>
        </p:xfrm>
        <a:graphic>
          <a:graphicData uri="http://schemas.openxmlformats.org/presentationml/2006/ole">
            <mc:AlternateContent xmlns:mc="http://schemas.openxmlformats.org/markup-compatibility/2006">
              <mc:Choice xmlns:v="urn:schemas-microsoft-com:vml" Requires="v">
                <p:oleObj spid="_x0000_s3077" name="" r:id="rId1" imgW="292100" imgH="203200" progId="Equation.3">
                  <p:embed/>
                </p:oleObj>
              </mc:Choice>
              <mc:Fallback>
                <p:oleObj name="" r:id="rId1" imgW="292100" imgH="203200" progId="Equation.3">
                  <p:embed/>
                  <p:pic>
                    <p:nvPicPr>
                      <p:cNvPr id="0" name="Picture 3076"/>
                      <p:cNvPicPr/>
                      <p:nvPr/>
                    </p:nvPicPr>
                    <p:blipFill>
                      <a:blip r:embed="rId2"/>
                      <a:srcRect/>
                      <a:stretch>
                        <a:fillRect/>
                      </a:stretch>
                    </p:blipFill>
                    <p:spPr>
                      <a:xfrm>
                        <a:off x="990600" y="3657600"/>
                        <a:ext cx="609600" cy="423863"/>
                      </a:xfrm>
                      <a:prstGeom prst="rect">
                        <a:avLst/>
                      </a:prstGeom>
                      <a:noFill/>
                      <a:ln w="38100">
                        <a:miter/>
                      </a:ln>
                    </p:spPr>
                  </p:pic>
                </p:oleObj>
              </mc:Fallback>
            </mc:AlternateContent>
          </a:graphicData>
        </a:graphic>
      </p:graphicFrame>
      <p:sp>
        <p:nvSpPr>
          <p:cNvPr id="18436" name="Text Box 4"/>
          <p:cNvSpPr txBox="1"/>
          <p:nvPr/>
        </p:nvSpPr>
        <p:spPr>
          <a:xfrm>
            <a:off x="2133600" y="3200400"/>
            <a:ext cx="1828800" cy="788988"/>
          </a:xfrm>
          <a:prstGeom prst="rect">
            <a:avLst/>
          </a:prstGeom>
          <a:solidFill>
            <a:srgbClr val="FFCC99"/>
          </a:solidFill>
          <a:ln w="9525" cap="flat" cmpd="sng">
            <a:solidFill>
              <a:schemeClr val="tx1"/>
            </a:solidFill>
            <a:prstDash val="solid"/>
            <a:miter/>
            <a:headEnd type="none" w="med" len="med"/>
            <a:tailEnd type="none" w="med" len="med"/>
          </a:ln>
        </p:spPr>
        <p:txBody>
          <a:bodyPr>
            <a:spAutoFit/>
          </a:bodyPr>
          <a:p>
            <a:pPr algn="ctr">
              <a:spcBef>
                <a:spcPct val="50000"/>
              </a:spcBef>
            </a:pPr>
            <a:r>
              <a:rPr b="1" dirty="0">
                <a:latin typeface="Arial" panose="020B0604020202020204" pitchFamily="34" charset="0"/>
              </a:rPr>
              <a:t>Anti-aliasing</a:t>
            </a:r>
            <a:endParaRPr b="1" dirty="0">
              <a:latin typeface="Arial" panose="020B0604020202020204" pitchFamily="34" charset="0"/>
            </a:endParaRPr>
          </a:p>
          <a:p>
            <a:pPr algn="ctr">
              <a:spcBef>
                <a:spcPct val="50000"/>
              </a:spcBef>
            </a:pPr>
            <a:r>
              <a:rPr b="1" dirty="0">
                <a:latin typeface="Arial" panose="020B0604020202020204" pitchFamily="34" charset="0"/>
              </a:rPr>
              <a:t>Filter</a:t>
            </a:r>
            <a:endParaRPr b="1" dirty="0">
              <a:latin typeface="Arial" panose="020B0604020202020204" pitchFamily="34" charset="0"/>
            </a:endParaRPr>
          </a:p>
        </p:txBody>
      </p:sp>
      <p:sp>
        <p:nvSpPr>
          <p:cNvPr id="18437" name="Text Box 5"/>
          <p:cNvSpPr txBox="1"/>
          <p:nvPr/>
        </p:nvSpPr>
        <p:spPr>
          <a:xfrm>
            <a:off x="4876800" y="3200400"/>
            <a:ext cx="1447800" cy="788988"/>
          </a:xfrm>
          <a:prstGeom prst="rect">
            <a:avLst/>
          </a:prstGeom>
          <a:solidFill>
            <a:srgbClr val="FFCC99"/>
          </a:solidFill>
          <a:ln w="9525" cap="flat" cmpd="sng">
            <a:solidFill>
              <a:schemeClr val="tx1"/>
            </a:solidFill>
            <a:prstDash val="solid"/>
            <a:miter/>
            <a:headEnd type="none" w="med" len="med"/>
            <a:tailEnd type="none" w="med" len="med"/>
          </a:ln>
        </p:spPr>
        <p:txBody>
          <a:bodyPr>
            <a:spAutoFit/>
          </a:bodyPr>
          <a:p>
            <a:pPr algn="ctr">
              <a:spcBef>
                <a:spcPct val="50000"/>
              </a:spcBef>
            </a:pPr>
            <a:r>
              <a:rPr b="1" dirty="0">
                <a:latin typeface="Arial" panose="020B0604020202020204" pitchFamily="34" charset="0"/>
              </a:rPr>
              <a:t>Sampler</a:t>
            </a:r>
            <a:endParaRPr b="1" dirty="0">
              <a:latin typeface="Arial" panose="020B0604020202020204" pitchFamily="34" charset="0"/>
            </a:endParaRPr>
          </a:p>
          <a:p>
            <a:pPr algn="ctr">
              <a:spcBef>
                <a:spcPct val="50000"/>
              </a:spcBef>
            </a:pPr>
            <a:endParaRPr b="1" dirty="0">
              <a:latin typeface="Arial" panose="020B0604020202020204" pitchFamily="34" charset="0"/>
            </a:endParaRPr>
          </a:p>
        </p:txBody>
      </p:sp>
      <p:sp>
        <p:nvSpPr>
          <p:cNvPr id="18438" name="Line 6"/>
          <p:cNvSpPr/>
          <p:nvPr/>
        </p:nvSpPr>
        <p:spPr>
          <a:xfrm>
            <a:off x="1371600" y="3581400"/>
            <a:ext cx="762000" cy="0"/>
          </a:xfrm>
          <a:prstGeom prst="line">
            <a:avLst/>
          </a:prstGeom>
          <a:ln w="9525" cap="flat" cmpd="sng">
            <a:solidFill>
              <a:schemeClr val="tx1"/>
            </a:solidFill>
            <a:prstDash val="solid"/>
            <a:headEnd type="none" w="med" len="med"/>
            <a:tailEnd type="triangle" w="med" len="med"/>
          </a:ln>
        </p:spPr>
      </p:sp>
      <p:sp>
        <p:nvSpPr>
          <p:cNvPr id="18439" name="Line 7"/>
          <p:cNvSpPr/>
          <p:nvPr/>
        </p:nvSpPr>
        <p:spPr>
          <a:xfrm>
            <a:off x="3962400" y="3581400"/>
            <a:ext cx="914400" cy="0"/>
          </a:xfrm>
          <a:prstGeom prst="line">
            <a:avLst/>
          </a:prstGeom>
          <a:ln w="9525" cap="flat" cmpd="sng">
            <a:solidFill>
              <a:schemeClr val="tx1"/>
            </a:solidFill>
            <a:prstDash val="solid"/>
            <a:headEnd type="none" w="med" len="med"/>
            <a:tailEnd type="triangle" w="med" len="med"/>
          </a:ln>
        </p:spPr>
      </p:sp>
      <p:sp>
        <p:nvSpPr>
          <p:cNvPr id="18440" name="Line 8"/>
          <p:cNvSpPr/>
          <p:nvPr/>
        </p:nvSpPr>
        <p:spPr>
          <a:xfrm>
            <a:off x="6324600" y="3581400"/>
            <a:ext cx="381000" cy="0"/>
          </a:xfrm>
          <a:prstGeom prst="line">
            <a:avLst/>
          </a:prstGeom>
          <a:ln w="9525" cap="flat" cmpd="sng">
            <a:solidFill>
              <a:schemeClr val="tx1"/>
            </a:solidFill>
            <a:prstDash val="solid"/>
            <a:headEnd type="none" w="med" len="med"/>
            <a:tailEnd type="triangle" w="med" len="med"/>
          </a:ln>
        </p:spPr>
      </p:sp>
      <p:sp>
        <p:nvSpPr>
          <p:cNvPr id="18441" name="Text Box 9"/>
          <p:cNvSpPr txBox="1"/>
          <p:nvPr/>
        </p:nvSpPr>
        <p:spPr>
          <a:xfrm>
            <a:off x="990600" y="3124200"/>
            <a:ext cx="533400" cy="366713"/>
          </a:xfrm>
          <a:prstGeom prst="rect">
            <a:avLst/>
          </a:prstGeom>
          <a:noFill/>
          <a:ln w="9525">
            <a:noFill/>
          </a:ln>
        </p:spPr>
        <p:txBody>
          <a:bodyPr>
            <a:spAutoFit/>
          </a:bodyPr>
          <a:p>
            <a:pPr>
              <a:spcBef>
                <a:spcPct val="50000"/>
              </a:spcBef>
            </a:pPr>
            <a:endParaRPr dirty="0">
              <a:latin typeface="Arial" panose="020B0604020202020204" pitchFamily="34" charset="0"/>
            </a:endParaRPr>
          </a:p>
        </p:txBody>
      </p:sp>
      <p:sp>
        <p:nvSpPr>
          <p:cNvPr id="18442" name="Text Box 10"/>
          <p:cNvSpPr txBox="1"/>
          <p:nvPr/>
        </p:nvSpPr>
        <p:spPr>
          <a:xfrm>
            <a:off x="6781800" y="3352800"/>
            <a:ext cx="762000" cy="366713"/>
          </a:xfrm>
          <a:prstGeom prst="rect">
            <a:avLst/>
          </a:prstGeom>
          <a:noFill/>
          <a:ln w="9525">
            <a:noFill/>
          </a:ln>
        </p:spPr>
        <p:txBody>
          <a:bodyPr>
            <a:spAutoFit/>
          </a:bodyPr>
          <a:p>
            <a:pPr>
              <a:spcBef>
                <a:spcPct val="50000"/>
              </a:spcBef>
            </a:pPr>
            <a:endParaRPr dirty="0">
              <a:latin typeface="Arial" panose="020B0604020202020204" pitchFamily="34" charset="0"/>
            </a:endParaRPr>
          </a:p>
        </p:txBody>
      </p:sp>
      <p:graphicFrame>
        <p:nvGraphicFramePr>
          <p:cNvPr id="18443" name="Object 11"/>
          <p:cNvGraphicFramePr>
            <a:graphicFrameLocks noChangeAspect="1"/>
          </p:cNvGraphicFramePr>
          <p:nvPr>
            <p:ph sz="quarter" idx="3"/>
          </p:nvPr>
        </p:nvGraphicFramePr>
        <p:xfrm>
          <a:off x="6934200" y="3352800"/>
          <a:ext cx="993775" cy="496888"/>
        </p:xfrm>
        <a:graphic>
          <a:graphicData uri="http://schemas.openxmlformats.org/presentationml/2006/ole">
            <mc:AlternateContent xmlns:mc="http://schemas.openxmlformats.org/markup-compatibility/2006">
              <mc:Choice xmlns:v="urn:schemas-microsoft-com:vml" Requires="v">
                <p:oleObj spid="_x0000_s3076" name="" r:id="rId3" imgW="457200" imgH="228600" progId="Equation.3">
                  <p:embed/>
                </p:oleObj>
              </mc:Choice>
              <mc:Fallback>
                <p:oleObj name="" r:id="rId3" imgW="457200" imgH="228600" progId="Equation.3">
                  <p:embed/>
                  <p:pic>
                    <p:nvPicPr>
                      <p:cNvPr id="0" name="Picture 3075"/>
                      <p:cNvPicPr/>
                      <p:nvPr/>
                    </p:nvPicPr>
                    <p:blipFill>
                      <a:blip r:embed="rId4"/>
                      <a:srcRect/>
                      <a:stretch>
                        <a:fillRect/>
                      </a:stretch>
                    </p:blipFill>
                    <p:spPr>
                      <a:xfrm>
                        <a:off x="6934200" y="3352800"/>
                        <a:ext cx="993775" cy="496888"/>
                      </a:xfrm>
                      <a:prstGeom prst="rect">
                        <a:avLst/>
                      </a:prstGeom>
                      <a:noFill/>
                      <a:ln w="38100">
                        <a:miter/>
                      </a:ln>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ln/>
        </p:spPr>
        <p:txBody>
          <a:bodyPr vert="horz" wrap="square" lIns="91440" tIns="45720" rIns="91440" bIns="45720" anchor="ctr" anchorCtr="0"/>
          <a:p>
            <a:pPr eaLnBrk="1" hangingPunct="1"/>
            <a:r>
              <a:rPr dirty="0"/>
              <a:t>ANALOG PULSE MODULATION (APM)</a:t>
            </a:r>
            <a:endParaRPr dirty="0"/>
          </a:p>
        </p:txBody>
      </p:sp>
      <p:sp>
        <p:nvSpPr>
          <p:cNvPr id="19459" name="Rectangle 3"/>
          <p:cNvSpPr>
            <a:spLocks noGrp="1"/>
          </p:cNvSpPr>
          <p:nvPr>
            <p:ph idx="1"/>
          </p:nvPr>
        </p:nvSpPr>
        <p:spPr>
          <a:ln/>
        </p:spPr>
        <p:txBody>
          <a:bodyPr vert="horz" wrap="square" lIns="91440" tIns="45720" rIns="91440" bIns="45720" anchor="t" anchorCtr="0"/>
          <a:p>
            <a:pPr eaLnBrk="1" hangingPunct="1">
              <a:lnSpc>
                <a:spcPct val="90000"/>
              </a:lnSpc>
            </a:pPr>
            <a:r>
              <a:rPr sz="2800" dirty="0"/>
              <a:t>In APM, the carrier signal is in the form of pulse waveform, and the modulated signal is where one of the characteristic (either amplitude, width or position) is changed according to the modulating/audio signal</a:t>
            </a:r>
            <a:endParaRPr sz="2800" dirty="0"/>
          </a:p>
          <a:p>
            <a:pPr eaLnBrk="1" hangingPunct="1">
              <a:lnSpc>
                <a:spcPct val="90000"/>
              </a:lnSpc>
            </a:pPr>
            <a:r>
              <a:rPr sz="2800" dirty="0"/>
              <a:t>The three common techniques of APM are: Pulse Amplitude Modulation (PAM),</a:t>
            </a:r>
            <a:endParaRPr sz="2800" dirty="0"/>
          </a:p>
          <a:p>
            <a:pPr eaLnBrk="1" hangingPunct="1">
              <a:lnSpc>
                <a:spcPct val="90000"/>
              </a:lnSpc>
              <a:buNone/>
            </a:pPr>
            <a:r>
              <a:rPr sz="2800" dirty="0"/>
              <a:t>   Pulse Width Modulation (PWM) and</a:t>
            </a:r>
            <a:endParaRPr sz="2800" dirty="0"/>
          </a:p>
          <a:p>
            <a:pPr eaLnBrk="1" hangingPunct="1">
              <a:lnSpc>
                <a:spcPct val="90000"/>
              </a:lnSpc>
              <a:buNone/>
            </a:pPr>
            <a:r>
              <a:rPr sz="2800" dirty="0"/>
              <a:t>   Pulse Position Modulation (PPM). The waveforms of APM are shown in figure 4.4</a:t>
            </a:r>
            <a:endParaRPr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ln/>
        </p:spPr>
        <p:txBody>
          <a:bodyPr vert="horz" wrap="square" lIns="91440" tIns="45720" rIns="91440" bIns="45720" anchor="ctr" anchorCtr="0"/>
          <a:p>
            <a:pPr eaLnBrk="1" hangingPunct="1"/>
            <a:r>
              <a:rPr sz="4000" dirty="0"/>
              <a:t>Pulse Amplitude Modulation (PAM)</a:t>
            </a:r>
            <a:endParaRPr sz="4000" dirty="0"/>
          </a:p>
        </p:txBody>
      </p:sp>
      <p:sp>
        <p:nvSpPr>
          <p:cNvPr id="20483" name="Rectangle 3"/>
          <p:cNvSpPr>
            <a:spLocks noGrp="1"/>
          </p:cNvSpPr>
          <p:nvPr>
            <p:ph idx="1"/>
          </p:nvPr>
        </p:nvSpPr>
        <p:spPr>
          <a:ln/>
        </p:spPr>
        <p:txBody>
          <a:bodyPr vert="horz" wrap="square" lIns="91440" tIns="45720" rIns="91440" bIns="45720" anchor="t" anchorCtr="0"/>
          <a:p>
            <a:pPr eaLnBrk="1" hangingPunct="1">
              <a:lnSpc>
                <a:spcPct val="90000"/>
              </a:lnSpc>
            </a:pPr>
            <a:r>
              <a:rPr dirty="0"/>
              <a:t>The simplest form of pulse modulation</a:t>
            </a:r>
            <a:endParaRPr dirty="0"/>
          </a:p>
          <a:p>
            <a:pPr eaLnBrk="1" hangingPunct="1">
              <a:lnSpc>
                <a:spcPct val="90000"/>
              </a:lnSpc>
            </a:pPr>
            <a:r>
              <a:rPr dirty="0"/>
              <a:t>The amplitude of a constant width, constant position pulse (carrier signal) is varied according to the amplitude of the modulating signal.</a:t>
            </a:r>
            <a:endParaRPr dirty="0"/>
          </a:p>
          <a:p>
            <a:pPr eaLnBrk="1" hangingPunct="1">
              <a:lnSpc>
                <a:spcPct val="90000"/>
              </a:lnSpc>
            </a:pPr>
            <a:r>
              <a:rPr dirty="0"/>
              <a:t>Basically the modulating signal is sampled by the digital train of pulses and the process is based upon the sampling theorem</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5"/>
          <p:cNvSpPr>
            <a:spLocks noGrp="1"/>
          </p:cNvSpPr>
          <p:nvPr>
            <p:ph type="title"/>
          </p:nvPr>
        </p:nvSpPr>
        <p:spPr>
          <a:xfrm>
            <a:off x="457200" y="274638"/>
            <a:ext cx="8229600" cy="563562"/>
          </a:xfrm>
          <a:ln/>
        </p:spPr>
        <p:txBody>
          <a:bodyPr vert="horz" wrap="square" lIns="91440" tIns="45720" rIns="91440" bIns="45720" anchor="ctr" anchorCtr="0"/>
          <a:p>
            <a:pPr eaLnBrk="1" hangingPunct="1"/>
            <a:r>
              <a:rPr sz="2800" dirty="0"/>
              <a:t>Fig.4.4 waveform for PAM,PWM &amp; PPM</a:t>
            </a:r>
            <a:endParaRPr sz="2800" dirty="0"/>
          </a:p>
        </p:txBody>
      </p:sp>
      <p:pic>
        <p:nvPicPr>
          <p:cNvPr id="21507" name="Picture 4" descr="sample3"/>
          <p:cNvPicPr>
            <a:picLocks noChangeAspect="1"/>
          </p:cNvPicPr>
          <p:nvPr>
            <p:ph idx="1"/>
          </p:nvPr>
        </p:nvPicPr>
        <p:blipFill>
          <a:blip r:embed="rId1"/>
          <a:srcRect/>
          <a:stretch>
            <a:fillRect/>
          </a:stretch>
        </p:blipFill>
        <p:spPr>
          <a:xfrm>
            <a:off x="914400" y="685800"/>
            <a:ext cx="6934200" cy="5410200"/>
          </a:xfr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a:ln/>
        </p:spPr>
        <p:txBody>
          <a:bodyPr vert="horz" wrap="square" lIns="91440" tIns="45720" rIns="91440" bIns="45720" anchor="ctr" anchorCtr="0"/>
          <a:p>
            <a:pPr eaLnBrk="1" hangingPunct="1"/>
            <a:r>
              <a:rPr dirty="0"/>
              <a:t>Pulse Width Modulation (PWM)</a:t>
            </a:r>
            <a:endParaRPr dirty="0"/>
          </a:p>
        </p:txBody>
      </p:sp>
      <p:sp>
        <p:nvSpPr>
          <p:cNvPr id="22531" name="Rectangle 3"/>
          <p:cNvSpPr>
            <a:spLocks noGrp="1"/>
          </p:cNvSpPr>
          <p:nvPr>
            <p:ph idx="1"/>
          </p:nvPr>
        </p:nvSpPr>
        <p:spPr>
          <a:ln/>
        </p:spPr>
        <p:txBody>
          <a:bodyPr vert="horz" wrap="square" lIns="91440" tIns="45720" rIns="91440" bIns="45720" anchor="t" anchorCtr="0"/>
          <a:p>
            <a:pPr eaLnBrk="1" hangingPunct="1"/>
            <a:r>
              <a:rPr dirty="0"/>
              <a:t>The technique of varying the width of the constant amplitude pulse proportional to the amplitude of the modulation signal.</a:t>
            </a:r>
            <a:endParaRPr dirty="0"/>
          </a:p>
          <a:p>
            <a:pPr eaLnBrk="1" hangingPunct="1"/>
            <a:r>
              <a:rPr dirty="0"/>
              <a:t>Also known as Pulse Duration Modulation (FDM).</a:t>
            </a:r>
            <a:endParaRPr dirty="0"/>
          </a:p>
          <a:p>
            <a:pPr eaLnBrk="1" hangingPunct="1"/>
            <a:r>
              <a:rPr dirty="0"/>
              <a:t>Either the leading edge, trailing edge or both may be varied by the modulating signal.</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ln/>
        </p:spPr>
        <p:txBody>
          <a:bodyPr vert="horz" wrap="square" lIns="91440" tIns="45720" rIns="91440" bIns="45720" anchor="ctr" anchorCtr="0"/>
          <a:p>
            <a:pPr eaLnBrk="1" hangingPunct="1"/>
            <a:r>
              <a:rPr dirty="0"/>
              <a:t>Pulse Width Modulation (PWM)</a:t>
            </a:r>
            <a:endParaRPr dirty="0"/>
          </a:p>
        </p:txBody>
      </p:sp>
      <p:sp>
        <p:nvSpPr>
          <p:cNvPr id="23555" name="Rectangle 3"/>
          <p:cNvSpPr>
            <a:spLocks noGrp="1"/>
          </p:cNvSpPr>
          <p:nvPr>
            <p:ph idx="1"/>
          </p:nvPr>
        </p:nvSpPr>
        <p:spPr>
          <a:ln/>
        </p:spPr>
        <p:txBody>
          <a:bodyPr vert="horz" wrap="square" lIns="91440" tIns="45720" rIns="91440" bIns="45720" anchor="t" anchorCtr="0"/>
          <a:p>
            <a:pPr eaLnBrk="1" hangingPunct="1"/>
            <a:r>
              <a:rPr dirty="0"/>
              <a:t>PWM gives better signal to noise performance than PAM.</a:t>
            </a:r>
            <a:endParaRPr dirty="0"/>
          </a:p>
          <a:p>
            <a:pPr eaLnBrk="1" hangingPunct="1"/>
            <a:r>
              <a:rPr dirty="0"/>
              <a:t>PWM has advantage, when compared with PPM, that is its pulse are of varying width and therefore of varying power content. PWM still works if synchronization between transmitter and receiver fails, whereas PPM does not.</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ln/>
        </p:spPr>
        <p:txBody>
          <a:bodyPr vert="horz" wrap="square" lIns="91440" tIns="45720" rIns="91440" bIns="45720" anchor="ctr" anchorCtr="0"/>
          <a:p>
            <a:pPr eaLnBrk="1" hangingPunct="1"/>
            <a:r>
              <a:rPr sz="4000" dirty="0"/>
              <a:t>Pulse Position Modulation (PPM)</a:t>
            </a:r>
            <a:endParaRPr sz="4000" dirty="0"/>
          </a:p>
        </p:txBody>
      </p:sp>
      <p:sp>
        <p:nvSpPr>
          <p:cNvPr id="24579" name="Rectangle 3"/>
          <p:cNvSpPr>
            <a:spLocks noGrp="1"/>
          </p:cNvSpPr>
          <p:nvPr>
            <p:ph idx="1"/>
          </p:nvPr>
        </p:nvSpPr>
        <p:spPr>
          <a:ln/>
        </p:spPr>
        <p:txBody>
          <a:bodyPr vert="horz" wrap="square" lIns="91440" tIns="45720" rIns="91440" bIns="45720" anchor="t" anchorCtr="0"/>
          <a:p>
            <a:pPr eaLnBrk="1" hangingPunct="1">
              <a:lnSpc>
                <a:spcPct val="80000"/>
              </a:lnSpc>
            </a:pPr>
            <a:r>
              <a:rPr sz="2800" dirty="0"/>
              <a:t>PPM is when the position of a constant-width and constant-amplitude pulse within prescribed time slot is varied according to the amplitude of the modulating signal.</a:t>
            </a:r>
            <a:endParaRPr sz="2800" dirty="0"/>
          </a:p>
          <a:p>
            <a:pPr eaLnBrk="1" hangingPunct="1">
              <a:lnSpc>
                <a:spcPct val="80000"/>
              </a:lnSpc>
            </a:pPr>
            <a:r>
              <a:rPr sz="2800" dirty="0"/>
              <a:t>PPM has the advantage of requiring constant transmitter power output, but the disavantage of depending on transmitter-receiver synchronization.</a:t>
            </a:r>
            <a:endParaRPr sz="2800" dirty="0"/>
          </a:p>
          <a:p>
            <a:pPr eaLnBrk="1" hangingPunct="1">
              <a:lnSpc>
                <a:spcPct val="80000"/>
              </a:lnSpc>
            </a:pPr>
            <a:r>
              <a:rPr sz="2800" dirty="0"/>
              <a:t>PPM has less noise due to amplitude changes, becaused the received pulses may be clipped at the receiver, thus removing amplitudeschanges caused by noise.</a:t>
            </a:r>
            <a:endParaRPr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5602" name="Object 2"/>
          <p:cNvGraphicFramePr>
            <a:graphicFrameLocks noChangeAspect="1"/>
          </p:cNvGraphicFramePr>
          <p:nvPr>
            <p:ph idx="1"/>
          </p:nvPr>
        </p:nvGraphicFramePr>
        <p:xfrm>
          <a:off x="1295400" y="914400"/>
          <a:ext cx="6705600" cy="3398838"/>
        </p:xfrm>
        <a:graphic>
          <a:graphicData uri="http://schemas.openxmlformats.org/presentationml/2006/ole">
            <mc:AlternateContent xmlns:mc="http://schemas.openxmlformats.org/markup-compatibility/2006">
              <mc:Choice xmlns:v="urn:schemas-microsoft-com:vml" Requires="v">
                <p:oleObj spid="_x0000_s3079" name="" r:id="rId1" imgW="5648325" imgH="5486400" progId="Paint.Picture">
                  <p:embed/>
                </p:oleObj>
              </mc:Choice>
              <mc:Fallback>
                <p:oleObj name="" r:id="rId1" imgW="5648325" imgH="5486400" progId="Paint.Picture">
                  <p:embed/>
                  <p:pic>
                    <p:nvPicPr>
                      <p:cNvPr id="0" name="Picture 3078"/>
                      <p:cNvPicPr/>
                      <p:nvPr/>
                    </p:nvPicPr>
                    <p:blipFill>
                      <a:blip r:embed="rId2"/>
                      <a:srcRect b="47807"/>
                      <a:stretch>
                        <a:fillRect/>
                      </a:stretch>
                    </p:blipFill>
                    <p:spPr>
                      <a:xfrm>
                        <a:off x="1295400" y="914400"/>
                        <a:ext cx="6705600" cy="3398838"/>
                      </a:xfrm>
                      <a:prstGeom prst="rect">
                        <a:avLst/>
                      </a:prstGeom>
                      <a:noFill/>
                      <a:ln w="38100">
                        <a:miter/>
                      </a:ln>
                    </p:spPr>
                  </p:pic>
                </p:oleObj>
              </mc:Fallback>
            </mc:AlternateContent>
          </a:graphicData>
        </a:graphic>
      </p:graphicFrame>
      <p:sp>
        <p:nvSpPr>
          <p:cNvPr id="25603" name="Text Box 3"/>
          <p:cNvSpPr txBox="1"/>
          <p:nvPr/>
        </p:nvSpPr>
        <p:spPr>
          <a:xfrm>
            <a:off x="990600" y="4953000"/>
            <a:ext cx="7239000" cy="1187450"/>
          </a:xfrm>
          <a:prstGeom prst="rect">
            <a:avLst/>
          </a:prstGeom>
          <a:noFill/>
          <a:ln w="9525">
            <a:noFill/>
          </a:ln>
        </p:spPr>
        <p:txBody>
          <a:bodyPr>
            <a:spAutoFit/>
          </a:bodyPr>
          <a:p>
            <a:r>
              <a:rPr sz="2400" b="1" dirty="0">
                <a:solidFill>
                  <a:schemeClr val="hlink"/>
                </a:solidFill>
                <a:latin typeface="Arial" panose="020B0604020202020204" pitchFamily="34" charset="0"/>
              </a:rPr>
              <a:t>Pulse Amplitude Modulation (PAM)</a:t>
            </a:r>
            <a:endParaRPr sz="2400" b="1" dirty="0">
              <a:solidFill>
                <a:schemeClr val="hlink"/>
              </a:solidFill>
              <a:latin typeface="Arial" panose="020B0604020202020204" pitchFamily="34" charset="0"/>
            </a:endParaRPr>
          </a:p>
          <a:p>
            <a:r>
              <a:rPr sz="2400" b="1" dirty="0">
                <a:latin typeface="Arial" panose="020B0604020202020204" pitchFamily="34" charset="0"/>
              </a:rPr>
              <a:t>Modulation in which the amplitude of pulses is varied in accordance with the modulating signal</a:t>
            </a:r>
            <a:endParaRPr sz="2400" b="1"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a:xfrm>
            <a:off x="762000" y="4953000"/>
            <a:ext cx="7848600" cy="1143000"/>
          </a:xfrm>
          <a:ln/>
        </p:spPr>
        <p:txBody>
          <a:bodyPr vert="horz" wrap="square" lIns="91440" tIns="45720" rIns="91440" bIns="45720" anchor="ctr" anchorCtr="0"/>
          <a:p>
            <a:pPr algn="l" eaLnBrk="1" hangingPunct="1"/>
            <a:r>
              <a:rPr sz="2400" b="1" dirty="0">
                <a:solidFill>
                  <a:schemeClr val="hlink"/>
                </a:solidFill>
              </a:rPr>
              <a:t>Pulse Width Modulation (PWM)</a:t>
            </a:r>
            <a:br>
              <a:rPr sz="2400" b="1" dirty="0">
                <a:solidFill>
                  <a:schemeClr val="hlink"/>
                </a:solidFill>
              </a:rPr>
            </a:br>
            <a:r>
              <a:rPr sz="2400" b="1" dirty="0"/>
              <a:t>Modulation in which the duration of pulses is varied     in accordance with the modulating signal</a:t>
            </a:r>
            <a:endParaRPr sz="2400" b="1" dirty="0"/>
          </a:p>
        </p:txBody>
      </p:sp>
      <p:graphicFrame>
        <p:nvGraphicFramePr>
          <p:cNvPr id="26627" name="Object 3"/>
          <p:cNvGraphicFramePr>
            <a:graphicFrameLocks noChangeAspect="1"/>
          </p:cNvGraphicFramePr>
          <p:nvPr>
            <p:ph idx="1"/>
          </p:nvPr>
        </p:nvGraphicFramePr>
        <p:xfrm>
          <a:off x="990600" y="228600"/>
          <a:ext cx="6934200" cy="4575175"/>
        </p:xfrm>
        <a:graphic>
          <a:graphicData uri="http://schemas.openxmlformats.org/presentationml/2006/ole">
            <mc:AlternateContent xmlns:mc="http://schemas.openxmlformats.org/markup-compatibility/2006">
              <mc:Choice xmlns:v="urn:schemas-microsoft-com:vml" Requires="v">
                <p:oleObj spid="_x0000_s3080" name="" r:id="rId1" imgW="5648325" imgH="5486400" progId="Paint.Picture">
                  <p:embed/>
                </p:oleObj>
              </mc:Choice>
              <mc:Fallback>
                <p:oleObj name="" r:id="rId1" imgW="5648325" imgH="5486400" progId="Paint.Picture">
                  <p:embed/>
                  <p:pic>
                    <p:nvPicPr>
                      <p:cNvPr id="0" name="Picture 3079"/>
                      <p:cNvPicPr/>
                      <p:nvPr/>
                    </p:nvPicPr>
                    <p:blipFill>
                      <a:blip r:embed="rId2"/>
                      <a:srcRect b="24237"/>
                      <a:stretch>
                        <a:fillRect/>
                      </a:stretch>
                    </p:blipFill>
                    <p:spPr>
                      <a:xfrm>
                        <a:off x="990600" y="228600"/>
                        <a:ext cx="6934200" cy="4575175"/>
                      </a:xfrm>
                      <a:prstGeom prst="rect">
                        <a:avLst/>
                      </a:prstGeom>
                      <a:noFill/>
                      <a:ln w="38100">
                        <a:miter/>
                      </a:ln>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7650" name="Object 2"/>
          <p:cNvGraphicFramePr>
            <a:graphicFrameLocks noChangeAspect="1"/>
          </p:cNvGraphicFramePr>
          <p:nvPr>
            <p:ph idx="1"/>
          </p:nvPr>
        </p:nvGraphicFramePr>
        <p:xfrm>
          <a:off x="1066800" y="446088"/>
          <a:ext cx="7086600" cy="5878512"/>
        </p:xfrm>
        <a:graphic>
          <a:graphicData uri="http://schemas.openxmlformats.org/presentationml/2006/ole">
            <mc:AlternateContent xmlns:mc="http://schemas.openxmlformats.org/markup-compatibility/2006">
              <mc:Choice xmlns:v="urn:schemas-microsoft-com:vml" Requires="v">
                <p:oleObj spid="_x0000_s3083" name="" r:id="rId1" imgW="5410200" imgH="5505450" progId="Paint.Picture">
                  <p:embed/>
                </p:oleObj>
              </mc:Choice>
              <mc:Fallback>
                <p:oleObj name="" r:id="rId1" imgW="5410200" imgH="5505450" progId="Paint.Picture">
                  <p:embed/>
                  <p:pic>
                    <p:nvPicPr>
                      <p:cNvPr id="0" name="Picture 3082"/>
                      <p:cNvPicPr/>
                      <p:nvPr/>
                    </p:nvPicPr>
                    <p:blipFill>
                      <a:blip r:embed="rId2"/>
                      <a:srcRect/>
                      <a:stretch>
                        <a:fillRect/>
                      </a:stretch>
                    </p:blipFill>
                    <p:spPr>
                      <a:xfrm>
                        <a:off x="1066800" y="446088"/>
                        <a:ext cx="7086600" cy="5878512"/>
                      </a:xfrm>
                      <a:prstGeom prst="rect">
                        <a:avLst/>
                      </a:prstGeom>
                      <a:noFill/>
                      <a:ln w="38100">
                        <a:miter/>
                      </a:ln>
                    </p:spPr>
                  </p:pic>
                </p:oleObj>
              </mc:Fallback>
            </mc:AlternateContent>
          </a:graphicData>
        </a:graphic>
      </p:graphicFrame>
      <p:sp>
        <p:nvSpPr>
          <p:cNvPr id="27651" name="Text Box 3"/>
          <p:cNvSpPr txBox="1"/>
          <p:nvPr/>
        </p:nvSpPr>
        <p:spPr>
          <a:xfrm>
            <a:off x="1219200" y="6324600"/>
            <a:ext cx="7162800" cy="366713"/>
          </a:xfrm>
          <a:prstGeom prst="rect">
            <a:avLst/>
          </a:prstGeom>
          <a:noFill/>
          <a:ln w="9525">
            <a:noFill/>
          </a:ln>
        </p:spPr>
        <p:txBody>
          <a:bodyPr>
            <a:spAutoFit/>
          </a:bodyPr>
          <a:p>
            <a:pPr>
              <a:spcBef>
                <a:spcPct val="50000"/>
              </a:spcBef>
            </a:pPr>
            <a:endParaRPr dirty="0">
              <a:latin typeface="Arial" panose="020B0604020202020204" pitchFamily="34" charset="0"/>
            </a:endParaRPr>
          </a:p>
        </p:txBody>
      </p:sp>
      <p:sp>
        <p:nvSpPr>
          <p:cNvPr id="27652" name="Text Box 4"/>
          <p:cNvSpPr txBox="1"/>
          <p:nvPr/>
        </p:nvSpPr>
        <p:spPr>
          <a:xfrm>
            <a:off x="1219200" y="6248400"/>
            <a:ext cx="7086600" cy="366713"/>
          </a:xfrm>
          <a:prstGeom prst="rect">
            <a:avLst/>
          </a:prstGeom>
          <a:noFill/>
          <a:ln w="9525">
            <a:noFill/>
          </a:ln>
        </p:spPr>
        <p:txBody>
          <a:bodyPr>
            <a:spAutoFit/>
          </a:bodyPr>
          <a:p>
            <a:pPr algn="ctr">
              <a:spcBef>
                <a:spcPct val="50000"/>
              </a:spcBef>
            </a:pPr>
            <a:r>
              <a:rPr b="1" dirty="0">
                <a:solidFill>
                  <a:schemeClr val="hlink"/>
                </a:solidFill>
                <a:latin typeface="Arial" panose="020B0604020202020204" pitchFamily="34" charset="0"/>
              </a:rPr>
              <a:t>Pulse Width Modulation (PWM)</a:t>
            </a:r>
            <a:endParaRPr b="1" dirty="0">
              <a:solidFill>
                <a:schemeClr val="hlink"/>
              </a:solidFill>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ln/>
        </p:spPr>
        <p:txBody>
          <a:bodyPr vert="horz" wrap="square" lIns="91440" tIns="45720" rIns="91440" bIns="45720" anchor="ctr" anchorCtr="0"/>
          <a:p>
            <a:pPr algn="l" eaLnBrk="1" hangingPunct="1"/>
            <a:r>
              <a:rPr sz="2200" b="1" dirty="0">
                <a:solidFill>
                  <a:schemeClr val="hlink"/>
                </a:solidFill>
              </a:rPr>
              <a:t>Pulse Position Modulation (PPM)</a:t>
            </a:r>
            <a:br>
              <a:rPr sz="2200" b="1" dirty="0">
                <a:solidFill>
                  <a:schemeClr val="hlink"/>
                </a:solidFill>
              </a:rPr>
            </a:br>
            <a:r>
              <a:rPr sz="2200" b="1" dirty="0"/>
              <a:t>Modulation in which the temporal positions of the </a:t>
            </a:r>
            <a:br>
              <a:rPr sz="2200" b="1" dirty="0"/>
            </a:br>
            <a:r>
              <a:rPr sz="2200" b="1" dirty="0"/>
              <a:t>pulses are varied in accordance with some characteristic of the modulating signal.</a:t>
            </a:r>
            <a:endParaRPr sz="2200" b="1" dirty="0"/>
          </a:p>
        </p:txBody>
      </p:sp>
      <p:graphicFrame>
        <p:nvGraphicFramePr>
          <p:cNvPr id="28675" name="Object 3"/>
          <p:cNvGraphicFramePr>
            <a:graphicFrameLocks noChangeAspect="1"/>
          </p:cNvGraphicFramePr>
          <p:nvPr>
            <p:ph idx="1"/>
          </p:nvPr>
        </p:nvGraphicFramePr>
        <p:xfrm>
          <a:off x="838200" y="1905000"/>
          <a:ext cx="7391400" cy="4765675"/>
        </p:xfrm>
        <a:graphic>
          <a:graphicData uri="http://schemas.openxmlformats.org/presentationml/2006/ole">
            <mc:AlternateContent xmlns:mc="http://schemas.openxmlformats.org/markup-compatibility/2006">
              <mc:Choice xmlns:v="urn:schemas-microsoft-com:vml" Requires="v">
                <p:oleObj spid="_x0000_s3082" name="" r:id="rId1" imgW="5648325" imgH="5486400" progId="Paint.Picture">
                  <p:embed/>
                </p:oleObj>
              </mc:Choice>
              <mc:Fallback>
                <p:oleObj name="" r:id="rId1" imgW="5648325" imgH="5486400" progId="Paint.Picture">
                  <p:embed/>
                  <p:pic>
                    <p:nvPicPr>
                      <p:cNvPr id="0" name="Picture 3081"/>
                      <p:cNvPicPr/>
                      <p:nvPr/>
                    </p:nvPicPr>
                    <p:blipFill>
                      <a:blip r:embed="rId2"/>
                      <a:srcRect/>
                      <a:stretch>
                        <a:fillRect/>
                      </a:stretch>
                    </p:blipFill>
                    <p:spPr>
                      <a:xfrm>
                        <a:off x="838200" y="1905000"/>
                        <a:ext cx="7391400" cy="4765675"/>
                      </a:xfrm>
                      <a:prstGeom prst="rect">
                        <a:avLst/>
                      </a:prstGeom>
                      <a:noFill/>
                      <a:ln w="38100">
                        <a:miter/>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9698" name="Object 2"/>
          <p:cNvGraphicFramePr>
            <a:graphicFrameLocks noChangeAspect="1"/>
          </p:cNvGraphicFramePr>
          <p:nvPr>
            <p:ph sz="half" idx="2"/>
          </p:nvPr>
        </p:nvGraphicFramePr>
        <p:xfrm>
          <a:off x="1676400" y="2743200"/>
          <a:ext cx="5943600" cy="2774950"/>
        </p:xfrm>
        <a:graphic>
          <a:graphicData uri="http://schemas.openxmlformats.org/presentationml/2006/ole">
            <mc:AlternateContent xmlns:mc="http://schemas.openxmlformats.org/markup-compatibility/2006">
              <mc:Choice xmlns:v="urn:schemas-microsoft-com:vml" Requires="v">
                <p:oleObj spid="_x0000_s3081" name="" r:id="rId1" imgW="4038600" imgH="1657350" progId="Paint.Picture">
                  <p:embed/>
                </p:oleObj>
              </mc:Choice>
              <mc:Fallback>
                <p:oleObj name="" r:id="rId1" imgW="4038600" imgH="1657350" progId="Paint.Picture">
                  <p:embed/>
                  <p:pic>
                    <p:nvPicPr>
                      <p:cNvPr id="0" name="Picture 3080"/>
                      <p:cNvPicPr/>
                      <p:nvPr/>
                    </p:nvPicPr>
                    <p:blipFill>
                      <a:blip r:embed="rId2"/>
                      <a:srcRect/>
                      <a:stretch>
                        <a:fillRect/>
                      </a:stretch>
                    </p:blipFill>
                    <p:spPr>
                      <a:xfrm>
                        <a:off x="1676400" y="2743200"/>
                        <a:ext cx="5943600" cy="2774950"/>
                      </a:xfrm>
                      <a:prstGeom prst="rect">
                        <a:avLst/>
                      </a:prstGeom>
                      <a:noFill/>
                      <a:ln w="38100">
                        <a:miter/>
                      </a:ln>
                    </p:spPr>
                  </p:pic>
                </p:oleObj>
              </mc:Fallback>
            </mc:AlternateContent>
          </a:graphicData>
        </a:graphic>
      </p:graphicFrame>
      <p:sp>
        <p:nvSpPr>
          <p:cNvPr id="29699" name="Text Box 3"/>
          <p:cNvSpPr txBox="1"/>
          <p:nvPr/>
        </p:nvSpPr>
        <p:spPr>
          <a:xfrm>
            <a:off x="762000" y="685800"/>
            <a:ext cx="7391400" cy="1458913"/>
          </a:xfrm>
          <a:prstGeom prst="rect">
            <a:avLst/>
          </a:prstGeom>
          <a:noFill/>
          <a:ln w="9525">
            <a:noFill/>
          </a:ln>
        </p:spPr>
        <p:txBody>
          <a:bodyPr>
            <a:spAutoFit/>
          </a:bodyPr>
          <a:p>
            <a:pPr algn="ctr">
              <a:spcBef>
                <a:spcPct val="20000"/>
              </a:spcBef>
            </a:pPr>
            <a:r>
              <a:rPr sz="2800" b="1" dirty="0">
                <a:solidFill>
                  <a:schemeClr val="hlink"/>
                </a:solidFill>
                <a:latin typeface="Arial" panose="020B0604020202020204" pitchFamily="34" charset="0"/>
              </a:rPr>
              <a:t>How to encode analog waveforms ?</a:t>
            </a:r>
            <a:endParaRPr sz="2800" b="1" dirty="0">
              <a:solidFill>
                <a:schemeClr val="hlink"/>
              </a:solidFill>
              <a:latin typeface="Arial" panose="020B0604020202020204" pitchFamily="34" charset="0"/>
            </a:endParaRPr>
          </a:p>
          <a:p>
            <a:pPr algn="ctr">
              <a:spcBef>
                <a:spcPct val="20000"/>
              </a:spcBef>
            </a:pPr>
            <a:r>
              <a:rPr sz="2800" b="1" dirty="0">
                <a:solidFill>
                  <a:schemeClr val="hlink"/>
                </a:solidFill>
                <a:latin typeface="Arial" panose="020B0604020202020204" pitchFamily="34" charset="0"/>
              </a:rPr>
              <a:t>(from analog sources into baseband digital signals)</a:t>
            </a:r>
            <a:endParaRPr sz="2800" b="1" dirty="0">
              <a:solidFill>
                <a:schemeClr val="hlink"/>
              </a:solidFill>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457200" y="274638"/>
            <a:ext cx="8229600" cy="792162"/>
          </a:xfrm>
          <a:ln/>
        </p:spPr>
        <p:txBody>
          <a:bodyPr vert="horz" wrap="square" lIns="91440" tIns="45720" rIns="91440" bIns="45720" anchor="ctr" anchorCtr="0"/>
          <a:p>
            <a:pPr eaLnBrk="1" hangingPunct="1"/>
            <a:r>
              <a:rPr b="1" dirty="0">
                <a:solidFill>
                  <a:schemeClr val="hlink"/>
                </a:solidFill>
              </a:rPr>
              <a:t>Natural Sampling</a:t>
            </a:r>
            <a:endParaRPr b="1" dirty="0">
              <a:solidFill>
                <a:schemeClr val="hlink"/>
              </a:solidFill>
            </a:endParaRPr>
          </a:p>
        </p:txBody>
      </p:sp>
      <p:pic>
        <p:nvPicPr>
          <p:cNvPr id="30723" name="Picture 3"/>
          <p:cNvPicPr>
            <a:picLocks noChangeAspect="1"/>
          </p:cNvPicPr>
          <p:nvPr>
            <p:ph idx="1"/>
          </p:nvPr>
        </p:nvPicPr>
        <p:blipFill>
          <a:blip r:embed="rId1"/>
          <a:srcRect l="22174" t="14609" r="21297" b="14685"/>
          <a:stretch>
            <a:fillRect/>
          </a:stretch>
        </p:blipFill>
        <p:spPr>
          <a:xfrm>
            <a:off x="914400" y="1371600"/>
            <a:ext cx="7620000" cy="5026025"/>
          </a:xfrm>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ln/>
        </p:spPr>
        <p:txBody>
          <a:bodyPr vert="horz" wrap="square" lIns="91440" tIns="45720" rIns="91440" bIns="45720" anchor="ctr" anchorCtr="0"/>
          <a:p>
            <a:pPr eaLnBrk="1" hangingPunct="1"/>
            <a:r>
              <a:rPr b="1" dirty="0">
                <a:solidFill>
                  <a:schemeClr val="hlink"/>
                </a:solidFill>
              </a:rPr>
              <a:t>Flat-top Sampling</a:t>
            </a:r>
            <a:endParaRPr b="1" dirty="0">
              <a:solidFill>
                <a:schemeClr val="hlink"/>
              </a:solidFill>
            </a:endParaRPr>
          </a:p>
        </p:txBody>
      </p:sp>
      <p:pic>
        <p:nvPicPr>
          <p:cNvPr id="31747" name="Picture 3"/>
          <p:cNvPicPr>
            <a:picLocks noChangeAspect="1"/>
          </p:cNvPicPr>
          <p:nvPr>
            <p:ph idx="1"/>
          </p:nvPr>
        </p:nvPicPr>
        <p:blipFill>
          <a:blip r:embed="rId1"/>
          <a:srcRect l="18518" t="13469" r="18518" b="15819"/>
          <a:stretch>
            <a:fillRect/>
          </a:stretch>
        </p:blipFill>
        <p:spPr>
          <a:xfrm>
            <a:off x="533400" y="1503363"/>
            <a:ext cx="8153400" cy="5035550"/>
          </a:xfr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ln/>
        </p:spPr>
        <p:txBody>
          <a:bodyPr vert="horz" wrap="square" lIns="91440" tIns="45720" rIns="91440" bIns="45720" anchor="ctr" anchorCtr="0"/>
          <a:p>
            <a:pPr eaLnBrk="1" hangingPunct="1"/>
            <a:r>
              <a:rPr sz="3600" dirty="0"/>
              <a:t>DIGITAL PULSE MODULATION (DPM)</a:t>
            </a:r>
            <a:br>
              <a:rPr sz="3600" dirty="0"/>
            </a:br>
            <a:r>
              <a:rPr sz="3600" dirty="0">
                <a:solidFill>
                  <a:schemeClr val="hlink"/>
                </a:solidFill>
              </a:rPr>
              <a:t>Pulse Code Modulation ( PCM )</a:t>
            </a:r>
            <a:endParaRPr sz="3600" dirty="0">
              <a:solidFill>
                <a:schemeClr val="hlink"/>
              </a:solidFill>
            </a:endParaRPr>
          </a:p>
        </p:txBody>
      </p:sp>
      <p:sp>
        <p:nvSpPr>
          <p:cNvPr id="32771" name="Rectangle 3"/>
          <p:cNvSpPr>
            <a:spLocks noGrp="1"/>
          </p:cNvSpPr>
          <p:nvPr>
            <p:ph idx="1"/>
          </p:nvPr>
        </p:nvSpPr>
        <p:spPr>
          <a:ln/>
        </p:spPr>
        <p:txBody>
          <a:bodyPr vert="horz" wrap="square" lIns="91440" tIns="45720" rIns="91440" bIns="45720" anchor="t" anchorCtr="0"/>
          <a:p>
            <a:pPr eaLnBrk="1" hangingPunct="1"/>
            <a:r>
              <a:rPr dirty="0"/>
              <a:t>PCM is  a form of digital modulation where group of coded pulses are used to represent the analog signal. The analog signal is sampled and converted to a fixed length, serial binary number for transmission.</a:t>
            </a:r>
            <a:endParaRPr dirty="0"/>
          </a:p>
          <a:p>
            <a:pPr eaLnBrk="1" hangingPunct="1"/>
            <a:r>
              <a:rPr dirty="0"/>
              <a:t>A block diagram of a PCM system is as shown in figure 4.5</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ln/>
        </p:spPr>
        <p:txBody>
          <a:bodyPr vert="horz" wrap="square" lIns="91440" tIns="45720" rIns="91440" bIns="45720" anchor="ctr" anchorCtr="0"/>
          <a:p>
            <a:pPr eaLnBrk="1" hangingPunct="1"/>
            <a:r>
              <a:rPr sz="4000" dirty="0"/>
              <a:t> </a:t>
            </a:r>
            <a:r>
              <a:rPr sz="2800" dirty="0"/>
              <a:t>Fig.4.5 A block diagram of PCM system (single channel)</a:t>
            </a:r>
            <a:endParaRPr sz="4000" dirty="0"/>
          </a:p>
        </p:txBody>
      </p:sp>
      <p:pic>
        <p:nvPicPr>
          <p:cNvPr id="33795" name="Picture 4" descr="pcmblok"/>
          <p:cNvPicPr>
            <a:picLocks noChangeAspect="1"/>
          </p:cNvPicPr>
          <p:nvPr>
            <p:ph idx="1"/>
          </p:nvPr>
        </p:nvPicPr>
        <p:blipFill>
          <a:blip r:embed="rId1"/>
          <a:srcRect/>
          <a:stretch>
            <a:fillRect/>
          </a:stretch>
        </p:blipFill>
        <p:spPr>
          <a:xfrm>
            <a:off x="1371600" y="1371600"/>
            <a:ext cx="7467600" cy="4800600"/>
          </a:xfrm>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a:xfrm>
            <a:off x="457200" y="274638"/>
            <a:ext cx="8229600" cy="411162"/>
          </a:xfrm>
          <a:ln/>
        </p:spPr>
        <p:txBody>
          <a:bodyPr vert="horz" wrap="square" lIns="91440" tIns="45720" rIns="91440" bIns="45720" anchor="ctr" anchorCtr="0"/>
          <a:p>
            <a:pPr eaLnBrk="1" hangingPunct="1"/>
            <a:r>
              <a:rPr sz="4000" dirty="0"/>
              <a:t>Principles of PCM</a:t>
            </a:r>
            <a:endParaRPr sz="4000" dirty="0"/>
          </a:p>
        </p:txBody>
      </p:sp>
      <p:sp>
        <p:nvSpPr>
          <p:cNvPr id="34819" name="Rectangle 3"/>
          <p:cNvSpPr>
            <a:spLocks noGrp="1"/>
          </p:cNvSpPr>
          <p:nvPr>
            <p:ph idx="1"/>
          </p:nvPr>
        </p:nvSpPr>
        <p:spPr>
          <a:xfrm>
            <a:off x="457200" y="914400"/>
            <a:ext cx="8229600" cy="5638800"/>
          </a:xfrm>
          <a:ln/>
        </p:spPr>
        <p:txBody>
          <a:bodyPr vert="horz" wrap="square" lIns="91440" tIns="45720" rIns="91440" bIns="45720" anchor="t" anchorCtr="0"/>
          <a:p>
            <a:pPr eaLnBrk="1" hangingPunct="1">
              <a:lnSpc>
                <a:spcPct val="90000"/>
              </a:lnSpc>
            </a:pPr>
            <a:r>
              <a:rPr dirty="0"/>
              <a:t>Three main process in PCM transmission are sampling, quantization and coding.</a:t>
            </a:r>
            <a:endParaRPr dirty="0"/>
          </a:p>
          <a:p>
            <a:pPr eaLnBrk="1" hangingPunct="1">
              <a:lnSpc>
                <a:spcPct val="90000"/>
              </a:lnSpc>
            </a:pPr>
            <a:r>
              <a:rPr dirty="0"/>
              <a:t>1. Sampling – is a process of taking samples of information signal at a rate of Nyquist’s sampling frequency.</a:t>
            </a:r>
            <a:endParaRPr dirty="0"/>
          </a:p>
          <a:p>
            <a:pPr eaLnBrk="1" hangingPunct="1">
              <a:lnSpc>
                <a:spcPct val="90000"/>
              </a:lnSpc>
            </a:pPr>
            <a:r>
              <a:rPr dirty="0"/>
              <a:t>2. Quantization – is a process of assigning the analog signal samples to a pre- determined discrete levels. The number of quantization levels ,L, depends on the number of bits per sample, n, used to code the signal. Where </a:t>
            </a:r>
            <a:endParaRPr dirty="0"/>
          </a:p>
        </p:txBody>
      </p:sp>
      <p:sp>
        <p:nvSpPr>
          <p:cNvPr id="34820" name="Rectangle 5"/>
          <p:cNvSpPr/>
          <p:nvPr/>
        </p:nvSpPr>
        <p:spPr>
          <a:xfrm>
            <a:off x="0" y="3333750"/>
            <a:ext cx="9144000" cy="0"/>
          </a:xfrm>
          <a:prstGeom prst="rect">
            <a:avLst/>
          </a:prstGeom>
          <a:noFill/>
          <a:ln w="9525">
            <a:noFill/>
          </a:ln>
        </p:spPr>
        <p:txBody>
          <a:bodyPr wrap="none" anchor="ctr" anchorCtr="0">
            <a:spAutoFit/>
          </a:bodyPr>
          <a:p>
            <a:endParaRPr lang="en-IN" altLang="x-none" dirty="0">
              <a:latin typeface="Arial" panose="020B0604020202020204" pitchFamily="34" charset="0"/>
            </a:endParaRPr>
          </a:p>
        </p:txBody>
      </p:sp>
      <p:graphicFrame>
        <p:nvGraphicFramePr>
          <p:cNvPr id="34821" name="Object 4"/>
          <p:cNvGraphicFramePr>
            <a:graphicFrameLocks noChangeAspect="1"/>
          </p:cNvGraphicFramePr>
          <p:nvPr/>
        </p:nvGraphicFramePr>
        <p:xfrm>
          <a:off x="4495800" y="5791200"/>
          <a:ext cx="1752600" cy="609600"/>
        </p:xfrm>
        <a:graphic>
          <a:graphicData uri="http://schemas.openxmlformats.org/presentationml/2006/ole">
            <mc:AlternateContent xmlns:mc="http://schemas.openxmlformats.org/markup-compatibility/2006">
              <mc:Choice xmlns:v="urn:schemas-microsoft-com:vml" Requires="v">
                <p:oleObj spid="_x0000_s3088" name="" r:id="rId1" imgW="431800" imgH="190500" progId="Equation.3">
                  <p:embed/>
                </p:oleObj>
              </mc:Choice>
              <mc:Fallback>
                <p:oleObj name="" r:id="rId1" imgW="431800" imgH="190500" progId="Equation.3">
                  <p:embed/>
                  <p:pic>
                    <p:nvPicPr>
                      <p:cNvPr id="0" name="Picture 3087"/>
                      <p:cNvPicPr/>
                      <p:nvPr/>
                    </p:nvPicPr>
                    <p:blipFill>
                      <a:blip r:embed="rId2"/>
                      <a:stretch>
                        <a:fillRect/>
                      </a:stretch>
                    </p:blipFill>
                    <p:spPr>
                      <a:xfrm>
                        <a:off x="4495800" y="5791200"/>
                        <a:ext cx="1752600" cy="609600"/>
                      </a:xfrm>
                      <a:prstGeom prst="rect">
                        <a:avLst/>
                      </a:prstGeom>
                      <a:noFill/>
                      <a:ln w="38100">
                        <a:noFill/>
                        <a:miter/>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xfrm>
            <a:off x="457200" y="274638"/>
            <a:ext cx="8229600" cy="639762"/>
          </a:xfrm>
          <a:ln/>
        </p:spPr>
        <p:txBody>
          <a:bodyPr vert="horz" wrap="square" lIns="91440" tIns="45720" rIns="91440" bIns="45720" anchor="ctr" anchorCtr="0"/>
          <a:p>
            <a:pPr eaLnBrk="1" hangingPunct="1"/>
            <a:r>
              <a:rPr sz="4000" dirty="0"/>
              <a:t>Principles of PCM (…cont.)</a:t>
            </a:r>
            <a:endParaRPr sz="4000" dirty="0"/>
          </a:p>
        </p:txBody>
      </p:sp>
      <p:sp>
        <p:nvSpPr>
          <p:cNvPr id="35843" name="Rectangle 3"/>
          <p:cNvSpPr>
            <a:spLocks noGrp="1"/>
          </p:cNvSpPr>
          <p:nvPr>
            <p:ph idx="1"/>
          </p:nvPr>
        </p:nvSpPr>
        <p:spPr>
          <a:xfrm>
            <a:off x="457200" y="1066800"/>
            <a:ext cx="8229600" cy="5059363"/>
          </a:xfrm>
          <a:ln/>
        </p:spPr>
        <p:txBody>
          <a:bodyPr vert="horz" wrap="square" lIns="91440" tIns="45720" rIns="91440" bIns="45720" anchor="t" anchorCtr="0"/>
          <a:p>
            <a:pPr eaLnBrk="1" hangingPunct="1"/>
            <a:r>
              <a:rPr sz="2800" dirty="0"/>
              <a:t>The magnitude of the minimum stepsize of the quantization levels is called </a:t>
            </a:r>
            <a:r>
              <a:rPr sz="2800" dirty="0">
                <a:solidFill>
                  <a:srgbClr val="FF0000"/>
                </a:solidFill>
              </a:rPr>
              <a:t>resolution</a:t>
            </a:r>
            <a:r>
              <a:rPr sz="2800" dirty="0"/>
              <a:t>,           </a:t>
            </a:r>
            <a:endParaRPr sz="2800" dirty="0"/>
          </a:p>
          <a:p>
            <a:pPr eaLnBrk="1" hangingPunct="1"/>
            <a:r>
              <a:rPr sz="2800" dirty="0"/>
              <a:t>It is equal in magnitude to the voltage of the least significant bit of the magnitude stepsize of the digital to analog converter (DAC). The resolution depends on the maximum voltage, Vmax, and the minimum voltage Vmin of the information signal, where</a:t>
            </a:r>
            <a:endParaRPr sz="2800" dirty="0"/>
          </a:p>
        </p:txBody>
      </p:sp>
      <p:sp>
        <p:nvSpPr>
          <p:cNvPr id="35844" name="Rectangle 5"/>
          <p:cNvSpPr/>
          <p:nvPr/>
        </p:nvSpPr>
        <p:spPr>
          <a:xfrm>
            <a:off x="0" y="0"/>
            <a:ext cx="9144000" cy="0"/>
          </a:xfrm>
          <a:prstGeom prst="rect">
            <a:avLst/>
          </a:prstGeom>
          <a:noFill/>
          <a:ln w="9525">
            <a:noFill/>
          </a:ln>
        </p:spPr>
        <p:txBody>
          <a:bodyPr wrap="none" anchor="ctr" anchorCtr="0">
            <a:spAutoFit/>
          </a:bodyPr>
          <a:p>
            <a:endParaRPr lang="en-IN" altLang="x-none" dirty="0">
              <a:latin typeface="Arial" panose="020B0604020202020204" pitchFamily="34" charset="0"/>
            </a:endParaRPr>
          </a:p>
        </p:txBody>
      </p:sp>
      <p:graphicFrame>
        <p:nvGraphicFramePr>
          <p:cNvPr id="35845" name="Object 4"/>
          <p:cNvGraphicFramePr>
            <a:graphicFrameLocks noChangeAspect="1"/>
          </p:cNvGraphicFramePr>
          <p:nvPr/>
        </p:nvGraphicFramePr>
        <p:xfrm>
          <a:off x="7086600" y="1589088"/>
          <a:ext cx="609600" cy="428625"/>
        </p:xfrm>
        <a:graphic>
          <a:graphicData uri="http://schemas.openxmlformats.org/presentationml/2006/ole">
            <mc:AlternateContent xmlns:mc="http://schemas.openxmlformats.org/markup-compatibility/2006">
              <mc:Choice xmlns:v="urn:schemas-microsoft-com:vml" Requires="v">
                <p:oleObj spid="_x0000_s3089" name="" r:id="rId1" imgW="253365" imgH="177800" progId="Equation.3">
                  <p:embed/>
                </p:oleObj>
              </mc:Choice>
              <mc:Fallback>
                <p:oleObj name="" r:id="rId1" imgW="253365" imgH="177800" progId="Equation.3">
                  <p:embed/>
                  <p:pic>
                    <p:nvPicPr>
                      <p:cNvPr id="0" name="Picture 3088"/>
                      <p:cNvPicPr/>
                      <p:nvPr/>
                    </p:nvPicPr>
                    <p:blipFill>
                      <a:blip r:embed="rId2"/>
                      <a:stretch>
                        <a:fillRect/>
                      </a:stretch>
                    </p:blipFill>
                    <p:spPr>
                      <a:xfrm>
                        <a:off x="7086600" y="1589088"/>
                        <a:ext cx="609600" cy="428625"/>
                      </a:xfrm>
                      <a:prstGeom prst="rect">
                        <a:avLst/>
                      </a:prstGeom>
                      <a:noFill/>
                      <a:ln w="38100">
                        <a:noFill/>
                        <a:miter/>
                      </a:ln>
                    </p:spPr>
                  </p:pic>
                </p:oleObj>
              </mc:Fallback>
            </mc:AlternateContent>
          </a:graphicData>
        </a:graphic>
      </p:graphicFrame>
      <p:sp>
        <p:nvSpPr>
          <p:cNvPr id="35846" name="Rectangle 7"/>
          <p:cNvSpPr/>
          <p:nvPr/>
        </p:nvSpPr>
        <p:spPr>
          <a:xfrm>
            <a:off x="0" y="3224213"/>
            <a:ext cx="9144000" cy="0"/>
          </a:xfrm>
          <a:prstGeom prst="rect">
            <a:avLst/>
          </a:prstGeom>
          <a:noFill/>
          <a:ln w="9525">
            <a:noFill/>
          </a:ln>
        </p:spPr>
        <p:txBody>
          <a:bodyPr wrap="none" anchor="ctr" anchorCtr="0">
            <a:spAutoFit/>
          </a:bodyPr>
          <a:p>
            <a:endParaRPr lang="en-IN" altLang="x-none" dirty="0">
              <a:latin typeface="Arial" panose="020B0604020202020204" pitchFamily="34" charset="0"/>
            </a:endParaRPr>
          </a:p>
        </p:txBody>
      </p:sp>
      <p:graphicFrame>
        <p:nvGraphicFramePr>
          <p:cNvPr id="35847" name="Object 6"/>
          <p:cNvGraphicFramePr>
            <a:graphicFrameLocks noChangeAspect="1"/>
          </p:cNvGraphicFramePr>
          <p:nvPr/>
        </p:nvGraphicFramePr>
        <p:xfrm>
          <a:off x="3733800" y="5029200"/>
          <a:ext cx="3200400" cy="1295400"/>
        </p:xfrm>
        <a:graphic>
          <a:graphicData uri="http://schemas.openxmlformats.org/presentationml/2006/ole">
            <mc:AlternateContent xmlns:mc="http://schemas.openxmlformats.org/markup-compatibility/2006">
              <mc:Choice xmlns:v="urn:schemas-microsoft-com:vml" Requires="v">
                <p:oleObj spid="_x0000_s3090" name="" r:id="rId3" imgW="1091565" imgH="406400" progId="Equation.3">
                  <p:embed/>
                </p:oleObj>
              </mc:Choice>
              <mc:Fallback>
                <p:oleObj name="" r:id="rId3" imgW="1091565" imgH="406400" progId="Equation.3">
                  <p:embed/>
                  <p:pic>
                    <p:nvPicPr>
                      <p:cNvPr id="0" name="Picture 3089"/>
                      <p:cNvPicPr/>
                      <p:nvPr/>
                    </p:nvPicPr>
                    <p:blipFill>
                      <a:blip r:embed="rId4"/>
                      <a:stretch>
                        <a:fillRect/>
                      </a:stretch>
                    </p:blipFill>
                    <p:spPr>
                      <a:xfrm>
                        <a:off x="3733800" y="5029200"/>
                        <a:ext cx="3200400" cy="1295400"/>
                      </a:xfrm>
                      <a:prstGeom prst="rect">
                        <a:avLst/>
                      </a:prstGeom>
                      <a:noFill/>
                      <a:ln w="38100">
                        <a:noFill/>
                        <a:miter/>
                      </a:ln>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xfrm>
            <a:off x="457200" y="274638"/>
            <a:ext cx="8229600" cy="639762"/>
          </a:xfrm>
          <a:ln/>
        </p:spPr>
        <p:txBody>
          <a:bodyPr vert="horz" wrap="square" lIns="91440" tIns="45720" rIns="91440" bIns="45720" anchor="ctr" anchorCtr="0"/>
          <a:p>
            <a:pPr eaLnBrk="1" hangingPunct="1"/>
            <a:r>
              <a:rPr sz="4000" dirty="0"/>
              <a:t>Principles of PCM (…cont.)</a:t>
            </a:r>
            <a:endParaRPr sz="4000" dirty="0"/>
          </a:p>
        </p:txBody>
      </p:sp>
      <p:sp>
        <p:nvSpPr>
          <p:cNvPr id="36867" name="Rectangle 3"/>
          <p:cNvSpPr>
            <a:spLocks noGrp="1"/>
          </p:cNvSpPr>
          <p:nvPr>
            <p:ph idx="1"/>
          </p:nvPr>
        </p:nvSpPr>
        <p:spPr>
          <a:xfrm>
            <a:off x="457200" y="990600"/>
            <a:ext cx="8229600" cy="5562600"/>
          </a:xfrm>
          <a:ln/>
        </p:spPr>
        <p:txBody>
          <a:bodyPr vert="horz" wrap="square" lIns="91440" tIns="45720" rIns="91440" bIns="45720" anchor="t" anchorCtr="0"/>
          <a:p>
            <a:pPr eaLnBrk="1" hangingPunct="1"/>
            <a:r>
              <a:rPr sz="2400" dirty="0">
                <a:solidFill>
                  <a:srgbClr val="FF0000"/>
                </a:solidFill>
                <a:latin typeface="Times New Roman" panose="02020603050405020304" pitchFamily="18" charset="0"/>
              </a:rPr>
              <a:t>Quantization error</a:t>
            </a:r>
            <a:r>
              <a:rPr sz="2400" dirty="0">
                <a:latin typeface="Times New Roman" panose="02020603050405020304" pitchFamily="18" charset="0"/>
              </a:rPr>
              <a:t> or quantization noise is the distortion introduced during the quantization process when the modulating signal is not an exact value of the quantized level. It is the difference between original signal and the quantized signal magnitude that is :</a:t>
            </a:r>
            <a:endParaRPr sz="2400" dirty="0">
              <a:latin typeface="Times New Roman" panose="02020603050405020304" pitchFamily="18" charset="0"/>
            </a:endParaRPr>
          </a:p>
          <a:p>
            <a:pPr eaLnBrk="1" hangingPunct="1"/>
            <a:r>
              <a:rPr sz="2400" dirty="0">
                <a:solidFill>
                  <a:srgbClr val="FF0000"/>
                </a:solidFill>
                <a:latin typeface="Times New Roman" panose="02020603050405020304" pitchFamily="18" charset="0"/>
              </a:rPr>
              <a:t>Quantization error, </a:t>
            </a:r>
            <a:r>
              <a:rPr sz="2400" dirty="0">
                <a:latin typeface="Times New Roman" panose="02020603050405020304" pitchFamily="18" charset="0"/>
              </a:rPr>
              <a:t>Qe = |x(t)| - |q(t)|</a:t>
            </a:r>
            <a:endParaRPr sz="2400" dirty="0">
              <a:latin typeface="Times New Roman" panose="02020603050405020304" pitchFamily="18" charset="0"/>
            </a:endParaRPr>
          </a:p>
          <a:p>
            <a:pPr eaLnBrk="1" hangingPunct="1"/>
            <a:r>
              <a:rPr sz="2400" dirty="0">
                <a:latin typeface="Times New Roman" panose="02020603050405020304" pitchFamily="18" charset="0"/>
              </a:rPr>
              <a:t>Where |x(t)| is the magnitude of original signal</a:t>
            </a:r>
            <a:endParaRPr sz="2400" dirty="0">
              <a:latin typeface="Times New Roman" panose="02020603050405020304" pitchFamily="18" charset="0"/>
            </a:endParaRPr>
          </a:p>
          <a:p>
            <a:pPr eaLnBrk="1" hangingPunct="1"/>
            <a:r>
              <a:rPr sz="2400" dirty="0">
                <a:latin typeface="Times New Roman" panose="02020603050405020304" pitchFamily="18" charset="0"/>
              </a:rPr>
              <a:t>Where |q(t)| is the magnitude of quantized signal</a:t>
            </a:r>
            <a:endParaRPr sz="2400" dirty="0">
              <a:latin typeface="Times New Roman" panose="02020603050405020304" pitchFamily="18" charset="0"/>
            </a:endParaRPr>
          </a:p>
          <a:p>
            <a:pPr eaLnBrk="1" hangingPunct="1"/>
            <a:r>
              <a:rPr sz="2400" dirty="0">
                <a:latin typeface="Times New Roman" panose="02020603050405020304" pitchFamily="18" charset="0"/>
              </a:rPr>
              <a:t>The maximum quantization error,</a:t>
            </a:r>
            <a:endParaRPr sz="2400" dirty="0">
              <a:latin typeface="Times New Roman" panose="02020603050405020304" pitchFamily="18" charset="0"/>
            </a:endParaRPr>
          </a:p>
          <a:p>
            <a:pPr eaLnBrk="1" hangingPunct="1"/>
            <a:r>
              <a:rPr sz="2400" dirty="0">
                <a:latin typeface="Times New Roman" panose="02020603050405020304" pitchFamily="18" charset="0"/>
              </a:rPr>
              <a:t>Quantization error can be reduced by increasing the number of quantization level BUT this will increase the bandwidth required.</a:t>
            </a:r>
            <a:endParaRPr sz="2400" dirty="0">
              <a:latin typeface="Times New Roman" panose="02020603050405020304" pitchFamily="18" charset="0"/>
            </a:endParaRPr>
          </a:p>
        </p:txBody>
      </p:sp>
      <p:sp>
        <p:nvSpPr>
          <p:cNvPr id="36868" name="Rectangle 5"/>
          <p:cNvSpPr/>
          <p:nvPr/>
        </p:nvSpPr>
        <p:spPr>
          <a:xfrm>
            <a:off x="0" y="0"/>
            <a:ext cx="9144000" cy="0"/>
          </a:xfrm>
          <a:prstGeom prst="rect">
            <a:avLst/>
          </a:prstGeom>
          <a:noFill/>
          <a:ln w="9525">
            <a:noFill/>
          </a:ln>
        </p:spPr>
        <p:txBody>
          <a:bodyPr wrap="none" anchor="ctr" anchorCtr="0">
            <a:spAutoFit/>
          </a:bodyPr>
          <a:p>
            <a:endParaRPr lang="en-IN" altLang="x-none" dirty="0">
              <a:latin typeface="Arial" panose="020B0604020202020204" pitchFamily="34" charset="0"/>
            </a:endParaRPr>
          </a:p>
        </p:txBody>
      </p:sp>
      <p:graphicFrame>
        <p:nvGraphicFramePr>
          <p:cNvPr id="36869" name="Object 4"/>
          <p:cNvGraphicFramePr>
            <a:graphicFrameLocks noChangeAspect="1"/>
          </p:cNvGraphicFramePr>
          <p:nvPr/>
        </p:nvGraphicFramePr>
        <p:xfrm>
          <a:off x="5105400" y="4191000"/>
          <a:ext cx="1143000" cy="533400"/>
        </p:xfrm>
        <a:graphic>
          <a:graphicData uri="http://schemas.openxmlformats.org/presentationml/2006/ole">
            <mc:AlternateContent xmlns:mc="http://schemas.openxmlformats.org/markup-compatibility/2006">
              <mc:Choice xmlns:v="urn:schemas-microsoft-com:vml" Requires="v">
                <p:oleObj spid="_x0000_s3087" name="" r:id="rId1" imgW="901065" imgH="393700" progId="Equation.3">
                  <p:embed/>
                </p:oleObj>
              </mc:Choice>
              <mc:Fallback>
                <p:oleObj name="" r:id="rId1" imgW="901065" imgH="393700" progId="Equation.3">
                  <p:embed/>
                  <p:pic>
                    <p:nvPicPr>
                      <p:cNvPr id="0" name="Picture 3086"/>
                      <p:cNvPicPr/>
                      <p:nvPr/>
                    </p:nvPicPr>
                    <p:blipFill>
                      <a:blip r:embed="rId2"/>
                      <a:stretch>
                        <a:fillRect/>
                      </a:stretch>
                    </p:blipFill>
                    <p:spPr>
                      <a:xfrm>
                        <a:off x="5105400" y="4191000"/>
                        <a:ext cx="1143000" cy="533400"/>
                      </a:xfrm>
                      <a:prstGeom prst="rect">
                        <a:avLst/>
                      </a:prstGeom>
                      <a:noFill/>
                      <a:ln w="38100">
                        <a:noFill/>
                        <a:miter/>
                      </a:ln>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a:xfrm>
            <a:off x="457200" y="274638"/>
            <a:ext cx="8229600" cy="487362"/>
          </a:xfrm>
          <a:ln/>
        </p:spPr>
        <p:txBody>
          <a:bodyPr vert="horz" wrap="square" lIns="91440" tIns="45720" rIns="91440" bIns="45720" anchor="ctr" anchorCtr="0"/>
          <a:p>
            <a:pPr eaLnBrk="1" hangingPunct="1"/>
            <a:r>
              <a:rPr sz="4000" dirty="0"/>
              <a:t>Principles of PCM (…cont.)</a:t>
            </a:r>
            <a:endParaRPr sz="4000" dirty="0"/>
          </a:p>
        </p:txBody>
      </p:sp>
      <p:sp>
        <p:nvSpPr>
          <p:cNvPr id="37891" name="Rectangle 3"/>
          <p:cNvSpPr>
            <a:spLocks noGrp="1"/>
          </p:cNvSpPr>
          <p:nvPr>
            <p:ph idx="1"/>
          </p:nvPr>
        </p:nvSpPr>
        <p:spPr>
          <a:xfrm>
            <a:off x="457200" y="838200"/>
            <a:ext cx="8229600" cy="5287963"/>
          </a:xfrm>
          <a:ln/>
        </p:spPr>
        <p:txBody>
          <a:bodyPr vert="horz" wrap="square" lIns="91440" tIns="45720" rIns="91440" bIns="45720" anchor="t" anchorCtr="0"/>
          <a:p>
            <a:pPr eaLnBrk="1" hangingPunct="1"/>
            <a:r>
              <a:rPr sz="2400" dirty="0">
                <a:solidFill>
                  <a:schemeClr val="folHlink"/>
                </a:solidFill>
              </a:rPr>
              <a:t>ENCODING</a:t>
            </a:r>
            <a:endParaRPr sz="2400" dirty="0">
              <a:solidFill>
                <a:schemeClr val="folHlink"/>
              </a:solidFill>
            </a:endParaRPr>
          </a:p>
          <a:p>
            <a:pPr eaLnBrk="1" hangingPunct="1"/>
            <a:r>
              <a:rPr sz="2400" dirty="0">
                <a:solidFill>
                  <a:schemeClr val="folHlink"/>
                </a:solidFill>
              </a:rPr>
              <a:t>This is a process where each quantized sample is digitally encoded into n-bits codeword, where  </a:t>
            </a:r>
            <a:endParaRPr sz="2400" dirty="0">
              <a:solidFill>
                <a:schemeClr val="folHlink"/>
              </a:solidFill>
            </a:endParaRPr>
          </a:p>
          <a:p>
            <a:pPr eaLnBrk="1" hangingPunct="1"/>
            <a:r>
              <a:rPr sz="2400" dirty="0">
                <a:solidFill>
                  <a:schemeClr val="folHlink"/>
                </a:solidFill>
              </a:rPr>
              <a:t> n = number of bits/sample</a:t>
            </a:r>
            <a:endParaRPr sz="2400" dirty="0">
              <a:solidFill>
                <a:schemeClr val="folHlink"/>
              </a:solidFill>
            </a:endParaRPr>
          </a:p>
          <a:p>
            <a:pPr eaLnBrk="1" hangingPunct="1"/>
            <a:r>
              <a:rPr sz="2400" dirty="0">
                <a:solidFill>
                  <a:schemeClr val="folHlink"/>
                </a:solidFill>
              </a:rPr>
              <a:t> L = number of quantization levels</a:t>
            </a:r>
            <a:endParaRPr sz="2400" dirty="0">
              <a:solidFill>
                <a:schemeClr val="folHlink"/>
              </a:solidFill>
            </a:endParaRPr>
          </a:p>
          <a:p>
            <a:pPr eaLnBrk="1" hangingPunct="1"/>
            <a:r>
              <a:rPr sz="2400" dirty="0">
                <a:solidFill>
                  <a:srgbClr val="CC0066"/>
                </a:solidFill>
              </a:rPr>
              <a:t>Transmission bit rate (R) is the rate of information transmission (bits/sec).</a:t>
            </a:r>
            <a:endParaRPr sz="2400" dirty="0">
              <a:solidFill>
                <a:srgbClr val="CC0066"/>
              </a:solidFill>
            </a:endParaRPr>
          </a:p>
          <a:p>
            <a:pPr eaLnBrk="1" hangingPunct="1"/>
            <a:r>
              <a:rPr sz="2400" dirty="0">
                <a:solidFill>
                  <a:srgbClr val="CC0066"/>
                </a:solidFill>
              </a:rPr>
              <a:t>It depends on the sampling frequency and the number of bit per sample used to encode the signal and is given by</a:t>
            </a:r>
            <a:endParaRPr sz="2400" dirty="0">
              <a:solidFill>
                <a:srgbClr val="CC0066"/>
              </a:solidFill>
            </a:endParaRPr>
          </a:p>
          <a:p>
            <a:pPr eaLnBrk="1" hangingPunct="1"/>
            <a:r>
              <a:rPr sz="2400" dirty="0">
                <a:solidFill>
                  <a:srgbClr val="CC0066"/>
                </a:solidFill>
              </a:rPr>
              <a:t>Transmission bit rate</a:t>
            </a:r>
            <a:endParaRPr sz="2400" dirty="0">
              <a:solidFill>
                <a:srgbClr val="CC0066"/>
              </a:solidFill>
            </a:endParaRPr>
          </a:p>
          <a:p>
            <a:pPr eaLnBrk="1" hangingPunct="1"/>
            <a:endParaRPr sz="2400" dirty="0">
              <a:solidFill>
                <a:srgbClr val="FF0000"/>
              </a:solidFill>
            </a:endParaRPr>
          </a:p>
          <a:p>
            <a:pPr eaLnBrk="1" hangingPunct="1"/>
            <a:r>
              <a:rPr sz="2400" dirty="0">
                <a:solidFill>
                  <a:srgbClr val="FF0000"/>
                </a:solidFill>
              </a:rPr>
              <a:t>Transmission Bandwidth ;      </a:t>
            </a:r>
            <a:endParaRPr sz="2400" dirty="0">
              <a:solidFill>
                <a:srgbClr val="FF0000"/>
              </a:solidFill>
            </a:endParaRPr>
          </a:p>
        </p:txBody>
      </p:sp>
      <p:sp>
        <p:nvSpPr>
          <p:cNvPr id="37892" name="Rectangle 5"/>
          <p:cNvSpPr/>
          <p:nvPr/>
        </p:nvSpPr>
        <p:spPr>
          <a:xfrm>
            <a:off x="0" y="0"/>
            <a:ext cx="9144000" cy="0"/>
          </a:xfrm>
          <a:prstGeom prst="rect">
            <a:avLst/>
          </a:prstGeom>
          <a:noFill/>
          <a:ln w="9525">
            <a:noFill/>
          </a:ln>
        </p:spPr>
        <p:txBody>
          <a:bodyPr wrap="none" anchor="ctr" anchorCtr="0">
            <a:spAutoFit/>
          </a:bodyPr>
          <a:p>
            <a:endParaRPr lang="en-IN" altLang="x-none" dirty="0">
              <a:latin typeface="Arial" panose="020B0604020202020204" pitchFamily="34" charset="0"/>
            </a:endParaRPr>
          </a:p>
        </p:txBody>
      </p:sp>
      <p:graphicFrame>
        <p:nvGraphicFramePr>
          <p:cNvPr id="37893" name="Object 4"/>
          <p:cNvGraphicFramePr>
            <a:graphicFrameLocks noChangeAspect="1"/>
          </p:cNvGraphicFramePr>
          <p:nvPr/>
        </p:nvGraphicFramePr>
        <p:xfrm>
          <a:off x="5867400" y="2133600"/>
          <a:ext cx="1905000" cy="533400"/>
        </p:xfrm>
        <a:graphic>
          <a:graphicData uri="http://schemas.openxmlformats.org/presentationml/2006/ole">
            <mc:AlternateContent xmlns:mc="http://schemas.openxmlformats.org/markup-compatibility/2006">
              <mc:Choice xmlns:v="urn:schemas-microsoft-com:vml" Requires="v">
                <p:oleObj spid="_x0000_s3084" name="" r:id="rId1" imgW="673100" imgH="228600" progId="Equation.3">
                  <p:embed/>
                </p:oleObj>
              </mc:Choice>
              <mc:Fallback>
                <p:oleObj name="" r:id="rId1" imgW="673100" imgH="228600" progId="Equation.3">
                  <p:embed/>
                  <p:pic>
                    <p:nvPicPr>
                      <p:cNvPr id="0" name="Picture 3083"/>
                      <p:cNvPicPr/>
                      <p:nvPr/>
                    </p:nvPicPr>
                    <p:blipFill>
                      <a:blip r:embed="rId2"/>
                      <a:stretch>
                        <a:fillRect/>
                      </a:stretch>
                    </p:blipFill>
                    <p:spPr>
                      <a:xfrm>
                        <a:off x="5867400" y="2133600"/>
                        <a:ext cx="1905000" cy="533400"/>
                      </a:xfrm>
                      <a:prstGeom prst="rect">
                        <a:avLst/>
                      </a:prstGeom>
                      <a:noFill/>
                      <a:ln w="38100">
                        <a:noFill/>
                        <a:miter/>
                      </a:ln>
                    </p:spPr>
                  </p:pic>
                </p:oleObj>
              </mc:Fallback>
            </mc:AlternateContent>
          </a:graphicData>
        </a:graphic>
      </p:graphicFrame>
      <p:sp>
        <p:nvSpPr>
          <p:cNvPr id="37894" name="Rectangle 7"/>
          <p:cNvSpPr/>
          <p:nvPr/>
        </p:nvSpPr>
        <p:spPr>
          <a:xfrm>
            <a:off x="0" y="3314700"/>
            <a:ext cx="9144000" cy="0"/>
          </a:xfrm>
          <a:prstGeom prst="rect">
            <a:avLst/>
          </a:prstGeom>
          <a:noFill/>
          <a:ln w="9525">
            <a:noFill/>
          </a:ln>
        </p:spPr>
        <p:txBody>
          <a:bodyPr wrap="none" anchor="ctr" anchorCtr="0">
            <a:spAutoFit/>
          </a:bodyPr>
          <a:p>
            <a:endParaRPr lang="en-IN" altLang="x-none" dirty="0">
              <a:latin typeface="Arial" panose="020B0604020202020204" pitchFamily="34" charset="0"/>
            </a:endParaRPr>
          </a:p>
        </p:txBody>
      </p:sp>
      <p:graphicFrame>
        <p:nvGraphicFramePr>
          <p:cNvPr id="37895" name="Object 6"/>
          <p:cNvGraphicFramePr>
            <a:graphicFrameLocks noChangeAspect="1"/>
          </p:cNvGraphicFramePr>
          <p:nvPr/>
        </p:nvGraphicFramePr>
        <p:xfrm>
          <a:off x="4495800" y="4648200"/>
          <a:ext cx="2895600" cy="533400"/>
        </p:xfrm>
        <a:graphic>
          <a:graphicData uri="http://schemas.openxmlformats.org/presentationml/2006/ole">
            <mc:AlternateContent xmlns:mc="http://schemas.openxmlformats.org/markup-compatibility/2006">
              <mc:Choice xmlns:v="urn:schemas-microsoft-com:vml" Requires="v">
                <p:oleObj spid="_x0000_s3085" name="" r:id="rId3" imgW="1155700" imgH="228600" progId="Equation.3">
                  <p:embed/>
                </p:oleObj>
              </mc:Choice>
              <mc:Fallback>
                <p:oleObj name="" r:id="rId3" imgW="1155700" imgH="228600" progId="Equation.3">
                  <p:embed/>
                  <p:pic>
                    <p:nvPicPr>
                      <p:cNvPr id="0" name="Picture 3084"/>
                      <p:cNvPicPr/>
                      <p:nvPr/>
                    </p:nvPicPr>
                    <p:blipFill>
                      <a:blip r:embed="rId4"/>
                      <a:stretch>
                        <a:fillRect/>
                      </a:stretch>
                    </p:blipFill>
                    <p:spPr>
                      <a:xfrm>
                        <a:off x="4495800" y="4648200"/>
                        <a:ext cx="2895600" cy="533400"/>
                      </a:xfrm>
                      <a:prstGeom prst="rect">
                        <a:avLst/>
                      </a:prstGeom>
                      <a:noFill/>
                      <a:ln w="38100">
                        <a:noFill/>
                        <a:miter/>
                      </a:ln>
                    </p:spPr>
                  </p:pic>
                </p:oleObj>
              </mc:Fallback>
            </mc:AlternateContent>
          </a:graphicData>
        </a:graphic>
      </p:graphicFrame>
      <p:sp>
        <p:nvSpPr>
          <p:cNvPr id="37896" name="Rectangle 9"/>
          <p:cNvSpPr/>
          <p:nvPr/>
        </p:nvSpPr>
        <p:spPr>
          <a:xfrm>
            <a:off x="0" y="0"/>
            <a:ext cx="9144000" cy="0"/>
          </a:xfrm>
          <a:prstGeom prst="rect">
            <a:avLst/>
          </a:prstGeom>
          <a:noFill/>
          <a:ln w="9525">
            <a:noFill/>
          </a:ln>
        </p:spPr>
        <p:txBody>
          <a:bodyPr wrap="none" anchor="ctr" anchorCtr="0">
            <a:spAutoFit/>
          </a:bodyPr>
          <a:p>
            <a:endParaRPr lang="en-IN" altLang="x-none" dirty="0">
              <a:latin typeface="Arial" panose="020B0604020202020204" pitchFamily="34" charset="0"/>
            </a:endParaRPr>
          </a:p>
        </p:txBody>
      </p:sp>
      <p:graphicFrame>
        <p:nvGraphicFramePr>
          <p:cNvPr id="37897" name="Object 8"/>
          <p:cNvGraphicFramePr>
            <a:graphicFrameLocks noChangeAspect="1"/>
          </p:cNvGraphicFramePr>
          <p:nvPr/>
        </p:nvGraphicFramePr>
        <p:xfrm>
          <a:off x="4876800" y="5562600"/>
          <a:ext cx="3352800" cy="533400"/>
        </p:xfrm>
        <a:graphic>
          <a:graphicData uri="http://schemas.openxmlformats.org/presentationml/2006/ole">
            <mc:AlternateContent xmlns:mc="http://schemas.openxmlformats.org/markup-compatibility/2006">
              <mc:Choice xmlns:v="urn:schemas-microsoft-com:vml" Requires="v">
                <p:oleObj spid="_x0000_s3086" name="" r:id="rId5" imgW="838200" imgH="228600" progId="Equation.3">
                  <p:embed/>
                </p:oleObj>
              </mc:Choice>
              <mc:Fallback>
                <p:oleObj name="" r:id="rId5" imgW="838200" imgH="228600" progId="Equation.3">
                  <p:embed/>
                  <p:pic>
                    <p:nvPicPr>
                      <p:cNvPr id="0" name="Picture 3085"/>
                      <p:cNvPicPr/>
                      <p:nvPr/>
                    </p:nvPicPr>
                    <p:blipFill>
                      <a:blip r:embed="rId6"/>
                      <a:stretch>
                        <a:fillRect/>
                      </a:stretch>
                    </p:blipFill>
                    <p:spPr>
                      <a:xfrm>
                        <a:off x="4876800" y="5562600"/>
                        <a:ext cx="3352800" cy="533400"/>
                      </a:xfrm>
                      <a:prstGeom prst="rect">
                        <a:avLst/>
                      </a:prstGeom>
                      <a:noFill/>
                      <a:ln w="38100">
                        <a:noFill/>
                        <a:miter/>
                      </a:ln>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5"/>
          <p:cNvSpPr>
            <a:spLocks noGrp="1"/>
          </p:cNvSpPr>
          <p:nvPr>
            <p:ph type="title"/>
          </p:nvPr>
        </p:nvSpPr>
        <p:spPr>
          <a:xfrm>
            <a:off x="457200" y="274638"/>
            <a:ext cx="8229600" cy="487362"/>
          </a:xfrm>
          <a:ln/>
        </p:spPr>
        <p:txBody>
          <a:bodyPr vert="horz" wrap="square" lIns="91440" tIns="45720" rIns="91440" bIns="45720" anchor="ctr" anchorCtr="0"/>
          <a:p>
            <a:pPr eaLnBrk="1" hangingPunct="1"/>
            <a:r>
              <a:rPr sz="2400" dirty="0"/>
              <a:t>Fig.4.7 shows an example of how an audio waveform,v(t) is sampled,quantized and encoded into 3-bit PCM system</a:t>
            </a:r>
            <a:endParaRPr sz="2400" dirty="0"/>
          </a:p>
        </p:txBody>
      </p:sp>
      <p:pic>
        <p:nvPicPr>
          <p:cNvPr id="38915" name="Picture 4" descr="PCM"/>
          <p:cNvPicPr>
            <a:picLocks noChangeAspect="1"/>
          </p:cNvPicPr>
          <p:nvPr>
            <p:ph idx="1"/>
          </p:nvPr>
        </p:nvPicPr>
        <p:blipFill>
          <a:blip r:embed="rId1"/>
          <a:srcRect/>
          <a:stretch>
            <a:fillRect/>
          </a:stretch>
        </p:blipFill>
        <p:spPr>
          <a:xfrm>
            <a:off x="1752600" y="990600"/>
            <a:ext cx="5486400" cy="5334000"/>
          </a:xfrm>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a:xfrm>
            <a:off x="457200" y="381000"/>
            <a:ext cx="8229600" cy="762000"/>
          </a:xfrm>
          <a:ln/>
        </p:spPr>
        <p:txBody>
          <a:bodyPr vert="horz" wrap="square" lIns="91440" tIns="45720" rIns="91440" bIns="45720" anchor="ctr" anchorCtr="0"/>
          <a:p>
            <a:pPr eaLnBrk="1" hangingPunct="1"/>
            <a:r>
              <a:rPr dirty="0">
                <a:solidFill>
                  <a:schemeClr val="accent2"/>
                </a:solidFill>
              </a:rPr>
              <a:t>Examples</a:t>
            </a:r>
            <a:endParaRPr dirty="0">
              <a:solidFill>
                <a:schemeClr val="accent2"/>
              </a:solidFill>
            </a:endParaRPr>
          </a:p>
        </p:txBody>
      </p:sp>
      <p:sp>
        <p:nvSpPr>
          <p:cNvPr id="39939" name="Rectangle 3"/>
          <p:cNvSpPr>
            <a:spLocks noGrp="1"/>
          </p:cNvSpPr>
          <p:nvPr>
            <p:ph idx="1"/>
          </p:nvPr>
        </p:nvSpPr>
        <p:spPr>
          <a:ln/>
        </p:spPr>
        <p:txBody>
          <a:bodyPr vert="horz" wrap="square" lIns="91440" tIns="45720" rIns="91440" bIns="45720" anchor="t" anchorCtr="0"/>
          <a:p>
            <a:pPr marL="457200" indent="-457200" eaLnBrk="1" hangingPunct="1">
              <a:lnSpc>
                <a:spcPct val="90000"/>
              </a:lnSpc>
            </a:pPr>
            <a:r>
              <a:rPr sz="2400" dirty="0"/>
              <a:t>4.1 A sinusoidal input wave of 3kHz is to be sampled at the lowest rate for transmission as pulses. Calculate the minimum sampling frequency required, so that all components of the wave can be reconstructed at the receiver.</a:t>
            </a:r>
            <a:endParaRPr sz="2400" dirty="0"/>
          </a:p>
          <a:p>
            <a:pPr marL="457200" indent="-457200" eaLnBrk="1" hangingPunct="1">
              <a:lnSpc>
                <a:spcPct val="90000"/>
              </a:lnSpc>
            </a:pPr>
            <a:r>
              <a:rPr sz="2400" dirty="0"/>
              <a:t>4.2 The PCM sampled are encoded into 4-bits system. If the minimum sampling rate used is 8kHz, calculate </a:t>
            </a:r>
            <a:endParaRPr sz="2400" dirty="0"/>
          </a:p>
          <a:p>
            <a:pPr marL="457200" indent="-457200" eaLnBrk="1" hangingPunct="1">
              <a:lnSpc>
                <a:spcPct val="90000"/>
              </a:lnSpc>
              <a:buFontTx/>
              <a:buAutoNum type="alphaLcParenR"/>
            </a:pPr>
            <a:r>
              <a:rPr sz="2400" dirty="0"/>
              <a:t>the frequency of the information signal  </a:t>
            </a:r>
            <a:endParaRPr sz="2400" dirty="0"/>
          </a:p>
          <a:p>
            <a:pPr marL="457200" indent="-457200" eaLnBrk="1" hangingPunct="1">
              <a:lnSpc>
                <a:spcPct val="90000"/>
              </a:lnSpc>
              <a:buFontTx/>
              <a:buAutoNum type="alphaLcParenR"/>
            </a:pPr>
            <a:r>
              <a:rPr sz="2400" dirty="0"/>
              <a:t>the quantization level.</a:t>
            </a:r>
            <a:endParaRPr sz="2400" dirty="0"/>
          </a:p>
          <a:p>
            <a:pPr marL="457200" indent="-457200" eaLnBrk="1" hangingPunct="1">
              <a:lnSpc>
                <a:spcPct val="90000"/>
              </a:lnSpc>
              <a:buFontTx/>
              <a:buAutoNum type="alphaLcParenR"/>
            </a:pPr>
            <a:r>
              <a:rPr sz="2400" dirty="0"/>
              <a:t>the transmission rate</a:t>
            </a:r>
            <a:endParaRPr sz="2400" dirty="0"/>
          </a:p>
          <a:p>
            <a:pPr marL="457200" indent="-457200" eaLnBrk="1" hangingPunct="1">
              <a:lnSpc>
                <a:spcPct val="90000"/>
              </a:lnSpc>
              <a:buFontTx/>
              <a:buAutoNum type="alphaLcParenR"/>
            </a:pPr>
            <a:r>
              <a:rPr sz="2400" dirty="0"/>
              <a:t>The transmission bandwidth</a:t>
            </a:r>
            <a:endParaRPr sz="2400" dirty="0"/>
          </a:p>
          <a:p>
            <a:pPr marL="457200" indent="-457200" eaLnBrk="1" hangingPunct="1">
              <a:lnSpc>
                <a:spcPct val="90000"/>
              </a:lnSpc>
              <a:buAutoNum type="alphaLcParenR"/>
            </a:pPr>
            <a:endParaRPr sz="2400" dirty="0"/>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9122</Words>
  <Application>WPS Presentation</Application>
  <PresentationFormat>On-screen Show (4:3)</PresentationFormat>
  <Paragraphs>254</Paragraphs>
  <Slides>37</Slides>
  <Notes>25</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17</vt:i4>
      </vt:variant>
      <vt:variant>
        <vt:lpstr>幻灯片标题</vt:lpstr>
      </vt:variant>
      <vt:variant>
        <vt:i4>37</vt:i4>
      </vt:variant>
    </vt:vector>
  </HeadingPairs>
  <TitlesOfParts>
    <vt:vector size="65" baseType="lpstr">
      <vt:lpstr>Arial</vt:lpstr>
      <vt:lpstr>SimSun</vt:lpstr>
      <vt:lpstr>Wingdings</vt:lpstr>
      <vt:lpstr>Arial Narrow</vt:lpstr>
      <vt:lpstr>Times New Roman</vt:lpstr>
      <vt:lpstr>Arial Black</vt:lpstr>
      <vt:lpstr>Bookman Old Style</vt:lpstr>
      <vt:lpstr>Impact</vt:lpstr>
      <vt:lpstr>Microsoft YaHei</vt:lpstr>
      <vt:lpstr>Arial Unicode MS</vt:lpstr>
      <vt:lpstr>Default Design</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kukum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Kak Sham</dc:creator>
  <cp:lastModifiedBy>P.K.Poonguzhali P K</cp:lastModifiedBy>
  <cp:revision>20</cp:revision>
  <dcterms:created xsi:type="dcterms:W3CDTF">2007-09-04T09:08:17Z</dcterms:created>
  <dcterms:modified xsi:type="dcterms:W3CDTF">2026-03-03T16:39:00Z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9C8F86A04A134BB7A98E548ED29F5720_13</vt:lpwstr>
  </property>
  <property fmtid="{D5CDD505-2E9C-101B-9397-08002B2CF9AE}" pid="3" name="KSOProductBuildVer">
    <vt:lpwstr>1033-12.2.0.23196</vt:lpwstr>
  </property>
</Properties>
</file>