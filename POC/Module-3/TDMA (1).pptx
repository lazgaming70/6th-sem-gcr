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sldIdLst>
    <p:sldId id="343" r:id="rId2"/>
    <p:sldId id="344" r:id="rId3"/>
    <p:sldId id="354" r:id="rId4"/>
    <p:sldId id="368" r:id="rId5"/>
    <p:sldId id="355" r:id="rId6"/>
    <p:sldId id="356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66" r:id="rId15"/>
    <p:sldId id="367" r:id="rId16"/>
    <p:sldId id="369" r:id="rId17"/>
    <p:sldId id="377" r:id="rId18"/>
  </p:sldIdLst>
  <p:sldSz cx="14630400" cy="8229600"/>
  <p:notesSz cx="9321800" cy="6985000"/>
  <p:defaultTextStyle>
    <a:defPPr>
      <a:defRPr lang="en-US"/>
    </a:defPPr>
    <a:lvl1pPr marL="0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837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1673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2512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3349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4186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5020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5859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6693" algn="l" defTabSz="1281673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516" y="-72"/>
      </p:cViewPr>
      <p:guideLst>
        <p:guide orient="horz" pos="3394"/>
        <p:guide pos="33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104503" y="83708"/>
            <a:ext cx="14421395" cy="803064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072640" y="3840480"/>
            <a:ext cx="10241280" cy="1920240"/>
          </a:xfrm>
        </p:spPr>
        <p:txBody>
          <a:bodyPr/>
          <a:lstStyle>
            <a:lvl1pPr marL="0" indent="0" algn="ctr">
              <a:buNone/>
              <a:defRPr sz="3700">
                <a:solidFill>
                  <a:schemeClr val="tx2"/>
                </a:solidFill>
              </a:defRPr>
            </a:lvl1pPr>
            <a:lvl2pPr marL="653084" indent="0" algn="ctr">
              <a:buNone/>
            </a:lvl2pPr>
            <a:lvl3pPr marL="1306168" indent="0" algn="ctr">
              <a:buNone/>
            </a:lvl3pPr>
            <a:lvl4pPr marL="1959253" indent="0" algn="ctr">
              <a:buNone/>
            </a:lvl4pPr>
            <a:lvl5pPr marL="2612336" indent="0" algn="ctr">
              <a:buNone/>
            </a:lvl5pPr>
            <a:lvl6pPr marL="3265421" indent="0" algn="ctr">
              <a:buNone/>
            </a:lvl6pPr>
            <a:lvl7pPr marL="3918504" indent="0" algn="ctr">
              <a:buNone/>
            </a:lvl7pPr>
            <a:lvl8pPr marL="4571588" indent="0" algn="ctr">
              <a:buNone/>
            </a:lvl8pPr>
            <a:lvl9pPr marL="5224673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0692" y="1739165"/>
            <a:ext cx="14434459" cy="183281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00692" y="1676064"/>
            <a:ext cx="14434459" cy="144696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00692" y="3571979"/>
            <a:ext cx="14434459" cy="1326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31520" y="1807118"/>
            <a:ext cx="13167360" cy="1764030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463040" y="1737360"/>
            <a:ext cx="12435840" cy="54864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104503" y="83708"/>
            <a:ext cx="14421395" cy="803064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1143002"/>
            <a:ext cx="12435840" cy="1634490"/>
          </a:xfrm>
        </p:spPr>
        <p:txBody>
          <a:bodyPr anchor="b" anchorCtr="0"/>
          <a:lstStyle>
            <a:lvl1pPr algn="l">
              <a:buNone/>
              <a:defRPr sz="56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057526"/>
            <a:ext cx="12435840" cy="1605914"/>
          </a:xfrm>
        </p:spPr>
        <p:txBody>
          <a:bodyPr anchor="t" anchorCtr="0"/>
          <a:lstStyle>
            <a:lvl1pPr marL="0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80160" y="7406640"/>
            <a:ext cx="6400800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111060" y="2852196"/>
            <a:ext cx="14421624" cy="1097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10635" y="2809772"/>
            <a:ext cx="14422050" cy="54863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09291" y="2962656"/>
            <a:ext cx="14423394" cy="54864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34086" y="7450531"/>
            <a:ext cx="731520" cy="548640"/>
          </a:xfrm>
        </p:spPr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463040" y="1737360"/>
            <a:ext cx="5998464" cy="54864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894320" y="1737360"/>
            <a:ext cx="5998464" cy="54864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327660"/>
            <a:ext cx="12435840" cy="13716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5974080" cy="914400"/>
          </a:xfrm>
          <a:noFill/>
          <a:ln w="12700" cap="sq" cmpd="sng" algn="ctr">
            <a:noFill/>
            <a:prstDash val="solid"/>
          </a:ln>
        </p:spPr>
        <p:txBody>
          <a:bodyPr lIns="130616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924800" y="1737360"/>
            <a:ext cx="5974080" cy="914400"/>
          </a:xfrm>
          <a:noFill/>
          <a:ln w="12700" cap="sq" cmpd="sng" algn="ctr">
            <a:noFill/>
            <a:prstDash val="solid"/>
          </a:ln>
        </p:spPr>
        <p:txBody>
          <a:bodyPr lIns="130616" anchor="b" anchorCtr="0">
            <a:noAutofit/>
          </a:bodyPr>
          <a:lstStyle>
            <a:lvl1pPr marL="0" indent="0">
              <a:buNone/>
              <a:defRPr sz="3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463040" y="2697480"/>
            <a:ext cx="5974080" cy="466344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7924800" y="2697480"/>
            <a:ext cx="5974080" cy="466344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102415" y="83706"/>
            <a:ext cx="14421395" cy="803209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327660"/>
            <a:ext cx="12435840" cy="1371600"/>
          </a:xfrm>
        </p:spPr>
        <p:txBody>
          <a:bodyPr anchor="b" anchorCtr="0"/>
          <a:lstStyle>
            <a:lvl1pPr algn="l">
              <a:buNone/>
              <a:defRPr sz="56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463040" y="1920240"/>
            <a:ext cx="3048000" cy="5394960"/>
          </a:xfrm>
        </p:spPr>
        <p:txBody>
          <a:bodyPr/>
          <a:lstStyle>
            <a:lvl1pPr marL="0" indent="0">
              <a:buNone/>
              <a:defRPr sz="26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4754880" y="1920240"/>
            <a:ext cx="9144000" cy="539496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5880660"/>
            <a:ext cx="11704320" cy="626746"/>
          </a:xfrm>
        </p:spPr>
        <p:txBody>
          <a:bodyPr anchor="ctr">
            <a:noAutofit/>
          </a:bodyPr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0" y="6534990"/>
            <a:ext cx="11704320" cy="822960"/>
          </a:xfrm>
        </p:spPr>
        <p:txBody>
          <a:bodyPr/>
          <a:lstStyle>
            <a:lvl1pPr marL="0" indent="0">
              <a:buFontTx/>
              <a:buNone/>
              <a:defRPr sz="23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63040" y="7406640"/>
            <a:ext cx="6217920" cy="5486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34086" y="7450531"/>
            <a:ext cx="731520" cy="548640"/>
          </a:xfrm>
        </p:spPr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109291" y="5620266"/>
            <a:ext cx="14410944" cy="10972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9614" y="5580571"/>
            <a:ext cx="14410622" cy="54863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09618" y="5727871"/>
            <a:ext cx="14410619" cy="5856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9295" y="80012"/>
            <a:ext cx="14402998" cy="5497830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46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71"/>
            <a:ext cx="3218688" cy="702183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63040" y="329570"/>
            <a:ext cx="8900160" cy="702183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16" tIns="65309" rIns="130616" bIns="65309"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102415" y="83706"/>
            <a:ext cx="14421395" cy="803209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30616" tIns="65309" rIns="130616" bIns="65309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463040" y="329566"/>
            <a:ext cx="12435840" cy="1371600"/>
          </a:xfrm>
          <a:prstGeom prst="rect">
            <a:avLst/>
          </a:prstGeom>
        </p:spPr>
        <p:txBody>
          <a:bodyPr lIns="130616" tIns="65309" rIns="130616" bIns="130616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463040" y="1737360"/>
            <a:ext cx="12435840" cy="5486400"/>
          </a:xfrm>
          <a:prstGeom prst="rect">
            <a:avLst/>
          </a:prstGeom>
        </p:spPr>
        <p:txBody>
          <a:bodyPr lIns="130616" tIns="65309" rIns="130616" bIns="65309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9875520" y="7429500"/>
            <a:ext cx="3962400" cy="571500"/>
          </a:xfrm>
          <a:prstGeom prst="rect">
            <a:avLst/>
          </a:prstGeom>
        </p:spPr>
        <p:txBody>
          <a:bodyPr lIns="130616" tIns="65309" rIns="130616" bIns="65309" anchor="ctr" anchorCtr="0"/>
          <a:lstStyle>
            <a:lvl1pPr algn="r"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fld id="{C51AED2F-06AA-42A4-A44B-03BFD2EF81B1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63040" y="7406640"/>
            <a:ext cx="6339840" cy="548640"/>
          </a:xfrm>
          <a:prstGeom prst="rect">
            <a:avLst/>
          </a:prstGeom>
        </p:spPr>
        <p:txBody>
          <a:bodyPr lIns="130616" tIns="65309" rIns="130616" bIns="65309" anchor="ctr" anchorCtr="0"/>
          <a:lstStyle>
            <a:lvl1pPr eaLnBrk="1" latinLnBrk="0" hangingPunct="1">
              <a:defRPr kumimoji="0" sz="2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234086" y="7452360"/>
            <a:ext cx="731520" cy="54864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2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3E50FCC-B919-4A49-862D-49EB875CF9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ransition spd="med">
    <p:wedg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91850" indent="-391850" algn="l" rtl="0" eaLnBrk="1" latinLnBrk="0" hangingPunct="1">
        <a:spcBef>
          <a:spcPts val="829"/>
        </a:spcBef>
        <a:buClr>
          <a:schemeClr val="accent1"/>
        </a:buClr>
        <a:buSzPct val="85000"/>
        <a:buFont typeface="Wingdings 2"/>
        <a:buChar char=""/>
        <a:defRPr kumimoji="0"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783701" indent="-326542" algn="l" rtl="0" eaLnBrk="1" latinLnBrk="0" hangingPunct="1">
        <a:spcBef>
          <a:spcPts val="529"/>
        </a:spcBef>
        <a:buClr>
          <a:schemeClr val="accent2"/>
        </a:buClr>
        <a:buSzPct val="85000"/>
        <a:buFont typeface="Wingdings 2"/>
        <a:buChar char="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175551" indent="-326542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567402" indent="-326542" algn="l" rtl="0" eaLnBrk="1" latinLnBrk="0" hangingPunct="1">
        <a:spcBef>
          <a:spcPts val="529"/>
        </a:spcBef>
        <a:buClr>
          <a:schemeClr val="accent3"/>
        </a:buClr>
        <a:buSzPct val="80000"/>
        <a:buFont typeface="Wingdings 2"/>
        <a:buChar char="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9253" indent="-326542" algn="l" rtl="0" eaLnBrk="1" latinLnBrk="0" hangingPunct="1">
        <a:spcBef>
          <a:spcPts val="529"/>
        </a:spcBef>
        <a:buClr>
          <a:schemeClr val="accent3"/>
        </a:buClr>
        <a:buFontTx/>
        <a:buChar char="o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2351102" indent="-326542" algn="l" rtl="0" eaLnBrk="1" latinLnBrk="0" hangingPunct="1">
        <a:spcBef>
          <a:spcPts val="529"/>
        </a:spcBef>
        <a:buClr>
          <a:schemeClr val="accent3"/>
        </a:buClr>
        <a:buChar char="•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2953" indent="-326542" algn="l" rtl="0" eaLnBrk="1" latinLnBrk="0" hangingPunct="1">
        <a:spcBef>
          <a:spcPts val="529"/>
        </a:spcBef>
        <a:buClr>
          <a:schemeClr val="accent2"/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3134803" indent="-326542" algn="l" rtl="0" eaLnBrk="1" latinLnBrk="0" hangingPunct="1">
        <a:spcBef>
          <a:spcPts val="529"/>
        </a:spcBef>
        <a:buClr>
          <a:schemeClr val="accent1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3526654" indent="-326542" algn="l" rtl="0" eaLnBrk="1" latinLnBrk="0" hangingPunct="1">
        <a:spcBef>
          <a:spcPts val="529"/>
        </a:spcBef>
        <a:buClr>
          <a:schemeClr val="accent2">
            <a:tint val="60000"/>
          </a:schemeClr>
        </a:buClr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0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6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42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5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65760" y="838200"/>
            <a:ext cx="14264640" cy="60350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endParaRPr lang="en-US" dirty="0" smtClean="0">
              <a:solidFill>
                <a:schemeClr val="tx1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MULTIPLE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ACCESS TECHNIQUES</a:t>
            </a:r>
          </a:p>
          <a:p>
            <a:pPr>
              <a:lnSpc>
                <a:spcPct val="150000"/>
              </a:lnSpc>
              <a:defRPr/>
            </a:pPr>
            <a:endParaRPr lang="en-US" dirty="0" smtClean="0">
              <a:solidFill>
                <a:schemeClr val="tx1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3810000"/>
            <a:ext cx="7391400" cy="3713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OVERVIEW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71600" y="2057400"/>
            <a:ext cx="12115800" cy="4114800"/>
          </a:xfrm>
        </p:spPr>
        <p:txBody>
          <a:bodyPr>
            <a:normAutofit/>
          </a:bodyPr>
          <a:lstStyle/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Introduction to Multiple Access</a:t>
            </a:r>
          </a:p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FDMA</a:t>
            </a:r>
          </a:p>
          <a:p>
            <a:r>
              <a:rPr lang="en-US" sz="3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TDMA</a:t>
            </a:r>
          </a:p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Spread Spectrum Multiple Access</a:t>
            </a:r>
          </a:p>
          <a:p>
            <a:r>
              <a:rPr lang="en-US" sz="3400" dirty="0" smtClean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6800" y="2209800"/>
            <a:ext cx="5619750" cy="359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2362200" y="0"/>
            <a:ext cx="106680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Time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Division</a:t>
            </a:r>
            <a:r>
              <a:rPr sz="7200" b="1" spc="2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Multiple</a:t>
            </a: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Access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bject 417"/>
          <p:cNvSpPr txBox="1"/>
          <p:nvPr/>
        </p:nvSpPr>
        <p:spPr>
          <a:xfrm>
            <a:off x="838200" y="2209800"/>
            <a:ext cx="7467600" cy="33934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0880">
              <a:spcBef>
                <a:spcPts val="170"/>
              </a:spcBef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3600" spc="0" dirty="0" smtClean="0">
                <a:latin typeface="Arial" pitchFamily="34" charset="0"/>
                <a:cs typeface="Arial" pitchFamily="34" charset="0"/>
              </a:rPr>
              <a:t> T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ime</a:t>
            </a:r>
            <a:r>
              <a:rPr lang="en-US" sz="3600" spc="0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s</a:t>
            </a:r>
            <a:r>
              <a:rPr sz="3600" spc="9" dirty="0" smtClean="0">
                <a:latin typeface="Arial" pitchFamily="34" charset="0"/>
                <a:cs typeface="Arial" pitchFamily="34" charset="0"/>
              </a:rPr>
              <a:t>l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o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ts</a:t>
            </a:r>
            <a:endParaRPr sz="3600" dirty="0">
              <a:latin typeface="Arial" pitchFamily="34" charset="0"/>
              <a:cs typeface="Arial" pitchFamily="34" charset="0"/>
            </a:endParaRPr>
          </a:p>
          <a:p>
            <a:pPr marL="12700" marR="60880">
              <a:spcBef>
                <a:spcPts val="636"/>
              </a:spcBef>
              <a:buFont typeface="Arial" pitchFamily="34" charset="0"/>
              <a:buChar char="•"/>
              <a:tabLst>
                <a:tab pos="800100" algn="l"/>
              </a:tabLst>
            </a:pPr>
            <a:r>
              <a:rPr lang="en-US" sz="3600" spc="4" dirty="0" smtClean="0">
                <a:latin typeface="Arial" pitchFamily="34" charset="0"/>
                <a:cs typeface="Arial" pitchFamily="34" charset="0"/>
              </a:rPr>
              <a:t> O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n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e	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u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s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e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3600" spc="-17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3600" spc="9" dirty="0" smtClean="0">
                <a:latin typeface="Arial" pitchFamily="34" charset="0"/>
                <a:cs typeface="Arial" pitchFamily="34" charset="0"/>
              </a:rPr>
              <a:t>p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e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3600" spc="-17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s</a:t>
            </a:r>
            <a:r>
              <a:rPr sz="3600" spc="9" dirty="0" smtClean="0">
                <a:latin typeface="Arial" pitchFamily="34" charset="0"/>
                <a:cs typeface="Arial" pitchFamily="34" charset="0"/>
              </a:rPr>
              <a:t>l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o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t</a:t>
            </a:r>
            <a:endParaRPr sz="3600" dirty="0">
              <a:latin typeface="Arial" pitchFamily="34" charset="0"/>
              <a:cs typeface="Arial" pitchFamily="34" charset="0"/>
            </a:endParaRPr>
          </a:p>
          <a:p>
            <a:pPr marL="12700">
              <a:spcBef>
                <a:spcPts val="797"/>
              </a:spcBef>
              <a:buFont typeface="Arial" pitchFamily="34" charset="0"/>
              <a:buChar char="•"/>
              <a:tabLst>
                <a:tab pos="1206500" algn="l"/>
                <a:tab pos="1993900" algn="l"/>
                <a:tab pos="2755900" algn="l"/>
              </a:tabLst>
            </a:pPr>
            <a:r>
              <a:rPr lang="en-US" sz="3600" spc="9" dirty="0" smtClean="0">
                <a:latin typeface="Arial" pitchFamily="34" charset="0"/>
                <a:cs typeface="Arial" pitchFamily="34" charset="0"/>
              </a:rPr>
              <a:t> B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u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ff</a:t>
            </a:r>
            <a:r>
              <a:rPr sz="3600" spc="14" dirty="0" smtClean="0">
                <a:latin typeface="Arial" pitchFamily="34" charset="0"/>
                <a:cs typeface="Arial" pitchFamily="34" charset="0"/>
              </a:rPr>
              <a:t>e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3600" spc="-50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n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d</a:t>
            </a:r>
            <a:r>
              <a:rPr lang="en-US" sz="3600" spc="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600" spc="9" dirty="0" smtClean="0">
                <a:latin typeface="Arial" pitchFamily="34" charset="0"/>
                <a:cs typeface="Arial" pitchFamily="34" charset="0"/>
              </a:rPr>
              <a:t>B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u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st</a:t>
            </a:r>
            <a:r>
              <a:rPr sz="3600" spc="-45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me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t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ho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d </a:t>
            </a:r>
            <a:endParaRPr sz="3600" dirty="0">
              <a:latin typeface="Arial" pitchFamily="34" charset="0"/>
              <a:cs typeface="Arial" pitchFamily="34" charset="0"/>
            </a:endParaRPr>
          </a:p>
          <a:p>
            <a:pPr marL="12700">
              <a:spcBef>
                <a:spcPts val="795"/>
              </a:spcBef>
              <a:buFont typeface="Arial" pitchFamily="34" charset="0"/>
              <a:buChar char="•"/>
              <a:tabLst>
                <a:tab pos="1206500" algn="l"/>
                <a:tab pos="1993900" algn="l"/>
                <a:tab pos="2755900" algn="l"/>
              </a:tabLst>
            </a:pPr>
            <a:r>
              <a:rPr lang="en-US" sz="3600" spc="4" dirty="0" smtClean="0">
                <a:latin typeface="Arial" pitchFamily="34" charset="0"/>
                <a:cs typeface="Arial" pitchFamily="34" charset="0"/>
              </a:rPr>
              <a:t> N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o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3600" spc="-4" dirty="0" smtClean="0">
                <a:latin typeface="Arial" pitchFamily="34" charset="0"/>
                <a:cs typeface="Arial" pitchFamily="34" charset="0"/>
              </a:rPr>
              <a:t>-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con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tin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u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ou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s</a:t>
            </a:r>
            <a:r>
              <a:rPr lang="en-US" sz="3600" spc="0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t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n</a:t>
            </a:r>
            <a:r>
              <a:rPr sz="3600" spc="-4" dirty="0" smtClean="0">
                <a:latin typeface="Arial" pitchFamily="34" charset="0"/>
                <a:cs typeface="Arial" pitchFamily="34" charset="0"/>
              </a:rPr>
              <a:t>s</a:t>
            </a:r>
            <a:r>
              <a:rPr sz="3600" spc="4" dirty="0" smtClean="0">
                <a:latin typeface="Arial" pitchFamily="34" charset="0"/>
                <a:cs typeface="Arial" pitchFamily="34" charset="0"/>
              </a:rPr>
              <a:t>m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ission </a:t>
            </a:r>
            <a:endParaRPr sz="3600" dirty="0">
              <a:latin typeface="Arial" pitchFamily="34" charset="0"/>
              <a:cs typeface="Arial" pitchFamily="34" charset="0"/>
            </a:endParaRPr>
          </a:p>
          <a:p>
            <a:pPr marL="12700">
              <a:spcBef>
                <a:spcPts val="795"/>
              </a:spcBef>
              <a:buFont typeface="Arial" pitchFamily="34" charset="0"/>
              <a:buChar char="•"/>
              <a:tabLst>
                <a:tab pos="1206500" algn="l"/>
                <a:tab pos="1993900" algn="l"/>
                <a:tab pos="2755900" algn="l"/>
              </a:tabLst>
            </a:pPr>
            <a:r>
              <a:rPr lang="en-US" sz="3600" spc="9" dirty="0" smtClean="0">
                <a:latin typeface="Arial" pitchFamily="34" charset="0"/>
                <a:cs typeface="Arial" pitchFamily="34" charset="0"/>
              </a:rPr>
              <a:t> D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ig</a:t>
            </a:r>
            <a:r>
              <a:rPr sz="3600" spc="9" dirty="0" smtClean="0">
                <a:latin typeface="Arial" pitchFamily="34" charset="0"/>
                <a:cs typeface="Arial" pitchFamily="34" charset="0"/>
              </a:rPr>
              <a:t>i</a:t>
            </a:r>
            <a:r>
              <a:rPr sz="3600" spc="-9" dirty="0" smtClean="0">
                <a:latin typeface="Arial" pitchFamily="34" charset="0"/>
                <a:cs typeface="Arial" pitchFamily="34" charset="0"/>
              </a:rPr>
              <a:t>t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al</a:t>
            </a:r>
            <a:r>
              <a:rPr lang="en-US" sz="3600" spc="0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3600" spc="9" dirty="0" smtClean="0">
                <a:latin typeface="Arial" pitchFamily="34" charset="0"/>
                <a:cs typeface="Arial" pitchFamily="34" charset="0"/>
              </a:rPr>
              <a:t>d</a:t>
            </a:r>
            <a:r>
              <a:rPr sz="3600" spc="0" dirty="0" smtClean="0">
                <a:latin typeface="Arial" pitchFamily="34" charset="0"/>
                <a:cs typeface="Arial" pitchFamily="34" charset="0"/>
              </a:rPr>
              <a:t>ata</a:t>
            </a:r>
            <a:endParaRPr lang="en-US" sz="3600" spc="0" dirty="0" smtClean="0">
              <a:latin typeface="Arial" pitchFamily="34" charset="0"/>
              <a:cs typeface="Arial" pitchFamily="34" charset="0"/>
            </a:endParaRPr>
          </a:p>
          <a:p>
            <a:pPr marL="12700">
              <a:spcBef>
                <a:spcPts val="795"/>
              </a:spcBef>
              <a:buFont typeface="Arial" pitchFamily="34" charset="0"/>
              <a:buChar char="•"/>
              <a:tabLst>
                <a:tab pos="1206500" algn="l"/>
                <a:tab pos="1993900" algn="l"/>
                <a:tab pos="2755900" algn="l"/>
              </a:tabLst>
            </a:pPr>
            <a:r>
              <a:rPr lang="en-US" sz="3600" dirty="0" smtClean="0">
                <a:latin typeface="Arial" pitchFamily="34" charset="0"/>
                <a:cs typeface="Arial" pitchFamily="34" charset="0"/>
              </a:rPr>
              <a:t> Digital Modulation</a:t>
            </a:r>
            <a:endParaRPr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417"/>
          <p:cNvSpPr/>
          <p:nvPr/>
        </p:nvSpPr>
        <p:spPr>
          <a:xfrm>
            <a:off x="6781800" y="1600200"/>
            <a:ext cx="6705600" cy="563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3048000" y="0"/>
            <a:ext cx="84582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Repeating Frame Structure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600200"/>
            <a:ext cx="8915400" cy="5749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19600" y="76200"/>
            <a:ext cx="57912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TDMA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13944600" cy="5486400"/>
          </a:xfrm>
        </p:spPr>
        <p:txBody>
          <a:bodyPr>
            <a:normAutofit/>
          </a:bodyPr>
          <a:lstStyle/>
          <a:p>
            <a:pPr marL="12700">
              <a:lnSpc>
                <a:spcPct val="150000"/>
              </a:lnSpc>
              <a:spcBef>
                <a:spcPts val="127"/>
              </a:spcBef>
              <a:buFont typeface="Arial" pitchFamily="34" charset="0"/>
              <a:buChar char="•"/>
            </a:pPr>
            <a:r>
              <a:rPr lang="en-US" sz="3000" dirty="0" smtClean="0">
                <a:latin typeface="Arial"/>
                <a:cs typeface="Arial"/>
              </a:rPr>
              <a:t>TDMA</a:t>
            </a:r>
            <a:r>
              <a:rPr lang="en-US" sz="3000" spc="-13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uses di</a:t>
            </a:r>
            <a:r>
              <a:rPr lang="en-US" sz="3000" spc="-44" dirty="0" smtClean="0">
                <a:latin typeface="Arial"/>
                <a:cs typeface="Arial"/>
              </a:rPr>
              <a:t>f</a:t>
            </a:r>
            <a:r>
              <a:rPr lang="en-US" sz="3000" dirty="0" smtClean="0">
                <a:latin typeface="Arial"/>
                <a:cs typeface="Arial"/>
              </a:rPr>
              <a:t>fe</a:t>
            </a:r>
            <a:r>
              <a:rPr lang="en-US" sz="3000" spc="4" dirty="0" smtClean="0">
                <a:latin typeface="Arial"/>
                <a:cs typeface="Arial"/>
              </a:rPr>
              <a:t>r</a:t>
            </a:r>
            <a:r>
              <a:rPr lang="en-US" sz="3000" dirty="0" smtClean="0">
                <a:latin typeface="Arial"/>
                <a:cs typeface="Arial"/>
              </a:rPr>
              <a:t>ent</a:t>
            </a:r>
            <a:r>
              <a:rPr lang="en-US" sz="3000" spc="-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ti</a:t>
            </a:r>
            <a:r>
              <a:rPr lang="en-US" sz="3000" spc="4" dirty="0" smtClean="0">
                <a:latin typeface="Arial"/>
                <a:cs typeface="Arial"/>
              </a:rPr>
              <a:t>m</a:t>
            </a:r>
            <a:r>
              <a:rPr lang="en-US" sz="3000" dirty="0" smtClean="0">
                <a:latin typeface="Arial"/>
                <a:cs typeface="Arial"/>
              </a:rPr>
              <a:t>e slots for</a:t>
            </a:r>
            <a:r>
              <a:rPr lang="en-US" sz="3000" spc="-49" dirty="0" smtClean="0">
                <a:latin typeface="Arial"/>
                <a:cs typeface="Arial"/>
              </a:rPr>
              <a:t> </a:t>
            </a:r>
            <a:r>
              <a:rPr lang="en-US" sz="3000" dirty="0" err="1" smtClean="0">
                <a:latin typeface="Arial"/>
                <a:cs typeface="Arial"/>
              </a:rPr>
              <a:t>Tx</a:t>
            </a:r>
            <a:r>
              <a:rPr lang="en-US" sz="3000" spc="-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and</a:t>
            </a:r>
            <a:r>
              <a:rPr lang="en-US" sz="3000" spc="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R</a:t>
            </a:r>
            <a:r>
              <a:rPr lang="en-US" sz="3000" spc="-14" dirty="0" smtClean="0">
                <a:latin typeface="Arial"/>
                <a:cs typeface="Arial"/>
              </a:rPr>
              <a:t>x</a:t>
            </a:r>
            <a:r>
              <a:rPr lang="en-US" sz="3000" dirty="0" smtClean="0">
                <a:latin typeface="Arial"/>
                <a:cs typeface="Arial"/>
              </a:rPr>
              <a:t>,</a:t>
            </a:r>
            <a:r>
              <a:rPr lang="en-US" sz="3000" spc="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thus du</a:t>
            </a:r>
            <a:r>
              <a:rPr lang="en-US" sz="3000" spc="-4" dirty="0" smtClean="0">
                <a:latin typeface="Arial"/>
                <a:cs typeface="Arial"/>
              </a:rPr>
              <a:t>p</a:t>
            </a:r>
            <a:r>
              <a:rPr lang="en-US" sz="3000" dirty="0" smtClean="0">
                <a:latin typeface="Arial"/>
                <a:cs typeface="Arial"/>
              </a:rPr>
              <a:t>l</a:t>
            </a:r>
            <a:r>
              <a:rPr lang="en-US" sz="3000" spc="-4" dirty="0" smtClean="0">
                <a:latin typeface="Arial"/>
                <a:cs typeface="Arial"/>
              </a:rPr>
              <a:t>e</a:t>
            </a:r>
            <a:r>
              <a:rPr lang="en-US" sz="3000" spc="-9" dirty="0" smtClean="0">
                <a:latin typeface="Arial"/>
                <a:cs typeface="Arial"/>
              </a:rPr>
              <a:t>x</a:t>
            </a:r>
            <a:r>
              <a:rPr lang="en-US" sz="3000" dirty="0" smtClean="0">
                <a:latin typeface="Arial"/>
                <a:cs typeface="Arial"/>
              </a:rPr>
              <a:t>ers</a:t>
            </a:r>
            <a:r>
              <a:rPr lang="en-US" sz="3000" spc="39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are not requ</a:t>
            </a:r>
            <a:r>
              <a:rPr lang="en-US" sz="3000" spc="-9" dirty="0" smtClean="0">
                <a:latin typeface="Arial"/>
                <a:cs typeface="Arial"/>
              </a:rPr>
              <a:t>i</a:t>
            </a:r>
            <a:r>
              <a:rPr lang="en-US" sz="3000" dirty="0" smtClean="0">
                <a:latin typeface="Arial"/>
                <a:cs typeface="Arial"/>
              </a:rPr>
              <a:t>red.</a:t>
            </a:r>
          </a:p>
          <a:p>
            <a:pPr marL="12700">
              <a:lnSpc>
                <a:spcPct val="150000"/>
              </a:lnSpc>
              <a:spcBef>
                <a:spcPts val="127"/>
              </a:spcBef>
              <a:buFont typeface="Arial" pitchFamily="34" charset="0"/>
              <a:buChar char="•"/>
            </a:pPr>
            <a:r>
              <a:rPr lang="en-US" sz="3000" dirty="0" smtClean="0">
                <a:latin typeface="Arial"/>
                <a:cs typeface="Arial"/>
              </a:rPr>
              <a:t>Global Syste</a:t>
            </a:r>
            <a:r>
              <a:rPr lang="en-US" sz="3000" spc="4" dirty="0" smtClean="0">
                <a:latin typeface="Arial"/>
                <a:cs typeface="Arial"/>
              </a:rPr>
              <a:t>m</a:t>
            </a:r>
            <a:r>
              <a:rPr lang="en-US" sz="3000" dirty="0" smtClean="0">
                <a:latin typeface="Arial"/>
                <a:cs typeface="Arial"/>
              </a:rPr>
              <a:t>s</a:t>
            </a:r>
            <a:r>
              <a:rPr lang="en-US" sz="3000" spc="-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for Mob</a:t>
            </a:r>
            <a:r>
              <a:rPr lang="en-US" sz="3000" spc="-9" dirty="0" smtClean="0">
                <a:latin typeface="Arial"/>
                <a:cs typeface="Arial"/>
              </a:rPr>
              <a:t>i</a:t>
            </a:r>
            <a:r>
              <a:rPr lang="en-US" sz="3000" dirty="0" smtClean="0">
                <a:latin typeface="Arial"/>
                <a:cs typeface="Arial"/>
              </a:rPr>
              <a:t>le</a:t>
            </a:r>
            <a:r>
              <a:rPr lang="en-US" sz="3000" spc="19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com</a:t>
            </a:r>
            <a:r>
              <a:rPr lang="en-US" sz="3000" spc="9" dirty="0" smtClean="0">
                <a:latin typeface="Arial"/>
                <a:cs typeface="Arial"/>
              </a:rPr>
              <a:t>m</a:t>
            </a:r>
            <a:r>
              <a:rPr lang="en-US" sz="3000" dirty="0" smtClean="0">
                <a:latin typeface="Arial"/>
                <a:cs typeface="Arial"/>
              </a:rPr>
              <a:t>un</a:t>
            </a:r>
            <a:r>
              <a:rPr lang="en-US" sz="3000" spc="-9" dirty="0" smtClean="0">
                <a:latin typeface="Arial"/>
                <a:cs typeface="Arial"/>
              </a:rPr>
              <a:t>i</a:t>
            </a:r>
            <a:r>
              <a:rPr lang="en-US" sz="3000" dirty="0" smtClean="0">
                <a:latin typeface="Arial"/>
                <a:cs typeface="Arial"/>
              </a:rPr>
              <a:t>cations</a:t>
            </a:r>
            <a:r>
              <a:rPr lang="en-US" sz="3000" spc="19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(</a:t>
            </a:r>
            <a:r>
              <a:rPr lang="en-US" sz="3000" spc="9" dirty="0" smtClean="0">
                <a:latin typeface="Arial"/>
                <a:cs typeface="Arial"/>
              </a:rPr>
              <a:t>G</a:t>
            </a:r>
            <a:r>
              <a:rPr lang="en-US" sz="3000" dirty="0" smtClean="0">
                <a:latin typeface="Arial"/>
                <a:cs typeface="Arial"/>
              </a:rPr>
              <a:t>SM)</a:t>
            </a:r>
            <a:r>
              <a:rPr lang="en-US" sz="3000" spc="-2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uses the</a:t>
            </a:r>
            <a:r>
              <a:rPr lang="en-US" sz="3000" spc="-4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TDMA</a:t>
            </a:r>
            <a:r>
              <a:rPr lang="en-US" sz="3000" spc="-134" dirty="0" smtClean="0">
                <a:latin typeface="Arial"/>
                <a:cs typeface="Arial"/>
              </a:rPr>
              <a:t> </a:t>
            </a:r>
            <a:r>
              <a:rPr lang="en-US" sz="3000" spc="4" dirty="0" smtClean="0">
                <a:latin typeface="Arial"/>
                <a:cs typeface="Arial"/>
              </a:rPr>
              <a:t>t</a:t>
            </a:r>
            <a:r>
              <a:rPr lang="en-US" sz="3000" dirty="0" smtClean="0">
                <a:latin typeface="Arial"/>
                <a:cs typeface="Arial"/>
              </a:rPr>
              <a:t>echn</a:t>
            </a:r>
            <a:r>
              <a:rPr lang="en-US" sz="3000" spc="-9" dirty="0" smtClean="0">
                <a:latin typeface="Arial"/>
                <a:cs typeface="Arial"/>
              </a:rPr>
              <a:t>i</a:t>
            </a:r>
            <a:r>
              <a:rPr lang="en-US" sz="3000" dirty="0" smtClean="0">
                <a:latin typeface="Arial"/>
                <a:cs typeface="Arial"/>
              </a:rPr>
              <a:t>qu</a:t>
            </a:r>
            <a:r>
              <a:rPr lang="en-US" sz="3000" spc="-4" dirty="0" smtClean="0">
                <a:latin typeface="Arial"/>
                <a:cs typeface="Arial"/>
              </a:rPr>
              <a:t>e</a:t>
            </a:r>
            <a:r>
              <a:rPr lang="en-US" sz="3000" dirty="0" smtClean="0">
                <a:latin typeface="Arial"/>
                <a:cs typeface="Arial"/>
              </a:rPr>
              <a:t>.</a:t>
            </a:r>
          </a:p>
          <a:p>
            <a:pPr marL="12700" marR="45720">
              <a:buFont typeface="Arial" pitchFamily="34" charset="0"/>
              <a:buChar char="•"/>
            </a:pPr>
            <a:endParaRPr lang="en-US" sz="3000" dirty="0">
              <a:latin typeface="Arial"/>
              <a:cs typeface="Arial"/>
            </a:endParaRPr>
          </a:p>
        </p:txBody>
      </p:sp>
      <p:sp>
        <p:nvSpPr>
          <p:cNvPr id="8" name="object 7"/>
          <p:cNvSpPr/>
          <p:nvPr/>
        </p:nvSpPr>
        <p:spPr>
          <a:xfrm>
            <a:off x="1676400" y="3048000"/>
            <a:ext cx="115824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19600" y="0"/>
            <a:ext cx="5791200" cy="914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TDMA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2725400" cy="5334000"/>
          </a:xfrm>
        </p:spPr>
        <p:txBody>
          <a:bodyPr rtlCol="0">
            <a:noAutofit/>
          </a:bodyPr>
          <a:lstStyle/>
          <a:p>
            <a:pPr fontAlgn="auto">
              <a:spcBef>
                <a:spcPts val="24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In digital systems, continuous transmission is not required because users do not use the allotted bandwidth all the time. </a:t>
            </a:r>
          </a:p>
          <a:p>
            <a:pPr>
              <a:spcBef>
                <a:spcPts val="2400"/>
              </a:spcBef>
              <a:buFont typeface="Arial" pitchFamily="34" charset="0"/>
              <a:buChar char="•"/>
              <a:defRPr/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In such cases, TDMA is a complimentary access technique to FDMA.</a:t>
            </a:r>
          </a:p>
          <a:p>
            <a:pPr fontAlgn="auto">
              <a:spcBef>
                <a:spcPts val="24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TDMA shares a single carrier frequency with several users where each users makes use of non overlapping time slots.</a:t>
            </a:r>
          </a:p>
          <a:p>
            <a:pPr fontAlgn="auto">
              <a:spcBef>
                <a:spcPts val="24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The number of time slots per frame depends on several factors such as modulation technique, available bandwidth etc.</a:t>
            </a:r>
          </a:p>
          <a:p>
            <a:pPr fontAlgn="auto">
              <a:spcBef>
                <a:spcPts val="24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In TDMA, the entire bandwidth is available to the user but only for a finite period of time. </a:t>
            </a:r>
          </a:p>
          <a:p>
            <a:pPr>
              <a:spcBef>
                <a:spcPts val="2400"/>
              </a:spcBef>
              <a:buFont typeface="Arial" pitchFamily="34" charset="0"/>
              <a:buChar char="•"/>
              <a:defRPr/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 Data transmission in TDMA is not continuous but occurs in bursts. This results in low battery consumption since the subscriber transmitter can be turned OFF when not in use. 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>
            <a:spLocks noGrp="1"/>
          </p:cNvSpPr>
          <p:nvPr>
            <p:ph type="title"/>
          </p:nvPr>
        </p:nvSpPr>
        <p:spPr>
          <a:xfrm>
            <a:off x="4419600" y="0"/>
            <a:ext cx="5791200" cy="1371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142">
              <a:lnSpc>
                <a:spcPts val="6550"/>
              </a:lnSpc>
              <a:spcBef>
                <a:spcPts val="327"/>
              </a:spcBef>
              <a:tabLst>
                <a:tab pos="9234253" algn="l"/>
              </a:tabLst>
            </a:pPr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Features of TDMA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sz="quarter" idx="1"/>
          </p:nvPr>
        </p:nvSpPr>
        <p:spPr>
          <a:xfrm>
            <a:off x="1143000" y="1143000"/>
            <a:ext cx="12649200" cy="45720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Because of a discontinuous transmission in TDMA the handoff process is much simpler for a subscriber unit, since it is able to listen to other base stations during idle time slots.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TDMA has an advantage that is possible to allocate different numbers of time slots per frame to different users. 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Thus bandwidth can be supplied on demand to different users by concatenating or reassigning time slot based on priority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TDMA requires careful time synchronization since users share the bandwidth in the frequency domain. 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The number of channels are less, inter channel interference is almost negligible. </a:t>
            </a: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IN" sz="2600" dirty="0" smtClean="0">
                <a:latin typeface="Arial" pitchFamily="34" charset="0"/>
                <a:cs typeface="Arial" pitchFamily="34" charset="0"/>
              </a:rPr>
              <a:t>TDMA uses different time slots for transmission and reception. This type of 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duplexing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 is referred to as Time division </a:t>
            </a:r>
            <a:r>
              <a:rPr lang="en-IN" sz="2600" dirty="0" err="1" smtClean="0">
                <a:latin typeface="Arial" pitchFamily="34" charset="0"/>
                <a:cs typeface="Arial" pitchFamily="34" charset="0"/>
              </a:rPr>
              <a:t>duplexing</a:t>
            </a:r>
            <a:r>
              <a:rPr lang="en-IN" sz="2600" dirty="0" smtClean="0">
                <a:latin typeface="Arial" pitchFamily="34" charset="0"/>
                <a:cs typeface="Arial" pitchFamily="34" charset="0"/>
              </a:rPr>
              <a:t>(TDD).</a:t>
            </a:r>
          </a:p>
        </p:txBody>
      </p:sp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7"/>
          <p:cNvSpPr txBox="1"/>
          <p:nvPr/>
        </p:nvSpPr>
        <p:spPr>
          <a:xfrm>
            <a:off x="3733800" y="457200"/>
            <a:ext cx="8382000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95"/>
              </a:lnSpc>
              <a:spcBef>
                <a:spcPts val="209"/>
              </a:spcBef>
              <a:tabLst>
                <a:tab pos="4940300" algn="l"/>
              </a:tabLst>
            </a:pPr>
            <a:r>
              <a:rPr sz="4400" b="1" spc="-5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sz="4400" b="1" spc="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sz="4400" b="1" spc="1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sz="4400" b="1" spc="-1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ONI</a:t>
            </a:r>
            <a:r>
              <a:rPr sz="4400" b="1" spc="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sz="4400" b="1" spc="-20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TION</a:t>
            </a:r>
            <a:r>
              <a:rPr sz="4400" b="1" spc="-36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4400" b="1" spc="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4400" b="1" spc="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sz="4400" b="1" spc="1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sz="4400" b="1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endParaRPr sz="4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bject 8"/>
          <p:cNvSpPr txBox="1"/>
          <p:nvPr/>
        </p:nvSpPr>
        <p:spPr>
          <a:xfrm>
            <a:off x="878838" y="1693292"/>
            <a:ext cx="10398761" cy="452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150000"/>
              </a:lnSpc>
              <a:spcBef>
                <a:spcPts val="97"/>
              </a:spcBef>
            </a:pPr>
            <a:endParaRPr sz="2800" dirty="0">
              <a:latin typeface="Arial"/>
              <a:cs typeface="Arial"/>
            </a:endParaRPr>
          </a:p>
        </p:txBody>
      </p:sp>
      <p:sp>
        <p:nvSpPr>
          <p:cNvPr id="11" name="object 10"/>
          <p:cNvSpPr txBox="1"/>
          <p:nvPr/>
        </p:nvSpPr>
        <p:spPr>
          <a:xfrm>
            <a:off x="838200" y="1447800"/>
            <a:ext cx="13141961" cy="19551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730">
              <a:lnSpc>
                <a:spcPct val="150000"/>
              </a:lnSpc>
              <a:spcBef>
                <a:spcPts val="97"/>
              </a:spcBef>
              <a:buFont typeface="Arial" pitchFamily="34" charset="0"/>
              <a:buChar char="•"/>
            </a:pPr>
            <a:r>
              <a:rPr lang="en-US" sz="3000" dirty="0" smtClean="0">
                <a:latin typeface="Arial"/>
                <a:cs typeface="Arial"/>
              </a:rPr>
              <a:t>  “CL</a:t>
            </a:r>
            <a:r>
              <a:rPr lang="en-US" sz="3000" spc="4" dirty="0" smtClean="0">
                <a:latin typeface="Arial"/>
                <a:cs typeface="Arial"/>
              </a:rPr>
              <a:t>O</a:t>
            </a:r>
            <a:r>
              <a:rPr lang="en-US" sz="3000" dirty="0" smtClean="0">
                <a:latin typeface="Arial"/>
                <a:cs typeface="Arial"/>
              </a:rPr>
              <a:t>CK”</a:t>
            </a:r>
            <a:r>
              <a:rPr lang="en-US" sz="3000" spc="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is </a:t>
            </a:r>
            <a:r>
              <a:rPr lang="en-US" sz="3000" spc="4" dirty="0" smtClean="0">
                <a:latin typeface="Arial"/>
                <a:cs typeface="Arial"/>
              </a:rPr>
              <a:t>r</a:t>
            </a:r>
            <a:r>
              <a:rPr lang="en-US" sz="3000" dirty="0" smtClean="0">
                <a:latin typeface="Arial"/>
                <a:cs typeface="Arial"/>
              </a:rPr>
              <a:t>eq</a:t>
            </a:r>
            <a:r>
              <a:rPr lang="en-US" sz="3000" spc="-4" dirty="0" smtClean="0">
                <a:latin typeface="Arial"/>
                <a:cs typeface="Arial"/>
              </a:rPr>
              <a:t>u</a:t>
            </a:r>
            <a:r>
              <a:rPr lang="en-US" sz="3000" dirty="0" smtClean="0">
                <a:latin typeface="Arial"/>
                <a:cs typeface="Arial"/>
              </a:rPr>
              <a:t>ired</a:t>
            </a:r>
            <a:r>
              <a:rPr lang="en-US" sz="3000" spc="24" dirty="0" smtClean="0">
                <a:latin typeface="Arial"/>
                <a:cs typeface="Arial"/>
              </a:rPr>
              <a:t> </a:t>
            </a:r>
            <a:r>
              <a:rPr lang="en-US" sz="3000" dirty="0" smtClean="0">
                <a:latin typeface="Arial"/>
                <a:cs typeface="Arial"/>
              </a:rPr>
              <a:t>for</a:t>
            </a:r>
            <a:r>
              <a:rPr lang="en-US" sz="3000" spc="-29" dirty="0" smtClean="0">
                <a:latin typeface="Arial"/>
                <a:cs typeface="Arial"/>
              </a:rPr>
              <a:t> </a:t>
            </a:r>
            <a:r>
              <a:rPr lang="en-US" sz="3000" spc="14" dirty="0" smtClean="0">
                <a:latin typeface="Arial"/>
                <a:cs typeface="Arial"/>
              </a:rPr>
              <a:t>T</a:t>
            </a:r>
            <a:r>
              <a:rPr lang="en-US" sz="3000" dirty="0" smtClean="0">
                <a:latin typeface="Arial"/>
                <a:cs typeface="Arial"/>
              </a:rPr>
              <a:t>DMA.</a:t>
            </a:r>
          </a:p>
          <a:p>
            <a:pPr marL="12700" marR="26730">
              <a:lnSpc>
                <a:spcPct val="150000"/>
              </a:lnSpc>
              <a:spcBef>
                <a:spcPts val="97"/>
              </a:spcBef>
              <a:buFont typeface="Arial" pitchFamily="34" charset="0"/>
              <a:buChar char="•"/>
            </a:pPr>
            <a:r>
              <a:rPr lang="en-US" sz="3000" spc="0" dirty="0" smtClean="0">
                <a:latin typeface="Arial"/>
                <a:cs typeface="Arial"/>
              </a:rPr>
              <a:t>  </a:t>
            </a:r>
            <a:r>
              <a:rPr sz="3000" spc="0" dirty="0" smtClean="0">
                <a:latin typeface="Arial"/>
                <a:cs typeface="Arial"/>
              </a:rPr>
              <a:t>All</a:t>
            </a:r>
            <a:r>
              <a:rPr sz="3000" spc="-4" dirty="0" smtClean="0">
                <a:latin typeface="Arial"/>
                <a:cs typeface="Arial"/>
              </a:rPr>
              <a:t> 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ransmit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ers</a:t>
            </a:r>
            <a:r>
              <a:rPr sz="3000" spc="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and</a:t>
            </a:r>
            <a:r>
              <a:rPr sz="3000" spc="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receivers</a:t>
            </a:r>
            <a:r>
              <a:rPr sz="3000" spc="1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must</a:t>
            </a:r>
            <a:r>
              <a:rPr sz="3000" spc="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be a</a:t>
            </a:r>
            <a:r>
              <a:rPr sz="3000" spc="-39" dirty="0" smtClean="0">
                <a:latin typeface="Arial"/>
                <a:cs typeface="Arial"/>
              </a:rPr>
              <a:t>w</a:t>
            </a:r>
            <a:r>
              <a:rPr sz="3000" spc="0" dirty="0" smtClean="0">
                <a:latin typeface="Arial"/>
                <a:cs typeface="Arial"/>
              </a:rPr>
              <a:t>are</a:t>
            </a:r>
            <a:r>
              <a:rPr sz="3000" spc="50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of 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h</a:t>
            </a:r>
            <a:r>
              <a:rPr sz="3000" spc="-4" dirty="0" smtClean="0">
                <a:latin typeface="Arial"/>
                <a:cs typeface="Arial"/>
              </a:rPr>
              <a:t>i</a:t>
            </a:r>
            <a:r>
              <a:rPr sz="3000" spc="0" dirty="0" smtClean="0">
                <a:latin typeface="Arial"/>
                <a:cs typeface="Arial"/>
              </a:rPr>
              <a:t>s `</a:t>
            </a:r>
            <a:r>
              <a:rPr sz="3000" spc="4" dirty="0" smtClean="0">
                <a:latin typeface="Arial"/>
                <a:cs typeface="Arial"/>
              </a:rPr>
              <a:t>`</a:t>
            </a:r>
            <a:r>
              <a:rPr sz="3000" spc="0" dirty="0" smtClean="0">
                <a:latin typeface="Arial"/>
                <a:cs typeface="Arial"/>
              </a:rPr>
              <a:t>clock</a:t>
            </a:r>
            <a:r>
              <a:rPr sz="3000" spc="4" dirty="0" smtClean="0">
                <a:latin typeface="Arial"/>
                <a:cs typeface="Arial"/>
              </a:rPr>
              <a:t>'</a:t>
            </a:r>
            <a:r>
              <a:rPr sz="3000" spc="0" dirty="0" smtClean="0">
                <a:latin typeface="Arial"/>
                <a:cs typeface="Arial"/>
              </a:rPr>
              <a:t>'</a:t>
            </a:r>
            <a:r>
              <a:rPr sz="3000" spc="-1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to </a:t>
            </a:r>
            <a:r>
              <a:rPr sz="3000" spc="4" dirty="0" smtClean="0">
                <a:latin typeface="Arial"/>
                <a:cs typeface="Arial"/>
              </a:rPr>
              <a:t>s</a:t>
            </a:r>
            <a:r>
              <a:rPr sz="3000" spc="0" dirty="0" smtClean="0">
                <a:latin typeface="Arial"/>
                <a:cs typeface="Arial"/>
              </a:rPr>
              <a:t>ched</a:t>
            </a:r>
            <a:r>
              <a:rPr sz="3000" spc="-4" dirty="0" smtClean="0">
                <a:latin typeface="Arial"/>
                <a:cs typeface="Arial"/>
              </a:rPr>
              <a:t>u</a:t>
            </a:r>
            <a:r>
              <a:rPr sz="3000" spc="0" dirty="0" smtClean="0">
                <a:latin typeface="Arial"/>
                <a:cs typeface="Arial"/>
              </a:rPr>
              <a:t>le</a:t>
            </a:r>
            <a:endParaRPr lang="en-US" sz="3000" spc="0" dirty="0" smtClean="0">
              <a:latin typeface="Arial"/>
              <a:cs typeface="Arial"/>
            </a:endParaRPr>
          </a:p>
          <a:p>
            <a:pPr marL="12700" marR="26730">
              <a:lnSpc>
                <a:spcPct val="150000"/>
              </a:lnSpc>
              <a:spcBef>
                <a:spcPts val="1073"/>
              </a:spcBef>
            </a:pPr>
            <a:r>
              <a:rPr lang="en-US" sz="3000" spc="0" dirty="0" smtClean="0">
                <a:latin typeface="Arial"/>
                <a:cs typeface="Arial"/>
              </a:rPr>
              <a:t>   </a:t>
            </a:r>
            <a:r>
              <a:rPr sz="3000" spc="0" dirty="0" smtClean="0">
                <a:latin typeface="Arial"/>
                <a:cs typeface="Arial"/>
              </a:rPr>
              <a:t>the</a:t>
            </a:r>
            <a:r>
              <a:rPr sz="3000" spc="-9" dirty="0" smtClean="0">
                <a:latin typeface="Arial"/>
                <a:cs typeface="Arial"/>
              </a:rPr>
              <a:t>i</a:t>
            </a:r>
            <a:r>
              <a:rPr sz="3000" spc="0" dirty="0" smtClean="0">
                <a:latin typeface="Arial"/>
                <a:cs typeface="Arial"/>
              </a:rPr>
              <a:t>r 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ransm</a:t>
            </a:r>
            <a:r>
              <a:rPr sz="3000" spc="-4" dirty="0" smtClean="0">
                <a:latin typeface="Arial"/>
                <a:cs typeface="Arial"/>
              </a:rPr>
              <a:t>i</a:t>
            </a:r>
            <a:r>
              <a:rPr sz="3000" spc="0" dirty="0" smtClean="0">
                <a:latin typeface="Arial"/>
                <a:cs typeface="Arial"/>
              </a:rPr>
              <a:t>ssi</a:t>
            </a:r>
            <a:r>
              <a:rPr sz="3000" spc="-4" dirty="0" smtClean="0">
                <a:latin typeface="Arial"/>
                <a:cs typeface="Arial"/>
              </a:rPr>
              <a:t>o</a:t>
            </a:r>
            <a:r>
              <a:rPr sz="3000" spc="0" dirty="0" smtClean="0">
                <a:latin typeface="Arial"/>
                <a:cs typeface="Arial"/>
              </a:rPr>
              <a:t>ns</a:t>
            </a:r>
            <a:r>
              <a:rPr sz="3000" spc="2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a</a:t>
            </a:r>
            <a:r>
              <a:rPr sz="3000" spc="-4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d rece</a:t>
            </a:r>
            <a:r>
              <a:rPr sz="3000" spc="-9" dirty="0" smtClean="0">
                <a:latin typeface="Arial"/>
                <a:cs typeface="Arial"/>
              </a:rPr>
              <a:t>p</a:t>
            </a:r>
            <a:r>
              <a:rPr sz="3000" spc="0" dirty="0" smtClean="0">
                <a:latin typeface="Arial"/>
                <a:cs typeface="Arial"/>
              </a:rPr>
              <a:t>tio</a:t>
            </a:r>
            <a:r>
              <a:rPr sz="3000" spc="-9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s</a:t>
            </a:r>
            <a:r>
              <a:rPr sz="3000" spc="2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a</a:t>
            </a:r>
            <a:r>
              <a:rPr sz="3000" spc="-4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d</a:t>
            </a:r>
            <a:r>
              <a:rPr sz="3000" spc="-59" dirty="0" smtClean="0">
                <a:latin typeface="Arial"/>
                <a:cs typeface="Arial"/>
              </a:rPr>
              <a:t> </a:t>
            </a:r>
            <a:r>
              <a:rPr sz="3000" b="1" spc="0" dirty="0" smtClean="0">
                <a:latin typeface="Arial"/>
                <a:cs typeface="Arial"/>
              </a:rPr>
              <a:t>tr</a:t>
            </a:r>
            <a:r>
              <a:rPr sz="3000" b="1" spc="-9" dirty="0" smtClean="0">
                <a:latin typeface="Arial"/>
                <a:cs typeface="Arial"/>
              </a:rPr>
              <a:t>a</a:t>
            </a:r>
            <a:r>
              <a:rPr sz="3000" b="1" spc="0" dirty="0" smtClean="0">
                <a:latin typeface="Arial"/>
                <a:cs typeface="Arial"/>
              </a:rPr>
              <a:t>ns</a:t>
            </a:r>
            <a:r>
              <a:rPr sz="3000" b="1" spc="-4" dirty="0" smtClean="0">
                <a:latin typeface="Arial"/>
                <a:cs typeface="Arial"/>
              </a:rPr>
              <a:t>m</a:t>
            </a:r>
            <a:r>
              <a:rPr sz="3000" b="1" spc="0" dirty="0" smtClean="0">
                <a:latin typeface="Arial"/>
                <a:cs typeface="Arial"/>
              </a:rPr>
              <a:t>is</a:t>
            </a:r>
            <a:r>
              <a:rPr sz="3000" b="1" spc="-9" dirty="0" smtClean="0">
                <a:latin typeface="Arial"/>
                <a:cs typeface="Arial"/>
              </a:rPr>
              <a:t>s</a:t>
            </a:r>
            <a:r>
              <a:rPr sz="3000" b="1" spc="0" dirty="0" smtClean="0">
                <a:latin typeface="Arial"/>
                <a:cs typeface="Arial"/>
              </a:rPr>
              <a:t>i</a:t>
            </a:r>
            <a:r>
              <a:rPr sz="3000" b="1" spc="4" dirty="0" smtClean="0">
                <a:latin typeface="Arial"/>
                <a:cs typeface="Arial"/>
              </a:rPr>
              <a:t>o</a:t>
            </a:r>
            <a:r>
              <a:rPr sz="3000" b="1" spc="0" dirty="0" smtClean="0">
                <a:latin typeface="Arial"/>
                <a:cs typeface="Arial"/>
              </a:rPr>
              <a:t>ns</a:t>
            </a:r>
            <a:r>
              <a:rPr sz="3000" b="1" spc="9" dirty="0" smtClean="0">
                <a:latin typeface="Arial"/>
                <a:cs typeface="Arial"/>
              </a:rPr>
              <a:t> </a:t>
            </a:r>
            <a:r>
              <a:rPr sz="3000" b="1" spc="-4" dirty="0" smtClean="0">
                <a:latin typeface="Arial"/>
                <a:cs typeface="Arial"/>
              </a:rPr>
              <a:t>a</a:t>
            </a:r>
            <a:r>
              <a:rPr sz="3000" b="1" spc="0" dirty="0" smtClean="0">
                <a:latin typeface="Arial"/>
                <a:cs typeface="Arial"/>
              </a:rPr>
              <a:t>re</a:t>
            </a:r>
            <a:r>
              <a:rPr sz="3000" b="1" spc="-4" dirty="0" smtClean="0">
                <a:latin typeface="Arial"/>
                <a:cs typeface="Arial"/>
              </a:rPr>
              <a:t> </a:t>
            </a:r>
            <a:r>
              <a:rPr sz="3000" b="1" i="1" spc="-4" dirty="0" smtClean="0">
                <a:latin typeface="Arial"/>
                <a:cs typeface="Arial"/>
              </a:rPr>
              <a:t>sy</a:t>
            </a:r>
            <a:r>
              <a:rPr sz="3000" b="1" i="1" spc="0" dirty="0" smtClean="0">
                <a:latin typeface="Arial"/>
                <a:cs typeface="Arial"/>
              </a:rPr>
              <a:t>nch</a:t>
            </a:r>
            <a:r>
              <a:rPr sz="3000" b="1" i="1" spc="-4" dirty="0" smtClean="0">
                <a:latin typeface="Arial"/>
                <a:cs typeface="Arial"/>
              </a:rPr>
              <a:t>r</a:t>
            </a:r>
            <a:r>
              <a:rPr sz="3000" b="1" i="1" spc="0" dirty="0" smtClean="0">
                <a:latin typeface="Arial"/>
                <a:cs typeface="Arial"/>
              </a:rPr>
              <a:t>o</a:t>
            </a:r>
            <a:r>
              <a:rPr sz="3000" b="1" i="1" spc="4" dirty="0" smtClean="0">
                <a:latin typeface="Arial"/>
                <a:cs typeface="Arial"/>
              </a:rPr>
              <a:t>n</a:t>
            </a:r>
            <a:r>
              <a:rPr sz="3000" b="1" i="1" spc="0" dirty="0" smtClean="0">
                <a:latin typeface="Arial"/>
                <a:cs typeface="Arial"/>
              </a:rPr>
              <a:t>ized</a:t>
            </a:r>
            <a:r>
              <a:rPr sz="3000" spc="0" dirty="0" smtClean="0">
                <a:latin typeface="Arial"/>
                <a:cs typeface="Arial"/>
              </a:rPr>
              <a:t>.</a:t>
            </a:r>
            <a:endParaRPr sz="3000" dirty="0"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980"/>
              </a:spcBef>
              <a:buFont typeface="Arial" pitchFamily="34" charset="0"/>
              <a:buChar char="•"/>
            </a:pPr>
            <a:r>
              <a:rPr lang="en-US" sz="3000" spc="0" dirty="0" smtClean="0">
                <a:latin typeface="Arial"/>
                <a:cs typeface="Arial"/>
              </a:rPr>
              <a:t>  </a:t>
            </a:r>
            <a:r>
              <a:rPr sz="3000" spc="0" dirty="0" smtClean="0">
                <a:latin typeface="Arial"/>
                <a:cs typeface="Arial"/>
              </a:rPr>
              <a:t>In </a:t>
            </a:r>
            <a:r>
              <a:rPr sz="3000" spc="4" dirty="0" smtClean="0">
                <a:latin typeface="Arial"/>
                <a:cs typeface="Arial"/>
              </a:rPr>
              <a:t>c</a:t>
            </a:r>
            <a:r>
              <a:rPr sz="3000" spc="0" dirty="0" smtClean="0">
                <a:latin typeface="Arial"/>
                <a:cs typeface="Arial"/>
              </a:rPr>
              <a:t>e</a:t>
            </a:r>
            <a:r>
              <a:rPr sz="3000" spc="-4" dirty="0" smtClean="0">
                <a:latin typeface="Arial"/>
                <a:cs typeface="Arial"/>
              </a:rPr>
              <a:t>l</a:t>
            </a:r>
            <a:r>
              <a:rPr sz="3000" spc="0" dirty="0" smtClean="0">
                <a:latin typeface="Arial"/>
                <a:cs typeface="Arial"/>
              </a:rPr>
              <a:t>l</a:t>
            </a:r>
            <a:r>
              <a:rPr sz="3000" spc="-4" dirty="0" smtClean="0">
                <a:latin typeface="Arial"/>
                <a:cs typeface="Arial"/>
              </a:rPr>
              <a:t>u</a:t>
            </a:r>
            <a:r>
              <a:rPr sz="3000" spc="0" dirty="0" smtClean="0">
                <a:latin typeface="Arial"/>
                <a:cs typeface="Arial"/>
              </a:rPr>
              <a:t>l</a:t>
            </a:r>
            <a:r>
              <a:rPr sz="3000" spc="-4" dirty="0" smtClean="0">
                <a:latin typeface="Arial"/>
                <a:cs typeface="Arial"/>
              </a:rPr>
              <a:t>a</a:t>
            </a:r>
            <a:r>
              <a:rPr sz="3000" spc="0" dirty="0" smtClean="0">
                <a:latin typeface="Arial"/>
                <a:cs typeface="Arial"/>
              </a:rPr>
              <a:t>r</a:t>
            </a:r>
            <a:r>
              <a:rPr sz="3000" spc="1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tele</a:t>
            </a:r>
            <a:r>
              <a:rPr sz="3000" spc="-4" dirty="0" smtClean="0">
                <a:latin typeface="Arial"/>
                <a:cs typeface="Arial"/>
              </a:rPr>
              <a:t>p</a:t>
            </a:r>
            <a:r>
              <a:rPr sz="3000" spc="0" dirty="0" smtClean="0">
                <a:latin typeface="Arial"/>
                <a:cs typeface="Arial"/>
              </a:rPr>
              <a:t>ho</a:t>
            </a:r>
            <a:r>
              <a:rPr sz="3000" spc="-4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e</a:t>
            </a:r>
            <a:r>
              <a:rPr sz="3000" spc="2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s</a:t>
            </a:r>
            <a:r>
              <a:rPr sz="3000" spc="-19" dirty="0" smtClean="0">
                <a:latin typeface="Arial"/>
                <a:cs typeface="Arial"/>
              </a:rPr>
              <a:t>y</a:t>
            </a:r>
            <a:r>
              <a:rPr sz="3000" spc="0" dirty="0" smtClean="0">
                <a:latin typeface="Arial"/>
                <a:cs typeface="Arial"/>
              </a:rPr>
              <a:t>s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ems</a:t>
            </a:r>
            <a:r>
              <a:rPr sz="3000" spc="2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a clock sig</a:t>
            </a:r>
            <a:r>
              <a:rPr sz="3000" spc="-4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al</a:t>
            </a:r>
            <a:r>
              <a:rPr sz="3000" spc="25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i</a:t>
            </a:r>
            <a:r>
              <a:rPr sz="3000" spc="-4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d</a:t>
            </a:r>
            <a:r>
              <a:rPr sz="3000" spc="-4" dirty="0" smtClean="0">
                <a:latin typeface="Arial"/>
                <a:cs typeface="Arial"/>
              </a:rPr>
              <a:t>i</a:t>
            </a:r>
            <a:r>
              <a:rPr sz="3000" spc="0" dirty="0" smtClean="0">
                <a:latin typeface="Arial"/>
                <a:cs typeface="Arial"/>
              </a:rPr>
              <a:t>cates</a:t>
            </a:r>
            <a:r>
              <a:rPr sz="3000" spc="1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the beg</a:t>
            </a:r>
            <a:r>
              <a:rPr sz="3000" spc="-9" dirty="0" smtClean="0">
                <a:latin typeface="Arial"/>
                <a:cs typeface="Arial"/>
              </a:rPr>
              <a:t>i</a:t>
            </a:r>
            <a:r>
              <a:rPr sz="3000" spc="0" dirty="0" smtClean="0">
                <a:latin typeface="Arial"/>
                <a:cs typeface="Arial"/>
              </a:rPr>
              <a:t>nn</a:t>
            </a:r>
            <a:r>
              <a:rPr sz="3000" spc="-9" dirty="0" smtClean="0">
                <a:latin typeface="Arial"/>
                <a:cs typeface="Arial"/>
              </a:rPr>
              <a:t>i</a:t>
            </a:r>
            <a:r>
              <a:rPr sz="3000" spc="0" dirty="0" smtClean="0">
                <a:latin typeface="Arial"/>
                <a:cs typeface="Arial"/>
              </a:rPr>
              <a:t>ng</a:t>
            </a:r>
            <a:r>
              <a:rPr sz="3000" spc="3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of</a:t>
            </a:r>
            <a:r>
              <a:rPr sz="3000" spc="-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tim</a:t>
            </a:r>
            <a:r>
              <a:rPr sz="3000" spc="-100" dirty="0" smtClean="0">
                <a:latin typeface="Arial"/>
                <a:cs typeface="Arial"/>
              </a:rPr>
              <a:t>e</a:t>
            </a:r>
            <a:r>
              <a:rPr sz="3000" spc="0" dirty="0" smtClean="0">
                <a:latin typeface="Arial"/>
                <a:cs typeface="Arial"/>
              </a:rPr>
              <a:t>-</a:t>
            </a:r>
            <a:endParaRPr lang="en-US" sz="3000" spc="0" dirty="0" smtClean="0"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980"/>
              </a:spcBef>
            </a:pPr>
            <a:r>
              <a:rPr lang="en-US" sz="3000" spc="0" dirty="0" smtClean="0">
                <a:latin typeface="Arial"/>
                <a:cs typeface="Arial"/>
              </a:rPr>
              <a:t>   </a:t>
            </a:r>
            <a:r>
              <a:rPr sz="3000" spc="0" dirty="0" smtClean="0">
                <a:latin typeface="Arial"/>
                <a:cs typeface="Arial"/>
              </a:rPr>
              <a:t>slots is 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ransmit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ed by the base</a:t>
            </a:r>
            <a:r>
              <a:rPr sz="3000" spc="1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s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atio</a:t>
            </a:r>
            <a:r>
              <a:rPr sz="3000" spc="-4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s. </a:t>
            </a:r>
            <a:r>
              <a:rPr sz="3000" spc="9" dirty="0" smtClean="0">
                <a:latin typeface="Arial"/>
                <a:cs typeface="Arial"/>
              </a:rPr>
              <a:t>F</a:t>
            </a:r>
            <a:r>
              <a:rPr sz="3000" spc="0" dirty="0" smtClean="0">
                <a:latin typeface="Arial"/>
                <a:cs typeface="Arial"/>
              </a:rPr>
              <a:t>rom</a:t>
            </a:r>
            <a:r>
              <a:rPr sz="3000" spc="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this </a:t>
            </a:r>
            <a:r>
              <a:rPr sz="3000" spc="4" dirty="0" smtClean="0">
                <a:latin typeface="Arial"/>
                <a:cs typeface="Arial"/>
              </a:rPr>
              <a:t>s</a:t>
            </a:r>
            <a:r>
              <a:rPr sz="3000" spc="0" dirty="0" smtClean="0">
                <a:latin typeface="Arial"/>
                <a:cs typeface="Arial"/>
              </a:rPr>
              <a:t>i</a:t>
            </a:r>
            <a:r>
              <a:rPr sz="3000" spc="-4" dirty="0" smtClean="0">
                <a:latin typeface="Arial"/>
                <a:cs typeface="Arial"/>
              </a:rPr>
              <a:t>g</a:t>
            </a:r>
            <a:r>
              <a:rPr sz="3000" spc="0" dirty="0" smtClean="0">
                <a:latin typeface="Arial"/>
                <a:cs typeface="Arial"/>
              </a:rPr>
              <a:t>na</a:t>
            </a:r>
            <a:r>
              <a:rPr sz="3000" spc="-9" dirty="0" smtClean="0">
                <a:latin typeface="Arial"/>
                <a:cs typeface="Arial"/>
              </a:rPr>
              <a:t>l</a:t>
            </a:r>
            <a:r>
              <a:rPr sz="3000" spc="0" dirty="0" smtClean="0">
                <a:latin typeface="Arial"/>
                <a:cs typeface="Arial"/>
              </a:rPr>
              <a:t>s,</a:t>
            </a:r>
            <a:r>
              <a:rPr sz="3000" spc="1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mob</a:t>
            </a:r>
            <a:r>
              <a:rPr sz="3000" spc="-4" dirty="0" smtClean="0">
                <a:latin typeface="Arial"/>
                <a:cs typeface="Arial"/>
              </a:rPr>
              <a:t>i</a:t>
            </a:r>
            <a:r>
              <a:rPr sz="3000" spc="0" dirty="0" smtClean="0">
                <a:latin typeface="Arial"/>
                <a:cs typeface="Arial"/>
              </a:rPr>
              <a:t>le</a:t>
            </a:r>
            <a:r>
              <a:rPr sz="3000" spc="9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s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atio</a:t>
            </a:r>
            <a:r>
              <a:rPr sz="3000" spc="-4" dirty="0" smtClean="0">
                <a:latin typeface="Arial"/>
                <a:cs typeface="Arial"/>
              </a:rPr>
              <a:t>n</a:t>
            </a:r>
            <a:r>
              <a:rPr sz="3000" spc="0" dirty="0" smtClean="0">
                <a:latin typeface="Arial"/>
                <a:cs typeface="Arial"/>
              </a:rPr>
              <a:t>s</a:t>
            </a:r>
            <a:endParaRPr lang="en-US" sz="3000" spc="0" dirty="0" smtClean="0">
              <a:latin typeface="Arial"/>
              <a:cs typeface="Arial"/>
            </a:endParaRPr>
          </a:p>
          <a:p>
            <a:pPr marL="12700">
              <a:lnSpc>
                <a:spcPct val="150000"/>
              </a:lnSpc>
              <a:spcBef>
                <a:spcPts val="980"/>
              </a:spcBef>
            </a:pPr>
            <a:r>
              <a:rPr lang="en-US" sz="3000" dirty="0" smtClean="0">
                <a:latin typeface="Arial"/>
                <a:cs typeface="Arial"/>
              </a:rPr>
              <a:t>  </a:t>
            </a:r>
            <a:r>
              <a:rPr sz="3000" spc="0" dirty="0" smtClean="0">
                <a:latin typeface="Arial"/>
                <a:cs typeface="Arial"/>
              </a:rPr>
              <a:t> can determine</a:t>
            </a:r>
            <a:r>
              <a:rPr sz="3000" spc="25" dirty="0" smtClean="0">
                <a:latin typeface="Arial"/>
                <a:cs typeface="Arial"/>
              </a:rPr>
              <a:t> </a:t>
            </a:r>
            <a:r>
              <a:rPr sz="3000" spc="-39" dirty="0" smtClean="0">
                <a:latin typeface="Arial"/>
                <a:cs typeface="Arial"/>
              </a:rPr>
              <a:t>w</a:t>
            </a:r>
            <a:r>
              <a:rPr sz="3000" spc="0" dirty="0" smtClean="0">
                <a:latin typeface="Arial"/>
                <a:cs typeface="Arial"/>
              </a:rPr>
              <a:t>hen</a:t>
            </a:r>
            <a:r>
              <a:rPr sz="3000" spc="4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their </a:t>
            </a:r>
            <a:r>
              <a:rPr sz="3000" spc="4" dirty="0" smtClean="0">
                <a:latin typeface="Arial"/>
                <a:cs typeface="Arial"/>
              </a:rPr>
              <a:t>t</a:t>
            </a:r>
            <a:r>
              <a:rPr sz="3000" spc="0" dirty="0" smtClean="0">
                <a:latin typeface="Arial"/>
                <a:cs typeface="Arial"/>
              </a:rPr>
              <a:t>urn comes</a:t>
            </a:r>
            <a:r>
              <a:rPr sz="3000" spc="4" dirty="0" smtClean="0">
                <a:latin typeface="Arial"/>
                <a:cs typeface="Arial"/>
              </a:rPr>
              <a:t> </a:t>
            </a:r>
            <a:r>
              <a:rPr sz="3000" spc="0" dirty="0" smtClean="0">
                <a:latin typeface="Arial"/>
                <a:cs typeface="Arial"/>
              </a:rPr>
              <a:t>up.</a:t>
            </a:r>
            <a:endParaRPr sz="3000" dirty="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12192000" cy="1371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Number of channels in a TDMA system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4206240"/>
            <a:ext cx="13533120" cy="338328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N - number of channels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m - number of TDMA users per radio channel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tot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total spectrum allocation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guard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Guard Band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channel bandwidth </a:t>
            </a: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4389120" y="2560320"/>
            <a:ext cx="6126480" cy="146304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endParaRPr lang="en-US"/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4632960" y="2926080"/>
            <a:ext cx="158496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/>
              <a:t>N=</a:t>
            </a:r>
            <a:endParaRPr lang="en-US" dirty="0"/>
          </a:p>
        </p:txBody>
      </p:sp>
      <p:sp>
        <p:nvSpPr>
          <p:cNvPr id="46086" name="Line 6"/>
          <p:cNvSpPr>
            <a:spLocks noChangeShapeType="1"/>
          </p:cNvSpPr>
          <p:nvPr/>
        </p:nvSpPr>
        <p:spPr bwMode="auto">
          <a:xfrm>
            <a:off x="5852160" y="3291840"/>
            <a:ext cx="4282440" cy="6096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endParaRPr lang="en-US"/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5852160" y="2651760"/>
            <a:ext cx="548640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/>
              <a:t>m*(</a:t>
            </a:r>
            <a:r>
              <a:rPr lang="en-US" sz="4600" dirty="0" err="1"/>
              <a:t>B</a:t>
            </a:r>
            <a:r>
              <a:rPr lang="en-US" dirty="0" err="1"/>
              <a:t>tot</a:t>
            </a:r>
            <a:r>
              <a:rPr lang="en-US" sz="4600" dirty="0"/>
              <a:t> - 2*</a:t>
            </a:r>
            <a:r>
              <a:rPr lang="en-US" sz="4600" dirty="0" err="1"/>
              <a:t>B</a:t>
            </a:r>
            <a:r>
              <a:rPr lang="en-US" dirty="0" err="1"/>
              <a:t>guard</a:t>
            </a:r>
            <a:r>
              <a:rPr lang="en-US" dirty="0"/>
              <a:t>)</a:t>
            </a: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7680960" y="3200400"/>
            <a:ext cx="97536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 err="1"/>
              <a:t>B</a:t>
            </a:r>
            <a:r>
              <a:rPr lang="en-US" dirty="0" err="1"/>
              <a:t>c</a:t>
            </a:r>
            <a:endParaRPr lang="en-US" sz="4600" dirty="0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04800"/>
            <a:ext cx="12313920" cy="1371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Example: Global System for Mobile (GSM)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981200"/>
            <a:ext cx="12557760" cy="338328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TDMA/FDD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forward link at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tot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25 MHz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radio channels of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= 200 kHz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if  m = 8 speech channels supported, and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if no guard band is assumed 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752600" y="6156960"/>
            <a:ext cx="10515600" cy="146304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endParaRPr lang="en-US"/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2072640" y="6492240"/>
            <a:ext cx="158496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/>
              <a:t>N=</a:t>
            </a:r>
            <a:endParaRPr lang="en-US" dirty="0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>
            <a:off x="3291840" y="6858000"/>
            <a:ext cx="2438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endParaRPr lang="en-US"/>
          </a:p>
        </p:txBody>
      </p:sp>
      <p:sp>
        <p:nvSpPr>
          <p:cNvPr id="47111" name="Text Box 10"/>
          <p:cNvSpPr txBox="1">
            <a:spLocks noChangeArrowheads="1"/>
          </p:cNvSpPr>
          <p:nvPr/>
        </p:nvSpPr>
        <p:spPr bwMode="auto">
          <a:xfrm>
            <a:off x="3291840" y="6254116"/>
            <a:ext cx="231648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/>
              <a:t>8*25E6</a:t>
            </a:r>
            <a:endParaRPr lang="en-US" dirty="0"/>
          </a:p>
        </p:txBody>
      </p:sp>
      <p:sp>
        <p:nvSpPr>
          <p:cNvPr id="47112" name="Text Box 11"/>
          <p:cNvSpPr txBox="1">
            <a:spLocks noChangeArrowheads="1"/>
          </p:cNvSpPr>
          <p:nvPr/>
        </p:nvSpPr>
        <p:spPr bwMode="auto">
          <a:xfrm>
            <a:off x="3413760" y="6766560"/>
            <a:ext cx="231648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/>
              <a:t>200E3</a:t>
            </a:r>
            <a:endParaRPr lang="en-US" dirty="0"/>
          </a:p>
        </p:txBody>
      </p:sp>
      <p:sp>
        <p:nvSpPr>
          <p:cNvPr id="47113" name="Text Box 12"/>
          <p:cNvSpPr txBox="1">
            <a:spLocks noChangeArrowheads="1"/>
          </p:cNvSpPr>
          <p:nvPr/>
        </p:nvSpPr>
        <p:spPr bwMode="auto">
          <a:xfrm>
            <a:off x="5852160" y="6492240"/>
            <a:ext cx="8046720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600" dirty="0"/>
              <a:t>= 1000 simultaneous users</a:t>
            </a:r>
            <a:endParaRPr lang="en-US" dirty="0"/>
          </a:p>
        </p:txBody>
      </p:sp>
    </p:spTree>
  </p:cSld>
  <p:clrMapOvr>
    <a:masterClrMapping/>
  </p:clrMapOvr>
  <p:transition spd="med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724400" y="228600"/>
            <a:ext cx="5562600" cy="1371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Efficiency of TDMA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3108960"/>
            <a:ext cx="13045440" cy="4663440"/>
          </a:xfrm>
        </p:spPr>
        <p:txBody>
          <a:bodyPr/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OH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number of overhead bits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3400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number of reference bursts per frame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 reference bits per reference burst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number of traffic bursts per frame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p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overhead bits per preamble in each slot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equivalent bits in each guard time interval</a:t>
            </a: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2438400" y="1905000"/>
            <a:ext cx="9601200" cy="9144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pPr algn="ctr"/>
            <a:r>
              <a:rPr lang="en-US" sz="4600" dirty="0" err="1"/>
              <a:t>b</a:t>
            </a:r>
            <a:r>
              <a:rPr lang="en-US" dirty="0" err="1"/>
              <a:t>OH</a:t>
            </a:r>
            <a:r>
              <a:rPr lang="en-US" sz="4600" dirty="0"/>
              <a:t> = N</a:t>
            </a:r>
            <a:r>
              <a:rPr lang="en-US" dirty="0"/>
              <a:t>r</a:t>
            </a:r>
            <a:r>
              <a:rPr lang="en-US" sz="4600" dirty="0"/>
              <a:t>*</a:t>
            </a:r>
            <a:r>
              <a:rPr lang="en-US" sz="4600" dirty="0" err="1"/>
              <a:t>b</a:t>
            </a:r>
            <a:r>
              <a:rPr lang="en-US" dirty="0" err="1"/>
              <a:t>r</a:t>
            </a:r>
            <a:r>
              <a:rPr lang="en-US" sz="4600" dirty="0"/>
              <a:t> + </a:t>
            </a:r>
            <a:r>
              <a:rPr lang="en-US" sz="4600" dirty="0" err="1"/>
              <a:t>N</a:t>
            </a:r>
            <a:r>
              <a:rPr lang="en-US" dirty="0" err="1"/>
              <a:t>t</a:t>
            </a:r>
            <a:r>
              <a:rPr lang="en-US" sz="4600" dirty="0"/>
              <a:t>*</a:t>
            </a:r>
            <a:r>
              <a:rPr lang="en-US" sz="4600" dirty="0" err="1"/>
              <a:t>b</a:t>
            </a:r>
            <a:r>
              <a:rPr lang="en-US" dirty="0" err="1"/>
              <a:t>p</a:t>
            </a:r>
            <a:r>
              <a:rPr lang="en-US" sz="4600" dirty="0"/>
              <a:t> + </a:t>
            </a:r>
            <a:r>
              <a:rPr lang="en-US" sz="4600" dirty="0" err="1"/>
              <a:t>N</a:t>
            </a:r>
            <a:r>
              <a:rPr lang="en-US" dirty="0" err="1"/>
              <a:t>t</a:t>
            </a:r>
            <a:r>
              <a:rPr lang="en-US" sz="4600" dirty="0"/>
              <a:t>*</a:t>
            </a:r>
            <a:r>
              <a:rPr lang="en-US" sz="4600" dirty="0" err="1"/>
              <a:t>b</a:t>
            </a:r>
            <a:r>
              <a:rPr lang="en-US" dirty="0" err="1"/>
              <a:t>g</a:t>
            </a:r>
            <a:r>
              <a:rPr lang="en-US" sz="4600" dirty="0"/>
              <a:t> + N</a:t>
            </a:r>
            <a:r>
              <a:rPr lang="en-US" dirty="0"/>
              <a:t>r</a:t>
            </a:r>
            <a:r>
              <a:rPr lang="en-US" sz="4600" dirty="0"/>
              <a:t>*</a:t>
            </a:r>
            <a:r>
              <a:rPr lang="en-US" sz="4600" dirty="0" err="1"/>
              <a:t>b</a:t>
            </a:r>
            <a:r>
              <a:rPr lang="en-US" dirty="0" err="1"/>
              <a:t>g</a:t>
            </a:r>
            <a:endParaRPr lang="en-US" sz="4600" dirty="0"/>
          </a:p>
        </p:txBody>
      </p:sp>
    </p:spTree>
  </p:cSld>
  <p:clrMapOvr>
    <a:masterClrMapping/>
  </p:clrMapOvr>
  <p:transition spd="med"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0" y="457200"/>
            <a:ext cx="5562600" cy="1371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Efficiency of TDMA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idx="1"/>
          </p:nvPr>
        </p:nvSpPr>
        <p:spPr>
          <a:xfrm>
            <a:off x="1219200" y="4480560"/>
            <a:ext cx="12923520" cy="2560320"/>
          </a:xfrm>
        </p:spPr>
        <p:txBody>
          <a:bodyPr/>
          <a:lstStyle/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total number of bits per frame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f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frame duration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 - channel bit rate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5166360" y="2590800"/>
            <a:ext cx="4130040" cy="9144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pPr algn="ctr"/>
            <a:r>
              <a:rPr lang="en-US" sz="4600" dirty="0" err="1"/>
              <a:t>b</a:t>
            </a:r>
            <a:r>
              <a:rPr lang="en-US" dirty="0" err="1"/>
              <a:t>T</a:t>
            </a:r>
            <a:r>
              <a:rPr lang="en-US" sz="4600" dirty="0"/>
              <a:t> = </a:t>
            </a:r>
            <a:r>
              <a:rPr lang="en-US" sz="4600" dirty="0" err="1"/>
              <a:t>T</a:t>
            </a:r>
            <a:r>
              <a:rPr lang="en-US" dirty="0" err="1"/>
              <a:t>f</a:t>
            </a:r>
            <a:r>
              <a:rPr lang="en-US" sz="4600" dirty="0"/>
              <a:t> * R</a:t>
            </a:r>
            <a:endParaRPr lang="en-US" dirty="0"/>
          </a:p>
        </p:txBody>
      </p:sp>
    </p:spTree>
  </p:cSld>
  <p:clrMapOvr>
    <a:masterClrMapping/>
  </p:clrMapOvr>
  <p:transition spd="med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200" y="533400"/>
            <a:ext cx="5715000" cy="1371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Efficiency of TDMA</a:t>
            </a:r>
          </a:p>
        </p:txBody>
      </p:sp>
      <p:sp>
        <p:nvSpPr>
          <p:cNvPr id="52227" name="Rectangle 4"/>
          <p:cNvSpPr>
            <a:spLocks noGrp="1" noChangeArrowheads="1"/>
          </p:cNvSpPr>
          <p:nvPr>
            <p:ph idx="1"/>
          </p:nvPr>
        </p:nvSpPr>
        <p:spPr>
          <a:xfrm>
            <a:off x="1219200" y="4480560"/>
            <a:ext cx="12313920" cy="2377440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  <a:sym typeface="UniversalMath1 BT" pitchFamily="18" charset="2"/>
              </a:rPr>
              <a:t>f - frame efficiency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OH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number of overhead bits per frame</a:t>
            </a:r>
          </a:p>
          <a:p>
            <a:r>
              <a:rPr lang="en-US" dirty="0" err="1" smtClean="0">
                <a:latin typeface="Arial" pitchFamily="34" charset="0"/>
                <a:cs typeface="Arial" pitchFamily="34" charset="0"/>
              </a:rPr>
              <a:t>b</a:t>
            </a:r>
            <a:r>
              <a:rPr lang="en-US" sz="3400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- total number of bits per frame</a:t>
            </a:r>
          </a:p>
        </p:txBody>
      </p:sp>
      <p:sp>
        <p:nvSpPr>
          <p:cNvPr id="52228" name="Rectangle 3"/>
          <p:cNvSpPr>
            <a:spLocks noChangeArrowheads="1"/>
          </p:cNvSpPr>
          <p:nvPr/>
        </p:nvSpPr>
        <p:spPr bwMode="auto">
          <a:xfrm>
            <a:off x="4023360" y="2651760"/>
            <a:ext cx="5730240" cy="100584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130622" tIns="65311" rIns="130622" bIns="65311" anchor="ctr"/>
          <a:lstStyle/>
          <a:p>
            <a:pPr algn="ctr"/>
            <a:endParaRPr lang="en-US"/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4267201" y="2804160"/>
            <a:ext cx="5164176" cy="83978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lIns="130622" tIns="65311" rIns="130622" bIns="65311">
            <a:spAutoFit/>
          </a:bodyPr>
          <a:lstStyle/>
          <a:p>
            <a:r>
              <a:rPr lang="en-US" sz="4600" dirty="0">
                <a:sym typeface="UniversalMath1 BT" pitchFamily="18" charset="2"/>
              </a:rPr>
              <a:t></a:t>
            </a:r>
            <a:r>
              <a:rPr lang="en-US" dirty="0">
                <a:sym typeface="UniversalMath1 BT" pitchFamily="18" charset="2"/>
              </a:rPr>
              <a:t>f</a:t>
            </a:r>
            <a:r>
              <a:rPr lang="en-US" sz="4600" dirty="0">
                <a:sym typeface="UniversalMath1 BT" pitchFamily="18" charset="2"/>
              </a:rPr>
              <a:t> = (1-b</a:t>
            </a:r>
            <a:r>
              <a:rPr lang="en-US" dirty="0">
                <a:sym typeface="UniversalMath1 BT" pitchFamily="18" charset="2"/>
              </a:rPr>
              <a:t>OH</a:t>
            </a:r>
            <a:r>
              <a:rPr lang="en-US" sz="4600" dirty="0">
                <a:sym typeface="UniversalMath1 BT" pitchFamily="18" charset="2"/>
              </a:rPr>
              <a:t>/</a:t>
            </a:r>
            <a:r>
              <a:rPr lang="en-US" sz="4600" dirty="0" err="1">
                <a:sym typeface="UniversalMath1 BT" pitchFamily="18" charset="2"/>
              </a:rPr>
              <a:t>b</a:t>
            </a:r>
            <a:r>
              <a:rPr lang="en-US" dirty="0" err="1">
                <a:sym typeface="UniversalMath1 BT" pitchFamily="18" charset="2"/>
              </a:rPr>
              <a:t>T</a:t>
            </a:r>
            <a:r>
              <a:rPr lang="en-US" sz="4600" dirty="0">
                <a:sym typeface="UniversalMath1 BT" pitchFamily="18" charset="2"/>
              </a:rPr>
              <a:t>)*100%</a:t>
            </a:r>
            <a:endParaRPr lang="en-US" sz="2600" dirty="0">
              <a:sym typeface="UniversalMath1 BT" pitchFamily="18" charset="2"/>
            </a:endParaRPr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581400" y="7627623"/>
            <a:ext cx="9509759" cy="438150"/>
          </a:xfrm>
        </p:spPr>
        <p:txBody>
          <a:bodyPr/>
          <a:lstStyle/>
          <a:p>
            <a:r>
              <a:rPr lang="en-US" dirty="0" smtClean="0"/>
              <a:t>SKCET – ECE -  WIRELESS COMMUNICATION &amp; NETWORKS – MODULE 2</a:t>
            </a:r>
            <a:endParaRPr lang="en-US" dirty="0"/>
          </a:p>
        </p:txBody>
      </p:sp>
    </p:spTree>
  </p:cSld>
  <p:clrMapOvr>
    <a:masterClrMapping/>
  </p:clrMapOvr>
  <p:transition spd="med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200" y="228600"/>
            <a:ext cx="4831080" cy="99060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ADVANTAGES</a:t>
            </a:r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13977" y="7627623"/>
            <a:ext cx="9509759" cy="438150"/>
          </a:xfrm>
        </p:spPr>
        <p:txBody>
          <a:bodyPr/>
          <a:lstStyle/>
          <a:p>
            <a:r>
              <a:rPr lang="en-US" dirty="0" smtClean="0"/>
              <a:t>SKCET – ECE -  WIRELESS COMMUNICATION &amp; NETWORKS – MODULE 2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371600" y="1219200"/>
            <a:ext cx="12496800" cy="698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2573">
              <a:lnSpc>
                <a:spcPct val="150000"/>
              </a:lnSpc>
              <a:spcBef>
                <a:spcPts val="40"/>
              </a:spcBef>
              <a:buFont typeface="Arial" pitchFamily="34" charset="0"/>
              <a:buChar char="•"/>
            </a:pPr>
            <a:r>
              <a:rPr lang="en-US" sz="2800" spc="4" dirty="0" smtClean="0">
                <a:latin typeface="Arial"/>
                <a:cs typeface="Arial"/>
              </a:rPr>
              <a:t>  I</a:t>
            </a:r>
            <a:r>
              <a:rPr lang="en-US" sz="2800" dirty="0" smtClean="0">
                <a:latin typeface="Arial"/>
                <a:cs typeface="Arial"/>
              </a:rPr>
              <a:t>t</a:t>
            </a:r>
            <a:r>
              <a:rPr lang="en-US" sz="2800" spc="-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car</a:t>
            </a:r>
            <a:r>
              <a:rPr lang="en-US" sz="2800" spc="4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y data</a:t>
            </a:r>
            <a:r>
              <a:rPr lang="en-US" sz="2800" spc="-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rates of 64 kbps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o</a:t>
            </a:r>
            <a:r>
              <a:rPr lang="en-US" sz="2800" spc="-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120</a:t>
            </a:r>
            <a:r>
              <a:rPr lang="en-US" sz="2800" spc="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Mbps</a:t>
            </a:r>
            <a:r>
              <a:rPr lang="en-US" sz="2800" spc="-114" dirty="0" smtClean="0">
                <a:latin typeface="Arial"/>
                <a:cs typeface="Arial"/>
              </a:rPr>
              <a:t> </a:t>
            </a:r>
            <a:r>
              <a:rPr lang="en-US" sz="2400" dirty="0" smtClean="0">
                <a:latin typeface="Arial"/>
                <a:cs typeface="Arial"/>
              </a:rPr>
              <a:t>.</a:t>
            </a:r>
          </a:p>
          <a:p>
            <a:pPr marL="12700" marR="52573">
              <a:lnSpc>
                <a:spcPct val="150000"/>
              </a:lnSpc>
              <a:spcBef>
                <a:spcPts val="40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 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t prov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d</a:t>
            </a:r>
            <a:r>
              <a:rPr lang="en-US" sz="2800" spc="-4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s the us</a:t>
            </a:r>
            <a:r>
              <a:rPr lang="en-US" sz="2800" spc="-9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r with e</a:t>
            </a:r>
            <a:r>
              <a:rPr lang="en-US" sz="2800" spc="-14" dirty="0" smtClean="0">
                <a:latin typeface="Arial"/>
                <a:cs typeface="Arial"/>
              </a:rPr>
              <a:t>x</a:t>
            </a:r>
            <a:r>
              <a:rPr lang="en-US" sz="2800" dirty="0" smtClean="0">
                <a:latin typeface="Arial"/>
                <a:cs typeface="Arial"/>
              </a:rPr>
              <a:t>te</a:t>
            </a:r>
            <a:r>
              <a:rPr lang="en-US" sz="2800" spc="4" dirty="0" smtClean="0">
                <a:latin typeface="Arial"/>
                <a:cs typeface="Arial"/>
              </a:rPr>
              <a:t>n</a:t>
            </a:r>
            <a:r>
              <a:rPr lang="en-US" sz="2800" dirty="0" smtClean="0">
                <a:latin typeface="Arial"/>
                <a:cs typeface="Arial"/>
              </a:rPr>
              <a:t>d</a:t>
            </a:r>
            <a:r>
              <a:rPr lang="en-US" sz="2800" spc="-4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d </a:t>
            </a:r>
            <a:r>
              <a:rPr lang="en-US" sz="2800" spc="4" dirty="0" smtClean="0">
                <a:latin typeface="Arial"/>
                <a:cs typeface="Arial"/>
              </a:rPr>
              <a:t>b</a:t>
            </a:r>
            <a:r>
              <a:rPr lang="en-US" sz="2800" dirty="0" smtClean="0">
                <a:latin typeface="Arial"/>
                <a:cs typeface="Arial"/>
              </a:rPr>
              <a:t>attery l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fe </a:t>
            </a:r>
            <a:r>
              <a:rPr lang="en-US" sz="2800" spc="-4" dirty="0" smtClean="0">
                <a:latin typeface="Arial"/>
                <a:cs typeface="Arial"/>
              </a:rPr>
              <a:t>an</a:t>
            </a:r>
            <a:r>
              <a:rPr lang="en-US" sz="2800" dirty="0" smtClean="0">
                <a:latin typeface="Arial"/>
                <a:cs typeface="Arial"/>
              </a:rPr>
              <a:t>d talk time.</a:t>
            </a:r>
          </a:p>
          <a:p>
            <a:pPr marL="12700" marR="39873">
              <a:lnSpc>
                <a:spcPct val="150000"/>
              </a:lnSpc>
              <a:spcBef>
                <a:spcPts val="127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 </a:t>
            </a:r>
            <a:r>
              <a:rPr lang="en-US" sz="2800" spc="-4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t </a:t>
            </a:r>
            <a:r>
              <a:rPr lang="en-US" sz="2800" spc="-4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s the </a:t>
            </a:r>
            <a:r>
              <a:rPr lang="en-US" sz="2800" spc="-4" dirty="0" smtClean="0">
                <a:latin typeface="Arial"/>
                <a:cs typeface="Arial"/>
              </a:rPr>
              <a:t>m</a:t>
            </a:r>
            <a:r>
              <a:rPr lang="en-US" sz="2800" dirty="0" smtClean="0">
                <a:latin typeface="Arial"/>
                <a:cs typeface="Arial"/>
              </a:rPr>
              <a:t>ost co</a:t>
            </a:r>
            <a:r>
              <a:rPr lang="en-US" sz="2800" spc="-14" dirty="0" smtClean="0">
                <a:latin typeface="Arial"/>
                <a:cs typeface="Arial"/>
              </a:rPr>
              <a:t>s</a:t>
            </a:r>
            <a:r>
              <a:rPr lang="en-US" sz="2800" dirty="0" smtClean="0">
                <a:latin typeface="Arial"/>
                <a:cs typeface="Arial"/>
              </a:rPr>
              <a:t>t e</a:t>
            </a:r>
            <a:r>
              <a:rPr lang="en-US" sz="2800" spc="-59" dirty="0" smtClean="0">
                <a:latin typeface="Arial"/>
                <a:cs typeface="Arial"/>
              </a:rPr>
              <a:t>f</a:t>
            </a:r>
            <a:r>
              <a:rPr lang="en-US" sz="2800" dirty="0" smtClean="0">
                <a:latin typeface="Arial"/>
                <a:cs typeface="Arial"/>
              </a:rPr>
              <a:t>fec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ive t</a:t>
            </a:r>
            <a:r>
              <a:rPr lang="en-US" sz="2800" spc="4" dirty="0" smtClean="0">
                <a:latin typeface="Arial"/>
                <a:cs typeface="Arial"/>
              </a:rPr>
              <a:t>e</a:t>
            </a:r>
            <a:r>
              <a:rPr lang="en-US" sz="2800" dirty="0" smtClean="0">
                <a:latin typeface="Arial"/>
                <a:cs typeface="Arial"/>
              </a:rPr>
              <a:t>chn</a:t>
            </a:r>
            <a:r>
              <a:rPr lang="en-US" sz="2800" spc="9" dirty="0" smtClean="0">
                <a:latin typeface="Arial"/>
                <a:cs typeface="Arial"/>
              </a:rPr>
              <a:t>o</a:t>
            </a:r>
            <a:r>
              <a:rPr lang="en-US" sz="2800" spc="4" dirty="0" smtClean="0">
                <a:latin typeface="Arial"/>
                <a:cs typeface="Arial"/>
              </a:rPr>
              <a:t>l</a:t>
            </a:r>
            <a:r>
              <a:rPr lang="en-US" sz="2800" dirty="0" smtClean="0">
                <a:latin typeface="Arial"/>
                <a:cs typeface="Arial"/>
              </a:rPr>
              <a:t>ogy 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o conve</a:t>
            </a:r>
            <a:r>
              <a:rPr lang="en-US" sz="2800" spc="9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t an an</a:t>
            </a:r>
            <a:r>
              <a:rPr lang="en-US" sz="2800" spc="-4" dirty="0" smtClean="0">
                <a:latin typeface="Arial"/>
                <a:cs typeface="Arial"/>
              </a:rPr>
              <a:t>a</a:t>
            </a:r>
            <a:r>
              <a:rPr lang="en-US" sz="2800" dirty="0" smtClean="0">
                <a:latin typeface="Arial"/>
                <a:cs typeface="Arial"/>
              </a:rPr>
              <a:t>l</a:t>
            </a:r>
            <a:r>
              <a:rPr lang="en-US" sz="2800" spc="-4" dirty="0" smtClean="0">
                <a:latin typeface="Arial"/>
                <a:cs typeface="Arial"/>
              </a:rPr>
              <a:t>o</a:t>
            </a:r>
            <a:r>
              <a:rPr lang="en-US" sz="2800" dirty="0" smtClean="0">
                <a:latin typeface="Arial"/>
                <a:cs typeface="Arial"/>
              </a:rPr>
              <a:t>gue</a:t>
            </a:r>
            <a:r>
              <a:rPr lang="en-US" sz="2800" spc="3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system 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o</a:t>
            </a:r>
            <a:r>
              <a:rPr lang="en-US" sz="2800" spc="-9" dirty="0" smtClean="0">
                <a:latin typeface="Arial"/>
                <a:cs typeface="Arial"/>
              </a:rPr>
              <a:t> </a:t>
            </a:r>
          </a:p>
          <a:p>
            <a:pPr marL="12700" marR="39873">
              <a:lnSpc>
                <a:spcPct val="150000"/>
              </a:lnSpc>
              <a:spcBef>
                <a:spcPts val="127"/>
              </a:spcBef>
            </a:pPr>
            <a:r>
              <a:rPr lang="en-US" sz="2800" spc="-9" dirty="0" smtClean="0">
                <a:latin typeface="Arial"/>
                <a:cs typeface="Arial"/>
              </a:rPr>
              <a:t>   </a:t>
            </a:r>
            <a:r>
              <a:rPr lang="en-US" sz="2800" dirty="0" smtClean="0">
                <a:latin typeface="Arial"/>
                <a:cs typeface="Arial"/>
              </a:rPr>
              <a:t>d</a:t>
            </a:r>
            <a:r>
              <a:rPr lang="en-US" sz="2800" spc="-4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g</a:t>
            </a:r>
            <a:r>
              <a:rPr lang="en-US" sz="2800" spc="-4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tal.</a:t>
            </a:r>
          </a:p>
          <a:p>
            <a:pPr marL="12700">
              <a:lnSpc>
                <a:spcPct val="150000"/>
              </a:lnSpc>
              <a:spcBef>
                <a:spcPts val="426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T</a:t>
            </a:r>
            <a:r>
              <a:rPr lang="en-US" sz="2800" spc="-4" dirty="0" smtClean="0">
                <a:latin typeface="Arial"/>
                <a:cs typeface="Arial"/>
              </a:rPr>
              <a:t>D</a:t>
            </a:r>
            <a:r>
              <a:rPr lang="en-US" sz="2800" dirty="0" smtClean="0">
                <a:latin typeface="Arial"/>
                <a:cs typeface="Arial"/>
              </a:rPr>
              <a:t>MA</a:t>
            </a:r>
            <a:r>
              <a:rPr lang="en-US" sz="2800" spc="9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techn</a:t>
            </a:r>
            <a:r>
              <a:rPr lang="en-US" sz="2800" spc="4" dirty="0" smtClean="0">
                <a:latin typeface="Arial"/>
                <a:cs typeface="Arial"/>
              </a:rPr>
              <a:t>o</a:t>
            </a:r>
            <a:r>
              <a:rPr lang="en-US" sz="2800" dirty="0" smtClean="0">
                <a:latin typeface="Arial"/>
                <a:cs typeface="Arial"/>
              </a:rPr>
              <a:t>logy</a:t>
            </a:r>
            <a:r>
              <a:rPr lang="en-US" sz="2800" spc="23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separates</a:t>
            </a:r>
            <a:r>
              <a:rPr lang="en-US" sz="2800" spc="2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use</a:t>
            </a:r>
            <a:r>
              <a:rPr lang="en-US" sz="2800" spc="4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s</a:t>
            </a:r>
            <a:r>
              <a:rPr lang="en-US" sz="2800" spc="2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according</a:t>
            </a:r>
            <a:r>
              <a:rPr lang="en-US" sz="2800" spc="234" dirty="0" smtClean="0">
                <a:latin typeface="Arial"/>
                <a:cs typeface="Arial"/>
              </a:rPr>
              <a:t> 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o</a:t>
            </a:r>
            <a:r>
              <a:rPr lang="en-US" sz="2800" spc="20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time,</a:t>
            </a:r>
            <a:r>
              <a:rPr lang="en-US" sz="2800" spc="229" dirty="0" smtClean="0">
                <a:latin typeface="Arial"/>
                <a:cs typeface="Arial"/>
              </a:rPr>
              <a:t> </a:t>
            </a:r>
            <a:r>
              <a:rPr lang="en-US" sz="2800" spc="-4" dirty="0" smtClean="0">
                <a:latin typeface="Arial"/>
                <a:cs typeface="Arial"/>
              </a:rPr>
              <a:t>it </a:t>
            </a:r>
            <a:r>
              <a:rPr lang="en-US" sz="2800" dirty="0" smtClean="0">
                <a:latin typeface="Arial"/>
                <a:cs typeface="Arial"/>
              </a:rPr>
              <a:t>ens</a:t>
            </a:r>
            <a:r>
              <a:rPr lang="en-US" sz="2800" spc="-4" dirty="0" smtClean="0">
                <a:latin typeface="Arial"/>
                <a:cs typeface="Arial"/>
              </a:rPr>
              <a:t>u</a:t>
            </a:r>
            <a:r>
              <a:rPr lang="en-US" sz="2800" dirty="0" smtClean="0">
                <a:latin typeface="Arial"/>
                <a:cs typeface="Arial"/>
              </a:rPr>
              <a:t>res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that</a:t>
            </a:r>
            <a:r>
              <a:rPr lang="en-US" sz="2800" spc="-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there</a:t>
            </a:r>
          </a:p>
          <a:p>
            <a:pPr marL="12700">
              <a:lnSpc>
                <a:spcPct val="150000"/>
              </a:lnSpc>
              <a:spcBef>
                <a:spcPts val="426"/>
              </a:spcBef>
            </a:pPr>
            <a:r>
              <a:rPr lang="en-US" sz="2800" spc="9" dirty="0" smtClean="0">
                <a:latin typeface="Arial"/>
                <a:cs typeface="Arial"/>
              </a:rPr>
              <a:t>   </a:t>
            </a:r>
            <a:r>
              <a:rPr lang="en-US" sz="2800" spc="-4" dirty="0" smtClean="0">
                <a:latin typeface="Arial"/>
                <a:cs typeface="Arial"/>
              </a:rPr>
              <a:t>wil</a:t>
            </a:r>
            <a:r>
              <a:rPr lang="en-US" sz="2800" dirty="0" smtClean="0">
                <a:latin typeface="Arial"/>
                <a:cs typeface="Arial"/>
              </a:rPr>
              <a:t>l</a:t>
            </a:r>
            <a:r>
              <a:rPr lang="en-US" sz="2800" spc="2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be no i</a:t>
            </a:r>
            <a:r>
              <a:rPr lang="en-US" sz="2800" spc="-4" dirty="0" smtClean="0">
                <a:latin typeface="Arial"/>
                <a:cs typeface="Arial"/>
              </a:rPr>
              <a:t>n</a:t>
            </a:r>
            <a:r>
              <a:rPr lang="en-US" sz="2800" dirty="0" smtClean="0">
                <a:latin typeface="Arial"/>
                <a:cs typeface="Arial"/>
              </a:rPr>
              <a:t>te</a:t>
            </a:r>
            <a:r>
              <a:rPr lang="en-US" sz="2800" spc="4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fe</a:t>
            </a:r>
            <a:r>
              <a:rPr lang="en-US" sz="2800" spc="4" dirty="0" smtClean="0">
                <a:latin typeface="Arial"/>
                <a:cs typeface="Arial"/>
              </a:rPr>
              <a:t>r</a:t>
            </a:r>
            <a:r>
              <a:rPr lang="en-US" sz="2800" dirty="0" smtClean="0">
                <a:latin typeface="Arial"/>
                <a:cs typeface="Arial"/>
              </a:rPr>
              <a:t>ence.</a:t>
            </a:r>
          </a:p>
          <a:p>
            <a:pPr marL="12700" marR="200913">
              <a:lnSpc>
                <a:spcPct val="150000"/>
              </a:lnSpc>
              <a:spcBef>
                <a:spcPts val="996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/>
                <a:cs typeface="Arial"/>
              </a:rPr>
              <a:t> T</a:t>
            </a:r>
            <a:r>
              <a:rPr lang="en-US" sz="2800" spc="-4" dirty="0" smtClean="0">
                <a:latin typeface="Arial"/>
                <a:cs typeface="Arial"/>
              </a:rPr>
              <a:t>D</a:t>
            </a:r>
            <a:r>
              <a:rPr lang="en-US" sz="2800" dirty="0" smtClean="0">
                <a:latin typeface="Arial"/>
                <a:cs typeface="Arial"/>
              </a:rPr>
              <a:t>MA</a:t>
            </a:r>
            <a:r>
              <a:rPr lang="en-US" sz="2800" spc="-12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all</a:t>
            </a:r>
            <a:r>
              <a:rPr lang="en-US" sz="2800" spc="-9" dirty="0" smtClean="0">
                <a:latin typeface="Arial"/>
                <a:cs typeface="Arial"/>
              </a:rPr>
              <a:t>o</a:t>
            </a:r>
            <a:r>
              <a:rPr lang="en-US" sz="2800" dirty="0" smtClean="0">
                <a:latin typeface="Arial"/>
                <a:cs typeface="Arial"/>
              </a:rPr>
              <a:t>ws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the operator </a:t>
            </a:r>
            <a:r>
              <a:rPr lang="en-US" sz="2800" spc="4" dirty="0" smtClean="0">
                <a:latin typeface="Arial"/>
                <a:cs typeface="Arial"/>
              </a:rPr>
              <a:t>t</a:t>
            </a:r>
            <a:r>
              <a:rPr lang="en-US" sz="2800" dirty="0" smtClean="0">
                <a:latin typeface="Arial"/>
                <a:cs typeface="Arial"/>
              </a:rPr>
              <a:t>o</a:t>
            </a:r>
            <a:r>
              <a:rPr lang="en-US" sz="2800" spc="-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do services l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ke</a:t>
            </a:r>
            <a:r>
              <a:rPr lang="en-US" sz="2800" spc="25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fa</a:t>
            </a:r>
            <a:r>
              <a:rPr lang="en-US" sz="2800" spc="-9" dirty="0" smtClean="0">
                <a:latin typeface="Arial"/>
                <a:cs typeface="Arial"/>
              </a:rPr>
              <a:t>x</a:t>
            </a:r>
            <a:r>
              <a:rPr lang="en-US" sz="2800" dirty="0" smtClean="0">
                <a:latin typeface="Arial"/>
                <a:cs typeface="Arial"/>
              </a:rPr>
              <a:t>, vo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ce b</a:t>
            </a:r>
            <a:r>
              <a:rPr lang="en-US" sz="2800" spc="-4" dirty="0" smtClean="0">
                <a:latin typeface="Arial"/>
                <a:cs typeface="Arial"/>
              </a:rPr>
              <a:t>a</a:t>
            </a:r>
            <a:r>
              <a:rPr lang="en-US" sz="2800" dirty="0" smtClean="0">
                <a:latin typeface="Arial"/>
                <a:cs typeface="Arial"/>
              </a:rPr>
              <a:t>nd</a:t>
            </a:r>
            <a:r>
              <a:rPr lang="en-US" sz="2800" spc="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d</a:t>
            </a:r>
            <a:r>
              <a:rPr lang="en-US" sz="2800" spc="-4" dirty="0" smtClean="0">
                <a:latin typeface="Arial"/>
                <a:cs typeface="Arial"/>
              </a:rPr>
              <a:t>a</a:t>
            </a:r>
            <a:r>
              <a:rPr lang="en-US" sz="2800" dirty="0" smtClean="0">
                <a:latin typeface="Arial"/>
                <a:cs typeface="Arial"/>
              </a:rPr>
              <a:t>ta, a</a:t>
            </a:r>
            <a:r>
              <a:rPr lang="en-US" sz="2800" spc="-9" dirty="0" smtClean="0">
                <a:latin typeface="Arial"/>
                <a:cs typeface="Arial"/>
              </a:rPr>
              <a:t>n</a:t>
            </a:r>
            <a:r>
              <a:rPr lang="en-US" sz="2800" dirty="0" smtClean="0">
                <a:latin typeface="Arial"/>
                <a:cs typeface="Arial"/>
              </a:rPr>
              <a:t>d</a:t>
            </a:r>
          </a:p>
          <a:p>
            <a:pPr marL="12700" marR="200913">
              <a:lnSpc>
                <a:spcPct val="150000"/>
              </a:lnSpc>
              <a:spcBef>
                <a:spcPts val="996"/>
              </a:spcBef>
            </a:pPr>
            <a:r>
              <a:rPr lang="en-US" sz="2800" dirty="0" smtClean="0">
                <a:latin typeface="Arial"/>
                <a:cs typeface="Arial"/>
              </a:rPr>
              <a:t>  SMS</a:t>
            </a:r>
            <a:r>
              <a:rPr lang="en-US" sz="2800" spc="-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as </a:t>
            </a:r>
            <a:r>
              <a:rPr lang="en-US" sz="2800" spc="-4" dirty="0" smtClean="0">
                <a:latin typeface="Arial"/>
                <a:cs typeface="Arial"/>
              </a:rPr>
              <a:t>w</a:t>
            </a:r>
            <a:r>
              <a:rPr lang="en-US" sz="2800" dirty="0" smtClean="0">
                <a:latin typeface="Arial"/>
                <a:cs typeface="Arial"/>
              </a:rPr>
              <a:t>e</a:t>
            </a:r>
            <a:r>
              <a:rPr lang="en-US" sz="2800" spc="-9" dirty="0" smtClean="0">
                <a:latin typeface="Arial"/>
                <a:cs typeface="Arial"/>
              </a:rPr>
              <a:t>l</a:t>
            </a:r>
            <a:r>
              <a:rPr lang="en-US" sz="2800" dirty="0" smtClean="0">
                <a:latin typeface="Arial"/>
                <a:cs typeface="Arial"/>
              </a:rPr>
              <a:t>l</a:t>
            </a:r>
            <a:r>
              <a:rPr lang="en-US" sz="2800" spc="1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as b</a:t>
            </a:r>
            <a:r>
              <a:rPr lang="en-US" sz="2800" spc="-4" dirty="0" smtClean="0">
                <a:latin typeface="Arial"/>
                <a:cs typeface="Arial"/>
              </a:rPr>
              <a:t>a</a:t>
            </a:r>
            <a:r>
              <a:rPr lang="en-US" sz="2800" dirty="0" smtClean="0">
                <a:latin typeface="Arial"/>
                <a:cs typeface="Arial"/>
              </a:rPr>
              <a:t>n</a:t>
            </a:r>
            <a:r>
              <a:rPr lang="en-US" sz="2800" spc="-4" dirty="0" smtClean="0">
                <a:latin typeface="Arial"/>
                <a:cs typeface="Arial"/>
              </a:rPr>
              <a:t>d</a:t>
            </a:r>
            <a:r>
              <a:rPr lang="en-US" sz="2800" dirty="0" smtClean="0">
                <a:latin typeface="Arial"/>
                <a:cs typeface="Arial"/>
              </a:rPr>
              <a:t>w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dt</a:t>
            </a:r>
            <a:r>
              <a:rPr lang="en-US" sz="2800" spc="4" dirty="0" smtClean="0">
                <a:latin typeface="Arial"/>
                <a:cs typeface="Arial"/>
              </a:rPr>
              <a:t>h-</a:t>
            </a:r>
            <a:r>
              <a:rPr lang="en-US" sz="2800" dirty="0" smtClean="0">
                <a:latin typeface="Arial"/>
                <a:cs typeface="Arial"/>
              </a:rPr>
              <a:t>i</a:t>
            </a:r>
            <a:r>
              <a:rPr lang="en-US" sz="2800" spc="-9" dirty="0" smtClean="0">
                <a:latin typeface="Arial"/>
                <a:cs typeface="Arial"/>
              </a:rPr>
              <a:t>n</a:t>
            </a:r>
            <a:r>
              <a:rPr lang="en-US" sz="2800" dirty="0" smtClean="0">
                <a:latin typeface="Arial"/>
                <a:cs typeface="Arial"/>
              </a:rPr>
              <a:t>tens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ve ap</a:t>
            </a:r>
            <a:r>
              <a:rPr lang="en-US" sz="2800" spc="-4" dirty="0" smtClean="0">
                <a:latin typeface="Arial"/>
                <a:cs typeface="Arial"/>
              </a:rPr>
              <a:t>p</a:t>
            </a:r>
            <a:r>
              <a:rPr lang="en-US" sz="2800" dirty="0" smtClean="0">
                <a:latin typeface="Arial"/>
                <a:cs typeface="Arial"/>
              </a:rPr>
              <a:t>l</a:t>
            </a:r>
            <a:r>
              <a:rPr lang="en-US" sz="2800" spc="-9" dirty="0" smtClean="0">
                <a:latin typeface="Arial"/>
                <a:cs typeface="Arial"/>
              </a:rPr>
              <a:t>i</a:t>
            </a:r>
            <a:r>
              <a:rPr lang="en-US" sz="2800" dirty="0" smtClean="0">
                <a:latin typeface="Arial"/>
                <a:cs typeface="Arial"/>
              </a:rPr>
              <a:t>cation</a:t>
            </a:r>
            <a:r>
              <a:rPr lang="en-US" sz="2800" spc="4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such as</a:t>
            </a:r>
            <a:r>
              <a:rPr lang="en-US" sz="2800" spc="-9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multimedia</a:t>
            </a:r>
            <a:r>
              <a:rPr lang="en-US" sz="2800" spc="14" dirty="0" smtClean="0">
                <a:latin typeface="Arial"/>
                <a:cs typeface="Arial"/>
              </a:rPr>
              <a:t> </a:t>
            </a:r>
            <a:r>
              <a:rPr lang="en-US" sz="2800" dirty="0" smtClean="0">
                <a:latin typeface="Arial"/>
                <a:cs typeface="Arial"/>
              </a:rPr>
              <a:t>and</a:t>
            </a:r>
            <a:r>
              <a:rPr lang="en-US" sz="2800" spc="4" dirty="0" smtClean="0">
                <a:latin typeface="Arial"/>
                <a:cs typeface="Arial"/>
              </a:rPr>
              <a:t> </a:t>
            </a:r>
          </a:p>
          <a:p>
            <a:pPr marL="12700" marR="200913">
              <a:lnSpc>
                <a:spcPct val="150000"/>
              </a:lnSpc>
              <a:spcBef>
                <a:spcPts val="996"/>
              </a:spcBef>
            </a:pPr>
            <a:r>
              <a:rPr lang="en-US" sz="2800" spc="4" dirty="0" smtClean="0">
                <a:latin typeface="Arial"/>
                <a:cs typeface="Arial"/>
              </a:rPr>
              <a:t>  </a:t>
            </a:r>
            <a:r>
              <a:rPr lang="en-US" sz="2800" dirty="0" smtClean="0">
                <a:latin typeface="Arial"/>
                <a:cs typeface="Arial"/>
              </a:rPr>
              <a:t>vi</a:t>
            </a:r>
            <a:r>
              <a:rPr lang="en-US" sz="2800" spc="-4" dirty="0" smtClean="0">
                <a:latin typeface="Arial"/>
                <a:cs typeface="Arial"/>
              </a:rPr>
              <a:t>d</a:t>
            </a:r>
            <a:r>
              <a:rPr lang="en-US" sz="2800" dirty="0" smtClean="0">
                <a:latin typeface="Arial"/>
                <a:cs typeface="Arial"/>
              </a:rPr>
              <a:t>eoc</a:t>
            </a:r>
            <a:r>
              <a:rPr lang="en-US" sz="2800" spc="-4" dirty="0" smtClean="0">
                <a:latin typeface="Arial"/>
                <a:cs typeface="Arial"/>
              </a:rPr>
              <a:t>o</a:t>
            </a:r>
            <a:r>
              <a:rPr lang="en-US" sz="2800" dirty="0" smtClean="0">
                <a:latin typeface="Arial"/>
                <a:cs typeface="Arial"/>
              </a:rPr>
              <a:t>nferencin</a:t>
            </a:r>
            <a:r>
              <a:rPr lang="en-US" sz="2800" spc="-9" dirty="0" smtClean="0">
                <a:latin typeface="Arial"/>
                <a:cs typeface="Arial"/>
              </a:rPr>
              <a:t>g</a:t>
            </a:r>
            <a:r>
              <a:rPr lang="en-US" sz="2800" dirty="0" smtClean="0">
                <a:latin typeface="Arial"/>
                <a:cs typeface="Arial"/>
              </a:rPr>
              <a:t>.</a:t>
            </a:r>
          </a:p>
          <a:p>
            <a:pPr marL="12700" marR="52573">
              <a:lnSpc>
                <a:spcPct val="150000"/>
              </a:lnSpc>
              <a:spcBef>
                <a:spcPts val="40"/>
              </a:spcBef>
              <a:buFont typeface="Arial" pitchFamily="34" charset="0"/>
              <a:buChar char="•"/>
            </a:pPr>
            <a:endParaRPr lang="en-US" sz="2800" dirty="0" smtClean="0">
              <a:latin typeface="Arial"/>
              <a:cs typeface="Arial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200" y="0"/>
            <a:ext cx="5867400" cy="1066800"/>
          </a:xfrm>
        </p:spPr>
        <p:txBody>
          <a:bodyPr>
            <a:normAutofit/>
          </a:bodyPr>
          <a:lstStyle/>
          <a:p>
            <a:pPr algn="l"/>
            <a:r>
              <a:rPr lang="en-US" sz="7200" b="1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DISADVANTAGES</a:t>
            </a:r>
          </a:p>
        </p:txBody>
      </p:sp>
      <p:sp>
        <p:nvSpPr>
          <p:cNvPr id="4" name="object 8"/>
          <p:cNvSpPr txBox="1"/>
          <p:nvPr/>
        </p:nvSpPr>
        <p:spPr>
          <a:xfrm>
            <a:off x="1981200" y="914400"/>
            <a:ext cx="11430000" cy="28561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3263" algn="just">
              <a:lnSpc>
                <a:spcPts val="2960"/>
              </a:lnSpc>
              <a:spcBef>
                <a:spcPts val="148"/>
              </a:spcBef>
              <a:buFont typeface="Arial" pitchFamily="34" charset="0"/>
              <a:buChar char="•"/>
            </a:pPr>
            <a:r>
              <a:rPr lang="en-US" sz="2600" spc="0" dirty="0" smtClean="0">
                <a:latin typeface="Arial"/>
                <a:cs typeface="Arial"/>
              </a:rPr>
              <a:t>  Each user has a predefined time slot. When moving from one cell to </a:t>
            </a:r>
          </a:p>
          <a:p>
            <a:pPr marL="12700" marR="53263" algn="just">
              <a:lnSpc>
                <a:spcPts val="2960"/>
              </a:lnSpc>
              <a:spcBef>
                <a:spcPts val="148"/>
              </a:spcBef>
            </a:pPr>
            <a:r>
              <a:rPr lang="en-US" sz="2600" dirty="0" smtClean="0">
                <a:latin typeface="Arial"/>
                <a:cs typeface="Arial"/>
              </a:rPr>
              <a:t>   </a:t>
            </a:r>
            <a:r>
              <a:rPr lang="en-US" sz="2600" spc="0" dirty="0" smtClean="0">
                <a:latin typeface="Arial"/>
                <a:cs typeface="Arial"/>
              </a:rPr>
              <a:t>other, if all the time slots in this cell are full the user might be </a:t>
            </a:r>
          </a:p>
          <a:p>
            <a:pPr marL="12700" marR="53263" algn="just">
              <a:lnSpc>
                <a:spcPts val="2960"/>
              </a:lnSpc>
              <a:spcBef>
                <a:spcPts val="148"/>
              </a:spcBef>
            </a:pPr>
            <a:r>
              <a:rPr lang="en-US" sz="2600" dirty="0" smtClean="0">
                <a:latin typeface="Arial"/>
                <a:cs typeface="Arial"/>
              </a:rPr>
              <a:t>   </a:t>
            </a:r>
            <a:r>
              <a:rPr lang="en-US" sz="2600" spc="0" dirty="0" smtClean="0">
                <a:latin typeface="Arial"/>
                <a:cs typeface="Arial"/>
              </a:rPr>
              <a:t>disconnected. </a:t>
            </a:r>
          </a:p>
          <a:p>
            <a:pPr marL="12700" marR="53263" algn="just">
              <a:lnSpc>
                <a:spcPts val="2960"/>
              </a:lnSpc>
              <a:spcBef>
                <a:spcPts val="148"/>
              </a:spcBef>
              <a:buFont typeface="Arial" pitchFamily="34" charset="0"/>
              <a:buChar char="•"/>
            </a:pPr>
            <a:r>
              <a:rPr lang="en-US" sz="2600" dirty="0" smtClean="0">
                <a:latin typeface="Arial"/>
                <a:cs typeface="Arial"/>
              </a:rPr>
              <a:t>  It is subjected to multipath distortion. A signal coming from a tower to </a:t>
            </a:r>
          </a:p>
          <a:p>
            <a:pPr marL="12700" marR="53263" algn="just">
              <a:lnSpc>
                <a:spcPts val="2960"/>
              </a:lnSpc>
              <a:spcBef>
                <a:spcPts val="148"/>
              </a:spcBef>
            </a:pPr>
            <a:r>
              <a:rPr lang="en-US" sz="2600" dirty="0" smtClean="0">
                <a:latin typeface="Arial"/>
                <a:cs typeface="Arial"/>
              </a:rPr>
              <a:t>   a handset might come from any one of several directions. It might </a:t>
            </a:r>
          </a:p>
          <a:p>
            <a:pPr marL="12700" marR="53263" algn="just">
              <a:lnSpc>
                <a:spcPts val="2960"/>
              </a:lnSpc>
              <a:spcBef>
                <a:spcPts val="148"/>
              </a:spcBef>
            </a:pPr>
            <a:r>
              <a:rPr lang="en-US" sz="2600" dirty="0" smtClean="0">
                <a:latin typeface="Arial"/>
                <a:cs typeface="Arial"/>
              </a:rPr>
              <a:t>   have bounced of several different buildings before arriving.</a:t>
            </a:r>
            <a:endParaRPr lang="en-US" sz="2600" spc="0" dirty="0" smtClean="0">
              <a:latin typeface="Arial"/>
              <a:cs typeface="Arial"/>
            </a:endParaRPr>
          </a:p>
          <a:p>
            <a:pPr marL="12700" marR="53263" algn="just">
              <a:lnSpc>
                <a:spcPts val="2960"/>
              </a:lnSpc>
              <a:spcBef>
                <a:spcPts val="148"/>
              </a:spcBef>
            </a:pPr>
            <a:endParaRPr lang="en-US" sz="2600" spc="0" dirty="0" smtClean="0">
              <a:latin typeface="Arial"/>
              <a:cs typeface="Arial"/>
            </a:endParaRPr>
          </a:p>
          <a:p>
            <a:pPr marL="12700" marR="53263" algn="just">
              <a:lnSpc>
                <a:spcPts val="2960"/>
              </a:lnSpc>
              <a:spcBef>
                <a:spcPts val="14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7"/>
          <p:cNvSpPr/>
          <p:nvPr/>
        </p:nvSpPr>
        <p:spPr>
          <a:xfrm>
            <a:off x="4724400" y="3733800"/>
            <a:ext cx="6096000" cy="373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/>
          <p:nvPr/>
        </p:nvSpPr>
        <p:spPr>
          <a:xfrm>
            <a:off x="878839" y="601726"/>
            <a:ext cx="12379961" cy="33487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920113" marR="48350">
              <a:spcBef>
                <a:spcPts val="229"/>
              </a:spcBef>
            </a:pPr>
            <a:r>
              <a:rPr lang="en-US" sz="7200" b="1" spc="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         </a:t>
            </a:r>
            <a:r>
              <a:rPr sz="7200" b="1" spc="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sz="7200" b="1" spc="4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sz="7200" b="1" spc="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MA </a:t>
            </a:r>
            <a:r>
              <a:rPr sz="7200" b="1" spc="-14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v</a:t>
            </a:r>
            <a:r>
              <a:rPr sz="7200" b="1" spc="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 </a:t>
            </a:r>
            <a:r>
              <a:rPr sz="7200" b="1" spc="4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7200" b="1" spc="0" baseline="3103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DMA</a:t>
            </a:r>
            <a:endParaRPr sz="7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12700">
              <a:spcBef>
                <a:spcPts val="3342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 pitchFamily="34" charset="0"/>
                <a:cs typeface="Arial" pitchFamily="34" charset="0"/>
              </a:rPr>
              <a:t> 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F</a:t>
            </a:r>
            <a:r>
              <a:rPr sz="2800" spc="-44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equency</a:t>
            </a:r>
            <a:r>
              <a:rPr sz="2800" spc="-108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di</a:t>
            </a:r>
            <a:r>
              <a:rPr sz="2800" spc="9" dirty="0" smtClean="0">
                <a:latin typeface="Arial" pitchFamily="34" charset="0"/>
                <a:cs typeface="Arial" pitchFamily="34" charset="0"/>
              </a:rPr>
              <a:t>v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is</a:t>
            </a:r>
            <a:r>
              <a:rPr sz="2800" spc="9" dirty="0" smtClean="0">
                <a:latin typeface="Arial" pitchFamily="34" charset="0"/>
                <a:cs typeface="Arial" pitchFamily="34" charset="0"/>
              </a:rPr>
              <a:t>i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on</a:t>
            </a:r>
            <a:r>
              <a:rPr sz="2800" spc="-4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sz="2800" spc="-9" dirty="0" smtClean="0">
                <a:latin typeface="Arial" pitchFamily="34" charset="0"/>
                <a:cs typeface="Arial" pitchFamily="34" charset="0"/>
              </a:rPr>
              <a:t>v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ery</a:t>
            </a:r>
            <a:r>
              <a:rPr sz="2800" spc="-37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si</a:t>
            </a:r>
            <a:r>
              <a:rPr sz="2800" spc="9" dirty="0" smtClean="0">
                <a:latin typeface="Arial" pitchFamily="34" charset="0"/>
                <a:cs typeface="Arial" pitchFamily="34" charset="0"/>
              </a:rPr>
              <a:t>m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ple: all t</a:t>
            </a:r>
            <a:r>
              <a:rPr sz="2800" spc="-64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an</a:t>
            </a:r>
            <a:r>
              <a:rPr sz="2800" spc="4" dirty="0" smtClean="0">
                <a:latin typeface="Arial" pitchFamily="34" charset="0"/>
                <a:cs typeface="Arial" pitchFamily="34" charset="0"/>
              </a:rPr>
              <a:t>s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mi</a:t>
            </a:r>
            <a:r>
              <a:rPr sz="2800" spc="-29" dirty="0" smtClean="0">
                <a:latin typeface="Arial" pitchFamily="34" charset="0"/>
                <a:cs typeface="Arial" pitchFamily="34" charset="0"/>
              </a:rPr>
              <a:t>tt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</a:t>
            </a:r>
            <a:r>
              <a:rPr sz="2800" spc="-50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s sh</a:t>
            </a:r>
            <a:r>
              <a:rPr sz="2800" spc="4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ring</a:t>
            </a:r>
            <a:r>
              <a:rPr sz="2800" spc="-14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the</a:t>
            </a:r>
            <a:r>
              <a:rPr sz="2800" spc="-51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medium h</a:t>
            </a:r>
            <a:r>
              <a:rPr sz="2800" spc="-44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-19" dirty="0" smtClean="0">
                <a:latin typeface="Arial" pitchFamily="34" charset="0"/>
                <a:cs typeface="Arial" pitchFamily="34" charset="0"/>
              </a:rPr>
              <a:t>v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</a:t>
            </a:r>
            <a:r>
              <a:rPr sz="2800" spc="-35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output</a:t>
            </a:r>
            <a:r>
              <a:rPr sz="2800" spc="-25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p</a:t>
            </a:r>
            <a:r>
              <a:rPr sz="2800" spc="-9" dirty="0" smtClean="0">
                <a:latin typeface="Arial" pitchFamily="34" charset="0"/>
                <a:cs typeface="Arial" pitchFamily="34" charset="0"/>
              </a:rPr>
              <a:t>o</a:t>
            </a:r>
            <a:r>
              <a:rPr sz="2800" spc="-19" dirty="0" smtClean="0">
                <a:latin typeface="Arial" pitchFamily="34" charset="0"/>
                <a:cs typeface="Arial" pitchFamily="34" charset="0"/>
              </a:rPr>
              <a:t>w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er</a:t>
            </a:r>
            <a:r>
              <a:rPr sz="2800" spc="-57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spec</a:t>
            </a:r>
            <a:r>
              <a:rPr sz="2800" spc="-9" dirty="0" smtClean="0">
                <a:latin typeface="Arial" pitchFamily="34" charset="0"/>
                <a:cs typeface="Arial" pitchFamily="34" charset="0"/>
              </a:rPr>
              <a:t>t</a:t>
            </a:r>
            <a:r>
              <a:rPr sz="2800" spc="-64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-87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in o</a:t>
            </a:r>
            <a:r>
              <a:rPr sz="2800" spc="-19" dirty="0" smtClean="0">
                <a:latin typeface="Arial" pitchFamily="34" charset="0"/>
                <a:cs typeface="Arial" pitchFamily="34" charset="0"/>
              </a:rPr>
              <a:t>v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erlapp</a:t>
            </a:r>
            <a:r>
              <a:rPr sz="2800" spc="9" dirty="0" smtClean="0">
                <a:latin typeface="Arial" pitchFamily="34" charset="0"/>
                <a:cs typeface="Arial" pitchFamily="34" charset="0"/>
              </a:rPr>
              <a:t>i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ng</a:t>
            </a:r>
            <a:r>
              <a:rPr sz="2800" spc="-19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band</a:t>
            </a:r>
            <a:r>
              <a:rPr sz="2800" spc="4" dirty="0" smtClean="0">
                <a:latin typeface="Arial" pitchFamily="34" charset="0"/>
                <a:cs typeface="Arial" pitchFamily="34" charset="0"/>
              </a:rPr>
              <a:t>s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.</a:t>
            </a:r>
            <a:endParaRPr sz="2800" dirty="0">
              <a:latin typeface="Arial" pitchFamily="34" charset="0"/>
              <a:cs typeface="Arial" pitchFamily="34" charset="0"/>
            </a:endParaRPr>
          </a:p>
          <a:p>
            <a:pPr marL="413766" marR="5239" indent="-286461">
              <a:spcBef>
                <a:spcPts val="276"/>
              </a:spcBef>
            </a:pPr>
            <a:r>
              <a:rPr sz="28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–</a:t>
            </a:r>
            <a:r>
              <a:rPr sz="2800" spc="25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Ma</a:t>
            </a:r>
            <a:r>
              <a:rPr sz="2400" spc="-4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sz="2400" spc="-1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of the</a:t>
            </a:r>
            <a:r>
              <a:rPr sz="2400" spc="-32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sz="2400" spc="-3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oblems</a:t>
            </a:r>
            <a:r>
              <a:rPr sz="2400" spc="-1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-2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xp</a:t>
            </a:r>
            <a:r>
              <a:rPr sz="2400" spc="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rien</a:t>
            </a:r>
            <a:r>
              <a:rPr sz="2400" spc="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ed</a:t>
            </a:r>
            <a:r>
              <a:rPr sz="2400" spc="-95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 T</a:t>
            </a:r>
            <a:r>
              <a:rPr sz="2400" spc="-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MA</a:t>
            </a:r>
            <a:r>
              <a:rPr sz="2400" spc="-3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due </a:t>
            </a:r>
            <a:r>
              <a:rPr sz="2400" spc="-1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 di</a:t>
            </a:r>
            <a:r>
              <a:rPr sz="2400" spc="-25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sz="2400" spc="-5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sz="2400" spc="-25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sz="2400" spc="-1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2400" spc="-47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sz="2400" spc="-3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opa</a:t>
            </a:r>
            <a:r>
              <a:rPr sz="2400" spc="-5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sz="2400" spc="-1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tion del</a:t>
            </a:r>
            <a:r>
              <a:rPr sz="2400" spc="-3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2400" spc="-1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sz="2400" spc="-1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2400" spc="-3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sz="2400" spc="-4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spc="-4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eli</a:t>
            </a:r>
            <a:r>
              <a:rPr sz="2400" spc="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</a:t>
            </a:r>
            <a:r>
              <a:rPr sz="2400" spc="-1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2400" spc="-25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ed</a:t>
            </a:r>
            <a:r>
              <a:rPr sz="2400" spc="-42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 FDM</a:t>
            </a:r>
            <a:r>
              <a:rPr sz="2400" spc="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sz="2400" spc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spc="0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413766" marR="5239" indent="-286461">
              <a:spcBef>
                <a:spcPts val="276"/>
              </a:spcBef>
            </a:pPr>
            <a:endParaRPr sz="2800" dirty="0">
              <a:latin typeface="Arial" pitchFamily="34" charset="0"/>
              <a:cs typeface="Arial" pitchFamily="34" charset="0"/>
            </a:endParaRPr>
          </a:p>
          <a:p>
            <a:pPr marL="12700">
              <a:spcBef>
                <a:spcPts val="142"/>
              </a:spcBef>
              <a:buFont typeface="Arial" pitchFamily="34" charset="0"/>
              <a:buChar char="•"/>
            </a:pPr>
            <a:r>
              <a:rPr lang="en-US" sz="2800" spc="0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T</a:t>
            </a:r>
            <a:r>
              <a:rPr sz="2800" spc="4" dirty="0" smtClean="0">
                <a:latin typeface="Arial" pitchFamily="34" charset="0"/>
                <a:cs typeface="Arial" pitchFamily="34" charset="0"/>
              </a:rPr>
              <a:t>h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</a:t>
            </a:r>
            <a:r>
              <a:rPr sz="2800" spc="-18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m</a:t>
            </a:r>
            <a:r>
              <a:rPr sz="2800" spc="9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j</a:t>
            </a:r>
            <a:r>
              <a:rPr sz="2800" spc="4" dirty="0" smtClean="0">
                <a:latin typeface="Arial" pitchFamily="34" charset="0"/>
                <a:cs typeface="Arial" pitchFamily="34" charset="0"/>
              </a:rPr>
              <a:t>o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2800" spc="-58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dis</a:t>
            </a:r>
            <a:r>
              <a:rPr sz="2800" spc="9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d</a:t>
            </a:r>
            <a:r>
              <a:rPr sz="2800" spc="-29" dirty="0" smtClean="0">
                <a:latin typeface="Arial" pitchFamily="34" charset="0"/>
                <a:cs typeface="Arial" pitchFamily="34" charset="0"/>
              </a:rPr>
              <a:t>v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-19" dirty="0" smtClean="0">
                <a:latin typeface="Arial" pitchFamily="34" charset="0"/>
                <a:cs typeface="Arial" pitchFamily="34" charset="0"/>
              </a:rPr>
              <a:t>n</a:t>
            </a:r>
            <a:r>
              <a:rPr sz="2800" spc="-39" dirty="0" smtClean="0">
                <a:latin typeface="Arial" pitchFamily="34" charset="0"/>
                <a:cs typeface="Arial" pitchFamily="34" charset="0"/>
              </a:rPr>
              <a:t>t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-14" dirty="0" smtClean="0">
                <a:latin typeface="Arial" pitchFamily="34" charset="0"/>
                <a:cs typeface="Arial" pitchFamily="34" charset="0"/>
              </a:rPr>
              <a:t>g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</a:t>
            </a:r>
            <a:r>
              <a:rPr sz="2800" spc="-78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of FDMA</a:t>
            </a:r>
            <a:r>
              <a:rPr sz="2800" spc="14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sz="2800" spc="-9" dirty="0" smtClean="0">
                <a:latin typeface="Arial" pitchFamily="34" charset="0"/>
                <a:cs typeface="Arial" pitchFamily="34" charset="0"/>
              </a:rPr>
              <a:t>t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he</a:t>
            </a:r>
            <a:r>
              <a:rPr sz="2800" spc="-36" dirty="0" smtClean="0">
                <a:latin typeface="Arial" pitchFamily="34" charset="0"/>
                <a:cs typeface="Arial" pitchFamily="34" charset="0"/>
              </a:rPr>
              <a:t> </a:t>
            </a:r>
            <a:r>
              <a:rPr sz="2800" spc="-34" dirty="0" smtClean="0">
                <a:latin typeface="Arial" pitchFamily="34" charset="0"/>
                <a:cs typeface="Arial" pitchFamily="34" charset="0"/>
              </a:rPr>
              <a:t>r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el</a:t>
            </a:r>
            <a:r>
              <a:rPr sz="2800" spc="-9" dirty="0" smtClean="0">
                <a:latin typeface="Arial" pitchFamily="34" charset="0"/>
                <a:cs typeface="Arial" pitchFamily="34" charset="0"/>
              </a:rPr>
              <a:t>a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ti</a:t>
            </a:r>
            <a:r>
              <a:rPr sz="2800" spc="-14" dirty="0" smtClean="0">
                <a:latin typeface="Arial" pitchFamily="34" charset="0"/>
                <a:cs typeface="Arial" pitchFamily="34" charset="0"/>
              </a:rPr>
              <a:t>v</a:t>
            </a:r>
            <a:r>
              <a:rPr sz="2800" spc="0" dirty="0" smtClean="0">
                <a:latin typeface="Arial" pitchFamily="34" charset="0"/>
                <a:cs typeface="Arial" pitchFamily="34" charset="0"/>
              </a:rPr>
              <a:t>ely</a:t>
            </a:r>
            <a:r>
              <a:rPr lang="en-US" sz="2800" spc="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4000" spc="-34" baseline="3034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xpensi</a:t>
            </a:r>
            <a:r>
              <a:rPr lang="en-US" sz="4000" spc="-9" baseline="3034" dirty="0" smtClean="0">
                <a:latin typeface="Arial" pitchFamily="34" charset="0"/>
                <a:cs typeface="Arial" pitchFamily="34" charset="0"/>
              </a:rPr>
              <a:t>v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US" sz="4000" spc="-61" baseline="303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US" sz="4000" spc="-14" baseline="303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4000" spc="-25" baseline="3034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omp</a:t>
            </a:r>
            <a:r>
              <a:rPr lang="en-US" sz="4000" spc="4" baseline="3034" dirty="0" smtClean="0">
                <a:latin typeface="Arial" pitchFamily="34" charset="0"/>
                <a:cs typeface="Arial" pitchFamily="34" charset="0"/>
              </a:rPr>
              <a:t>l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sz="4000" spc="-25" baseline="3034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4000" spc="-19" baseline="3034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4000" spc="-29" baseline="3034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ed</a:t>
            </a:r>
            <a:r>
              <a:rPr lang="en-US" sz="4000" spc="-73" baseline="303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4000" baseline="3034" dirty="0" err="1" smtClean="0">
                <a:latin typeface="Arial" pitchFamily="34" charset="0"/>
                <a:cs typeface="Arial" pitchFamily="34" charset="0"/>
              </a:rPr>
              <a:t>bandpass</a:t>
            </a:r>
            <a:r>
              <a:rPr lang="en-US" sz="4000" spc="-34" baseline="303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fi</a:t>
            </a:r>
            <a:r>
              <a:rPr lang="en-US" sz="4000" spc="9" baseline="3034" dirty="0" smtClean="0">
                <a:latin typeface="Arial" pitchFamily="34" charset="0"/>
                <a:cs typeface="Arial" pitchFamily="34" charset="0"/>
              </a:rPr>
              <a:t>l</a:t>
            </a:r>
            <a:r>
              <a:rPr lang="en-US" sz="4000" spc="-29" baseline="3034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US" sz="4000" spc="-50" baseline="3034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s</a:t>
            </a:r>
            <a:r>
              <a:rPr lang="en-US" sz="4000" spc="-51" baseline="303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4000" spc="-39" baseline="3034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equi</a:t>
            </a:r>
            <a:r>
              <a:rPr lang="en-US" sz="4000" spc="-39" baseline="3034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4000" baseline="3034" dirty="0" smtClean="0">
                <a:latin typeface="Arial" pitchFamily="34" charset="0"/>
                <a:cs typeface="Arial" pitchFamily="34" charset="0"/>
              </a:rPr>
              <a:t>ed.  </a:t>
            </a:r>
            <a:endParaRPr lang="en-US" sz="4000" dirty="0" smtClean="0">
              <a:latin typeface="Arial" pitchFamily="34" charset="0"/>
              <a:cs typeface="Arial" pitchFamily="34" charset="0"/>
            </a:endParaRPr>
          </a:p>
          <a:p>
            <a:pPr marL="413766" marR="635619" indent="-286461">
              <a:spcBef>
                <a:spcPts val="427"/>
              </a:spcBef>
            </a:pPr>
            <a:r>
              <a:rPr lang="en-US" sz="28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–</a:t>
            </a:r>
            <a:r>
              <a:rPr lang="en-US" sz="2800" spc="25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TDMA is</a:t>
            </a:r>
            <a:r>
              <a:rPr lang="en-US" sz="2400" spc="-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spc="-3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spc="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</a:t>
            </a:r>
            <a:r>
              <a:rPr lang="en-US" sz="2400" spc="-4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ed</a:t>
            </a:r>
            <a:r>
              <a:rPr lang="en-US" sz="2400" spc="-66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prim</a:t>
            </a:r>
            <a:r>
              <a:rPr lang="en-US" sz="2400" spc="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rily</a:t>
            </a:r>
            <a:r>
              <a:rPr lang="en-US" sz="2400" spc="-1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with</a:t>
            </a:r>
            <a:r>
              <a:rPr lang="en-US" sz="2400" spc="-1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mu</a:t>
            </a:r>
            <a:r>
              <a:rPr lang="en-US" sz="2400" spc="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400" spc="-1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ch</a:t>
            </a:r>
            <a:r>
              <a:rPr lang="en-US" sz="2400" spc="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ap</a:t>
            </a:r>
            <a:r>
              <a:rPr lang="en-US" sz="2400" spc="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400" spc="-89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lo</a:t>
            </a:r>
            <a:r>
              <a:rPr lang="en-US" sz="2400" spc="-4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lang="en-US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ic functions.</a:t>
            </a:r>
          </a:p>
          <a:p>
            <a:pPr marL="12700" marR="465600">
              <a:spcBef>
                <a:spcPts val="657"/>
              </a:spcBef>
              <a:buFont typeface="Arial" pitchFamily="34" charset="0"/>
              <a:buChar char="•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Another</a:t>
            </a:r>
            <a:r>
              <a:rPr lang="en-US" sz="2800" spc="-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dis</a:t>
            </a:r>
            <a:r>
              <a:rPr lang="en-US" sz="2800" spc="9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</a:t>
            </a:r>
            <a:r>
              <a:rPr lang="en-US" sz="2800" spc="-29" dirty="0" smtClean="0">
                <a:latin typeface="Arial" pitchFamily="34" charset="0"/>
                <a:cs typeface="Arial" pitchFamily="34" charset="0"/>
              </a:rPr>
              <a:t>v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spc="-19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2800" spc="-39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spc="-14" dirty="0" smtClean="0">
                <a:latin typeface="Arial" pitchFamily="34" charset="0"/>
                <a:cs typeface="Arial" pitchFamily="34" charset="0"/>
              </a:rPr>
              <a:t>g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US" sz="2800" spc="-92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of</a:t>
            </a:r>
            <a:r>
              <a:rPr lang="en-US" sz="2800" spc="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FDMA</a:t>
            </a:r>
            <a:r>
              <a:rPr lang="en-US" sz="2800" spc="19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US" sz="2800" spc="-9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he</a:t>
            </a:r>
            <a:r>
              <a:rPr lang="en-US" sz="2800" spc="-36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spc="-69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2800" spc="-19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ther</a:t>
            </a:r>
            <a:r>
              <a:rPr lang="en-US" sz="2800" spc="-75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spc="-34" dirty="0" smtClean="0">
                <a:latin typeface="Arial" pitchFamily="34" charset="0"/>
                <a:cs typeface="Arial" pitchFamily="34" charset="0"/>
              </a:rPr>
              <a:t>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spc="-9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ict lin</a:t>
            </a:r>
            <a:r>
              <a:rPr lang="en-US" sz="2800" spc="9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arity</a:t>
            </a:r>
            <a:r>
              <a:rPr lang="en-US" sz="2800" spc="-5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spc="-39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equi</a:t>
            </a:r>
            <a:r>
              <a:rPr lang="en-US" sz="2800" spc="-34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em</a:t>
            </a:r>
            <a:r>
              <a:rPr lang="en-US" sz="2800" spc="9" dirty="0" smtClean="0">
                <a:latin typeface="Arial" pitchFamily="34" charset="0"/>
                <a:cs typeface="Arial" pitchFamily="34" charset="0"/>
              </a:rPr>
              <a:t>e</a:t>
            </a:r>
            <a:r>
              <a:rPr lang="en-US" sz="2800" spc="-25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spc="-106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of</a:t>
            </a:r>
            <a:r>
              <a:rPr lang="en-US" sz="2800" spc="4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US" sz="2800" spc="-5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medium.</a:t>
            </a:r>
          </a:p>
          <a:p>
            <a:pPr marL="12700" marR="48350">
              <a:spcBef>
                <a:spcPts val="275"/>
              </a:spcBef>
            </a:pPr>
            <a:endParaRPr sz="2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878839" y="3952494"/>
            <a:ext cx="13099966" cy="19231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50"/>
              </a:lnSpc>
              <a:spcBef>
                <a:spcPts val="142"/>
              </a:spcBef>
            </a:pPr>
            <a:endParaRPr sz="27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				</a:t>
            </a:r>
          </a:p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					THANK YOU</a:t>
            </a:r>
            <a:endParaRPr lang="en-US" sz="6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</TotalTime>
  <Words>873</Words>
  <Application>Microsoft Office PowerPoint</Application>
  <PresentationFormat>Custom</PresentationFormat>
  <Paragraphs>105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Equity</vt:lpstr>
      <vt:lpstr>PowerPoint Presentation</vt:lpstr>
      <vt:lpstr>OVERVIEW</vt:lpstr>
      <vt:lpstr>Time Division Multiple Access</vt:lpstr>
      <vt:lpstr>Repeating Frame Structure</vt:lpstr>
      <vt:lpstr>Features of TDMA</vt:lpstr>
      <vt:lpstr>Features of TDMA</vt:lpstr>
      <vt:lpstr>Features of TDMA</vt:lpstr>
      <vt:lpstr>PowerPoint Presentation</vt:lpstr>
      <vt:lpstr>Number of channels in a TDMA system</vt:lpstr>
      <vt:lpstr>Example: Global System for Mobile (GSM)</vt:lpstr>
      <vt:lpstr>Efficiency of TDMA</vt:lpstr>
      <vt:lpstr>Efficiency of TDMA</vt:lpstr>
      <vt:lpstr>Efficiency of TDMA</vt:lpstr>
      <vt:lpstr>ADVANTAGES</vt:lpstr>
      <vt:lpstr>DISADVANTAGES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SURYA</dc:creator>
  <cp:lastModifiedBy>ismail - [2010]</cp:lastModifiedBy>
  <cp:revision>95</cp:revision>
  <dcterms:modified xsi:type="dcterms:W3CDTF">2026-03-25T09:25:59Z</dcterms:modified>
</cp:coreProperties>
</file>