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9" r:id="rId2"/>
    <p:sldId id="290" r:id="rId3"/>
    <p:sldId id="302" r:id="rId4"/>
    <p:sldId id="303" r:id="rId5"/>
    <p:sldId id="313" r:id="rId6"/>
    <p:sldId id="271" r:id="rId7"/>
    <p:sldId id="272" r:id="rId8"/>
    <p:sldId id="273" r:id="rId9"/>
    <p:sldId id="274" r:id="rId10"/>
    <p:sldId id="275" r:id="rId11"/>
    <p:sldId id="257" r:id="rId12"/>
    <p:sldId id="276" r:id="rId13"/>
    <p:sldId id="277" r:id="rId14"/>
    <p:sldId id="258" r:id="rId15"/>
    <p:sldId id="278" r:id="rId16"/>
    <p:sldId id="279" r:id="rId17"/>
    <p:sldId id="280" r:id="rId18"/>
    <p:sldId id="281" r:id="rId19"/>
    <p:sldId id="284" r:id="rId20"/>
    <p:sldId id="283" r:id="rId21"/>
    <p:sldId id="282" r:id="rId22"/>
    <p:sldId id="259" r:id="rId23"/>
    <p:sldId id="286" r:id="rId24"/>
    <p:sldId id="288" r:id="rId25"/>
    <p:sldId id="26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4504" autoAdjust="0"/>
  </p:normalViewPr>
  <p:slideViewPr>
    <p:cSldViewPr>
      <p:cViewPr varScale="1">
        <p:scale>
          <a:sx n="85" d="100"/>
          <a:sy n="85" d="100"/>
        </p:scale>
        <p:origin x="184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300F2-636A-4AE6-BABC-3708F185E132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495CC-1CEB-400E-B826-BF9ED39A2DB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107;p4" descr="images">
            <a:extLst>
              <a:ext uri="{FF2B5EF4-FFF2-40B4-BE49-F238E27FC236}">
                <a16:creationId xmlns:a16="http://schemas.microsoft.com/office/drawing/2014/main" id="{E519B6C0-1CD6-463F-A411-DA63338752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19682" y="249526"/>
            <a:ext cx="1026388" cy="89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20EC403 - Analog and Digital Communication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39026-D91A-44E5-BEF3-D832987E726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20EC403 - Analog and Digital Communication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22260-AE68-4C6D-AB5F-AF53C3935A6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158" y="371277"/>
            <a:ext cx="7896859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600" b="1" spc="-30" dirty="0">
                <a:latin typeface="Arial" pitchFamily="34" charset="0"/>
                <a:cs typeface="Arial" pitchFamily="34" charset="0"/>
              </a:rPr>
              <a:t>Information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158" y="1071546"/>
            <a:ext cx="8457565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Arial" pitchFamily="34" charset="0"/>
                <a:cs typeface="Arial" pitchFamily="34" charset="0"/>
              </a:rPr>
              <a:t>Information:</a:t>
            </a:r>
            <a:endParaRPr sz="2800">
              <a:latin typeface="Arial" pitchFamily="34" charset="0"/>
              <a:cs typeface="Arial" pitchFamily="34" charset="0"/>
            </a:endParaRPr>
          </a:p>
          <a:p>
            <a:pPr marL="12700">
              <a:lnSpc>
                <a:spcPct val="100000"/>
              </a:lnSpc>
              <a:tabLst>
                <a:tab pos="2073910" algn="l"/>
                <a:tab pos="2588895" algn="l"/>
                <a:tab pos="4018915" algn="l"/>
                <a:tab pos="4625975" algn="l"/>
                <a:tab pos="5088890" algn="l"/>
                <a:tab pos="6802755" algn="l"/>
                <a:tab pos="7397115" algn="l"/>
              </a:tabLst>
            </a:pPr>
            <a:r>
              <a:rPr sz="2400" spc="-10" dirty="0">
                <a:latin typeface="Arial" pitchFamily="34" charset="0"/>
                <a:cs typeface="Arial" pitchFamily="34" charset="0"/>
              </a:rPr>
              <a:t>Information	is	defined	as	a	sequence	of	letters</a:t>
            </a:r>
            <a:r>
              <a:rPr sz="2800" spc="-20" dirty="0">
                <a:latin typeface="Arial" pitchFamily="34" charset="0"/>
                <a:cs typeface="Arial" pitchFamily="34" charset="0"/>
              </a:rPr>
              <a:t>,</a:t>
            </a:r>
            <a:endParaRPr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29190" y="1857364"/>
            <a:ext cx="3992402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80795" algn="l"/>
                <a:tab pos="1728470" algn="l"/>
                <a:tab pos="3296285" algn="l"/>
              </a:tabLst>
            </a:pPr>
            <a:r>
              <a:rPr sz="2400" spc="-10" dirty="0">
                <a:latin typeface="Arial" pitchFamily="34" charset="0"/>
                <a:cs typeface="Arial" pitchFamily="34" charset="0"/>
              </a:rPr>
              <a:t>carries</a:t>
            </a:r>
            <a:r>
              <a:rPr sz="2900" dirty="0">
                <a:latin typeface="Calibri"/>
                <a:cs typeface="Calibri"/>
              </a:rPr>
              <a:t>	a	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message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with</a:t>
            </a:r>
            <a:endParaRPr sz="2400" spc="-1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8596" y="1928802"/>
            <a:ext cx="4393725" cy="113979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800"/>
              </a:spcBef>
              <a:tabLst>
                <a:tab pos="1845310" algn="l"/>
                <a:tab pos="3329940" algn="l"/>
              </a:tabLst>
            </a:pPr>
            <a:r>
              <a:rPr sz="2400" spc="-10" dirty="0">
                <a:latin typeface="Arial" pitchFamily="34" charset="0"/>
                <a:cs typeface="Arial" pitchFamily="34" charset="0"/>
              </a:rPr>
              <a:t>alphabets,	symbols	which  specific meaning.</a:t>
            </a:r>
          </a:p>
          <a:p>
            <a:pPr marL="12700">
              <a:lnSpc>
                <a:spcPct val="100000"/>
              </a:lnSpc>
            </a:pPr>
            <a:r>
              <a:rPr sz="2900" b="1" spc="-5" dirty="0">
                <a:latin typeface="Calibri"/>
                <a:cs typeface="Calibri"/>
              </a:rPr>
              <a:t>Source </a:t>
            </a:r>
            <a:r>
              <a:rPr sz="2900" b="1" dirty="0">
                <a:latin typeface="Calibri"/>
                <a:cs typeface="Calibri"/>
              </a:rPr>
              <a:t>of</a:t>
            </a:r>
            <a:r>
              <a:rPr sz="2900" b="1" spc="-45" dirty="0">
                <a:latin typeface="Calibri"/>
                <a:cs typeface="Calibri"/>
              </a:rPr>
              <a:t> </a:t>
            </a:r>
            <a:r>
              <a:rPr sz="2900" b="1" spc="-10" dirty="0">
                <a:latin typeface="Calibri"/>
                <a:cs typeface="Calibri"/>
              </a:rPr>
              <a:t>Information</a:t>
            </a:r>
            <a:r>
              <a:rPr sz="2900" spc="-10" dirty="0">
                <a:latin typeface="Calibri"/>
                <a:cs typeface="Calibri"/>
              </a:rPr>
              <a:t>:</a:t>
            </a:r>
            <a:endParaRPr sz="2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918" y="3149490"/>
            <a:ext cx="8460105" cy="2647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Arial" pitchFamily="34" charset="0"/>
                <a:cs typeface="Arial" pitchFamily="34" charset="0"/>
              </a:rPr>
              <a:t>The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sources </a:t>
            </a:r>
            <a:r>
              <a:rPr sz="2400" dirty="0">
                <a:latin typeface="Arial" pitchFamily="34" charset="0"/>
                <a:cs typeface="Arial" pitchFamily="34" charset="0"/>
              </a:rPr>
              <a:t>of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information can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be divided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into </a:t>
            </a:r>
            <a:r>
              <a:rPr sz="2400" dirty="0">
                <a:latin typeface="Arial" pitchFamily="34" charset="0"/>
                <a:cs typeface="Arial" pitchFamily="34" charset="0"/>
              </a:rPr>
              <a:t>2</a:t>
            </a:r>
            <a:r>
              <a:rPr sz="2400" spc="-275" dirty="0">
                <a:latin typeface="Arial" pitchFamily="34" charset="0"/>
                <a:cs typeface="Arial" pitchFamily="34" charset="0"/>
              </a:rPr>
              <a:t> </a:t>
            </a:r>
            <a:r>
              <a:rPr sz="2400" dirty="0">
                <a:latin typeface="Arial" pitchFamily="34" charset="0"/>
                <a:cs typeface="Arial" pitchFamily="34" charset="0"/>
              </a:rPr>
              <a:t>types.</a:t>
            </a:r>
          </a:p>
          <a:p>
            <a:pPr marL="142240" indent="-130175">
              <a:lnSpc>
                <a:spcPct val="100000"/>
              </a:lnSpc>
              <a:buSzPct val="96551"/>
              <a:buFont typeface="Arial"/>
              <a:buChar char="•"/>
              <a:tabLst>
                <a:tab pos="142875" algn="l"/>
              </a:tabLst>
            </a:pPr>
            <a:r>
              <a:rPr sz="2400" dirty="0">
                <a:latin typeface="Arial" pitchFamily="34" charset="0"/>
                <a:cs typeface="Arial" pitchFamily="34" charset="0"/>
              </a:rPr>
              <a:t>Analog 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Information</a:t>
            </a:r>
            <a:r>
              <a:rPr sz="2400" spc="-90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sources</a:t>
            </a:r>
            <a:endParaRPr sz="2400" dirty="0">
              <a:latin typeface="Arial" pitchFamily="34" charset="0"/>
              <a:cs typeface="Arial" pitchFamily="34" charset="0"/>
            </a:endParaRPr>
          </a:p>
          <a:p>
            <a:pPr marL="142240" indent="-130175">
              <a:lnSpc>
                <a:spcPct val="100000"/>
              </a:lnSpc>
              <a:spcBef>
                <a:spcPts val="5"/>
              </a:spcBef>
              <a:buSzPct val="96551"/>
              <a:buFont typeface="Arial"/>
              <a:buChar char="•"/>
              <a:tabLst>
                <a:tab pos="142875" algn="l"/>
              </a:tabLst>
            </a:pPr>
            <a:r>
              <a:rPr sz="2400" dirty="0">
                <a:latin typeface="Arial" pitchFamily="34" charset="0"/>
                <a:cs typeface="Arial" pitchFamily="34" charset="0"/>
              </a:rPr>
              <a:t>Digital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information</a:t>
            </a:r>
            <a:r>
              <a:rPr sz="2400" spc="-130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sources</a:t>
            </a:r>
            <a:endParaRPr sz="2400" dirty="0">
              <a:latin typeface="Arial" pitchFamily="34" charset="0"/>
              <a:cs typeface="Arial" pitchFamily="34" charset="0"/>
            </a:endParaRPr>
          </a:p>
          <a:p>
            <a:pPr marL="12700" marR="8890" indent="915035">
              <a:lnSpc>
                <a:spcPts val="2790"/>
              </a:lnSpc>
              <a:spcBef>
                <a:spcPts val="670"/>
              </a:spcBef>
              <a:tabLst>
                <a:tab pos="2131695" algn="l"/>
                <a:tab pos="4064635" algn="l"/>
                <a:tab pos="5369560" algn="l"/>
                <a:tab pos="6777990" algn="l"/>
              </a:tabLst>
            </a:pPr>
            <a:r>
              <a:rPr sz="2400" dirty="0">
                <a:latin typeface="Arial" pitchFamily="34" charset="0"/>
                <a:cs typeface="Arial" pitchFamily="34" charset="0"/>
              </a:rPr>
              <a:t>Ana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l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o</a:t>
            </a:r>
            <a:r>
              <a:rPr sz="2400" dirty="0">
                <a:latin typeface="Arial" pitchFamily="34" charset="0"/>
                <a:cs typeface="Arial" pitchFamily="34" charset="0"/>
              </a:rPr>
              <a:t>g	i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n</a:t>
            </a:r>
            <a:r>
              <a:rPr sz="2400" spc="-75" dirty="0">
                <a:latin typeface="Arial" pitchFamily="34" charset="0"/>
                <a:cs typeface="Arial" pitchFamily="34" charset="0"/>
              </a:rPr>
              <a:t>f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or</a:t>
            </a:r>
            <a:r>
              <a:rPr sz="2400" spc="-25" dirty="0">
                <a:latin typeface="Arial" pitchFamily="34" charset="0"/>
                <a:cs typeface="Arial" pitchFamily="34" charset="0"/>
              </a:rPr>
              <a:t>ma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t</a:t>
            </a:r>
            <a:r>
              <a:rPr sz="2400" dirty="0">
                <a:latin typeface="Arial" pitchFamily="34" charset="0"/>
                <a:cs typeface="Arial" pitchFamily="34" charset="0"/>
              </a:rPr>
              <a:t>ion	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sou</a:t>
            </a:r>
            <a:r>
              <a:rPr sz="2400" spc="-50" dirty="0">
                <a:latin typeface="Arial" pitchFamily="34" charset="0"/>
                <a:cs typeface="Arial" pitchFamily="34" charset="0"/>
              </a:rPr>
              <a:t>r</a:t>
            </a:r>
            <a:r>
              <a:rPr sz="2400" dirty="0">
                <a:latin typeface="Arial" pitchFamily="34" charset="0"/>
                <a:cs typeface="Arial" pitchFamily="34" charset="0"/>
              </a:rPr>
              <a:t>c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e</a:t>
            </a:r>
            <a:r>
              <a:rPr sz="2400" dirty="0">
                <a:latin typeface="Arial" pitchFamily="34" charset="0"/>
                <a:cs typeface="Arial" pitchFamily="34" charset="0"/>
              </a:rPr>
              <a:t>s	p</a:t>
            </a:r>
            <a:r>
              <a:rPr sz="2400" spc="-55" dirty="0">
                <a:latin typeface="Arial" pitchFamily="34" charset="0"/>
                <a:cs typeface="Arial" pitchFamily="34" charset="0"/>
              </a:rPr>
              <a:t>r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o</a:t>
            </a:r>
            <a:r>
              <a:rPr sz="2400" spc="10" dirty="0">
                <a:latin typeface="Arial" pitchFamily="34" charset="0"/>
                <a:cs typeface="Arial" pitchFamily="34" charset="0"/>
              </a:rPr>
              <a:t>d</a:t>
            </a:r>
            <a:r>
              <a:rPr sz="2400" dirty="0">
                <a:latin typeface="Arial" pitchFamily="34" charset="0"/>
                <a:cs typeface="Arial" pitchFamily="34" charset="0"/>
              </a:rPr>
              <a:t>uce	</a:t>
            </a:r>
            <a:r>
              <a:rPr sz="2400" spc="-30" dirty="0">
                <a:latin typeface="Arial" pitchFamily="34" charset="0"/>
                <a:cs typeface="Arial" pitchFamily="34" charset="0"/>
              </a:rPr>
              <a:t>c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o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n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t</a:t>
            </a:r>
            <a:r>
              <a:rPr sz="2400" dirty="0">
                <a:latin typeface="Arial" pitchFamily="34" charset="0"/>
                <a:cs typeface="Arial" pitchFamily="34" charset="0"/>
              </a:rPr>
              <a:t>i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n</a:t>
            </a:r>
            <a:r>
              <a:rPr sz="2400" dirty="0">
                <a:latin typeface="Arial" pitchFamily="34" charset="0"/>
                <a:cs typeface="Arial" pitchFamily="34" charset="0"/>
              </a:rPr>
              <a:t>u</a:t>
            </a:r>
            <a:r>
              <a:rPr sz="2400" spc="-25" dirty="0">
                <a:latin typeface="Arial" pitchFamily="34" charset="0"/>
                <a:cs typeface="Arial" pitchFamily="34" charset="0"/>
              </a:rPr>
              <a:t>o</a:t>
            </a:r>
            <a:r>
              <a:rPr sz="2400" dirty="0">
                <a:latin typeface="Arial" pitchFamily="34" charset="0"/>
                <a:cs typeface="Arial" pitchFamily="34" charset="0"/>
              </a:rPr>
              <a:t>us 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amplitude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continuous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time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electrical</a:t>
            </a:r>
            <a:r>
              <a:rPr sz="2400" spc="-254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waveforms.</a:t>
            </a:r>
            <a:endParaRPr sz="2800" dirty="0">
              <a:latin typeface="Arial" pitchFamily="34" charset="0"/>
              <a:cs typeface="Arial" pitchFamily="34" charset="0"/>
            </a:endParaRPr>
          </a:p>
          <a:p>
            <a:pPr marL="12700" marR="5080" indent="915035">
              <a:lnSpc>
                <a:spcPts val="2790"/>
              </a:lnSpc>
              <a:tabLst>
                <a:tab pos="2287270" algn="l"/>
                <a:tab pos="4198620" algn="l"/>
                <a:tab pos="5479415" algn="l"/>
                <a:tab pos="7004050" algn="l"/>
              </a:tabLst>
            </a:pPr>
            <a:r>
              <a:rPr sz="2400" spc="-15" dirty="0">
                <a:latin typeface="Arial" pitchFamily="34" charset="0"/>
                <a:cs typeface="Arial" pitchFamily="34" charset="0"/>
              </a:rPr>
              <a:t>D</a:t>
            </a:r>
            <a:r>
              <a:rPr sz="2400" dirty="0">
                <a:latin typeface="Arial" pitchFamily="34" charset="0"/>
                <a:cs typeface="Arial" pitchFamily="34" charset="0"/>
              </a:rPr>
              <a:t>is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c</a:t>
            </a:r>
            <a:r>
              <a:rPr sz="2400" spc="-55" dirty="0">
                <a:latin typeface="Arial" pitchFamily="34" charset="0"/>
                <a:cs typeface="Arial" pitchFamily="34" charset="0"/>
              </a:rPr>
              <a:t>r</a:t>
            </a:r>
            <a:r>
              <a:rPr sz="2400" spc="-35" dirty="0">
                <a:latin typeface="Arial" pitchFamily="34" charset="0"/>
                <a:cs typeface="Arial" pitchFamily="34" charset="0"/>
              </a:rPr>
              <a:t>e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t</a:t>
            </a:r>
            <a:r>
              <a:rPr sz="2400" dirty="0">
                <a:latin typeface="Arial" pitchFamily="34" charset="0"/>
                <a:cs typeface="Arial" pitchFamily="34" charset="0"/>
              </a:rPr>
              <a:t>e	i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n</a:t>
            </a:r>
            <a:r>
              <a:rPr sz="2400" spc="-75" dirty="0">
                <a:latin typeface="Arial" pitchFamily="34" charset="0"/>
                <a:cs typeface="Arial" pitchFamily="34" charset="0"/>
              </a:rPr>
              <a:t>f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orm</a:t>
            </a:r>
            <a:r>
              <a:rPr sz="2400" spc="-25" dirty="0">
                <a:latin typeface="Arial" pitchFamily="34" charset="0"/>
                <a:cs typeface="Arial" pitchFamily="34" charset="0"/>
              </a:rPr>
              <a:t>a</a:t>
            </a:r>
            <a:r>
              <a:rPr sz="2400" spc="5" dirty="0">
                <a:latin typeface="Arial" pitchFamily="34" charset="0"/>
                <a:cs typeface="Arial" pitchFamily="34" charset="0"/>
              </a:rPr>
              <a:t>t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i</a:t>
            </a:r>
            <a:r>
              <a:rPr sz="2400" spc="-25" dirty="0">
                <a:latin typeface="Arial" pitchFamily="34" charset="0"/>
                <a:cs typeface="Arial" pitchFamily="34" charset="0"/>
              </a:rPr>
              <a:t>o</a:t>
            </a:r>
            <a:r>
              <a:rPr sz="2400" dirty="0">
                <a:latin typeface="Arial" pitchFamily="34" charset="0"/>
                <a:cs typeface="Arial" pitchFamily="34" charset="0"/>
              </a:rPr>
              <a:t>n	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sou</a:t>
            </a:r>
            <a:r>
              <a:rPr sz="2400" spc="-50" dirty="0">
                <a:latin typeface="Arial" pitchFamily="34" charset="0"/>
                <a:cs typeface="Arial" pitchFamily="34" charset="0"/>
              </a:rPr>
              <a:t>r</a:t>
            </a:r>
            <a:r>
              <a:rPr sz="2400" dirty="0">
                <a:latin typeface="Arial" pitchFamily="34" charset="0"/>
                <a:cs typeface="Arial" pitchFamily="34" charset="0"/>
              </a:rPr>
              <a:t>c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e</a:t>
            </a:r>
            <a:r>
              <a:rPr sz="2400" dirty="0">
                <a:latin typeface="Arial" pitchFamily="34" charset="0"/>
                <a:cs typeface="Arial" pitchFamily="34" charset="0"/>
              </a:rPr>
              <a:t>s	p</a:t>
            </a:r>
            <a:r>
              <a:rPr sz="2400" spc="-55" dirty="0">
                <a:latin typeface="Arial" pitchFamily="34" charset="0"/>
                <a:cs typeface="Arial" pitchFamily="34" charset="0"/>
              </a:rPr>
              <a:t>r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o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d</a:t>
            </a:r>
            <a:r>
              <a:rPr sz="2400" dirty="0">
                <a:latin typeface="Arial" pitchFamily="34" charset="0"/>
                <a:cs typeface="Arial" pitchFamily="34" charset="0"/>
              </a:rPr>
              <a:t>uc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e</a:t>
            </a:r>
            <a:r>
              <a:rPr sz="2400" dirty="0">
                <a:latin typeface="Arial" pitchFamily="34" charset="0"/>
                <a:cs typeface="Arial" pitchFamily="34" charset="0"/>
              </a:rPr>
              <a:t>s	mes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s</a:t>
            </a:r>
            <a:r>
              <a:rPr sz="2400" dirty="0">
                <a:latin typeface="Arial" pitchFamily="34" charset="0"/>
                <a:cs typeface="Arial" pitchFamily="34" charset="0"/>
              </a:rPr>
              <a:t>a</a:t>
            </a:r>
            <a:r>
              <a:rPr sz="2400" spc="-25" dirty="0">
                <a:latin typeface="Arial" pitchFamily="34" charset="0"/>
                <a:cs typeface="Arial" pitchFamily="34" charset="0"/>
              </a:rPr>
              <a:t>g</a:t>
            </a:r>
            <a:r>
              <a:rPr sz="2400" dirty="0">
                <a:latin typeface="Arial" pitchFamily="34" charset="0"/>
                <a:cs typeface="Arial" pitchFamily="34" charset="0"/>
              </a:rPr>
              <a:t>es 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consisting </a:t>
            </a:r>
            <a:r>
              <a:rPr sz="2400" dirty="0">
                <a:latin typeface="Arial" pitchFamily="34" charset="0"/>
                <a:cs typeface="Arial" pitchFamily="34" charset="0"/>
              </a:rPr>
              <a:t>of 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discrete 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letters </a:t>
            </a:r>
            <a:r>
              <a:rPr sz="2400" dirty="0">
                <a:latin typeface="Arial" pitchFamily="34" charset="0"/>
                <a:cs typeface="Arial" pitchFamily="34" charset="0"/>
              </a:rPr>
              <a:t>or</a:t>
            </a:r>
            <a:r>
              <a:rPr sz="2400" spc="-110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symbols.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070303-2FDB-4493-BD90-2E92CF1C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033" y="620688"/>
            <a:ext cx="82153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Arial" pitchFamily="34" charset="0"/>
                <a:cs typeface="Arial" pitchFamily="34" charset="0"/>
              </a:rPr>
              <a:t>Information </a:t>
            </a:r>
            <a:r>
              <a:rPr sz="3600" b="1" spc="-15" dirty="0">
                <a:latin typeface="Arial" pitchFamily="34" charset="0"/>
                <a:cs typeface="Arial" pitchFamily="34" charset="0"/>
              </a:rPr>
              <a:t>content </a:t>
            </a:r>
            <a:r>
              <a:rPr sz="3600" b="1" dirty="0">
                <a:latin typeface="Arial" pitchFamily="34" charset="0"/>
                <a:cs typeface="Arial" pitchFamily="34" charset="0"/>
              </a:rPr>
              <a:t>of a</a:t>
            </a:r>
            <a:r>
              <a:rPr sz="3600" b="1" spc="-80" dirty="0">
                <a:latin typeface="Arial" pitchFamily="34" charset="0"/>
                <a:cs typeface="Arial" pitchFamily="34" charset="0"/>
              </a:rPr>
              <a:t> </a:t>
            </a:r>
            <a:r>
              <a:rPr sz="3600" b="1" spc="-10" dirty="0">
                <a:latin typeface="Arial" pitchFamily="34" charset="0"/>
                <a:cs typeface="Arial" pitchFamily="34" charset="0"/>
              </a:rPr>
              <a:t>message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56" y="1628800"/>
            <a:ext cx="8620125" cy="277896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4970" marR="49530" indent="-344805" algn="just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95605" algn="l"/>
              </a:tabLst>
            </a:pPr>
            <a:r>
              <a:rPr sz="2400" spc="-5" dirty="0">
                <a:latin typeface="Arial" pitchFamily="34" charset="0"/>
                <a:cs typeface="Arial" pitchFamily="34" charset="0"/>
              </a:rPr>
              <a:t>The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information 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content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 a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message </a:t>
            </a:r>
            <a:r>
              <a:rPr sz="2400" dirty="0">
                <a:latin typeface="Arial" pitchFamily="34" charset="0"/>
                <a:cs typeface="Arial" pitchFamily="34" charset="0"/>
              </a:rPr>
              <a:t>is 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represented </a:t>
            </a:r>
            <a:r>
              <a:rPr sz="2400" spc="-35" dirty="0">
                <a:latin typeface="Arial" pitchFamily="34" charset="0"/>
                <a:cs typeface="Arial" pitchFamily="34" charset="0"/>
              </a:rPr>
              <a:t>by 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the probability or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uncertainty of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the 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event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associated  </a:t>
            </a:r>
            <a:r>
              <a:rPr sz="2400" dirty="0">
                <a:latin typeface="Arial" pitchFamily="34" charset="0"/>
                <a:cs typeface="Arial" pitchFamily="34" charset="0"/>
              </a:rPr>
              <a:t>with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the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message.</a:t>
            </a:r>
            <a:endParaRPr sz="2400" dirty="0">
              <a:latin typeface="Arial" pitchFamily="34" charset="0"/>
              <a:cs typeface="Arial" pitchFamily="34" charset="0"/>
            </a:endParaRPr>
          </a:p>
          <a:p>
            <a:pPr marL="394970" marR="50800" indent="-34480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95605" algn="l"/>
              </a:tabLst>
            </a:pPr>
            <a:r>
              <a:rPr sz="2400" spc="-5" dirty="0">
                <a:latin typeface="Arial" pitchFamily="34" charset="0"/>
                <a:cs typeface="Arial" pitchFamily="34" charset="0"/>
              </a:rPr>
              <a:t>The probability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occurrence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 a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message </a:t>
            </a:r>
            <a:r>
              <a:rPr sz="2400" dirty="0">
                <a:latin typeface="Arial" pitchFamily="34" charset="0"/>
                <a:cs typeface="Arial" pitchFamily="34" charset="0"/>
              </a:rPr>
              <a:t>is 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inversely  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related to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amount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</a:t>
            </a:r>
            <a:r>
              <a:rPr sz="2400" spc="-35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information.</a:t>
            </a:r>
            <a:endParaRPr sz="2400" dirty="0">
              <a:latin typeface="Arial" pitchFamily="34" charset="0"/>
              <a:cs typeface="Arial" pitchFamily="34" charset="0"/>
            </a:endParaRPr>
          </a:p>
          <a:p>
            <a:pPr marL="394970" marR="50800" indent="-34480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95605" algn="l"/>
              </a:tabLst>
            </a:pPr>
            <a:r>
              <a:rPr sz="2400" spc="-20" dirty="0">
                <a:latin typeface="Arial" pitchFamily="34" charset="0"/>
                <a:cs typeface="Arial" pitchFamily="34" charset="0"/>
              </a:rPr>
              <a:t>Therefore,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a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message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with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least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probability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 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occurrence </a:t>
            </a:r>
            <a:r>
              <a:rPr sz="2400" dirty="0">
                <a:latin typeface="Arial" pitchFamily="34" charset="0"/>
                <a:cs typeface="Arial" pitchFamily="34" charset="0"/>
              </a:rPr>
              <a:t>will </a:t>
            </a:r>
            <a:r>
              <a:rPr sz="2400" spc="-15" dirty="0">
                <a:latin typeface="Arial" pitchFamily="34" charset="0"/>
                <a:cs typeface="Arial" pitchFamily="34" charset="0"/>
              </a:rPr>
              <a:t>have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maximum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amount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 information.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F5F0E-B197-4FBB-B8CF-1F93AEEB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033" y="692696"/>
            <a:ext cx="82153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Arial" pitchFamily="34" charset="0"/>
                <a:cs typeface="Arial" pitchFamily="34" charset="0"/>
              </a:rPr>
              <a:t>Information </a:t>
            </a:r>
            <a:r>
              <a:rPr sz="3600" b="1" spc="-15" dirty="0">
                <a:latin typeface="Arial" pitchFamily="34" charset="0"/>
                <a:cs typeface="Arial" pitchFamily="34" charset="0"/>
              </a:rPr>
              <a:t>content </a:t>
            </a:r>
            <a:r>
              <a:rPr sz="3600" b="1" dirty="0">
                <a:latin typeface="Arial" pitchFamily="34" charset="0"/>
                <a:cs typeface="Arial" pitchFamily="34" charset="0"/>
              </a:rPr>
              <a:t>of a</a:t>
            </a:r>
            <a:r>
              <a:rPr sz="3600" b="1" spc="-80" dirty="0">
                <a:latin typeface="Arial" pitchFamily="34" charset="0"/>
                <a:cs typeface="Arial" pitchFamily="34" charset="0"/>
              </a:rPr>
              <a:t> </a:t>
            </a:r>
            <a:r>
              <a:rPr sz="3600" b="1" spc="-10" dirty="0">
                <a:latin typeface="Arial" pitchFamily="34" charset="0"/>
                <a:cs typeface="Arial" pitchFamily="34" charset="0"/>
              </a:rPr>
              <a:t>message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56" y="1772816"/>
            <a:ext cx="8620125" cy="29585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4970" marR="50165" indent="-34480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95605" algn="l"/>
              </a:tabLst>
            </a:pPr>
            <a:r>
              <a:rPr sz="2400" spc="-5" dirty="0">
                <a:latin typeface="Arial" pitchFamily="34" charset="0"/>
                <a:cs typeface="Arial" pitchFamily="34" charset="0"/>
              </a:rPr>
              <a:t>The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relation between information </a:t>
            </a:r>
            <a:r>
              <a:rPr sz="2400" spc="-20" dirty="0">
                <a:latin typeface="Arial" pitchFamily="34" charset="0"/>
                <a:cs typeface="Arial" pitchFamily="34" charset="0"/>
              </a:rPr>
              <a:t>content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message  and </a:t>
            </a:r>
            <a:r>
              <a:rPr sz="2400" dirty="0">
                <a:latin typeface="Arial" pitchFamily="34" charset="0"/>
                <a:cs typeface="Arial" pitchFamily="34" charset="0"/>
              </a:rPr>
              <a:t>its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probability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occurrence </a:t>
            </a:r>
            <a:r>
              <a:rPr sz="2400" dirty="0">
                <a:latin typeface="Arial" pitchFamily="34" charset="0"/>
                <a:cs typeface="Arial" pitchFamily="34" charset="0"/>
              </a:rPr>
              <a:t>is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given</a:t>
            </a:r>
            <a:r>
              <a:rPr sz="2400" spc="114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75" dirty="0">
                <a:latin typeface="Arial" pitchFamily="34" charset="0"/>
                <a:cs typeface="Arial" pitchFamily="34" charset="0"/>
              </a:rPr>
              <a:t>by,</a:t>
            </a:r>
            <a:endParaRPr sz="2400" dirty="0">
              <a:latin typeface="Arial" pitchFamily="34" charset="0"/>
              <a:cs typeface="Arial" pitchFamily="34" charset="0"/>
            </a:endParaRPr>
          </a:p>
          <a:p>
            <a:pPr marL="2795270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 pitchFamily="34" charset="0"/>
                <a:cs typeface="Arial" pitchFamily="34" charset="0"/>
              </a:rPr>
              <a:t>I</a:t>
            </a:r>
            <a:r>
              <a:rPr sz="2400" spc="-7" baseline="-19519" dirty="0">
                <a:latin typeface="Arial" pitchFamily="34" charset="0"/>
                <a:cs typeface="Arial" pitchFamily="34" charset="0"/>
              </a:rPr>
              <a:t>k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= log</a:t>
            </a:r>
            <a:r>
              <a:rPr sz="2400" spc="-235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(1/P</a:t>
            </a:r>
            <a:r>
              <a:rPr sz="2400" spc="-15" baseline="-19519" dirty="0">
                <a:latin typeface="Arial" pitchFamily="34" charset="0"/>
                <a:cs typeface="Arial" pitchFamily="34" charset="0"/>
              </a:rPr>
              <a:t>k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)</a:t>
            </a:r>
            <a:endParaRPr sz="2400" dirty="0">
              <a:latin typeface="Arial" pitchFamily="34" charset="0"/>
              <a:cs typeface="Arial" pitchFamily="34" charset="0"/>
            </a:endParaRPr>
          </a:p>
          <a:p>
            <a:pPr marL="394970" indent="-34480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95605" algn="l"/>
              </a:tabLst>
            </a:pPr>
            <a:r>
              <a:rPr sz="2400" spc="-5" dirty="0">
                <a:latin typeface="Arial" pitchFamily="34" charset="0"/>
                <a:cs typeface="Arial" pitchFamily="34" charset="0"/>
              </a:rPr>
              <a:t>The unit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of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information </a:t>
            </a:r>
            <a:r>
              <a:rPr sz="2400" dirty="0">
                <a:latin typeface="Arial" pitchFamily="34" charset="0"/>
                <a:cs typeface="Arial" pitchFamily="34" charset="0"/>
              </a:rPr>
              <a:t>is</a:t>
            </a:r>
            <a:r>
              <a:rPr sz="2400" spc="-65" dirty="0">
                <a:latin typeface="Arial" pitchFamily="34" charset="0"/>
                <a:cs typeface="Arial" pitchFamily="34" charset="0"/>
              </a:rPr>
              <a:t>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bit.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1766570" lvl="3" indent="-344805" algn="just">
              <a:spcBef>
                <a:spcPts val="675"/>
              </a:spcBef>
              <a:buFont typeface="Arial"/>
              <a:buChar char="•"/>
              <a:tabLst>
                <a:tab pos="395605" algn="l"/>
              </a:tabLst>
            </a:pPr>
            <a:r>
              <a:rPr sz="2400" spc="-5" dirty="0" err="1">
                <a:latin typeface="Arial" pitchFamily="34" charset="0"/>
                <a:cs typeface="Arial" pitchFamily="34" charset="0"/>
              </a:rPr>
              <a:t>I</a:t>
            </a:r>
            <a:r>
              <a:rPr sz="2400" spc="-7" baseline="-19519" dirty="0" err="1">
                <a:latin typeface="Arial" pitchFamily="34" charset="0"/>
                <a:cs typeface="Arial" pitchFamily="34" charset="0"/>
              </a:rPr>
              <a:t>k</a:t>
            </a:r>
            <a:r>
              <a:rPr sz="2400" spc="-7" baseline="-19519" dirty="0">
                <a:latin typeface="Arial" pitchFamily="34" charset="0"/>
                <a:cs typeface="Arial" pitchFamily="34" charset="0"/>
              </a:rPr>
              <a:t> </a:t>
            </a:r>
            <a:r>
              <a:rPr sz="2400" dirty="0">
                <a:latin typeface="Arial" pitchFamily="34" charset="0"/>
                <a:cs typeface="Arial" pitchFamily="34" charset="0"/>
              </a:rPr>
              <a:t>=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log </a:t>
            </a:r>
            <a:r>
              <a:rPr sz="2400" baseline="-19519" dirty="0">
                <a:latin typeface="Arial" pitchFamily="34" charset="0"/>
                <a:cs typeface="Arial" pitchFamily="34" charset="0"/>
              </a:rPr>
              <a:t>2</a:t>
            </a:r>
            <a:r>
              <a:rPr sz="2400" dirty="0">
                <a:latin typeface="Arial" pitchFamily="34" charset="0"/>
                <a:cs typeface="Arial" pitchFamily="34" charset="0"/>
              </a:rPr>
              <a:t>(1/P</a:t>
            </a:r>
            <a:r>
              <a:rPr sz="2400" baseline="-19519" dirty="0">
                <a:latin typeface="Arial" pitchFamily="34" charset="0"/>
                <a:cs typeface="Arial" pitchFamily="34" charset="0"/>
              </a:rPr>
              <a:t>k</a:t>
            </a:r>
            <a:r>
              <a:rPr sz="2400" dirty="0">
                <a:latin typeface="Arial" pitchFamily="34" charset="0"/>
                <a:cs typeface="Arial" pitchFamily="34" charset="0"/>
              </a:rPr>
              <a:t>)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bits,</a:t>
            </a:r>
            <a:endParaRPr lang="en-US" sz="2400" spc="-5" dirty="0">
              <a:latin typeface="Arial" pitchFamily="34" charset="0"/>
              <a:cs typeface="Arial" pitchFamily="34" charset="0"/>
            </a:endParaRPr>
          </a:p>
          <a:p>
            <a:pPr marL="1766570" lvl="3" indent="-344805" algn="just">
              <a:spcBef>
                <a:spcPts val="675"/>
              </a:spcBef>
              <a:buFont typeface="Arial"/>
              <a:buChar char="•"/>
              <a:tabLst>
                <a:tab pos="395605" algn="l"/>
              </a:tabLst>
            </a:pPr>
            <a:r>
              <a:rPr sz="2400" spc="10" dirty="0" err="1">
                <a:latin typeface="Arial" pitchFamily="34" charset="0"/>
                <a:cs typeface="Arial" pitchFamily="34" charset="0"/>
              </a:rPr>
              <a:t>I</a:t>
            </a:r>
            <a:r>
              <a:rPr sz="2400" spc="15" baseline="-19519" dirty="0" err="1">
                <a:latin typeface="Arial" pitchFamily="34" charset="0"/>
                <a:cs typeface="Arial" pitchFamily="34" charset="0"/>
              </a:rPr>
              <a:t>k</a:t>
            </a:r>
            <a:r>
              <a:rPr sz="2400" spc="15" baseline="-19519" dirty="0">
                <a:latin typeface="Arial" pitchFamily="34" charset="0"/>
                <a:cs typeface="Arial" pitchFamily="34" charset="0"/>
              </a:rPr>
              <a:t> </a:t>
            </a:r>
            <a:r>
              <a:rPr sz="2400" dirty="0">
                <a:latin typeface="Arial" pitchFamily="34" charset="0"/>
                <a:cs typeface="Arial" pitchFamily="34" charset="0"/>
              </a:rPr>
              <a:t>= </a:t>
            </a:r>
            <a:r>
              <a:rPr sz="2400" spc="5" dirty="0">
                <a:latin typeface="Arial" pitchFamily="34" charset="0"/>
                <a:cs typeface="Arial" pitchFamily="34" charset="0"/>
              </a:rPr>
              <a:t>log</a:t>
            </a:r>
            <a:r>
              <a:rPr sz="2400" spc="7" baseline="-19519" dirty="0">
                <a:latin typeface="Arial" pitchFamily="34" charset="0"/>
                <a:cs typeface="Arial" pitchFamily="34" charset="0"/>
              </a:rPr>
              <a:t>10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(1/P</a:t>
            </a:r>
            <a:r>
              <a:rPr sz="2400" spc="-7" baseline="-19519" dirty="0">
                <a:latin typeface="Arial" pitchFamily="34" charset="0"/>
                <a:cs typeface="Arial" pitchFamily="34" charset="0"/>
              </a:rPr>
              <a:t>k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)Decits, </a:t>
            </a:r>
            <a:endParaRPr lang="en-US" sz="2400" spc="-5" dirty="0">
              <a:latin typeface="Arial" pitchFamily="34" charset="0"/>
              <a:cs typeface="Arial" pitchFamily="34" charset="0"/>
            </a:endParaRPr>
          </a:p>
          <a:p>
            <a:pPr marL="1766570" lvl="3" indent="-344805" algn="just">
              <a:spcBef>
                <a:spcPts val="675"/>
              </a:spcBef>
              <a:buFont typeface="Arial"/>
              <a:buChar char="•"/>
              <a:tabLst>
                <a:tab pos="395605" algn="l"/>
              </a:tabLst>
            </a:pPr>
            <a:r>
              <a:rPr sz="2400" spc="-5" dirty="0" err="1">
                <a:latin typeface="Arial" pitchFamily="34" charset="0"/>
                <a:cs typeface="Arial" pitchFamily="34" charset="0"/>
              </a:rPr>
              <a:t>I</a:t>
            </a:r>
            <a:r>
              <a:rPr sz="2400" spc="-7" baseline="-19519" dirty="0" err="1">
                <a:latin typeface="Arial" pitchFamily="34" charset="0"/>
                <a:cs typeface="Arial" pitchFamily="34" charset="0"/>
              </a:rPr>
              <a:t>k</a:t>
            </a:r>
            <a:r>
              <a:rPr sz="2400" spc="-7" baseline="-19519" dirty="0">
                <a:latin typeface="Arial" pitchFamily="34" charset="0"/>
                <a:cs typeface="Arial" pitchFamily="34" charset="0"/>
              </a:rPr>
              <a:t> </a:t>
            </a:r>
            <a:r>
              <a:rPr sz="2400" dirty="0">
                <a:latin typeface="Arial" pitchFamily="34" charset="0"/>
                <a:cs typeface="Arial" pitchFamily="34" charset="0"/>
              </a:rPr>
              <a:t>= 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log</a:t>
            </a:r>
            <a:r>
              <a:rPr sz="2400" spc="-7" baseline="-19519" dirty="0">
                <a:latin typeface="Arial" pitchFamily="34" charset="0"/>
                <a:cs typeface="Arial" pitchFamily="34" charset="0"/>
              </a:rPr>
              <a:t>e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(1/P</a:t>
            </a:r>
            <a:r>
              <a:rPr sz="2400" spc="-7" baseline="-19519" dirty="0">
                <a:latin typeface="Arial" pitchFamily="34" charset="0"/>
                <a:cs typeface="Arial" pitchFamily="34" charset="0"/>
              </a:rPr>
              <a:t>k</a:t>
            </a:r>
            <a:r>
              <a:rPr sz="2400" spc="-5" dirty="0">
                <a:latin typeface="Arial" pitchFamily="34" charset="0"/>
                <a:cs typeface="Arial" pitchFamily="34" charset="0"/>
              </a:rPr>
              <a:t>)  </a:t>
            </a:r>
            <a:r>
              <a:rPr sz="2400" spc="-10" dirty="0">
                <a:latin typeface="Arial" pitchFamily="34" charset="0"/>
                <a:cs typeface="Arial" pitchFamily="34" charset="0"/>
              </a:rPr>
              <a:t>nats.</a:t>
            </a:r>
            <a:endParaRPr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19944-4EC5-45BD-8B86-917C853A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7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6525"/>
            <a:ext cx="835292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5" dirty="0">
                <a:latin typeface="Arial" pitchFamily="34" charset="0"/>
                <a:cs typeface="Arial" pitchFamily="34" charset="0"/>
              </a:rPr>
              <a:t>Entropy </a:t>
            </a:r>
            <a:r>
              <a:rPr sz="3600" b="1" spc="-35" dirty="0">
                <a:latin typeface="Arial" pitchFamily="34" charset="0"/>
                <a:cs typeface="Arial" pitchFamily="34" charset="0"/>
              </a:rPr>
              <a:t>(Average </a:t>
            </a:r>
            <a:r>
              <a:rPr sz="3600" b="1" spc="-10" dirty="0">
                <a:latin typeface="Arial" pitchFamily="34" charset="0"/>
                <a:cs typeface="Arial" pitchFamily="34" charset="0"/>
              </a:rPr>
              <a:t>information</a:t>
            </a:r>
            <a:r>
              <a:rPr sz="3600" b="1" dirty="0">
                <a:latin typeface="Arial" pitchFamily="34" charset="0"/>
                <a:cs typeface="Arial" pitchFamily="34" charset="0"/>
              </a:rPr>
              <a:t> </a:t>
            </a:r>
            <a:r>
              <a:rPr sz="3600" b="1" spc="-15" dirty="0">
                <a:latin typeface="Arial" pitchFamily="34" charset="0"/>
                <a:cs typeface="Arial" pitchFamily="34" charset="0"/>
              </a:rPr>
              <a:t>content)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6064" y="847166"/>
            <a:ext cx="2147570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645" marR="5080" indent="-195580">
              <a:lnSpc>
                <a:spcPct val="100000"/>
              </a:lnSpc>
              <a:spcBef>
                <a:spcPts val="95"/>
              </a:spcBef>
              <a:tabLst>
                <a:tab pos="841375" algn="l"/>
                <a:tab pos="902335" algn="l"/>
              </a:tabLst>
            </a:pPr>
            <a:r>
              <a:rPr sz="3200" dirty="0">
                <a:latin typeface="Calibri"/>
                <a:cs typeface="Calibri"/>
              </a:rPr>
              <a:t>t</a:t>
            </a:r>
            <a:r>
              <a:rPr sz="3200" spc="-10" dirty="0">
                <a:latin typeface="Calibri"/>
                <a:cs typeface="Calibri"/>
              </a:rPr>
              <a:t>h</a:t>
            </a:r>
            <a:r>
              <a:rPr sz="3200" spc="-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v</a:t>
            </a:r>
            <a:r>
              <a:rPr sz="3200" spc="-15" dirty="0">
                <a:latin typeface="Calibri"/>
                <a:cs typeface="Calibri"/>
              </a:rPr>
              <a:t>e</a:t>
            </a:r>
            <a:r>
              <a:rPr sz="3200" spc="-90" dirty="0">
                <a:latin typeface="Calibri"/>
                <a:cs typeface="Calibri"/>
              </a:rPr>
              <a:t>r</a:t>
            </a:r>
            <a:r>
              <a:rPr sz="3200" spc="20" dirty="0">
                <a:latin typeface="Calibri"/>
                <a:cs typeface="Calibri"/>
              </a:rPr>
              <a:t>a</a:t>
            </a:r>
            <a:r>
              <a:rPr sz="3200" spc="-20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e  </a:t>
            </a:r>
            <a:r>
              <a:rPr sz="3200" spc="-15" dirty="0">
                <a:latin typeface="Calibri"/>
                <a:cs typeface="Calibri"/>
              </a:rPr>
              <a:t>by		</a:t>
            </a:r>
            <a:r>
              <a:rPr sz="3200" spc="-5" dirty="0">
                <a:latin typeface="Calibri"/>
                <a:cs typeface="Calibri"/>
              </a:rPr>
              <a:t>a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3539" y="1335405"/>
            <a:ext cx="239776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43760" algn="l"/>
              </a:tabLst>
            </a:pPr>
            <a:r>
              <a:rPr sz="3200" spc="-10" dirty="0">
                <a:latin typeface="Calibri"/>
                <a:cs typeface="Calibri"/>
              </a:rPr>
              <a:t>m</a:t>
            </a:r>
            <a:r>
              <a:rPr sz="3200" spc="-20" dirty="0">
                <a:latin typeface="Calibri"/>
                <a:cs typeface="Calibri"/>
              </a:rPr>
              <a:t>e</a:t>
            </a:r>
            <a:r>
              <a:rPr sz="3200" spc="10" dirty="0">
                <a:latin typeface="Calibri"/>
                <a:cs typeface="Calibri"/>
              </a:rPr>
              <a:t>s</a:t>
            </a:r>
            <a:r>
              <a:rPr sz="3200" spc="-10" dirty="0">
                <a:latin typeface="Calibri"/>
                <a:cs typeface="Calibri"/>
              </a:rPr>
              <a:t>sage</a:t>
            </a:r>
            <a:r>
              <a:rPr sz="3200" spc="-5" dirty="0">
                <a:latin typeface="Calibri"/>
                <a:cs typeface="Calibri"/>
              </a:rPr>
              <a:t>.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5" dirty="0"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5729" y="847166"/>
            <a:ext cx="1938655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95"/>
              </a:spcBef>
              <a:tabLst>
                <a:tab pos="1572895" algn="l"/>
              </a:tabLst>
            </a:pPr>
            <a:r>
              <a:rPr sz="3200" spc="-5" dirty="0">
                <a:latin typeface="Calibri"/>
                <a:cs typeface="Calibri"/>
              </a:rPr>
              <a:t>am</a:t>
            </a:r>
            <a:r>
              <a:rPr sz="3200" spc="10" dirty="0">
                <a:latin typeface="Calibri"/>
                <a:cs typeface="Calibri"/>
              </a:rPr>
              <a:t>o</a:t>
            </a:r>
            <a:r>
              <a:rPr sz="3200" spc="-10" dirty="0">
                <a:latin typeface="Calibri"/>
                <a:cs typeface="Calibri"/>
              </a:rPr>
              <a:t>u</a:t>
            </a:r>
            <a:r>
              <a:rPr sz="3200" spc="-30" dirty="0">
                <a:latin typeface="Calibri"/>
                <a:cs typeface="Calibri"/>
              </a:rPr>
              <a:t>n</a:t>
            </a:r>
            <a:r>
              <a:rPr sz="3200" spc="-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of</a:t>
            </a:r>
            <a:endParaRPr sz="32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200" spc="5" dirty="0">
                <a:latin typeface="Calibri"/>
                <a:cs typeface="Calibri"/>
              </a:rPr>
              <a:t>is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847166"/>
            <a:ext cx="418909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tabLst>
                <a:tab pos="1579880" algn="l"/>
                <a:tab pos="2110105" algn="l"/>
                <a:tab pos="2607310" algn="l"/>
                <a:tab pos="3649979" algn="l"/>
              </a:tabLst>
            </a:pPr>
            <a:r>
              <a:rPr sz="3200" spc="-20" dirty="0">
                <a:latin typeface="Calibri"/>
                <a:cs typeface="Calibri"/>
              </a:rPr>
              <a:t>Entropy	</a:t>
            </a:r>
            <a:r>
              <a:rPr sz="3200" dirty="0">
                <a:latin typeface="Calibri"/>
                <a:cs typeface="Calibri"/>
              </a:rPr>
              <a:t>is	</a:t>
            </a:r>
            <a:r>
              <a:rPr sz="3200" spc="-5" dirty="0">
                <a:latin typeface="Calibri"/>
                <a:cs typeface="Calibri"/>
              </a:rPr>
              <a:t>defined	</a:t>
            </a:r>
            <a:r>
              <a:rPr sz="3200" dirty="0">
                <a:latin typeface="Calibri"/>
                <a:cs typeface="Calibri"/>
              </a:rPr>
              <a:t>as  i</a:t>
            </a:r>
            <a:r>
              <a:rPr sz="3200" spc="-30" dirty="0">
                <a:latin typeface="Calibri"/>
                <a:cs typeface="Calibri"/>
              </a:rPr>
              <a:t>n</a:t>
            </a:r>
            <a:r>
              <a:rPr sz="3200" spc="-70" dirty="0">
                <a:latin typeface="Calibri"/>
                <a:cs typeface="Calibri"/>
              </a:rPr>
              <a:t>f</a:t>
            </a:r>
            <a:r>
              <a:rPr sz="3200" spc="-10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r</a:t>
            </a:r>
            <a:r>
              <a:rPr sz="3200" spc="-10" dirty="0">
                <a:latin typeface="Calibri"/>
                <a:cs typeface="Calibri"/>
              </a:rPr>
              <a:t>m</a:t>
            </a:r>
            <a:r>
              <a:rPr sz="3200" spc="-30" dirty="0">
                <a:latin typeface="Calibri"/>
                <a:cs typeface="Calibri"/>
              </a:rPr>
              <a:t>a</a:t>
            </a:r>
            <a:r>
              <a:rPr sz="3200" dirty="0">
                <a:latin typeface="Calibri"/>
                <a:cs typeface="Calibri"/>
              </a:rPr>
              <a:t>ti</a:t>
            </a:r>
            <a:r>
              <a:rPr sz="3200" spc="-10" dirty="0">
                <a:latin typeface="Calibri"/>
                <a:cs typeface="Calibri"/>
              </a:rPr>
              <a:t>o</a:t>
            </a:r>
            <a:r>
              <a:rPr sz="3200" spc="-5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5" dirty="0">
                <a:latin typeface="Calibri"/>
                <a:cs typeface="Calibri"/>
              </a:rPr>
              <a:t>co</a:t>
            </a:r>
            <a:r>
              <a:rPr sz="3200" spc="-50" dirty="0">
                <a:latin typeface="Calibri"/>
                <a:cs typeface="Calibri"/>
              </a:rPr>
              <a:t>n</a:t>
            </a:r>
            <a:r>
              <a:rPr sz="3200" spc="-5" dirty="0">
                <a:latin typeface="Calibri"/>
                <a:cs typeface="Calibri"/>
              </a:rPr>
              <a:t>v</a:t>
            </a:r>
            <a:r>
              <a:rPr sz="3200" spc="-35" dirty="0">
                <a:latin typeface="Calibri"/>
                <a:cs typeface="Calibri"/>
              </a:rPr>
              <a:t>e</a:t>
            </a:r>
            <a:r>
              <a:rPr sz="3200" spc="-55" dirty="0">
                <a:latin typeface="Calibri"/>
                <a:cs typeface="Calibri"/>
              </a:rPr>
              <a:t>y</a:t>
            </a:r>
            <a:r>
              <a:rPr sz="3200" spc="1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d  </a:t>
            </a:r>
            <a:r>
              <a:rPr sz="3200" spc="-10" dirty="0">
                <a:latin typeface="Calibri"/>
                <a:cs typeface="Calibri"/>
              </a:rPr>
              <a:t>denoted </a:t>
            </a:r>
            <a:r>
              <a:rPr sz="3200" spc="-15" dirty="0">
                <a:latin typeface="Calibri"/>
                <a:cs typeface="Calibri"/>
              </a:rPr>
              <a:t>by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3029982"/>
            <a:ext cx="8444230" cy="3353481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lang="en-IN" sz="3200" b="1" spc="-10" dirty="0">
                <a:latin typeface="Calibri"/>
                <a:cs typeface="Calibri"/>
              </a:rPr>
              <a:t>Properties </a:t>
            </a:r>
            <a:r>
              <a:rPr lang="en-IN" sz="3200" b="1" dirty="0">
                <a:latin typeface="Calibri"/>
                <a:cs typeface="Calibri"/>
              </a:rPr>
              <a:t>of</a:t>
            </a:r>
            <a:r>
              <a:rPr lang="en-IN" sz="3200" b="1" spc="40" dirty="0">
                <a:latin typeface="Calibri"/>
                <a:cs typeface="Calibri"/>
              </a:rPr>
              <a:t> </a:t>
            </a:r>
            <a:r>
              <a:rPr lang="en-IN" sz="3200" b="1" spc="-20" dirty="0">
                <a:latin typeface="Calibri"/>
                <a:cs typeface="Calibri"/>
              </a:rPr>
              <a:t>Entropy:</a:t>
            </a:r>
            <a:endParaRPr lang="en-IN" sz="3200" dirty="0">
              <a:latin typeface="Calibri"/>
              <a:cs typeface="Calibri"/>
            </a:endParaRPr>
          </a:p>
          <a:p>
            <a:pPr marL="415925" indent="-40322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415925" algn="l"/>
              </a:tabLst>
            </a:pPr>
            <a:r>
              <a:rPr lang="en-IN" sz="2400" spc="-20" dirty="0">
                <a:latin typeface="Calibri"/>
                <a:cs typeface="Calibri"/>
              </a:rPr>
              <a:t>Entropy </a:t>
            </a:r>
            <a:r>
              <a:rPr lang="en-IN" sz="2400" dirty="0">
                <a:latin typeface="Calibri"/>
                <a:cs typeface="Calibri"/>
              </a:rPr>
              <a:t>is </a:t>
            </a:r>
            <a:r>
              <a:rPr lang="en-IN" sz="2400" spc="-25" dirty="0">
                <a:latin typeface="Calibri"/>
                <a:cs typeface="Calibri"/>
              </a:rPr>
              <a:t>always </a:t>
            </a:r>
            <a:r>
              <a:rPr lang="en-IN" sz="2400" spc="-10" dirty="0">
                <a:latin typeface="Calibri"/>
                <a:cs typeface="Calibri"/>
              </a:rPr>
              <a:t>non </a:t>
            </a:r>
            <a:r>
              <a:rPr lang="en-IN" sz="2400" spc="-15" dirty="0">
                <a:latin typeface="Calibri"/>
                <a:cs typeface="Calibri"/>
              </a:rPr>
              <a:t>negative </a:t>
            </a:r>
            <a:r>
              <a:rPr lang="en-IN" sz="2400" dirty="0" err="1">
                <a:latin typeface="Calibri"/>
                <a:cs typeface="Calibri"/>
              </a:rPr>
              <a:t>i.e</a:t>
            </a:r>
            <a:r>
              <a:rPr lang="en-IN" sz="2400" dirty="0">
                <a:latin typeface="Calibri"/>
                <a:cs typeface="Calibri"/>
              </a:rPr>
              <a:t> </a:t>
            </a:r>
            <a:r>
              <a:rPr lang="en-IN" sz="2400" spc="-10" dirty="0">
                <a:latin typeface="Calibri"/>
                <a:cs typeface="Calibri"/>
              </a:rPr>
              <a:t>H(x) </a:t>
            </a:r>
            <a:r>
              <a:rPr lang="en-IN" sz="2400" spc="-5" dirty="0">
                <a:latin typeface="Calibri"/>
                <a:cs typeface="Calibri"/>
              </a:rPr>
              <a:t>≥</a:t>
            </a:r>
            <a:r>
              <a:rPr lang="en-IN" sz="2400" spc="190" dirty="0">
                <a:latin typeface="Calibri"/>
                <a:cs typeface="Calibri"/>
              </a:rPr>
              <a:t> </a:t>
            </a:r>
            <a:r>
              <a:rPr lang="en-IN" sz="2400" spc="-5" dirty="0">
                <a:latin typeface="Calibri"/>
                <a:cs typeface="Calibri"/>
              </a:rPr>
              <a:t>0.</a:t>
            </a:r>
            <a:endParaRPr lang="en-IN" sz="2400" dirty="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Calibri"/>
              <a:buAutoNum type="arabicPeriod"/>
              <a:tabLst>
                <a:tab pos="415925" algn="l"/>
                <a:tab pos="6415405" algn="l"/>
              </a:tabLst>
            </a:pPr>
            <a:r>
              <a:rPr lang="en-IN" sz="2400" dirty="0"/>
              <a:t>	</a:t>
            </a:r>
            <a:r>
              <a:rPr lang="en-IN" sz="2400" spc="-20" dirty="0">
                <a:latin typeface="Calibri"/>
                <a:cs typeface="Calibri"/>
              </a:rPr>
              <a:t>Entropy </a:t>
            </a:r>
            <a:r>
              <a:rPr lang="en-IN" sz="2400" dirty="0">
                <a:latin typeface="Calibri"/>
                <a:cs typeface="Calibri"/>
              </a:rPr>
              <a:t>is  </a:t>
            </a:r>
            <a:r>
              <a:rPr lang="en-IN" sz="2400" spc="-35" dirty="0">
                <a:latin typeface="Calibri"/>
                <a:cs typeface="Calibri"/>
              </a:rPr>
              <a:t>zero </a:t>
            </a:r>
            <a:r>
              <a:rPr lang="en-IN" sz="2400" spc="-5" dirty="0">
                <a:latin typeface="Calibri"/>
                <a:cs typeface="Calibri"/>
              </a:rPr>
              <a:t>when </a:t>
            </a:r>
            <a:r>
              <a:rPr lang="en-IN" sz="2400" spc="-10" dirty="0">
                <a:latin typeface="Calibri"/>
                <a:cs typeface="Calibri"/>
              </a:rPr>
              <a:t>probability </a:t>
            </a:r>
            <a:r>
              <a:rPr lang="en-IN" sz="2400" spc="-5" dirty="0">
                <a:latin typeface="Calibri"/>
                <a:cs typeface="Calibri"/>
              </a:rPr>
              <a:t>of </a:t>
            </a:r>
            <a:r>
              <a:rPr lang="en-IN" sz="2400" dirty="0">
                <a:latin typeface="Calibri"/>
                <a:cs typeface="Calibri"/>
              </a:rPr>
              <a:t>all </a:t>
            </a:r>
            <a:r>
              <a:rPr lang="en-IN" sz="2400" spc="-15" dirty="0">
                <a:latin typeface="Calibri"/>
                <a:cs typeface="Calibri"/>
              </a:rPr>
              <a:t>symbols </a:t>
            </a:r>
            <a:r>
              <a:rPr lang="en-IN" sz="2400" dirty="0">
                <a:latin typeface="Calibri"/>
                <a:cs typeface="Calibri"/>
              </a:rPr>
              <a:t>is </a:t>
            </a:r>
            <a:r>
              <a:rPr lang="en-IN" sz="2400" spc="-40" dirty="0">
                <a:latin typeface="Calibri"/>
                <a:cs typeface="Calibri"/>
              </a:rPr>
              <a:t>zero  </a:t>
            </a:r>
            <a:r>
              <a:rPr lang="en-IN" sz="2400" spc="-35" dirty="0">
                <a:latin typeface="Calibri"/>
                <a:cs typeface="Calibri"/>
              </a:rPr>
              <a:t>except </a:t>
            </a:r>
            <a:r>
              <a:rPr lang="en-IN" sz="2400" spc="-10" dirty="0">
                <a:latin typeface="Calibri"/>
                <a:cs typeface="Calibri"/>
              </a:rPr>
              <a:t>probability</a:t>
            </a:r>
            <a:r>
              <a:rPr lang="en-IN" sz="2400" spc="125" dirty="0">
                <a:latin typeface="Calibri"/>
                <a:cs typeface="Calibri"/>
              </a:rPr>
              <a:t> </a:t>
            </a:r>
            <a:r>
              <a:rPr lang="en-IN" sz="2400" spc="-10" dirty="0">
                <a:latin typeface="Calibri"/>
                <a:cs typeface="Calibri"/>
              </a:rPr>
              <a:t>one</a:t>
            </a:r>
            <a:r>
              <a:rPr lang="en-IN" sz="2400" spc="30" dirty="0">
                <a:latin typeface="Calibri"/>
                <a:cs typeface="Calibri"/>
              </a:rPr>
              <a:t> </a:t>
            </a:r>
            <a:r>
              <a:rPr lang="en-IN" sz="2400" spc="-20" dirty="0">
                <a:latin typeface="Calibri"/>
                <a:cs typeface="Calibri"/>
              </a:rPr>
              <a:t>symbol </a:t>
            </a:r>
            <a:r>
              <a:rPr lang="en-IN" sz="2400" dirty="0">
                <a:latin typeface="Calibri"/>
                <a:cs typeface="Calibri"/>
              </a:rPr>
              <a:t>is</a:t>
            </a:r>
            <a:r>
              <a:rPr lang="en-IN" sz="2400" spc="-15" dirty="0">
                <a:latin typeface="Calibri"/>
                <a:cs typeface="Calibri"/>
              </a:rPr>
              <a:t> </a:t>
            </a:r>
            <a:r>
              <a:rPr lang="en-IN" sz="2400" spc="-10" dirty="0">
                <a:latin typeface="Calibri"/>
                <a:cs typeface="Calibri"/>
              </a:rPr>
              <a:t>one.</a:t>
            </a:r>
            <a:endParaRPr lang="en-IN" sz="2400" dirty="0">
              <a:latin typeface="Calibri"/>
              <a:cs typeface="Calibri"/>
            </a:endParaRPr>
          </a:p>
          <a:p>
            <a:pPr marL="356870" marR="1743710" indent="-344805">
              <a:lnSpc>
                <a:spcPct val="100000"/>
              </a:lnSpc>
              <a:spcBef>
                <a:spcPts val="775"/>
              </a:spcBef>
              <a:buFont typeface="Calibri"/>
              <a:buAutoNum type="arabicPeriod"/>
              <a:tabLst>
                <a:tab pos="416559" algn="l"/>
              </a:tabLst>
            </a:pPr>
            <a:r>
              <a:rPr lang="en-IN" sz="2400" dirty="0"/>
              <a:t>	</a:t>
            </a:r>
            <a:r>
              <a:rPr lang="en-IN" sz="2400" spc="-20" dirty="0">
                <a:latin typeface="Calibri"/>
                <a:cs typeface="Calibri"/>
              </a:rPr>
              <a:t>Entropy </a:t>
            </a:r>
            <a:r>
              <a:rPr lang="en-IN" sz="2400" dirty="0">
                <a:latin typeface="Calibri"/>
                <a:cs typeface="Calibri"/>
              </a:rPr>
              <a:t>is </a:t>
            </a:r>
            <a:r>
              <a:rPr lang="en-IN" sz="2400" spc="-10" dirty="0">
                <a:latin typeface="Calibri"/>
                <a:cs typeface="Calibri"/>
              </a:rPr>
              <a:t>maximum </a:t>
            </a:r>
            <a:r>
              <a:rPr lang="en-IN" sz="2400" spc="-5" dirty="0">
                <a:latin typeface="Calibri"/>
                <a:cs typeface="Calibri"/>
              </a:rPr>
              <a:t>when </a:t>
            </a:r>
            <a:r>
              <a:rPr lang="en-IN" sz="2400" spc="-10" dirty="0">
                <a:latin typeface="Calibri"/>
                <a:cs typeface="Calibri"/>
              </a:rPr>
              <a:t>probability  </a:t>
            </a:r>
            <a:r>
              <a:rPr lang="en-IN" sz="2400" spc="-15" dirty="0">
                <a:latin typeface="Calibri"/>
                <a:cs typeface="Calibri"/>
              </a:rPr>
              <a:t>occurrence </a:t>
            </a:r>
            <a:r>
              <a:rPr lang="en-IN" sz="2400" spc="-5" dirty="0">
                <a:latin typeface="Calibri"/>
                <a:cs typeface="Calibri"/>
              </a:rPr>
              <a:t>of all </a:t>
            </a:r>
            <a:r>
              <a:rPr lang="en-IN" sz="2400" spc="-15" dirty="0">
                <a:latin typeface="Calibri"/>
                <a:cs typeface="Calibri"/>
              </a:rPr>
              <a:t>symbols </a:t>
            </a:r>
            <a:r>
              <a:rPr lang="en-IN" sz="2400" spc="-5" dirty="0">
                <a:latin typeface="Calibri"/>
                <a:cs typeface="Calibri"/>
              </a:rPr>
              <a:t>is</a:t>
            </a:r>
            <a:r>
              <a:rPr lang="en-IN" sz="2400" spc="140" dirty="0">
                <a:latin typeface="Calibri"/>
                <a:cs typeface="Calibri"/>
              </a:rPr>
              <a:t> </a:t>
            </a:r>
            <a:r>
              <a:rPr lang="en-IN" sz="2400" spc="-5" dirty="0">
                <a:latin typeface="Calibri"/>
                <a:cs typeface="Calibri"/>
              </a:rPr>
              <a:t>equal </a:t>
            </a:r>
            <a:endParaRPr lang="en-IN" sz="2400" dirty="0">
              <a:latin typeface="Calibri"/>
              <a:cs typeface="Calibri"/>
            </a:endParaRPr>
          </a:p>
          <a:p>
            <a:pPr marL="1854200">
              <a:lnSpc>
                <a:spcPct val="100000"/>
              </a:lnSpc>
              <a:spcBef>
                <a:spcPts val="770"/>
              </a:spcBef>
            </a:pPr>
            <a:r>
              <a:rPr lang="en-IN" sz="3200" dirty="0" err="1">
                <a:latin typeface="Calibri"/>
                <a:cs typeface="Calibri"/>
              </a:rPr>
              <a:t>i.e</a:t>
            </a:r>
            <a:r>
              <a:rPr lang="en-IN" sz="3200" dirty="0">
                <a:latin typeface="Calibri"/>
                <a:cs typeface="Calibri"/>
              </a:rPr>
              <a:t> </a:t>
            </a:r>
            <a:r>
              <a:rPr lang="en-IN" sz="3200" spc="-10" dirty="0">
                <a:latin typeface="Calibri"/>
                <a:cs typeface="Calibri"/>
              </a:rPr>
              <a:t>H(x)</a:t>
            </a:r>
            <a:r>
              <a:rPr lang="en-IN" sz="3200" spc="35" dirty="0">
                <a:latin typeface="Calibri"/>
                <a:cs typeface="Calibri"/>
              </a:rPr>
              <a:t> </a:t>
            </a:r>
            <a:r>
              <a:rPr lang="en-IN" sz="3200" spc="-5" dirty="0">
                <a:latin typeface="Calibri"/>
                <a:cs typeface="Calibri"/>
              </a:rPr>
              <a:t>=</a:t>
            </a:r>
            <a:endParaRPr lang="en-IN" sz="32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52800" y="2133600"/>
            <a:ext cx="2514600" cy="869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95700" y="5672972"/>
            <a:ext cx="914400" cy="310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225B29-1704-4CDA-9B9A-586443BF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85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C604-D7E6-485D-AF3A-2AAAD7C4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CB28F9-A7AA-4004-856A-3243FACE88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7"/>
            <a:ext cx="8564314" cy="6584950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A5BFE0-C8ED-4A1D-930D-C906DA5B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9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4A10-FF31-45AE-BB6D-FFCE4A50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Source Coding Theorem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CE20D-994E-4549-9463-BED9908A9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Encoding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the process for efficient representation of data generated by the discrete source.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device that performs this representation is called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Encoder. 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Morse code.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efficient source encoder satisfies the following two requirements.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source code produce by the encoder are in binary form.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source code is uniquely decodable.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FF7BA-1630-4F97-B3BA-579DE9B9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1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915F-129D-4E09-96E3-488CD0BC8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Source Coding Theorem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0F335-1DA5-4655-8A93-B43B3ABDE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639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average code word length of the source encoder is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 = represents average number of bits per symbol source.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coding efficiency of the  source encoder is 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3A3A78-4D12-4D1B-82CD-BF3A786AE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597" y="1649317"/>
            <a:ext cx="325925" cy="425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683039-D72A-4C0F-8347-5AACA7A4B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923" y="1490216"/>
            <a:ext cx="5106154" cy="1303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88FB9C-BAD3-4272-AD72-2EBEB277A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181725"/>
            <a:ext cx="1728192" cy="8386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5341CA-5F29-459E-A47D-B71B6973C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00" y="4049889"/>
            <a:ext cx="270764" cy="5511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90C4DB-869F-4BCA-9B79-808EDDB1F6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2038" y="5458410"/>
            <a:ext cx="1303699" cy="87818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44547-243D-4C6C-997C-6055782F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82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8D51-632E-4B71-9322-E2686172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Compaction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5ADA6-8B64-4C12-8B30-FBFC638FE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efficient signal transmission the redundant information are removed with no loss of information – Data Compaction or Lossless data transmission.</a:t>
            </a:r>
          </a:p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Prefix Coding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a source code representing the output of the source the code has to be uniquely decodable.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special code known as prefix code satisfying a restriction known as the prefix condition is used.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 prefix code is a code in which </a:t>
            </a:r>
            <a:r>
              <a:rPr lang="en-IN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code word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is the prefix of  any other code word.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DF925-7D54-40B5-BF7E-934F4407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8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85C0-5823-4B45-9CDF-0DB267014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Prefix Code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B7E2-53F9-439C-A678-75B9449A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Code I and III is not a prefix code but Code II is.</a:t>
            </a: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1195C-82F1-4294-91B3-5A69E0A5E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81" y="2276872"/>
            <a:ext cx="8026854" cy="21602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44501-BA34-41A4-995A-4387E65F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48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2C75-6B56-4C14-A2E3-810527E4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Prefix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B3F4E-84B2-4F3E-879C-75EF3DF4EF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Decision Tree                                                     for the above table.                                                       The encoded sequence                                                                                     10 111 110 0 0 is decoded                                                    as  the source sequence                             s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o.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prefix code has the important property                                                                                 that it is uniquely decodable.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CAB78D-B58D-4064-92A2-72E3C18712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2B9D1-824D-4B3E-B25E-723D91B7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894" y="1417638"/>
            <a:ext cx="4695211" cy="469521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CDEB4-DD32-44A4-8C88-D06ACB575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22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5138" y="65088"/>
            <a:ext cx="8229600" cy="860425"/>
          </a:xfrm>
        </p:spPr>
        <p:txBody>
          <a:bodyPr>
            <a:normAutofit/>
          </a:bodyPr>
          <a:lstStyle/>
          <a:p>
            <a:r>
              <a:rPr lang="en-US" altLang="zh-CN" sz="3600" b="1" dirty="0">
                <a:latin typeface="Arial" pitchFamily="34" charset="0"/>
                <a:ea typeface="SimSun" pitchFamily="2" charset="-122"/>
                <a:cs typeface="Arial" pitchFamily="34" charset="0"/>
              </a:rPr>
              <a:t>Huffman Coding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5138" y="1268412"/>
            <a:ext cx="8229600" cy="337503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sz="9600" dirty="0">
                <a:latin typeface="Arial" pitchFamily="34" charset="0"/>
                <a:ea typeface="SimSun" pitchFamily="2" charset="-122"/>
                <a:cs typeface="Arial" pitchFamily="34" charset="0"/>
              </a:rPr>
              <a:t>A procedure to construct optimal prefix-free code </a:t>
            </a:r>
          </a:p>
          <a:p>
            <a:pPr>
              <a:lnSpc>
                <a:spcPct val="150000"/>
              </a:lnSpc>
            </a:pPr>
            <a:r>
              <a:rPr lang="en-US" altLang="zh-CN" sz="9600" dirty="0">
                <a:latin typeface="Arial" pitchFamily="34" charset="0"/>
                <a:ea typeface="SimSun" pitchFamily="2" charset="-122"/>
                <a:cs typeface="Arial" pitchFamily="34" charset="0"/>
              </a:rPr>
              <a:t>Result of David Huffman’s term paper in 1952 when he was a PhD student at MIT</a:t>
            </a:r>
          </a:p>
          <a:p>
            <a:pPr lvl="1">
              <a:lnSpc>
                <a:spcPct val="150000"/>
              </a:lnSpc>
              <a:buFont typeface="ZapfDingbats" pitchFamily="82" charset="2"/>
              <a:buNone/>
            </a:pPr>
            <a:r>
              <a:rPr lang="en-US" altLang="zh-CN" sz="9600" dirty="0">
                <a:latin typeface="Arial" pitchFamily="34" charset="0"/>
                <a:ea typeface="SimSun" pitchFamily="2" charset="-122"/>
                <a:cs typeface="Arial" pitchFamily="34" charset="0"/>
              </a:rPr>
              <a:t>Shannon </a:t>
            </a:r>
            <a:r>
              <a:rPr lang="en-US" altLang="zh-CN" sz="9600" dirty="0">
                <a:latin typeface="Arial" pitchFamily="34" charset="0"/>
                <a:ea typeface="SimSun" pitchFamily="2" charset="-122"/>
                <a:cs typeface="Arial" pitchFamily="34" charset="0"/>
                <a:sym typeface="Wingdings" pitchFamily="2" charset="2"/>
              </a:rPr>
              <a:t> </a:t>
            </a:r>
            <a:r>
              <a:rPr lang="en-US" altLang="zh-CN" sz="9600" dirty="0" err="1">
                <a:latin typeface="Arial" pitchFamily="34" charset="0"/>
                <a:ea typeface="SimSun" pitchFamily="2" charset="-122"/>
                <a:cs typeface="Arial" pitchFamily="34" charset="0"/>
                <a:sym typeface="Wingdings" pitchFamily="2" charset="2"/>
              </a:rPr>
              <a:t>Fano</a:t>
            </a:r>
            <a:r>
              <a:rPr lang="en-US" altLang="zh-CN" sz="9600" dirty="0">
                <a:latin typeface="Arial" pitchFamily="34" charset="0"/>
                <a:ea typeface="SimSun" pitchFamily="2" charset="-122"/>
                <a:cs typeface="Arial" pitchFamily="34" charset="0"/>
                <a:sym typeface="Wingdings" pitchFamily="2" charset="2"/>
              </a:rPr>
              <a:t>  Huffman</a:t>
            </a:r>
          </a:p>
          <a:p>
            <a:pPr>
              <a:lnSpc>
                <a:spcPct val="150000"/>
              </a:lnSpc>
            </a:pPr>
            <a:r>
              <a:rPr lang="en-US" altLang="zh-CN" sz="9600" dirty="0">
                <a:latin typeface="Arial" pitchFamily="34" charset="0"/>
                <a:ea typeface="SimSun" pitchFamily="2" charset="-122"/>
                <a:cs typeface="Arial" pitchFamily="34" charset="0"/>
              </a:rPr>
              <a:t>Observations:</a:t>
            </a:r>
          </a:p>
          <a:p>
            <a:pPr lvl="1">
              <a:lnSpc>
                <a:spcPct val="150000"/>
              </a:lnSpc>
            </a:pPr>
            <a:r>
              <a:rPr lang="en-US" altLang="zh-CN" sz="9600" dirty="0">
                <a:latin typeface="Arial" pitchFamily="34" charset="0"/>
                <a:ea typeface="SimSun" pitchFamily="2" charset="-122"/>
                <a:cs typeface="Arial" pitchFamily="34" charset="0"/>
              </a:rPr>
              <a:t>Frequent symbols have short codes.</a:t>
            </a:r>
          </a:p>
          <a:p>
            <a:pPr lvl="1">
              <a:lnSpc>
                <a:spcPct val="150000"/>
              </a:lnSpc>
            </a:pPr>
            <a:r>
              <a:rPr lang="en-US" altLang="zh-CN" sz="9600" dirty="0">
                <a:latin typeface="Arial" pitchFamily="34" charset="0"/>
                <a:ea typeface="SimSun" pitchFamily="2" charset="-122"/>
                <a:cs typeface="Arial" pitchFamily="34" charset="0"/>
              </a:rPr>
              <a:t>In an optimum prefix-free code, the two code words that occur least frequently will have the same length.</a:t>
            </a:r>
          </a:p>
          <a:p>
            <a:pPr lvl="1"/>
            <a:endParaRPr lang="en-US" altLang="zh-CN" sz="1800" dirty="0">
              <a:ea typeface="SimSun" pitchFamily="2" charset="-122"/>
              <a:cs typeface="Majalla UI"/>
            </a:endParaRPr>
          </a:p>
          <a:p>
            <a:endParaRPr lang="en-US" altLang="zh-CN" sz="2000" dirty="0">
              <a:ea typeface="SimSun" pitchFamily="2" charset="-122"/>
              <a:cs typeface="Majalla UI"/>
            </a:endParaRPr>
          </a:p>
          <a:p>
            <a:endParaRPr lang="en-US" altLang="zh-CN" sz="2000" dirty="0">
              <a:ea typeface="SimSun" pitchFamily="2" charset="-122"/>
              <a:cs typeface="Majalla UI"/>
            </a:endParaRPr>
          </a:p>
          <a:p>
            <a:endParaRPr lang="zh-CN" altLang="en-US" sz="2000" dirty="0">
              <a:ea typeface="SimSun" pitchFamily="2" charset="-122"/>
              <a:cs typeface="Majalla UI"/>
            </a:endParaRP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5938" y="2563812"/>
            <a:ext cx="1239837" cy="173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077540-2086-4DCB-82E2-6AA68887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3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EA70E63-36ED-4546-BE34-F53CC913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Huffman Coding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1BD6E1-F003-4670-BF18-C2DA50520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Is to assign to each symbol of an alphabet a sequence of bits roughly equal in length to the amount of information conveyed by the symbol in question.</a:t>
            </a:r>
          </a:p>
          <a:p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The average code word length approaches the fundamental limit set by the entropy.</a:t>
            </a:r>
          </a:p>
          <a:p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The Huffman code replaces the prescribed set of source </a:t>
            </a:r>
            <a:r>
              <a:rPr lang="en-IN" sz="2600" dirty="0" err="1">
                <a:latin typeface="Arial" panose="020B0604020202020204" pitchFamily="34" charset="0"/>
                <a:cs typeface="Arial" panose="020B0604020202020204" pitchFamily="34" charset="0"/>
              </a:rPr>
              <a:t>statistcs</a:t>
            </a:r>
            <a:r>
              <a:rPr lang="en-IN" sz="2600" dirty="0">
                <a:latin typeface="Arial" panose="020B0604020202020204" pitchFamily="34" charset="0"/>
                <a:cs typeface="Arial" panose="020B0604020202020204" pitchFamily="34" charset="0"/>
              </a:rPr>
              <a:t> with a simpler one.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AEBFA9-07CF-49C2-9C7F-F1408A81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25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8E5A-9C07-4F1C-884B-B4615951F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Huffman Encoding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9CD34-27C3-4AE8-BBFE-16E989A5A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source symbols listed in the order of decreasing probability. The two source symbols of lowest probability is assigned a 0 or 1. ---- Splitting Stage.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These two source symbols are combined into new source symbol of probability equal to the sum of the two original probabilities.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probability of new symbol placed in the list in accordance with its value.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procedure is repeated until we are left with a final list of source statistics of only two for which 0 and 1 are assigned.</a:t>
            </a:r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5DC4F-2CFB-4938-9C2D-58D02A26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85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302505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Huffman Encoding Algorithm</a:t>
            </a:r>
            <a:endParaRPr lang="en-US" altLang="zh-CN" sz="3600" b="1" dirty="0">
              <a:latin typeface="Arial" pitchFamily="34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7772400" cy="4824412"/>
          </a:xfrm>
        </p:spPr>
        <p:txBody>
          <a:bodyPr>
            <a:normAutofit/>
          </a:bodyPr>
          <a:lstStyle/>
          <a:p>
            <a:pPr algn="just"/>
            <a:r>
              <a:rPr lang="en-US" altLang="zh-CN" sz="2600" b="1" dirty="0">
                <a:latin typeface="Arial" pitchFamily="34" charset="0"/>
                <a:ea typeface="SimSun" pitchFamily="2" charset="-122"/>
                <a:cs typeface="Arial" pitchFamily="34" charset="0"/>
              </a:rPr>
              <a:t>Human Coding -</a:t>
            </a:r>
            <a:r>
              <a:rPr lang="en-US" altLang="zh-CN" sz="2600" dirty="0">
                <a:latin typeface="Arial" pitchFamily="34" charset="0"/>
                <a:ea typeface="SimSun" pitchFamily="2" charset="-122"/>
                <a:cs typeface="Arial" pitchFamily="34" charset="0"/>
              </a:rPr>
              <a:t> a bottom-up approach</a:t>
            </a:r>
          </a:p>
          <a:p>
            <a:pPr lvl="1" algn="just"/>
            <a:r>
              <a:rPr lang="en-US" altLang="zh-CN" sz="2600" dirty="0">
                <a:latin typeface="Arial" pitchFamily="34" charset="0"/>
                <a:ea typeface="SimSun" pitchFamily="2" charset="-122"/>
                <a:cs typeface="Arial" pitchFamily="34" charset="0"/>
              </a:rPr>
              <a:t>Initialization: Put all symbols on a list sorted according to their frequency counts.</a:t>
            </a:r>
          </a:p>
          <a:p>
            <a:pPr lvl="2" algn="just"/>
            <a:r>
              <a:rPr lang="en-US" altLang="zh-CN" sz="1900" dirty="0">
                <a:latin typeface="Arial" pitchFamily="34" charset="0"/>
                <a:ea typeface="SimSun" pitchFamily="2" charset="-122"/>
                <a:cs typeface="Arial" pitchFamily="34" charset="0"/>
              </a:rPr>
              <a:t>This might not be available !</a:t>
            </a:r>
          </a:p>
          <a:p>
            <a:pPr lvl="1" algn="just"/>
            <a:r>
              <a:rPr lang="en-US" altLang="zh-CN" sz="2600" dirty="0">
                <a:latin typeface="Arial" pitchFamily="34" charset="0"/>
                <a:ea typeface="SimSun" pitchFamily="2" charset="-122"/>
                <a:cs typeface="Arial" pitchFamily="34" charset="0"/>
              </a:rPr>
              <a:t>Repeat until the list has only one symbol left:</a:t>
            </a:r>
          </a:p>
          <a:p>
            <a:pPr lvl="2" algn="just">
              <a:buFontTx/>
              <a:buNone/>
            </a:pPr>
            <a:r>
              <a:rPr lang="en-US" altLang="zh-CN" sz="1700" dirty="0">
                <a:latin typeface="Arial" pitchFamily="34" charset="0"/>
                <a:ea typeface="SimSun" pitchFamily="2" charset="-122"/>
                <a:cs typeface="Arial" pitchFamily="34" charset="0"/>
              </a:rPr>
              <a:t>       (1) From the list pick two symbols with the lowest frequency counts. Form a Huffman sub tree that has these two symbols as child nodes and create a parent node.</a:t>
            </a:r>
          </a:p>
          <a:p>
            <a:pPr lvl="2" algn="just">
              <a:buFontTx/>
              <a:buNone/>
            </a:pPr>
            <a:r>
              <a:rPr lang="en-US" altLang="zh-CN" sz="1700" dirty="0">
                <a:latin typeface="Arial" pitchFamily="34" charset="0"/>
                <a:ea typeface="SimSun" pitchFamily="2" charset="-122"/>
                <a:cs typeface="Arial" pitchFamily="34" charset="0"/>
              </a:rPr>
              <a:t>       (2) Assign the sum of the children's frequency counts to the parent and insert it into the list such that the order is maintained.</a:t>
            </a:r>
          </a:p>
          <a:p>
            <a:pPr lvl="2" algn="just">
              <a:buFontTx/>
              <a:buNone/>
            </a:pPr>
            <a:r>
              <a:rPr lang="en-US" altLang="zh-CN" sz="1700" dirty="0">
                <a:latin typeface="Arial" pitchFamily="34" charset="0"/>
                <a:ea typeface="SimSun" pitchFamily="2" charset="-122"/>
                <a:cs typeface="Arial" pitchFamily="34" charset="0"/>
              </a:rPr>
              <a:t>       (3) Delete the children from the list.</a:t>
            </a:r>
          </a:p>
          <a:p>
            <a:pPr lvl="1" algn="just"/>
            <a:r>
              <a:rPr lang="en-US" altLang="zh-CN" sz="2600" dirty="0">
                <a:latin typeface="Arial" pitchFamily="34" charset="0"/>
                <a:ea typeface="SimSun" pitchFamily="2" charset="-122"/>
                <a:cs typeface="Arial" pitchFamily="34" charset="0"/>
              </a:rPr>
              <a:t>Assign a codeword for each leaf based on the path from the root.</a:t>
            </a:r>
          </a:p>
          <a:p>
            <a:endParaRPr lang="zh-CN" altLang="en-US" sz="2800" dirty="0">
              <a:ea typeface="SimSun" pitchFamily="2" charset="-122"/>
              <a:cs typeface="Majalla U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2DAAA8-70BA-4427-97CE-22A635A22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05D1B-86FF-42DB-AA12-6D356DF4C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Huffman Tree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F34E-3449-47B3-B234-1D2428C85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five symbols of the alphabet of a discrete memoryless source and their probabilities are given.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F59D0-3C33-45EA-92CA-6878D8D14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540521"/>
            <a:ext cx="8250115" cy="3815829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9C5E363-E347-400E-AEA0-80E00363EF4A}"/>
              </a:ext>
            </a:extLst>
          </p:cNvPr>
          <p:cNvSpPr/>
          <p:nvPr/>
        </p:nvSpPr>
        <p:spPr>
          <a:xfrm>
            <a:off x="3129258" y="5635189"/>
            <a:ext cx="428209" cy="358548"/>
          </a:xfrm>
          <a:custGeom>
            <a:avLst/>
            <a:gdLst>
              <a:gd name="connsiteX0" fmla="*/ 373597 w 428209"/>
              <a:gd name="connsiteY0" fmla="*/ 343580 h 358548"/>
              <a:gd name="connsiteX1" fmla="*/ 218853 w 428209"/>
              <a:gd name="connsiteY1" fmla="*/ 343580 h 358548"/>
              <a:gd name="connsiteX2" fmla="*/ 190717 w 428209"/>
              <a:gd name="connsiteY2" fmla="*/ 315445 h 358548"/>
              <a:gd name="connsiteX3" fmla="*/ 134447 w 428209"/>
              <a:gd name="connsiteY3" fmla="*/ 301377 h 358548"/>
              <a:gd name="connsiteX4" fmla="*/ 92244 w 428209"/>
              <a:gd name="connsiteY4" fmla="*/ 273242 h 358548"/>
              <a:gd name="connsiteX5" fmla="*/ 21905 w 428209"/>
              <a:gd name="connsiteY5" fmla="*/ 216971 h 358548"/>
              <a:gd name="connsiteX6" fmla="*/ 21905 w 428209"/>
              <a:gd name="connsiteY6" fmla="*/ 62226 h 358548"/>
              <a:gd name="connsiteX7" fmla="*/ 106311 w 428209"/>
              <a:gd name="connsiteY7" fmla="*/ 34091 h 358548"/>
              <a:gd name="connsiteX8" fmla="*/ 246988 w 428209"/>
              <a:gd name="connsiteY8" fmla="*/ 5956 h 358548"/>
              <a:gd name="connsiteX9" fmla="*/ 415800 w 428209"/>
              <a:gd name="connsiteY9" fmla="*/ 20023 h 358548"/>
              <a:gd name="connsiteX10" fmla="*/ 401733 w 428209"/>
              <a:gd name="connsiteY10" fmla="*/ 146633 h 358548"/>
              <a:gd name="connsiteX11" fmla="*/ 317327 w 428209"/>
              <a:gd name="connsiteY11" fmla="*/ 315445 h 358548"/>
              <a:gd name="connsiteX12" fmla="*/ 303259 w 428209"/>
              <a:gd name="connsiteY12" fmla="*/ 329513 h 35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8209" h="358548">
                <a:moveTo>
                  <a:pt x="373597" y="343580"/>
                </a:moveTo>
                <a:cubicBezTo>
                  <a:pt x="308087" y="356682"/>
                  <a:pt x="287718" y="369404"/>
                  <a:pt x="218853" y="343580"/>
                </a:cubicBezTo>
                <a:cubicBezTo>
                  <a:pt x="206434" y="338923"/>
                  <a:pt x="202580" y="321376"/>
                  <a:pt x="190717" y="315445"/>
                </a:cubicBezTo>
                <a:cubicBezTo>
                  <a:pt x="173424" y="306799"/>
                  <a:pt x="153204" y="306066"/>
                  <a:pt x="134447" y="301377"/>
                </a:cubicBezTo>
                <a:cubicBezTo>
                  <a:pt x="120379" y="291999"/>
                  <a:pt x="105446" y="283804"/>
                  <a:pt x="92244" y="273242"/>
                </a:cubicBezTo>
                <a:cubicBezTo>
                  <a:pt x="-7983" y="193061"/>
                  <a:pt x="151800" y="303566"/>
                  <a:pt x="21905" y="216971"/>
                </a:cubicBezTo>
                <a:cubicBezTo>
                  <a:pt x="5140" y="166677"/>
                  <a:pt x="-17607" y="118671"/>
                  <a:pt x="21905" y="62226"/>
                </a:cubicBezTo>
                <a:cubicBezTo>
                  <a:pt x="38912" y="37930"/>
                  <a:pt x="78176" y="43469"/>
                  <a:pt x="106311" y="34091"/>
                </a:cubicBezTo>
                <a:cubicBezTo>
                  <a:pt x="179973" y="9537"/>
                  <a:pt x="133828" y="22121"/>
                  <a:pt x="246988" y="5956"/>
                </a:cubicBezTo>
                <a:cubicBezTo>
                  <a:pt x="303259" y="10645"/>
                  <a:pt x="374019" y="-17960"/>
                  <a:pt x="415800" y="20023"/>
                </a:cubicBezTo>
                <a:cubicBezTo>
                  <a:pt x="447220" y="48587"/>
                  <a:pt x="410061" y="104995"/>
                  <a:pt x="401733" y="146633"/>
                </a:cubicBezTo>
                <a:cubicBezTo>
                  <a:pt x="390292" y="203838"/>
                  <a:pt x="358821" y="273951"/>
                  <a:pt x="317327" y="315445"/>
                </a:cubicBezTo>
                <a:lnTo>
                  <a:pt x="303259" y="329513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6E12AF-36AA-4AF4-B8B4-3B00BFE66825}"/>
              </a:ext>
            </a:extLst>
          </p:cNvPr>
          <p:cNvSpPr/>
          <p:nvPr/>
        </p:nvSpPr>
        <p:spPr>
          <a:xfrm>
            <a:off x="6400800" y="4304714"/>
            <a:ext cx="454711" cy="534572"/>
          </a:xfrm>
          <a:custGeom>
            <a:avLst/>
            <a:gdLst>
              <a:gd name="connsiteX0" fmla="*/ 365760 w 454711"/>
              <a:gd name="connsiteY0" fmla="*/ 464234 h 534572"/>
              <a:gd name="connsiteX1" fmla="*/ 196948 w 454711"/>
              <a:gd name="connsiteY1" fmla="*/ 450166 h 534572"/>
              <a:gd name="connsiteX2" fmla="*/ 98474 w 454711"/>
              <a:gd name="connsiteY2" fmla="*/ 422031 h 534572"/>
              <a:gd name="connsiteX3" fmla="*/ 70338 w 454711"/>
              <a:gd name="connsiteY3" fmla="*/ 393895 h 534572"/>
              <a:gd name="connsiteX4" fmla="*/ 28135 w 454711"/>
              <a:gd name="connsiteY4" fmla="*/ 365760 h 534572"/>
              <a:gd name="connsiteX5" fmla="*/ 0 w 454711"/>
              <a:gd name="connsiteY5" fmla="*/ 281354 h 534572"/>
              <a:gd name="connsiteX6" fmla="*/ 14068 w 454711"/>
              <a:gd name="connsiteY6" fmla="*/ 56271 h 534572"/>
              <a:gd name="connsiteX7" fmla="*/ 42203 w 454711"/>
              <a:gd name="connsiteY7" fmla="*/ 28135 h 534572"/>
              <a:gd name="connsiteX8" fmla="*/ 126609 w 454711"/>
              <a:gd name="connsiteY8" fmla="*/ 0 h 534572"/>
              <a:gd name="connsiteX9" fmla="*/ 309489 w 454711"/>
              <a:gd name="connsiteY9" fmla="*/ 14068 h 534572"/>
              <a:gd name="connsiteX10" fmla="*/ 323557 w 454711"/>
              <a:gd name="connsiteY10" fmla="*/ 56271 h 534572"/>
              <a:gd name="connsiteX11" fmla="*/ 379828 w 454711"/>
              <a:gd name="connsiteY11" fmla="*/ 140677 h 534572"/>
              <a:gd name="connsiteX12" fmla="*/ 407963 w 454711"/>
              <a:gd name="connsiteY12" fmla="*/ 182880 h 534572"/>
              <a:gd name="connsiteX13" fmla="*/ 450166 w 454711"/>
              <a:gd name="connsiteY13" fmla="*/ 281354 h 534572"/>
              <a:gd name="connsiteX14" fmla="*/ 393895 w 454711"/>
              <a:gd name="connsiteY14" fmla="*/ 520504 h 534572"/>
              <a:gd name="connsiteX15" fmla="*/ 365760 w 454711"/>
              <a:gd name="connsiteY15" fmla="*/ 534572 h 534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4711" h="534572">
                <a:moveTo>
                  <a:pt x="365760" y="464234"/>
                </a:moveTo>
                <a:cubicBezTo>
                  <a:pt x="309489" y="459545"/>
                  <a:pt x="252978" y="457170"/>
                  <a:pt x="196948" y="450166"/>
                </a:cubicBezTo>
                <a:cubicBezTo>
                  <a:pt x="168690" y="446634"/>
                  <a:pt x="126501" y="431373"/>
                  <a:pt x="98474" y="422031"/>
                </a:cubicBezTo>
                <a:cubicBezTo>
                  <a:pt x="89095" y="412652"/>
                  <a:pt x="80695" y="402181"/>
                  <a:pt x="70338" y="393895"/>
                </a:cubicBezTo>
                <a:cubicBezTo>
                  <a:pt x="57136" y="383333"/>
                  <a:pt x="37096" y="380097"/>
                  <a:pt x="28135" y="365760"/>
                </a:cubicBezTo>
                <a:cubicBezTo>
                  <a:pt x="12417" y="340611"/>
                  <a:pt x="0" y="281354"/>
                  <a:pt x="0" y="281354"/>
                </a:cubicBezTo>
                <a:cubicBezTo>
                  <a:pt x="4689" y="206326"/>
                  <a:pt x="1710" y="130422"/>
                  <a:pt x="14068" y="56271"/>
                </a:cubicBezTo>
                <a:cubicBezTo>
                  <a:pt x="16248" y="43188"/>
                  <a:pt x="30340" y="34067"/>
                  <a:pt x="42203" y="28135"/>
                </a:cubicBezTo>
                <a:cubicBezTo>
                  <a:pt x="68729" y="14872"/>
                  <a:pt x="126609" y="0"/>
                  <a:pt x="126609" y="0"/>
                </a:cubicBezTo>
                <a:cubicBezTo>
                  <a:pt x="187569" y="4689"/>
                  <a:pt x="250701" y="-2729"/>
                  <a:pt x="309489" y="14068"/>
                </a:cubicBezTo>
                <a:cubicBezTo>
                  <a:pt x="323747" y="18142"/>
                  <a:pt x="316356" y="43308"/>
                  <a:pt x="323557" y="56271"/>
                </a:cubicBezTo>
                <a:cubicBezTo>
                  <a:pt x="339979" y="85830"/>
                  <a:pt x="361071" y="112542"/>
                  <a:pt x="379828" y="140677"/>
                </a:cubicBezTo>
                <a:cubicBezTo>
                  <a:pt x="389206" y="154745"/>
                  <a:pt x="400402" y="167758"/>
                  <a:pt x="407963" y="182880"/>
                </a:cubicBezTo>
                <a:cubicBezTo>
                  <a:pt x="442729" y="252414"/>
                  <a:pt x="429466" y="219256"/>
                  <a:pt x="450166" y="281354"/>
                </a:cubicBezTo>
                <a:cubicBezTo>
                  <a:pt x="436920" y="480040"/>
                  <a:pt x="494286" y="460269"/>
                  <a:pt x="393895" y="520504"/>
                </a:cubicBezTo>
                <a:cubicBezTo>
                  <a:pt x="384904" y="525899"/>
                  <a:pt x="375138" y="529883"/>
                  <a:pt x="365760" y="5345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A013D78-5B07-4C37-BFA7-56598FA84905}"/>
              </a:ext>
            </a:extLst>
          </p:cNvPr>
          <p:cNvSpPr/>
          <p:nvPr/>
        </p:nvSpPr>
        <p:spPr>
          <a:xfrm>
            <a:off x="7985346" y="3263705"/>
            <a:ext cx="708488" cy="464233"/>
          </a:xfrm>
          <a:custGeom>
            <a:avLst/>
            <a:gdLst>
              <a:gd name="connsiteX0" fmla="*/ 525608 w 708488"/>
              <a:gd name="connsiteY0" fmla="*/ 464233 h 464233"/>
              <a:gd name="connsiteX1" fmla="*/ 103577 w 708488"/>
              <a:gd name="connsiteY1" fmla="*/ 450166 h 464233"/>
              <a:gd name="connsiteX2" fmla="*/ 33239 w 708488"/>
              <a:gd name="connsiteY2" fmla="*/ 379827 h 464233"/>
              <a:gd name="connsiteX3" fmla="*/ 5103 w 708488"/>
              <a:gd name="connsiteY3" fmla="*/ 295421 h 464233"/>
              <a:gd name="connsiteX4" fmla="*/ 47306 w 708488"/>
              <a:gd name="connsiteY4" fmla="*/ 14067 h 464233"/>
              <a:gd name="connsiteX5" fmla="*/ 89509 w 708488"/>
              <a:gd name="connsiteY5" fmla="*/ 0 h 464233"/>
              <a:gd name="connsiteX6" fmla="*/ 666285 w 708488"/>
              <a:gd name="connsiteY6" fmla="*/ 14067 h 464233"/>
              <a:gd name="connsiteX7" fmla="*/ 694420 w 708488"/>
              <a:gd name="connsiteY7" fmla="*/ 42203 h 464233"/>
              <a:gd name="connsiteX8" fmla="*/ 708488 w 708488"/>
              <a:gd name="connsiteY8" fmla="*/ 84406 h 464233"/>
              <a:gd name="connsiteX9" fmla="*/ 680352 w 708488"/>
              <a:gd name="connsiteY9" fmla="*/ 239150 h 464233"/>
              <a:gd name="connsiteX10" fmla="*/ 610014 w 708488"/>
              <a:gd name="connsiteY10" fmla="*/ 295421 h 464233"/>
              <a:gd name="connsiteX11" fmla="*/ 567811 w 708488"/>
              <a:gd name="connsiteY11" fmla="*/ 309489 h 464233"/>
              <a:gd name="connsiteX12" fmla="*/ 525608 w 708488"/>
              <a:gd name="connsiteY12" fmla="*/ 337624 h 464233"/>
              <a:gd name="connsiteX13" fmla="*/ 483405 w 708488"/>
              <a:gd name="connsiteY13" fmla="*/ 351692 h 464233"/>
              <a:gd name="connsiteX14" fmla="*/ 398999 w 708488"/>
              <a:gd name="connsiteY14" fmla="*/ 393895 h 464233"/>
              <a:gd name="connsiteX15" fmla="*/ 356796 w 708488"/>
              <a:gd name="connsiteY15" fmla="*/ 422030 h 46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08488" h="464233">
                <a:moveTo>
                  <a:pt x="525608" y="464233"/>
                </a:moveTo>
                <a:cubicBezTo>
                  <a:pt x="384931" y="459544"/>
                  <a:pt x="243754" y="462909"/>
                  <a:pt x="103577" y="450166"/>
                </a:cubicBezTo>
                <a:cubicBezTo>
                  <a:pt x="75343" y="447599"/>
                  <a:pt x="42716" y="401150"/>
                  <a:pt x="33239" y="379827"/>
                </a:cubicBezTo>
                <a:cubicBezTo>
                  <a:pt x="21194" y="352726"/>
                  <a:pt x="5103" y="295421"/>
                  <a:pt x="5103" y="295421"/>
                </a:cubicBezTo>
                <a:cubicBezTo>
                  <a:pt x="5381" y="290694"/>
                  <a:pt x="-21994" y="69507"/>
                  <a:pt x="47306" y="14067"/>
                </a:cubicBezTo>
                <a:cubicBezTo>
                  <a:pt x="58885" y="4804"/>
                  <a:pt x="75441" y="4689"/>
                  <a:pt x="89509" y="0"/>
                </a:cubicBezTo>
                <a:cubicBezTo>
                  <a:pt x="281768" y="4689"/>
                  <a:pt x="474436" y="682"/>
                  <a:pt x="666285" y="14067"/>
                </a:cubicBezTo>
                <a:cubicBezTo>
                  <a:pt x="679516" y="14990"/>
                  <a:pt x="687596" y="30830"/>
                  <a:pt x="694420" y="42203"/>
                </a:cubicBezTo>
                <a:cubicBezTo>
                  <a:pt x="702049" y="54919"/>
                  <a:pt x="703799" y="70338"/>
                  <a:pt x="708488" y="84406"/>
                </a:cubicBezTo>
                <a:cubicBezTo>
                  <a:pt x="706548" y="99926"/>
                  <a:pt x="700897" y="204908"/>
                  <a:pt x="680352" y="239150"/>
                </a:cubicBezTo>
                <a:cubicBezTo>
                  <a:pt x="669136" y="257844"/>
                  <a:pt x="626446" y="287205"/>
                  <a:pt x="610014" y="295421"/>
                </a:cubicBezTo>
                <a:cubicBezTo>
                  <a:pt x="596751" y="302053"/>
                  <a:pt x="581074" y="302857"/>
                  <a:pt x="567811" y="309489"/>
                </a:cubicBezTo>
                <a:cubicBezTo>
                  <a:pt x="552689" y="317050"/>
                  <a:pt x="540730" y="330063"/>
                  <a:pt x="525608" y="337624"/>
                </a:cubicBezTo>
                <a:cubicBezTo>
                  <a:pt x="512345" y="344256"/>
                  <a:pt x="496668" y="345060"/>
                  <a:pt x="483405" y="351692"/>
                </a:cubicBezTo>
                <a:cubicBezTo>
                  <a:pt x="374323" y="406233"/>
                  <a:pt x="505078" y="358535"/>
                  <a:pt x="398999" y="393895"/>
                </a:cubicBezTo>
                <a:cubicBezTo>
                  <a:pt x="367547" y="425346"/>
                  <a:pt x="384126" y="422030"/>
                  <a:pt x="356796" y="4220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9797DA9-BEDD-46F3-9162-705CCD85D91A}"/>
              </a:ext>
            </a:extLst>
          </p:cNvPr>
          <p:cNvSpPr/>
          <p:nvPr/>
        </p:nvSpPr>
        <p:spPr>
          <a:xfrm>
            <a:off x="1561514" y="3570873"/>
            <a:ext cx="1055077" cy="58592"/>
          </a:xfrm>
          <a:custGeom>
            <a:avLst/>
            <a:gdLst>
              <a:gd name="connsiteX0" fmla="*/ 0 w 1055077"/>
              <a:gd name="connsiteY0" fmla="*/ 58592 h 58592"/>
              <a:gd name="connsiteX1" fmla="*/ 506437 w 1055077"/>
              <a:gd name="connsiteY1" fmla="*/ 2321 h 58592"/>
              <a:gd name="connsiteX2" fmla="*/ 1055077 w 1055077"/>
              <a:gd name="connsiteY2" fmla="*/ 2321 h 5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5077" h="58592">
                <a:moveTo>
                  <a:pt x="0" y="58592"/>
                </a:moveTo>
                <a:cubicBezTo>
                  <a:pt x="197849" y="-20550"/>
                  <a:pt x="89778" y="14225"/>
                  <a:pt x="506437" y="2321"/>
                </a:cubicBezTo>
                <a:cubicBezTo>
                  <a:pt x="689242" y="-2902"/>
                  <a:pt x="872197" y="2321"/>
                  <a:pt x="1055077" y="23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66A0F3-FD7B-41B4-9E2E-01AE9E91A434}"/>
              </a:ext>
            </a:extLst>
          </p:cNvPr>
          <p:cNvSpPr/>
          <p:nvPr/>
        </p:nvSpPr>
        <p:spPr>
          <a:xfrm>
            <a:off x="3094892" y="3573194"/>
            <a:ext cx="1294228" cy="99126"/>
          </a:xfrm>
          <a:custGeom>
            <a:avLst/>
            <a:gdLst>
              <a:gd name="connsiteX0" fmla="*/ 0 w 1294228"/>
              <a:gd name="connsiteY0" fmla="*/ 0 h 99126"/>
              <a:gd name="connsiteX1" fmla="*/ 84406 w 1294228"/>
              <a:gd name="connsiteY1" fmla="*/ 14068 h 99126"/>
              <a:gd name="connsiteX2" fmla="*/ 914400 w 1294228"/>
              <a:gd name="connsiteY2" fmla="*/ 56271 h 99126"/>
              <a:gd name="connsiteX3" fmla="*/ 1026942 w 1294228"/>
              <a:gd name="connsiteY3" fmla="*/ 70338 h 99126"/>
              <a:gd name="connsiteX4" fmla="*/ 1083213 w 1294228"/>
              <a:gd name="connsiteY4" fmla="*/ 98474 h 99126"/>
              <a:gd name="connsiteX5" fmla="*/ 1294228 w 1294228"/>
              <a:gd name="connsiteY5" fmla="*/ 84406 h 99126"/>
              <a:gd name="connsiteX6" fmla="*/ 942536 w 1294228"/>
              <a:gd name="connsiteY6" fmla="*/ 56271 h 9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4228" h="99126">
                <a:moveTo>
                  <a:pt x="0" y="0"/>
                </a:moveTo>
                <a:cubicBezTo>
                  <a:pt x="28135" y="4689"/>
                  <a:pt x="56015" y="11321"/>
                  <a:pt x="84406" y="14068"/>
                </a:cubicBezTo>
                <a:cubicBezTo>
                  <a:pt x="467916" y="51182"/>
                  <a:pt x="491029" y="43819"/>
                  <a:pt x="914400" y="56271"/>
                </a:cubicBezTo>
                <a:cubicBezTo>
                  <a:pt x="951914" y="60960"/>
                  <a:pt x="990265" y="61169"/>
                  <a:pt x="1026942" y="70338"/>
                </a:cubicBezTo>
                <a:cubicBezTo>
                  <a:pt x="1047287" y="75424"/>
                  <a:pt x="1062271" y="97372"/>
                  <a:pt x="1083213" y="98474"/>
                </a:cubicBezTo>
                <a:cubicBezTo>
                  <a:pt x="1153610" y="102179"/>
                  <a:pt x="1223890" y="89095"/>
                  <a:pt x="1294228" y="84406"/>
                </a:cubicBezTo>
                <a:cubicBezTo>
                  <a:pt x="1055732" y="47715"/>
                  <a:pt x="1173025" y="56271"/>
                  <a:pt x="942536" y="5627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C180D95-2FF6-4BA9-BAAA-96FF5076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51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2C05-DFA0-4791-9913-F6EE6427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Huffman Tree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E14DDB-599D-4A65-83D5-F4935BF0D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8800"/>
            <a:ext cx="8417881" cy="3528392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61D99D8-0AF0-44F8-B66A-E1F70CFFF13A}"/>
              </a:ext>
            </a:extLst>
          </p:cNvPr>
          <p:cNvSpPr/>
          <p:nvPr/>
        </p:nvSpPr>
        <p:spPr>
          <a:xfrm>
            <a:off x="2946588" y="4610697"/>
            <a:ext cx="485929" cy="333976"/>
          </a:xfrm>
          <a:custGeom>
            <a:avLst/>
            <a:gdLst>
              <a:gd name="connsiteX0" fmla="*/ 485929 w 485929"/>
              <a:gd name="connsiteY0" fmla="*/ 312995 h 333976"/>
              <a:gd name="connsiteX1" fmla="*/ 7627 w 485929"/>
              <a:gd name="connsiteY1" fmla="*/ 256725 h 333976"/>
              <a:gd name="connsiteX2" fmla="*/ 373387 w 485929"/>
              <a:gd name="connsiteY2" fmla="*/ 73845 h 333976"/>
              <a:gd name="connsiteX3" fmla="*/ 359320 w 485929"/>
              <a:gd name="connsiteY3" fmla="*/ 228589 h 333976"/>
              <a:gd name="connsiteX4" fmla="*/ 274914 w 485929"/>
              <a:gd name="connsiteY4" fmla="*/ 256725 h 333976"/>
              <a:gd name="connsiteX5" fmla="*/ 190507 w 485929"/>
              <a:gd name="connsiteY5" fmla="*/ 284860 h 333976"/>
              <a:gd name="connsiteX6" fmla="*/ 120169 w 485929"/>
              <a:gd name="connsiteY6" fmla="*/ 3506 h 333976"/>
              <a:gd name="connsiteX7" fmla="*/ 288981 w 485929"/>
              <a:gd name="connsiteY7" fmla="*/ 31641 h 333976"/>
              <a:gd name="connsiteX8" fmla="*/ 317117 w 485929"/>
              <a:gd name="connsiteY8" fmla="*/ 116048 h 333976"/>
              <a:gd name="connsiteX9" fmla="*/ 331184 w 485929"/>
              <a:gd name="connsiteY9" fmla="*/ 158251 h 333976"/>
              <a:gd name="connsiteX10" fmla="*/ 331184 w 485929"/>
              <a:gd name="connsiteY10" fmla="*/ 228589 h 33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929" h="333976">
                <a:moveTo>
                  <a:pt x="485929" y="312995"/>
                </a:moveTo>
                <a:cubicBezTo>
                  <a:pt x="326495" y="294238"/>
                  <a:pt x="75982" y="401979"/>
                  <a:pt x="7627" y="256725"/>
                </a:cubicBezTo>
                <a:cubicBezTo>
                  <a:pt x="-50414" y="133389"/>
                  <a:pt x="237510" y="84715"/>
                  <a:pt x="373387" y="73845"/>
                </a:cubicBezTo>
                <a:cubicBezTo>
                  <a:pt x="425016" y="69715"/>
                  <a:pt x="383875" y="182986"/>
                  <a:pt x="359320" y="228589"/>
                </a:cubicBezTo>
                <a:cubicBezTo>
                  <a:pt x="345260" y="254701"/>
                  <a:pt x="303049" y="247347"/>
                  <a:pt x="274914" y="256725"/>
                </a:cubicBezTo>
                <a:lnTo>
                  <a:pt x="190507" y="284860"/>
                </a:lnTo>
                <a:cubicBezTo>
                  <a:pt x="57145" y="262632"/>
                  <a:pt x="-17537" y="278919"/>
                  <a:pt x="120169" y="3506"/>
                </a:cubicBezTo>
                <a:cubicBezTo>
                  <a:pt x="127486" y="-11128"/>
                  <a:pt x="259657" y="24310"/>
                  <a:pt x="288981" y="31641"/>
                </a:cubicBezTo>
                <a:lnTo>
                  <a:pt x="317117" y="116048"/>
                </a:lnTo>
                <a:cubicBezTo>
                  <a:pt x="321806" y="130116"/>
                  <a:pt x="331184" y="143422"/>
                  <a:pt x="331184" y="158251"/>
                </a:cubicBezTo>
                <a:lnTo>
                  <a:pt x="331184" y="228589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CF05BF-25F8-40E0-A343-C270DC6B3BEB}"/>
              </a:ext>
            </a:extLst>
          </p:cNvPr>
          <p:cNvSpPr/>
          <p:nvPr/>
        </p:nvSpPr>
        <p:spPr>
          <a:xfrm>
            <a:off x="6462451" y="3235569"/>
            <a:ext cx="530124" cy="534611"/>
          </a:xfrm>
          <a:custGeom>
            <a:avLst/>
            <a:gdLst>
              <a:gd name="connsiteX0" fmla="*/ 318177 w 530124"/>
              <a:gd name="connsiteY0" fmla="*/ 436099 h 534611"/>
              <a:gd name="connsiteX1" fmla="*/ 107161 w 530124"/>
              <a:gd name="connsiteY1" fmla="*/ 422031 h 534611"/>
              <a:gd name="connsiteX2" fmla="*/ 79026 w 530124"/>
              <a:gd name="connsiteY2" fmla="*/ 379828 h 534611"/>
              <a:gd name="connsiteX3" fmla="*/ 36823 w 530124"/>
              <a:gd name="connsiteY3" fmla="*/ 365760 h 534611"/>
              <a:gd name="connsiteX4" fmla="*/ 22755 w 530124"/>
              <a:gd name="connsiteY4" fmla="*/ 56271 h 534611"/>
              <a:gd name="connsiteX5" fmla="*/ 50891 w 530124"/>
              <a:gd name="connsiteY5" fmla="*/ 28136 h 534611"/>
              <a:gd name="connsiteX6" fmla="*/ 135297 w 530124"/>
              <a:gd name="connsiteY6" fmla="*/ 0 h 534611"/>
              <a:gd name="connsiteX7" fmla="*/ 304109 w 530124"/>
              <a:gd name="connsiteY7" fmla="*/ 14068 h 534611"/>
              <a:gd name="connsiteX8" fmla="*/ 402583 w 530124"/>
              <a:gd name="connsiteY8" fmla="*/ 70339 h 534611"/>
              <a:gd name="connsiteX9" fmla="*/ 430718 w 530124"/>
              <a:gd name="connsiteY9" fmla="*/ 112542 h 534611"/>
              <a:gd name="connsiteX10" fmla="*/ 458854 w 530124"/>
              <a:gd name="connsiteY10" fmla="*/ 140677 h 534611"/>
              <a:gd name="connsiteX11" fmla="*/ 472921 w 530124"/>
              <a:gd name="connsiteY11" fmla="*/ 182880 h 534611"/>
              <a:gd name="connsiteX12" fmla="*/ 501057 w 530124"/>
              <a:gd name="connsiteY12" fmla="*/ 239151 h 534611"/>
              <a:gd name="connsiteX13" fmla="*/ 501057 w 530124"/>
              <a:gd name="connsiteY13" fmla="*/ 506437 h 534611"/>
              <a:gd name="connsiteX14" fmla="*/ 360380 w 530124"/>
              <a:gd name="connsiteY14" fmla="*/ 520505 h 534611"/>
              <a:gd name="connsiteX15" fmla="*/ 304109 w 530124"/>
              <a:gd name="connsiteY15" fmla="*/ 534573 h 534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0124" h="534611">
                <a:moveTo>
                  <a:pt x="318177" y="436099"/>
                </a:moveTo>
                <a:cubicBezTo>
                  <a:pt x="247838" y="431410"/>
                  <a:pt x="175782" y="438177"/>
                  <a:pt x="107161" y="422031"/>
                </a:cubicBezTo>
                <a:cubicBezTo>
                  <a:pt x="90703" y="418159"/>
                  <a:pt x="92228" y="390390"/>
                  <a:pt x="79026" y="379828"/>
                </a:cubicBezTo>
                <a:cubicBezTo>
                  <a:pt x="67447" y="370565"/>
                  <a:pt x="50891" y="370449"/>
                  <a:pt x="36823" y="365760"/>
                </a:cubicBezTo>
                <a:cubicBezTo>
                  <a:pt x="-8108" y="230970"/>
                  <a:pt x="-10850" y="257895"/>
                  <a:pt x="22755" y="56271"/>
                </a:cubicBezTo>
                <a:cubicBezTo>
                  <a:pt x="24936" y="43188"/>
                  <a:pt x="39028" y="34067"/>
                  <a:pt x="50891" y="28136"/>
                </a:cubicBezTo>
                <a:cubicBezTo>
                  <a:pt x="77417" y="14873"/>
                  <a:pt x="135297" y="0"/>
                  <a:pt x="135297" y="0"/>
                </a:cubicBezTo>
                <a:cubicBezTo>
                  <a:pt x="191568" y="4689"/>
                  <a:pt x="248610" y="3662"/>
                  <a:pt x="304109" y="14068"/>
                </a:cubicBezTo>
                <a:cubicBezTo>
                  <a:pt x="328944" y="18725"/>
                  <a:pt x="380468" y="55595"/>
                  <a:pt x="402583" y="70339"/>
                </a:cubicBezTo>
                <a:cubicBezTo>
                  <a:pt x="411961" y="84407"/>
                  <a:pt x="420156" y="99340"/>
                  <a:pt x="430718" y="112542"/>
                </a:cubicBezTo>
                <a:cubicBezTo>
                  <a:pt x="439004" y="122899"/>
                  <a:pt x="452030" y="129304"/>
                  <a:pt x="458854" y="140677"/>
                </a:cubicBezTo>
                <a:cubicBezTo>
                  <a:pt x="466483" y="153392"/>
                  <a:pt x="467080" y="169250"/>
                  <a:pt x="472921" y="182880"/>
                </a:cubicBezTo>
                <a:cubicBezTo>
                  <a:pt x="481182" y="202155"/>
                  <a:pt x="491678" y="220394"/>
                  <a:pt x="501057" y="239151"/>
                </a:cubicBezTo>
                <a:cubicBezTo>
                  <a:pt x="521764" y="321982"/>
                  <a:pt x="554537" y="428647"/>
                  <a:pt x="501057" y="506437"/>
                </a:cubicBezTo>
                <a:cubicBezTo>
                  <a:pt x="474359" y="545271"/>
                  <a:pt x="407272" y="515816"/>
                  <a:pt x="360380" y="520505"/>
                </a:cubicBezTo>
                <a:cubicBezTo>
                  <a:pt x="313728" y="536056"/>
                  <a:pt x="333006" y="534573"/>
                  <a:pt x="304109" y="53457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9E930B4-A5A6-4892-9B27-A0A9586B6C06}"/>
              </a:ext>
            </a:extLst>
          </p:cNvPr>
          <p:cNvSpPr/>
          <p:nvPr/>
        </p:nvSpPr>
        <p:spPr>
          <a:xfrm>
            <a:off x="8326939" y="2053883"/>
            <a:ext cx="312062" cy="436099"/>
          </a:xfrm>
          <a:custGeom>
            <a:avLst/>
            <a:gdLst>
              <a:gd name="connsiteX0" fmla="*/ 310624 w 312062"/>
              <a:gd name="connsiteY0" fmla="*/ 295422 h 436099"/>
              <a:gd name="connsiteX1" fmla="*/ 268421 w 312062"/>
              <a:gd name="connsiteY1" fmla="*/ 365760 h 436099"/>
              <a:gd name="connsiteX2" fmla="*/ 240286 w 312062"/>
              <a:gd name="connsiteY2" fmla="*/ 422031 h 436099"/>
              <a:gd name="connsiteX3" fmla="*/ 198083 w 312062"/>
              <a:gd name="connsiteY3" fmla="*/ 436099 h 436099"/>
              <a:gd name="connsiteX4" fmla="*/ 127744 w 312062"/>
              <a:gd name="connsiteY4" fmla="*/ 422031 h 436099"/>
              <a:gd name="connsiteX5" fmla="*/ 99609 w 312062"/>
              <a:gd name="connsiteY5" fmla="*/ 393895 h 436099"/>
              <a:gd name="connsiteX6" fmla="*/ 57406 w 312062"/>
              <a:gd name="connsiteY6" fmla="*/ 379828 h 436099"/>
              <a:gd name="connsiteX7" fmla="*/ 43338 w 312062"/>
              <a:gd name="connsiteY7" fmla="*/ 337625 h 436099"/>
              <a:gd name="connsiteX8" fmla="*/ 15203 w 312062"/>
              <a:gd name="connsiteY8" fmla="*/ 309489 h 436099"/>
              <a:gd name="connsiteX9" fmla="*/ 1135 w 312062"/>
              <a:gd name="connsiteY9" fmla="*/ 225083 h 436099"/>
              <a:gd name="connsiteX10" fmla="*/ 15203 w 312062"/>
              <a:gd name="connsiteY10" fmla="*/ 28135 h 436099"/>
              <a:gd name="connsiteX11" fmla="*/ 99609 w 312062"/>
              <a:gd name="connsiteY11" fmla="*/ 0 h 436099"/>
              <a:gd name="connsiteX12" fmla="*/ 198083 w 312062"/>
              <a:gd name="connsiteY12" fmla="*/ 14068 h 436099"/>
              <a:gd name="connsiteX13" fmla="*/ 240286 w 312062"/>
              <a:gd name="connsiteY13" fmla="*/ 70339 h 436099"/>
              <a:gd name="connsiteX14" fmla="*/ 296556 w 312062"/>
              <a:gd name="connsiteY14" fmla="*/ 196948 h 436099"/>
              <a:gd name="connsiteX15" fmla="*/ 310624 w 312062"/>
              <a:gd name="connsiteY15" fmla="*/ 253219 h 436099"/>
              <a:gd name="connsiteX16" fmla="*/ 310624 w 312062"/>
              <a:gd name="connsiteY16" fmla="*/ 379828 h 43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062" h="436099">
                <a:moveTo>
                  <a:pt x="310624" y="295422"/>
                </a:moveTo>
                <a:cubicBezTo>
                  <a:pt x="296556" y="318868"/>
                  <a:pt x="281700" y="341858"/>
                  <a:pt x="268421" y="365760"/>
                </a:cubicBezTo>
                <a:cubicBezTo>
                  <a:pt x="258237" y="384092"/>
                  <a:pt x="255115" y="407202"/>
                  <a:pt x="240286" y="422031"/>
                </a:cubicBezTo>
                <a:cubicBezTo>
                  <a:pt x="229801" y="432517"/>
                  <a:pt x="212151" y="431410"/>
                  <a:pt x="198083" y="436099"/>
                </a:cubicBezTo>
                <a:cubicBezTo>
                  <a:pt x="174637" y="431410"/>
                  <a:pt x="149721" y="431450"/>
                  <a:pt x="127744" y="422031"/>
                </a:cubicBezTo>
                <a:cubicBezTo>
                  <a:pt x="115553" y="416806"/>
                  <a:pt x="110982" y="400719"/>
                  <a:pt x="99609" y="393895"/>
                </a:cubicBezTo>
                <a:cubicBezTo>
                  <a:pt x="86894" y="386266"/>
                  <a:pt x="71474" y="384517"/>
                  <a:pt x="57406" y="379828"/>
                </a:cubicBezTo>
                <a:cubicBezTo>
                  <a:pt x="52717" y="365760"/>
                  <a:pt x="50967" y="350341"/>
                  <a:pt x="43338" y="337625"/>
                </a:cubicBezTo>
                <a:cubicBezTo>
                  <a:pt x="36514" y="326252"/>
                  <a:pt x="19860" y="321908"/>
                  <a:pt x="15203" y="309489"/>
                </a:cubicBezTo>
                <a:cubicBezTo>
                  <a:pt x="5188" y="282782"/>
                  <a:pt x="5824" y="253218"/>
                  <a:pt x="1135" y="225083"/>
                </a:cubicBezTo>
                <a:cubicBezTo>
                  <a:pt x="5824" y="159434"/>
                  <a:pt x="-11178" y="88433"/>
                  <a:pt x="15203" y="28135"/>
                </a:cubicBezTo>
                <a:cubicBezTo>
                  <a:pt x="27090" y="964"/>
                  <a:pt x="99609" y="0"/>
                  <a:pt x="99609" y="0"/>
                </a:cubicBezTo>
                <a:cubicBezTo>
                  <a:pt x="132434" y="4689"/>
                  <a:pt x="168426" y="-761"/>
                  <a:pt x="198083" y="14068"/>
                </a:cubicBezTo>
                <a:cubicBezTo>
                  <a:pt x="219054" y="24554"/>
                  <a:pt x="226658" y="51260"/>
                  <a:pt x="240286" y="70339"/>
                </a:cubicBezTo>
                <a:cubicBezTo>
                  <a:pt x="275816" y="120081"/>
                  <a:pt x="278959" y="126563"/>
                  <a:pt x="296556" y="196948"/>
                </a:cubicBezTo>
                <a:cubicBezTo>
                  <a:pt x="301245" y="215705"/>
                  <a:pt x="309141" y="233942"/>
                  <a:pt x="310624" y="253219"/>
                </a:cubicBezTo>
                <a:cubicBezTo>
                  <a:pt x="313861" y="295298"/>
                  <a:pt x="310624" y="337625"/>
                  <a:pt x="310624" y="37982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C307F7-8A72-4126-88B0-F9D140F2FDCD}"/>
              </a:ext>
            </a:extLst>
          </p:cNvPr>
          <p:cNvCxnSpPr/>
          <p:nvPr/>
        </p:nvCxnSpPr>
        <p:spPr>
          <a:xfrm>
            <a:off x="1115616" y="4365104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0B3CB-105F-46DF-8CCC-3E40CEDA0F58}"/>
              </a:ext>
            </a:extLst>
          </p:cNvPr>
          <p:cNvSpPr/>
          <p:nvPr/>
        </p:nvSpPr>
        <p:spPr>
          <a:xfrm>
            <a:off x="4754254" y="4009292"/>
            <a:ext cx="366386" cy="534573"/>
          </a:xfrm>
          <a:custGeom>
            <a:avLst/>
            <a:gdLst>
              <a:gd name="connsiteX0" fmla="*/ 366386 w 366386"/>
              <a:gd name="connsiteY0" fmla="*/ 464234 h 534573"/>
              <a:gd name="connsiteX1" fmla="*/ 253844 w 366386"/>
              <a:gd name="connsiteY1" fmla="*/ 422031 h 534573"/>
              <a:gd name="connsiteX2" fmla="*/ 197574 w 366386"/>
              <a:gd name="connsiteY2" fmla="*/ 393896 h 534573"/>
              <a:gd name="connsiteX3" fmla="*/ 127235 w 366386"/>
              <a:gd name="connsiteY3" fmla="*/ 337625 h 534573"/>
              <a:gd name="connsiteX4" fmla="*/ 42829 w 366386"/>
              <a:gd name="connsiteY4" fmla="*/ 225083 h 534573"/>
              <a:gd name="connsiteX5" fmla="*/ 28761 w 366386"/>
              <a:gd name="connsiteY5" fmla="*/ 182880 h 534573"/>
              <a:gd name="connsiteX6" fmla="*/ 626 w 366386"/>
              <a:gd name="connsiteY6" fmla="*/ 140677 h 534573"/>
              <a:gd name="connsiteX7" fmla="*/ 14694 w 366386"/>
              <a:gd name="connsiteY7" fmla="*/ 0 h 534573"/>
              <a:gd name="connsiteX8" fmla="*/ 225709 w 366386"/>
              <a:gd name="connsiteY8" fmla="*/ 56271 h 534573"/>
              <a:gd name="connsiteX9" fmla="*/ 281980 w 366386"/>
              <a:gd name="connsiteY9" fmla="*/ 182880 h 534573"/>
              <a:gd name="connsiteX10" fmla="*/ 296048 w 366386"/>
              <a:gd name="connsiteY10" fmla="*/ 225083 h 534573"/>
              <a:gd name="connsiteX11" fmla="*/ 310115 w 366386"/>
              <a:gd name="connsiteY11" fmla="*/ 323557 h 534573"/>
              <a:gd name="connsiteX12" fmla="*/ 281980 w 366386"/>
              <a:gd name="connsiteY12" fmla="*/ 534573 h 534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66386" h="534573">
                <a:moveTo>
                  <a:pt x="366386" y="464234"/>
                </a:moveTo>
                <a:cubicBezTo>
                  <a:pt x="256954" y="442347"/>
                  <a:pt x="331864" y="466613"/>
                  <a:pt x="253844" y="422031"/>
                </a:cubicBezTo>
                <a:cubicBezTo>
                  <a:pt x="235636" y="411627"/>
                  <a:pt x="215782" y="404300"/>
                  <a:pt x="197574" y="393896"/>
                </a:cubicBezTo>
                <a:cubicBezTo>
                  <a:pt x="173352" y="380055"/>
                  <a:pt x="144564" y="360730"/>
                  <a:pt x="127235" y="337625"/>
                </a:cubicBezTo>
                <a:cubicBezTo>
                  <a:pt x="31785" y="210361"/>
                  <a:pt x="107355" y="289612"/>
                  <a:pt x="42829" y="225083"/>
                </a:cubicBezTo>
                <a:cubicBezTo>
                  <a:pt x="38140" y="211015"/>
                  <a:pt x="35393" y="196143"/>
                  <a:pt x="28761" y="182880"/>
                </a:cubicBezTo>
                <a:cubicBezTo>
                  <a:pt x="21200" y="167758"/>
                  <a:pt x="1923" y="157534"/>
                  <a:pt x="626" y="140677"/>
                </a:cubicBezTo>
                <a:cubicBezTo>
                  <a:pt x="-2988" y="93690"/>
                  <a:pt x="10005" y="46892"/>
                  <a:pt x="14694" y="0"/>
                </a:cubicBezTo>
                <a:cubicBezTo>
                  <a:pt x="161581" y="12241"/>
                  <a:pt x="158289" y="-24633"/>
                  <a:pt x="225709" y="56271"/>
                </a:cubicBezTo>
                <a:cubicBezTo>
                  <a:pt x="262863" y="100856"/>
                  <a:pt x="261533" y="121541"/>
                  <a:pt x="281980" y="182880"/>
                </a:cubicBezTo>
                <a:lnTo>
                  <a:pt x="296048" y="225083"/>
                </a:lnTo>
                <a:cubicBezTo>
                  <a:pt x="300737" y="257908"/>
                  <a:pt x="311621" y="290433"/>
                  <a:pt x="310115" y="323557"/>
                </a:cubicBezTo>
                <a:cubicBezTo>
                  <a:pt x="306893" y="394445"/>
                  <a:pt x="281980" y="534573"/>
                  <a:pt x="281980" y="53457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4866B0-9646-45A2-BB64-F142FA0908CE}"/>
              </a:ext>
            </a:extLst>
          </p:cNvPr>
          <p:cNvCxnSpPr/>
          <p:nvPr/>
        </p:nvCxnSpPr>
        <p:spPr>
          <a:xfrm>
            <a:off x="1115616" y="2489982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EBE2D0-9C29-45BF-AAC8-7D963AECC199}"/>
              </a:ext>
            </a:extLst>
          </p:cNvPr>
          <p:cNvCxnSpPr/>
          <p:nvPr/>
        </p:nvCxnSpPr>
        <p:spPr>
          <a:xfrm>
            <a:off x="3124200" y="2489982"/>
            <a:ext cx="12317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0F2C6-3F97-4A7F-9AED-A12FC8DF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00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1628-BD03-490F-A058-C87FC276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Huffman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7D65A-FC63-4CC9-B141-644FD3D62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81662"/>
            <a:ext cx="8229600" cy="45259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average code word length is  </a:t>
            </a: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A1A5C4-6418-4642-AB1C-E987158AB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67" y="1186619"/>
            <a:ext cx="4012989" cy="25304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A100AE-7A80-4F1D-B603-E693CAD79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367" y="4332861"/>
            <a:ext cx="6415598" cy="98238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90A86-4389-4BE7-9673-158C31AA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98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D277-C9B5-4E74-B1FB-89C1AADD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Huffman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C1FCB-E282-4785-A01C-5BD213D1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entropy of discrete memoryless source is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efficiency of the source encoder is </a:t>
            </a:r>
          </a:p>
          <a:p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			= 2.12193/2.2 = 96.45% 		</a:t>
            </a: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F0B3B-D656-46F4-9B3C-97A1BB688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03" y="2060848"/>
            <a:ext cx="7822194" cy="24715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720B84-8F88-4DB1-9947-3367E800C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032" y="5088411"/>
            <a:ext cx="1629624" cy="10230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78D8A-EFD6-427A-B72C-67CC36CC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71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76263" y="333375"/>
            <a:ext cx="8229600" cy="650875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latin typeface="Arial" pitchFamily="34" charset="0"/>
                <a:ea typeface="SimSun" pitchFamily="2" charset="-122"/>
                <a:cs typeface="Arial" pitchFamily="34" charset="0"/>
              </a:rPr>
              <a:t>Example 2</a:t>
            </a:r>
            <a:endParaRPr lang="en-US" altLang="zh-CN" sz="4800" b="1" dirty="0">
              <a:latin typeface="Arial" pitchFamily="34" charset="0"/>
              <a:ea typeface="SimSun" pitchFamily="2" charset="-122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68EA9-D355-44CB-892D-163472081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28" y="1556792"/>
            <a:ext cx="7838343" cy="28803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04ABF2-4525-47D7-9E72-0BABC9DA5482}"/>
              </a:ext>
            </a:extLst>
          </p:cNvPr>
          <p:cNvSpPr txBox="1"/>
          <p:nvPr/>
        </p:nvSpPr>
        <p:spPr>
          <a:xfrm>
            <a:off x="7884368" y="155679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791FE-358A-423E-9243-571968C9A9F4}"/>
              </a:ext>
            </a:extLst>
          </p:cNvPr>
          <p:cNvSpPr txBox="1"/>
          <p:nvPr/>
        </p:nvSpPr>
        <p:spPr>
          <a:xfrm>
            <a:off x="7884368" y="20608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45297-1896-4793-9ED1-4B670862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56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EF4F-1DBE-4708-A052-82AB892FE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Arial" pitchFamily="34" charset="0"/>
                <a:ea typeface="SimSun" pitchFamily="2" charset="-122"/>
                <a:cs typeface="Arial" pitchFamily="34" charset="0"/>
              </a:rPr>
              <a:t>Example 2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C09166-962A-43D8-93C3-FA5678107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69" y="1880828"/>
            <a:ext cx="8584061" cy="3096344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8E7A33B-7AAB-4C8C-B41D-9501B553D2E6}"/>
              </a:ext>
            </a:extLst>
          </p:cNvPr>
          <p:cNvSpPr/>
          <p:nvPr/>
        </p:nvSpPr>
        <p:spPr>
          <a:xfrm>
            <a:off x="8046495" y="1864901"/>
            <a:ext cx="566128" cy="399997"/>
          </a:xfrm>
          <a:custGeom>
            <a:avLst/>
            <a:gdLst>
              <a:gd name="connsiteX0" fmla="*/ 436323 w 566128"/>
              <a:gd name="connsiteY0" fmla="*/ 399997 h 399997"/>
              <a:gd name="connsiteX1" fmla="*/ 183105 w 566128"/>
              <a:gd name="connsiteY1" fmla="*/ 385930 h 399997"/>
              <a:gd name="connsiteX2" fmla="*/ 126834 w 566128"/>
              <a:gd name="connsiteY2" fmla="*/ 371862 h 399997"/>
              <a:gd name="connsiteX3" fmla="*/ 28360 w 566128"/>
              <a:gd name="connsiteY3" fmla="*/ 287456 h 399997"/>
              <a:gd name="connsiteX4" fmla="*/ 42428 w 566128"/>
              <a:gd name="connsiteY4" fmla="*/ 6102 h 399997"/>
              <a:gd name="connsiteX5" fmla="*/ 98699 w 566128"/>
              <a:gd name="connsiteY5" fmla="*/ 20170 h 399997"/>
              <a:gd name="connsiteX6" fmla="*/ 183105 w 566128"/>
              <a:gd name="connsiteY6" fmla="*/ 76441 h 399997"/>
              <a:gd name="connsiteX7" fmla="*/ 365985 w 566128"/>
              <a:gd name="connsiteY7" fmla="*/ 132711 h 399997"/>
              <a:gd name="connsiteX8" fmla="*/ 408188 w 566128"/>
              <a:gd name="connsiteY8" fmla="*/ 160847 h 399997"/>
              <a:gd name="connsiteX9" fmla="*/ 492594 w 566128"/>
              <a:gd name="connsiteY9" fmla="*/ 174914 h 399997"/>
              <a:gd name="connsiteX10" fmla="*/ 548865 w 566128"/>
              <a:gd name="connsiteY10" fmla="*/ 188982 h 399997"/>
              <a:gd name="connsiteX11" fmla="*/ 548865 w 566128"/>
              <a:gd name="connsiteY11" fmla="*/ 329659 h 399997"/>
              <a:gd name="connsiteX12" fmla="*/ 520730 w 566128"/>
              <a:gd name="connsiteY12" fmla="*/ 371862 h 39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6128" h="399997">
                <a:moveTo>
                  <a:pt x="436323" y="399997"/>
                </a:moveTo>
                <a:cubicBezTo>
                  <a:pt x="351917" y="395308"/>
                  <a:pt x="267294" y="393583"/>
                  <a:pt x="183105" y="385930"/>
                </a:cubicBezTo>
                <a:cubicBezTo>
                  <a:pt x="163850" y="384180"/>
                  <a:pt x="144127" y="380509"/>
                  <a:pt x="126834" y="371862"/>
                </a:cubicBezTo>
                <a:cubicBezTo>
                  <a:pt x="90740" y="353815"/>
                  <a:pt x="56516" y="315612"/>
                  <a:pt x="28360" y="287456"/>
                </a:cubicBezTo>
                <a:cubicBezTo>
                  <a:pt x="-5408" y="186146"/>
                  <a:pt x="-18185" y="167738"/>
                  <a:pt x="42428" y="6102"/>
                </a:cubicBezTo>
                <a:cubicBezTo>
                  <a:pt x="49217" y="-12001"/>
                  <a:pt x="79942" y="15481"/>
                  <a:pt x="98699" y="20170"/>
                </a:cubicBezTo>
                <a:cubicBezTo>
                  <a:pt x="126834" y="38927"/>
                  <a:pt x="151026" y="65748"/>
                  <a:pt x="183105" y="76441"/>
                </a:cubicBezTo>
                <a:cubicBezTo>
                  <a:pt x="328056" y="124758"/>
                  <a:pt x="266556" y="107855"/>
                  <a:pt x="365985" y="132711"/>
                </a:cubicBezTo>
                <a:cubicBezTo>
                  <a:pt x="380053" y="142090"/>
                  <a:pt x="392148" y="155500"/>
                  <a:pt x="408188" y="160847"/>
                </a:cubicBezTo>
                <a:cubicBezTo>
                  <a:pt x="435248" y="169867"/>
                  <a:pt x="464625" y="169320"/>
                  <a:pt x="492594" y="174914"/>
                </a:cubicBezTo>
                <a:cubicBezTo>
                  <a:pt x="511553" y="178706"/>
                  <a:pt x="530108" y="184293"/>
                  <a:pt x="548865" y="188982"/>
                </a:cubicBezTo>
                <a:cubicBezTo>
                  <a:pt x="569233" y="250086"/>
                  <a:pt x="574389" y="244580"/>
                  <a:pt x="548865" y="329659"/>
                </a:cubicBezTo>
                <a:cubicBezTo>
                  <a:pt x="544007" y="345853"/>
                  <a:pt x="520730" y="371862"/>
                  <a:pt x="520730" y="3718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8A5DA7B-2BA6-41C7-B4E0-41F7A1A4F245}"/>
              </a:ext>
            </a:extLst>
          </p:cNvPr>
          <p:cNvSpPr/>
          <p:nvPr/>
        </p:nvSpPr>
        <p:spPr>
          <a:xfrm>
            <a:off x="6724357" y="2836568"/>
            <a:ext cx="365760" cy="427137"/>
          </a:xfrm>
          <a:custGeom>
            <a:avLst/>
            <a:gdLst>
              <a:gd name="connsiteX0" fmla="*/ 365760 w 365760"/>
              <a:gd name="connsiteY0" fmla="*/ 370866 h 427137"/>
              <a:gd name="connsiteX1" fmla="*/ 211015 w 365760"/>
              <a:gd name="connsiteY1" fmla="*/ 342730 h 427137"/>
              <a:gd name="connsiteX2" fmla="*/ 84406 w 365760"/>
              <a:gd name="connsiteY2" fmla="*/ 230189 h 427137"/>
              <a:gd name="connsiteX3" fmla="*/ 42203 w 365760"/>
              <a:gd name="connsiteY3" fmla="*/ 202054 h 427137"/>
              <a:gd name="connsiteX4" fmla="*/ 14068 w 365760"/>
              <a:gd name="connsiteY4" fmla="*/ 117647 h 427137"/>
              <a:gd name="connsiteX5" fmla="*/ 0 w 365760"/>
              <a:gd name="connsiteY5" fmla="*/ 75444 h 427137"/>
              <a:gd name="connsiteX6" fmla="*/ 14068 w 365760"/>
              <a:gd name="connsiteY6" fmla="*/ 5106 h 427137"/>
              <a:gd name="connsiteX7" fmla="*/ 112541 w 365760"/>
              <a:gd name="connsiteY7" fmla="*/ 19174 h 427137"/>
              <a:gd name="connsiteX8" fmla="*/ 196948 w 365760"/>
              <a:gd name="connsiteY8" fmla="*/ 47309 h 427137"/>
              <a:gd name="connsiteX9" fmla="*/ 211015 w 365760"/>
              <a:gd name="connsiteY9" fmla="*/ 103580 h 427137"/>
              <a:gd name="connsiteX10" fmla="*/ 295421 w 365760"/>
              <a:gd name="connsiteY10" fmla="*/ 216121 h 427137"/>
              <a:gd name="connsiteX11" fmla="*/ 295421 w 365760"/>
              <a:gd name="connsiteY11" fmla="*/ 427137 h 42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65760" h="427137">
                <a:moveTo>
                  <a:pt x="365760" y="370866"/>
                </a:moveTo>
                <a:cubicBezTo>
                  <a:pt x="326961" y="366016"/>
                  <a:pt x="254388" y="364416"/>
                  <a:pt x="211015" y="342730"/>
                </a:cubicBezTo>
                <a:cubicBezTo>
                  <a:pt x="129118" y="301782"/>
                  <a:pt x="196269" y="304763"/>
                  <a:pt x="84406" y="230189"/>
                </a:cubicBezTo>
                <a:lnTo>
                  <a:pt x="42203" y="202054"/>
                </a:lnTo>
                <a:lnTo>
                  <a:pt x="14068" y="117647"/>
                </a:lnTo>
                <a:lnTo>
                  <a:pt x="0" y="75444"/>
                </a:lnTo>
                <a:cubicBezTo>
                  <a:pt x="4689" y="51998"/>
                  <a:pt x="-7318" y="15799"/>
                  <a:pt x="14068" y="5106"/>
                </a:cubicBezTo>
                <a:cubicBezTo>
                  <a:pt x="43725" y="-9722"/>
                  <a:pt x="80233" y="11718"/>
                  <a:pt x="112541" y="19174"/>
                </a:cubicBezTo>
                <a:cubicBezTo>
                  <a:pt x="141439" y="25843"/>
                  <a:pt x="196948" y="47309"/>
                  <a:pt x="196948" y="47309"/>
                </a:cubicBezTo>
                <a:cubicBezTo>
                  <a:pt x="201637" y="66066"/>
                  <a:pt x="202368" y="86287"/>
                  <a:pt x="211015" y="103580"/>
                </a:cubicBezTo>
                <a:cubicBezTo>
                  <a:pt x="238105" y="157760"/>
                  <a:pt x="295421" y="115236"/>
                  <a:pt x="295421" y="216121"/>
                </a:cubicBezTo>
                <a:lnTo>
                  <a:pt x="295421" y="427137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48D384E-2606-4AEF-A592-4D4EDEEB2E2C}"/>
              </a:ext>
            </a:extLst>
          </p:cNvPr>
          <p:cNvSpPr/>
          <p:nvPr/>
        </p:nvSpPr>
        <p:spPr>
          <a:xfrm>
            <a:off x="3614241" y="3643532"/>
            <a:ext cx="240307" cy="365534"/>
          </a:xfrm>
          <a:custGeom>
            <a:avLst/>
            <a:gdLst>
              <a:gd name="connsiteX0" fmla="*/ 240307 w 240307"/>
              <a:gd name="connsiteY0" fmla="*/ 295422 h 365534"/>
              <a:gd name="connsiteX1" fmla="*/ 169968 w 240307"/>
              <a:gd name="connsiteY1" fmla="*/ 351693 h 365534"/>
              <a:gd name="connsiteX2" fmla="*/ 15224 w 240307"/>
              <a:gd name="connsiteY2" fmla="*/ 337625 h 365534"/>
              <a:gd name="connsiteX3" fmla="*/ 99630 w 240307"/>
              <a:gd name="connsiteY3" fmla="*/ 14068 h 365534"/>
              <a:gd name="connsiteX4" fmla="*/ 141833 w 240307"/>
              <a:gd name="connsiteY4" fmla="*/ 0 h 365534"/>
              <a:gd name="connsiteX5" fmla="*/ 184036 w 240307"/>
              <a:gd name="connsiteY5" fmla="*/ 14068 h 365534"/>
              <a:gd name="connsiteX6" fmla="*/ 212171 w 240307"/>
              <a:gd name="connsiteY6" fmla="*/ 56271 h 365534"/>
              <a:gd name="connsiteX7" fmla="*/ 169968 w 240307"/>
              <a:gd name="connsiteY7" fmla="*/ 337625 h 36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307" h="365534">
                <a:moveTo>
                  <a:pt x="240307" y="295422"/>
                </a:moveTo>
                <a:cubicBezTo>
                  <a:pt x="216861" y="314179"/>
                  <a:pt x="199480" y="346160"/>
                  <a:pt x="169968" y="351693"/>
                </a:cubicBezTo>
                <a:cubicBezTo>
                  <a:pt x="119061" y="361238"/>
                  <a:pt x="39347" y="383459"/>
                  <a:pt x="15224" y="337625"/>
                </a:cubicBezTo>
                <a:cubicBezTo>
                  <a:pt x="-11586" y="286685"/>
                  <a:pt x="-13731" y="51856"/>
                  <a:pt x="99630" y="14068"/>
                </a:cubicBezTo>
                <a:lnTo>
                  <a:pt x="141833" y="0"/>
                </a:lnTo>
                <a:cubicBezTo>
                  <a:pt x="155901" y="4689"/>
                  <a:pt x="172457" y="4805"/>
                  <a:pt x="184036" y="14068"/>
                </a:cubicBezTo>
                <a:cubicBezTo>
                  <a:pt x="197238" y="24630"/>
                  <a:pt x="211403" y="39381"/>
                  <a:pt x="212171" y="56271"/>
                </a:cubicBezTo>
                <a:cubicBezTo>
                  <a:pt x="224191" y="320709"/>
                  <a:pt x="274773" y="285223"/>
                  <a:pt x="169968" y="3376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999ACC-149D-4090-BB87-A58518B615D8}"/>
              </a:ext>
            </a:extLst>
          </p:cNvPr>
          <p:cNvSpPr/>
          <p:nvPr/>
        </p:nvSpPr>
        <p:spPr>
          <a:xfrm>
            <a:off x="2082018" y="4459418"/>
            <a:ext cx="436099" cy="520545"/>
          </a:xfrm>
          <a:custGeom>
            <a:avLst/>
            <a:gdLst>
              <a:gd name="connsiteX0" fmla="*/ 436099 w 436099"/>
              <a:gd name="connsiteY0" fmla="*/ 520545 h 520545"/>
              <a:gd name="connsiteX1" fmla="*/ 253219 w 436099"/>
              <a:gd name="connsiteY1" fmla="*/ 506477 h 520545"/>
              <a:gd name="connsiteX2" fmla="*/ 182880 w 436099"/>
              <a:gd name="connsiteY2" fmla="*/ 436139 h 520545"/>
              <a:gd name="connsiteX3" fmla="*/ 140677 w 436099"/>
              <a:gd name="connsiteY3" fmla="*/ 393936 h 520545"/>
              <a:gd name="connsiteX4" fmla="*/ 84407 w 436099"/>
              <a:gd name="connsiteY4" fmla="*/ 323597 h 520545"/>
              <a:gd name="connsiteX5" fmla="*/ 42204 w 436099"/>
              <a:gd name="connsiteY5" fmla="*/ 239191 h 520545"/>
              <a:gd name="connsiteX6" fmla="*/ 0 w 436099"/>
              <a:gd name="connsiteY6" fmla="*/ 154785 h 520545"/>
              <a:gd name="connsiteX7" fmla="*/ 14068 w 436099"/>
              <a:gd name="connsiteY7" fmla="*/ 28176 h 520545"/>
              <a:gd name="connsiteX8" fmla="*/ 42204 w 436099"/>
              <a:gd name="connsiteY8" fmla="*/ 40 h 520545"/>
              <a:gd name="connsiteX9" fmla="*/ 225084 w 436099"/>
              <a:gd name="connsiteY9" fmla="*/ 28176 h 520545"/>
              <a:gd name="connsiteX10" fmla="*/ 295422 w 436099"/>
              <a:gd name="connsiteY10" fmla="*/ 84447 h 520545"/>
              <a:gd name="connsiteX11" fmla="*/ 337625 w 436099"/>
              <a:gd name="connsiteY11" fmla="*/ 196988 h 520545"/>
              <a:gd name="connsiteX12" fmla="*/ 379828 w 436099"/>
              <a:gd name="connsiteY12" fmla="*/ 211056 h 520545"/>
              <a:gd name="connsiteX13" fmla="*/ 407964 w 436099"/>
              <a:gd name="connsiteY13" fmla="*/ 464274 h 520545"/>
              <a:gd name="connsiteX14" fmla="*/ 393896 w 436099"/>
              <a:gd name="connsiteY14" fmla="*/ 506477 h 520545"/>
              <a:gd name="connsiteX15" fmla="*/ 337625 w 436099"/>
              <a:gd name="connsiteY15" fmla="*/ 506477 h 52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099" h="520545">
                <a:moveTo>
                  <a:pt x="436099" y="520545"/>
                </a:moveTo>
                <a:cubicBezTo>
                  <a:pt x="375139" y="515856"/>
                  <a:pt x="313312" y="517744"/>
                  <a:pt x="253219" y="506477"/>
                </a:cubicBezTo>
                <a:cubicBezTo>
                  <a:pt x="212464" y="498835"/>
                  <a:pt x="204879" y="462537"/>
                  <a:pt x="182880" y="436139"/>
                </a:cubicBezTo>
                <a:cubicBezTo>
                  <a:pt x="170144" y="420856"/>
                  <a:pt x="153413" y="409220"/>
                  <a:pt x="140677" y="393936"/>
                </a:cubicBezTo>
                <a:cubicBezTo>
                  <a:pt x="51937" y="287447"/>
                  <a:pt x="166269" y="405462"/>
                  <a:pt x="84407" y="323597"/>
                </a:cubicBezTo>
                <a:cubicBezTo>
                  <a:pt x="57020" y="241439"/>
                  <a:pt x="87654" y="321000"/>
                  <a:pt x="42204" y="239191"/>
                </a:cubicBezTo>
                <a:cubicBezTo>
                  <a:pt x="26927" y="211693"/>
                  <a:pt x="14068" y="182920"/>
                  <a:pt x="0" y="154785"/>
                </a:cubicBezTo>
                <a:cubicBezTo>
                  <a:pt x="4689" y="112582"/>
                  <a:pt x="2895" y="69142"/>
                  <a:pt x="14068" y="28176"/>
                </a:cubicBezTo>
                <a:cubicBezTo>
                  <a:pt x="17558" y="15380"/>
                  <a:pt x="29022" y="1505"/>
                  <a:pt x="42204" y="40"/>
                </a:cubicBezTo>
                <a:cubicBezTo>
                  <a:pt x="53064" y="-1167"/>
                  <a:pt x="207631" y="25267"/>
                  <a:pt x="225084" y="28176"/>
                </a:cubicBezTo>
                <a:cubicBezTo>
                  <a:pt x="239996" y="38117"/>
                  <a:pt x="285398" y="64400"/>
                  <a:pt x="295422" y="84447"/>
                </a:cubicBezTo>
                <a:cubicBezTo>
                  <a:pt x="318971" y="131546"/>
                  <a:pt x="296077" y="155439"/>
                  <a:pt x="337625" y="196988"/>
                </a:cubicBezTo>
                <a:cubicBezTo>
                  <a:pt x="348110" y="207474"/>
                  <a:pt x="365760" y="206367"/>
                  <a:pt x="379828" y="211056"/>
                </a:cubicBezTo>
                <a:cubicBezTo>
                  <a:pt x="399668" y="310253"/>
                  <a:pt x="407964" y="337061"/>
                  <a:pt x="407964" y="464274"/>
                </a:cubicBezTo>
                <a:cubicBezTo>
                  <a:pt x="407964" y="479103"/>
                  <a:pt x="406612" y="498848"/>
                  <a:pt x="393896" y="506477"/>
                </a:cubicBezTo>
                <a:cubicBezTo>
                  <a:pt x="377812" y="516127"/>
                  <a:pt x="356382" y="506477"/>
                  <a:pt x="337625" y="50647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1C87BE-281F-47D0-8A4F-5D051C71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52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1814-9043-40BF-8D88-19771534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Arial" pitchFamily="34" charset="0"/>
                <a:ea typeface="SimSun" pitchFamily="2" charset="-122"/>
                <a:cs typeface="Arial" pitchFamily="34" charset="0"/>
              </a:rPr>
              <a:t>Example 2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92A1E6-7DEE-4382-9CFB-A17816D0FF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5844409"/>
              </p:ext>
            </p:extLst>
          </p:nvPr>
        </p:nvGraphicFramePr>
        <p:xfrm>
          <a:off x="1475656" y="1916832"/>
          <a:ext cx="5112568" cy="30243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5523">
                  <a:extLst>
                    <a:ext uri="{9D8B030D-6E8A-4147-A177-3AD203B41FA5}">
                      <a16:colId xmlns:a16="http://schemas.microsoft.com/office/drawing/2014/main" val="1102288824"/>
                    </a:ext>
                  </a:extLst>
                </a:gridCol>
                <a:gridCol w="2148760">
                  <a:extLst>
                    <a:ext uri="{9D8B030D-6E8A-4147-A177-3AD203B41FA5}">
                      <a16:colId xmlns:a16="http://schemas.microsoft.com/office/drawing/2014/main" val="751211908"/>
                    </a:ext>
                  </a:extLst>
                </a:gridCol>
                <a:gridCol w="1778285">
                  <a:extLst>
                    <a:ext uri="{9D8B030D-6E8A-4147-A177-3AD203B41FA5}">
                      <a16:colId xmlns:a16="http://schemas.microsoft.com/office/drawing/2014/main" val="24513238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Symbol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Probability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 word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74532261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000" u="none" strike="noStrike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96072694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000" u="none" strike="noStrike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203313642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000" u="none" strike="noStrike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98586515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000" u="none" strike="noStrike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28095979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000" u="none" strike="noStrike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8614018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000" u="none" strike="noStrike" baseline="-25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9525" marB="0"/>
                </a:tc>
                <a:extLst>
                  <a:ext uri="{0D108BD9-81ED-4DB2-BD59-A6C34878D82A}">
                    <a16:rowId xmlns:a16="http://schemas.microsoft.com/office/drawing/2014/main" val="373237454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FDE6C5-AC68-4013-A2E9-7BA0C56D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61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76263" y="333375"/>
            <a:ext cx="8229600" cy="650875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latin typeface="Arial" pitchFamily="34" charset="0"/>
                <a:ea typeface="SimSun" pitchFamily="2" charset="-122"/>
                <a:cs typeface="Arial" pitchFamily="34" charset="0"/>
              </a:rPr>
              <a:t>Example 2</a:t>
            </a:r>
            <a:endParaRPr lang="en-US" altLang="zh-CN" sz="4800" b="1" dirty="0">
              <a:latin typeface="Arial" pitchFamily="34" charset="0"/>
              <a:ea typeface="SimSun" pitchFamily="2" charset="-122"/>
              <a:cs typeface="Arial" pitchFamily="34" charset="0"/>
            </a:endParaRPr>
          </a:p>
        </p:txBody>
      </p:sp>
      <p:pic>
        <p:nvPicPr>
          <p:cNvPr id="33796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08078" y="1364936"/>
            <a:ext cx="4235921" cy="4512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7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520" y="1358189"/>
            <a:ext cx="5106992" cy="3286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A64C4-8F94-4B7A-9F50-E353DA58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59B5C-7826-44E5-8AF2-A6D5D9CB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Arial" pitchFamily="34" charset="0"/>
                <a:ea typeface="SimSun" pitchFamily="2" charset="-122"/>
                <a:cs typeface="Arial" pitchFamily="34" charset="0"/>
              </a:rPr>
              <a:t>Example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C285-8DE9-4FA2-A3FA-E75A9E5D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r>
              <a:rPr lang="en-US" dirty="0"/>
              <a:t>  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/>
              <a:t> </a:t>
            </a: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 × 0.3 + 2 × 0.25 + 2 × 0.20 + 3 × 0.12 + 4 × 0.08 + 4 × 0.05 </a:t>
            </a:r>
          </a:p>
          <a:p>
            <a:pPr marL="0" indent="0"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= 2.38</a:t>
            </a:r>
            <a:endParaRPr lang="en-IN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r>
              <a:rPr lang="en-IN" dirty="0"/>
              <a:t>               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= 2.35 / 2.38 = 98.73%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F50712-62AC-4FA2-A368-784966CF0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75534"/>
            <a:ext cx="360040" cy="641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087D3C-42A3-49C9-A270-97A3D7143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944639"/>
            <a:ext cx="1557196" cy="96872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C41373-1C7F-420C-8DF1-949FB4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86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59B5C-7826-44E5-8AF2-A6D5D9CB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latin typeface="Arial" pitchFamily="34" charset="0"/>
                <a:ea typeface="SimSun" pitchFamily="2" charset="-122"/>
                <a:cs typeface="Arial" pitchFamily="34" charset="0"/>
              </a:rPr>
              <a:t>Example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C285-8DE9-4FA2-A3FA-E75A9E5D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variance of the average code word length over 	the ensemble of source symbol is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= 0.3(2-2.38)</a:t>
            </a:r>
            <a:r>
              <a:rPr lang="en-US" sz="20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+ 0.25(2-2.38)</a:t>
            </a:r>
            <a:r>
              <a:rPr lang="en-US" sz="20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+ 0.2(2-2.38)</a:t>
            </a:r>
            <a:r>
              <a:rPr lang="en-US" sz="20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+ 0.12(3-2.38)</a:t>
            </a:r>
            <a:r>
              <a:rPr lang="en-US" sz="20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n-US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+ 0.08(4-2.38)</a:t>
            </a:r>
            <a:r>
              <a:rPr lang="en-US" sz="20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+ 0.05(4-2.38)</a:t>
            </a:r>
            <a:r>
              <a:rPr lang="en-US" sz="2000" baseline="30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en-IN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= 0.3 × 0.1444 + 0.25 × 0.1444 + 0.2 × 0.1444 + 0.12 × 0.3844 	   + 0.08 × 2.6244 + 0.05 × 2.6244</a:t>
            </a:r>
            <a:endParaRPr lang="en-IN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= 0.58548</a:t>
            </a:r>
            <a:endParaRPr lang="en-IN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2B9F3-AE65-4E2A-AF54-1A1BA7CCE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102579"/>
            <a:ext cx="485775" cy="59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1AC8BC-BE74-42BA-A3FD-0F53E66F8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2780928"/>
            <a:ext cx="2788467" cy="95061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04424A-A94C-446A-B716-37BB9300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2260-AE68-4C6D-AB5F-AF53C3935A6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70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6"/>
          <p:cNvSpPr>
            <a:spLocks noGrp="1"/>
          </p:cNvSpPr>
          <p:nvPr>
            <p:ph type="title"/>
          </p:nvPr>
        </p:nvSpPr>
        <p:spPr>
          <a:xfrm>
            <a:off x="639763" y="2928938"/>
            <a:ext cx="7886700" cy="1325562"/>
          </a:xfrm>
        </p:spPr>
        <p:txBody>
          <a:bodyPr/>
          <a:lstStyle/>
          <a:p>
            <a:pPr eaLnBrk="1" hangingPunct="1"/>
            <a:r>
              <a:rPr lang="en-IN" b="1">
                <a:solidFill>
                  <a:srgbClr val="002060"/>
                </a:solidFill>
                <a:latin typeface="Arial" charset="0"/>
                <a:cs typeface="Arial" charset="0"/>
              </a:rPr>
              <a:t>THANK YOU !!</a:t>
            </a:r>
            <a:endParaRPr lang="en-US" b="1">
              <a:solidFill>
                <a:srgbClr val="002060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B233BA-5FA3-4F5E-ADF8-61DD5E96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F39026-D91A-44E5-BEF3-D832987E7269}" type="slidenum">
              <a:rPr lang="en-IN" smtClean="0"/>
              <a:pPr>
                <a:defRPr/>
              </a:pPr>
              <a:t>25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1093</Words>
  <Application>Microsoft Office PowerPoint</Application>
  <PresentationFormat>On-screen Show (4:3)</PresentationFormat>
  <Paragraphs>176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SimSun</vt:lpstr>
      <vt:lpstr>Arial</vt:lpstr>
      <vt:lpstr>Calibri</vt:lpstr>
      <vt:lpstr>ZapfDingbats</vt:lpstr>
      <vt:lpstr>Office Theme</vt:lpstr>
      <vt:lpstr>Information</vt:lpstr>
      <vt:lpstr>Information content of a message</vt:lpstr>
      <vt:lpstr>Information content of a message</vt:lpstr>
      <vt:lpstr>Entropy (Average information content)</vt:lpstr>
      <vt:lpstr>PowerPoint Presentation</vt:lpstr>
      <vt:lpstr>Source Coding Theorem</vt:lpstr>
      <vt:lpstr>Source Coding Theorem</vt:lpstr>
      <vt:lpstr>Data Compaction</vt:lpstr>
      <vt:lpstr>Prefix Code</vt:lpstr>
      <vt:lpstr>Prefix Code</vt:lpstr>
      <vt:lpstr>Huffman Coding</vt:lpstr>
      <vt:lpstr>Huffman Coding</vt:lpstr>
      <vt:lpstr>Huffman Encoding Algorithm</vt:lpstr>
      <vt:lpstr>Huffman Encoding Algorithm</vt:lpstr>
      <vt:lpstr>Huffman Tree</vt:lpstr>
      <vt:lpstr>Huffman Tree</vt:lpstr>
      <vt:lpstr>Huffman Tree</vt:lpstr>
      <vt:lpstr>Huffman Tree</vt:lpstr>
      <vt:lpstr>Example 2</vt:lpstr>
      <vt:lpstr>Example 2</vt:lpstr>
      <vt:lpstr>Example 2</vt:lpstr>
      <vt:lpstr>Example 2</vt:lpstr>
      <vt:lpstr>Example 2</vt:lpstr>
      <vt:lpstr>Example 2</vt:lpstr>
      <vt:lpstr>THANK YOU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   COMMUNICATION</dc:title>
  <dc:creator>Binary</dc:creator>
  <cp:lastModifiedBy>Naveed Mohammed</cp:lastModifiedBy>
  <cp:revision>31</cp:revision>
  <dcterms:created xsi:type="dcterms:W3CDTF">2020-09-03T13:52:26Z</dcterms:created>
  <dcterms:modified xsi:type="dcterms:W3CDTF">2026-03-24T06:49:59Z</dcterms:modified>
</cp:coreProperties>
</file>