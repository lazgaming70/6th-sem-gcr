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2" r:id="rId1"/>
  </p:sldMasterIdLst>
  <p:sldIdLst>
    <p:sldId id="343" r:id="rId2"/>
    <p:sldId id="344" r:id="rId3"/>
    <p:sldId id="353" r:id="rId4"/>
    <p:sldId id="354" r:id="rId5"/>
    <p:sldId id="362" r:id="rId6"/>
    <p:sldId id="355" r:id="rId7"/>
    <p:sldId id="356" r:id="rId8"/>
    <p:sldId id="364" r:id="rId9"/>
    <p:sldId id="365" r:id="rId10"/>
    <p:sldId id="357" r:id="rId11"/>
    <p:sldId id="358" r:id="rId12"/>
    <p:sldId id="359" r:id="rId13"/>
    <p:sldId id="363" r:id="rId14"/>
    <p:sldId id="360" r:id="rId15"/>
    <p:sldId id="361" r:id="rId16"/>
    <p:sldId id="366" r:id="rId17"/>
    <p:sldId id="367" r:id="rId18"/>
    <p:sldId id="368" r:id="rId19"/>
  </p:sldIdLst>
  <p:sldSz cx="14630400" cy="8229600"/>
  <p:notesSz cx="9321800" cy="6985000"/>
  <p:defaultTextStyle>
    <a:defPPr>
      <a:defRPr lang="en-US"/>
    </a:defPPr>
    <a:lvl1pPr marL="0" algn="l" defTabSz="1281673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1pPr>
    <a:lvl2pPr marL="640837" algn="l" defTabSz="1281673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2pPr>
    <a:lvl3pPr marL="1281673" algn="l" defTabSz="1281673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3pPr>
    <a:lvl4pPr marL="1922512" algn="l" defTabSz="1281673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4pPr>
    <a:lvl5pPr marL="2563349" algn="l" defTabSz="1281673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5pPr>
    <a:lvl6pPr marL="3204186" algn="l" defTabSz="1281673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6pPr>
    <a:lvl7pPr marL="3845020" algn="l" defTabSz="1281673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7pPr>
    <a:lvl8pPr marL="4485859" algn="l" defTabSz="1281673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8pPr>
    <a:lvl9pPr marL="5126693" algn="l" defTabSz="1281673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 showScrollbar="0"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3" d="100"/>
          <a:sy n="63" d="100"/>
        </p:scale>
        <p:origin x="-516" y="18"/>
      </p:cViewPr>
      <p:guideLst>
        <p:guide orient="horz" pos="3394"/>
        <p:guide pos="339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616" tIns="65309" rIns="130616" bIns="65309"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104503" y="83708"/>
            <a:ext cx="14421395" cy="803064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072640" y="3840480"/>
            <a:ext cx="10241280" cy="1920240"/>
          </a:xfrm>
        </p:spPr>
        <p:txBody>
          <a:bodyPr/>
          <a:lstStyle>
            <a:lvl1pPr marL="0" indent="0" algn="ctr">
              <a:buNone/>
              <a:defRPr sz="3700">
                <a:solidFill>
                  <a:schemeClr val="tx2"/>
                </a:solidFill>
              </a:defRPr>
            </a:lvl1pPr>
            <a:lvl2pPr marL="653084" indent="0" algn="ctr">
              <a:buNone/>
            </a:lvl2pPr>
            <a:lvl3pPr marL="1306168" indent="0" algn="ctr">
              <a:buNone/>
            </a:lvl3pPr>
            <a:lvl4pPr marL="1959253" indent="0" algn="ctr">
              <a:buNone/>
            </a:lvl4pPr>
            <a:lvl5pPr marL="2612336" indent="0" algn="ctr">
              <a:buNone/>
            </a:lvl5pPr>
            <a:lvl6pPr marL="3265421" indent="0" algn="ctr">
              <a:buNone/>
            </a:lvl6pPr>
            <a:lvl7pPr marL="3918504" indent="0" algn="ctr">
              <a:buNone/>
            </a:lvl7pPr>
            <a:lvl8pPr marL="4571588" indent="0" algn="ctr">
              <a:buNone/>
            </a:lvl8pPr>
            <a:lvl9pPr marL="5224673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ED2F-06AA-42A4-A44B-03BFD2EF81B1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fld id="{13E50FCC-B919-4A49-862D-49EB875CF98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0692" y="1739165"/>
            <a:ext cx="14434459" cy="183281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00692" y="1676064"/>
            <a:ext cx="14434459" cy="144696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00692" y="3571979"/>
            <a:ext cx="14434459" cy="132638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31520" y="1807118"/>
            <a:ext cx="13167360" cy="1764030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wedg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ED2F-06AA-42A4-A44B-03BFD2EF81B1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50FCC-B919-4A49-862D-49EB875CF98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463040" y="1737360"/>
            <a:ext cx="12435840" cy="54864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616" tIns="65309" rIns="130616" bIns="65309"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104503" y="83708"/>
            <a:ext cx="14421395" cy="803064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701" y="1143002"/>
            <a:ext cx="12435840" cy="1634490"/>
          </a:xfrm>
        </p:spPr>
        <p:txBody>
          <a:bodyPr anchor="b" anchorCtr="0"/>
          <a:lstStyle>
            <a:lvl1pPr algn="l">
              <a:buNone/>
              <a:defRPr sz="56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5701" y="3057526"/>
            <a:ext cx="12435840" cy="1605914"/>
          </a:xfrm>
        </p:spPr>
        <p:txBody>
          <a:bodyPr anchor="t" anchorCtr="0"/>
          <a:lstStyle>
            <a:lvl1pPr marL="0" indent="0">
              <a:buNone/>
              <a:defRPr sz="3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ED2F-06AA-42A4-A44B-03BFD2EF81B1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80160" y="7406640"/>
            <a:ext cx="6400800" cy="5486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111060" y="2852196"/>
            <a:ext cx="14421624" cy="10972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10635" y="2809772"/>
            <a:ext cx="14422050" cy="54863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09291" y="2962656"/>
            <a:ext cx="14423394" cy="54864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34086" y="7450531"/>
            <a:ext cx="731520" cy="548640"/>
          </a:xfrm>
        </p:spPr>
        <p:txBody>
          <a:bodyPr/>
          <a:lstStyle/>
          <a:p>
            <a:fld id="{13E50FCC-B919-4A49-862D-49EB875CF9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wedg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ED2F-06AA-42A4-A44B-03BFD2EF81B1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50FCC-B919-4A49-862D-49EB875CF98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463040" y="1737360"/>
            <a:ext cx="5998464" cy="54864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7894320" y="1737360"/>
            <a:ext cx="5998464" cy="54864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0" y="327660"/>
            <a:ext cx="12435840" cy="13716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1737360"/>
            <a:ext cx="5974080" cy="914400"/>
          </a:xfrm>
          <a:noFill/>
          <a:ln w="12700" cap="sq" cmpd="sng" algn="ctr">
            <a:noFill/>
            <a:prstDash val="solid"/>
          </a:ln>
        </p:spPr>
        <p:txBody>
          <a:bodyPr lIns="130616" anchor="b" anchorCtr="0">
            <a:noAutofit/>
          </a:bodyPr>
          <a:lstStyle>
            <a:lvl1pPr marL="0" indent="0">
              <a:buNone/>
              <a:defRPr sz="3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900" b="1"/>
            </a:lvl2pPr>
            <a:lvl3pPr>
              <a:buNone/>
              <a:defRPr sz="2600" b="1"/>
            </a:lvl3pPr>
            <a:lvl4pPr>
              <a:buNone/>
              <a:defRPr sz="2300" b="1"/>
            </a:lvl4pPr>
            <a:lvl5pPr>
              <a:buNone/>
              <a:defRPr sz="23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7924800" y="1737360"/>
            <a:ext cx="5974080" cy="914400"/>
          </a:xfrm>
          <a:noFill/>
          <a:ln w="12700" cap="sq" cmpd="sng" algn="ctr">
            <a:noFill/>
            <a:prstDash val="solid"/>
          </a:ln>
        </p:spPr>
        <p:txBody>
          <a:bodyPr lIns="130616" anchor="b" anchorCtr="0">
            <a:noAutofit/>
          </a:bodyPr>
          <a:lstStyle>
            <a:lvl1pPr marL="0" indent="0">
              <a:buNone/>
              <a:defRPr sz="3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900" b="1"/>
            </a:lvl2pPr>
            <a:lvl3pPr>
              <a:buNone/>
              <a:defRPr sz="2600" b="1"/>
            </a:lvl3pPr>
            <a:lvl4pPr>
              <a:buNone/>
              <a:defRPr sz="2300" b="1"/>
            </a:lvl4pPr>
            <a:lvl5pPr>
              <a:buNone/>
              <a:defRPr sz="23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ED2F-06AA-42A4-A44B-03BFD2EF81B1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50FCC-B919-4A49-862D-49EB875CF98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463040" y="2697480"/>
            <a:ext cx="5974080" cy="466344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7924800" y="2697480"/>
            <a:ext cx="5974080" cy="466344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ED2F-06AA-42A4-A44B-03BFD2EF81B1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50FCC-B919-4A49-862D-49EB875CF9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ED2F-06AA-42A4-A44B-03BFD2EF81B1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50FCC-B919-4A49-862D-49EB875CF9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102415" y="83706"/>
            <a:ext cx="14421395" cy="803209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0" y="327660"/>
            <a:ext cx="12435840" cy="1371600"/>
          </a:xfrm>
        </p:spPr>
        <p:txBody>
          <a:bodyPr anchor="b" anchorCtr="0"/>
          <a:lstStyle>
            <a:lvl1pPr algn="l">
              <a:buNone/>
              <a:defRPr sz="56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463040" y="1920240"/>
            <a:ext cx="3048000" cy="5394960"/>
          </a:xfrm>
        </p:spPr>
        <p:txBody>
          <a:bodyPr/>
          <a:lstStyle>
            <a:lvl1pPr marL="0" indent="0">
              <a:buNone/>
              <a:defRPr sz="2600"/>
            </a:lvl1pPr>
            <a:lvl2pPr>
              <a:buNone/>
              <a:defRPr sz="1700"/>
            </a:lvl2pPr>
            <a:lvl3pPr>
              <a:buNone/>
              <a:defRPr sz="1400"/>
            </a:lvl3pPr>
            <a:lvl4pPr>
              <a:buNone/>
              <a:defRPr sz="1300"/>
            </a:lvl4pPr>
            <a:lvl5pPr>
              <a:buNone/>
              <a:defRPr sz="13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ED2F-06AA-42A4-A44B-03BFD2EF81B1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50FCC-B919-4A49-862D-49EB875CF98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4754880" y="1920240"/>
            <a:ext cx="9144000" cy="539496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0" y="5880660"/>
            <a:ext cx="11704320" cy="626746"/>
          </a:xfrm>
        </p:spPr>
        <p:txBody>
          <a:bodyPr anchor="ctr">
            <a:noAutofit/>
          </a:bodyPr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63040" y="6534990"/>
            <a:ext cx="11704320" cy="822960"/>
          </a:xfrm>
        </p:spPr>
        <p:txBody>
          <a:bodyPr/>
          <a:lstStyle>
            <a:lvl1pPr marL="0" indent="0">
              <a:buFontTx/>
              <a:buNone/>
              <a:defRPr sz="23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ED2F-06AA-42A4-A44B-03BFD2EF81B1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63040" y="7406640"/>
            <a:ext cx="6217920" cy="5486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34086" y="7450531"/>
            <a:ext cx="731520" cy="548640"/>
          </a:xfrm>
        </p:spPr>
        <p:txBody>
          <a:bodyPr/>
          <a:lstStyle/>
          <a:p>
            <a:fld id="{13E50FCC-B919-4A49-862D-49EB875CF98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109291" y="5620266"/>
            <a:ext cx="14410944" cy="10972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9614" y="5580571"/>
            <a:ext cx="14410622" cy="54863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09618" y="5727871"/>
            <a:ext cx="14410619" cy="58568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9295" y="80012"/>
            <a:ext cx="14402998" cy="5497830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46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ED2F-06AA-42A4-A44B-03BFD2EF81B1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50FCC-B919-4A49-862D-49EB875CF9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07040" y="329571"/>
            <a:ext cx="3218688" cy="702183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63040" y="329570"/>
            <a:ext cx="8900160" cy="702183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ED2F-06AA-42A4-A44B-03BFD2EF81B1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50FCC-B919-4A49-862D-49EB875CF9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616" tIns="65309" rIns="130616" bIns="65309"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102415" y="83706"/>
            <a:ext cx="14421395" cy="803209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463040" y="329566"/>
            <a:ext cx="12435840" cy="1371600"/>
          </a:xfrm>
          <a:prstGeom prst="rect">
            <a:avLst/>
          </a:prstGeom>
        </p:spPr>
        <p:txBody>
          <a:bodyPr lIns="130616" tIns="65309" rIns="130616" bIns="130616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463040" y="1737360"/>
            <a:ext cx="12435840" cy="5486400"/>
          </a:xfrm>
          <a:prstGeom prst="rect">
            <a:avLst/>
          </a:prstGeom>
        </p:spPr>
        <p:txBody>
          <a:bodyPr lIns="130616" tIns="65309" rIns="130616" bIns="65309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9875520" y="7429500"/>
            <a:ext cx="3962400" cy="571500"/>
          </a:xfrm>
          <a:prstGeom prst="rect">
            <a:avLst/>
          </a:prstGeom>
        </p:spPr>
        <p:txBody>
          <a:bodyPr lIns="130616" tIns="65309" rIns="130616" bIns="65309" anchor="ctr" anchorCtr="0"/>
          <a:lstStyle>
            <a:lvl1pPr algn="r" eaLnBrk="1" latinLnBrk="0" hangingPunct="1">
              <a:defRPr kumimoji="0" sz="2000">
                <a:solidFill>
                  <a:schemeClr val="tx2"/>
                </a:solidFill>
              </a:defRPr>
            </a:lvl1pPr>
          </a:lstStyle>
          <a:p>
            <a:fld id="{C51AED2F-06AA-42A4-A44B-03BFD2EF81B1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463040" y="7406640"/>
            <a:ext cx="6339840" cy="548640"/>
          </a:xfrm>
          <a:prstGeom prst="rect">
            <a:avLst/>
          </a:prstGeom>
        </p:spPr>
        <p:txBody>
          <a:bodyPr lIns="130616" tIns="65309" rIns="130616" bIns="65309" anchor="ctr" anchorCtr="0"/>
          <a:lstStyle>
            <a:lvl1pPr eaLnBrk="1" latinLnBrk="0" hangingPunct="1">
              <a:defRPr kumimoji="0" sz="20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234086" y="7452360"/>
            <a:ext cx="731520" cy="54864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20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13E50FCC-B919-4A49-862D-49EB875CF98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04" r:id="rId2"/>
    <p:sldLayoutId id="2147483905" r:id="rId3"/>
    <p:sldLayoutId id="2147483906" r:id="rId4"/>
    <p:sldLayoutId id="2147483907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</p:sldLayoutIdLst>
  <p:transition spd="med">
    <p:wedge/>
  </p:transition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5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91850" indent="-391850" algn="l" rtl="0" eaLnBrk="1" latinLnBrk="0" hangingPunct="1">
        <a:spcBef>
          <a:spcPts val="829"/>
        </a:spcBef>
        <a:buClr>
          <a:schemeClr val="accent1"/>
        </a:buClr>
        <a:buSzPct val="85000"/>
        <a:buFont typeface="Wingdings 2"/>
        <a:buChar char=""/>
        <a:defRPr kumimoji="0"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783701" indent="-326542" algn="l" rtl="0" eaLnBrk="1" latinLnBrk="0" hangingPunct="1">
        <a:spcBef>
          <a:spcPts val="529"/>
        </a:spcBef>
        <a:buClr>
          <a:schemeClr val="accent2"/>
        </a:buClr>
        <a:buSzPct val="85000"/>
        <a:buFont typeface="Wingdings 2"/>
        <a:buChar char=""/>
        <a:defRPr kumimoji="0"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175551" indent="-326542" algn="l" rtl="0" eaLnBrk="1" latinLnBrk="0" hangingPunct="1">
        <a:spcBef>
          <a:spcPts val="529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567402" indent="-326542" algn="l" rtl="0" eaLnBrk="1" latinLnBrk="0" hangingPunct="1">
        <a:spcBef>
          <a:spcPts val="529"/>
        </a:spcBef>
        <a:buClr>
          <a:schemeClr val="accent3"/>
        </a:buClr>
        <a:buSzPct val="80000"/>
        <a:buFont typeface="Wingdings 2"/>
        <a:buChar char="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1959253" indent="-326542" algn="l" rtl="0" eaLnBrk="1" latinLnBrk="0" hangingPunct="1">
        <a:spcBef>
          <a:spcPts val="529"/>
        </a:spcBef>
        <a:buClr>
          <a:schemeClr val="accent3"/>
        </a:buClr>
        <a:buFontTx/>
        <a:buChar char="o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2351102" indent="-326542" algn="l" rtl="0" eaLnBrk="1" latinLnBrk="0" hangingPunct="1">
        <a:spcBef>
          <a:spcPts val="529"/>
        </a:spcBef>
        <a:buClr>
          <a:schemeClr val="accent3"/>
        </a:buClr>
        <a:buChar char="•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2953" indent="-326542" algn="l" rtl="0" eaLnBrk="1" latinLnBrk="0" hangingPunct="1">
        <a:spcBef>
          <a:spcPts val="529"/>
        </a:spcBef>
        <a:buClr>
          <a:schemeClr val="accent2"/>
        </a:buClr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3134803" indent="-326542" algn="l" rtl="0" eaLnBrk="1" latinLnBrk="0" hangingPunct="1">
        <a:spcBef>
          <a:spcPts val="529"/>
        </a:spcBef>
        <a:buClr>
          <a:schemeClr val="accent1">
            <a:tint val="60000"/>
          </a:schemeClr>
        </a:buClr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3526654" indent="-326542" algn="l" rtl="0" eaLnBrk="1" latinLnBrk="0" hangingPunct="1">
        <a:spcBef>
          <a:spcPts val="529"/>
        </a:spcBef>
        <a:buClr>
          <a:schemeClr val="accent2">
            <a:tint val="60000"/>
          </a:schemeClr>
        </a:buClr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65308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30616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95925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61233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326542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91850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522467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65760" y="838200"/>
            <a:ext cx="14264640" cy="60350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defRPr/>
            </a:pPr>
            <a:endParaRPr lang="en-US" dirty="0" smtClean="0">
              <a:solidFill>
                <a:schemeClr val="tx1"/>
              </a:solidFill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MULTIPLE ACCESS TECHNIQUES</a:t>
            </a:r>
          </a:p>
          <a:p>
            <a:pPr>
              <a:lnSpc>
                <a:spcPct val="150000"/>
              </a:lnSpc>
              <a:defRPr/>
            </a:pPr>
            <a:endParaRPr lang="en-US" dirty="0" smtClean="0">
              <a:solidFill>
                <a:schemeClr val="tx1"/>
              </a:solidFill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pic>
        <p:nvPicPr>
          <p:cNvPr id="4" name="Picture 3" descr="fTop-Image copy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33181"/>
            <a:ext cx="13411200" cy="905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33800" y="3810000"/>
            <a:ext cx="7391400" cy="37133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OVERVIEW</a:t>
            </a:r>
            <a:endParaRPr lang="en-US" b="1" dirty="0">
              <a:solidFill>
                <a:schemeClr val="accent2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371600" y="2057400"/>
            <a:ext cx="12115800" cy="4114800"/>
          </a:xfrm>
        </p:spPr>
        <p:txBody>
          <a:bodyPr>
            <a:normAutofit/>
          </a:bodyPr>
          <a:lstStyle/>
          <a:p>
            <a:r>
              <a:rPr lang="en-US" sz="3400" dirty="0" smtClean="0">
                <a:latin typeface="Arial" pitchFamily="34" charset="0"/>
                <a:cs typeface="Arial" pitchFamily="34" charset="0"/>
              </a:rPr>
              <a:t> Introduction to Multiple Access</a:t>
            </a:r>
          </a:p>
          <a:p>
            <a:r>
              <a:rPr lang="en-US" sz="3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FDMA</a:t>
            </a:r>
          </a:p>
          <a:p>
            <a:r>
              <a:rPr lang="en-US" sz="3400" dirty="0" smtClean="0">
                <a:latin typeface="Arial" pitchFamily="34" charset="0"/>
                <a:cs typeface="Arial" pitchFamily="34" charset="0"/>
              </a:rPr>
              <a:t> TDMA</a:t>
            </a:r>
          </a:p>
          <a:p>
            <a:r>
              <a:rPr lang="en-US" sz="3400" dirty="0" smtClean="0">
                <a:latin typeface="Arial" pitchFamily="34" charset="0"/>
                <a:cs typeface="Arial" pitchFamily="34" charset="0"/>
              </a:rPr>
              <a:t> Spread Spectrum Multiple Access</a:t>
            </a:r>
          </a:p>
          <a:p>
            <a:r>
              <a:rPr lang="en-US" sz="3400" dirty="0" smtClean="0">
                <a:latin typeface="Arial" pitchFamily="34" charset="0"/>
                <a:cs typeface="Arial" pitchFamily="34" charset="0"/>
              </a:rPr>
              <a:t> SDMA</a:t>
            </a:r>
          </a:p>
          <a:p>
            <a:r>
              <a:rPr lang="en-US" sz="3400" dirty="0" smtClean="0">
                <a:latin typeface="Arial" pitchFamily="34" charset="0"/>
                <a:cs typeface="Arial" pitchFamily="34" charset="0"/>
              </a:rPr>
              <a:t> OFDMA</a:t>
            </a:r>
          </a:p>
        </p:txBody>
      </p:sp>
      <p:pic>
        <p:nvPicPr>
          <p:cNvPr id="17410" name="Picture 2" descr="The difference between FDMA and TDMA | Tait Radio Academ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86800" y="1752600"/>
            <a:ext cx="5562130" cy="4191000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 smtClean="0">
                <a:latin typeface="Arial" pitchFamily="34" charset="0"/>
                <a:cs typeface="Arial" pitchFamily="34" charset="0"/>
              </a:rPr>
              <a:t>The user is assigned</a:t>
            </a:r>
            <a:r>
              <a:rPr lang="en-US" sz="2800" spc="36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a</a:t>
            </a:r>
            <a:r>
              <a:rPr lang="en-US" sz="2800" spc="13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specif</a:t>
            </a:r>
            <a:r>
              <a:rPr lang="en-US" sz="2800" spc="-6" dirty="0" smtClean="0">
                <a:latin typeface="Arial" pitchFamily="34" charset="0"/>
                <a:cs typeface="Arial" pitchFamily="34" charset="0"/>
              </a:rPr>
              <a:t>i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c f</a:t>
            </a:r>
            <a:r>
              <a:rPr lang="en-US" sz="2800" spc="-56" dirty="0" smtClean="0">
                <a:latin typeface="Arial" pitchFamily="34" charset="0"/>
                <a:cs typeface="Arial" pitchFamily="34" charset="0"/>
              </a:rPr>
              <a:t>r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equen</a:t>
            </a:r>
            <a:r>
              <a:rPr lang="en-US" sz="2800" spc="6" dirty="0" smtClean="0">
                <a:latin typeface="Arial" pitchFamily="34" charset="0"/>
                <a:cs typeface="Arial" pitchFamily="34" charset="0"/>
              </a:rPr>
              <a:t>c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y band in the elect</a:t>
            </a:r>
            <a:r>
              <a:rPr lang="en-US" sz="2800" spc="-56" dirty="0" smtClean="0">
                <a:latin typeface="Arial" pitchFamily="34" charset="0"/>
                <a:cs typeface="Arial" pitchFamily="34" charset="0"/>
              </a:rPr>
              <a:t>r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omagnet</a:t>
            </a:r>
            <a:r>
              <a:rPr lang="en-US" sz="2800" spc="-13" dirty="0" smtClean="0">
                <a:latin typeface="Arial" pitchFamily="34" charset="0"/>
                <a:cs typeface="Arial" pitchFamily="34" charset="0"/>
              </a:rPr>
              <a:t>i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c spectru</a:t>
            </a:r>
            <a:r>
              <a:rPr lang="en-US" sz="2800" spc="-13" dirty="0" smtClean="0">
                <a:latin typeface="Arial" pitchFamily="34" charset="0"/>
                <a:cs typeface="Arial" pitchFamily="34" charset="0"/>
              </a:rPr>
              <a:t>m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,</a:t>
            </a:r>
            <a:r>
              <a:rPr lang="en-US" sz="2800" spc="13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and</a:t>
            </a:r>
            <a:r>
              <a:rPr lang="en-US" sz="2800" spc="2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during</a:t>
            </a:r>
            <a:r>
              <a:rPr lang="en-US" sz="2800" spc="2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a </a:t>
            </a:r>
            <a:r>
              <a:rPr lang="en-US" sz="2800" spc="-27" dirty="0" smtClean="0">
                <a:latin typeface="Arial" pitchFamily="34" charset="0"/>
                <a:cs typeface="Arial" pitchFamily="34" charset="0"/>
              </a:rPr>
              <a:t>c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all th</a:t>
            </a:r>
            <a:r>
              <a:rPr lang="en-US" sz="2800" spc="-36" dirty="0" smtClean="0">
                <a:latin typeface="Arial" pitchFamily="34" charset="0"/>
                <a:cs typeface="Arial" pitchFamily="34" charset="0"/>
              </a:rPr>
              <a:t>a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t</a:t>
            </a:r>
            <a:r>
              <a:rPr lang="en-US" sz="2800" spc="2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user is</a:t>
            </a:r>
            <a:r>
              <a:rPr lang="en-US" sz="2800" spc="-6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the</a:t>
            </a:r>
            <a:r>
              <a:rPr lang="en-US" sz="2800" spc="2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only</a:t>
            </a:r>
            <a:r>
              <a:rPr lang="en-US" sz="2800" spc="13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one who</a:t>
            </a:r>
            <a:r>
              <a:rPr lang="en-US" sz="2800" spc="13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has the</a:t>
            </a:r>
            <a:r>
              <a:rPr lang="en-US" sz="2800" spc="13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rig</a:t>
            </a:r>
            <a:r>
              <a:rPr lang="en-US" sz="2800" spc="-27" dirty="0" smtClean="0">
                <a:latin typeface="Arial" pitchFamily="34" charset="0"/>
                <a:cs typeface="Arial" pitchFamily="34" charset="0"/>
              </a:rPr>
              <a:t>h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t </a:t>
            </a:r>
            <a:r>
              <a:rPr lang="en-US" sz="2800" spc="-56" dirty="0" smtClean="0">
                <a:latin typeface="Arial" pitchFamily="34" charset="0"/>
                <a:cs typeface="Arial" pitchFamily="34" charset="0"/>
              </a:rPr>
              <a:t>t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o</a:t>
            </a:r>
            <a:r>
              <a:rPr lang="en-US" sz="2800" spc="13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ac</a:t>
            </a:r>
            <a:r>
              <a:rPr lang="en-US" sz="2800" spc="6" dirty="0" smtClean="0">
                <a:latin typeface="Arial" pitchFamily="34" charset="0"/>
                <a:cs typeface="Arial" pitchFamily="34" charset="0"/>
              </a:rPr>
              <a:t>c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ess</a:t>
            </a:r>
            <a:r>
              <a:rPr lang="en-US" sz="2800" spc="-27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the spe</a:t>
            </a:r>
            <a:r>
              <a:rPr lang="en-US" sz="2800" spc="13" dirty="0" smtClean="0">
                <a:latin typeface="Arial" pitchFamily="34" charset="0"/>
                <a:cs typeface="Arial" pitchFamily="34" charset="0"/>
              </a:rPr>
              <a:t>c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i</a:t>
            </a:r>
            <a:r>
              <a:rPr lang="en-US" sz="2800" spc="-13" dirty="0" smtClean="0">
                <a:latin typeface="Arial" pitchFamily="34" charset="0"/>
                <a:cs typeface="Arial" pitchFamily="34" charset="0"/>
              </a:rPr>
              <a:t>f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ic b</a:t>
            </a:r>
            <a:r>
              <a:rPr lang="en-US" sz="2800" spc="6" dirty="0" smtClean="0">
                <a:latin typeface="Arial" pitchFamily="34" charset="0"/>
                <a:cs typeface="Arial" pitchFamily="34" charset="0"/>
              </a:rPr>
              <a:t>a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nd.</a:t>
            </a:r>
          </a:p>
          <a:p>
            <a:pPr marR="38924" algn="just">
              <a:lnSpc>
                <a:spcPts val="4807"/>
              </a:lnSpc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Total system bandwidth is divided into narrow frequency      slots. Each user is allocated a unique frequency band or         channel.</a:t>
            </a:r>
          </a:p>
          <a:p>
            <a:pPr marR="38924" algn="just">
              <a:lnSpc>
                <a:spcPts val="4807"/>
              </a:lnSpc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A user is free to transmit or receive all the time on its allocated radio channel, but the cost of transceiver is high, as each has to be designed on a different band</a:t>
            </a:r>
          </a:p>
          <a:p>
            <a:pPr marR="38924" algn="just">
              <a:lnSpc>
                <a:spcPts val="4807"/>
              </a:lnSpc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object 3"/>
          <p:cNvSpPr txBox="1">
            <a:spLocks noGrp="1"/>
          </p:cNvSpPr>
          <p:nvPr>
            <p:ph type="title"/>
          </p:nvPr>
        </p:nvSpPr>
        <p:spPr>
          <a:xfrm>
            <a:off x="2362200" y="0"/>
            <a:ext cx="10668000" cy="137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142">
              <a:lnSpc>
                <a:spcPts val="6550"/>
              </a:lnSpc>
              <a:spcBef>
                <a:spcPts val="327"/>
              </a:spcBef>
              <a:tabLst>
                <a:tab pos="9234253" algn="l"/>
              </a:tabLst>
            </a:pPr>
            <a:r>
              <a:rPr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F</a:t>
            </a:r>
            <a:r>
              <a:rPr sz="7200" b="1" spc="-77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eq</a:t>
            </a:r>
            <a:r>
              <a:rPr sz="7200" b="1" spc="13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u</a:t>
            </a:r>
            <a:r>
              <a:rPr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ency</a:t>
            </a:r>
            <a:r>
              <a:rPr sz="7200" b="1" spc="-20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Division</a:t>
            </a:r>
            <a:r>
              <a:rPr sz="7200" b="1" spc="20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Multiple</a:t>
            </a:r>
            <a:r>
              <a:rPr lang="en-US"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Access</a:t>
            </a:r>
            <a:endParaRPr sz="72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>
            <a:spLocks noGrp="1"/>
          </p:cNvSpPr>
          <p:nvPr>
            <p:ph type="title"/>
          </p:nvPr>
        </p:nvSpPr>
        <p:spPr>
          <a:xfrm>
            <a:off x="2362200" y="0"/>
            <a:ext cx="10668000" cy="137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142">
              <a:lnSpc>
                <a:spcPts val="6550"/>
              </a:lnSpc>
              <a:spcBef>
                <a:spcPts val="327"/>
              </a:spcBef>
              <a:tabLst>
                <a:tab pos="9234253" algn="l"/>
              </a:tabLst>
            </a:pPr>
            <a:r>
              <a:rPr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F</a:t>
            </a:r>
            <a:r>
              <a:rPr sz="7200" b="1" spc="-77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eq</a:t>
            </a:r>
            <a:r>
              <a:rPr sz="7200" b="1" spc="13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u</a:t>
            </a:r>
            <a:r>
              <a:rPr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ency</a:t>
            </a:r>
            <a:r>
              <a:rPr sz="7200" b="1" spc="-20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Division</a:t>
            </a:r>
            <a:r>
              <a:rPr sz="7200" b="1" spc="20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Multiple</a:t>
            </a:r>
            <a:r>
              <a:rPr lang="en-US"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Access</a:t>
            </a:r>
            <a:endParaRPr sz="72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800" y="1981200"/>
            <a:ext cx="1242059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 Each user transmits with no limitations in time, but using only a portion of the whole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   available frequency bandwidth.</a:t>
            </a:r>
          </a:p>
          <a:p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 Different users are separated in the frequency domain.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3581400"/>
            <a:ext cx="12192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541325" y="1338681"/>
            <a:ext cx="13602614" cy="10021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06500" y="3224174"/>
            <a:ext cx="1238096" cy="24176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82112" y="5137098"/>
            <a:ext cx="1806854" cy="180685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13093" y="4005071"/>
            <a:ext cx="994867" cy="193304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89881" y="1158544"/>
            <a:ext cx="0" cy="1615288"/>
          </a:xfrm>
          <a:custGeom>
            <a:avLst/>
            <a:gdLst/>
            <a:ahLst/>
            <a:cxnLst/>
            <a:rect l="l" t="t" r="r" b="b"/>
            <a:pathLst>
              <a:path h="1346073">
                <a:moveTo>
                  <a:pt x="0" y="0"/>
                </a:moveTo>
                <a:lnTo>
                  <a:pt x="0" y="1346073"/>
                </a:lnTo>
              </a:path>
            </a:pathLst>
          </a:custGeom>
          <a:ln w="38100">
            <a:solidFill>
              <a:srgbClr val="000000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264201" y="1158544"/>
            <a:ext cx="0" cy="1615288"/>
          </a:xfrm>
          <a:custGeom>
            <a:avLst/>
            <a:gdLst/>
            <a:ahLst/>
            <a:cxnLst/>
            <a:rect l="l" t="t" r="r" b="b"/>
            <a:pathLst>
              <a:path h="1346073">
                <a:moveTo>
                  <a:pt x="0" y="0"/>
                </a:moveTo>
                <a:lnTo>
                  <a:pt x="0" y="1346073"/>
                </a:lnTo>
              </a:path>
            </a:pathLst>
          </a:custGeom>
          <a:ln w="38100">
            <a:solidFill>
              <a:srgbClr val="000000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029345" y="1032357"/>
            <a:ext cx="0" cy="1615288"/>
          </a:xfrm>
          <a:custGeom>
            <a:avLst/>
            <a:gdLst/>
            <a:ahLst/>
            <a:cxnLst/>
            <a:rect l="l" t="t" r="r" b="b"/>
            <a:pathLst>
              <a:path h="1346073">
                <a:moveTo>
                  <a:pt x="0" y="0"/>
                </a:moveTo>
                <a:lnTo>
                  <a:pt x="0" y="1346073"/>
                </a:lnTo>
              </a:path>
            </a:pathLst>
          </a:custGeom>
          <a:ln w="38100">
            <a:solidFill>
              <a:srgbClr val="000000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301836" y="1032357"/>
            <a:ext cx="0" cy="1615288"/>
          </a:xfrm>
          <a:custGeom>
            <a:avLst/>
            <a:gdLst/>
            <a:ahLst/>
            <a:cxnLst/>
            <a:rect l="l" t="t" r="r" b="b"/>
            <a:pathLst>
              <a:path h="1346073">
                <a:moveTo>
                  <a:pt x="0" y="0"/>
                </a:moveTo>
                <a:lnTo>
                  <a:pt x="0" y="1346073"/>
                </a:lnTo>
              </a:path>
            </a:pathLst>
          </a:custGeom>
          <a:ln w="38100">
            <a:solidFill>
              <a:srgbClr val="000000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068811" y="906170"/>
            <a:ext cx="0" cy="1615288"/>
          </a:xfrm>
          <a:custGeom>
            <a:avLst/>
            <a:gdLst/>
            <a:ahLst/>
            <a:cxnLst/>
            <a:rect l="l" t="t" r="r" b="b"/>
            <a:pathLst>
              <a:path h="1346073">
                <a:moveTo>
                  <a:pt x="0" y="0"/>
                </a:moveTo>
                <a:lnTo>
                  <a:pt x="0" y="1346073"/>
                </a:lnTo>
              </a:path>
            </a:pathLst>
          </a:custGeom>
          <a:ln w="38100">
            <a:solidFill>
              <a:srgbClr val="000000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341302" y="906170"/>
            <a:ext cx="0" cy="1615288"/>
          </a:xfrm>
          <a:custGeom>
            <a:avLst/>
            <a:gdLst/>
            <a:ahLst/>
            <a:cxnLst/>
            <a:rect l="l" t="t" r="r" b="b"/>
            <a:pathLst>
              <a:path h="1346073">
                <a:moveTo>
                  <a:pt x="0" y="0"/>
                </a:moveTo>
                <a:lnTo>
                  <a:pt x="0" y="1346073"/>
                </a:lnTo>
              </a:path>
            </a:pathLst>
          </a:custGeom>
          <a:ln w="38100">
            <a:solidFill>
              <a:srgbClr val="000000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179929" y="2099767"/>
            <a:ext cx="1674114" cy="1793900"/>
          </a:xfrm>
          <a:custGeom>
            <a:avLst/>
            <a:gdLst/>
            <a:ahLst/>
            <a:cxnLst/>
            <a:rect l="l" t="t" r="r" b="b"/>
            <a:pathLst>
              <a:path w="1395095" h="1494917">
                <a:moveTo>
                  <a:pt x="24130" y="1413256"/>
                </a:moveTo>
                <a:lnTo>
                  <a:pt x="0" y="1494917"/>
                </a:lnTo>
                <a:lnTo>
                  <a:pt x="79883" y="1465199"/>
                </a:lnTo>
                <a:lnTo>
                  <a:pt x="66524" y="1452753"/>
                </a:lnTo>
                <a:lnTo>
                  <a:pt x="48006" y="1452753"/>
                </a:lnTo>
                <a:lnTo>
                  <a:pt x="38608" y="1444117"/>
                </a:lnTo>
                <a:lnTo>
                  <a:pt x="47278" y="1434822"/>
                </a:lnTo>
                <a:lnTo>
                  <a:pt x="24130" y="1413256"/>
                </a:lnTo>
                <a:close/>
              </a:path>
              <a:path w="1395095" h="1494917">
                <a:moveTo>
                  <a:pt x="47278" y="1434822"/>
                </a:moveTo>
                <a:lnTo>
                  <a:pt x="38608" y="1444117"/>
                </a:lnTo>
                <a:lnTo>
                  <a:pt x="48006" y="1452753"/>
                </a:lnTo>
                <a:lnTo>
                  <a:pt x="56616" y="1443522"/>
                </a:lnTo>
                <a:lnTo>
                  <a:pt x="47278" y="1434822"/>
                </a:lnTo>
                <a:close/>
              </a:path>
              <a:path w="1395095" h="1494917">
                <a:moveTo>
                  <a:pt x="56616" y="1443522"/>
                </a:moveTo>
                <a:lnTo>
                  <a:pt x="48006" y="1452753"/>
                </a:lnTo>
                <a:lnTo>
                  <a:pt x="66524" y="1452753"/>
                </a:lnTo>
                <a:lnTo>
                  <a:pt x="56616" y="1443522"/>
                </a:lnTo>
                <a:close/>
              </a:path>
              <a:path w="1395095" h="1494917">
                <a:moveTo>
                  <a:pt x="1385697" y="0"/>
                </a:moveTo>
                <a:lnTo>
                  <a:pt x="47278" y="1434822"/>
                </a:lnTo>
                <a:lnTo>
                  <a:pt x="56616" y="1443522"/>
                </a:lnTo>
                <a:lnTo>
                  <a:pt x="1395095" y="8636"/>
                </a:lnTo>
                <a:lnTo>
                  <a:pt x="13856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96435" y="2377745"/>
            <a:ext cx="2360522" cy="2594762"/>
          </a:xfrm>
          <a:custGeom>
            <a:avLst/>
            <a:gdLst/>
            <a:ahLst/>
            <a:cxnLst/>
            <a:rect l="l" t="t" r="r" b="b"/>
            <a:pathLst>
              <a:path w="1967102" h="2162302">
                <a:moveTo>
                  <a:pt x="23113" y="2080260"/>
                </a:moveTo>
                <a:lnTo>
                  <a:pt x="0" y="2162302"/>
                </a:lnTo>
                <a:lnTo>
                  <a:pt x="79501" y="2131568"/>
                </a:lnTo>
                <a:lnTo>
                  <a:pt x="66382" y="2119630"/>
                </a:lnTo>
                <a:lnTo>
                  <a:pt x="47370" y="2119630"/>
                </a:lnTo>
                <a:lnTo>
                  <a:pt x="37973" y="2111121"/>
                </a:lnTo>
                <a:lnTo>
                  <a:pt x="46601" y="2101631"/>
                </a:lnTo>
                <a:lnTo>
                  <a:pt x="23113" y="2080260"/>
                </a:lnTo>
                <a:close/>
              </a:path>
              <a:path w="1967102" h="2162302">
                <a:moveTo>
                  <a:pt x="46601" y="2101631"/>
                </a:moveTo>
                <a:lnTo>
                  <a:pt x="37973" y="2111121"/>
                </a:lnTo>
                <a:lnTo>
                  <a:pt x="47370" y="2119630"/>
                </a:lnTo>
                <a:lnTo>
                  <a:pt x="55979" y="2110164"/>
                </a:lnTo>
                <a:lnTo>
                  <a:pt x="46601" y="2101631"/>
                </a:lnTo>
                <a:close/>
              </a:path>
              <a:path w="1967102" h="2162302">
                <a:moveTo>
                  <a:pt x="55979" y="2110164"/>
                </a:moveTo>
                <a:lnTo>
                  <a:pt x="47370" y="2119630"/>
                </a:lnTo>
                <a:lnTo>
                  <a:pt x="66382" y="2119630"/>
                </a:lnTo>
                <a:lnTo>
                  <a:pt x="55979" y="2110164"/>
                </a:lnTo>
                <a:close/>
              </a:path>
              <a:path w="1967102" h="2162302">
                <a:moveTo>
                  <a:pt x="1957704" y="0"/>
                </a:moveTo>
                <a:lnTo>
                  <a:pt x="46601" y="2101631"/>
                </a:lnTo>
                <a:lnTo>
                  <a:pt x="55979" y="2110164"/>
                </a:lnTo>
                <a:lnTo>
                  <a:pt x="1967102" y="8636"/>
                </a:lnTo>
                <a:lnTo>
                  <a:pt x="1957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971386" y="2376220"/>
            <a:ext cx="3217621" cy="1758239"/>
          </a:xfrm>
          <a:custGeom>
            <a:avLst/>
            <a:gdLst/>
            <a:ahLst/>
            <a:cxnLst/>
            <a:rect l="l" t="t" r="r" b="b"/>
            <a:pathLst>
              <a:path w="2681351" h="1465199">
                <a:moveTo>
                  <a:pt x="48640" y="1395221"/>
                </a:moveTo>
                <a:lnTo>
                  <a:pt x="0" y="1465199"/>
                </a:lnTo>
                <a:lnTo>
                  <a:pt x="85089" y="1462151"/>
                </a:lnTo>
                <a:lnTo>
                  <a:pt x="73263" y="1440433"/>
                </a:lnTo>
                <a:lnTo>
                  <a:pt x="58800" y="1440433"/>
                </a:lnTo>
                <a:lnTo>
                  <a:pt x="52704" y="1429257"/>
                </a:lnTo>
                <a:lnTo>
                  <a:pt x="63864" y="1423176"/>
                </a:lnTo>
                <a:lnTo>
                  <a:pt x="48640" y="1395221"/>
                </a:lnTo>
                <a:close/>
              </a:path>
              <a:path w="2681351" h="1465199">
                <a:moveTo>
                  <a:pt x="63864" y="1423176"/>
                </a:moveTo>
                <a:lnTo>
                  <a:pt x="52704" y="1429257"/>
                </a:lnTo>
                <a:lnTo>
                  <a:pt x="58800" y="1440433"/>
                </a:lnTo>
                <a:lnTo>
                  <a:pt x="69953" y="1434356"/>
                </a:lnTo>
                <a:lnTo>
                  <a:pt x="63864" y="1423176"/>
                </a:lnTo>
                <a:close/>
              </a:path>
              <a:path w="2681351" h="1465199">
                <a:moveTo>
                  <a:pt x="69953" y="1434356"/>
                </a:moveTo>
                <a:lnTo>
                  <a:pt x="58800" y="1440433"/>
                </a:lnTo>
                <a:lnTo>
                  <a:pt x="73263" y="1440433"/>
                </a:lnTo>
                <a:lnTo>
                  <a:pt x="69953" y="1434356"/>
                </a:lnTo>
                <a:close/>
              </a:path>
              <a:path w="2681351" h="1465199">
                <a:moveTo>
                  <a:pt x="2675255" y="0"/>
                </a:moveTo>
                <a:lnTo>
                  <a:pt x="63864" y="1423176"/>
                </a:lnTo>
                <a:lnTo>
                  <a:pt x="69953" y="1434356"/>
                </a:lnTo>
                <a:lnTo>
                  <a:pt x="2681351" y="11175"/>
                </a:lnTo>
                <a:lnTo>
                  <a:pt x="26752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1209325" y="2377135"/>
            <a:ext cx="741425" cy="622400"/>
          </a:xfrm>
          <a:custGeom>
            <a:avLst/>
            <a:gdLst/>
            <a:ahLst/>
            <a:cxnLst/>
            <a:rect l="l" t="t" r="r" b="b"/>
            <a:pathLst>
              <a:path w="617854" h="518667">
                <a:moveTo>
                  <a:pt x="555263" y="474680"/>
                </a:moveTo>
                <a:lnTo>
                  <a:pt x="534924" y="498982"/>
                </a:lnTo>
                <a:lnTo>
                  <a:pt x="617854" y="518667"/>
                </a:lnTo>
                <a:lnTo>
                  <a:pt x="602248" y="482853"/>
                </a:lnTo>
                <a:lnTo>
                  <a:pt x="565023" y="482853"/>
                </a:lnTo>
                <a:lnTo>
                  <a:pt x="555263" y="474680"/>
                </a:lnTo>
                <a:close/>
              </a:path>
              <a:path w="617854" h="518667">
                <a:moveTo>
                  <a:pt x="563475" y="464869"/>
                </a:moveTo>
                <a:lnTo>
                  <a:pt x="555263" y="474680"/>
                </a:lnTo>
                <a:lnTo>
                  <a:pt x="565023" y="482853"/>
                </a:lnTo>
                <a:lnTo>
                  <a:pt x="573277" y="473075"/>
                </a:lnTo>
                <a:lnTo>
                  <a:pt x="563475" y="464869"/>
                </a:lnTo>
                <a:close/>
              </a:path>
              <a:path w="617854" h="518667">
                <a:moveTo>
                  <a:pt x="583819" y="440563"/>
                </a:moveTo>
                <a:lnTo>
                  <a:pt x="563475" y="464869"/>
                </a:lnTo>
                <a:lnTo>
                  <a:pt x="573277" y="473075"/>
                </a:lnTo>
                <a:lnTo>
                  <a:pt x="565023" y="482853"/>
                </a:lnTo>
                <a:lnTo>
                  <a:pt x="602248" y="482853"/>
                </a:lnTo>
                <a:lnTo>
                  <a:pt x="583819" y="440563"/>
                </a:lnTo>
                <a:close/>
              </a:path>
              <a:path w="617854" h="518667">
                <a:moveTo>
                  <a:pt x="8127" y="0"/>
                </a:moveTo>
                <a:lnTo>
                  <a:pt x="0" y="9651"/>
                </a:lnTo>
                <a:lnTo>
                  <a:pt x="555263" y="474680"/>
                </a:lnTo>
                <a:lnTo>
                  <a:pt x="563475" y="464869"/>
                </a:lnTo>
                <a:lnTo>
                  <a:pt x="812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625742" y="3041293"/>
            <a:ext cx="8004657" cy="457870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1848186" y="2800824"/>
            <a:ext cx="2539759" cy="63405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37871" marR="358171" algn="ctr">
              <a:lnSpc>
                <a:spcPts val="2352"/>
              </a:lnSpc>
              <a:spcBef>
                <a:spcPts val="118"/>
              </a:spcBef>
            </a:pPr>
            <a:r>
              <a:rPr sz="2200" dirty="0" smtClean="0">
                <a:latin typeface="Cambria"/>
                <a:cs typeface="Cambria"/>
              </a:rPr>
              <a:t>G</a:t>
            </a:r>
            <a:r>
              <a:rPr sz="2200" spc="-83" dirty="0" smtClean="0">
                <a:latin typeface="Cambria"/>
                <a:cs typeface="Cambria"/>
              </a:rPr>
              <a:t>U</a:t>
            </a:r>
            <a:r>
              <a:rPr sz="2200" spc="-5" dirty="0" smtClean="0">
                <a:latin typeface="Cambria"/>
                <a:cs typeface="Cambria"/>
              </a:rPr>
              <a:t>A</a:t>
            </a:r>
            <a:r>
              <a:rPr sz="2200" dirty="0" smtClean="0">
                <a:latin typeface="Cambria"/>
                <a:cs typeface="Cambria"/>
              </a:rPr>
              <a:t>RD</a:t>
            </a:r>
            <a:r>
              <a:rPr sz="2200" spc="-48" dirty="0" smtClean="0">
                <a:latin typeface="Cambria"/>
                <a:cs typeface="Cambria"/>
              </a:rPr>
              <a:t> </a:t>
            </a:r>
            <a:r>
              <a:rPr sz="2200" spc="-23" dirty="0" smtClean="0">
                <a:latin typeface="Cambria"/>
                <a:cs typeface="Cambria"/>
              </a:rPr>
              <a:t>B</a:t>
            </a:r>
            <a:r>
              <a:rPr sz="2200" spc="-5" dirty="0" smtClean="0">
                <a:latin typeface="Cambria"/>
                <a:cs typeface="Cambria"/>
              </a:rPr>
              <a:t>A</a:t>
            </a:r>
            <a:r>
              <a:rPr sz="2200" spc="-12" dirty="0" smtClean="0">
                <a:latin typeface="Cambria"/>
                <a:cs typeface="Cambria"/>
              </a:rPr>
              <a:t>NDS</a:t>
            </a:r>
            <a:endParaRPr sz="2200" dirty="0">
              <a:latin typeface="Cambria"/>
              <a:cs typeface="Cambria"/>
            </a:endParaRPr>
          </a:p>
          <a:p>
            <a:pPr algn="ctr">
              <a:lnSpc>
                <a:spcPct val="97696"/>
              </a:lnSpc>
            </a:pPr>
            <a:r>
              <a:rPr sz="2200" spc="-173" dirty="0" smtClean="0">
                <a:latin typeface="Cambria"/>
                <a:cs typeface="Cambria"/>
              </a:rPr>
              <a:t>T</a:t>
            </a:r>
            <a:r>
              <a:rPr sz="2200" dirty="0" smtClean="0">
                <a:latin typeface="Cambria"/>
                <a:cs typeface="Cambria"/>
              </a:rPr>
              <a:t>o</a:t>
            </a:r>
            <a:r>
              <a:rPr sz="2200" spc="-11" dirty="0" smtClean="0">
                <a:latin typeface="Cambria"/>
                <a:cs typeface="Cambria"/>
              </a:rPr>
              <a:t> </a:t>
            </a:r>
            <a:r>
              <a:rPr sz="2200" spc="-47" dirty="0" smtClean="0">
                <a:latin typeface="Cambria"/>
                <a:cs typeface="Cambria"/>
              </a:rPr>
              <a:t>a</a:t>
            </a:r>
            <a:r>
              <a:rPr sz="2200" spc="-35" dirty="0" smtClean="0">
                <a:latin typeface="Cambria"/>
                <a:cs typeface="Cambria"/>
              </a:rPr>
              <a:t>v</a:t>
            </a:r>
            <a:r>
              <a:rPr sz="2200" dirty="0" smtClean="0">
                <a:latin typeface="Cambria"/>
                <a:cs typeface="Cambria"/>
              </a:rPr>
              <a:t>o</a:t>
            </a:r>
            <a:r>
              <a:rPr sz="2200" spc="5" dirty="0" smtClean="0">
                <a:latin typeface="Cambria"/>
                <a:cs typeface="Cambria"/>
              </a:rPr>
              <a:t>i</a:t>
            </a:r>
            <a:r>
              <a:rPr sz="2200" dirty="0" smtClean="0">
                <a:latin typeface="Cambria"/>
                <a:cs typeface="Cambria"/>
              </a:rPr>
              <a:t>d</a:t>
            </a:r>
            <a:r>
              <a:rPr sz="2200" spc="-17" dirty="0" smtClean="0">
                <a:latin typeface="Cambria"/>
                <a:cs typeface="Cambria"/>
              </a:rPr>
              <a:t> </a:t>
            </a:r>
            <a:r>
              <a:rPr sz="2200" dirty="0" smtClean="0">
                <a:latin typeface="Cambria"/>
                <a:cs typeface="Cambria"/>
              </a:rPr>
              <a:t>int</a:t>
            </a:r>
            <a:r>
              <a:rPr sz="2200" spc="-5" dirty="0" smtClean="0">
                <a:latin typeface="Cambria"/>
                <a:cs typeface="Cambria"/>
              </a:rPr>
              <a:t>e</a:t>
            </a:r>
            <a:r>
              <a:rPr sz="2200" dirty="0" smtClean="0">
                <a:latin typeface="Cambria"/>
                <a:cs typeface="Cambria"/>
              </a:rPr>
              <a:t>r</a:t>
            </a:r>
            <a:r>
              <a:rPr sz="2200" spc="-35" dirty="0" smtClean="0">
                <a:latin typeface="Cambria"/>
                <a:cs typeface="Cambria"/>
              </a:rPr>
              <a:t>f</a:t>
            </a:r>
            <a:r>
              <a:rPr sz="2200" dirty="0" smtClean="0">
                <a:latin typeface="Cambria"/>
                <a:cs typeface="Cambria"/>
              </a:rPr>
              <a:t>e</a:t>
            </a:r>
            <a:r>
              <a:rPr sz="2200" spc="-35" dirty="0" smtClean="0">
                <a:latin typeface="Cambria"/>
                <a:cs typeface="Cambria"/>
              </a:rPr>
              <a:t>r</a:t>
            </a:r>
            <a:r>
              <a:rPr sz="2200" dirty="0" smtClean="0">
                <a:latin typeface="Cambria"/>
                <a:cs typeface="Cambria"/>
              </a:rPr>
              <a:t>ence</a:t>
            </a:r>
            <a:endParaRPr sz="2200" dirty="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66017" y="5727970"/>
            <a:ext cx="939923" cy="304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5240">
              <a:lnSpc>
                <a:spcPts val="2352"/>
              </a:lnSpc>
              <a:spcBef>
                <a:spcPts val="118"/>
              </a:spcBef>
            </a:pPr>
            <a:r>
              <a:rPr sz="2200" dirty="0" smtClean="0">
                <a:latin typeface="Cambria"/>
                <a:cs typeface="Cambria"/>
              </a:rPr>
              <a:t>U</a:t>
            </a:r>
            <a:r>
              <a:rPr sz="2200" spc="-5" dirty="0" smtClean="0">
                <a:latin typeface="Cambria"/>
                <a:cs typeface="Cambria"/>
              </a:rPr>
              <a:t>S</a:t>
            </a:r>
            <a:r>
              <a:rPr sz="2200" dirty="0" smtClean="0">
                <a:latin typeface="Cambria"/>
                <a:cs typeface="Cambria"/>
              </a:rPr>
              <a:t>ER 1</a:t>
            </a:r>
            <a:endParaRPr sz="2200" dirty="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159094" y="6022872"/>
            <a:ext cx="939468" cy="30516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5240">
              <a:lnSpc>
                <a:spcPts val="2352"/>
              </a:lnSpc>
              <a:spcBef>
                <a:spcPts val="118"/>
              </a:spcBef>
            </a:pPr>
            <a:r>
              <a:rPr sz="2200" dirty="0" smtClean="0">
                <a:latin typeface="Cambria"/>
                <a:cs typeface="Cambria"/>
              </a:rPr>
              <a:t>U</a:t>
            </a:r>
            <a:r>
              <a:rPr sz="2200" spc="-11" dirty="0" smtClean="0">
                <a:latin typeface="Cambria"/>
                <a:cs typeface="Cambria"/>
              </a:rPr>
              <a:t>S</a:t>
            </a:r>
            <a:r>
              <a:rPr sz="2200" dirty="0" smtClean="0">
                <a:latin typeface="Cambria"/>
                <a:cs typeface="Cambria"/>
              </a:rPr>
              <a:t>ER</a:t>
            </a:r>
            <a:r>
              <a:rPr sz="2200" spc="-5" dirty="0" smtClean="0">
                <a:latin typeface="Cambria"/>
                <a:cs typeface="Cambria"/>
              </a:rPr>
              <a:t> </a:t>
            </a:r>
            <a:r>
              <a:rPr sz="2200" dirty="0" smtClean="0">
                <a:latin typeface="Cambria"/>
                <a:cs typeface="Cambria"/>
              </a:rPr>
              <a:t>3</a:t>
            </a:r>
            <a:endParaRPr sz="2200" dirty="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782873" y="6973748"/>
            <a:ext cx="939923" cy="304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5240">
              <a:lnSpc>
                <a:spcPts val="2352"/>
              </a:lnSpc>
              <a:spcBef>
                <a:spcPts val="118"/>
              </a:spcBef>
            </a:pPr>
            <a:r>
              <a:rPr sz="2200" dirty="0" smtClean="0">
                <a:latin typeface="Cambria"/>
                <a:cs typeface="Cambria"/>
              </a:rPr>
              <a:t>U</a:t>
            </a:r>
            <a:r>
              <a:rPr sz="2200" spc="-5" dirty="0" smtClean="0">
                <a:latin typeface="Cambria"/>
                <a:cs typeface="Cambria"/>
              </a:rPr>
              <a:t>S</a:t>
            </a:r>
            <a:r>
              <a:rPr sz="2200" dirty="0" smtClean="0">
                <a:latin typeface="Cambria"/>
                <a:cs typeface="Cambria"/>
              </a:rPr>
              <a:t>ER 2</a:t>
            </a:r>
            <a:endParaRPr sz="2200" dirty="0">
              <a:latin typeface="Cambria"/>
              <a:cs typeface="Cambria"/>
            </a:endParaRPr>
          </a:p>
        </p:txBody>
      </p:sp>
      <p:sp>
        <p:nvSpPr>
          <p:cNvPr id="29" name="object 3"/>
          <p:cNvSpPr txBox="1">
            <a:spLocks/>
          </p:cNvSpPr>
          <p:nvPr/>
        </p:nvSpPr>
        <p:spPr>
          <a:xfrm>
            <a:off x="2286000" y="228600"/>
            <a:ext cx="10668000" cy="137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142" marR="0" lvl="0" indent="0" algn="l" defTabSz="914400" rtl="0" eaLnBrk="1" fontAlgn="auto" latinLnBrk="0" hangingPunct="1">
              <a:lnSpc>
                <a:spcPts val="6550"/>
              </a:lnSpc>
              <a:spcBef>
                <a:spcPts val="327"/>
              </a:spcBef>
              <a:spcAft>
                <a:spcPts val="0"/>
              </a:spcAft>
              <a:buClrTx/>
              <a:buSzTx/>
              <a:buFontTx/>
              <a:buNone/>
              <a:tabLst>
                <a:tab pos="9234253" algn="l"/>
              </a:tabLst>
              <a:defRPr/>
            </a:pPr>
            <a:r>
              <a:rPr kumimoji="0" lang="en-US" sz="7200" b="1" i="0" u="none" strike="noStrike" kern="1200" cap="none" spc="0" normalizeH="0" baseline="3103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F</a:t>
            </a:r>
            <a:r>
              <a:rPr kumimoji="0" lang="en-US" sz="7200" b="1" i="0" u="none" strike="noStrike" kern="1200" cap="none" spc="-77" normalizeH="0" baseline="3103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r</a:t>
            </a:r>
            <a:r>
              <a:rPr kumimoji="0" lang="en-US" sz="7200" b="1" i="0" u="none" strike="noStrike" kern="1200" cap="none" spc="0" normalizeH="0" baseline="3103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eq</a:t>
            </a:r>
            <a:r>
              <a:rPr kumimoji="0" lang="en-US" sz="7200" b="1" i="0" u="none" strike="noStrike" kern="1200" cap="none" spc="13" normalizeH="0" baseline="3103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u</a:t>
            </a:r>
            <a:r>
              <a:rPr kumimoji="0" lang="en-US" sz="7200" b="1" i="0" u="none" strike="noStrike" kern="1200" cap="none" spc="0" normalizeH="0" baseline="3103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ency</a:t>
            </a:r>
            <a:r>
              <a:rPr kumimoji="0" lang="en-US" sz="7200" b="1" i="0" u="none" strike="noStrike" kern="1200" cap="none" spc="-20" normalizeH="0" baseline="3103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 </a:t>
            </a:r>
            <a:r>
              <a:rPr kumimoji="0" lang="en-US" sz="7200" b="1" i="0" u="none" strike="noStrike" kern="1200" cap="none" spc="0" normalizeH="0" baseline="3103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Division</a:t>
            </a:r>
            <a:r>
              <a:rPr kumimoji="0" lang="en-US" sz="7200" b="1" i="0" u="none" strike="noStrike" kern="1200" cap="none" spc="20" normalizeH="0" baseline="3103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 </a:t>
            </a:r>
            <a:r>
              <a:rPr kumimoji="0" lang="en-US" sz="7200" b="1" i="0" u="none" strike="noStrike" kern="1200" cap="none" spc="0" normalizeH="0" baseline="3103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Multiple Access</a:t>
            </a:r>
            <a:endParaRPr kumimoji="0" lang="en-US" sz="7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>
            <a:spLocks noGrp="1"/>
          </p:cNvSpPr>
          <p:nvPr>
            <p:ph type="title"/>
          </p:nvPr>
        </p:nvSpPr>
        <p:spPr>
          <a:xfrm>
            <a:off x="4419600" y="0"/>
            <a:ext cx="5791200" cy="137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142">
              <a:lnSpc>
                <a:spcPts val="6550"/>
              </a:lnSpc>
              <a:spcBef>
                <a:spcPts val="327"/>
              </a:spcBef>
              <a:tabLst>
                <a:tab pos="9234253" algn="l"/>
              </a:tabLst>
            </a:pPr>
            <a:r>
              <a:rPr lang="en-US"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Features of FDMA</a:t>
            </a:r>
            <a:endParaRPr sz="72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371600" y="1752600"/>
            <a:ext cx="11430000" cy="5486400"/>
          </a:xfrm>
        </p:spPr>
        <p:txBody>
          <a:bodyPr>
            <a:normAutofit/>
          </a:bodyPr>
          <a:lstStyle/>
          <a:p>
            <a:pPr algn="just"/>
            <a:r>
              <a:rPr lang="en-IN" sz="3200" dirty="0" smtClean="0">
                <a:latin typeface="Arial" pitchFamily="34" charset="0"/>
                <a:cs typeface="Arial" pitchFamily="34" charset="0"/>
              </a:rPr>
              <a:t> FDMA channel carries only one phone circuit at a time.</a:t>
            </a:r>
          </a:p>
          <a:p>
            <a:pPr algn="just"/>
            <a:r>
              <a:rPr lang="en-IN" sz="3200" dirty="0" smtClean="0">
                <a:latin typeface="Arial" pitchFamily="34" charset="0"/>
                <a:cs typeface="Arial" pitchFamily="34" charset="0"/>
              </a:rPr>
              <a:t> If an FDMA channel is not in use, then it sits idle and it  cannot be used by other users to increase share  capacity. </a:t>
            </a:r>
          </a:p>
          <a:p>
            <a:pPr algn="just"/>
            <a:r>
              <a:rPr lang="en-IN" sz="3200" dirty="0" smtClean="0">
                <a:latin typeface="Arial" pitchFamily="34" charset="0"/>
                <a:cs typeface="Arial" pitchFamily="34" charset="0"/>
              </a:rPr>
              <a:t>After the assignment of voice channel ,BS and the MS transmit simultaneously and continuously.</a:t>
            </a:r>
          </a:p>
          <a:p>
            <a:pPr algn="just"/>
            <a:r>
              <a:rPr lang="en-IN" sz="3200" dirty="0" smtClean="0">
                <a:latin typeface="Arial" pitchFamily="34" charset="0"/>
                <a:cs typeface="Arial" pitchFamily="34" charset="0"/>
              </a:rPr>
              <a:t>bandwidths of FDMA systems are generally narrow</a:t>
            </a:r>
          </a:p>
          <a:p>
            <a:pPr algn="just"/>
            <a:r>
              <a:rPr lang="en-IN" sz="3200" dirty="0" smtClean="0">
                <a:latin typeface="Arial" pitchFamily="34" charset="0"/>
                <a:cs typeface="Arial" pitchFamily="34" charset="0"/>
              </a:rPr>
              <a:t>Symbol time is large compared to the average delay spread. </a:t>
            </a:r>
          </a:p>
        </p:txBody>
      </p:sp>
      <p:sp>
        <p:nvSpPr>
          <p:cNvPr id="6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971800" y="7627623"/>
            <a:ext cx="9509759" cy="438150"/>
          </a:xfrm>
        </p:spPr>
        <p:txBody>
          <a:bodyPr/>
          <a:lstStyle/>
          <a:p>
            <a:r>
              <a:rPr lang="en-US" dirty="0" smtClean="0"/>
              <a:t>SKCET – ECE -  WIRELESS COMMUNICATION &amp; NETWORKS – MODULE 2</a:t>
            </a:r>
            <a:endParaRPr lang="en-US" dirty="0"/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>
            <a:spLocks noGrp="1"/>
          </p:cNvSpPr>
          <p:nvPr>
            <p:ph type="title"/>
          </p:nvPr>
        </p:nvSpPr>
        <p:spPr>
          <a:xfrm>
            <a:off x="4419600" y="0"/>
            <a:ext cx="5791200" cy="137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142">
              <a:lnSpc>
                <a:spcPts val="6550"/>
              </a:lnSpc>
              <a:spcBef>
                <a:spcPts val="327"/>
              </a:spcBef>
              <a:tabLst>
                <a:tab pos="9234253" algn="l"/>
              </a:tabLst>
            </a:pPr>
            <a:r>
              <a:rPr lang="en-US"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Features of FDMA</a:t>
            </a:r>
            <a:endParaRPr sz="72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600200" y="1524000"/>
            <a:ext cx="11201400" cy="2133600"/>
          </a:xfrm>
          <a:prstGeom prst="rect">
            <a:avLst/>
          </a:prstGeom>
        </p:spPr>
        <p:txBody>
          <a:bodyPr vert="horz" lIns="130616" tIns="65309" rIns="130616" bIns="65309" rtlCol="0">
            <a:noAutofit/>
          </a:bodyPr>
          <a:lstStyle/>
          <a:p>
            <a:pPr marL="391850" marR="0" lvl="0" indent="-391850" algn="l" defTabSz="914400" rtl="0" eaLnBrk="1" fontAlgn="auto" latinLnBrk="0" hangingPunct="1">
              <a:lnSpc>
                <a:spcPct val="100000"/>
              </a:lnSpc>
              <a:spcBef>
                <a:spcPts val="829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I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The complexity of the FDMA mobile systems is lower than that of TDMA mobile systems. </a:t>
            </a:r>
          </a:p>
          <a:p>
            <a:pPr marL="391850" marR="0" lvl="0" indent="-391850" algn="l" defTabSz="914400" rtl="0" eaLnBrk="1" fontAlgn="auto" latinLnBrk="0" hangingPunct="1">
              <a:lnSpc>
                <a:spcPct val="100000"/>
              </a:lnSpc>
              <a:spcBef>
                <a:spcPts val="829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I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FDMA requires tight filtering to minimize the adjacent channel interference.</a:t>
            </a:r>
          </a:p>
          <a:p>
            <a:pPr marL="391850" marR="0" lvl="0" indent="-391850" algn="l" defTabSz="914400" rtl="0" eaLnBrk="1" fontAlgn="auto" latinLnBrk="0" hangingPunct="1">
              <a:lnSpc>
                <a:spcPct val="100000"/>
              </a:lnSpc>
              <a:spcBef>
                <a:spcPts val="829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Arial" pitchFamily="34" charset="0"/>
              <a:buChar char="•"/>
              <a:tabLst/>
              <a:defRPr/>
            </a:pPr>
            <a:endParaRPr kumimoji="0" lang="en-I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2050" name="Picture 2" descr="LTE,LTE-A,5G,IMS,OpenFlow,SDN,NFV,Shell,Python etc.: Radio ..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200" y="3886200"/>
            <a:ext cx="8305800" cy="3920340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wedg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>
            <a:spLocks noGrp="1"/>
          </p:cNvSpPr>
          <p:nvPr>
            <p:ph type="title"/>
          </p:nvPr>
        </p:nvSpPr>
        <p:spPr>
          <a:xfrm>
            <a:off x="4419600" y="0"/>
            <a:ext cx="5791200" cy="137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142">
              <a:lnSpc>
                <a:spcPts val="6550"/>
              </a:lnSpc>
              <a:spcBef>
                <a:spcPts val="327"/>
              </a:spcBef>
              <a:tabLst>
                <a:tab pos="9234253" algn="l"/>
              </a:tabLst>
            </a:pPr>
            <a:r>
              <a:rPr lang="en-US"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GUARD BANDS</a:t>
            </a:r>
            <a:endParaRPr sz="72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object 14"/>
          <p:cNvSpPr txBox="1"/>
          <p:nvPr/>
        </p:nvSpPr>
        <p:spPr>
          <a:xfrm>
            <a:off x="1981200" y="1371600"/>
            <a:ext cx="12039600" cy="25997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8635">
              <a:lnSpc>
                <a:spcPts val="2960"/>
              </a:lnSpc>
              <a:spcBef>
                <a:spcPts val="148"/>
              </a:spcBef>
              <a:buFont typeface="Arial" pitchFamily="34" charset="0"/>
              <a:buChar char="•"/>
            </a:pPr>
            <a:r>
              <a:rPr lang="en-US" sz="2800" dirty="0" smtClean="0">
                <a:latin typeface="Arial"/>
                <a:cs typeface="Arial"/>
              </a:rPr>
              <a:t> Betw</a:t>
            </a:r>
            <a:r>
              <a:rPr lang="en-US" sz="2800" spc="4" dirty="0" smtClean="0">
                <a:latin typeface="Arial"/>
                <a:cs typeface="Arial"/>
              </a:rPr>
              <a:t>e</a:t>
            </a:r>
            <a:r>
              <a:rPr lang="en-US" sz="2800" dirty="0" smtClean="0">
                <a:latin typeface="Arial"/>
                <a:cs typeface="Arial"/>
              </a:rPr>
              <a:t>en</a:t>
            </a:r>
            <a:r>
              <a:rPr lang="en-US" sz="2800" spc="-93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the</a:t>
            </a:r>
            <a:r>
              <a:rPr lang="en-US" sz="2800" spc="-28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d</a:t>
            </a:r>
            <a:r>
              <a:rPr lang="en-US" sz="2800" spc="4" dirty="0" smtClean="0">
                <a:latin typeface="Arial"/>
                <a:cs typeface="Arial"/>
              </a:rPr>
              <a:t>i</a:t>
            </a:r>
            <a:r>
              <a:rPr lang="en-US" sz="2800" spc="-44" dirty="0" smtClean="0">
                <a:latin typeface="Arial"/>
                <a:cs typeface="Arial"/>
              </a:rPr>
              <a:t>f</a:t>
            </a:r>
            <a:r>
              <a:rPr lang="en-US" sz="2800" dirty="0" smtClean="0">
                <a:latin typeface="Arial"/>
                <a:cs typeface="Arial"/>
              </a:rPr>
              <a:t>fe</a:t>
            </a:r>
            <a:r>
              <a:rPr lang="en-US" sz="2800" spc="9" dirty="0" smtClean="0">
                <a:latin typeface="Arial"/>
                <a:cs typeface="Arial"/>
              </a:rPr>
              <a:t>r</a:t>
            </a:r>
            <a:r>
              <a:rPr lang="en-US" sz="2800" dirty="0" smtClean="0">
                <a:latin typeface="Arial"/>
                <a:cs typeface="Arial"/>
              </a:rPr>
              <a:t>ent u</a:t>
            </a:r>
            <a:r>
              <a:rPr lang="en-US" sz="2800" spc="4" dirty="0" smtClean="0">
                <a:latin typeface="Arial"/>
                <a:cs typeface="Arial"/>
              </a:rPr>
              <a:t>s</a:t>
            </a:r>
            <a:r>
              <a:rPr lang="en-US" sz="2800" dirty="0" smtClean="0">
                <a:latin typeface="Arial"/>
                <a:cs typeface="Arial"/>
              </a:rPr>
              <a:t>ed</a:t>
            </a:r>
            <a:r>
              <a:rPr lang="en-US" sz="2800" spc="-50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fr</a:t>
            </a:r>
            <a:r>
              <a:rPr lang="en-US" sz="2800" spc="9" dirty="0" smtClean="0">
                <a:latin typeface="Arial"/>
                <a:cs typeface="Arial"/>
              </a:rPr>
              <a:t>e</a:t>
            </a:r>
            <a:r>
              <a:rPr lang="en-US" sz="2800" dirty="0" smtClean="0">
                <a:latin typeface="Arial"/>
                <a:cs typeface="Arial"/>
              </a:rPr>
              <a:t>qu</a:t>
            </a:r>
            <a:r>
              <a:rPr lang="en-US" sz="2800" spc="9" dirty="0" smtClean="0">
                <a:latin typeface="Arial"/>
                <a:cs typeface="Arial"/>
              </a:rPr>
              <a:t>e</a:t>
            </a:r>
            <a:r>
              <a:rPr lang="en-US" sz="2800" dirty="0" smtClean="0">
                <a:latin typeface="Arial"/>
                <a:cs typeface="Arial"/>
              </a:rPr>
              <a:t>n</a:t>
            </a:r>
            <a:r>
              <a:rPr lang="en-US" sz="2800" spc="4" dirty="0" smtClean="0">
                <a:latin typeface="Arial"/>
                <a:cs typeface="Arial"/>
              </a:rPr>
              <a:t>c</a:t>
            </a:r>
            <a:r>
              <a:rPr lang="en-US" sz="2800" dirty="0" smtClean="0">
                <a:latin typeface="Arial"/>
                <a:cs typeface="Arial"/>
              </a:rPr>
              <a:t>y</a:t>
            </a:r>
            <a:r>
              <a:rPr lang="en-US" sz="2800" spc="-122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cha</a:t>
            </a:r>
            <a:r>
              <a:rPr lang="en-US" sz="2800" spc="9" dirty="0" smtClean="0">
                <a:latin typeface="Arial"/>
                <a:cs typeface="Arial"/>
              </a:rPr>
              <a:t>n</a:t>
            </a:r>
            <a:r>
              <a:rPr lang="en-US" sz="2800" dirty="0" smtClean="0">
                <a:latin typeface="Arial"/>
                <a:cs typeface="Arial"/>
              </a:rPr>
              <a:t>ne</a:t>
            </a:r>
            <a:r>
              <a:rPr lang="en-US" sz="2800" spc="9" dirty="0" smtClean="0">
                <a:latin typeface="Arial"/>
                <a:cs typeface="Arial"/>
              </a:rPr>
              <a:t>l</a:t>
            </a:r>
            <a:r>
              <a:rPr lang="en-US" sz="2800" dirty="0" smtClean="0">
                <a:latin typeface="Arial"/>
                <a:cs typeface="Arial"/>
              </a:rPr>
              <a:t>s </a:t>
            </a:r>
            <a:r>
              <a:rPr sz="2800" spc="0" dirty="0" smtClean="0">
                <a:latin typeface="Arial"/>
                <a:cs typeface="Arial"/>
              </a:rPr>
              <a:t>is</a:t>
            </a:r>
            <a:r>
              <a:rPr sz="2800" spc="-20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-15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sm</a:t>
            </a:r>
            <a:r>
              <a:rPr sz="2800" spc="9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ll</a:t>
            </a:r>
            <a:r>
              <a:rPr sz="2800" spc="-45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4" dirty="0" smtClean="0">
                <a:latin typeface="Arial"/>
                <a:cs typeface="Arial"/>
              </a:rPr>
              <a:t>m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1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nt</a:t>
            </a:r>
            <a:r>
              <a:rPr sz="2800" spc="-93" dirty="0" smtClean="0">
                <a:latin typeface="Arial"/>
                <a:cs typeface="Arial"/>
              </a:rPr>
              <a:t> </a:t>
            </a:r>
            <a:r>
              <a:rPr sz="2800" spc="9" dirty="0" smtClean="0">
                <a:latin typeface="Arial"/>
                <a:cs typeface="Arial"/>
              </a:rPr>
              <a:t>o</a:t>
            </a:r>
            <a:r>
              <a:rPr sz="2800" spc="0" dirty="0" smtClean="0">
                <a:latin typeface="Arial"/>
                <a:cs typeface="Arial"/>
              </a:rPr>
              <a:t>f</a:t>
            </a:r>
            <a:r>
              <a:rPr sz="2800" spc="-23" dirty="0" smtClean="0">
                <a:latin typeface="Arial"/>
                <a:cs typeface="Arial"/>
              </a:rPr>
              <a:t> </a:t>
            </a:r>
            <a:r>
              <a:rPr sz="2800" spc="9" dirty="0" smtClean="0">
                <a:latin typeface="Arial"/>
                <a:cs typeface="Arial"/>
              </a:rPr>
              <a:t>b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14" dirty="0" smtClean="0">
                <a:latin typeface="Arial"/>
                <a:cs typeface="Arial"/>
              </a:rPr>
              <a:t>n</a:t>
            </a:r>
            <a:r>
              <a:rPr sz="2800" spc="0" dirty="0" smtClean="0">
                <a:latin typeface="Arial"/>
                <a:cs typeface="Arial"/>
              </a:rPr>
              <a:t>dw</a:t>
            </a:r>
            <a:r>
              <a:rPr sz="2800" spc="9" dirty="0" smtClean="0">
                <a:latin typeface="Arial"/>
                <a:cs typeface="Arial"/>
              </a:rPr>
              <a:t>i</a:t>
            </a:r>
            <a:r>
              <a:rPr sz="2800" spc="0" dirty="0" smtClean="0">
                <a:latin typeface="Arial"/>
                <a:cs typeface="Arial"/>
              </a:rPr>
              <a:t>d</a:t>
            </a:r>
            <a:r>
              <a:rPr sz="2800" spc="9" dirty="0" smtClean="0">
                <a:latin typeface="Arial"/>
                <a:cs typeface="Arial"/>
              </a:rPr>
              <a:t>t</a:t>
            </a:r>
            <a:r>
              <a:rPr sz="2800" spc="0" dirty="0" smtClean="0">
                <a:latin typeface="Arial"/>
                <a:cs typeface="Arial"/>
              </a:rPr>
              <a:t>h</a:t>
            </a:r>
            <a:r>
              <a:rPr sz="2800" spc="-107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n</a:t>
            </a:r>
            <a:r>
              <a:rPr sz="2800" spc="14" dirty="0" smtClean="0">
                <a:latin typeface="Arial"/>
                <a:cs typeface="Arial"/>
              </a:rPr>
              <a:t>o</a:t>
            </a:r>
            <a:r>
              <a:rPr sz="2800" spc="0" dirty="0" smtClean="0">
                <a:latin typeface="Arial"/>
                <a:cs typeface="Arial"/>
              </a:rPr>
              <a:t>t</a:t>
            </a:r>
            <a:r>
              <a:rPr sz="2800" spc="-38" dirty="0" smtClean="0">
                <a:latin typeface="Arial"/>
                <a:cs typeface="Arial"/>
              </a:rPr>
              <a:t> </a:t>
            </a:r>
            <a:r>
              <a:rPr sz="2800" spc="9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s</a:t>
            </a:r>
            <a:r>
              <a:rPr sz="2800" spc="9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d.</a:t>
            </a:r>
            <a:r>
              <a:rPr sz="2800" spc="-118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Th</a:t>
            </a:r>
            <a:r>
              <a:rPr sz="2800" spc="4" dirty="0" smtClean="0">
                <a:latin typeface="Arial"/>
                <a:cs typeface="Arial"/>
              </a:rPr>
              <a:t>i</a:t>
            </a:r>
            <a:r>
              <a:rPr sz="2800" spc="0" dirty="0" smtClean="0">
                <a:latin typeface="Arial"/>
                <a:cs typeface="Arial"/>
              </a:rPr>
              <a:t>s</a:t>
            </a:r>
            <a:r>
              <a:rPr lang="en-US" sz="2800" spc="0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s</a:t>
            </a:r>
            <a:r>
              <a:rPr sz="2800" spc="9" dirty="0" smtClean="0">
                <a:latin typeface="Arial"/>
                <a:cs typeface="Arial"/>
              </a:rPr>
              <a:t>p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9" dirty="0" smtClean="0">
                <a:latin typeface="Arial"/>
                <a:cs typeface="Arial"/>
              </a:rPr>
              <a:t>c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-74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is</a:t>
            </a:r>
            <a:r>
              <a:rPr sz="2800" spc="-20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c</a:t>
            </a:r>
            <a:r>
              <a:rPr sz="2800" spc="9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ll</a:t>
            </a:r>
            <a:r>
              <a:rPr sz="2800" spc="9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d</a:t>
            </a:r>
            <a:r>
              <a:rPr sz="2800" spc="-73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a </a:t>
            </a:r>
            <a:r>
              <a:rPr sz="2800" b="1" spc="0" dirty="0" smtClean="0">
                <a:solidFill>
                  <a:srgbClr val="FF0000"/>
                </a:solidFill>
                <a:latin typeface="Arial"/>
                <a:cs typeface="Arial"/>
              </a:rPr>
              <a:t>g</a:t>
            </a:r>
            <a:r>
              <a:rPr sz="2800" b="1" spc="-9" dirty="0" smtClean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2800" b="1" spc="0" dirty="0" smtClean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800" b="1" spc="4" dirty="0" smtClean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800" b="1" spc="0" dirty="0" smtClean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800" b="1" spc="-77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spc="0" dirty="0" smtClean="0">
                <a:solidFill>
                  <a:srgbClr val="FF0000"/>
                </a:solidFill>
                <a:latin typeface="Arial"/>
                <a:cs typeface="Arial"/>
              </a:rPr>
              <a:t>band</a:t>
            </a:r>
            <a:r>
              <a:rPr sz="2800" spc="0" dirty="0" smtClean="0">
                <a:solidFill>
                  <a:srgbClr val="FF0000"/>
                </a:solidFill>
                <a:latin typeface="Arial"/>
                <a:cs typeface="Arial"/>
              </a:rPr>
              <a:t>.</a:t>
            </a:r>
            <a:endParaRPr sz="28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12700">
              <a:lnSpc>
                <a:spcPct val="100041"/>
              </a:lnSpc>
              <a:spcBef>
                <a:spcPts val="812"/>
              </a:spcBef>
              <a:buFont typeface="Arial" pitchFamily="34" charset="0"/>
              <a:buChar char="•"/>
            </a:pPr>
            <a:r>
              <a:rPr lang="en-US" sz="2800" spc="0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Th</a:t>
            </a:r>
            <a:r>
              <a:rPr sz="2800" spc="4" dirty="0" smtClean="0">
                <a:latin typeface="Arial"/>
                <a:cs typeface="Arial"/>
              </a:rPr>
              <a:t>i</a:t>
            </a:r>
            <a:r>
              <a:rPr sz="2800" spc="0" dirty="0" smtClean="0">
                <a:latin typeface="Arial"/>
                <a:cs typeface="Arial"/>
              </a:rPr>
              <a:t>s</a:t>
            </a:r>
            <a:r>
              <a:rPr sz="2800" spc="-42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b</a:t>
            </a:r>
            <a:r>
              <a:rPr sz="2800" spc="9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n</a:t>
            </a:r>
            <a:r>
              <a:rPr sz="2800" spc="9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wid</a:t>
            </a:r>
            <a:r>
              <a:rPr sz="2800" spc="4" dirty="0" smtClean="0">
                <a:latin typeface="Arial"/>
                <a:cs typeface="Arial"/>
              </a:rPr>
              <a:t>t</a:t>
            </a:r>
            <a:r>
              <a:rPr sz="2800" spc="0" dirty="0" smtClean="0">
                <a:latin typeface="Arial"/>
                <a:cs typeface="Arial"/>
              </a:rPr>
              <a:t>h</a:t>
            </a:r>
            <a:r>
              <a:rPr sz="2800" spc="-102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is</a:t>
            </a:r>
            <a:r>
              <a:rPr sz="2800" spc="-20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n</a:t>
            </a:r>
            <a:r>
              <a:rPr sz="2800" spc="9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c</a:t>
            </a:r>
            <a:r>
              <a:rPr sz="2800" spc="9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s</a:t>
            </a:r>
            <a:r>
              <a:rPr sz="2800" spc="9" dirty="0" smtClean="0">
                <a:latin typeface="Arial"/>
                <a:cs typeface="Arial"/>
              </a:rPr>
              <a:t>s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9" dirty="0" smtClean="0">
                <a:latin typeface="Arial"/>
                <a:cs typeface="Arial"/>
              </a:rPr>
              <a:t>r</a:t>
            </a:r>
            <a:r>
              <a:rPr sz="2800" spc="0" dirty="0" smtClean="0">
                <a:latin typeface="Arial"/>
                <a:cs typeface="Arial"/>
              </a:rPr>
              <a:t>y</a:t>
            </a:r>
            <a:r>
              <a:rPr sz="2800" spc="-127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to</a:t>
            </a:r>
            <a:r>
              <a:rPr sz="2800" spc="-23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ca</a:t>
            </a:r>
            <a:r>
              <a:rPr sz="2800" spc="4" dirty="0" smtClean="0">
                <a:latin typeface="Arial"/>
                <a:cs typeface="Arial"/>
              </a:rPr>
              <a:t>t</a:t>
            </a:r>
            <a:r>
              <a:rPr sz="2800" spc="0" dirty="0" smtClean="0">
                <a:latin typeface="Arial"/>
                <a:cs typeface="Arial"/>
              </a:rPr>
              <a:t>er</a:t>
            </a:r>
            <a:r>
              <a:rPr sz="2800" spc="-62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f</a:t>
            </a:r>
            <a:r>
              <a:rPr sz="2800" spc="9" dirty="0" smtClean="0">
                <a:latin typeface="Arial"/>
                <a:cs typeface="Arial"/>
              </a:rPr>
              <a:t>o</a:t>
            </a:r>
            <a:r>
              <a:rPr sz="2800" spc="0" dirty="0" smtClean="0">
                <a:latin typeface="Arial"/>
                <a:cs typeface="Arial"/>
              </a:rPr>
              <a:t>r i</a:t>
            </a:r>
            <a:r>
              <a:rPr sz="2800" spc="4" dirty="0" smtClean="0">
                <a:latin typeface="Arial"/>
                <a:cs typeface="Arial"/>
              </a:rPr>
              <a:t>n</a:t>
            </a:r>
            <a:r>
              <a:rPr sz="2800" spc="0" dirty="0" smtClean="0">
                <a:latin typeface="Arial"/>
                <a:cs typeface="Arial"/>
              </a:rPr>
              <a:t>st</a:t>
            </a:r>
            <a:r>
              <a:rPr sz="2800" spc="9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b</a:t>
            </a:r>
            <a:r>
              <a:rPr sz="2800" spc="4" dirty="0" smtClean="0">
                <a:latin typeface="Arial"/>
                <a:cs typeface="Arial"/>
              </a:rPr>
              <a:t>i</a:t>
            </a:r>
            <a:r>
              <a:rPr sz="2800" spc="0" dirty="0" smtClean="0">
                <a:latin typeface="Arial"/>
                <a:cs typeface="Arial"/>
              </a:rPr>
              <a:t>lity</a:t>
            </a:r>
            <a:r>
              <a:rPr sz="2800" spc="-115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of</a:t>
            </a:r>
            <a:r>
              <a:rPr sz="2800" spc="-23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t</a:t>
            </a:r>
            <a:r>
              <a:rPr sz="2800" spc="4" dirty="0" smtClean="0">
                <a:latin typeface="Arial"/>
                <a:cs typeface="Arial"/>
              </a:rPr>
              <a:t>h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-38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s</a:t>
            </a:r>
            <a:r>
              <a:rPr sz="2800" spc="9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n</a:t>
            </a:r>
            <a:r>
              <a:rPr sz="2800" spc="9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-144" dirty="0" smtClean="0">
                <a:latin typeface="Arial"/>
                <a:cs typeface="Arial"/>
              </a:rPr>
              <a:t>r</a:t>
            </a:r>
            <a:r>
              <a:rPr sz="2800" spc="0" dirty="0" smtClean="0">
                <a:latin typeface="Arial"/>
                <a:cs typeface="Arial"/>
              </a:rPr>
              <a:t>,</a:t>
            </a:r>
            <a:r>
              <a:rPr sz="2800" spc="-93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f</a:t>
            </a:r>
            <a:r>
              <a:rPr sz="2800" spc="9" dirty="0" smtClean="0">
                <a:latin typeface="Arial"/>
                <a:cs typeface="Arial"/>
              </a:rPr>
              <a:t>r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9" dirty="0" smtClean="0">
                <a:latin typeface="Arial"/>
                <a:cs typeface="Arial"/>
              </a:rPr>
              <a:t>q</a:t>
            </a:r>
            <a:r>
              <a:rPr sz="2800" spc="0" dirty="0" smtClean="0">
                <a:latin typeface="Arial"/>
                <a:cs typeface="Arial"/>
              </a:rPr>
              <a:t>u</a:t>
            </a:r>
            <a:r>
              <a:rPr sz="2800" spc="9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n</a:t>
            </a:r>
            <a:r>
              <a:rPr sz="2800" spc="9" dirty="0" smtClean="0">
                <a:latin typeface="Arial"/>
                <a:cs typeface="Arial"/>
              </a:rPr>
              <a:t>c</a:t>
            </a:r>
            <a:r>
              <a:rPr sz="2800" spc="0" dirty="0" smtClean="0">
                <a:latin typeface="Arial"/>
                <a:cs typeface="Arial"/>
              </a:rPr>
              <a:t>y</a:t>
            </a:r>
            <a:r>
              <a:rPr sz="2800" spc="-122" dirty="0" smtClean="0">
                <a:latin typeface="Arial"/>
                <a:cs typeface="Arial"/>
              </a:rPr>
              <a:t> </a:t>
            </a:r>
            <a:r>
              <a:rPr sz="2800" spc="9" dirty="0" smtClean="0">
                <a:latin typeface="Arial"/>
                <a:cs typeface="Arial"/>
              </a:rPr>
              <a:t>s</a:t>
            </a:r>
            <a:r>
              <a:rPr sz="2800" spc="0" dirty="0" smtClean="0">
                <a:latin typeface="Arial"/>
                <a:cs typeface="Arial"/>
              </a:rPr>
              <a:t>h</a:t>
            </a:r>
            <a:r>
              <a:rPr sz="2800" spc="4" dirty="0" smtClean="0">
                <a:latin typeface="Arial"/>
                <a:cs typeface="Arial"/>
              </a:rPr>
              <a:t>i</a:t>
            </a:r>
            <a:r>
              <a:rPr sz="2800" spc="0" dirty="0" smtClean="0">
                <a:latin typeface="Arial"/>
                <a:cs typeface="Arial"/>
              </a:rPr>
              <a:t>fts</a:t>
            </a:r>
            <a:r>
              <a:rPr sz="2800" spc="-80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d</a:t>
            </a:r>
            <a:r>
              <a:rPr sz="2800" spc="9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-46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to m</a:t>
            </a:r>
            <a:r>
              <a:rPr sz="2800" spc="4" dirty="0" smtClean="0">
                <a:latin typeface="Arial"/>
                <a:cs typeface="Arial"/>
              </a:rPr>
              <a:t>o</a:t>
            </a:r>
            <a:r>
              <a:rPr sz="2800" spc="0" dirty="0" smtClean="0">
                <a:latin typeface="Arial"/>
                <a:cs typeface="Arial"/>
              </a:rPr>
              <a:t>v</a:t>
            </a:r>
            <a:r>
              <a:rPr sz="2800" spc="9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nt</a:t>
            </a:r>
            <a:r>
              <a:rPr sz="2800" spc="-110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(t</a:t>
            </a:r>
            <a:r>
              <a:rPr sz="2800" spc="14" dirty="0" smtClean="0">
                <a:latin typeface="Arial"/>
                <a:cs typeface="Arial"/>
              </a:rPr>
              <a:t>h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-48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Do</a:t>
            </a:r>
            <a:r>
              <a:rPr sz="2800" spc="9" dirty="0" smtClean="0">
                <a:latin typeface="Arial"/>
                <a:cs typeface="Arial"/>
              </a:rPr>
              <a:t>p</a:t>
            </a:r>
            <a:r>
              <a:rPr sz="2800" spc="0" dirty="0" smtClean="0">
                <a:latin typeface="Arial"/>
                <a:cs typeface="Arial"/>
              </a:rPr>
              <a:t>p</a:t>
            </a:r>
            <a:r>
              <a:rPr sz="2800" spc="9" dirty="0" smtClean="0">
                <a:latin typeface="Arial"/>
                <a:cs typeface="Arial"/>
              </a:rPr>
              <a:t>l</a:t>
            </a:r>
            <a:r>
              <a:rPr sz="2800" spc="0" dirty="0" smtClean="0">
                <a:latin typeface="Arial"/>
                <a:cs typeface="Arial"/>
              </a:rPr>
              <a:t>er</a:t>
            </a:r>
            <a:r>
              <a:rPr sz="2800" spc="-78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-34" dirty="0" smtClean="0">
                <a:latin typeface="Arial"/>
                <a:cs typeface="Arial"/>
              </a:rPr>
              <a:t>f</a:t>
            </a:r>
            <a:r>
              <a:rPr sz="2800" spc="0" dirty="0" smtClean="0">
                <a:latin typeface="Arial"/>
                <a:cs typeface="Arial"/>
              </a:rPr>
              <a:t>f</a:t>
            </a:r>
            <a:r>
              <a:rPr sz="2800" spc="9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c</a:t>
            </a:r>
            <a:r>
              <a:rPr sz="2800" spc="4" dirty="0" smtClean="0">
                <a:latin typeface="Arial"/>
                <a:cs typeface="Arial"/>
              </a:rPr>
              <a:t>t</a:t>
            </a:r>
            <a:r>
              <a:rPr sz="2800" spc="0" dirty="0" smtClean="0">
                <a:latin typeface="Arial"/>
                <a:cs typeface="Arial"/>
              </a:rPr>
              <a:t>)</a:t>
            </a:r>
            <a:r>
              <a:rPr sz="2800" spc="-77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9" dirty="0" smtClean="0">
                <a:latin typeface="Arial"/>
                <a:cs typeface="Arial"/>
              </a:rPr>
              <a:t>n</a:t>
            </a:r>
            <a:r>
              <a:rPr sz="2800" spc="0" dirty="0" smtClean="0">
                <a:latin typeface="Arial"/>
                <a:cs typeface="Arial"/>
              </a:rPr>
              <a:t>d</a:t>
            </a:r>
            <a:r>
              <a:rPr sz="2800" spc="-46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n</a:t>
            </a:r>
            <a:r>
              <a:rPr sz="2800" spc="14" dirty="0" smtClean="0">
                <a:latin typeface="Arial"/>
                <a:cs typeface="Arial"/>
              </a:rPr>
              <a:t>o</a:t>
            </a:r>
            <a:r>
              <a:rPr sz="2800" spc="4" dirty="0" smtClean="0">
                <a:latin typeface="Arial"/>
                <a:cs typeface="Arial"/>
              </a:rPr>
              <a:t>-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9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1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l fi</a:t>
            </a:r>
            <a:r>
              <a:rPr sz="2800" spc="4" dirty="0" smtClean="0">
                <a:latin typeface="Arial"/>
                <a:cs typeface="Arial"/>
              </a:rPr>
              <a:t>l</a:t>
            </a:r>
            <a:r>
              <a:rPr sz="2800" spc="0" dirty="0" smtClean="0">
                <a:latin typeface="Arial"/>
                <a:cs typeface="Arial"/>
              </a:rPr>
              <a:t>t</a:t>
            </a:r>
            <a:r>
              <a:rPr sz="2800" spc="9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ri</a:t>
            </a:r>
            <a:r>
              <a:rPr sz="2800" spc="14" dirty="0" smtClean="0">
                <a:latin typeface="Arial"/>
                <a:cs typeface="Arial"/>
              </a:rPr>
              <a:t>n</a:t>
            </a:r>
            <a:r>
              <a:rPr sz="2800" spc="0" dirty="0" smtClean="0">
                <a:latin typeface="Arial"/>
                <a:cs typeface="Arial"/>
              </a:rPr>
              <a:t>g.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6" name="object 7"/>
          <p:cNvSpPr/>
          <p:nvPr/>
        </p:nvSpPr>
        <p:spPr>
          <a:xfrm>
            <a:off x="2590800" y="3581400"/>
            <a:ext cx="8686800" cy="3352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>
    <p:wedg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>
            <a:spLocks noGrp="1"/>
          </p:cNvSpPr>
          <p:nvPr>
            <p:ph type="title"/>
          </p:nvPr>
        </p:nvSpPr>
        <p:spPr>
          <a:xfrm>
            <a:off x="4419600" y="0"/>
            <a:ext cx="7848600" cy="137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142">
              <a:lnSpc>
                <a:spcPts val="6550"/>
              </a:lnSpc>
              <a:spcBef>
                <a:spcPts val="327"/>
              </a:spcBef>
              <a:tabLst>
                <a:tab pos="9234253" algn="l"/>
              </a:tabLst>
            </a:pPr>
            <a:r>
              <a:rPr lang="en-US"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CHANNEL ASSIGNMENT</a:t>
            </a:r>
            <a:endParaRPr sz="72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1000" y="1524000"/>
            <a:ext cx="13639800" cy="597290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2573" algn="just">
              <a:lnSpc>
                <a:spcPts val="2555"/>
              </a:lnSpc>
              <a:spcBef>
                <a:spcPts val="127"/>
              </a:spcBef>
              <a:buFont typeface="Arial" pitchFamily="34" charset="0"/>
              <a:buChar char="•"/>
            </a:pPr>
            <a:r>
              <a:rPr lang="en-US" sz="2800" spc="0" dirty="0" smtClean="0">
                <a:latin typeface="Arial"/>
                <a:cs typeface="Arial"/>
              </a:rPr>
              <a:t>  </a:t>
            </a:r>
            <a:r>
              <a:rPr sz="2800" spc="0" dirty="0" smtClean="0">
                <a:latin typeface="Arial"/>
                <a:cs typeface="Arial"/>
              </a:rPr>
              <a:t>All</a:t>
            </a:r>
            <a:r>
              <a:rPr sz="2800" spc="9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channels</a:t>
            </a:r>
            <a:r>
              <a:rPr sz="2800" spc="29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in</a:t>
            </a:r>
            <a:r>
              <a:rPr sz="2800" spc="14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a cell</a:t>
            </a:r>
            <a:r>
              <a:rPr sz="2800" spc="14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are</a:t>
            </a:r>
            <a:r>
              <a:rPr lang="en-US" sz="2800" spc="0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av</a:t>
            </a:r>
            <a:r>
              <a:rPr sz="2800" spc="9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l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9" dirty="0" smtClean="0">
                <a:latin typeface="Arial"/>
                <a:cs typeface="Arial"/>
              </a:rPr>
              <a:t>b</a:t>
            </a:r>
            <a:r>
              <a:rPr sz="2800" spc="4" dirty="0" smtClean="0">
                <a:latin typeface="Arial"/>
                <a:cs typeface="Arial"/>
              </a:rPr>
              <a:t>l</a:t>
            </a:r>
            <a:r>
              <a:rPr sz="2800" spc="0" dirty="0" smtClean="0">
                <a:latin typeface="Arial"/>
                <a:cs typeface="Arial"/>
              </a:rPr>
              <a:t>e to </a:t>
            </a: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ll </a:t>
            </a:r>
            <a:r>
              <a:rPr sz="2800" spc="4" dirty="0" smtClean="0">
                <a:latin typeface="Arial"/>
                <a:cs typeface="Arial"/>
              </a:rPr>
              <a:t>t</a:t>
            </a:r>
            <a:r>
              <a:rPr sz="2800" spc="0" dirty="0" smtClean="0">
                <a:latin typeface="Arial"/>
                <a:cs typeface="Arial"/>
              </a:rPr>
              <a:t>he </a:t>
            </a:r>
            <a:r>
              <a:rPr sz="2800" spc="4" dirty="0" smtClean="0">
                <a:latin typeface="Arial"/>
                <a:cs typeface="Arial"/>
              </a:rPr>
              <a:t>m</a:t>
            </a:r>
            <a:r>
              <a:rPr sz="2800" spc="0" dirty="0" smtClean="0">
                <a:latin typeface="Arial"/>
                <a:cs typeface="Arial"/>
              </a:rPr>
              <a:t>ob</a:t>
            </a:r>
            <a:r>
              <a:rPr sz="2800" spc="4" dirty="0" smtClean="0">
                <a:latin typeface="Arial"/>
                <a:cs typeface="Arial"/>
              </a:rPr>
              <a:t>i</a:t>
            </a:r>
            <a:r>
              <a:rPr sz="2800" spc="0" dirty="0" smtClean="0">
                <a:latin typeface="Arial"/>
                <a:cs typeface="Arial"/>
              </a:rPr>
              <a:t>les.</a:t>
            </a:r>
            <a:r>
              <a:rPr lang="en-US" sz="2800" spc="0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Cha</a:t>
            </a:r>
            <a:r>
              <a:rPr sz="2800" spc="-4" dirty="0" smtClean="0">
                <a:latin typeface="Arial"/>
                <a:cs typeface="Arial"/>
              </a:rPr>
              <a:t>n</a:t>
            </a:r>
            <a:r>
              <a:rPr sz="2800" spc="0" dirty="0" smtClean="0">
                <a:latin typeface="Arial"/>
                <a:cs typeface="Arial"/>
              </a:rPr>
              <a:t>nel</a:t>
            </a:r>
            <a:r>
              <a:rPr sz="2800" spc="34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assignment</a:t>
            </a:r>
            <a:r>
              <a:rPr sz="2800" spc="19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is</a:t>
            </a:r>
            <a:endParaRPr sz="2800" dirty="0">
              <a:latin typeface="Arial"/>
              <a:cs typeface="Arial"/>
            </a:endParaRPr>
          </a:p>
          <a:p>
            <a:pPr marL="12700" marR="137033" algn="just">
              <a:lnSpc>
                <a:spcPts val="2590"/>
              </a:lnSpc>
              <a:spcBef>
                <a:spcPts val="14"/>
              </a:spcBef>
            </a:pPr>
            <a:r>
              <a:rPr sz="2800" spc="0" dirty="0" smtClean="0">
                <a:latin typeface="Arial"/>
                <a:cs typeface="Arial"/>
              </a:rPr>
              <a:t>ca</a:t>
            </a:r>
            <a:r>
              <a:rPr sz="2800" spc="4" dirty="0" smtClean="0">
                <a:latin typeface="Arial"/>
                <a:cs typeface="Arial"/>
              </a:rPr>
              <a:t>r</a:t>
            </a:r>
            <a:r>
              <a:rPr sz="2800" spc="0" dirty="0" smtClean="0">
                <a:latin typeface="Arial"/>
                <a:cs typeface="Arial"/>
              </a:rPr>
              <a:t>ried</a:t>
            </a:r>
            <a:r>
              <a:rPr sz="2800" spc="19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out on a</a:t>
            </a:r>
            <a:r>
              <a:rPr sz="2800" spc="4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fi</a:t>
            </a:r>
            <a:r>
              <a:rPr sz="2800" spc="9" dirty="0" smtClean="0">
                <a:latin typeface="Arial"/>
                <a:cs typeface="Arial"/>
              </a:rPr>
              <a:t>r</a:t>
            </a:r>
            <a:r>
              <a:rPr sz="2800" spc="0" dirty="0" smtClean="0">
                <a:latin typeface="Arial"/>
                <a:cs typeface="Arial"/>
              </a:rPr>
              <a:t>s</a:t>
            </a:r>
            <a:r>
              <a:rPr sz="2800" spc="-25" dirty="0" smtClean="0">
                <a:latin typeface="Arial"/>
                <a:cs typeface="Arial"/>
              </a:rPr>
              <a:t>t</a:t>
            </a:r>
            <a:r>
              <a:rPr sz="2800" spc="4" dirty="0" smtClean="0">
                <a:latin typeface="Arial"/>
                <a:cs typeface="Arial"/>
              </a:rPr>
              <a:t>-</a:t>
            </a:r>
            <a:r>
              <a:rPr sz="2800" spc="0" dirty="0" smtClean="0">
                <a:latin typeface="Arial"/>
                <a:cs typeface="Arial"/>
              </a:rPr>
              <a:t>come fi</a:t>
            </a:r>
            <a:r>
              <a:rPr sz="2800" spc="9" dirty="0" smtClean="0">
                <a:latin typeface="Arial"/>
                <a:cs typeface="Arial"/>
              </a:rPr>
              <a:t>r</a:t>
            </a:r>
            <a:r>
              <a:rPr sz="2800" spc="0" dirty="0" smtClean="0">
                <a:latin typeface="Arial"/>
                <a:cs typeface="Arial"/>
              </a:rPr>
              <a:t>st-</a:t>
            </a:r>
            <a:r>
              <a:rPr sz="2800" spc="-14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served basis.</a:t>
            </a:r>
            <a:endParaRPr lang="en-US" sz="2800" spc="0" dirty="0" smtClean="0">
              <a:latin typeface="Arial"/>
              <a:cs typeface="Arial"/>
            </a:endParaRPr>
          </a:p>
          <a:p>
            <a:pPr marL="12700" marR="137033" algn="just">
              <a:lnSpc>
                <a:spcPts val="2590"/>
              </a:lnSpc>
              <a:spcBef>
                <a:spcPts val="14"/>
              </a:spcBef>
            </a:pPr>
            <a:endParaRPr sz="2800" dirty="0">
              <a:latin typeface="Arial"/>
              <a:cs typeface="Arial"/>
            </a:endParaRPr>
          </a:p>
          <a:p>
            <a:pPr marL="12700" marR="106629" algn="just">
              <a:lnSpc>
                <a:spcPts val="2759"/>
              </a:lnSpc>
              <a:spcBef>
                <a:spcPts val="406"/>
              </a:spcBef>
              <a:buFont typeface="Arial" pitchFamily="34" charset="0"/>
              <a:buChar char="•"/>
            </a:pPr>
            <a:r>
              <a:rPr lang="en-US" sz="2800" spc="0" dirty="0" smtClean="0">
                <a:latin typeface="Arial"/>
                <a:cs typeface="Arial"/>
              </a:rPr>
              <a:t>  </a:t>
            </a:r>
            <a:r>
              <a:rPr sz="2800" spc="0" dirty="0" smtClean="0">
                <a:latin typeface="Arial"/>
                <a:cs typeface="Arial"/>
              </a:rPr>
              <a:t>The nu</a:t>
            </a:r>
            <a:r>
              <a:rPr sz="2800" spc="4" dirty="0" smtClean="0">
                <a:latin typeface="Arial"/>
                <a:cs typeface="Arial"/>
              </a:rPr>
              <a:t>m</a:t>
            </a:r>
            <a:r>
              <a:rPr sz="2800" spc="0" dirty="0" smtClean="0">
                <a:latin typeface="Arial"/>
                <a:cs typeface="Arial"/>
              </a:rPr>
              <a:t>ber </a:t>
            </a:r>
            <a:r>
              <a:rPr sz="2800" spc="4" dirty="0" smtClean="0">
                <a:latin typeface="Arial"/>
                <a:cs typeface="Arial"/>
              </a:rPr>
              <a:t>o</a:t>
            </a:r>
            <a:r>
              <a:rPr sz="2800" spc="0" dirty="0" smtClean="0">
                <a:latin typeface="Arial"/>
                <a:cs typeface="Arial"/>
              </a:rPr>
              <a:t>f channels, given</a:t>
            </a:r>
            <a:r>
              <a:rPr sz="2800" spc="9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a </a:t>
            </a:r>
            <a:r>
              <a:rPr sz="2800" spc="9" dirty="0" smtClean="0">
                <a:latin typeface="Arial"/>
                <a:cs typeface="Arial"/>
              </a:rPr>
              <a:t>f</a:t>
            </a:r>
            <a:r>
              <a:rPr sz="2800" spc="0" dirty="0" smtClean="0">
                <a:latin typeface="Arial"/>
                <a:cs typeface="Arial"/>
              </a:rPr>
              <a:t>requency spec</a:t>
            </a:r>
            <a:r>
              <a:rPr sz="2800" spc="9" dirty="0" smtClean="0">
                <a:latin typeface="Arial"/>
                <a:cs typeface="Arial"/>
              </a:rPr>
              <a:t>t</a:t>
            </a:r>
            <a:r>
              <a:rPr sz="2800" spc="0" dirty="0" smtClean="0">
                <a:latin typeface="Arial"/>
                <a:cs typeface="Arial"/>
              </a:rPr>
              <a:t>rum</a:t>
            </a:r>
            <a:r>
              <a:rPr sz="2800" spc="-9" dirty="0" smtClean="0">
                <a:latin typeface="Arial"/>
                <a:cs typeface="Arial"/>
              </a:rPr>
              <a:t> </a:t>
            </a:r>
            <a:r>
              <a:rPr sz="2800" i="1" spc="0" dirty="0" smtClean="0">
                <a:latin typeface="Arial"/>
                <a:cs typeface="Arial"/>
              </a:rPr>
              <a:t>BT </a:t>
            </a:r>
            <a:r>
              <a:rPr sz="2800" spc="0" dirty="0" smtClean="0">
                <a:latin typeface="Arial"/>
                <a:cs typeface="Arial"/>
              </a:rPr>
              <a:t>,</a:t>
            </a:r>
            <a:r>
              <a:rPr sz="2800" spc="-14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de</a:t>
            </a:r>
            <a:r>
              <a:rPr sz="2800" spc="-4" dirty="0" smtClean="0">
                <a:latin typeface="Arial"/>
                <a:cs typeface="Arial"/>
              </a:rPr>
              <a:t>p</a:t>
            </a:r>
            <a:r>
              <a:rPr sz="2800" spc="0" dirty="0" smtClean="0">
                <a:latin typeface="Arial"/>
                <a:cs typeface="Arial"/>
              </a:rPr>
              <a:t>en</a:t>
            </a:r>
            <a:r>
              <a:rPr sz="2800" spc="-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s</a:t>
            </a:r>
            <a:r>
              <a:rPr sz="2800" spc="24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on t</a:t>
            </a:r>
            <a:r>
              <a:rPr sz="2800" spc="4" dirty="0" smtClean="0">
                <a:latin typeface="Arial"/>
                <a:cs typeface="Arial"/>
              </a:rPr>
              <a:t>h</a:t>
            </a:r>
            <a:r>
              <a:rPr sz="2800" spc="0" dirty="0" smtClean="0">
                <a:latin typeface="Arial"/>
                <a:cs typeface="Arial"/>
              </a:rPr>
              <a:t>e modula</a:t>
            </a:r>
            <a:r>
              <a:rPr sz="2800" spc="4" dirty="0" smtClean="0">
                <a:latin typeface="Arial"/>
                <a:cs typeface="Arial"/>
              </a:rPr>
              <a:t>t</a:t>
            </a:r>
            <a:r>
              <a:rPr sz="2800" spc="0" dirty="0" smtClean="0">
                <a:latin typeface="Arial"/>
                <a:cs typeface="Arial"/>
              </a:rPr>
              <a:t>ion</a:t>
            </a:r>
            <a:r>
              <a:rPr sz="2800" spc="9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t</a:t>
            </a: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chnique and</a:t>
            </a:r>
            <a:r>
              <a:rPr sz="2800" spc="14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t</a:t>
            </a:r>
            <a:r>
              <a:rPr sz="2800" spc="4" dirty="0" smtClean="0">
                <a:latin typeface="Arial"/>
                <a:cs typeface="Arial"/>
              </a:rPr>
              <a:t>h</a:t>
            </a:r>
            <a:r>
              <a:rPr sz="2800" spc="0" dirty="0" smtClean="0">
                <a:latin typeface="Arial"/>
                <a:cs typeface="Arial"/>
              </a:rPr>
              <a:t>e guard</a:t>
            </a:r>
            <a:r>
              <a:rPr sz="2800" spc="19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bands be</a:t>
            </a:r>
            <a:r>
              <a:rPr sz="2800" spc="4" dirty="0" smtClean="0">
                <a:latin typeface="Arial"/>
                <a:cs typeface="Arial"/>
              </a:rPr>
              <a:t>t</a:t>
            </a:r>
            <a:r>
              <a:rPr sz="2800" spc="0" dirty="0" smtClean="0">
                <a:latin typeface="Arial"/>
                <a:cs typeface="Arial"/>
              </a:rPr>
              <a:t>ween</a:t>
            </a:r>
            <a:r>
              <a:rPr sz="2800" spc="14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t</a:t>
            </a:r>
            <a:r>
              <a:rPr sz="2800" spc="4" dirty="0" smtClean="0">
                <a:latin typeface="Arial"/>
                <a:cs typeface="Arial"/>
              </a:rPr>
              <a:t>h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-9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chan</a:t>
            </a:r>
            <a:r>
              <a:rPr sz="2800" spc="-9" dirty="0" smtClean="0">
                <a:latin typeface="Arial"/>
                <a:cs typeface="Arial"/>
              </a:rPr>
              <a:t>n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-4" dirty="0" smtClean="0">
                <a:latin typeface="Arial"/>
                <a:cs typeface="Arial"/>
              </a:rPr>
              <a:t>l</a:t>
            </a:r>
            <a:r>
              <a:rPr sz="2800" spc="0" dirty="0" smtClean="0">
                <a:latin typeface="Arial"/>
                <a:cs typeface="Arial"/>
              </a:rPr>
              <a:t>s. These guard</a:t>
            </a:r>
            <a:r>
              <a:rPr sz="2800" spc="19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bands</a:t>
            </a:r>
            <a:r>
              <a:rPr sz="2800" spc="-19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can</a:t>
            </a:r>
            <a:r>
              <a:rPr lang="en-US" sz="2800" spc="0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be used</a:t>
            </a:r>
            <a:r>
              <a:rPr sz="2800" spc="19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to minimize ad</a:t>
            </a:r>
            <a:r>
              <a:rPr sz="2800" spc="4" dirty="0" smtClean="0">
                <a:latin typeface="Arial"/>
                <a:cs typeface="Arial"/>
              </a:rPr>
              <a:t>j</a:t>
            </a:r>
            <a:r>
              <a:rPr sz="2800" spc="0" dirty="0" smtClean="0">
                <a:latin typeface="Arial"/>
                <a:cs typeface="Arial"/>
              </a:rPr>
              <a:t>acent</a:t>
            </a:r>
            <a:r>
              <a:rPr sz="2800" spc="4" dirty="0" smtClean="0">
                <a:latin typeface="Arial"/>
                <a:cs typeface="Arial"/>
              </a:rPr>
              <a:t> c</a:t>
            </a:r>
            <a:r>
              <a:rPr sz="2800" spc="0" dirty="0" smtClean="0">
                <a:latin typeface="Arial"/>
                <a:cs typeface="Arial"/>
              </a:rPr>
              <a:t>hannel inte</a:t>
            </a:r>
            <a:r>
              <a:rPr sz="2800" spc="9" dirty="0" smtClean="0">
                <a:latin typeface="Arial"/>
                <a:cs typeface="Arial"/>
              </a:rPr>
              <a:t>r</a:t>
            </a:r>
            <a:r>
              <a:rPr sz="2800" spc="0" dirty="0" smtClean="0">
                <a:latin typeface="Arial"/>
                <a:cs typeface="Arial"/>
              </a:rPr>
              <a:t>f</a:t>
            </a: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re</a:t>
            </a:r>
            <a:r>
              <a:rPr sz="2800" spc="4" dirty="0" smtClean="0">
                <a:latin typeface="Arial"/>
                <a:cs typeface="Arial"/>
              </a:rPr>
              <a:t>n</a:t>
            </a:r>
            <a:r>
              <a:rPr sz="2800" spc="0" dirty="0" smtClean="0">
                <a:latin typeface="Arial"/>
                <a:cs typeface="Arial"/>
              </a:rPr>
              <a:t>c</a:t>
            </a:r>
            <a:r>
              <a:rPr sz="2800" spc="-1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.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9" name="object 6"/>
          <p:cNvSpPr/>
          <p:nvPr/>
        </p:nvSpPr>
        <p:spPr>
          <a:xfrm>
            <a:off x="4495800" y="3657600"/>
            <a:ext cx="5867400" cy="3657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>
    <p:wedg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3124200" y="457200"/>
            <a:ext cx="8107680" cy="1325880"/>
          </a:xfrm>
        </p:spPr>
        <p:txBody>
          <a:bodyPr>
            <a:normAutofit/>
          </a:bodyPr>
          <a:lstStyle/>
          <a:p>
            <a:pPr algn="l"/>
            <a:r>
              <a:rPr lang="en-US"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FDMA compared to TDMA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2133600"/>
            <a:ext cx="11414760" cy="4968240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Arial" pitchFamily="34" charset="0"/>
                <a:cs typeface="Arial" pitchFamily="34" charset="0"/>
              </a:rPr>
              <a:t>Fewer bits for synchronization </a:t>
            </a:r>
          </a:p>
          <a:p>
            <a:r>
              <a:rPr lang="en-US" sz="3600" dirty="0" smtClean="0">
                <a:latin typeface="Arial" pitchFamily="34" charset="0"/>
                <a:cs typeface="Arial" pitchFamily="34" charset="0"/>
              </a:rPr>
              <a:t>Fewer bits for framing</a:t>
            </a:r>
          </a:p>
          <a:p>
            <a:r>
              <a:rPr lang="en-US" sz="3600" dirty="0" smtClean="0">
                <a:latin typeface="Arial" pitchFamily="34" charset="0"/>
                <a:cs typeface="Arial" pitchFamily="34" charset="0"/>
              </a:rPr>
              <a:t>Higher cell site system costs</a:t>
            </a:r>
          </a:p>
          <a:p>
            <a:r>
              <a:rPr lang="en-US" sz="3600" dirty="0" smtClean="0">
                <a:latin typeface="Arial" pitchFamily="34" charset="0"/>
                <a:cs typeface="Arial" pitchFamily="34" charset="0"/>
              </a:rPr>
              <a:t>Higher costs for duplexer used in base station and subscriber units</a:t>
            </a:r>
          </a:p>
          <a:p>
            <a:r>
              <a:rPr lang="en-US" sz="3600" dirty="0" smtClean="0">
                <a:latin typeface="Arial" pitchFamily="34" charset="0"/>
                <a:cs typeface="Arial" pitchFamily="34" charset="0"/>
              </a:rPr>
              <a:t>FDMA requires RF filtering to minimize adjacent channel interference </a:t>
            </a:r>
          </a:p>
        </p:txBody>
      </p:sp>
    </p:spTree>
  </p:cSld>
  <p:clrMapOvr>
    <a:masterClrMapping/>
  </p:clrMapOvr>
  <p:transition spd="med">
    <p:wedg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3124200" y="381000"/>
            <a:ext cx="8336280" cy="1402080"/>
          </a:xfrm>
        </p:spPr>
        <p:txBody>
          <a:bodyPr>
            <a:normAutofit/>
          </a:bodyPr>
          <a:lstStyle/>
          <a:p>
            <a:pPr algn="l"/>
            <a:r>
              <a:rPr lang="en-US"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Nonlinear Effects in FDMA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1524000" y="2133600"/>
            <a:ext cx="12435840" cy="5486400"/>
          </a:xfrm>
        </p:spPr>
        <p:txBody>
          <a:bodyPr/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Many channels - same antenna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For maximum power efficiency operate near saturation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Near saturation power amplifiers are nonlinear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Nonlinearities causes signal spreading </a:t>
            </a:r>
          </a:p>
          <a:p>
            <a:r>
              <a:rPr lang="en-US" dirty="0" err="1" smtClean="0">
                <a:latin typeface="Arial" pitchFamily="34" charset="0"/>
                <a:cs typeface="Arial" pitchFamily="34" charset="0"/>
              </a:rPr>
              <a:t>Intermodulation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frequencies</a:t>
            </a:r>
          </a:p>
        </p:txBody>
      </p:sp>
    </p:spTree>
  </p:cSld>
  <p:clrMapOvr>
    <a:masterClrMapping/>
  </p:clrMapOvr>
  <p:transition spd="med">
    <p:wedg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3200400" y="457200"/>
            <a:ext cx="8031480" cy="1325880"/>
          </a:xfrm>
        </p:spPr>
        <p:txBody>
          <a:bodyPr>
            <a:normAutofit/>
          </a:bodyPr>
          <a:lstStyle/>
          <a:p>
            <a:pPr algn="l"/>
            <a:r>
              <a:rPr lang="en-US"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Nonlinear Effects in FDMA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1447800" y="2209800"/>
            <a:ext cx="12100560" cy="4130040"/>
          </a:xfrm>
        </p:spPr>
        <p:txBody>
          <a:bodyPr/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IM are undesired harmonics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Interference with other channels in the FDMA system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Decreases user C/I - decreases performance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Interference outside the mobile radio band: adjacent-channel interference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RF filters needed - higher costs</a:t>
            </a:r>
          </a:p>
          <a:p>
            <a:endParaRPr lang="en-US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med">
    <p:wedg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2971800"/>
            <a:ext cx="4724400" cy="1295400"/>
          </a:xfrm>
        </p:spPr>
        <p:txBody>
          <a:bodyPr>
            <a:normAutofit fontScale="90000"/>
          </a:bodyPr>
          <a:lstStyle/>
          <a:p>
            <a:pPr algn="l"/>
            <a:r>
              <a:rPr lang="en-US"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Nonlinear Effects in FDMA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152400"/>
            <a:ext cx="7647779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edg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685800"/>
            <a:ext cx="12192000" cy="1371600"/>
          </a:xfrm>
        </p:spPr>
        <p:txBody>
          <a:bodyPr>
            <a:normAutofit/>
          </a:bodyPr>
          <a:lstStyle/>
          <a:p>
            <a:pPr algn="l"/>
            <a:r>
              <a:rPr lang="en-US"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Number of channels in a FDMA system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1097280" y="4389120"/>
            <a:ext cx="12435840" cy="2926080"/>
          </a:xfrm>
        </p:spPr>
        <p:txBody>
          <a:bodyPr/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N - number of channels 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B</a:t>
            </a:r>
            <a:r>
              <a:rPr lang="en-US" sz="3400" dirty="0" smtClean="0">
                <a:latin typeface="Arial" pitchFamily="34" charset="0"/>
                <a:cs typeface="Arial" pitchFamily="34" charset="0"/>
              </a:rPr>
              <a:t>t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- total spectrum allocation</a:t>
            </a:r>
          </a:p>
          <a:p>
            <a:r>
              <a:rPr lang="en-US" dirty="0" err="1" smtClean="0">
                <a:latin typeface="Arial" pitchFamily="34" charset="0"/>
                <a:cs typeface="Arial" pitchFamily="34" charset="0"/>
              </a:rPr>
              <a:t>B</a:t>
            </a:r>
            <a:r>
              <a:rPr lang="en-US" sz="3400" dirty="0" err="1" smtClean="0">
                <a:latin typeface="Arial" pitchFamily="34" charset="0"/>
                <a:cs typeface="Arial" pitchFamily="34" charset="0"/>
              </a:rPr>
              <a:t>guard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- guard band</a:t>
            </a:r>
          </a:p>
          <a:p>
            <a:r>
              <a:rPr lang="en-US" dirty="0" err="1" smtClean="0">
                <a:latin typeface="Arial" pitchFamily="34" charset="0"/>
                <a:cs typeface="Arial" pitchFamily="34" charset="0"/>
              </a:rPr>
              <a:t>B</a:t>
            </a:r>
            <a:r>
              <a:rPr lang="en-US" sz="3400" dirty="0" err="1" smtClean="0">
                <a:latin typeface="Arial" pitchFamily="34" charset="0"/>
                <a:cs typeface="Arial" pitchFamily="34" charset="0"/>
              </a:rPr>
              <a:t>c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- channel bandwidth</a:t>
            </a:r>
          </a:p>
        </p:txBody>
      </p:sp>
      <p:sp>
        <p:nvSpPr>
          <p:cNvPr id="40965" name="Text Box 5"/>
          <p:cNvSpPr txBox="1">
            <a:spLocks noChangeArrowheads="1"/>
          </p:cNvSpPr>
          <p:nvPr/>
        </p:nvSpPr>
        <p:spPr bwMode="auto">
          <a:xfrm>
            <a:off x="5364480" y="2926080"/>
            <a:ext cx="1584960" cy="83978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130622" tIns="65311" rIns="130622" bIns="65311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600" dirty="0">
                <a:latin typeface="Arial" pitchFamily="34" charset="0"/>
                <a:cs typeface="Arial" pitchFamily="34" charset="0"/>
              </a:rPr>
              <a:t>N=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0966" name="Line 6"/>
          <p:cNvSpPr>
            <a:spLocks noChangeShapeType="1"/>
          </p:cNvSpPr>
          <p:nvPr/>
        </p:nvSpPr>
        <p:spPr bwMode="auto">
          <a:xfrm flipV="1">
            <a:off x="6553200" y="3429000"/>
            <a:ext cx="2895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lIns="130622" tIns="65311" rIns="130622" bIns="65311" anchor="ctr"/>
          <a:lstStyle/>
          <a:p>
            <a:endParaRPr lang="en-US"/>
          </a:p>
        </p:txBody>
      </p:sp>
      <p:sp>
        <p:nvSpPr>
          <p:cNvPr id="40967" name="Text Box 7"/>
          <p:cNvSpPr txBox="1">
            <a:spLocks noChangeArrowheads="1"/>
          </p:cNvSpPr>
          <p:nvPr/>
        </p:nvSpPr>
        <p:spPr bwMode="auto">
          <a:xfrm>
            <a:off x="6583680" y="2651760"/>
            <a:ext cx="3048000" cy="83978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130622" tIns="65311" rIns="130622" bIns="65311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600" dirty="0">
                <a:latin typeface="Arial" pitchFamily="34" charset="0"/>
                <a:cs typeface="Arial" pitchFamily="34" charset="0"/>
              </a:rPr>
              <a:t>B</a:t>
            </a:r>
            <a:r>
              <a:rPr lang="en-US" dirty="0">
                <a:latin typeface="Arial" pitchFamily="34" charset="0"/>
                <a:cs typeface="Arial" pitchFamily="34" charset="0"/>
              </a:rPr>
              <a:t>t</a:t>
            </a:r>
            <a:r>
              <a:rPr lang="en-US" sz="4600" dirty="0">
                <a:latin typeface="Arial" pitchFamily="34" charset="0"/>
                <a:cs typeface="Arial" pitchFamily="34" charset="0"/>
              </a:rPr>
              <a:t> - </a:t>
            </a:r>
            <a:r>
              <a:rPr lang="en-US" sz="4600" dirty="0" smtClean="0">
                <a:latin typeface="Arial" pitchFamily="34" charset="0"/>
                <a:cs typeface="Arial" pitchFamily="34" charset="0"/>
              </a:rPr>
              <a:t>2B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guard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0968" name="Text Box 8"/>
          <p:cNvSpPr txBox="1">
            <a:spLocks noChangeArrowheads="1"/>
          </p:cNvSpPr>
          <p:nvPr/>
        </p:nvSpPr>
        <p:spPr bwMode="auto">
          <a:xfrm>
            <a:off x="7162800" y="3276600"/>
            <a:ext cx="3048000" cy="83978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130622" tIns="65311" rIns="130622" bIns="65311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600" dirty="0" err="1">
                <a:latin typeface="Arial" pitchFamily="34" charset="0"/>
                <a:cs typeface="Arial" pitchFamily="34" charset="0"/>
              </a:rPr>
              <a:t>B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med">
    <p:wedg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341120" y="731520"/>
            <a:ext cx="12923520" cy="1371600"/>
          </a:xfrm>
        </p:spPr>
        <p:txBody>
          <a:bodyPr>
            <a:normAutofit/>
          </a:bodyPr>
          <a:lstStyle/>
          <a:p>
            <a:pPr algn="l"/>
            <a:r>
              <a:rPr lang="en-US"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Example: Advanced Mobile Phone System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1097280" y="2377440"/>
            <a:ext cx="12435840" cy="3566160"/>
          </a:xfrm>
        </p:spPr>
        <p:txBody>
          <a:bodyPr/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AMPS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FDMA/FDD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analog cellular system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12.5 MHz per simplex band - B</a:t>
            </a:r>
            <a:r>
              <a:rPr lang="en-US" sz="3400" dirty="0" smtClean="0">
                <a:latin typeface="Arial" pitchFamily="34" charset="0"/>
                <a:cs typeface="Arial" pitchFamily="34" charset="0"/>
              </a:rPr>
              <a:t>t</a:t>
            </a:r>
            <a:endParaRPr lang="en-US" sz="51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dirty="0" err="1" smtClean="0">
                <a:latin typeface="Arial" pitchFamily="34" charset="0"/>
                <a:cs typeface="Arial" pitchFamily="34" charset="0"/>
              </a:rPr>
              <a:t>B</a:t>
            </a:r>
            <a:r>
              <a:rPr lang="en-US" sz="3400" dirty="0" err="1" smtClean="0">
                <a:latin typeface="Arial" pitchFamily="34" charset="0"/>
                <a:cs typeface="Arial" pitchFamily="34" charset="0"/>
              </a:rPr>
              <a:t>guard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= 10 kHz ;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B</a:t>
            </a:r>
            <a:r>
              <a:rPr lang="en-US" sz="3400" dirty="0" err="1" smtClean="0">
                <a:latin typeface="Arial" pitchFamily="34" charset="0"/>
                <a:cs typeface="Arial" pitchFamily="34" charset="0"/>
              </a:rPr>
              <a:t>c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= 30 kHz</a:t>
            </a:r>
          </a:p>
        </p:txBody>
      </p:sp>
      <p:sp>
        <p:nvSpPr>
          <p:cNvPr id="41989" name="Text Box 9"/>
          <p:cNvSpPr txBox="1">
            <a:spLocks noChangeArrowheads="1"/>
          </p:cNvSpPr>
          <p:nvPr/>
        </p:nvSpPr>
        <p:spPr bwMode="auto">
          <a:xfrm>
            <a:off x="2072640" y="6492240"/>
            <a:ext cx="3738880" cy="74745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130622" tIns="65311" rIns="130622" bIns="65311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000" dirty="0">
                <a:latin typeface="Arial" pitchFamily="34" charset="0"/>
                <a:cs typeface="Arial" pitchFamily="34" charset="0"/>
              </a:rPr>
              <a:t>N=</a:t>
            </a:r>
          </a:p>
        </p:txBody>
      </p:sp>
      <p:sp>
        <p:nvSpPr>
          <p:cNvPr id="41990" name="Line 10"/>
          <p:cNvSpPr>
            <a:spLocks noChangeShapeType="1"/>
          </p:cNvSpPr>
          <p:nvPr/>
        </p:nvSpPr>
        <p:spPr bwMode="auto">
          <a:xfrm>
            <a:off x="3291840" y="6858000"/>
            <a:ext cx="493776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lIns="130622" tIns="65311" rIns="130622" bIns="65311" anchor="ctr"/>
          <a:lstStyle/>
          <a:p>
            <a:endParaRPr lang="en-US"/>
          </a:p>
        </p:txBody>
      </p:sp>
      <p:sp>
        <p:nvSpPr>
          <p:cNvPr id="41991" name="Text Box 14"/>
          <p:cNvSpPr txBox="1">
            <a:spLocks noChangeArrowheads="1"/>
          </p:cNvSpPr>
          <p:nvPr/>
        </p:nvSpPr>
        <p:spPr bwMode="auto">
          <a:xfrm>
            <a:off x="3535680" y="6217920"/>
            <a:ext cx="5242560" cy="74745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130622" tIns="65311" rIns="130622" bIns="65311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000" dirty="0">
                <a:latin typeface="Arial" pitchFamily="34" charset="0"/>
                <a:cs typeface="Arial" pitchFamily="34" charset="0"/>
              </a:rPr>
              <a:t>12.5E6 - 2*(10E3)</a:t>
            </a:r>
          </a:p>
        </p:txBody>
      </p:sp>
      <p:sp>
        <p:nvSpPr>
          <p:cNvPr id="41992" name="Text Box 16"/>
          <p:cNvSpPr txBox="1">
            <a:spLocks noChangeArrowheads="1"/>
          </p:cNvSpPr>
          <p:nvPr/>
        </p:nvSpPr>
        <p:spPr bwMode="auto">
          <a:xfrm>
            <a:off x="4998720" y="6766560"/>
            <a:ext cx="1706880" cy="74745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130622" tIns="65311" rIns="130622" bIns="65311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000" dirty="0">
                <a:latin typeface="Arial" pitchFamily="34" charset="0"/>
                <a:cs typeface="Arial" pitchFamily="34" charset="0"/>
              </a:rPr>
              <a:t>30E3</a:t>
            </a:r>
          </a:p>
        </p:txBody>
      </p:sp>
      <p:sp>
        <p:nvSpPr>
          <p:cNvPr id="41993" name="Text Box 17"/>
          <p:cNvSpPr txBox="1">
            <a:spLocks noChangeArrowheads="1"/>
          </p:cNvSpPr>
          <p:nvPr/>
        </p:nvSpPr>
        <p:spPr bwMode="auto">
          <a:xfrm>
            <a:off x="8900160" y="6492240"/>
            <a:ext cx="4389120" cy="74745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130622" tIns="65311" rIns="130622" bIns="65311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000" dirty="0">
                <a:latin typeface="Arial" pitchFamily="34" charset="0"/>
                <a:cs typeface="Arial" pitchFamily="34" charset="0"/>
              </a:rPr>
              <a:t>= 416 channels</a:t>
            </a:r>
          </a:p>
        </p:txBody>
      </p:sp>
    </p:spTree>
  </p:cSld>
  <p:clrMapOvr>
    <a:masterClrMapping/>
  </p:clrMapOvr>
  <p:transition spd="med">
    <p:wedg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648200" y="228600"/>
            <a:ext cx="4831080" cy="1371600"/>
          </a:xfrm>
        </p:spPr>
        <p:txBody>
          <a:bodyPr>
            <a:normAutofit/>
          </a:bodyPr>
          <a:lstStyle/>
          <a:p>
            <a:pPr algn="l"/>
            <a:r>
              <a:rPr lang="en-US"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ADVANTAGES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8200" y="1981200"/>
            <a:ext cx="12496800" cy="45721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2573">
              <a:lnSpc>
                <a:spcPct val="95825"/>
              </a:lnSpc>
              <a:spcBef>
                <a:spcPts val="40"/>
              </a:spcBef>
              <a:buFont typeface="Arial" pitchFamily="34" charset="0"/>
              <a:buChar char="•"/>
            </a:pPr>
            <a:r>
              <a:rPr lang="en-US" sz="2800" dirty="0" smtClean="0">
                <a:latin typeface="Arial"/>
                <a:cs typeface="Arial"/>
              </a:rPr>
              <a:t> If channel</a:t>
            </a:r>
            <a:r>
              <a:rPr lang="en-US" sz="2800" spc="1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is not</a:t>
            </a:r>
            <a:r>
              <a:rPr lang="en-US" sz="2800" spc="9" dirty="0" smtClean="0">
                <a:latin typeface="Arial"/>
                <a:cs typeface="Arial"/>
              </a:rPr>
              <a:t> </a:t>
            </a:r>
            <a:r>
              <a:rPr lang="en-US" sz="2800" spc="-4" dirty="0" smtClean="0">
                <a:latin typeface="Arial"/>
                <a:cs typeface="Arial"/>
              </a:rPr>
              <a:t>i</a:t>
            </a:r>
            <a:r>
              <a:rPr lang="en-US" sz="2800" dirty="0" smtClean="0">
                <a:latin typeface="Arial"/>
                <a:cs typeface="Arial"/>
              </a:rPr>
              <a:t>n</a:t>
            </a:r>
            <a:r>
              <a:rPr lang="en-US" sz="2800" spc="14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use, it sits id</a:t>
            </a:r>
            <a:r>
              <a:rPr lang="en-US" sz="2800" spc="-9" dirty="0" smtClean="0">
                <a:latin typeface="Arial"/>
                <a:cs typeface="Arial"/>
              </a:rPr>
              <a:t>l</a:t>
            </a:r>
            <a:r>
              <a:rPr lang="en-US" sz="2800" dirty="0" smtClean="0">
                <a:latin typeface="Arial"/>
                <a:cs typeface="Arial"/>
              </a:rPr>
              <a:t>e</a:t>
            </a:r>
          </a:p>
          <a:p>
            <a:pPr marL="12700" marR="52573">
              <a:lnSpc>
                <a:spcPct val="95825"/>
              </a:lnSpc>
              <a:spcBef>
                <a:spcPts val="699"/>
              </a:spcBef>
              <a:buFont typeface="Arial" pitchFamily="34" charset="0"/>
              <a:buChar char="•"/>
            </a:pPr>
            <a:r>
              <a:rPr lang="en-US" sz="2800" dirty="0" smtClean="0">
                <a:latin typeface="Arial"/>
                <a:cs typeface="Arial"/>
              </a:rPr>
              <a:t> Channel</a:t>
            </a:r>
            <a:r>
              <a:rPr lang="en-US" sz="2800" spc="34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bandwidth</a:t>
            </a:r>
            <a:r>
              <a:rPr lang="en-US" sz="2800" spc="44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is rela</a:t>
            </a:r>
            <a:r>
              <a:rPr lang="en-US" sz="2800" spc="9" dirty="0" smtClean="0">
                <a:latin typeface="Arial"/>
                <a:cs typeface="Arial"/>
              </a:rPr>
              <a:t>t</a:t>
            </a:r>
            <a:r>
              <a:rPr lang="en-US" sz="2800" dirty="0" smtClean="0">
                <a:latin typeface="Arial"/>
                <a:cs typeface="Arial"/>
              </a:rPr>
              <a:t>ively</a:t>
            </a:r>
            <a:r>
              <a:rPr lang="en-US" sz="2800" spc="2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na</a:t>
            </a:r>
            <a:r>
              <a:rPr lang="en-US" sz="2800" spc="4" dirty="0" smtClean="0">
                <a:latin typeface="Arial"/>
                <a:cs typeface="Arial"/>
              </a:rPr>
              <a:t>r</a:t>
            </a:r>
            <a:r>
              <a:rPr lang="en-US" sz="2800" dirty="0" smtClean="0">
                <a:latin typeface="Arial"/>
                <a:cs typeface="Arial"/>
              </a:rPr>
              <a:t>row</a:t>
            </a:r>
            <a:r>
              <a:rPr lang="en-US" sz="2800" spc="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(3</a:t>
            </a:r>
            <a:r>
              <a:rPr lang="en-US" sz="2800" spc="4" dirty="0" smtClean="0">
                <a:latin typeface="Arial"/>
                <a:cs typeface="Arial"/>
              </a:rPr>
              <a:t>0</a:t>
            </a:r>
            <a:r>
              <a:rPr lang="en-US" sz="2800" dirty="0" smtClean="0">
                <a:latin typeface="Arial"/>
                <a:cs typeface="Arial"/>
              </a:rPr>
              <a:t>kHz)</a:t>
            </a:r>
          </a:p>
          <a:p>
            <a:pPr marL="12700" marR="52573">
              <a:lnSpc>
                <a:spcPct val="95825"/>
              </a:lnSpc>
              <a:spcBef>
                <a:spcPts val="696"/>
              </a:spcBef>
              <a:buFont typeface="Arial" pitchFamily="34" charset="0"/>
              <a:buChar char="•"/>
            </a:pPr>
            <a:r>
              <a:rPr lang="en-US" sz="2800" dirty="0" smtClean="0">
                <a:latin typeface="Arial"/>
                <a:cs typeface="Arial"/>
              </a:rPr>
              <a:t> Simple</a:t>
            </a:r>
            <a:r>
              <a:rPr lang="en-US" sz="2800" spc="2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algori</a:t>
            </a:r>
            <a:r>
              <a:rPr lang="en-US" sz="2800" spc="4" dirty="0" smtClean="0">
                <a:latin typeface="Arial"/>
                <a:cs typeface="Arial"/>
              </a:rPr>
              <a:t>t</a:t>
            </a:r>
            <a:r>
              <a:rPr lang="en-US" sz="2800" dirty="0" smtClean="0">
                <a:latin typeface="Arial"/>
                <a:cs typeface="Arial"/>
              </a:rPr>
              <a:t>h</a:t>
            </a:r>
            <a:r>
              <a:rPr lang="en-US" sz="2800" spc="4" dirty="0" smtClean="0">
                <a:latin typeface="Arial"/>
                <a:cs typeface="Arial"/>
              </a:rPr>
              <a:t>m</a:t>
            </a:r>
            <a:r>
              <a:rPr lang="en-US" sz="2800" dirty="0" smtClean="0">
                <a:latin typeface="Arial"/>
                <a:cs typeface="Arial"/>
              </a:rPr>
              <a:t>icall</a:t>
            </a:r>
            <a:r>
              <a:rPr lang="en-US" sz="2800" spc="-179" dirty="0" smtClean="0">
                <a:latin typeface="Arial"/>
                <a:cs typeface="Arial"/>
              </a:rPr>
              <a:t>y</a:t>
            </a:r>
            <a:r>
              <a:rPr lang="en-US" sz="2800" dirty="0" smtClean="0">
                <a:latin typeface="Arial"/>
                <a:cs typeface="Arial"/>
              </a:rPr>
              <a:t>,</a:t>
            </a:r>
            <a:r>
              <a:rPr lang="en-US" sz="2800" spc="4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and</a:t>
            </a:r>
            <a:r>
              <a:rPr lang="en-US" sz="2800" spc="14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f</a:t>
            </a:r>
            <a:r>
              <a:rPr lang="en-US" sz="2800" spc="9" dirty="0" smtClean="0">
                <a:latin typeface="Arial"/>
                <a:cs typeface="Arial"/>
              </a:rPr>
              <a:t>r</a:t>
            </a:r>
            <a:r>
              <a:rPr lang="en-US" sz="2800" dirty="0" smtClean="0">
                <a:latin typeface="Arial"/>
                <a:cs typeface="Arial"/>
              </a:rPr>
              <a:t>om</a:t>
            </a:r>
            <a:r>
              <a:rPr lang="en-US" sz="2800" spc="-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a ha</a:t>
            </a:r>
            <a:r>
              <a:rPr lang="en-US" sz="2800" spc="4" dirty="0" smtClean="0">
                <a:latin typeface="Arial"/>
                <a:cs typeface="Arial"/>
              </a:rPr>
              <a:t>r</a:t>
            </a:r>
            <a:r>
              <a:rPr lang="en-US" sz="2800" dirty="0" smtClean="0">
                <a:latin typeface="Arial"/>
                <a:cs typeface="Arial"/>
              </a:rPr>
              <a:t>dware</a:t>
            </a:r>
            <a:r>
              <a:rPr lang="en-US" sz="2800" spc="1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s</a:t>
            </a:r>
            <a:r>
              <a:rPr lang="en-US" sz="2800" spc="4" dirty="0" smtClean="0">
                <a:latin typeface="Arial"/>
                <a:cs typeface="Arial"/>
              </a:rPr>
              <a:t>t</a:t>
            </a:r>
            <a:r>
              <a:rPr lang="en-US" sz="2800" dirty="0" smtClean="0">
                <a:latin typeface="Arial"/>
                <a:cs typeface="Arial"/>
              </a:rPr>
              <a:t>andpoint</a:t>
            </a:r>
          </a:p>
          <a:p>
            <a:pPr marL="12700">
              <a:lnSpc>
                <a:spcPct val="95825"/>
              </a:lnSpc>
              <a:spcBef>
                <a:spcPts val="696"/>
              </a:spcBef>
              <a:buFont typeface="Arial" pitchFamily="34" charset="0"/>
              <a:buChar char="•"/>
            </a:pPr>
            <a:r>
              <a:rPr lang="en-US" sz="2800" dirty="0" smtClean="0">
                <a:latin typeface="Arial"/>
                <a:cs typeface="Arial"/>
              </a:rPr>
              <a:t> Fairly</a:t>
            </a:r>
            <a:r>
              <a:rPr lang="en-US" sz="2800" spc="1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e</a:t>
            </a:r>
            <a:r>
              <a:rPr lang="en-US" sz="2800" spc="-39" dirty="0" smtClean="0">
                <a:latin typeface="Arial"/>
                <a:cs typeface="Arial"/>
              </a:rPr>
              <a:t>f</a:t>
            </a:r>
            <a:r>
              <a:rPr lang="en-US" sz="2800" dirty="0" smtClean="0">
                <a:latin typeface="Arial"/>
                <a:cs typeface="Arial"/>
              </a:rPr>
              <a:t>fi</a:t>
            </a:r>
            <a:r>
              <a:rPr lang="en-US" sz="2800" spc="4" dirty="0" smtClean="0">
                <a:latin typeface="Arial"/>
                <a:cs typeface="Arial"/>
              </a:rPr>
              <a:t>c</a:t>
            </a:r>
            <a:r>
              <a:rPr lang="en-US" sz="2800" dirty="0" smtClean="0">
                <a:latin typeface="Arial"/>
                <a:cs typeface="Arial"/>
              </a:rPr>
              <a:t>ient</a:t>
            </a:r>
            <a:r>
              <a:rPr lang="en-US" sz="2800" spc="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when</a:t>
            </a:r>
            <a:r>
              <a:rPr lang="en-US" sz="2800" spc="14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t</a:t>
            </a:r>
            <a:r>
              <a:rPr lang="en-US" sz="2800" spc="4" dirty="0" smtClean="0">
                <a:latin typeface="Arial"/>
                <a:cs typeface="Arial"/>
              </a:rPr>
              <a:t>h</a:t>
            </a:r>
            <a:r>
              <a:rPr lang="en-US" sz="2800" dirty="0" smtClean="0">
                <a:latin typeface="Arial"/>
                <a:cs typeface="Arial"/>
              </a:rPr>
              <a:t>e nu</a:t>
            </a:r>
            <a:r>
              <a:rPr lang="en-US" sz="2800" spc="4" dirty="0" smtClean="0">
                <a:latin typeface="Arial"/>
                <a:cs typeface="Arial"/>
              </a:rPr>
              <a:t>m</a:t>
            </a:r>
            <a:r>
              <a:rPr lang="en-US" sz="2800" dirty="0" smtClean="0">
                <a:latin typeface="Arial"/>
                <a:cs typeface="Arial"/>
              </a:rPr>
              <a:t>ber </a:t>
            </a:r>
            <a:r>
              <a:rPr lang="en-US" sz="2800" spc="4" dirty="0" smtClean="0">
                <a:latin typeface="Arial"/>
                <a:cs typeface="Arial"/>
              </a:rPr>
              <a:t>o</a:t>
            </a:r>
            <a:r>
              <a:rPr lang="en-US" sz="2800" dirty="0" smtClean="0">
                <a:latin typeface="Arial"/>
                <a:cs typeface="Arial"/>
              </a:rPr>
              <a:t>f s</a:t>
            </a:r>
            <a:r>
              <a:rPr lang="en-US" sz="2800" spc="9" dirty="0" smtClean="0">
                <a:latin typeface="Arial"/>
                <a:cs typeface="Arial"/>
              </a:rPr>
              <a:t>t</a:t>
            </a:r>
            <a:r>
              <a:rPr lang="en-US" sz="2800" dirty="0" smtClean="0">
                <a:latin typeface="Arial"/>
                <a:cs typeface="Arial"/>
              </a:rPr>
              <a:t>a</a:t>
            </a:r>
            <a:r>
              <a:rPr lang="en-US" sz="2800" spc="4" dirty="0" smtClean="0">
                <a:latin typeface="Arial"/>
                <a:cs typeface="Arial"/>
              </a:rPr>
              <a:t>t</a:t>
            </a:r>
            <a:r>
              <a:rPr lang="en-US" sz="2800" dirty="0" smtClean="0">
                <a:latin typeface="Arial"/>
                <a:cs typeface="Arial"/>
              </a:rPr>
              <a:t>ions is</a:t>
            </a:r>
            <a:r>
              <a:rPr lang="en-US" sz="2800" spc="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s</a:t>
            </a:r>
            <a:r>
              <a:rPr lang="en-US" sz="2800" spc="4" dirty="0" smtClean="0">
                <a:latin typeface="Arial"/>
                <a:cs typeface="Arial"/>
              </a:rPr>
              <a:t>m</a:t>
            </a:r>
            <a:r>
              <a:rPr lang="en-US" sz="2800" dirty="0" smtClean="0">
                <a:latin typeface="Arial"/>
                <a:cs typeface="Arial"/>
              </a:rPr>
              <a:t>all</a:t>
            </a:r>
            <a:r>
              <a:rPr lang="en-US" sz="2800" spc="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and the t</a:t>
            </a:r>
            <a:r>
              <a:rPr lang="en-US" sz="2800" spc="9" dirty="0" smtClean="0">
                <a:latin typeface="Arial"/>
                <a:cs typeface="Arial"/>
              </a:rPr>
              <a:t>r</a:t>
            </a:r>
            <a:r>
              <a:rPr lang="en-US" sz="2800" dirty="0" smtClean="0">
                <a:latin typeface="Arial"/>
                <a:cs typeface="Arial"/>
              </a:rPr>
              <a:t>a</a:t>
            </a:r>
            <a:r>
              <a:rPr lang="en-US" sz="2800" spc="-44" dirty="0" smtClean="0">
                <a:latin typeface="Arial"/>
                <a:cs typeface="Arial"/>
              </a:rPr>
              <a:t>f</a:t>
            </a:r>
            <a:r>
              <a:rPr lang="en-US" sz="2800" dirty="0" smtClean="0">
                <a:latin typeface="Arial"/>
                <a:cs typeface="Arial"/>
              </a:rPr>
              <a:t>fic</a:t>
            </a:r>
            <a:r>
              <a:rPr lang="en-US" sz="2800" spc="-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is  </a:t>
            </a:r>
          </a:p>
          <a:p>
            <a:pPr marL="12700">
              <a:lnSpc>
                <a:spcPct val="95825"/>
              </a:lnSpc>
              <a:spcBef>
                <a:spcPts val="696"/>
              </a:spcBef>
            </a:pPr>
            <a:r>
              <a:rPr lang="en-US" sz="2800" dirty="0" smtClean="0">
                <a:latin typeface="Arial"/>
                <a:cs typeface="Arial"/>
              </a:rPr>
              <a:t>  unifo</a:t>
            </a:r>
            <a:r>
              <a:rPr lang="en-US" sz="2800" spc="4" dirty="0" smtClean="0">
                <a:latin typeface="Arial"/>
                <a:cs typeface="Arial"/>
              </a:rPr>
              <a:t>r</a:t>
            </a:r>
            <a:r>
              <a:rPr lang="en-US" sz="2800" dirty="0" smtClean="0">
                <a:latin typeface="Arial"/>
                <a:cs typeface="Arial"/>
              </a:rPr>
              <a:t>mly</a:t>
            </a:r>
            <a:r>
              <a:rPr lang="en-US" sz="2800" spc="1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constant</a:t>
            </a:r>
          </a:p>
          <a:p>
            <a:pPr marL="12700" marR="646684">
              <a:lnSpc>
                <a:spcPct val="100041"/>
              </a:lnSpc>
              <a:spcBef>
                <a:spcPts val="698"/>
              </a:spcBef>
              <a:buFont typeface="Arial" pitchFamily="34" charset="0"/>
              <a:buChar char="•"/>
            </a:pPr>
            <a:r>
              <a:rPr lang="en-US" sz="2800" dirty="0" smtClean="0">
                <a:latin typeface="Arial"/>
                <a:cs typeface="Arial"/>
              </a:rPr>
              <a:t> Capacity</a:t>
            </a:r>
            <a:r>
              <a:rPr lang="en-US" sz="2800" spc="24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incr</a:t>
            </a:r>
            <a:r>
              <a:rPr lang="en-US" sz="2800" spc="4" dirty="0" smtClean="0">
                <a:latin typeface="Arial"/>
                <a:cs typeface="Arial"/>
              </a:rPr>
              <a:t>e</a:t>
            </a:r>
            <a:r>
              <a:rPr lang="en-US" sz="2800" dirty="0" smtClean="0">
                <a:latin typeface="Arial"/>
                <a:cs typeface="Arial"/>
              </a:rPr>
              <a:t>ase</a:t>
            </a:r>
            <a:r>
              <a:rPr lang="en-US" sz="2800" spc="2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can</a:t>
            </a:r>
            <a:r>
              <a:rPr lang="en-US" sz="2800" spc="4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be ob</a:t>
            </a:r>
            <a:r>
              <a:rPr lang="en-US" sz="2800" spc="4" dirty="0" smtClean="0">
                <a:latin typeface="Arial"/>
                <a:cs typeface="Arial"/>
              </a:rPr>
              <a:t>t</a:t>
            </a:r>
            <a:r>
              <a:rPr lang="en-US" sz="2800" dirty="0" smtClean="0">
                <a:latin typeface="Arial"/>
                <a:cs typeface="Arial"/>
              </a:rPr>
              <a:t>ained</a:t>
            </a:r>
            <a:r>
              <a:rPr lang="en-US" sz="2800" spc="25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by</a:t>
            </a:r>
            <a:r>
              <a:rPr lang="en-US" sz="2800" spc="4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re</a:t>
            </a:r>
            <a:r>
              <a:rPr lang="en-US" sz="2800" spc="4" dirty="0" smtClean="0">
                <a:latin typeface="Arial"/>
                <a:cs typeface="Arial"/>
              </a:rPr>
              <a:t>d</a:t>
            </a:r>
            <a:r>
              <a:rPr lang="en-US" sz="2800" dirty="0" smtClean="0">
                <a:latin typeface="Arial"/>
                <a:cs typeface="Arial"/>
              </a:rPr>
              <a:t>ucing</a:t>
            </a:r>
            <a:r>
              <a:rPr lang="en-US" sz="2800" spc="2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t</a:t>
            </a:r>
            <a:r>
              <a:rPr lang="en-US" sz="2800" spc="4" dirty="0" smtClean="0">
                <a:latin typeface="Arial"/>
                <a:cs typeface="Arial"/>
              </a:rPr>
              <a:t>h</a:t>
            </a:r>
            <a:r>
              <a:rPr lang="en-US" sz="2800" dirty="0" smtClean="0">
                <a:latin typeface="Arial"/>
                <a:cs typeface="Arial"/>
              </a:rPr>
              <a:t>e info</a:t>
            </a:r>
            <a:r>
              <a:rPr lang="en-US" sz="2800" spc="9" dirty="0" smtClean="0">
                <a:latin typeface="Arial"/>
                <a:cs typeface="Arial"/>
              </a:rPr>
              <a:t>r</a:t>
            </a:r>
            <a:r>
              <a:rPr lang="en-US" sz="2800" spc="4" dirty="0" smtClean="0">
                <a:latin typeface="Arial"/>
                <a:cs typeface="Arial"/>
              </a:rPr>
              <a:t>m</a:t>
            </a:r>
            <a:r>
              <a:rPr lang="en-US" sz="2800" dirty="0" smtClean="0">
                <a:latin typeface="Arial"/>
                <a:cs typeface="Arial"/>
              </a:rPr>
              <a:t>a</a:t>
            </a:r>
            <a:r>
              <a:rPr lang="en-US" sz="2800" spc="4" dirty="0" smtClean="0">
                <a:latin typeface="Arial"/>
                <a:cs typeface="Arial"/>
              </a:rPr>
              <a:t>t</a:t>
            </a:r>
            <a:r>
              <a:rPr lang="en-US" sz="2800" dirty="0" smtClean="0">
                <a:latin typeface="Arial"/>
                <a:cs typeface="Arial"/>
              </a:rPr>
              <a:t>ion</a:t>
            </a:r>
            <a:r>
              <a:rPr lang="en-US" sz="2800" spc="14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bit</a:t>
            </a:r>
            <a:r>
              <a:rPr lang="en-US" sz="2800" spc="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ra</a:t>
            </a:r>
            <a:r>
              <a:rPr lang="en-US" sz="2800" spc="9" dirty="0" smtClean="0">
                <a:latin typeface="Arial"/>
                <a:cs typeface="Arial"/>
              </a:rPr>
              <a:t>t</a:t>
            </a:r>
            <a:r>
              <a:rPr lang="en-US" sz="2800" dirty="0" smtClean="0">
                <a:latin typeface="Arial"/>
                <a:cs typeface="Arial"/>
              </a:rPr>
              <a:t>e </a:t>
            </a:r>
          </a:p>
          <a:p>
            <a:pPr marL="12700" marR="646684">
              <a:lnSpc>
                <a:spcPct val="100041"/>
              </a:lnSpc>
              <a:spcBef>
                <a:spcPts val="698"/>
              </a:spcBef>
            </a:pPr>
            <a:r>
              <a:rPr lang="en-US" sz="2800" dirty="0" smtClean="0">
                <a:latin typeface="Arial"/>
                <a:cs typeface="Arial"/>
              </a:rPr>
              <a:t>  and using</a:t>
            </a:r>
            <a:r>
              <a:rPr lang="en-US" sz="2800" spc="1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e</a:t>
            </a:r>
            <a:r>
              <a:rPr lang="en-US" sz="2800" spc="-39" dirty="0" smtClean="0">
                <a:latin typeface="Arial"/>
                <a:cs typeface="Arial"/>
              </a:rPr>
              <a:t>f</a:t>
            </a:r>
            <a:r>
              <a:rPr lang="en-US" sz="2800" dirty="0" smtClean="0">
                <a:latin typeface="Arial"/>
                <a:cs typeface="Arial"/>
              </a:rPr>
              <a:t>fi</a:t>
            </a:r>
            <a:r>
              <a:rPr lang="en-US" sz="2800" spc="4" dirty="0" smtClean="0">
                <a:latin typeface="Arial"/>
                <a:cs typeface="Arial"/>
              </a:rPr>
              <a:t>c</a:t>
            </a:r>
            <a:r>
              <a:rPr lang="en-US" sz="2800" dirty="0" smtClean="0">
                <a:latin typeface="Arial"/>
                <a:cs typeface="Arial"/>
              </a:rPr>
              <a:t>ient</a:t>
            </a:r>
            <a:r>
              <a:rPr lang="en-US" sz="2800" spc="1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digital</a:t>
            </a:r>
            <a:r>
              <a:rPr lang="en-US" sz="2800" spc="2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code</a:t>
            </a:r>
          </a:p>
          <a:p>
            <a:pPr marL="12700" marR="52573">
              <a:lnSpc>
                <a:spcPct val="95825"/>
              </a:lnSpc>
              <a:spcBef>
                <a:spcPts val="578"/>
              </a:spcBef>
              <a:buFont typeface="Arial" pitchFamily="34" charset="0"/>
              <a:buChar char="•"/>
            </a:pPr>
            <a:r>
              <a:rPr lang="en-US" sz="2800" dirty="0" smtClean="0">
                <a:latin typeface="Arial"/>
                <a:cs typeface="Arial"/>
              </a:rPr>
              <a:t> No need</a:t>
            </a:r>
            <a:r>
              <a:rPr lang="en-US" sz="2800" spc="1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f</a:t>
            </a:r>
            <a:r>
              <a:rPr lang="en-US" sz="2800" spc="4" dirty="0" smtClean="0">
                <a:latin typeface="Arial"/>
                <a:cs typeface="Arial"/>
              </a:rPr>
              <a:t>o</a:t>
            </a:r>
            <a:r>
              <a:rPr lang="en-US" sz="2800" dirty="0" smtClean="0">
                <a:latin typeface="Arial"/>
                <a:cs typeface="Arial"/>
              </a:rPr>
              <a:t>r ne</a:t>
            </a:r>
            <a:r>
              <a:rPr lang="en-US" sz="2800" spc="4" dirty="0" smtClean="0">
                <a:latin typeface="Arial"/>
                <a:cs typeface="Arial"/>
              </a:rPr>
              <a:t>t</a:t>
            </a:r>
            <a:r>
              <a:rPr lang="en-US" sz="2800" dirty="0" smtClean="0">
                <a:latin typeface="Arial"/>
                <a:cs typeface="Arial"/>
              </a:rPr>
              <a:t>work</a:t>
            </a:r>
            <a:r>
              <a:rPr lang="en-US" sz="2800" spc="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ti</a:t>
            </a:r>
            <a:r>
              <a:rPr lang="en-US" sz="2800" spc="9" dirty="0" smtClean="0">
                <a:latin typeface="Arial"/>
                <a:cs typeface="Arial"/>
              </a:rPr>
              <a:t>m</a:t>
            </a:r>
            <a:r>
              <a:rPr lang="en-US" sz="2800" dirty="0" smtClean="0">
                <a:latin typeface="Arial"/>
                <a:cs typeface="Arial"/>
              </a:rPr>
              <a:t>ing</a:t>
            </a:r>
          </a:p>
          <a:p>
            <a:pPr marL="12700" marR="38912">
              <a:lnSpc>
                <a:spcPct val="99945"/>
              </a:lnSpc>
              <a:spcBef>
                <a:spcPts val="699"/>
              </a:spcBef>
              <a:buFont typeface="Arial" pitchFamily="34" charset="0"/>
              <a:buChar char="•"/>
            </a:pPr>
            <a:r>
              <a:rPr lang="en-US" sz="2800" dirty="0" smtClean="0">
                <a:latin typeface="Arial"/>
                <a:cs typeface="Arial"/>
              </a:rPr>
              <a:t> No </a:t>
            </a:r>
            <a:r>
              <a:rPr lang="en-US" sz="2800" spc="9" dirty="0" smtClean="0">
                <a:latin typeface="Arial"/>
                <a:cs typeface="Arial"/>
              </a:rPr>
              <a:t>r</a:t>
            </a:r>
            <a:r>
              <a:rPr lang="en-US" sz="2800" dirty="0" smtClean="0">
                <a:latin typeface="Arial"/>
                <a:cs typeface="Arial"/>
              </a:rPr>
              <a:t>es</a:t>
            </a:r>
            <a:r>
              <a:rPr lang="en-US" sz="2800" spc="4" dirty="0" smtClean="0">
                <a:latin typeface="Arial"/>
                <a:cs typeface="Arial"/>
              </a:rPr>
              <a:t>t</a:t>
            </a:r>
            <a:r>
              <a:rPr lang="en-US" sz="2800" dirty="0" smtClean="0">
                <a:latin typeface="Arial"/>
                <a:cs typeface="Arial"/>
              </a:rPr>
              <a:t>ri</a:t>
            </a:r>
            <a:r>
              <a:rPr lang="en-US" sz="2800" spc="4" dirty="0" smtClean="0">
                <a:latin typeface="Arial"/>
                <a:cs typeface="Arial"/>
              </a:rPr>
              <a:t>c</a:t>
            </a:r>
            <a:r>
              <a:rPr lang="en-US" sz="2800" dirty="0" smtClean="0">
                <a:latin typeface="Arial"/>
                <a:cs typeface="Arial"/>
              </a:rPr>
              <a:t>tion</a:t>
            </a:r>
            <a:r>
              <a:rPr lang="en-US" sz="2800" spc="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re</a:t>
            </a:r>
            <a:r>
              <a:rPr lang="en-US" sz="2800" spc="4" dirty="0" smtClean="0">
                <a:latin typeface="Arial"/>
                <a:cs typeface="Arial"/>
              </a:rPr>
              <a:t>g</a:t>
            </a:r>
            <a:r>
              <a:rPr lang="en-US" sz="2800" dirty="0" smtClean="0">
                <a:latin typeface="Arial"/>
                <a:cs typeface="Arial"/>
              </a:rPr>
              <a:t>ar</a:t>
            </a:r>
            <a:r>
              <a:rPr lang="en-US" sz="2800" spc="4" dirty="0" smtClean="0">
                <a:latin typeface="Arial"/>
                <a:cs typeface="Arial"/>
              </a:rPr>
              <a:t>d</a:t>
            </a:r>
            <a:r>
              <a:rPr lang="en-US" sz="2800" dirty="0" smtClean="0">
                <a:latin typeface="Arial"/>
                <a:cs typeface="Arial"/>
              </a:rPr>
              <a:t>ing</a:t>
            </a:r>
            <a:r>
              <a:rPr lang="en-US" sz="2800" spc="24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t</a:t>
            </a:r>
            <a:r>
              <a:rPr lang="en-US" sz="2800" spc="4" dirty="0" smtClean="0">
                <a:latin typeface="Arial"/>
                <a:cs typeface="Arial"/>
              </a:rPr>
              <a:t>h</a:t>
            </a:r>
            <a:r>
              <a:rPr lang="en-US" sz="2800" dirty="0" smtClean="0">
                <a:latin typeface="Arial"/>
                <a:cs typeface="Arial"/>
              </a:rPr>
              <a:t>e t</a:t>
            </a:r>
            <a:r>
              <a:rPr lang="en-US" sz="2800" spc="4" dirty="0" smtClean="0">
                <a:latin typeface="Arial"/>
                <a:cs typeface="Arial"/>
              </a:rPr>
              <a:t>y</a:t>
            </a:r>
            <a:r>
              <a:rPr lang="en-US" sz="2800" dirty="0" smtClean="0">
                <a:latin typeface="Arial"/>
                <a:cs typeface="Arial"/>
              </a:rPr>
              <a:t>pe of baseband</a:t>
            </a:r>
            <a:r>
              <a:rPr lang="en-US" sz="2800" spc="2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or</a:t>
            </a:r>
            <a:r>
              <a:rPr lang="en-US" sz="2800" spc="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t</a:t>
            </a:r>
            <a:r>
              <a:rPr lang="en-US" sz="2800" spc="4" dirty="0" smtClean="0">
                <a:latin typeface="Arial"/>
                <a:cs typeface="Arial"/>
              </a:rPr>
              <a:t>y</a:t>
            </a:r>
            <a:r>
              <a:rPr lang="en-US" sz="2800" dirty="0" smtClean="0">
                <a:latin typeface="Arial"/>
                <a:cs typeface="Arial"/>
              </a:rPr>
              <a:t>pe of </a:t>
            </a:r>
            <a:r>
              <a:rPr lang="en-US" sz="2800" spc="4" dirty="0" smtClean="0">
                <a:latin typeface="Arial"/>
                <a:cs typeface="Arial"/>
              </a:rPr>
              <a:t>m</a:t>
            </a:r>
            <a:r>
              <a:rPr lang="en-US" sz="2800" dirty="0" smtClean="0">
                <a:latin typeface="Arial"/>
                <a:cs typeface="Arial"/>
              </a:rPr>
              <a:t>odulation</a:t>
            </a:r>
            <a:endParaRPr lang="en-US" sz="28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med">
    <p:wedg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648200" y="228600"/>
            <a:ext cx="5867400" cy="1371600"/>
          </a:xfrm>
        </p:spPr>
        <p:txBody>
          <a:bodyPr>
            <a:normAutofit/>
          </a:bodyPr>
          <a:lstStyle/>
          <a:p>
            <a:pPr algn="l"/>
            <a:r>
              <a:rPr lang="en-US"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DISADVANTAGES</a:t>
            </a:r>
          </a:p>
        </p:txBody>
      </p:sp>
      <p:sp>
        <p:nvSpPr>
          <p:cNvPr id="4" name="object 8"/>
          <p:cNvSpPr txBox="1"/>
          <p:nvPr/>
        </p:nvSpPr>
        <p:spPr>
          <a:xfrm>
            <a:off x="2362200" y="1981200"/>
            <a:ext cx="11430000" cy="28561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3263">
              <a:lnSpc>
                <a:spcPts val="2960"/>
              </a:lnSpc>
              <a:spcBef>
                <a:spcPts val="148"/>
              </a:spcBef>
              <a:buFont typeface="Arial" pitchFamily="34" charset="0"/>
              <a:buChar char="•"/>
            </a:pPr>
            <a:r>
              <a:rPr lang="en-US" sz="2800" spc="0" dirty="0" smtClean="0">
                <a:latin typeface="Arial"/>
                <a:cs typeface="Arial"/>
              </a:rPr>
              <a:t>  </a:t>
            </a:r>
            <a:r>
              <a:rPr sz="2800" spc="0" dirty="0" smtClean="0">
                <a:latin typeface="Arial"/>
                <a:cs typeface="Arial"/>
              </a:rPr>
              <a:t>The</a:t>
            </a:r>
            <a:r>
              <a:rPr sz="2800" spc="-28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p</a:t>
            </a:r>
            <a:r>
              <a:rPr sz="2800" spc="9" dirty="0" smtClean="0">
                <a:latin typeface="Arial"/>
                <a:cs typeface="Arial"/>
              </a:rPr>
              <a:t>r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9" dirty="0" smtClean="0">
                <a:latin typeface="Arial"/>
                <a:cs typeface="Arial"/>
              </a:rPr>
              <a:t>s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14" dirty="0" smtClean="0">
                <a:latin typeface="Arial"/>
                <a:cs typeface="Arial"/>
              </a:rPr>
              <a:t>n</a:t>
            </a:r>
            <a:r>
              <a:rPr sz="2800" spc="0" dirty="0" smtClean="0">
                <a:latin typeface="Arial"/>
                <a:cs typeface="Arial"/>
              </a:rPr>
              <a:t>ce</a:t>
            </a:r>
            <a:r>
              <a:rPr sz="2800" spc="-105" dirty="0" smtClean="0">
                <a:latin typeface="Arial"/>
                <a:cs typeface="Arial"/>
              </a:rPr>
              <a:t> </a:t>
            </a:r>
            <a:r>
              <a:rPr sz="2800" spc="9" dirty="0" smtClean="0">
                <a:latin typeface="Arial"/>
                <a:cs typeface="Arial"/>
              </a:rPr>
              <a:t>o</a:t>
            </a:r>
            <a:r>
              <a:rPr sz="2800" spc="0" dirty="0" smtClean="0">
                <a:latin typeface="Arial"/>
                <a:cs typeface="Arial"/>
              </a:rPr>
              <a:t>f</a:t>
            </a:r>
            <a:r>
              <a:rPr sz="2800" spc="-23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g</a:t>
            </a: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9" dirty="0" smtClean="0">
                <a:latin typeface="Arial"/>
                <a:cs typeface="Arial"/>
              </a:rPr>
              <a:t>r</a:t>
            </a:r>
            <a:r>
              <a:rPr sz="2800" spc="0" dirty="0" smtClean="0">
                <a:latin typeface="Arial"/>
                <a:cs typeface="Arial"/>
              </a:rPr>
              <a:t>d</a:t>
            </a:r>
            <a:r>
              <a:rPr sz="2800" spc="-51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b</a:t>
            </a:r>
            <a:r>
              <a:rPr sz="2800" spc="1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n</a:t>
            </a:r>
            <a:r>
              <a:rPr sz="2800" spc="1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s</a:t>
            </a:r>
            <a:endParaRPr lang="en-US" sz="2800" spc="0" dirty="0" smtClean="0">
              <a:latin typeface="Arial"/>
              <a:cs typeface="Arial"/>
            </a:endParaRPr>
          </a:p>
          <a:p>
            <a:pPr marL="12700" marR="53263">
              <a:lnSpc>
                <a:spcPts val="2960"/>
              </a:lnSpc>
              <a:spcBef>
                <a:spcPts val="148"/>
              </a:spcBef>
            </a:pPr>
            <a:endParaRPr sz="2800" dirty="0">
              <a:latin typeface="Arial"/>
              <a:cs typeface="Arial"/>
            </a:endParaRPr>
          </a:p>
          <a:p>
            <a:pPr marL="12700" marR="74936">
              <a:lnSpc>
                <a:spcPct val="100041"/>
              </a:lnSpc>
              <a:spcBef>
                <a:spcPts val="666"/>
              </a:spcBef>
              <a:buFont typeface="Arial" pitchFamily="34" charset="0"/>
              <a:buChar char="•"/>
            </a:pPr>
            <a:r>
              <a:rPr lang="en-US" sz="2800" spc="0" dirty="0" smtClean="0">
                <a:latin typeface="Arial"/>
                <a:cs typeface="Arial"/>
              </a:rPr>
              <a:t>  </a:t>
            </a:r>
            <a:r>
              <a:rPr sz="2800" spc="0" dirty="0" smtClean="0">
                <a:latin typeface="Arial"/>
                <a:cs typeface="Arial"/>
              </a:rPr>
              <a:t>Re</a:t>
            </a:r>
            <a:r>
              <a:rPr sz="2800" spc="9" dirty="0" smtClean="0">
                <a:latin typeface="Arial"/>
                <a:cs typeface="Arial"/>
              </a:rPr>
              <a:t>q</a:t>
            </a:r>
            <a:r>
              <a:rPr sz="2800" spc="0" dirty="0" smtClean="0">
                <a:latin typeface="Arial"/>
                <a:cs typeface="Arial"/>
              </a:rPr>
              <a:t>u</a:t>
            </a:r>
            <a:r>
              <a:rPr sz="2800" spc="9" dirty="0" smtClean="0">
                <a:latin typeface="Arial"/>
                <a:cs typeface="Arial"/>
              </a:rPr>
              <a:t>i</a:t>
            </a:r>
            <a:r>
              <a:rPr sz="2800" spc="0" dirty="0" smtClean="0">
                <a:latin typeface="Arial"/>
                <a:cs typeface="Arial"/>
              </a:rPr>
              <a:t>r</a:t>
            </a:r>
            <a:r>
              <a:rPr sz="2800" spc="9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s</a:t>
            </a:r>
            <a:r>
              <a:rPr sz="2800" spc="-97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ri</a:t>
            </a:r>
            <a:r>
              <a:rPr sz="2800" spc="14" dirty="0" smtClean="0">
                <a:latin typeface="Arial"/>
                <a:cs typeface="Arial"/>
              </a:rPr>
              <a:t>g</a:t>
            </a:r>
            <a:r>
              <a:rPr sz="2800" spc="0" dirty="0" smtClean="0">
                <a:latin typeface="Arial"/>
                <a:cs typeface="Arial"/>
              </a:rPr>
              <a:t>ht</a:t>
            </a:r>
            <a:r>
              <a:rPr sz="2800" spc="-54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RF</a:t>
            </a:r>
            <a:r>
              <a:rPr sz="2800" spc="-27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fi</a:t>
            </a:r>
            <a:r>
              <a:rPr sz="2800" spc="4" dirty="0" smtClean="0">
                <a:latin typeface="Arial"/>
                <a:cs typeface="Arial"/>
              </a:rPr>
              <a:t>l</a:t>
            </a:r>
            <a:r>
              <a:rPr sz="2800" spc="0" dirty="0" smtClean="0">
                <a:latin typeface="Arial"/>
                <a:cs typeface="Arial"/>
              </a:rPr>
              <a:t>t</a:t>
            </a:r>
            <a:r>
              <a:rPr sz="2800" spc="9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ri</a:t>
            </a:r>
            <a:r>
              <a:rPr sz="2800" spc="14" dirty="0" smtClean="0">
                <a:latin typeface="Arial"/>
                <a:cs typeface="Arial"/>
              </a:rPr>
              <a:t>n</a:t>
            </a:r>
            <a:r>
              <a:rPr sz="2800" spc="0" dirty="0" smtClean="0">
                <a:latin typeface="Arial"/>
                <a:cs typeface="Arial"/>
              </a:rPr>
              <a:t>g</a:t>
            </a:r>
            <a:r>
              <a:rPr sz="2800" spc="-90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to</a:t>
            </a:r>
            <a:r>
              <a:rPr sz="2800" spc="-23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mi</a:t>
            </a:r>
            <a:r>
              <a:rPr sz="2800" spc="9" dirty="0" smtClean="0">
                <a:latin typeface="Arial"/>
                <a:cs typeface="Arial"/>
              </a:rPr>
              <a:t>n</a:t>
            </a:r>
            <a:r>
              <a:rPr sz="2800" spc="0" dirty="0" smtClean="0">
                <a:latin typeface="Arial"/>
                <a:cs typeface="Arial"/>
              </a:rPr>
              <a:t>imi</a:t>
            </a:r>
            <a:r>
              <a:rPr sz="2800" spc="9" dirty="0" smtClean="0">
                <a:latin typeface="Arial"/>
                <a:cs typeface="Arial"/>
              </a:rPr>
              <a:t>z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-80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1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j</a:t>
            </a:r>
            <a:r>
              <a:rPr sz="2800" spc="9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c</a:t>
            </a:r>
            <a:r>
              <a:rPr sz="2800" spc="9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nt c</a:t>
            </a:r>
            <a:r>
              <a:rPr sz="2800" spc="9" dirty="0" smtClean="0">
                <a:latin typeface="Arial"/>
                <a:cs typeface="Arial"/>
              </a:rPr>
              <a:t>h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14" dirty="0" smtClean="0">
                <a:latin typeface="Arial"/>
                <a:cs typeface="Arial"/>
              </a:rPr>
              <a:t>n</a:t>
            </a:r>
            <a:r>
              <a:rPr sz="2800" spc="0" dirty="0" smtClean="0">
                <a:latin typeface="Arial"/>
                <a:cs typeface="Arial"/>
              </a:rPr>
              <a:t>n</a:t>
            </a:r>
            <a:r>
              <a:rPr sz="2800" spc="1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-98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i</a:t>
            </a:r>
            <a:r>
              <a:rPr sz="2800" spc="0" dirty="0" smtClean="0">
                <a:latin typeface="Arial"/>
                <a:cs typeface="Arial"/>
              </a:rPr>
              <a:t>n</a:t>
            </a:r>
            <a:r>
              <a:rPr sz="2800" spc="9" dirty="0" smtClean="0">
                <a:latin typeface="Arial"/>
                <a:cs typeface="Arial"/>
              </a:rPr>
              <a:t>t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9" dirty="0" smtClean="0">
                <a:latin typeface="Arial"/>
                <a:cs typeface="Arial"/>
              </a:rPr>
              <a:t>r</a:t>
            </a:r>
            <a:r>
              <a:rPr sz="2800" spc="0" dirty="0" smtClean="0">
                <a:latin typeface="Arial"/>
                <a:cs typeface="Arial"/>
              </a:rPr>
              <a:t>f</a:t>
            </a:r>
            <a:r>
              <a:rPr sz="2800" spc="9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r</a:t>
            </a:r>
            <a:r>
              <a:rPr sz="2800" spc="9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n</a:t>
            </a:r>
            <a:r>
              <a:rPr sz="2800" spc="9" dirty="0" smtClean="0">
                <a:latin typeface="Arial"/>
                <a:cs typeface="Arial"/>
              </a:rPr>
              <a:t>c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lang="en-US" sz="2800" spc="0" dirty="0" smtClean="0">
              <a:latin typeface="Arial"/>
              <a:cs typeface="Arial"/>
            </a:endParaRPr>
          </a:p>
          <a:p>
            <a:pPr marL="12700" marR="74936">
              <a:lnSpc>
                <a:spcPct val="100041"/>
              </a:lnSpc>
              <a:spcBef>
                <a:spcPts val="666"/>
              </a:spcBef>
            </a:pPr>
            <a:endParaRPr sz="2800" dirty="0">
              <a:latin typeface="Arial"/>
              <a:cs typeface="Arial"/>
            </a:endParaRPr>
          </a:p>
          <a:p>
            <a:pPr marL="12700" marR="53263">
              <a:lnSpc>
                <a:spcPct val="95825"/>
              </a:lnSpc>
              <a:spcBef>
                <a:spcPts val="674"/>
              </a:spcBef>
              <a:buFont typeface="Arial" pitchFamily="34" charset="0"/>
              <a:buChar char="•"/>
            </a:pPr>
            <a:r>
              <a:rPr lang="en-US" sz="2800" spc="0" dirty="0" smtClean="0">
                <a:latin typeface="Arial"/>
                <a:cs typeface="Arial"/>
              </a:rPr>
              <a:t>  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x</a:t>
            </a:r>
            <a:r>
              <a:rPr sz="2800" spc="4" dirty="0" smtClean="0">
                <a:latin typeface="Arial"/>
                <a:cs typeface="Arial"/>
              </a:rPr>
              <a:t>i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-96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b</a:t>
            </a:r>
            <a:r>
              <a:rPr sz="2800" spc="9" dirty="0" smtClean="0">
                <a:latin typeface="Arial"/>
                <a:cs typeface="Arial"/>
              </a:rPr>
              <a:t>i</a:t>
            </a:r>
            <a:r>
              <a:rPr sz="2800" spc="0" dirty="0" smtClean="0">
                <a:latin typeface="Arial"/>
                <a:cs typeface="Arial"/>
              </a:rPr>
              <a:t>t</a:t>
            </a:r>
            <a:r>
              <a:rPr sz="2800" spc="-29" dirty="0" smtClean="0">
                <a:latin typeface="Arial"/>
                <a:cs typeface="Arial"/>
              </a:rPr>
              <a:t> </a:t>
            </a:r>
            <a:r>
              <a:rPr sz="2800" spc="9" dirty="0" smtClean="0">
                <a:latin typeface="Arial"/>
                <a:cs typeface="Arial"/>
              </a:rPr>
              <a:t>r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9" dirty="0" smtClean="0">
                <a:latin typeface="Arial"/>
                <a:cs typeface="Arial"/>
              </a:rPr>
              <a:t>t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-48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p</a:t>
            </a:r>
            <a:r>
              <a:rPr sz="2800" spc="9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r</a:t>
            </a:r>
            <a:r>
              <a:rPr sz="2800" spc="-40" dirty="0" smtClean="0">
                <a:latin typeface="Arial"/>
                <a:cs typeface="Arial"/>
              </a:rPr>
              <a:t> </a:t>
            </a:r>
            <a:r>
              <a:rPr sz="2800" spc="9" dirty="0" smtClean="0">
                <a:latin typeface="Arial"/>
                <a:cs typeface="Arial"/>
              </a:rPr>
              <a:t>c</a:t>
            </a:r>
            <a:r>
              <a:rPr sz="2800" spc="0" dirty="0" smtClean="0">
                <a:latin typeface="Arial"/>
                <a:cs typeface="Arial"/>
              </a:rPr>
              <a:t>h</a:t>
            </a:r>
            <a:r>
              <a:rPr sz="2800" spc="1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n</a:t>
            </a:r>
            <a:r>
              <a:rPr sz="2800" spc="14" dirty="0" smtClean="0">
                <a:latin typeface="Arial"/>
                <a:cs typeface="Arial"/>
              </a:rPr>
              <a:t>n</a:t>
            </a:r>
            <a:r>
              <a:rPr sz="2800" spc="0" dirty="0" smtClean="0">
                <a:latin typeface="Arial"/>
                <a:cs typeface="Arial"/>
              </a:rPr>
              <a:t>el</a:t>
            </a:r>
            <a:r>
              <a:rPr sz="2800" spc="-78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is</a:t>
            </a:r>
            <a:r>
              <a:rPr sz="2800" spc="-20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fi</a:t>
            </a:r>
            <a:r>
              <a:rPr sz="2800" spc="9" dirty="0" smtClean="0">
                <a:latin typeface="Arial"/>
                <a:cs typeface="Arial"/>
              </a:rPr>
              <a:t>x</a:t>
            </a:r>
            <a:r>
              <a:rPr sz="2800" spc="0" dirty="0" smtClean="0">
                <a:latin typeface="Arial"/>
                <a:cs typeface="Arial"/>
              </a:rPr>
              <a:t>ed</a:t>
            </a:r>
            <a:endParaRPr lang="en-US" sz="2800" spc="0" dirty="0" smtClean="0">
              <a:latin typeface="Arial"/>
              <a:cs typeface="Arial"/>
            </a:endParaRPr>
          </a:p>
          <a:p>
            <a:pPr marL="12700" marR="53263">
              <a:lnSpc>
                <a:spcPct val="95825"/>
              </a:lnSpc>
              <a:spcBef>
                <a:spcPts val="674"/>
              </a:spcBef>
            </a:pPr>
            <a:endParaRPr sz="2800" dirty="0">
              <a:latin typeface="Arial"/>
              <a:cs typeface="Arial"/>
            </a:endParaRPr>
          </a:p>
          <a:p>
            <a:pPr marL="12700" marR="53263">
              <a:lnSpc>
                <a:spcPct val="95825"/>
              </a:lnSpc>
              <a:spcBef>
                <a:spcPts val="815"/>
              </a:spcBef>
              <a:buFont typeface="Arial" pitchFamily="34" charset="0"/>
              <a:buChar char="•"/>
            </a:pPr>
            <a:r>
              <a:rPr lang="en-US" sz="2800" spc="0" dirty="0" smtClean="0">
                <a:latin typeface="Arial"/>
                <a:cs typeface="Arial"/>
              </a:rPr>
              <a:t>  </a:t>
            </a:r>
            <a:r>
              <a:rPr sz="2800" spc="0" dirty="0" smtClean="0">
                <a:latin typeface="Arial"/>
                <a:cs typeface="Arial"/>
              </a:rPr>
              <a:t>Sma</a:t>
            </a:r>
            <a:r>
              <a:rPr sz="2800" spc="9" dirty="0" smtClean="0">
                <a:latin typeface="Arial"/>
                <a:cs typeface="Arial"/>
              </a:rPr>
              <a:t>l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-54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9" dirty="0" smtClean="0">
                <a:latin typeface="Arial"/>
                <a:cs typeface="Arial"/>
              </a:rPr>
              <a:t>n</a:t>
            </a:r>
            <a:r>
              <a:rPr sz="2800" spc="0" dirty="0" smtClean="0">
                <a:latin typeface="Arial"/>
                <a:cs typeface="Arial"/>
              </a:rPr>
              <a:t>h</a:t>
            </a:r>
            <a:r>
              <a:rPr sz="2800" spc="9" dirty="0" smtClean="0">
                <a:latin typeface="Arial"/>
                <a:cs typeface="Arial"/>
              </a:rPr>
              <a:t>i</a:t>
            </a:r>
            <a:r>
              <a:rPr sz="2800" spc="0" dirty="0" smtClean="0">
                <a:latin typeface="Arial"/>
                <a:cs typeface="Arial"/>
              </a:rPr>
              <a:t>b</a:t>
            </a:r>
            <a:r>
              <a:rPr sz="2800" spc="9" dirty="0" smtClean="0">
                <a:latin typeface="Arial"/>
                <a:cs typeface="Arial"/>
              </a:rPr>
              <a:t>i</a:t>
            </a:r>
            <a:r>
              <a:rPr sz="2800" spc="0" dirty="0" smtClean="0">
                <a:latin typeface="Arial"/>
                <a:cs typeface="Arial"/>
              </a:rPr>
              <a:t>ti</a:t>
            </a:r>
            <a:r>
              <a:rPr sz="2800" spc="9" dirty="0" smtClean="0">
                <a:latin typeface="Arial"/>
                <a:cs typeface="Arial"/>
              </a:rPr>
              <a:t>n</a:t>
            </a:r>
            <a:r>
              <a:rPr sz="2800" spc="0" dirty="0" smtClean="0">
                <a:latin typeface="Arial"/>
                <a:cs typeface="Arial"/>
              </a:rPr>
              <a:t>g</a:t>
            </a:r>
            <a:r>
              <a:rPr sz="2800" spc="-90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fl</a:t>
            </a:r>
            <a:r>
              <a:rPr sz="2800" spc="9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x</a:t>
            </a:r>
            <a:r>
              <a:rPr sz="2800" spc="4" dirty="0" smtClean="0">
                <a:latin typeface="Arial"/>
                <a:cs typeface="Arial"/>
              </a:rPr>
              <a:t>i</a:t>
            </a:r>
            <a:r>
              <a:rPr sz="2800" spc="0" dirty="0" smtClean="0">
                <a:latin typeface="Arial"/>
                <a:cs typeface="Arial"/>
              </a:rPr>
              <a:t>b</a:t>
            </a:r>
            <a:r>
              <a:rPr sz="2800" spc="9" dirty="0" smtClean="0">
                <a:latin typeface="Arial"/>
                <a:cs typeface="Arial"/>
              </a:rPr>
              <a:t>i</a:t>
            </a:r>
            <a:r>
              <a:rPr sz="2800" spc="0" dirty="0" smtClean="0">
                <a:latin typeface="Arial"/>
                <a:cs typeface="Arial"/>
              </a:rPr>
              <a:t>li</a:t>
            </a:r>
            <a:r>
              <a:rPr sz="2800" spc="4" dirty="0" smtClean="0">
                <a:latin typeface="Arial"/>
                <a:cs typeface="Arial"/>
              </a:rPr>
              <a:t>t</a:t>
            </a:r>
            <a:r>
              <a:rPr sz="2800" spc="0" dirty="0" smtClean="0">
                <a:latin typeface="Arial"/>
                <a:cs typeface="Arial"/>
              </a:rPr>
              <a:t>y</a:t>
            </a:r>
            <a:r>
              <a:rPr sz="2800" spc="-120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in</a:t>
            </a:r>
            <a:r>
              <a:rPr sz="2800" spc="-21" dirty="0" smtClean="0">
                <a:latin typeface="Arial"/>
                <a:cs typeface="Arial"/>
              </a:rPr>
              <a:t> </a:t>
            </a:r>
            <a:r>
              <a:rPr sz="2800" spc="9" dirty="0" smtClean="0">
                <a:latin typeface="Arial"/>
                <a:cs typeface="Arial"/>
              </a:rPr>
              <a:t>b</a:t>
            </a:r>
            <a:r>
              <a:rPr sz="2800" spc="0" dirty="0" smtClean="0">
                <a:latin typeface="Arial"/>
                <a:cs typeface="Arial"/>
              </a:rPr>
              <a:t>it</a:t>
            </a:r>
            <a:r>
              <a:rPr sz="2800" spc="-29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r</a:t>
            </a:r>
            <a:r>
              <a:rPr sz="2800" spc="9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te</a:t>
            </a:r>
            <a:r>
              <a:rPr sz="2800" spc="-48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c</a:t>
            </a:r>
            <a:r>
              <a:rPr sz="2800" spc="9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p</a:t>
            </a:r>
            <a:r>
              <a:rPr sz="2800" spc="1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b</a:t>
            </a:r>
            <a:r>
              <a:rPr sz="2800" spc="9" dirty="0" smtClean="0">
                <a:latin typeface="Arial"/>
                <a:cs typeface="Arial"/>
              </a:rPr>
              <a:t>i</a:t>
            </a:r>
            <a:r>
              <a:rPr sz="2800" spc="0" dirty="0" smtClean="0">
                <a:latin typeface="Arial"/>
                <a:cs typeface="Arial"/>
              </a:rPr>
              <a:t>li</a:t>
            </a:r>
            <a:r>
              <a:rPr sz="2800" spc="4" dirty="0" smtClean="0">
                <a:latin typeface="Arial"/>
                <a:cs typeface="Arial"/>
              </a:rPr>
              <a:t>t</a:t>
            </a:r>
            <a:r>
              <a:rPr sz="2800" spc="0" dirty="0" smtClean="0">
                <a:latin typeface="Arial"/>
                <a:cs typeface="Arial"/>
              </a:rPr>
              <a:t>y</a:t>
            </a:r>
            <a:endParaRPr lang="en-US" sz="2800" spc="0" dirty="0" smtClean="0">
              <a:latin typeface="Arial"/>
              <a:cs typeface="Arial"/>
            </a:endParaRPr>
          </a:p>
          <a:p>
            <a:pPr marL="12700" marR="53263">
              <a:lnSpc>
                <a:spcPct val="95825"/>
              </a:lnSpc>
              <a:spcBef>
                <a:spcPts val="815"/>
              </a:spcBef>
            </a:pPr>
            <a:endParaRPr sz="2800" dirty="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812"/>
              </a:spcBef>
              <a:buFont typeface="Arial" pitchFamily="34" charset="0"/>
              <a:buChar char="•"/>
            </a:pPr>
            <a:r>
              <a:rPr lang="en-US" sz="2800" spc="0" dirty="0" smtClean="0">
                <a:latin typeface="Arial"/>
                <a:cs typeface="Arial"/>
              </a:rPr>
              <a:t>  </a:t>
            </a:r>
            <a:r>
              <a:rPr sz="2800" spc="0" dirty="0" smtClean="0">
                <a:latin typeface="Arial"/>
                <a:cs typeface="Arial"/>
              </a:rPr>
              <a:t>Do</a:t>
            </a:r>
            <a:r>
              <a:rPr sz="2800" spc="9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s</a:t>
            </a:r>
            <a:r>
              <a:rPr sz="2800" spc="-65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n</a:t>
            </a:r>
            <a:r>
              <a:rPr sz="2800" spc="14" dirty="0" smtClean="0">
                <a:latin typeface="Arial"/>
                <a:cs typeface="Arial"/>
              </a:rPr>
              <a:t>o</a:t>
            </a:r>
            <a:r>
              <a:rPr sz="2800" spc="0" dirty="0" smtClean="0">
                <a:latin typeface="Arial"/>
                <a:cs typeface="Arial"/>
              </a:rPr>
              <a:t>t</a:t>
            </a:r>
            <a:r>
              <a:rPr sz="2800" spc="-38" dirty="0" smtClean="0">
                <a:latin typeface="Arial"/>
                <a:cs typeface="Arial"/>
              </a:rPr>
              <a:t> </a:t>
            </a:r>
            <a:r>
              <a:rPr sz="2800" spc="9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-39" dirty="0" smtClean="0">
                <a:latin typeface="Arial"/>
                <a:cs typeface="Arial"/>
              </a:rPr>
              <a:t>f</a:t>
            </a:r>
            <a:r>
              <a:rPr sz="2800" spc="0" dirty="0" smtClean="0">
                <a:latin typeface="Arial"/>
                <a:cs typeface="Arial"/>
              </a:rPr>
              <a:t>f</a:t>
            </a:r>
            <a:r>
              <a:rPr sz="2800" spc="9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r</a:t>
            </a:r>
            <a:r>
              <a:rPr sz="2800" spc="-62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si</a:t>
            </a:r>
            <a:r>
              <a:rPr sz="2800" spc="9" dirty="0" smtClean="0">
                <a:latin typeface="Arial"/>
                <a:cs typeface="Arial"/>
              </a:rPr>
              <a:t>g</a:t>
            </a:r>
            <a:r>
              <a:rPr sz="2800" spc="0" dirty="0" smtClean="0">
                <a:latin typeface="Arial"/>
                <a:cs typeface="Arial"/>
              </a:rPr>
              <a:t>n</a:t>
            </a:r>
            <a:r>
              <a:rPr sz="2800" spc="9" dirty="0" smtClean="0">
                <a:latin typeface="Arial"/>
                <a:cs typeface="Arial"/>
              </a:rPr>
              <a:t>i</a:t>
            </a:r>
            <a:r>
              <a:rPr sz="2800" spc="0" dirty="0" smtClean="0">
                <a:latin typeface="Arial"/>
                <a:cs typeface="Arial"/>
              </a:rPr>
              <a:t>fi</a:t>
            </a:r>
            <a:r>
              <a:rPr sz="2800" spc="9" dirty="0" smtClean="0">
                <a:latin typeface="Arial"/>
                <a:cs typeface="Arial"/>
              </a:rPr>
              <a:t>c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14" dirty="0" smtClean="0">
                <a:latin typeface="Arial"/>
                <a:cs typeface="Arial"/>
              </a:rPr>
              <a:t>n</a:t>
            </a:r>
            <a:r>
              <a:rPr sz="2800" spc="0" dirty="0" smtClean="0">
                <a:latin typeface="Arial"/>
                <a:cs typeface="Arial"/>
              </a:rPr>
              <a:t>tly</a:t>
            </a:r>
            <a:r>
              <a:rPr sz="2800" spc="-144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fr</a:t>
            </a:r>
            <a:r>
              <a:rPr sz="2800" spc="14" dirty="0" smtClean="0">
                <a:latin typeface="Arial"/>
                <a:cs typeface="Arial"/>
              </a:rPr>
              <a:t>o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-55" dirty="0" smtClean="0">
                <a:latin typeface="Arial"/>
                <a:cs typeface="Arial"/>
              </a:rPr>
              <a:t> </a:t>
            </a:r>
            <a:r>
              <a:rPr sz="2800" spc="9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n</a:t>
            </a:r>
            <a:r>
              <a:rPr sz="2800" spc="1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9" dirty="0" smtClean="0">
                <a:latin typeface="Arial"/>
                <a:cs typeface="Arial"/>
              </a:rPr>
              <a:t>o</a:t>
            </a:r>
            <a:r>
              <a:rPr sz="2800" spc="0" dirty="0" smtClean="0">
                <a:latin typeface="Arial"/>
                <a:cs typeface="Arial"/>
              </a:rPr>
              <a:t>g</a:t>
            </a:r>
            <a:r>
              <a:rPr sz="2800" spc="-64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s</a:t>
            </a:r>
            <a:r>
              <a:rPr sz="2800" spc="9" dirty="0" smtClean="0">
                <a:latin typeface="Arial"/>
                <a:cs typeface="Arial"/>
              </a:rPr>
              <a:t>y</a:t>
            </a:r>
            <a:r>
              <a:rPr sz="2800" spc="0" dirty="0" smtClean="0">
                <a:latin typeface="Arial"/>
                <a:cs typeface="Arial"/>
              </a:rPr>
              <a:t>s</a:t>
            </a:r>
            <a:r>
              <a:rPr sz="2800" spc="4" dirty="0" smtClean="0">
                <a:latin typeface="Arial"/>
                <a:cs typeface="Arial"/>
              </a:rPr>
              <a:t>t</a:t>
            </a:r>
            <a:r>
              <a:rPr sz="2800" spc="0" dirty="0" smtClean="0">
                <a:latin typeface="Arial"/>
                <a:cs typeface="Arial"/>
              </a:rPr>
              <a:t>em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med">
    <p:wedg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66800" y="2743200"/>
            <a:ext cx="12435840" cy="1371600"/>
          </a:xfrm>
        </p:spPr>
        <p:txBody>
          <a:bodyPr>
            <a:normAutofit/>
          </a:bodyPr>
          <a:lstStyle/>
          <a:p>
            <a:pPr algn="ctr"/>
            <a:r>
              <a:rPr lang="en-US" sz="6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THANK YOU</a:t>
            </a:r>
            <a:endParaRPr lang="en-US" sz="6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med">
    <p:wedg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606</TotalTime>
  <Words>703</Words>
  <Application>Microsoft Office PowerPoint</Application>
  <PresentationFormat>Custom</PresentationFormat>
  <Paragraphs>101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Equity</vt:lpstr>
      <vt:lpstr>PowerPoint Presentation</vt:lpstr>
      <vt:lpstr>OVERVIEW</vt:lpstr>
      <vt:lpstr>Frequency Division Multiple Access</vt:lpstr>
      <vt:lpstr>Frequency Division Multiple Access</vt:lpstr>
      <vt:lpstr>PowerPoint Presentation</vt:lpstr>
      <vt:lpstr>Features of FDMA</vt:lpstr>
      <vt:lpstr>Features of FDMA</vt:lpstr>
      <vt:lpstr>GUARD BANDS</vt:lpstr>
      <vt:lpstr>CHANNEL ASSIGNMENT</vt:lpstr>
      <vt:lpstr>FDMA compared to TDMA</vt:lpstr>
      <vt:lpstr>Nonlinear Effects in FDMA</vt:lpstr>
      <vt:lpstr>Nonlinear Effects in FDMA</vt:lpstr>
      <vt:lpstr>Nonlinear Effects in FDMA</vt:lpstr>
      <vt:lpstr>Number of channels in a FDMA system</vt:lpstr>
      <vt:lpstr>Example: Advanced Mobile Phone System</vt:lpstr>
      <vt:lpstr>ADVANTAGES</vt:lpstr>
      <vt:lpstr>DISADVANTAGES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SURYA</dc:creator>
  <cp:lastModifiedBy>ismail - [2010]</cp:lastModifiedBy>
  <cp:revision>73</cp:revision>
  <dcterms:modified xsi:type="dcterms:W3CDTF">2026-03-25T09:24:59Z</dcterms:modified>
</cp:coreProperties>
</file>