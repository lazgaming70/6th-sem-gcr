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Lst>
  <p:sldSz cx="12192000" cy="6858000"/>
  <p:notesSz cx="6858000" cy="9144000"/>
  <p:embeddedFontLst>
    <p:embeddedFont>
      <p:font typeface="Verdana" pitchFamily="34" charset="0"/>
      <p:regular r:id="rId18"/>
      <p:bold r:id="rId19"/>
      <p:italic r:id="rId20"/>
      <p:boldItalic r:id="rId21"/>
    </p:embeddedFont>
    <p:embeddedFont>
      <p:font typeface="Calibri" pitchFamily="34" charset="0"/>
      <p:regular r:id="rId22"/>
      <p:bold r:id="rId23"/>
      <p:italic r:id="rId24"/>
      <p:boldItalic r:id="rId25"/>
    </p:embeddedFont>
    <p:embeddedFont>
      <p:font typeface="Bell MT" pitchFamily="18"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636" y="2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77839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sp>
        <p:nvSpPr>
          <p:cNvPr id="118" name="Google Shape;118;p16"/>
          <p:cNvSpPr txBox="1"/>
          <p:nvPr/>
        </p:nvSpPr>
        <p:spPr>
          <a:xfrm>
            <a:off x="294339" y="101600"/>
            <a:ext cx="312713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Introduction</a:t>
            </a:r>
            <a:endParaRPr sz="4000" b="1">
              <a:solidFill>
                <a:schemeClr val="dk1"/>
              </a:solidFill>
              <a:latin typeface="Bell MT"/>
              <a:ea typeface="Bell MT"/>
              <a:cs typeface="Bell MT"/>
              <a:sym typeface="Bell MT"/>
            </a:endParaRPr>
          </a:p>
        </p:txBody>
      </p:sp>
      <p:sp>
        <p:nvSpPr>
          <p:cNvPr id="120" name="Google Shape;120;p16"/>
          <p:cNvSpPr txBox="1"/>
          <p:nvPr/>
        </p:nvSpPr>
        <p:spPr>
          <a:xfrm>
            <a:off x="122889" y="891847"/>
            <a:ext cx="11698572" cy="2041585"/>
          </a:xfrm>
          <a:prstGeom prst="rect">
            <a:avLst/>
          </a:prstGeom>
          <a:noFill/>
          <a:ln>
            <a:noFill/>
          </a:ln>
        </p:spPr>
        <p:txBody>
          <a:bodyPr spcFirstLastPara="1" wrap="square" lIns="91425" tIns="45700" rIns="91425" bIns="45700" anchor="t" anchorCtr="0">
            <a:spAutoFit/>
          </a:bodyPr>
          <a:lstStyle/>
          <a:p>
            <a:pPr marL="355600" marR="0" lvl="0" indent="-342900" algn="just" rtl="0">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Information Theory is a branch of probability theory which may be applied to the study  of the communication systems. </a:t>
            </a:r>
            <a:endParaRPr/>
          </a:p>
          <a:p>
            <a:pPr marL="355600" marR="0" lvl="0" indent="-342900" algn="just" rtl="0">
              <a:spcBef>
                <a:spcPts val="77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We will study digital communications – using a file (or network protocol) as the channel, Claude Shannon Published a paper in 1948 that was the beginning of the branch of information theory.</a:t>
            </a:r>
            <a:endParaRPr sz="2400">
              <a:solidFill>
                <a:schemeClr val="dk1"/>
              </a:solidFill>
              <a:latin typeface="Calibri"/>
              <a:ea typeface="Calibri"/>
              <a:cs typeface="Calibri"/>
              <a:sym typeface="Calibri"/>
            </a:endParaRPr>
          </a:p>
        </p:txBody>
      </p:sp>
      <p:pic>
        <p:nvPicPr>
          <p:cNvPr id="121" name="Google Shape;121;p16"/>
          <p:cNvPicPr preferRelativeResize="0"/>
          <p:nvPr/>
        </p:nvPicPr>
        <p:blipFill rotWithShape="1">
          <a:blip r:embed="rId3">
            <a:alphaModFix/>
          </a:blip>
          <a:srcRect/>
          <a:stretch/>
        </p:blipFill>
        <p:spPr>
          <a:xfrm>
            <a:off x="1866900" y="2899905"/>
            <a:ext cx="8115300" cy="3900487"/>
          </a:xfrm>
          <a:prstGeom prst="rect">
            <a:avLst/>
          </a:prstGeom>
          <a:noFill/>
          <a:ln>
            <a:noFill/>
          </a:ln>
        </p:spPr>
      </p:pic>
      <p:sp>
        <p:nvSpPr>
          <p:cNvPr id="122" name="Google Shape;122;p16"/>
          <p:cNvSpPr txBox="1"/>
          <p:nvPr/>
        </p:nvSpPr>
        <p:spPr>
          <a:xfrm>
            <a:off x="3559897" y="6396335"/>
            <a:ext cx="536287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a:solidFill>
                  <a:schemeClr val="dk1"/>
                </a:solidFill>
                <a:latin typeface="Calibri"/>
                <a:ea typeface="Calibri"/>
                <a:cs typeface="Calibri"/>
                <a:sym typeface="Calibri"/>
              </a:rPr>
              <a:t>Block Diagram of communication system</a:t>
            </a:r>
            <a:endParaRPr sz="2400">
              <a:solidFill>
                <a:schemeClr val="dk1"/>
              </a:solidFill>
              <a:latin typeface="Calibri"/>
              <a:ea typeface="Calibri"/>
              <a:cs typeface="Calibri"/>
              <a:sym typeface="Calibri"/>
            </a:endParaRPr>
          </a:p>
        </p:txBody>
      </p:sp>
      <p:sp>
        <p:nvSpPr>
          <p:cNvPr id="8" name="Google Shape;98;p14"/>
          <p:cNvSpPr/>
          <p:nvPr/>
        </p:nvSpPr>
        <p:spPr>
          <a:xfrm>
            <a:off x="10560496" y="91914"/>
            <a:ext cx="1113839" cy="951136"/>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4">
              <a:alphaModFix/>
            </a:blip>
            <a:stretch>
              <a:fillRect/>
            </a:stretch>
          </a:blipFill>
          <a:ln>
            <a:noFill/>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28" name="Google Shape;128;p17"/>
          <p:cNvSpPr txBox="1"/>
          <p:nvPr/>
        </p:nvSpPr>
        <p:spPr>
          <a:xfrm>
            <a:off x="221876" y="305155"/>
            <a:ext cx="312713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Introduction</a:t>
            </a:r>
            <a:endParaRPr sz="4000" b="1">
              <a:solidFill>
                <a:schemeClr val="dk1"/>
              </a:solidFill>
              <a:latin typeface="Bell MT"/>
              <a:ea typeface="Bell MT"/>
              <a:cs typeface="Bell MT"/>
              <a:sym typeface="Bell MT"/>
            </a:endParaRPr>
          </a:p>
        </p:txBody>
      </p:sp>
      <p:sp>
        <p:nvSpPr>
          <p:cNvPr id="130" name="Google Shape;130;p17"/>
          <p:cNvSpPr/>
          <p:nvPr/>
        </p:nvSpPr>
        <p:spPr>
          <a:xfrm>
            <a:off x="221876" y="1140711"/>
            <a:ext cx="11764723" cy="5037276"/>
          </a:xfrm>
          <a:prstGeom prst="rect">
            <a:avLst/>
          </a:prstGeom>
          <a:noFill/>
          <a:ln>
            <a:noFill/>
          </a:ln>
        </p:spPr>
        <p:txBody>
          <a:bodyPr spcFirstLastPara="1" wrap="square" lIns="91425" tIns="45700" rIns="91425" bIns="45700" anchor="t" anchorCtr="0">
            <a:noAutofit/>
          </a:bodyPr>
          <a:lstStyle/>
          <a:p>
            <a:pPr marL="355600" marR="0" lvl="0" indent="-342900" algn="just" rtl="0">
              <a:lnSpc>
                <a:spcPct val="150000"/>
              </a:lnSpc>
              <a:spcBef>
                <a:spcPts val="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It deals with the mathematical modelling and analysis  of a communication system rather than with the physical sources and physical  channels.</a:t>
            </a:r>
            <a:endParaRPr dirty="0"/>
          </a:p>
          <a:p>
            <a:pPr marL="355600" marR="0" lvl="0" indent="-342900" algn="just" rtl="0">
              <a:lnSpc>
                <a:spcPct val="150000"/>
              </a:lnSpc>
              <a:spcBef>
                <a:spcPts val="77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Two important elements presented in this theory are </a:t>
            </a:r>
            <a:endParaRPr b="1" dirty="0"/>
          </a:p>
          <a:p>
            <a:pPr marL="12700" marR="0" lvl="0" indent="0" algn="just" rtl="0">
              <a:lnSpc>
                <a:spcPct val="150000"/>
              </a:lnSpc>
              <a:spcBef>
                <a:spcPts val="770"/>
              </a:spcBef>
              <a:spcAft>
                <a:spcPts val="0"/>
              </a:spcAft>
              <a:buNone/>
            </a:pPr>
            <a:r>
              <a:rPr lang="en-IN" sz="2400" b="1" dirty="0">
                <a:solidFill>
                  <a:schemeClr val="dk1"/>
                </a:solidFill>
                <a:latin typeface="Calibri"/>
                <a:ea typeface="Calibri"/>
                <a:cs typeface="Calibri"/>
                <a:sym typeface="Calibri"/>
              </a:rPr>
              <a:t>	- Binary Source (BS) and Binary Symmetric Channel (BSC).</a:t>
            </a:r>
            <a:endParaRPr b="1" dirty="0"/>
          </a:p>
          <a:p>
            <a:pPr marL="355600" marR="0" lvl="0" indent="-342900" algn="just" rtl="0">
              <a:lnSpc>
                <a:spcPct val="150000"/>
              </a:lnSpc>
              <a:spcBef>
                <a:spcPts val="77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A binary source is a device that generates one of the two possible symbols </a:t>
            </a:r>
            <a:r>
              <a:rPr lang="en-IN" sz="2400" b="1" dirty="0">
                <a:solidFill>
                  <a:schemeClr val="dk1"/>
                </a:solidFill>
                <a:latin typeface="Calibri"/>
                <a:ea typeface="Calibri"/>
                <a:cs typeface="Calibri"/>
                <a:sym typeface="Calibri"/>
              </a:rPr>
              <a:t>‘0’ and ‘1’  </a:t>
            </a:r>
            <a:r>
              <a:rPr lang="en-IN" sz="2400" dirty="0">
                <a:solidFill>
                  <a:schemeClr val="dk1"/>
                </a:solidFill>
                <a:latin typeface="Calibri"/>
                <a:ea typeface="Calibri"/>
                <a:cs typeface="Calibri"/>
                <a:sym typeface="Calibri"/>
              </a:rPr>
              <a:t>at a given </a:t>
            </a:r>
            <a:r>
              <a:rPr lang="en-IN" sz="2400" b="1" dirty="0">
                <a:solidFill>
                  <a:schemeClr val="dk1"/>
                </a:solidFill>
                <a:latin typeface="Calibri"/>
                <a:ea typeface="Calibri"/>
                <a:cs typeface="Calibri"/>
                <a:sym typeface="Calibri"/>
              </a:rPr>
              <a:t>rate ‘r’, </a:t>
            </a:r>
            <a:r>
              <a:rPr lang="en-IN" sz="2400" dirty="0">
                <a:solidFill>
                  <a:schemeClr val="dk1"/>
                </a:solidFill>
                <a:latin typeface="Calibri"/>
                <a:ea typeface="Calibri"/>
                <a:cs typeface="Calibri"/>
                <a:sym typeface="Calibri"/>
              </a:rPr>
              <a:t>measured in </a:t>
            </a:r>
            <a:r>
              <a:rPr lang="en-IN" sz="2400" b="1" dirty="0">
                <a:solidFill>
                  <a:schemeClr val="dk1"/>
                </a:solidFill>
                <a:latin typeface="Calibri"/>
                <a:ea typeface="Calibri"/>
                <a:cs typeface="Calibri"/>
                <a:sym typeface="Calibri"/>
              </a:rPr>
              <a:t>symbols per second</a:t>
            </a:r>
            <a:r>
              <a:rPr lang="en-IN" sz="2400" dirty="0">
                <a:solidFill>
                  <a:schemeClr val="dk1"/>
                </a:solidFill>
                <a:latin typeface="Calibri"/>
                <a:ea typeface="Calibri"/>
                <a:cs typeface="Calibri"/>
                <a:sym typeface="Calibri"/>
              </a:rPr>
              <a:t>.</a:t>
            </a:r>
            <a:endParaRPr dirty="0"/>
          </a:p>
          <a:p>
            <a:pPr marL="355600" marR="0" lvl="0" indent="-342900" algn="just" rtl="0">
              <a:lnSpc>
                <a:spcPct val="150000"/>
              </a:lnSpc>
              <a:spcBef>
                <a:spcPts val="77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These symbols are called bits (binary digits) and are generated randomly.</a:t>
            </a:r>
            <a:endParaRPr sz="2400" dirty="0">
              <a:solidFill>
                <a:schemeClr val="dk1"/>
              </a:solidFill>
              <a:latin typeface="Calibri"/>
              <a:ea typeface="Calibri"/>
              <a:cs typeface="Calibri"/>
              <a:sym typeface="Calibri"/>
            </a:endParaRPr>
          </a:p>
          <a:p>
            <a:pPr marL="355600" marR="0" lvl="0" indent="-342900" algn="just" rtl="0">
              <a:lnSpc>
                <a:spcPct val="150000"/>
              </a:lnSpc>
              <a:spcBef>
                <a:spcPts val="77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The BSC is a medium through which it is possible to transmit one symbol per time  unit.</a:t>
            </a:r>
            <a:endParaRPr dirty="0"/>
          </a:p>
        </p:txBody>
      </p:sp>
      <p:sp>
        <p:nvSpPr>
          <p:cNvPr id="6" name="Google Shape;98;p14"/>
          <p:cNvSpPr/>
          <p:nvPr/>
        </p:nvSpPr>
        <p:spPr>
          <a:xfrm>
            <a:off x="10282329" y="57314"/>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36" name="Google Shape;136;p18"/>
          <p:cNvSpPr txBox="1"/>
          <p:nvPr/>
        </p:nvSpPr>
        <p:spPr>
          <a:xfrm>
            <a:off x="221876" y="270122"/>
            <a:ext cx="312713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Introduction</a:t>
            </a:r>
            <a:endParaRPr sz="4000" b="1">
              <a:solidFill>
                <a:schemeClr val="dk1"/>
              </a:solidFill>
              <a:latin typeface="Bell MT"/>
              <a:ea typeface="Bell MT"/>
              <a:cs typeface="Bell MT"/>
              <a:sym typeface="Bell MT"/>
            </a:endParaRPr>
          </a:p>
        </p:txBody>
      </p:sp>
      <p:sp>
        <p:nvSpPr>
          <p:cNvPr id="138" name="Google Shape;138;p18"/>
          <p:cNvSpPr txBox="1"/>
          <p:nvPr/>
        </p:nvSpPr>
        <p:spPr>
          <a:xfrm>
            <a:off x="348848" y="1212661"/>
            <a:ext cx="11671089" cy="4909036"/>
          </a:xfrm>
          <a:prstGeom prst="rect">
            <a:avLst/>
          </a:prstGeom>
          <a:noFill/>
          <a:ln>
            <a:noFill/>
          </a:ln>
        </p:spPr>
        <p:txBody>
          <a:bodyPr spcFirstLastPara="1" wrap="square" lIns="91425" tIns="45700" rIns="91425" bIns="45700" anchor="t" anchorCtr="0">
            <a:spAutoFit/>
          </a:bodyPr>
          <a:lstStyle/>
          <a:p>
            <a:pPr marL="355600" marR="508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Information theory tries to analyse communication between a transmitter and a receiver  through an unreliable channel.</a:t>
            </a:r>
            <a:endParaRPr/>
          </a:p>
          <a:p>
            <a:pPr marL="355600" marR="5080"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Times New Roman"/>
                <a:ea typeface="Times New Roman"/>
                <a:cs typeface="Times New Roman"/>
                <a:sym typeface="Times New Roman"/>
              </a:rPr>
              <a:t>This approach analyse the amount of information produced by the source.</a:t>
            </a:r>
            <a:endParaRPr/>
          </a:p>
          <a:p>
            <a:pPr marL="355600" marR="5080"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source information measure, the channel capacity measure and the coding are all  related by one of the Shannon theorems stated as:</a:t>
            </a:r>
            <a:endParaRPr/>
          </a:p>
          <a:p>
            <a:pPr marL="355600" marR="5080"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t>
            </a:r>
            <a:r>
              <a:rPr lang="en-IN" sz="2400" b="1">
                <a:solidFill>
                  <a:srgbClr val="FF0000"/>
                </a:solidFill>
                <a:latin typeface="Calibri"/>
                <a:ea typeface="Calibri"/>
                <a:cs typeface="Calibri"/>
                <a:sym typeface="Calibri"/>
              </a:rPr>
              <a:t>If the information rate of a given source does not exceed the capacity of a given  channel then there exists a coding technique that makes possible transmission through  this unreliable channel with an arbitrarily low error rate</a:t>
            </a:r>
            <a:r>
              <a:rPr lang="en-IN"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44" name="Google Shape;144;p19"/>
          <p:cNvSpPr txBox="1"/>
          <p:nvPr/>
        </p:nvSpPr>
        <p:spPr>
          <a:xfrm>
            <a:off x="136151" y="455518"/>
            <a:ext cx="496193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What is information?</a:t>
            </a:r>
            <a:endParaRPr sz="4000" b="1">
              <a:solidFill>
                <a:schemeClr val="dk1"/>
              </a:solidFill>
              <a:latin typeface="Bell MT"/>
              <a:ea typeface="Bell MT"/>
              <a:cs typeface="Bell MT"/>
              <a:sym typeface="Bell MT"/>
            </a:endParaRPr>
          </a:p>
        </p:txBody>
      </p:sp>
      <p:sp>
        <p:nvSpPr>
          <p:cNvPr id="146" name="Google Shape;146;p19"/>
          <p:cNvSpPr txBox="1"/>
          <p:nvPr/>
        </p:nvSpPr>
        <p:spPr>
          <a:xfrm>
            <a:off x="328613" y="1187012"/>
            <a:ext cx="6643687" cy="4828025"/>
          </a:xfrm>
          <a:prstGeom prst="rect">
            <a:avLst/>
          </a:prstGeom>
          <a:noFill/>
          <a:ln>
            <a:noFill/>
          </a:ln>
        </p:spPr>
        <p:txBody>
          <a:bodyPr spcFirstLastPara="1" wrap="square" lIns="91425" tIns="45700" rIns="91425" bIns="45700" anchor="t" anchorCtr="0">
            <a:spAutoFit/>
          </a:bodyPr>
          <a:lstStyle/>
          <a:p>
            <a:pPr marL="3556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Times New Roman"/>
                <a:ea typeface="Times New Roman"/>
                <a:cs typeface="Times New Roman"/>
                <a:sym typeface="Times New Roman"/>
              </a:rPr>
              <a:t>Information of an event depends only on its probability of occurrence and is not dependent on its content.</a:t>
            </a:r>
            <a:endParaRPr/>
          </a:p>
          <a:p>
            <a:pPr marL="355600" marR="5715"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Times New Roman"/>
                <a:ea typeface="Times New Roman"/>
                <a:cs typeface="Times New Roman"/>
                <a:sym typeface="Times New Roman"/>
              </a:rPr>
              <a:t>The randomness of happening of an event and the probability of its prediction as a  news is known as information.</a:t>
            </a:r>
            <a:endParaRPr sz="2400">
              <a:solidFill>
                <a:schemeClr val="dk1"/>
              </a:solidFill>
              <a:latin typeface="Times New Roman"/>
              <a:ea typeface="Times New Roman"/>
              <a:cs typeface="Times New Roman"/>
              <a:sym typeface="Times New Roman"/>
            </a:endParaRPr>
          </a:p>
          <a:p>
            <a:pPr marL="355600" marR="0" lvl="0" indent="-342900" algn="just" rtl="0">
              <a:lnSpc>
                <a:spcPct val="150000"/>
              </a:lnSpc>
              <a:spcBef>
                <a:spcPts val="1005"/>
              </a:spcBef>
              <a:spcAft>
                <a:spcPts val="0"/>
              </a:spcAft>
              <a:buClr>
                <a:schemeClr val="dk1"/>
              </a:buClr>
              <a:buSzPts val="2400"/>
              <a:buFont typeface="Arial"/>
              <a:buChar char="•"/>
            </a:pPr>
            <a:r>
              <a:rPr lang="en-IN" sz="2400">
                <a:solidFill>
                  <a:schemeClr val="dk1"/>
                </a:solidFill>
                <a:latin typeface="Times New Roman"/>
                <a:ea typeface="Times New Roman"/>
                <a:cs typeface="Times New Roman"/>
                <a:sym typeface="Times New Roman"/>
              </a:rPr>
              <a:t>The	message associated with the least likelihood event contains the maximum information.</a:t>
            </a:r>
            <a:endParaRPr sz="2400">
              <a:solidFill>
                <a:schemeClr val="dk1"/>
              </a:solidFill>
              <a:latin typeface="Times New Roman"/>
              <a:ea typeface="Times New Roman"/>
              <a:cs typeface="Times New Roman"/>
              <a:sym typeface="Times New Roman"/>
            </a:endParaRPr>
          </a:p>
        </p:txBody>
      </p:sp>
      <p:pic>
        <p:nvPicPr>
          <p:cNvPr id="147" name="Google Shape;147;p19"/>
          <p:cNvPicPr preferRelativeResize="0"/>
          <p:nvPr/>
        </p:nvPicPr>
        <p:blipFill rotWithShape="1">
          <a:blip r:embed="rId3">
            <a:alphaModFix/>
          </a:blip>
          <a:srcRect/>
          <a:stretch/>
        </p:blipFill>
        <p:spPr>
          <a:xfrm>
            <a:off x="7186613" y="1376731"/>
            <a:ext cx="4486275" cy="4832143"/>
          </a:xfrm>
          <a:prstGeom prst="rect">
            <a:avLst/>
          </a:prstGeom>
          <a:noFill/>
          <a:ln>
            <a:noFill/>
          </a:ln>
        </p:spPr>
      </p:pic>
      <p:sp>
        <p:nvSpPr>
          <p:cNvPr id="7"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4">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54" name="Google Shape;154;p20"/>
          <p:cNvSpPr txBox="1"/>
          <p:nvPr/>
        </p:nvSpPr>
        <p:spPr>
          <a:xfrm>
            <a:off x="368223" y="470805"/>
            <a:ext cx="539051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Axioms of Information</a:t>
            </a:r>
            <a:endParaRPr sz="4000" b="1">
              <a:solidFill>
                <a:schemeClr val="dk1"/>
              </a:solidFill>
              <a:latin typeface="Bell MT"/>
              <a:ea typeface="Bell MT"/>
              <a:cs typeface="Bell MT"/>
              <a:sym typeface="Bell MT"/>
            </a:endParaRPr>
          </a:p>
        </p:txBody>
      </p:sp>
      <p:sp>
        <p:nvSpPr>
          <p:cNvPr id="156" name="Google Shape;156;p20"/>
          <p:cNvSpPr txBox="1"/>
          <p:nvPr/>
        </p:nvSpPr>
        <p:spPr>
          <a:xfrm>
            <a:off x="368223" y="1379373"/>
            <a:ext cx="11498975" cy="4575612"/>
          </a:xfrm>
          <a:prstGeom prst="rect">
            <a:avLst/>
          </a:prstGeom>
          <a:noFill/>
          <a:ln>
            <a:noFill/>
          </a:ln>
        </p:spPr>
        <p:txBody>
          <a:bodyPr spcFirstLastPara="1" wrap="square" lIns="91425" tIns="45700" rIns="91425" bIns="45700" anchor="t" anchorCtr="0">
            <a:spAutoFit/>
          </a:bodyPr>
          <a:lstStyle/>
          <a:p>
            <a:pPr marL="3556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Information is a non-negative quantity: </a:t>
            </a:r>
            <a:r>
              <a:rPr lang="en-IN" sz="2400" b="1">
                <a:solidFill>
                  <a:schemeClr val="dk1"/>
                </a:solidFill>
                <a:latin typeface="Calibri"/>
                <a:ea typeface="Calibri"/>
                <a:cs typeface="Calibri"/>
                <a:sym typeface="Calibri"/>
              </a:rPr>
              <a:t>I (p) ≥ 0.</a:t>
            </a:r>
            <a:endParaRPr/>
          </a:p>
          <a:p>
            <a:pPr marL="355600" marR="0" lvl="0" indent="-342900" algn="just" rtl="0">
              <a:lnSpc>
                <a:spcPct val="150000"/>
              </a:lnSpc>
              <a:spcBef>
                <a:spcPts val="10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an	 event has probability	1,we get no information from the  occurrence of the event: </a:t>
            </a:r>
            <a:endParaRPr sz="2400">
              <a:solidFill>
                <a:schemeClr val="dk1"/>
              </a:solidFill>
              <a:latin typeface="Calibri"/>
              <a:ea typeface="Calibri"/>
              <a:cs typeface="Calibri"/>
              <a:sym typeface="Calibri"/>
            </a:endParaRPr>
          </a:p>
          <a:p>
            <a:pPr marL="12700" marR="0" lvl="0" indent="0" algn="just" rtl="0">
              <a:lnSpc>
                <a:spcPct val="150000"/>
              </a:lnSpc>
              <a:spcBef>
                <a:spcPts val="100"/>
              </a:spcBef>
              <a:spcAft>
                <a:spcPts val="0"/>
              </a:spcAft>
              <a:buNone/>
            </a:pPr>
            <a:r>
              <a:rPr lang="en-IN" sz="2400" b="1">
                <a:solidFill>
                  <a:schemeClr val="dk1"/>
                </a:solidFill>
                <a:latin typeface="Calibri"/>
                <a:ea typeface="Calibri"/>
                <a:cs typeface="Calibri"/>
                <a:sym typeface="Calibri"/>
              </a:rPr>
              <a:t>     I (1) = 0</a:t>
            </a:r>
            <a:r>
              <a:rPr lang="en-IN" sz="2400">
                <a:solidFill>
                  <a:schemeClr val="dk1"/>
                </a:solidFill>
                <a:latin typeface="Calibri"/>
                <a:ea typeface="Calibri"/>
                <a:cs typeface="Calibri"/>
                <a:sym typeface="Calibri"/>
              </a:rPr>
              <a:t>.</a:t>
            </a:r>
            <a:endParaRPr/>
          </a:p>
          <a:p>
            <a:pPr marL="355600" marR="0" lvl="0" indent="-342900" algn="just" rtl="0">
              <a:lnSpc>
                <a:spcPct val="150000"/>
              </a:lnSpc>
              <a:spcBef>
                <a:spcPts val="10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two independent events occur (whose joint probability is the product  of their individual probabilities). </a:t>
            </a:r>
            <a:endParaRPr/>
          </a:p>
          <a:p>
            <a:pPr marL="355600" marR="0" lvl="0" indent="-342900" algn="just" rtl="0">
              <a:lnSpc>
                <a:spcPct val="150000"/>
              </a:lnSpc>
              <a:spcBef>
                <a:spcPts val="10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Then the information we get from  observing the events is the sum of the two information: </a:t>
            </a:r>
            <a:r>
              <a:rPr lang="en-IN" sz="2400" b="1">
                <a:solidFill>
                  <a:schemeClr val="dk1"/>
                </a:solidFill>
                <a:latin typeface="Calibri"/>
                <a:ea typeface="Calibri"/>
                <a:cs typeface="Calibri"/>
                <a:sym typeface="Calibri"/>
              </a:rPr>
              <a:t>I (p</a:t>
            </a:r>
            <a:r>
              <a:rPr lang="en-IN" sz="2400" b="1" baseline="-25000">
                <a:solidFill>
                  <a:schemeClr val="dk1"/>
                </a:solidFill>
                <a:latin typeface="Calibri"/>
                <a:ea typeface="Calibri"/>
                <a:cs typeface="Calibri"/>
                <a:sym typeface="Calibri"/>
              </a:rPr>
              <a:t>1</a:t>
            </a:r>
            <a:r>
              <a:rPr lang="en-IN" sz="2400" b="1">
                <a:solidFill>
                  <a:schemeClr val="dk1"/>
                </a:solidFill>
                <a:latin typeface="Calibri"/>
                <a:ea typeface="Calibri"/>
                <a:cs typeface="Calibri"/>
                <a:sym typeface="Calibri"/>
              </a:rPr>
              <a:t>* p</a:t>
            </a:r>
            <a:r>
              <a:rPr lang="en-IN" sz="2400" b="1" baseline="-25000">
                <a:solidFill>
                  <a:schemeClr val="dk1"/>
                </a:solidFill>
                <a:latin typeface="Calibri"/>
                <a:ea typeface="Calibri"/>
                <a:cs typeface="Calibri"/>
                <a:sym typeface="Calibri"/>
              </a:rPr>
              <a:t>2</a:t>
            </a:r>
            <a:r>
              <a:rPr lang="en-IN" sz="2400" b="1">
                <a:solidFill>
                  <a:schemeClr val="dk1"/>
                </a:solidFill>
                <a:latin typeface="Calibri"/>
                <a:ea typeface="Calibri"/>
                <a:cs typeface="Calibri"/>
                <a:sym typeface="Calibri"/>
              </a:rPr>
              <a:t>) = I  (p</a:t>
            </a:r>
            <a:r>
              <a:rPr lang="en-IN" sz="2400" b="1" baseline="-25000">
                <a:solidFill>
                  <a:schemeClr val="dk1"/>
                </a:solidFill>
                <a:latin typeface="Calibri"/>
                <a:ea typeface="Calibri"/>
                <a:cs typeface="Calibri"/>
                <a:sym typeface="Calibri"/>
              </a:rPr>
              <a:t>1</a:t>
            </a:r>
            <a:r>
              <a:rPr lang="en-IN" sz="2400" b="1">
                <a:solidFill>
                  <a:schemeClr val="dk1"/>
                </a:solidFill>
                <a:latin typeface="Calibri"/>
                <a:ea typeface="Calibri"/>
                <a:cs typeface="Calibri"/>
                <a:sym typeface="Calibri"/>
              </a:rPr>
              <a:t>) + I (p</a:t>
            </a:r>
            <a:r>
              <a:rPr lang="en-IN" sz="2400" b="1" baseline="-25000">
                <a:solidFill>
                  <a:schemeClr val="dk1"/>
                </a:solidFill>
                <a:latin typeface="Calibri"/>
                <a:ea typeface="Calibri"/>
                <a:cs typeface="Calibri"/>
                <a:sym typeface="Calibri"/>
              </a:rPr>
              <a:t>2</a:t>
            </a:r>
            <a:r>
              <a:rPr lang="en-IN" sz="2400" b="1">
                <a:solidFill>
                  <a:schemeClr val="dk1"/>
                </a:solidFill>
                <a:latin typeface="Calibri"/>
                <a:ea typeface="Calibri"/>
                <a:cs typeface="Calibri"/>
                <a:sym typeface="Calibri"/>
              </a:rPr>
              <a:t>)</a:t>
            </a:r>
            <a:r>
              <a:rPr lang="en-IN" sz="2400">
                <a:solidFill>
                  <a:schemeClr val="dk1"/>
                </a:solidFill>
                <a:latin typeface="Calibri"/>
                <a:ea typeface="Calibri"/>
                <a:cs typeface="Calibri"/>
                <a:sym typeface="Calibri"/>
              </a:rPr>
              <a:t>.</a:t>
            </a:r>
            <a:endParaRPr sz="2400" b="1">
              <a:solidFill>
                <a:schemeClr val="dk1"/>
              </a:solidFill>
              <a:latin typeface="Calibri"/>
              <a:ea typeface="Calibri"/>
              <a:cs typeface="Calibri"/>
              <a:sym typeface="Calibri"/>
            </a:endParaRPr>
          </a:p>
          <a:p>
            <a:pPr marL="355600" marR="0" lvl="0" indent="-342900" algn="just" rtl="0">
              <a:lnSpc>
                <a:spcPct val="150000"/>
              </a:lnSpc>
              <a:spcBef>
                <a:spcPts val="100"/>
              </a:spcBef>
              <a:spcAft>
                <a:spcPts val="0"/>
              </a:spcAft>
              <a:buClr>
                <a:schemeClr val="dk1"/>
              </a:buClr>
              <a:buSzPts val="2400"/>
              <a:buFont typeface="Arial"/>
              <a:buChar char="•"/>
            </a:pPr>
            <a:r>
              <a:rPr lang="en-IN" sz="2400" b="1">
                <a:solidFill>
                  <a:schemeClr val="dk1"/>
                </a:solidFill>
                <a:latin typeface="Calibri"/>
                <a:ea typeface="Calibri"/>
                <a:cs typeface="Calibri"/>
                <a:sym typeface="Calibri"/>
              </a:rPr>
              <a:t>I (p) </a:t>
            </a:r>
            <a:r>
              <a:rPr lang="en-IN" sz="2400">
                <a:solidFill>
                  <a:schemeClr val="dk1"/>
                </a:solidFill>
                <a:latin typeface="Calibri"/>
                <a:ea typeface="Calibri"/>
                <a:cs typeface="Calibri"/>
                <a:sym typeface="Calibri"/>
              </a:rPr>
              <a:t>is monotonic and continuous in p.</a:t>
            </a:r>
            <a:endParaRPr sz="2400">
              <a:solidFill>
                <a:schemeClr val="dk1"/>
              </a:solidFill>
              <a:latin typeface="Times New Roman"/>
              <a:ea typeface="Times New Roman"/>
              <a:cs typeface="Times New Roman"/>
              <a:sym typeface="Times New Roman"/>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2" name="Google Shape;162;p21"/>
          <p:cNvSpPr txBox="1"/>
          <p:nvPr/>
        </p:nvSpPr>
        <p:spPr>
          <a:xfrm>
            <a:off x="181590" y="481793"/>
            <a:ext cx="4656083"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Information Source</a:t>
            </a:r>
            <a:endParaRPr sz="4000" b="1">
              <a:solidFill>
                <a:schemeClr val="dk1"/>
              </a:solidFill>
              <a:latin typeface="Bell MT"/>
              <a:ea typeface="Bell MT"/>
              <a:cs typeface="Bell MT"/>
              <a:sym typeface="Bell MT"/>
            </a:endParaRPr>
          </a:p>
        </p:txBody>
      </p:sp>
      <p:sp>
        <p:nvSpPr>
          <p:cNvPr id="164" name="Google Shape;164;p21"/>
          <p:cNvSpPr txBox="1"/>
          <p:nvPr/>
        </p:nvSpPr>
        <p:spPr>
          <a:xfrm>
            <a:off x="488240" y="1187466"/>
            <a:ext cx="5943040" cy="5219378"/>
          </a:xfrm>
          <a:prstGeom prst="rect">
            <a:avLst/>
          </a:prstGeom>
          <a:noFill/>
          <a:ln>
            <a:noFill/>
          </a:ln>
        </p:spPr>
        <p:txBody>
          <a:bodyPr spcFirstLastPara="1" wrap="square" lIns="91425" tIns="45700" rIns="91425" bIns="45700" anchor="t" anchorCtr="0">
            <a:spAutoFit/>
          </a:bodyPr>
          <a:lstStyle/>
          <a:p>
            <a:pPr marL="3556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An information source may be viewed as an object which produces an event.</a:t>
            </a:r>
            <a:endParaRPr/>
          </a:p>
          <a:p>
            <a:pPr marL="355600" marR="0" lvl="0" indent="-342900" algn="just" rtl="0">
              <a:lnSpc>
                <a:spcPct val="150000"/>
              </a:lnSpc>
              <a:spcBef>
                <a:spcPts val="105"/>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outcome of which is selected at random according to a probability distribution.</a:t>
            </a:r>
            <a:endParaRPr sz="2400">
              <a:solidFill>
                <a:schemeClr val="dk1"/>
              </a:solidFill>
              <a:latin typeface="Calibri"/>
              <a:ea typeface="Calibri"/>
              <a:cs typeface="Calibri"/>
              <a:sym typeface="Calibri"/>
            </a:endParaRPr>
          </a:p>
          <a:p>
            <a:pPr marL="355600" marR="6985" lvl="0" indent="-342900" algn="just" rtl="0">
              <a:lnSpc>
                <a:spcPct val="150000"/>
              </a:lnSpc>
              <a:spcBef>
                <a:spcPts val="100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set of source symbols is called the source alphabet and the elements of the set are  called symbols or letters.</a:t>
            </a:r>
            <a:endParaRPr/>
          </a:p>
          <a:p>
            <a:pPr marL="342900" marR="0" lvl="0" indent="-190500" algn="l" rtl="0">
              <a:lnSpc>
                <a:spcPct val="150000"/>
              </a:lnSpc>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pic>
        <p:nvPicPr>
          <p:cNvPr id="165" name="Google Shape;165;p21"/>
          <p:cNvPicPr preferRelativeResize="0"/>
          <p:nvPr/>
        </p:nvPicPr>
        <p:blipFill rotWithShape="1">
          <a:blip r:embed="rId3">
            <a:alphaModFix/>
          </a:blip>
          <a:srcRect/>
          <a:stretch/>
        </p:blipFill>
        <p:spPr>
          <a:xfrm>
            <a:off x="6934200" y="1312599"/>
            <a:ext cx="4602479" cy="4191000"/>
          </a:xfrm>
          <a:prstGeom prst="rect">
            <a:avLst/>
          </a:prstGeom>
          <a:noFill/>
          <a:ln>
            <a:noFill/>
          </a:ln>
        </p:spPr>
      </p:pic>
      <p:sp>
        <p:nvSpPr>
          <p:cNvPr id="7" name="Google Shape;98;p14"/>
          <p:cNvSpPr/>
          <p:nvPr/>
        </p:nvSpPr>
        <p:spPr>
          <a:xfrm>
            <a:off x="10416480" y="97242"/>
            <a:ext cx="1185847" cy="1090224"/>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4">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1" name="Google Shape;171;p22"/>
          <p:cNvSpPr txBox="1"/>
          <p:nvPr/>
        </p:nvSpPr>
        <p:spPr>
          <a:xfrm>
            <a:off x="349230" y="390091"/>
            <a:ext cx="4656083"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Information Source</a:t>
            </a:r>
            <a:endParaRPr sz="4000" b="1">
              <a:solidFill>
                <a:schemeClr val="dk1"/>
              </a:solidFill>
              <a:latin typeface="Bell MT"/>
              <a:ea typeface="Bell MT"/>
              <a:cs typeface="Bell MT"/>
              <a:sym typeface="Bell MT"/>
            </a:endParaRPr>
          </a:p>
        </p:txBody>
      </p:sp>
      <p:sp>
        <p:nvSpPr>
          <p:cNvPr id="173" name="Google Shape;173;p22"/>
          <p:cNvSpPr txBox="1"/>
          <p:nvPr/>
        </p:nvSpPr>
        <p:spPr>
          <a:xfrm>
            <a:off x="488239" y="1187466"/>
            <a:ext cx="11292281" cy="5221942"/>
          </a:xfrm>
          <a:prstGeom prst="rect">
            <a:avLst/>
          </a:prstGeom>
          <a:noFill/>
          <a:ln>
            <a:noFill/>
          </a:ln>
        </p:spPr>
        <p:txBody>
          <a:bodyPr spcFirstLastPara="1" wrap="square" lIns="91425" tIns="45700" rIns="91425" bIns="45700" anchor="t" anchorCtr="0">
            <a:spAutoFit/>
          </a:bodyPr>
          <a:lstStyle/>
          <a:p>
            <a:pPr marL="355600" marR="0" lvl="0" indent="-342900" algn="just" rtl="0">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Information source can be classified as </a:t>
            </a:r>
            <a:endParaRPr/>
          </a:p>
          <a:p>
            <a:pPr marL="12700" marR="0" lvl="0" indent="0" algn="just" rtl="0">
              <a:spcBef>
                <a:spcPts val="1005"/>
              </a:spcBef>
              <a:spcAft>
                <a:spcPts val="0"/>
              </a:spcAft>
              <a:buNone/>
            </a:pPr>
            <a:r>
              <a:rPr lang="en-IN" sz="2400">
                <a:solidFill>
                  <a:schemeClr val="dk1"/>
                </a:solidFill>
                <a:latin typeface="Calibri"/>
                <a:ea typeface="Calibri"/>
                <a:cs typeface="Calibri"/>
                <a:sym typeface="Calibri"/>
              </a:rPr>
              <a:t>			- Memory &amp; Memoryless.</a:t>
            </a:r>
            <a:endParaRPr sz="2400">
              <a:solidFill>
                <a:schemeClr val="dk1"/>
              </a:solidFill>
              <a:latin typeface="Calibri"/>
              <a:ea typeface="Calibri"/>
              <a:cs typeface="Calibri"/>
              <a:sym typeface="Calibri"/>
            </a:endParaRPr>
          </a:p>
          <a:p>
            <a:pPr marL="355600" marR="7620" lvl="0" indent="-342900" algn="just" rtl="0">
              <a:lnSpc>
                <a:spcPct val="150000"/>
              </a:lnSpc>
              <a:spcBef>
                <a:spcPts val="100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source with memory is one for which a current symbol depends on the previous  symbols.</a:t>
            </a:r>
            <a:endParaRPr sz="2400">
              <a:solidFill>
                <a:schemeClr val="dk1"/>
              </a:solidFill>
              <a:latin typeface="Calibri"/>
              <a:ea typeface="Calibri"/>
              <a:cs typeface="Calibri"/>
              <a:sym typeface="Calibri"/>
            </a:endParaRPr>
          </a:p>
          <a:p>
            <a:pPr marL="355600" marR="0"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memoryless source is one for which each symbol produced is independent of the</a:t>
            </a:r>
            <a:endParaRPr sz="2400">
              <a:solidFill>
                <a:schemeClr val="dk1"/>
              </a:solidFill>
              <a:latin typeface="Calibri"/>
              <a:ea typeface="Calibri"/>
              <a:cs typeface="Calibri"/>
              <a:sym typeface="Calibri"/>
            </a:endParaRPr>
          </a:p>
          <a:p>
            <a:pPr marL="355600" marR="0" lvl="0" indent="0" algn="just" rtl="0">
              <a:lnSpc>
                <a:spcPct val="150000"/>
              </a:lnSpc>
              <a:spcBef>
                <a:spcPts val="0"/>
              </a:spcBef>
              <a:spcAft>
                <a:spcPts val="0"/>
              </a:spcAft>
              <a:buNone/>
            </a:pPr>
            <a:r>
              <a:rPr lang="en-IN" sz="2400">
                <a:solidFill>
                  <a:schemeClr val="dk1"/>
                </a:solidFill>
                <a:latin typeface="Calibri"/>
                <a:ea typeface="Calibri"/>
                <a:cs typeface="Calibri"/>
                <a:sym typeface="Calibri"/>
              </a:rPr>
              <a:t>previous symbols.</a:t>
            </a:r>
            <a:endParaRPr sz="2400">
              <a:solidFill>
                <a:schemeClr val="dk1"/>
              </a:solidFill>
              <a:latin typeface="Calibri"/>
              <a:ea typeface="Calibri"/>
              <a:cs typeface="Calibri"/>
              <a:sym typeface="Calibri"/>
            </a:endParaRPr>
          </a:p>
          <a:p>
            <a:pPr marL="355600" marR="5080" lvl="0" indent="-342900" algn="just" rtl="0">
              <a:lnSpc>
                <a:spcPct val="150000"/>
              </a:lnSpc>
              <a:spcBef>
                <a:spcPts val="101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discrete memoryless source (DMS) can be characterized by the list of the symbol, the  probability assignment of these symbols and the specification of the rate of generating  these symbols by the source.</a:t>
            </a:r>
            <a:endParaRPr sz="2400">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79" name="Google Shape;179;p23"/>
          <p:cNvSpPr txBox="1"/>
          <p:nvPr/>
        </p:nvSpPr>
        <p:spPr>
          <a:xfrm>
            <a:off x="182880" y="465191"/>
            <a:ext cx="7170489"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Information Content of a DMS</a:t>
            </a:r>
            <a:endParaRPr sz="4000" b="1">
              <a:solidFill>
                <a:schemeClr val="dk1"/>
              </a:solidFill>
              <a:latin typeface="Bell MT"/>
              <a:ea typeface="Bell MT"/>
              <a:cs typeface="Bell MT"/>
              <a:sym typeface="Bell MT"/>
            </a:endParaRPr>
          </a:p>
        </p:txBody>
      </p:sp>
      <p:sp>
        <p:nvSpPr>
          <p:cNvPr id="181" name="Google Shape;181;p23"/>
          <p:cNvSpPr txBox="1"/>
          <p:nvPr/>
        </p:nvSpPr>
        <p:spPr>
          <a:xfrm>
            <a:off x="450596" y="1460969"/>
            <a:ext cx="10903204" cy="3295774"/>
          </a:xfrm>
          <a:prstGeom prst="rect">
            <a:avLst/>
          </a:prstGeom>
          <a:noFill/>
          <a:ln>
            <a:noFill/>
          </a:ln>
        </p:spPr>
        <p:txBody>
          <a:bodyPr spcFirstLastPara="1" wrap="square" lIns="0" tIns="139700" rIns="0" bIns="0" anchor="t" anchorCtr="0">
            <a:spAutoFit/>
          </a:bodyPr>
          <a:lstStyle/>
          <a:p>
            <a:pPr marL="355600" marR="0" lvl="0" indent="-342900" algn="l"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amount of information contained in an event is closely related to its uncertainty.</a:t>
            </a:r>
            <a:endParaRPr/>
          </a:p>
          <a:p>
            <a:pPr marL="355600" marR="5080" lvl="0" indent="-342900" algn="l" rtl="0">
              <a:lnSpc>
                <a:spcPct val="150000"/>
              </a:lnSpc>
              <a:spcBef>
                <a:spcPts val="994"/>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mathematical measure of information should be a function of the probability of the  outcome and should satisfy the following axioms:</a:t>
            </a:r>
            <a:endParaRPr sz="2400">
              <a:solidFill>
                <a:schemeClr val="dk1"/>
              </a:solidFill>
              <a:latin typeface="Calibri"/>
              <a:ea typeface="Calibri"/>
              <a:cs typeface="Calibri"/>
              <a:sym typeface="Calibri"/>
            </a:endParaRPr>
          </a:p>
          <a:p>
            <a:pPr marL="12700" marR="5080" lvl="0" indent="0" algn="l" rtl="0">
              <a:lnSpc>
                <a:spcPct val="150000"/>
              </a:lnSpc>
              <a:spcBef>
                <a:spcPts val="994"/>
              </a:spcBef>
              <a:spcAft>
                <a:spcPts val="0"/>
              </a:spcAft>
              <a:buNone/>
            </a:pPr>
            <a:r>
              <a:rPr lang="en-IN" sz="2400">
                <a:solidFill>
                  <a:schemeClr val="dk1"/>
                </a:solidFill>
                <a:latin typeface="Calibri"/>
                <a:ea typeface="Calibri"/>
                <a:cs typeface="Calibri"/>
                <a:sym typeface="Calibri"/>
              </a:rPr>
              <a:t>		- Information should be proportional to the uncertainty of an outcome</a:t>
            </a:r>
            <a:endParaRPr/>
          </a:p>
          <a:p>
            <a:pPr marL="12700" marR="0" lvl="0" indent="0" algn="l" rtl="0">
              <a:lnSpc>
                <a:spcPct val="150000"/>
              </a:lnSpc>
              <a:spcBef>
                <a:spcPts val="1000"/>
              </a:spcBef>
              <a:spcAft>
                <a:spcPts val="0"/>
              </a:spcAft>
              <a:buNone/>
            </a:pPr>
            <a:r>
              <a:rPr lang="en-IN" sz="2400">
                <a:solidFill>
                  <a:schemeClr val="dk1"/>
                </a:solidFill>
                <a:latin typeface="Calibri"/>
                <a:ea typeface="Calibri"/>
                <a:cs typeface="Calibri"/>
                <a:sym typeface="Calibri"/>
              </a:rPr>
              <a:t>			- Information contained in independent outcomes should add up.</a:t>
            </a:r>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87" name="Google Shape;187;p24"/>
          <p:cNvSpPr txBox="1"/>
          <p:nvPr/>
        </p:nvSpPr>
        <p:spPr>
          <a:xfrm>
            <a:off x="272016" y="389323"/>
            <a:ext cx="543738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Times New Roman"/>
                <a:ea typeface="Times New Roman"/>
                <a:cs typeface="Times New Roman"/>
                <a:sym typeface="Times New Roman"/>
              </a:rPr>
              <a:t>Measure of Information</a:t>
            </a:r>
            <a:endParaRPr sz="4000" b="1">
              <a:solidFill>
                <a:schemeClr val="dk1"/>
              </a:solidFill>
              <a:latin typeface="Bell MT"/>
              <a:ea typeface="Bell MT"/>
              <a:cs typeface="Bell MT"/>
              <a:sym typeface="Bell MT"/>
            </a:endParaRPr>
          </a:p>
        </p:txBody>
      </p:sp>
      <p:sp>
        <p:nvSpPr>
          <p:cNvPr id="189" name="Google Shape;189;p24"/>
          <p:cNvSpPr txBox="1"/>
          <p:nvPr/>
        </p:nvSpPr>
        <p:spPr>
          <a:xfrm>
            <a:off x="396240" y="1111714"/>
            <a:ext cx="11308211" cy="5432256"/>
          </a:xfrm>
          <a:prstGeom prst="rect">
            <a:avLst/>
          </a:prstGeom>
          <a:noFill/>
          <a:ln>
            <a:noFill/>
          </a:ln>
        </p:spPr>
        <p:txBody>
          <a:bodyPr spcFirstLastPara="1" wrap="square" lIns="0" tIns="139700" rIns="0" bIns="0" anchor="t" anchorCtr="0">
            <a:spAutoFit/>
          </a:bodyPr>
          <a:lstStyle/>
          <a:p>
            <a:pPr marL="381000" marR="0" lvl="0" indent="-342900" algn="just" rtl="0">
              <a:lnSpc>
                <a:spcPct val="150000"/>
              </a:lnSpc>
              <a:spcBef>
                <a:spcPts val="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Let us consider a DMS denoted by ‘x’ and having alphabet {x1, x2, ……, </a:t>
            </a:r>
            <a:r>
              <a:rPr lang="en-IN" sz="2400" dirty="0" err="1">
                <a:solidFill>
                  <a:schemeClr val="dk1"/>
                </a:solidFill>
                <a:latin typeface="Calibri"/>
                <a:ea typeface="Calibri"/>
                <a:cs typeface="Calibri"/>
                <a:sym typeface="Calibri"/>
              </a:rPr>
              <a:t>xm</a:t>
            </a:r>
            <a:r>
              <a:rPr lang="en-IN" sz="2400" dirty="0">
                <a:solidFill>
                  <a:schemeClr val="dk1"/>
                </a:solidFill>
                <a:latin typeface="Calibri"/>
                <a:ea typeface="Calibri"/>
                <a:cs typeface="Calibri"/>
                <a:sym typeface="Calibri"/>
              </a:rPr>
              <a:t>}.</a:t>
            </a:r>
            <a:endParaRPr sz="2400" dirty="0">
              <a:solidFill>
                <a:schemeClr val="dk1"/>
              </a:solidFill>
              <a:latin typeface="Calibri"/>
              <a:ea typeface="Calibri"/>
              <a:cs typeface="Calibri"/>
              <a:sym typeface="Calibri"/>
            </a:endParaRPr>
          </a:p>
          <a:p>
            <a:pPr marL="381000" marR="0" lvl="0" indent="-342900" algn="just" rtl="0">
              <a:spcBef>
                <a:spcPts val="994"/>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The information content of the symbol xi, denoted by I (𝑥</a:t>
            </a:r>
            <a:r>
              <a:rPr lang="en-IN" sz="2800" baseline="-25000" dirty="0">
                <a:solidFill>
                  <a:schemeClr val="dk1"/>
                </a:solidFill>
                <a:latin typeface="Calibri"/>
                <a:ea typeface="Calibri"/>
                <a:cs typeface="Calibri"/>
                <a:sym typeface="Calibri"/>
              </a:rPr>
              <a:t>𝑖</a:t>
            </a:r>
            <a:r>
              <a:rPr lang="en-IN" sz="2400" dirty="0">
                <a:solidFill>
                  <a:schemeClr val="dk1"/>
                </a:solidFill>
                <a:latin typeface="Calibri"/>
                <a:ea typeface="Calibri"/>
                <a:cs typeface="Calibri"/>
                <a:sym typeface="Calibri"/>
              </a:rPr>
              <a:t>) is defined by</a:t>
            </a:r>
            <a:endParaRPr dirty="0"/>
          </a:p>
          <a:p>
            <a:pPr marL="63500" marR="0" lvl="0" indent="0" algn="just" rtl="0">
              <a:spcBef>
                <a:spcPts val="1070"/>
              </a:spcBef>
              <a:spcAft>
                <a:spcPts val="0"/>
              </a:spcAft>
              <a:buNone/>
            </a:pPr>
            <a:endParaRPr sz="2400" dirty="0">
              <a:solidFill>
                <a:schemeClr val="dk1"/>
              </a:solidFill>
              <a:latin typeface="Calibri"/>
              <a:ea typeface="Calibri"/>
              <a:cs typeface="Calibri"/>
              <a:sym typeface="Calibri"/>
            </a:endParaRPr>
          </a:p>
          <a:p>
            <a:pPr marL="63500" marR="0" lvl="0" indent="0" algn="just" rtl="0">
              <a:spcBef>
                <a:spcPts val="1070"/>
              </a:spcBef>
              <a:spcAft>
                <a:spcPts val="0"/>
              </a:spcAft>
              <a:buNone/>
            </a:pPr>
            <a:endParaRPr sz="2400" dirty="0">
              <a:solidFill>
                <a:schemeClr val="dk1"/>
              </a:solidFill>
              <a:latin typeface="Calibri"/>
              <a:ea typeface="Calibri"/>
              <a:cs typeface="Calibri"/>
              <a:sym typeface="Calibri"/>
            </a:endParaRPr>
          </a:p>
          <a:p>
            <a:pPr marL="406400" marR="0" lvl="0" indent="-342900" algn="just" rtl="0">
              <a:lnSpc>
                <a:spcPct val="150000"/>
              </a:lnSpc>
              <a:spcBef>
                <a:spcPts val="107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where P(𝑥</a:t>
            </a:r>
            <a:r>
              <a:rPr lang="en-IN" sz="2800" baseline="-25000" dirty="0">
                <a:solidFill>
                  <a:schemeClr val="dk1"/>
                </a:solidFill>
                <a:latin typeface="Calibri"/>
                <a:ea typeface="Calibri"/>
                <a:cs typeface="Calibri"/>
                <a:sym typeface="Calibri"/>
              </a:rPr>
              <a:t>𝑖</a:t>
            </a:r>
            <a:r>
              <a:rPr lang="en-IN" sz="2400" dirty="0">
                <a:solidFill>
                  <a:schemeClr val="dk1"/>
                </a:solidFill>
                <a:latin typeface="Calibri"/>
                <a:ea typeface="Calibri"/>
                <a:cs typeface="Calibri"/>
                <a:sym typeface="Calibri"/>
              </a:rPr>
              <a:t>) is the probability of occurrence of symbol 𝑥</a:t>
            </a:r>
            <a:r>
              <a:rPr lang="en-IN" sz="2800" baseline="-25000" dirty="0">
                <a:solidFill>
                  <a:schemeClr val="dk1"/>
                </a:solidFill>
                <a:latin typeface="Calibri"/>
                <a:ea typeface="Calibri"/>
                <a:cs typeface="Calibri"/>
                <a:sym typeface="Calibri"/>
              </a:rPr>
              <a:t>𝑖 </a:t>
            </a:r>
            <a:r>
              <a:rPr lang="en-IN" sz="2400" dirty="0">
                <a:solidFill>
                  <a:schemeClr val="dk1"/>
                </a:solidFill>
                <a:latin typeface="Calibri"/>
                <a:ea typeface="Calibri"/>
                <a:cs typeface="Calibri"/>
                <a:sym typeface="Calibri"/>
              </a:rPr>
              <a:t>.</a:t>
            </a:r>
            <a:endParaRPr dirty="0"/>
          </a:p>
          <a:p>
            <a:pPr marL="406400" marR="43180" lvl="0" indent="-342900" algn="just" rtl="0">
              <a:lnSpc>
                <a:spcPct val="150000"/>
              </a:lnSpc>
              <a:spcBef>
                <a:spcPts val="78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For any two independent source messages 𝑥</a:t>
            </a:r>
            <a:r>
              <a:rPr lang="en-IN" sz="2800" baseline="-25000" dirty="0">
                <a:solidFill>
                  <a:schemeClr val="dk1"/>
                </a:solidFill>
                <a:latin typeface="Calibri"/>
                <a:ea typeface="Calibri"/>
                <a:cs typeface="Calibri"/>
                <a:sym typeface="Calibri"/>
              </a:rPr>
              <a:t>𝑖</a:t>
            </a:r>
            <a:r>
              <a:rPr lang="en-IN" sz="2400" dirty="0">
                <a:solidFill>
                  <a:schemeClr val="dk1"/>
                </a:solidFill>
                <a:latin typeface="Calibri"/>
                <a:ea typeface="Calibri"/>
                <a:cs typeface="Calibri"/>
                <a:sym typeface="Calibri"/>
              </a:rPr>
              <a:t> and 𝑥</a:t>
            </a:r>
            <a:r>
              <a:rPr lang="en-IN" sz="2800" baseline="-25000" dirty="0">
                <a:solidFill>
                  <a:schemeClr val="dk1"/>
                </a:solidFill>
                <a:latin typeface="Calibri"/>
                <a:ea typeface="Calibri"/>
                <a:cs typeface="Calibri"/>
                <a:sym typeface="Calibri"/>
              </a:rPr>
              <a:t>𝑗</a:t>
            </a:r>
            <a:r>
              <a:rPr lang="en-IN" sz="2400" dirty="0">
                <a:solidFill>
                  <a:schemeClr val="dk1"/>
                </a:solidFill>
                <a:latin typeface="Calibri"/>
                <a:ea typeface="Calibri"/>
                <a:cs typeface="Calibri"/>
                <a:sym typeface="Calibri"/>
              </a:rPr>
              <a:t> with probabilities 𝑃</a:t>
            </a:r>
            <a:r>
              <a:rPr lang="en-IN" sz="2800" baseline="-25000" dirty="0">
                <a:solidFill>
                  <a:schemeClr val="dk1"/>
                </a:solidFill>
                <a:latin typeface="Calibri"/>
                <a:ea typeface="Calibri"/>
                <a:cs typeface="Calibri"/>
                <a:sym typeface="Calibri"/>
              </a:rPr>
              <a:t>𝑖 </a:t>
            </a:r>
            <a:r>
              <a:rPr lang="en-IN" sz="2400" dirty="0">
                <a:solidFill>
                  <a:schemeClr val="dk1"/>
                </a:solidFill>
                <a:latin typeface="Calibri"/>
                <a:ea typeface="Calibri"/>
                <a:cs typeface="Calibri"/>
                <a:sym typeface="Calibri"/>
              </a:rPr>
              <a:t>and 𝑃</a:t>
            </a:r>
            <a:r>
              <a:rPr lang="en-IN" sz="2800" baseline="-25000" dirty="0">
                <a:solidFill>
                  <a:schemeClr val="dk1"/>
                </a:solidFill>
                <a:latin typeface="Calibri"/>
                <a:ea typeface="Calibri"/>
                <a:cs typeface="Calibri"/>
                <a:sym typeface="Calibri"/>
              </a:rPr>
              <a:t>𝑗 </a:t>
            </a:r>
            <a:r>
              <a:rPr lang="en-IN" sz="2400" dirty="0">
                <a:solidFill>
                  <a:schemeClr val="dk1"/>
                </a:solidFill>
                <a:latin typeface="Calibri"/>
                <a:ea typeface="Calibri"/>
                <a:cs typeface="Calibri"/>
                <a:sym typeface="Calibri"/>
              </a:rPr>
              <a:t>respectively and with joint probability </a:t>
            </a:r>
            <a:r>
              <a:rPr lang="en-IN" sz="2400" b="1" dirty="0">
                <a:solidFill>
                  <a:schemeClr val="dk1"/>
                </a:solidFill>
                <a:latin typeface="Calibri"/>
                <a:ea typeface="Calibri"/>
                <a:cs typeface="Calibri"/>
                <a:sym typeface="Calibri"/>
              </a:rPr>
              <a:t>P (𝑥</a:t>
            </a:r>
            <a:r>
              <a:rPr lang="en-IN" sz="2800" b="1" baseline="-25000" dirty="0">
                <a:solidFill>
                  <a:schemeClr val="dk1"/>
                </a:solidFill>
                <a:latin typeface="Calibri"/>
                <a:ea typeface="Calibri"/>
                <a:cs typeface="Calibri"/>
                <a:sym typeface="Calibri"/>
              </a:rPr>
              <a:t>𝑖 </a:t>
            </a:r>
            <a:r>
              <a:rPr lang="en-IN" sz="2400" b="1" dirty="0">
                <a:solidFill>
                  <a:schemeClr val="dk1"/>
                </a:solidFill>
                <a:latin typeface="Calibri"/>
                <a:ea typeface="Calibri"/>
                <a:cs typeface="Calibri"/>
                <a:sym typeface="Calibri"/>
              </a:rPr>
              <a:t>, 𝑥</a:t>
            </a:r>
            <a:r>
              <a:rPr lang="en-IN" sz="2800" b="1" baseline="-25000" dirty="0">
                <a:solidFill>
                  <a:schemeClr val="dk1"/>
                </a:solidFill>
                <a:latin typeface="Calibri"/>
                <a:ea typeface="Calibri"/>
                <a:cs typeface="Calibri"/>
                <a:sym typeface="Calibri"/>
              </a:rPr>
              <a:t>𝑗 </a:t>
            </a:r>
            <a:r>
              <a:rPr lang="en-IN" sz="2400" b="1" dirty="0">
                <a:solidFill>
                  <a:schemeClr val="dk1"/>
                </a:solidFill>
                <a:latin typeface="Calibri"/>
                <a:ea typeface="Calibri"/>
                <a:cs typeface="Calibri"/>
                <a:sym typeface="Calibri"/>
              </a:rPr>
              <a:t>) = 𝑃</a:t>
            </a:r>
            <a:r>
              <a:rPr lang="en-IN" sz="2800" b="1" baseline="-25000" dirty="0">
                <a:solidFill>
                  <a:schemeClr val="dk1"/>
                </a:solidFill>
                <a:latin typeface="Calibri"/>
                <a:ea typeface="Calibri"/>
                <a:cs typeface="Calibri"/>
                <a:sym typeface="Calibri"/>
              </a:rPr>
              <a:t>𝑖 </a:t>
            </a:r>
            <a:r>
              <a:rPr lang="en-IN" sz="2400" b="1" dirty="0">
                <a:solidFill>
                  <a:schemeClr val="dk1"/>
                </a:solidFill>
                <a:latin typeface="Calibri"/>
                <a:ea typeface="Calibri"/>
                <a:cs typeface="Calibri"/>
                <a:sym typeface="Calibri"/>
              </a:rPr>
              <a:t> 𝑃</a:t>
            </a:r>
            <a:r>
              <a:rPr lang="en-IN" sz="2800" b="1" baseline="-25000" dirty="0">
                <a:solidFill>
                  <a:schemeClr val="dk1"/>
                </a:solidFill>
                <a:latin typeface="Calibri"/>
                <a:ea typeface="Calibri"/>
                <a:cs typeface="Calibri"/>
                <a:sym typeface="Calibri"/>
              </a:rPr>
              <a:t>𝑗</a:t>
            </a:r>
            <a:r>
              <a:rPr lang="en-IN" sz="2400" b="1" baseline="-25000" dirty="0">
                <a:solidFill>
                  <a:schemeClr val="dk1"/>
                </a:solidFill>
                <a:latin typeface="Calibri"/>
                <a:ea typeface="Calibri"/>
                <a:cs typeface="Calibri"/>
                <a:sym typeface="Calibri"/>
              </a:rPr>
              <a:t>   </a:t>
            </a:r>
            <a:r>
              <a:rPr lang="en-IN" sz="2400" dirty="0">
                <a:solidFill>
                  <a:schemeClr val="dk1"/>
                </a:solidFill>
                <a:latin typeface="Calibri"/>
                <a:ea typeface="Calibri"/>
                <a:cs typeface="Calibri"/>
                <a:sym typeface="Calibri"/>
              </a:rPr>
              <a:t>.</a:t>
            </a:r>
            <a:endParaRPr dirty="0"/>
          </a:p>
          <a:p>
            <a:pPr marL="406400" marR="43180" lvl="0" indent="-342900" algn="just" rtl="0">
              <a:lnSpc>
                <a:spcPct val="150000"/>
              </a:lnSpc>
              <a:spcBef>
                <a:spcPts val="780"/>
              </a:spcBef>
              <a:spcAft>
                <a:spcPts val="0"/>
              </a:spcAft>
              <a:buClr>
                <a:schemeClr val="dk1"/>
              </a:buClr>
              <a:buSzPts val="2400"/>
              <a:buFont typeface="Arial"/>
              <a:buChar char="•"/>
            </a:pPr>
            <a:r>
              <a:rPr lang="en-IN" sz="2400" dirty="0">
                <a:solidFill>
                  <a:schemeClr val="dk1"/>
                </a:solidFill>
                <a:latin typeface="Calibri"/>
                <a:ea typeface="Calibri"/>
                <a:cs typeface="Calibri"/>
                <a:sym typeface="Calibri"/>
              </a:rPr>
              <a:t>The information of  the messages is the addition of the information in each message</a:t>
            </a:r>
            <a:endParaRPr dirty="0"/>
          </a:p>
          <a:p>
            <a:pPr marL="63500" marR="43180" lvl="0" indent="0" algn="just" rtl="0">
              <a:lnSpc>
                <a:spcPct val="150000"/>
              </a:lnSpc>
              <a:spcBef>
                <a:spcPts val="780"/>
              </a:spcBef>
              <a:spcAft>
                <a:spcPts val="0"/>
              </a:spcAft>
              <a:buNone/>
            </a:pPr>
            <a:r>
              <a:rPr lang="en-IN" sz="2400" dirty="0">
                <a:solidFill>
                  <a:schemeClr val="dk1"/>
                </a:solidFill>
                <a:latin typeface="Calibri"/>
                <a:ea typeface="Calibri"/>
                <a:cs typeface="Calibri"/>
                <a:sym typeface="Calibri"/>
              </a:rPr>
              <a:t>					</a:t>
            </a:r>
            <a:r>
              <a:rPr lang="en-IN" sz="2400" b="1" dirty="0">
                <a:solidFill>
                  <a:schemeClr val="dk1"/>
                </a:solidFill>
                <a:latin typeface="Calibri"/>
                <a:ea typeface="Calibri"/>
                <a:cs typeface="Calibri"/>
                <a:sym typeface="Calibri"/>
              </a:rPr>
              <a:t>𝐼</a:t>
            </a:r>
            <a:r>
              <a:rPr lang="en-IN" sz="2800" b="1" baseline="-25000" dirty="0">
                <a:solidFill>
                  <a:schemeClr val="dk1"/>
                </a:solidFill>
                <a:latin typeface="Calibri"/>
                <a:ea typeface="Calibri"/>
                <a:cs typeface="Calibri"/>
                <a:sym typeface="Calibri"/>
              </a:rPr>
              <a:t>𝑖𝑗           </a:t>
            </a:r>
            <a:r>
              <a:rPr lang="en-IN" sz="2400" b="1" dirty="0">
                <a:solidFill>
                  <a:schemeClr val="dk1"/>
                </a:solidFill>
                <a:latin typeface="Calibri"/>
                <a:ea typeface="Calibri"/>
                <a:cs typeface="Calibri"/>
                <a:sym typeface="Calibri"/>
              </a:rPr>
              <a:t>= 𝐼</a:t>
            </a:r>
            <a:r>
              <a:rPr lang="en-IN" sz="2800" b="1" baseline="-25000" dirty="0">
                <a:solidFill>
                  <a:schemeClr val="dk1"/>
                </a:solidFill>
                <a:latin typeface="Calibri"/>
                <a:ea typeface="Calibri"/>
                <a:cs typeface="Calibri"/>
                <a:sym typeface="Calibri"/>
              </a:rPr>
              <a:t>𝑖 </a:t>
            </a:r>
            <a:r>
              <a:rPr lang="en-IN" sz="2400" b="1" dirty="0">
                <a:solidFill>
                  <a:schemeClr val="dk1"/>
                </a:solidFill>
                <a:latin typeface="Calibri"/>
                <a:ea typeface="Calibri"/>
                <a:cs typeface="Calibri"/>
                <a:sym typeface="Calibri"/>
              </a:rPr>
              <a:t>+ 𝐼</a:t>
            </a:r>
            <a:r>
              <a:rPr lang="en-IN" sz="2800" b="1" baseline="-25000" dirty="0">
                <a:solidFill>
                  <a:schemeClr val="dk1"/>
                </a:solidFill>
                <a:latin typeface="Calibri"/>
                <a:ea typeface="Calibri"/>
                <a:cs typeface="Calibri"/>
                <a:sym typeface="Calibri"/>
              </a:rPr>
              <a:t>𝑗 </a:t>
            </a:r>
            <a:r>
              <a:rPr lang="en-IN" sz="2400" b="1" dirty="0">
                <a:solidFill>
                  <a:schemeClr val="dk1"/>
                </a:solidFill>
                <a:latin typeface="Calibri"/>
                <a:ea typeface="Calibri"/>
                <a:cs typeface="Calibri"/>
                <a:sym typeface="Calibri"/>
              </a:rPr>
              <a:t>.</a:t>
            </a:r>
            <a:endParaRPr dirty="0"/>
          </a:p>
        </p:txBody>
      </p:sp>
      <p:sp>
        <p:nvSpPr>
          <p:cNvPr id="190" name="Google Shape;190;p24"/>
          <p:cNvSpPr txBox="1"/>
          <p:nvPr/>
        </p:nvSpPr>
        <p:spPr>
          <a:xfrm>
            <a:off x="2778411" y="2630686"/>
            <a:ext cx="1581556" cy="41356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IN" sz="1600" b="1" dirty="0">
                <a:solidFill>
                  <a:srgbClr val="89D0D5"/>
                </a:solidFill>
                <a:latin typeface="Arial"/>
                <a:ea typeface="Arial"/>
                <a:cs typeface="Arial"/>
                <a:sym typeface="Arial"/>
              </a:rPr>
              <a:t>	</a:t>
            </a:r>
            <a:r>
              <a:rPr lang="en-IN" sz="2600" b="1" dirty="0">
                <a:solidFill>
                  <a:schemeClr val="dk1"/>
                </a:solidFill>
                <a:latin typeface="Calibri"/>
                <a:ea typeface="Calibri"/>
                <a:cs typeface="Calibri"/>
                <a:sym typeface="Calibri"/>
              </a:rPr>
              <a:t>𝐼  </a:t>
            </a:r>
            <a:r>
              <a:rPr lang="en-IN" sz="2600" b="1" dirty="0" smtClean="0">
                <a:solidFill>
                  <a:schemeClr val="dk1"/>
                </a:solidFill>
                <a:latin typeface="Calibri"/>
                <a:ea typeface="Calibri"/>
                <a:cs typeface="Calibri"/>
                <a:sym typeface="Calibri"/>
              </a:rPr>
              <a:t>(  </a:t>
            </a:r>
            <a:endParaRPr sz="2600" b="1" dirty="0">
              <a:solidFill>
                <a:schemeClr val="dk1"/>
              </a:solidFill>
              <a:latin typeface="Calibri"/>
              <a:ea typeface="Calibri"/>
              <a:cs typeface="Calibri"/>
              <a:sym typeface="Calibri"/>
            </a:endParaRPr>
          </a:p>
        </p:txBody>
      </p:sp>
      <p:sp>
        <p:nvSpPr>
          <p:cNvPr id="191" name="Google Shape;191;p24"/>
          <p:cNvSpPr txBox="1"/>
          <p:nvPr/>
        </p:nvSpPr>
        <p:spPr>
          <a:xfrm>
            <a:off x="4196516" y="2630686"/>
            <a:ext cx="326901" cy="321883"/>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IN" sz="2000" b="1" dirty="0">
                <a:solidFill>
                  <a:schemeClr val="dk1"/>
                </a:solidFill>
                <a:latin typeface="Verdana"/>
                <a:ea typeface="Verdana"/>
                <a:cs typeface="Verdana"/>
                <a:sym typeface="Verdana"/>
              </a:rPr>
              <a:t>1</a:t>
            </a:r>
            <a:endParaRPr sz="2000" b="1" dirty="0">
              <a:solidFill>
                <a:schemeClr val="dk1"/>
              </a:solidFill>
              <a:latin typeface="Verdana"/>
              <a:ea typeface="Verdana"/>
              <a:cs typeface="Verdana"/>
              <a:sym typeface="Verdana"/>
            </a:endParaRPr>
          </a:p>
        </p:txBody>
      </p:sp>
      <p:sp>
        <p:nvSpPr>
          <p:cNvPr id="192" name="Google Shape;192;p24"/>
          <p:cNvSpPr txBox="1"/>
          <p:nvPr/>
        </p:nvSpPr>
        <p:spPr>
          <a:xfrm>
            <a:off x="4090379" y="2902151"/>
            <a:ext cx="866076" cy="322523"/>
          </a:xfrm>
          <a:prstGeom prst="rect">
            <a:avLst/>
          </a:prstGeom>
          <a:noFill/>
          <a:ln>
            <a:noFill/>
          </a:ln>
        </p:spPr>
        <p:txBody>
          <a:bodyPr spcFirstLastPara="1" wrap="square" lIns="0" tIns="14600" rIns="0" bIns="0" anchor="t" anchorCtr="0">
            <a:spAutoFit/>
          </a:bodyPr>
          <a:lstStyle/>
          <a:p>
            <a:pPr marL="38100" marR="0" lvl="0" indent="0" algn="l" rtl="0">
              <a:lnSpc>
                <a:spcPct val="100000"/>
              </a:lnSpc>
              <a:spcBef>
                <a:spcPts val="0"/>
              </a:spcBef>
              <a:spcAft>
                <a:spcPts val="0"/>
              </a:spcAft>
              <a:buNone/>
            </a:pPr>
            <a:r>
              <a:rPr lang="en-IN" sz="2800" b="1" baseline="30000" dirty="0">
                <a:solidFill>
                  <a:schemeClr val="dk1"/>
                </a:solidFill>
                <a:latin typeface="Calibri"/>
                <a:ea typeface="Calibri"/>
                <a:cs typeface="Calibri"/>
                <a:sym typeface="Calibri"/>
              </a:rPr>
              <a:t>𝑏</a:t>
            </a:r>
            <a:r>
              <a:rPr lang="en-IN" sz="2000" b="1" baseline="30000" dirty="0">
                <a:solidFill>
                  <a:schemeClr val="dk1"/>
                </a:solidFill>
                <a:latin typeface="Calibri"/>
                <a:ea typeface="Calibri"/>
                <a:cs typeface="Calibri"/>
                <a:sym typeface="Calibri"/>
              </a:rPr>
              <a:t> </a:t>
            </a:r>
            <a:r>
              <a:rPr lang="en-IN" sz="2000" b="1" dirty="0">
                <a:solidFill>
                  <a:schemeClr val="dk1"/>
                </a:solidFill>
                <a:latin typeface="Calibri"/>
                <a:ea typeface="Calibri"/>
                <a:cs typeface="Calibri"/>
                <a:sym typeface="Calibri"/>
              </a:rPr>
              <a:t>𝑃(𝑥</a:t>
            </a:r>
            <a:r>
              <a:rPr lang="en-IN" sz="2000" b="1" baseline="-25000" dirty="0">
                <a:solidFill>
                  <a:schemeClr val="dk1"/>
                </a:solidFill>
                <a:latin typeface="Calibri"/>
                <a:ea typeface="Calibri"/>
                <a:cs typeface="Calibri"/>
                <a:sym typeface="Calibri"/>
              </a:rPr>
              <a:t>𝑖  </a:t>
            </a:r>
            <a:r>
              <a:rPr lang="en-IN" sz="2000" b="1" dirty="0">
                <a:solidFill>
                  <a:schemeClr val="dk1"/>
                </a:solidFill>
                <a:latin typeface="Calibri"/>
                <a:ea typeface="Calibri"/>
                <a:cs typeface="Calibri"/>
                <a:sym typeface="Calibri"/>
              </a:rPr>
              <a:t>)</a:t>
            </a:r>
            <a:endParaRPr sz="2000" b="1" dirty="0">
              <a:solidFill>
                <a:schemeClr val="dk1"/>
              </a:solidFill>
              <a:latin typeface="Calibri"/>
              <a:ea typeface="Calibri"/>
              <a:cs typeface="Calibri"/>
              <a:sym typeface="Calibri"/>
            </a:endParaRPr>
          </a:p>
        </p:txBody>
      </p:sp>
      <p:sp>
        <p:nvSpPr>
          <p:cNvPr id="193" name="Google Shape;193;p24"/>
          <p:cNvSpPr txBox="1"/>
          <p:nvPr/>
        </p:nvSpPr>
        <p:spPr>
          <a:xfrm>
            <a:off x="5208017" y="2630686"/>
            <a:ext cx="1684655" cy="382797"/>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IN" sz="2400" b="1" dirty="0">
                <a:solidFill>
                  <a:schemeClr val="dk1"/>
                </a:solidFill>
                <a:latin typeface="Calibri"/>
                <a:ea typeface="Calibri"/>
                <a:cs typeface="Calibri"/>
                <a:sym typeface="Calibri"/>
              </a:rPr>
              <a:t>=</a:t>
            </a:r>
            <a:r>
              <a:rPr lang="en-IN" sz="2000" dirty="0">
                <a:solidFill>
                  <a:schemeClr val="dk1"/>
                </a:solidFill>
                <a:latin typeface="Calibri"/>
                <a:ea typeface="Calibri"/>
                <a:cs typeface="Calibri"/>
                <a:sym typeface="Calibri"/>
              </a:rPr>
              <a:t>  </a:t>
            </a:r>
            <a:r>
              <a:rPr lang="en-IN" sz="2300" b="1" dirty="0">
                <a:solidFill>
                  <a:schemeClr val="dk1"/>
                </a:solidFill>
                <a:latin typeface="Calibri"/>
                <a:ea typeface="Calibri"/>
                <a:cs typeface="Calibri"/>
                <a:sym typeface="Calibri"/>
              </a:rPr>
              <a:t>− log 𝑃</a:t>
            </a:r>
            <a:r>
              <a:rPr lang="en-IN" sz="2300" b="1" dirty="0">
                <a:solidFill>
                  <a:schemeClr val="dk1"/>
                </a:solidFill>
                <a:latin typeface="Verdana"/>
                <a:ea typeface="Verdana"/>
                <a:cs typeface="Verdana"/>
                <a:sym typeface="Verdana"/>
              </a:rPr>
              <a:t>(𝑥 )</a:t>
            </a:r>
            <a:endParaRPr sz="2300" b="1" dirty="0">
              <a:solidFill>
                <a:schemeClr val="dk1"/>
              </a:solidFill>
              <a:latin typeface="Verdana"/>
              <a:ea typeface="Verdana"/>
              <a:cs typeface="Verdana"/>
              <a:sym typeface="Verdana"/>
            </a:endParaRPr>
          </a:p>
        </p:txBody>
      </p:sp>
      <p:sp>
        <p:nvSpPr>
          <p:cNvPr id="194" name="Google Shape;194;p24"/>
          <p:cNvSpPr/>
          <p:nvPr/>
        </p:nvSpPr>
        <p:spPr>
          <a:xfrm>
            <a:off x="4149464" y="2879291"/>
            <a:ext cx="421005" cy="45719"/>
          </a:xfrm>
          <a:custGeom>
            <a:avLst/>
            <a:gdLst/>
            <a:ahLst/>
            <a:cxnLst/>
            <a:rect l="l" t="t" r="r" b="b"/>
            <a:pathLst>
              <a:path w="421005" h="17144" extrusionOk="0">
                <a:moveTo>
                  <a:pt x="420624" y="0"/>
                </a:moveTo>
                <a:lnTo>
                  <a:pt x="0" y="0"/>
                </a:lnTo>
                <a:lnTo>
                  <a:pt x="0" y="16763"/>
                </a:lnTo>
                <a:lnTo>
                  <a:pt x="420624" y="16763"/>
                </a:lnTo>
                <a:lnTo>
                  <a:pt x="420624" y="0"/>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25"/>
          <p:cNvSpPr txBox="1"/>
          <p:nvPr/>
        </p:nvSpPr>
        <p:spPr>
          <a:xfrm>
            <a:off x="321869" y="1095468"/>
            <a:ext cx="11260531" cy="5304016"/>
          </a:xfrm>
          <a:prstGeom prst="rect">
            <a:avLst/>
          </a:prstGeom>
          <a:noFill/>
          <a:ln>
            <a:noFill/>
          </a:ln>
        </p:spPr>
        <p:txBody>
          <a:bodyPr spcFirstLastPara="1" wrap="square" lIns="91425" tIns="45700" rIns="91425" bIns="45700" anchor="t" anchorCtr="0">
            <a:spAutoFit/>
          </a:bodyPr>
          <a:lstStyle/>
          <a:p>
            <a:pPr marL="3810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Note that I(X </a:t>
            </a:r>
            <a:r>
              <a:rPr lang="en-IN" sz="2400" baseline="-25000">
                <a:solidFill>
                  <a:schemeClr val="dk1"/>
                </a:solidFill>
                <a:latin typeface="Calibri"/>
                <a:ea typeface="Calibri"/>
                <a:cs typeface="Calibri"/>
                <a:sym typeface="Calibri"/>
              </a:rPr>
              <a:t>𝑖 </a:t>
            </a:r>
            <a:r>
              <a:rPr lang="en-IN" sz="2400">
                <a:solidFill>
                  <a:schemeClr val="dk1"/>
                </a:solidFill>
                <a:latin typeface="Calibri"/>
                <a:ea typeface="Calibri"/>
                <a:cs typeface="Calibri"/>
                <a:sym typeface="Calibri"/>
              </a:rPr>
              <a:t>) satisfies the following properties.</a:t>
            </a:r>
            <a:endParaRPr/>
          </a:p>
          <a:p>
            <a:pPr marL="2324100" marR="0" lvl="4" indent="-457200" algn="just" rtl="0">
              <a:lnSpc>
                <a:spcPct val="150000"/>
              </a:lnSpc>
              <a:spcBef>
                <a:spcPts val="994"/>
              </a:spcBef>
              <a:spcAft>
                <a:spcPts val="0"/>
              </a:spcAft>
              <a:buClr>
                <a:schemeClr val="dk1"/>
              </a:buClr>
              <a:buSzPts val="2500"/>
              <a:buFont typeface="Calibri"/>
              <a:buAutoNum type="arabicPeriod"/>
            </a:pPr>
            <a:r>
              <a:rPr lang="en-IN" sz="2500" b="0" i="0" u="none" strike="noStrike" cap="none">
                <a:solidFill>
                  <a:schemeClr val="dk1"/>
                </a:solidFill>
                <a:latin typeface="Calibri"/>
                <a:ea typeface="Calibri"/>
                <a:cs typeface="Calibri"/>
                <a:sym typeface="Calibri"/>
              </a:rPr>
              <a:t>I(X </a:t>
            </a:r>
            <a:r>
              <a:rPr lang="en-IN" sz="2500" b="0" i="0" u="none" strike="noStrike" cap="none" baseline="-25000">
                <a:solidFill>
                  <a:schemeClr val="dk1"/>
                </a:solidFill>
                <a:latin typeface="Calibri"/>
                <a:ea typeface="Calibri"/>
                <a:cs typeface="Calibri"/>
                <a:sym typeface="Calibri"/>
              </a:rPr>
              <a:t>𝑖 </a:t>
            </a:r>
            <a:r>
              <a:rPr lang="en-IN" sz="2500" b="0" i="0" u="none" strike="noStrike" cap="none">
                <a:solidFill>
                  <a:schemeClr val="dk1"/>
                </a:solidFill>
                <a:latin typeface="Calibri"/>
                <a:ea typeface="Calibri"/>
                <a:cs typeface="Calibri"/>
                <a:sym typeface="Calibri"/>
              </a:rPr>
              <a:t>) = 0 for P(X </a:t>
            </a:r>
            <a:r>
              <a:rPr lang="en-IN" sz="2500" b="0" i="0" u="none" strike="noStrike" cap="none" baseline="-25000">
                <a:solidFill>
                  <a:schemeClr val="dk1"/>
                </a:solidFill>
                <a:latin typeface="Calibri"/>
                <a:ea typeface="Calibri"/>
                <a:cs typeface="Calibri"/>
                <a:sym typeface="Calibri"/>
              </a:rPr>
              <a:t>𝑖 </a:t>
            </a:r>
            <a:r>
              <a:rPr lang="en-IN" sz="2500" b="0" i="0" u="none" strike="noStrike" cap="none">
                <a:solidFill>
                  <a:schemeClr val="dk1"/>
                </a:solidFill>
                <a:latin typeface="Calibri"/>
                <a:ea typeface="Calibri"/>
                <a:cs typeface="Calibri"/>
                <a:sym typeface="Calibri"/>
              </a:rPr>
              <a:t>) = 1</a:t>
            </a:r>
            <a:endParaRPr/>
          </a:p>
          <a:p>
            <a:pPr marL="2324100" marR="0" lvl="4" indent="-457200" algn="just" rtl="0">
              <a:lnSpc>
                <a:spcPct val="150000"/>
              </a:lnSpc>
              <a:spcBef>
                <a:spcPts val="1010"/>
              </a:spcBef>
              <a:spcAft>
                <a:spcPts val="0"/>
              </a:spcAft>
              <a:buClr>
                <a:schemeClr val="dk1"/>
              </a:buClr>
              <a:buSzPts val="2500"/>
              <a:buFont typeface="Calibri"/>
              <a:buAutoNum type="arabicPeriod"/>
            </a:pPr>
            <a:r>
              <a:rPr lang="en-IN" sz="2500" b="0" i="0" u="none" strike="noStrike" cap="none">
                <a:solidFill>
                  <a:schemeClr val="dk1"/>
                </a:solidFill>
                <a:latin typeface="Calibri"/>
                <a:ea typeface="Calibri"/>
                <a:cs typeface="Calibri"/>
                <a:sym typeface="Calibri"/>
              </a:rPr>
              <a:t>I(X </a:t>
            </a:r>
            <a:r>
              <a:rPr lang="en-IN" sz="2500" b="0" i="0" u="none" strike="noStrike" cap="none" baseline="-25000">
                <a:solidFill>
                  <a:schemeClr val="dk1"/>
                </a:solidFill>
                <a:latin typeface="Calibri"/>
                <a:ea typeface="Calibri"/>
                <a:cs typeface="Calibri"/>
                <a:sym typeface="Calibri"/>
              </a:rPr>
              <a:t>𝑖 </a:t>
            </a:r>
            <a:r>
              <a:rPr lang="en-IN" sz="2500" b="0" i="0" u="none" strike="noStrike" cap="none">
                <a:solidFill>
                  <a:schemeClr val="dk1"/>
                </a:solidFill>
                <a:latin typeface="Calibri"/>
                <a:ea typeface="Calibri"/>
                <a:cs typeface="Calibri"/>
                <a:sym typeface="Calibri"/>
              </a:rPr>
              <a:t>) ≥ 0</a:t>
            </a:r>
            <a:endParaRPr/>
          </a:p>
          <a:p>
            <a:pPr marL="38100" marR="0" lvl="0" indent="0" algn="just" rtl="0">
              <a:lnSpc>
                <a:spcPct val="150000"/>
              </a:lnSpc>
              <a:spcBef>
                <a:spcPts val="994"/>
              </a:spcBef>
              <a:spcAft>
                <a:spcPts val="0"/>
              </a:spcAft>
              <a:buNone/>
            </a:pPr>
            <a:r>
              <a:rPr lang="en-IN" sz="2500">
                <a:solidFill>
                  <a:schemeClr val="dk1"/>
                </a:solidFill>
                <a:latin typeface="Calibri"/>
                <a:ea typeface="Calibri"/>
                <a:cs typeface="Calibri"/>
                <a:sym typeface="Calibri"/>
              </a:rPr>
              <a:t>				 3.   I(X </a:t>
            </a:r>
            <a:r>
              <a:rPr lang="en-IN" sz="2600" baseline="-25000">
                <a:solidFill>
                  <a:schemeClr val="dk1"/>
                </a:solidFill>
                <a:latin typeface="Calibri"/>
                <a:ea typeface="Calibri"/>
                <a:cs typeface="Calibri"/>
                <a:sym typeface="Calibri"/>
              </a:rPr>
              <a:t>𝑖 </a:t>
            </a:r>
            <a:r>
              <a:rPr lang="en-IN" sz="2500">
                <a:solidFill>
                  <a:schemeClr val="dk1"/>
                </a:solidFill>
                <a:latin typeface="Calibri"/>
                <a:ea typeface="Calibri"/>
                <a:cs typeface="Calibri"/>
                <a:sym typeface="Calibri"/>
              </a:rPr>
              <a:t>) &gt; I(X</a:t>
            </a:r>
            <a:r>
              <a:rPr lang="en-IN" sz="2500" i="1" baseline="-25000">
                <a:solidFill>
                  <a:schemeClr val="dk1"/>
                </a:solidFill>
                <a:latin typeface="Calibri"/>
                <a:ea typeface="Calibri"/>
                <a:cs typeface="Calibri"/>
                <a:sym typeface="Calibri"/>
              </a:rPr>
              <a:t>j</a:t>
            </a:r>
            <a:r>
              <a:rPr lang="en-IN" sz="2500">
                <a:solidFill>
                  <a:schemeClr val="dk1"/>
                </a:solidFill>
                <a:latin typeface="Calibri"/>
                <a:ea typeface="Calibri"/>
                <a:cs typeface="Calibri"/>
                <a:sym typeface="Calibri"/>
              </a:rPr>
              <a:t>) if P(X </a:t>
            </a:r>
            <a:r>
              <a:rPr lang="en-IN" sz="2500" baseline="-25000">
                <a:solidFill>
                  <a:schemeClr val="dk1"/>
                </a:solidFill>
                <a:latin typeface="Calibri"/>
                <a:ea typeface="Calibri"/>
                <a:cs typeface="Calibri"/>
                <a:sym typeface="Calibri"/>
              </a:rPr>
              <a:t>𝑖 </a:t>
            </a:r>
            <a:r>
              <a:rPr lang="en-IN" sz="2500">
                <a:solidFill>
                  <a:schemeClr val="dk1"/>
                </a:solidFill>
                <a:latin typeface="Calibri"/>
                <a:ea typeface="Calibri"/>
                <a:cs typeface="Calibri"/>
                <a:sym typeface="Calibri"/>
              </a:rPr>
              <a:t>) &lt; P(X</a:t>
            </a:r>
            <a:r>
              <a:rPr lang="en-IN" sz="2500" i="1" baseline="-25000">
                <a:solidFill>
                  <a:schemeClr val="dk1"/>
                </a:solidFill>
                <a:latin typeface="Calibri"/>
                <a:ea typeface="Calibri"/>
                <a:cs typeface="Calibri"/>
                <a:sym typeface="Calibri"/>
              </a:rPr>
              <a:t>j</a:t>
            </a:r>
            <a:r>
              <a:rPr lang="en-IN" sz="2500">
                <a:solidFill>
                  <a:schemeClr val="dk1"/>
                </a:solidFill>
                <a:latin typeface="Calibri"/>
                <a:ea typeface="Calibri"/>
                <a:cs typeface="Calibri"/>
                <a:sym typeface="Calibri"/>
              </a:rPr>
              <a:t>) </a:t>
            </a:r>
            <a:endParaRPr/>
          </a:p>
          <a:p>
            <a:pPr marL="38100" marR="0" lvl="0" indent="0" algn="just" rtl="0">
              <a:lnSpc>
                <a:spcPct val="150000"/>
              </a:lnSpc>
              <a:spcBef>
                <a:spcPts val="994"/>
              </a:spcBef>
              <a:spcAft>
                <a:spcPts val="0"/>
              </a:spcAft>
              <a:buNone/>
            </a:pPr>
            <a:r>
              <a:rPr lang="en-IN" sz="2500">
                <a:solidFill>
                  <a:schemeClr val="dk1"/>
                </a:solidFill>
                <a:latin typeface="Calibri"/>
                <a:ea typeface="Calibri"/>
                <a:cs typeface="Calibri"/>
                <a:sym typeface="Calibri"/>
              </a:rPr>
              <a:t>				 4.    I(X </a:t>
            </a:r>
            <a:r>
              <a:rPr lang="en-IN" sz="2500" baseline="-25000">
                <a:solidFill>
                  <a:schemeClr val="dk1"/>
                </a:solidFill>
                <a:latin typeface="Calibri"/>
                <a:ea typeface="Calibri"/>
                <a:cs typeface="Calibri"/>
                <a:sym typeface="Calibri"/>
              </a:rPr>
              <a:t>𝑖  </a:t>
            </a:r>
            <a:r>
              <a:rPr lang="en-IN" sz="2500">
                <a:solidFill>
                  <a:schemeClr val="dk1"/>
                </a:solidFill>
                <a:latin typeface="Calibri"/>
                <a:ea typeface="Calibri"/>
                <a:cs typeface="Calibri"/>
                <a:sym typeface="Calibri"/>
              </a:rPr>
              <a:t>, X</a:t>
            </a:r>
            <a:r>
              <a:rPr lang="en-IN" sz="2500" i="1" baseline="-25000">
                <a:solidFill>
                  <a:schemeClr val="dk1"/>
                </a:solidFill>
                <a:latin typeface="Calibri"/>
                <a:ea typeface="Calibri"/>
                <a:cs typeface="Calibri"/>
                <a:sym typeface="Calibri"/>
              </a:rPr>
              <a:t>j</a:t>
            </a:r>
            <a:r>
              <a:rPr lang="en-IN" sz="2500">
                <a:solidFill>
                  <a:schemeClr val="dk1"/>
                </a:solidFill>
                <a:latin typeface="Calibri"/>
                <a:ea typeface="Calibri"/>
                <a:cs typeface="Calibri"/>
                <a:sym typeface="Calibri"/>
              </a:rPr>
              <a:t>)= I(X </a:t>
            </a:r>
            <a:r>
              <a:rPr lang="en-IN" sz="2500" baseline="-25000">
                <a:solidFill>
                  <a:schemeClr val="dk1"/>
                </a:solidFill>
                <a:latin typeface="Calibri"/>
                <a:ea typeface="Calibri"/>
                <a:cs typeface="Calibri"/>
                <a:sym typeface="Calibri"/>
              </a:rPr>
              <a:t>𝑖 </a:t>
            </a:r>
            <a:r>
              <a:rPr lang="en-IN" sz="2500">
                <a:solidFill>
                  <a:schemeClr val="dk1"/>
                </a:solidFill>
                <a:latin typeface="Calibri"/>
                <a:ea typeface="Calibri"/>
                <a:cs typeface="Calibri"/>
                <a:sym typeface="Calibri"/>
              </a:rPr>
              <a:t>) + I(X</a:t>
            </a:r>
            <a:r>
              <a:rPr lang="en-IN" sz="2500" i="1" baseline="-25000">
                <a:solidFill>
                  <a:schemeClr val="dk1"/>
                </a:solidFill>
                <a:latin typeface="Calibri"/>
                <a:ea typeface="Calibri"/>
                <a:cs typeface="Calibri"/>
                <a:sym typeface="Calibri"/>
              </a:rPr>
              <a:t>j</a:t>
            </a:r>
            <a:r>
              <a:rPr lang="en-IN" sz="2500">
                <a:solidFill>
                  <a:schemeClr val="dk1"/>
                </a:solidFill>
                <a:latin typeface="Calibri"/>
                <a:ea typeface="Calibri"/>
                <a:cs typeface="Calibri"/>
                <a:sym typeface="Calibri"/>
              </a:rPr>
              <a:t>) if X </a:t>
            </a:r>
            <a:r>
              <a:rPr lang="en-IN" sz="2500" baseline="-25000">
                <a:solidFill>
                  <a:schemeClr val="dk1"/>
                </a:solidFill>
                <a:latin typeface="Calibri"/>
                <a:ea typeface="Calibri"/>
                <a:cs typeface="Calibri"/>
                <a:sym typeface="Calibri"/>
              </a:rPr>
              <a:t>𝑖 </a:t>
            </a:r>
            <a:r>
              <a:rPr lang="en-IN" sz="2500">
                <a:solidFill>
                  <a:schemeClr val="dk1"/>
                </a:solidFill>
                <a:latin typeface="Calibri"/>
                <a:ea typeface="Calibri"/>
                <a:cs typeface="Calibri"/>
                <a:sym typeface="Calibri"/>
              </a:rPr>
              <a:t> and X</a:t>
            </a:r>
            <a:r>
              <a:rPr lang="en-IN" sz="2500" i="1" baseline="-25000">
                <a:solidFill>
                  <a:schemeClr val="dk1"/>
                </a:solidFill>
                <a:latin typeface="Calibri"/>
                <a:ea typeface="Calibri"/>
                <a:cs typeface="Calibri"/>
                <a:sym typeface="Calibri"/>
              </a:rPr>
              <a:t>j </a:t>
            </a:r>
            <a:r>
              <a:rPr lang="en-IN" sz="2500">
                <a:solidFill>
                  <a:schemeClr val="dk1"/>
                </a:solidFill>
                <a:latin typeface="Calibri"/>
                <a:ea typeface="Calibri"/>
                <a:cs typeface="Calibri"/>
                <a:sym typeface="Calibri"/>
              </a:rPr>
              <a:t>are independent</a:t>
            </a:r>
            <a:endParaRPr/>
          </a:p>
          <a:p>
            <a:pPr marL="38100" marR="0" lvl="0" indent="0" algn="just" rtl="0">
              <a:lnSpc>
                <a:spcPct val="150000"/>
              </a:lnSpc>
              <a:spcBef>
                <a:spcPts val="994"/>
              </a:spcBef>
              <a:spcAft>
                <a:spcPts val="0"/>
              </a:spcAft>
              <a:buNone/>
            </a:pPr>
            <a:r>
              <a:rPr lang="en-IN" sz="2400" b="1">
                <a:solidFill>
                  <a:schemeClr val="dk1"/>
                </a:solidFill>
                <a:latin typeface="Calibri"/>
                <a:ea typeface="Calibri"/>
                <a:cs typeface="Calibri"/>
                <a:sym typeface="Calibri"/>
              </a:rPr>
              <a:t>Unit</a:t>
            </a:r>
            <a:r>
              <a:rPr lang="en-IN" sz="2400">
                <a:solidFill>
                  <a:schemeClr val="dk1"/>
                </a:solidFill>
                <a:latin typeface="Calibri"/>
                <a:ea typeface="Calibri"/>
                <a:cs typeface="Calibri"/>
                <a:sym typeface="Calibri"/>
              </a:rPr>
              <a:t> of I (X </a:t>
            </a:r>
            <a:r>
              <a:rPr lang="en-IN" sz="2400" baseline="-25000">
                <a:solidFill>
                  <a:schemeClr val="dk1"/>
                </a:solidFill>
                <a:latin typeface="Calibri"/>
                <a:ea typeface="Calibri"/>
                <a:cs typeface="Calibri"/>
                <a:sym typeface="Calibri"/>
              </a:rPr>
              <a:t>𝑖 </a:t>
            </a:r>
            <a:r>
              <a:rPr lang="en-IN" sz="2400">
                <a:solidFill>
                  <a:schemeClr val="dk1"/>
                </a:solidFill>
                <a:latin typeface="Calibri"/>
                <a:ea typeface="Calibri"/>
                <a:cs typeface="Calibri"/>
                <a:sym typeface="Calibri"/>
              </a:rPr>
              <a:t>): The unit of I (X </a:t>
            </a:r>
            <a:r>
              <a:rPr lang="en-IN" sz="2400" baseline="-25000">
                <a:solidFill>
                  <a:schemeClr val="dk1"/>
                </a:solidFill>
                <a:latin typeface="Calibri"/>
                <a:ea typeface="Calibri"/>
                <a:cs typeface="Calibri"/>
                <a:sym typeface="Calibri"/>
              </a:rPr>
              <a:t>𝑖 </a:t>
            </a:r>
            <a:r>
              <a:rPr lang="en-IN" sz="2400">
                <a:solidFill>
                  <a:schemeClr val="dk1"/>
                </a:solidFill>
                <a:latin typeface="Calibri"/>
                <a:ea typeface="Calibri"/>
                <a:cs typeface="Calibri"/>
                <a:sym typeface="Calibri"/>
              </a:rPr>
              <a:t>) is the bit (binary unit) if b = 2, Hartley or decit if b = 10 and nat (natural unit) if b = e. it is standard to use b = 2.</a:t>
            </a:r>
            <a:endParaRPr/>
          </a:p>
          <a:p>
            <a:pPr marL="0" marR="0" lvl="0" indent="0" algn="just" rtl="0">
              <a:lnSpc>
                <a:spcPct val="150000"/>
              </a:lnSpc>
              <a:spcBef>
                <a:spcPts val="0"/>
              </a:spcBef>
              <a:spcAft>
                <a:spcPts val="0"/>
              </a:spcAft>
              <a:buNone/>
            </a:pPr>
            <a:r>
              <a:rPr lang="en-IN" sz="2400">
                <a:solidFill>
                  <a:schemeClr val="dk1"/>
                </a:solidFill>
                <a:latin typeface="Calibri"/>
                <a:ea typeface="Calibri"/>
                <a:cs typeface="Calibri"/>
                <a:sym typeface="Calibri"/>
              </a:rPr>
              <a:t>			</a:t>
            </a:r>
            <a:r>
              <a:rPr lang="en-IN" sz="2600" b="1">
                <a:solidFill>
                  <a:schemeClr val="dk1"/>
                </a:solidFill>
                <a:latin typeface="Calibri"/>
                <a:ea typeface="Calibri"/>
                <a:cs typeface="Calibri"/>
                <a:sym typeface="Calibri"/>
              </a:rPr>
              <a:t>log2 𝑎 =ln 𝑎/ ln 2 =  log 𝑎/ log 2</a:t>
            </a:r>
            <a:endParaRPr sz="2600" b="1">
              <a:solidFill>
                <a:schemeClr val="dk1"/>
              </a:solidFill>
              <a:latin typeface="Calibri"/>
              <a:ea typeface="Calibri"/>
              <a:cs typeface="Calibri"/>
              <a:sym typeface="Calibri"/>
            </a:endParaRPr>
          </a:p>
        </p:txBody>
      </p:sp>
      <p:sp>
        <p:nvSpPr>
          <p:cNvPr id="202" name="Google Shape;202;p25"/>
          <p:cNvSpPr txBox="1"/>
          <p:nvPr/>
        </p:nvSpPr>
        <p:spPr>
          <a:xfrm>
            <a:off x="180576" y="225419"/>
            <a:ext cx="543738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Times New Roman"/>
                <a:ea typeface="Times New Roman"/>
                <a:cs typeface="Times New Roman"/>
                <a:sym typeface="Times New Roman"/>
              </a:rPr>
              <a:t>Measure of Information</a:t>
            </a:r>
            <a:endParaRPr sz="4000" b="1">
              <a:solidFill>
                <a:schemeClr val="dk1"/>
              </a:solidFill>
              <a:latin typeface="Bell MT"/>
              <a:ea typeface="Bell MT"/>
              <a:cs typeface="Bell MT"/>
              <a:sym typeface="Bell MT"/>
            </a:endParaRPr>
          </a:p>
        </p:txBody>
      </p:sp>
      <p:sp>
        <p:nvSpPr>
          <p:cNvPr id="203" name="Google Shape;203;p25"/>
          <p:cNvSpPr/>
          <p:nvPr/>
        </p:nvSpPr>
        <p:spPr>
          <a:xfrm>
            <a:off x="5955993" y="3244334"/>
            <a:ext cx="18473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26"/>
          <p:cNvSpPr txBox="1"/>
          <p:nvPr/>
        </p:nvSpPr>
        <p:spPr>
          <a:xfrm>
            <a:off x="0" y="433211"/>
            <a:ext cx="95934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Entropy (Average Information)</a:t>
            </a:r>
            <a:endParaRPr sz="4000" b="1">
              <a:solidFill>
                <a:schemeClr val="dk1"/>
              </a:solidFill>
              <a:latin typeface="Bell MT"/>
              <a:ea typeface="Bell MT"/>
              <a:cs typeface="Bell MT"/>
              <a:sym typeface="Bell MT"/>
            </a:endParaRPr>
          </a:p>
        </p:txBody>
      </p:sp>
      <p:sp>
        <p:nvSpPr>
          <p:cNvPr id="211" name="Google Shape;211;p26"/>
          <p:cNvSpPr txBox="1"/>
          <p:nvPr/>
        </p:nvSpPr>
        <p:spPr>
          <a:xfrm>
            <a:off x="350520" y="1217297"/>
            <a:ext cx="11475720" cy="4921860"/>
          </a:xfrm>
          <a:prstGeom prst="rect">
            <a:avLst/>
          </a:prstGeom>
          <a:noFill/>
          <a:ln>
            <a:noFill/>
          </a:ln>
        </p:spPr>
        <p:txBody>
          <a:bodyPr spcFirstLastPara="1" wrap="square" lIns="91425" tIns="45700" rIns="91425" bIns="45700" anchor="t" anchorCtr="0">
            <a:spAutoFit/>
          </a:bodyPr>
          <a:lstStyle/>
          <a:p>
            <a:pPr marL="355600" marR="508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Entropy is a measure of the uncertainty in a random variable. </a:t>
            </a:r>
            <a:endParaRPr sz="2400">
              <a:solidFill>
                <a:schemeClr val="dk1"/>
              </a:solidFill>
              <a:latin typeface="Calibri"/>
              <a:ea typeface="Calibri"/>
              <a:cs typeface="Calibri"/>
              <a:sym typeface="Calibri"/>
            </a:endParaRPr>
          </a:p>
          <a:p>
            <a:pPr marL="355600" marR="5080" lvl="0" indent="-342900" algn="just" rtl="0">
              <a:lnSpc>
                <a:spcPct val="150000"/>
              </a:lnSpc>
              <a:spcBef>
                <a:spcPts val="105"/>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entropy H, of a  discrete random variable X is a measure of the amount of uncertainty associated with  the value of X.</a:t>
            </a:r>
            <a:endParaRPr/>
          </a:p>
          <a:p>
            <a:pPr marL="355600" marR="5080" lvl="0" indent="-342900" algn="just" rtl="0">
              <a:lnSpc>
                <a:spcPct val="150000"/>
              </a:lnSpc>
              <a:spcBef>
                <a:spcPts val="994"/>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For quantitative representation of average information per symbol we make the  following assumptions:</a:t>
            </a:r>
            <a:endParaRPr sz="2400">
              <a:solidFill>
                <a:schemeClr val="dk1"/>
              </a:solidFill>
              <a:latin typeface="Calibri"/>
              <a:ea typeface="Calibri"/>
              <a:cs typeface="Calibri"/>
              <a:sym typeface="Calibri"/>
            </a:endParaRPr>
          </a:p>
          <a:p>
            <a:pPr marL="1384300" marR="5080" lvl="2" indent="-457200" algn="just" rtl="0">
              <a:lnSpc>
                <a:spcPct val="150000"/>
              </a:lnSpc>
              <a:spcBef>
                <a:spcPts val="994"/>
              </a:spcBef>
              <a:spcAft>
                <a:spcPts val="0"/>
              </a:spcAft>
              <a:buClr>
                <a:schemeClr val="dk1"/>
              </a:buClr>
              <a:buSzPts val="2400"/>
              <a:buFont typeface="Calibri"/>
              <a:buAutoNum type="arabicPeriod"/>
            </a:pPr>
            <a:r>
              <a:rPr lang="en-IN" sz="2400" b="0" i="0" u="none" strike="noStrike" cap="none">
                <a:solidFill>
                  <a:schemeClr val="dk1"/>
                </a:solidFill>
                <a:latin typeface="Calibri"/>
                <a:ea typeface="Calibri"/>
                <a:cs typeface="Calibri"/>
                <a:sym typeface="Calibri"/>
              </a:rPr>
              <a:t>The source is stationary so that the probabilities may remain constant with time.</a:t>
            </a:r>
            <a:endParaRPr sz="2400" b="0" i="0" u="none" strike="noStrike" cap="none">
              <a:solidFill>
                <a:schemeClr val="dk1"/>
              </a:solidFill>
              <a:latin typeface="Calibri"/>
              <a:ea typeface="Calibri"/>
              <a:cs typeface="Calibri"/>
              <a:sym typeface="Calibri"/>
            </a:endParaRPr>
          </a:p>
          <a:p>
            <a:pPr marL="1384300" marR="5080" lvl="2" indent="-457200" algn="just" rtl="0">
              <a:lnSpc>
                <a:spcPct val="150000"/>
              </a:lnSpc>
              <a:spcBef>
                <a:spcPts val="994"/>
              </a:spcBef>
              <a:spcAft>
                <a:spcPts val="0"/>
              </a:spcAft>
              <a:buClr>
                <a:schemeClr val="dk1"/>
              </a:buClr>
              <a:buSzPts val="2400"/>
              <a:buFont typeface="Calibri"/>
              <a:buAutoNum type="arabicPeriod"/>
            </a:pPr>
            <a:r>
              <a:rPr lang="en-IN" sz="2400" b="0" i="0" u="none" strike="noStrike" cap="none">
                <a:solidFill>
                  <a:schemeClr val="dk1"/>
                </a:solidFill>
                <a:latin typeface="Calibri"/>
                <a:ea typeface="Calibri"/>
                <a:cs typeface="Calibri"/>
                <a:sym typeface="Calibri"/>
              </a:rPr>
              <a:t>The successive symbols are statistically independent and come from the source at 	an average rate of ‘r’ symbols per second.</a:t>
            </a:r>
            <a:endParaRPr sz="2400" b="0" i="0" u="none" strike="noStrike" cap="none">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7" name="Google Shape;217;p27"/>
          <p:cNvSpPr txBox="1"/>
          <p:nvPr/>
        </p:nvSpPr>
        <p:spPr>
          <a:xfrm>
            <a:off x="182880" y="560535"/>
            <a:ext cx="95934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Entropy (Average Information)</a:t>
            </a:r>
            <a:endParaRPr sz="4000" b="1">
              <a:solidFill>
                <a:schemeClr val="dk1"/>
              </a:solidFill>
              <a:latin typeface="Bell MT"/>
              <a:ea typeface="Bell MT"/>
              <a:cs typeface="Bell MT"/>
              <a:sym typeface="Bell MT"/>
            </a:endParaRPr>
          </a:p>
        </p:txBody>
      </p:sp>
      <p:sp>
        <p:nvSpPr>
          <p:cNvPr id="219" name="Google Shape;219;p27"/>
          <p:cNvSpPr txBox="1"/>
          <p:nvPr/>
        </p:nvSpPr>
        <p:spPr>
          <a:xfrm>
            <a:off x="182880" y="1685513"/>
            <a:ext cx="11430000" cy="2749471"/>
          </a:xfrm>
          <a:prstGeom prst="rect">
            <a:avLst/>
          </a:prstGeom>
          <a:noFill/>
          <a:ln>
            <a:noFill/>
          </a:ln>
        </p:spPr>
        <p:txBody>
          <a:bodyPr spcFirstLastPara="1" wrap="square" lIns="91425" tIns="45700" rIns="91425" bIns="45700" anchor="t" anchorCtr="0">
            <a:spAutoFit/>
          </a:bodyPr>
          <a:lstStyle/>
          <a:p>
            <a:pPr marL="381000" marR="33020" lvl="0" indent="-342900" algn="just" rtl="0">
              <a:lnSpc>
                <a:spcPct val="100000"/>
              </a:lnSpc>
              <a:spcBef>
                <a:spcPts val="0"/>
              </a:spcBef>
              <a:spcAft>
                <a:spcPts val="0"/>
              </a:spcAft>
              <a:buNone/>
            </a:pPr>
            <a:r>
              <a:rPr lang="en-IN" sz="2400">
                <a:solidFill>
                  <a:schemeClr val="dk1"/>
                </a:solidFill>
                <a:latin typeface="Calibri"/>
                <a:ea typeface="Calibri"/>
                <a:cs typeface="Calibri"/>
                <a:sym typeface="Calibri"/>
              </a:rPr>
              <a:t>	3. 	The quantity H(X) is called the entropy of source X. it is a measure of the average                         	information content per source symbol.</a:t>
            </a:r>
            <a:endParaRPr sz="2400">
              <a:solidFill>
                <a:schemeClr val="dk1"/>
              </a:solidFill>
              <a:latin typeface="Calibri"/>
              <a:ea typeface="Calibri"/>
              <a:cs typeface="Calibri"/>
              <a:sym typeface="Calibri"/>
            </a:endParaRPr>
          </a:p>
          <a:p>
            <a:pPr marL="381000" marR="33020" lvl="0" indent="-342900" algn="just" rtl="0">
              <a:lnSpc>
                <a:spcPct val="150000"/>
              </a:lnSpc>
              <a:spcBef>
                <a:spcPts val="994"/>
              </a:spcBef>
              <a:spcAft>
                <a:spcPts val="0"/>
              </a:spcAft>
              <a:buNone/>
            </a:pPr>
            <a:r>
              <a:rPr lang="en-IN" sz="2400">
                <a:solidFill>
                  <a:schemeClr val="dk1"/>
                </a:solidFill>
                <a:latin typeface="Calibri"/>
                <a:ea typeface="Calibri"/>
                <a:cs typeface="Calibri"/>
                <a:sym typeface="Calibri"/>
              </a:rPr>
              <a:t>		4.	The source entropy H(X) can be considered as the average amount of uncertainty  	within 	the source X that is resolved by the use of the alphabet.</a:t>
            </a:r>
            <a:endParaRPr/>
          </a:p>
          <a:p>
            <a:pPr marL="38100" marR="0" lvl="0" indent="0" algn="ctr" rtl="0">
              <a:lnSpc>
                <a:spcPct val="150000"/>
              </a:lnSpc>
              <a:spcBef>
                <a:spcPts val="994"/>
              </a:spcBef>
              <a:spcAft>
                <a:spcPts val="0"/>
              </a:spcAft>
              <a:buNone/>
            </a:pPr>
            <a:r>
              <a:rPr lang="en-IN" sz="2400">
                <a:solidFill>
                  <a:schemeClr val="dk1"/>
                </a:solidFill>
                <a:latin typeface="Calibri"/>
                <a:ea typeface="Calibri"/>
                <a:cs typeface="Calibri"/>
                <a:sym typeface="Calibri"/>
              </a:rPr>
              <a:t>		</a:t>
            </a:r>
            <a:r>
              <a:rPr lang="en-IN" sz="2500" b="1">
                <a:solidFill>
                  <a:schemeClr val="dk1"/>
                </a:solidFill>
                <a:latin typeface="Calibri"/>
                <a:ea typeface="Calibri"/>
                <a:cs typeface="Calibri"/>
                <a:sym typeface="Calibri"/>
              </a:rPr>
              <a:t>H(X) = E [I(x</a:t>
            </a:r>
            <a:r>
              <a:rPr lang="en-IN" sz="2500" b="1" baseline="-25000">
                <a:solidFill>
                  <a:schemeClr val="dk1"/>
                </a:solidFill>
                <a:latin typeface="Calibri"/>
                <a:ea typeface="Calibri"/>
                <a:cs typeface="Calibri"/>
                <a:sym typeface="Calibri"/>
              </a:rPr>
              <a:t>i</a:t>
            </a:r>
            <a:r>
              <a:rPr lang="en-IN" sz="2500" b="1">
                <a:solidFill>
                  <a:schemeClr val="dk1"/>
                </a:solidFill>
                <a:latin typeface="Calibri"/>
                <a:ea typeface="Calibri"/>
                <a:cs typeface="Calibri"/>
                <a:sym typeface="Calibri"/>
              </a:rPr>
              <a:t>)] = - ΣP(x</a:t>
            </a:r>
            <a:r>
              <a:rPr lang="en-IN" sz="2500" b="1" baseline="-25000">
                <a:solidFill>
                  <a:schemeClr val="dk1"/>
                </a:solidFill>
                <a:latin typeface="Calibri"/>
                <a:ea typeface="Calibri"/>
                <a:cs typeface="Calibri"/>
                <a:sym typeface="Calibri"/>
              </a:rPr>
              <a:t>i</a:t>
            </a:r>
            <a:r>
              <a:rPr lang="en-IN" sz="2500" b="1">
                <a:solidFill>
                  <a:schemeClr val="dk1"/>
                </a:solidFill>
                <a:latin typeface="Calibri"/>
                <a:ea typeface="Calibri"/>
                <a:cs typeface="Calibri"/>
                <a:sym typeface="Calibri"/>
              </a:rPr>
              <a:t>) I(x</a:t>
            </a:r>
            <a:r>
              <a:rPr lang="en-IN" sz="2500" b="1" baseline="-25000">
                <a:solidFill>
                  <a:schemeClr val="dk1"/>
                </a:solidFill>
                <a:latin typeface="Calibri"/>
                <a:ea typeface="Calibri"/>
                <a:cs typeface="Calibri"/>
                <a:sym typeface="Calibri"/>
              </a:rPr>
              <a:t>i</a:t>
            </a:r>
            <a:r>
              <a:rPr lang="en-IN" sz="2500" b="1">
                <a:solidFill>
                  <a:schemeClr val="dk1"/>
                </a:solidFill>
                <a:latin typeface="Calibri"/>
                <a:ea typeface="Calibri"/>
                <a:cs typeface="Calibri"/>
                <a:sym typeface="Calibri"/>
              </a:rPr>
              <a:t>) = - ΣP(x</a:t>
            </a:r>
            <a:r>
              <a:rPr lang="en-IN" sz="2500" b="1" baseline="-25000">
                <a:solidFill>
                  <a:schemeClr val="dk1"/>
                </a:solidFill>
                <a:latin typeface="Calibri"/>
                <a:ea typeface="Calibri"/>
                <a:cs typeface="Calibri"/>
                <a:sym typeface="Calibri"/>
              </a:rPr>
              <a:t>i</a:t>
            </a:r>
            <a:r>
              <a:rPr lang="en-IN" sz="2500" b="1">
                <a:solidFill>
                  <a:schemeClr val="dk1"/>
                </a:solidFill>
                <a:latin typeface="Calibri"/>
                <a:ea typeface="Calibri"/>
                <a:cs typeface="Calibri"/>
                <a:sym typeface="Calibri"/>
              </a:rPr>
              <a:t>)log</a:t>
            </a:r>
            <a:r>
              <a:rPr lang="en-IN" sz="2500" b="1" baseline="-25000">
                <a:solidFill>
                  <a:schemeClr val="dk1"/>
                </a:solidFill>
                <a:latin typeface="Calibri"/>
                <a:ea typeface="Calibri"/>
                <a:cs typeface="Calibri"/>
                <a:sym typeface="Calibri"/>
              </a:rPr>
              <a:t>2 </a:t>
            </a:r>
            <a:r>
              <a:rPr lang="en-IN" sz="2500" b="1">
                <a:solidFill>
                  <a:schemeClr val="dk1"/>
                </a:solidFill>
                <a:latin typeface="Calibri"/>
                <a:ea typeface="Calibri"/>
                <a:cs typeface="Calibri"/>
                <a:sym typeface="Calibri"/>
              </a:rPr>
              <a:t>P(x</a:t>
            </a:r>
            <a:r>
              <a:rPr lang="en-IN" sz="2500" b="1" baseline="-25000">
                <a:solidFill>
                  <a:schemeClr val="dk1"/>
                </a:solidFill>
                <a:latin typeface="Calibri"/>
                <a:ea typeface="Calibri"/>
                <a:cs typeface="Calibri"/>
                <a:sym typeface="Calibri"/>
              </a:rPr>
              <a:t>i</a:t>
            </a:r>
            <a:r>
              <a:rPr lang="en-IN" sz="2500" b="1">
                <a:solidFill>
                  <a:schemeClr val="dk1"/>
                </a:solidFill>
                <a:latin typeface="Calibri"/>
                <a:ea typeface="Calibri"/>
                <a:cs typeface="Calibri"/>
                <a:sym typeface="Calibri"/>
              </a:rPr>
              <a:t>) b/symbol</a:t>
            </a:r>
            <a:r>
              <a:rPr lang="en-IN" sz="2400">
                <a:solidFill>
                  <a:srgbClr val="FFFFFF"/>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5" name="Google Shape;225;p28"/>
          <p:cNvSpPr txBox="1"/>
          <p:nvPr/>
        </p:nvSpPr>
        <p:spPr>
          <a:xfrm>
            <a:off x="154229" y="225419"/>
            <a:ext cx="95934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Properties of Entropy</a:t>
            </a:r>
            <a:endParaRPr sz="4000" b="1">
              <a:solidFill>
                <a:schemeClr val="dk1"/>
              </a:solidFill>
              <a:latin typeface="Bell MT"/>
              <a:ea typeface="Bell MT"/>
              <a:cs typeface="Bell MT"/>
              <a:sym typeface="Bell MT"/>
            </a:endParaRPr>
          </a:p>
        </p:txBody>
      </p:sp>
      <p:sp>
        <p:nvSpPr>
          <p:cNvPr id="227" name="Google Shape;227;p28"/>
          <p:cNvSpPr txBox="1"/>
          <p:nvPr/>
        </p:nvSpPr>
        <p:spPr>
          <a:xfrm>
            <a:off x="260909" y="1245413"/>
            <a:ext cx="11458651" cy="4521751"/>
          </a:xfrm>
          <a:prstGeom prst="rect">
            <a:avLst/>
          </a:prstGeom>
          <a:noFill/>
          <a:ln>
            <a:noFill/>
          </a:ln>
        </p:spPr>
        <p:txBody>
          <a:bodyPr spcFirstLastPara="1" wrap="square" lIns="91425" tIns="45700" rIns="91425" bIns="45700" anchor="t" anchorCtr="0">
            <a:spAutoFit/>
          </a:bodyPr>
          <a:lstStyle/>
          <a:p>
            <a:pPr marL="406400" marR="94615" lvl="0" indent="-342900" algn="l"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The source entropy H(X) satisfies the relation: </a:t>
            </a:r>
            <a:r>
              <a:rPr lang="en-IN" sz="2400" b="1">
                <a:solidFill>
                  <a:schemeClr val="dk1"/>
                </a:solidFill>
                <a:latin typeface="Calibri"/>
                <a:ea typeface="Calibri"/>
                <a:cs typeface="Calibri"/>
                <a:sym typeface="Calibri"/>
              </a:rPr>
              <a:t>0 ≤ H(X) ≤ log</a:t>
            </a:r>
            <a:r>
              <a:rPr lang="en-IN" sz="2400" b="1" baseline="-25000">
                <a:solidFill>
                  <a:schemeClr val="dk1"/>
                </a:solidFill>
                <a:latin typeface="Calibri"/>
                <a:ea typeface="Calibri"/>
                <a:cs typeface="Calibri"/>
                <a:sym typeface="Calibri"/>
              </a:rPr>
              <a:t>2 </a:t>
            </a:r>
            <a:r>
              <a:rPr lang="en-IN" sz="2400" b="1">
                <a:solidFill>
                  <a:schemeClr val="dk1"/>
                </a:solidFill>
                <a:latin typeface="Calibri"/>
                <a:ea typeface="Calibri"/>
                <a:cs typeface="Calibri"/>
                <a:sym typeface="Calibri"/>
              </a:rPr>
              <a:t>m</a:t>
            </a:r>
            <a:r>
              <a:rPr lang="en-IN" sz="2400">
                <a:solidFill>
                  <a:schemeClr val="dk1"/>
                </a:solidFill>
                <a:latin typeface="Calibri"/>
                <a:ea typeface="Calibri"/>
                <a:cs typeface="Calibri"/>
                <a:sym typeface="Calibri"/>
              </a:rPr>
              <a:t>,  where m is the size of the alphabet source X.</a:t>
            </a:r>
            <a:endParaRPr/>
          </a:p>
          <a:p>
            <a:pPr marL="977900" marR="0" lvl="1" indent="-457200" algn="l" rtl="0">
              <a:lnSpc>
                <a:spcPct val="150000"/>
              </a:lnSpc>
              <a:spcBef>
                <a:spcPts val="994"/>
              </a:spcBef>
              <a:spcAft>
                <a:spcPts val="0"/>
              </a:spcAft>
              <a:buClr>
                <a:schemeClr val="dk1"/>
              </a:buClr>
              <a:buSzPts val="2400"/>
              <a:buFont typeface="Calibri"/>
              <a:buAutoNum type="arabicPeriod"/>
            </a:pPr>
            <a:r>
              <a:rPr lang="en-IN" sz="2400" b="1" i="0" u="none" strike="noStrike" cap="none">
                <a:solidFill>
                  <a:schemeClr val="dk1"/>
                </a:solidFill>
                <a:latin typeface="Calibri"/>
                <a:ea typeface="Calibri"/>
                <a:cs typeface="Calibri"/>
                <a:sym typeface="Calibri"/>
              </a:rPr>
              <a:t>0 ≤ 𝐻(𝑋)≤ log</a:t>
            </a:r>
            <a:r>
              <a:rPr lang="en-IN" sz="2400" b="1" i="0" u="none" strike="noStrike" cap="none" baseline="-25000">
                <a:solidFill>
                  <a:schemeClr val="dk1"/>
                </a:solidFill>
                <a:latin typeface="Calibri"/>
                <a:ea typeface="Calibri"/>
                <a:cs typeface="Calibri"/>
                <a:sym typeface="Calibri"/>
              </a:rPr>
              <a:t>2 </a:t>
            </a:r>
            <a:r>
              <a:rPr lang="en-IN" sz="2400" b="0" i="0" u="none" strike="noStrike" cap="none">
                <a:solidFill>
                  <a:schemeClr val="dk1"/>
                </a:solidFill>
                <a:latin typeface="Calibri"/>
                <a:ea typeface="Calibri"/>
                <a:cs typeface="Calibri"/>
                <a:sym typeface="Calibri"/>
              </a:rPr>
              <a:t>;	m = no. of symbols of	the alphabet of source X.</a:t>
            </a:r>
            <a:endParaRPr/>
          </a:p>
          <a:p>
            <a:pPr marL="63500" marR="95885" lvl="0" indent="0" algn="just" rtl="0">
              <a:lnSpc>
                <a:spcPct val="150000"/>
              </a:lnSpc>
              <a:spcBef>
                <a:spcPts val="1145"/>
              </a:spcBef>
              <a:spcAft>
                <a:spcPts val="0"/>
              </a:spcAft>
              <a:buNone/>
            </a:pPr>
            <a:r>
              <a:rPr lang="en-IN" sz="2400">
                <a:solidFill>
                  <a:schemeClr val="dk1"/>
                </a:solidFill>
                <a:latin typeface="Calibri"/>
                <a:ea typeface="Calibri"/>
                <a:cs typeface="Calibri"/>
                <a:sym typeface="Calibri"/>
              </a:rPr>
              <a:t>	2.  When all the	 events	are	equally likely,	the average uncertainty must have the 	largest value i.e. </a:t>
            </a:r>
            <a:r>
              <a:rPr lang="en-IN" sz="2400" b="1">
                <a:solidFill>
                  <a:schemeClr val="dk1"/>
                </a:solidFill>
                <a:latin typeface="Calibri"/>
                <a:ea typeface="Calibri"/>
                <a:cs typeface="Calibri"/>
                <a:sym typeface="Calibri"/>
              </a:rPr>
              <a:t>log</a:t>
            </a:r>
            <a:r>
              <a:rPr lang="en-IN" sz="2400" b="1" baseline="-25000">
                <a:solidFill>
                  <a:schemeClr val="dk1"/>
                </a:solidFill>
                <a:latin typeface="Calibri"/>
                <a:ea typeface="Calibri"/>
                <a:cs typeface="Calibri"/>
                <a:sym typeface="Calibri"/>
              </a:rPr>
              <a:t>2 </a:t>
            </a:r>
            <a:r>
              <a:rPr lang="en-IN" sz="2400" b="1">
                <a:solidFill>
                  <a:schemeClr val="dk1"/>
                </a:solidFill>
                <a:latin typeface="Calibri"/>
                <a:ea typeface="Calibri"/>
                <a:cs typeface="Calibri"/>
                <a:sym typeface="Calibri"/>
              </a:rPr>
              <a:t>𝑚≥ 𝐻(𝑋)</a:t>
            </a:r>
            <a:endParaRPr sz="2400" b="1">
              <a:solidFill>
                <a:schemeClr val="dk1"/>
              </a:solidFill>
              <a:latin typeface="Calibri"/>
              <a:ea typeface="Calibri"/>
              <a:cs typeface="Calibri"/>
              <a:sym typeface="Calibri"/>
            </a:endParaRPr>
          </a:p>
          <a:p>
            <a:pPr marL="63500" marR="95885" lvl="0" indent="0" algn="just" rtl="0">
              <a:lnSpc>
                <a:spcPct val="150000"/>
              </a:lnSpc>
              <a:spcBef>
                <a:spcPts val="1145"/>
              </a:spcBef>
              <a:spcAft>
                <a:spcPts val="0"/>
              </a:spcAft>
              <a:buNone/>
            </a:pPr>
            <a:r>
              <a:rPr lang="en-IN" sz="2400">
                <a:solidFill>
                  <a:schemeClr val="dk1"/>
                </a:solidFill>
                <a:latin typeface="Calibri"/>
                <a:ea typeface="Calibri"/>
                <a:cs typeface="Calibri"/>
                <a:sym typeface="Calibri"/>
              </a:rPr>
              <a:t>	3. </a:t>
            </a:r>
            <a:r>
              <a:rPr lang="en-IN" sz="2400" b="1">
                <a:solidFill>
                  <a:schemeClr val="dk1"/>
                </a:solidFill>
                <a:latin typeface="Calibri"/>
                <a:ea typeface="Calibri"/>
                <a:cs typeface="Calibri"/>
                <a:sym typeface="Calibri"/>
              </a:rPr>
              <a:t>H (X) = 0</a:t>
            </a:r>
            <a:r>
              <a:rPr lang="en-IN" sz="2400">
                <a:solidFill>
                  <a:schemeClr val="dk1"/>
                </a:solidFill>
                <a:latin typeface="Calibri"/>
                <a:ea typeface="Calibri"/>
                <a:cs typeface="Calibri"/>
                <a:sym typeface="Calibri"/>
              </a:rPr>
              <a:t>, if all the P(x</a:t>
            </a:r>
            <a:r>
              <a:rPr lang="en-IN" sz="2400" baseline="-25000">
                <a:solidFill>
                  <a:schemeClr val="dk1"/>
                </a:solidFill>
                <a:latin typeface="Calibri"/>
                <a:ea typeface="Calibri"/>
                <a:cs typeface="Calibri"/>
                <a:sym typeface="Calibri"/>
              </a:rPr>
              <a:t>i</a:t>
            </a:r>
            <a:r>
              <a:rPr lang="en-IN" sz="2400">
                <a:solidFill>
                  <a:schemeClr val="dk1"/>
                </a:solidFill>
                <a:latin typeface="Calibri"/>
                <a:ea typeface="Calibri"/>
                <a:cs typeface="Calibri"/>
                <a:sym typeface="Calibri"/>
              </a:rPr>
              <a:t>) are zero except for one symbol with P =  1.</a:t>
            </a:r>
            <a:endParaRPr/>
          </a:p>
          <a:p>
            <a:pPr marL="381000" marR="0" lvl="0" indent="-190500" algn="just" rtl="0">
              <a:lnSpc>
                <a:spcPct val="150000"/>
              </a:lnSpc>
              <a:spcBef>
                <a:spcPts val="1095"/>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33" name="Google Shape;233;p29"/>
          <p:cNvSpPr txBox="1"/>
          <p:nvPr/>
        </p:nvSpPr>
        <p:spPr>
          <a:xfrm>
            <a:off x="93270" y="526948"/>
            <a:ext cx="95934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Information Rate</a:t>
            </a:r>
            <a:endParaRPr sz="4000" b="1">
              <a:solidFill>
                <a:schemeClr val="dk1"/>
              </a:solidFill>
              <a:latin typeface="Bell MT"/>
              <a:ea typeface="Bell MT"/>
              <a:cs typeface="Bell MT"/>
              <a:sym typeface="Bell MT"/>
            </a:endParaRPr>
          </a:p>
        </p:txBody>
      </p:sp>
      <p:sp>
        <p:nvSpPr>
          <p:cNvPr id="235" name="Google Shape;235;p29"/>
          <p:cNvSpPr txBox="1"/>
          <p:nvPr/>
        </p:nvSpPr>
        <p:spPr>
          <a:xfrm>
            <a:off x="93270" y="1469563"/>
            <a:ext cx="10910010" cy="3189784"/>
          </a:xfrm>
          <a:prstGeom prst="rect">
            <a:avLst/>
          </a:prstGeom>
          <a:noFill/>
          <a:ln>
            <a:noFill/>
          </a:ln>
        </p:spPr>
        <p:txBody>
          <a:bodyPr spcFirstLastPara="1" wrap="square" lIns="91425" tIns="45700" rIns="91425" bIns="45700" anchor="t" anchorCtr="0">
            <a:spAutoFit/>
          </a:bodyPr>
          <a:lstStyle/>
          <a:p>
            <a:pPr marL="355600" marR="508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the time rate at	which X emits symbols is ‘r’ (symbols), the information rate R of the source is given by</a:t>
            </a:r>
            <a:endParaRPr/>
          </a:p>
          <a:p>
            <a:pPr marL="12700" marR="0" lvl="0" indent="0" algn="just" rtl="0">
              <a:lnSpc>
                <a:spcPct val="150000"/>
              </a:lnSpc>
              <a:spcBef>
                <a:spcPts val="994"/>
              </a:spcBef>
              <a:spcAft>
                <a:spcPts val="0"/>
              </a:spcAft>
              <a:buNone/>
            </a:pPr>
            <a:r>
              <a:rPr lang="en-IN" sz="2400" b="1">
                <a:solidFill>
                  <a:schemeClr val="dk1"/>
                </a:solidFill>
                <a:latin typeface="Calibri"/>
                <a:ea typeface="Calibri"/>
                <a:cs typeface="Calibri"/>
                <a:sym typeface="Calibri"/>
              </a:rPr>
              <a:t>			R = r H(X) b/s </a:t>
            </a:r>
            <a:r>
              <a:rPr lang="en-IN" sz="2400">
                <a:solidFill>
                  <a:schemeClr val="dk1"/>
                </a:solidFill>
                <a:latin typeface="Calibri"/>
                <a:ea typeface="Calibri"/>
                <a:cs typeface="Calibri"/>
                <a:sym typeface="Calibri"/>
              </a:rPr>
              <a:t>[(symbols / second) * (information bits/ symbol)].</a:t>
            </a:r>
            <a:endParaRPr sz="2400">
              <a:solidFill>
                <a:schemeClr val="dk1"/>
              </a:solidFill>
              <a:latin typeface="Calibri"/>
              <a:ea typeface="Calibri"/>
              <a:cs typeface="Calibri"/>
              <a:sym typeface="Calibri"/>
            </a:endParaRPr>
          </a:p>
          <a:p>
            <a:pPr marL="12700" marR="0" lvl="0" indent="0" algn="just" rtl="0">
              <a:lnSpc>
                <a:spcPct val="150000"/>
              </a:lnSpc>
              <a:spcBef>
                <a:spcPts val="1010"/>
              </a:spcBef>
              <a:spcAft>
                <a:spcPts val="0"/>
              </a:spcAft>
              <a:buNone/>
            </a:pPr>
            <a:r>
              <a:rPr lang="en-IN" sz="2400">
                <a:solidFill>
                  <a:schemeClr val="dk1"/>
                </a:solidFill>
                <a:latin typeface="Calibri"/>
                <a:ea typeface="Calibri"/>
                <a:cs typeface="Calibri"/>
                <a:sym typeface="Calibri"/>
              </a:rPr>
              <a:t>			R is the information rate</a:t>
            </a:r>
            <a:endParaRPr/>
          </a:p>
          <a:p>
            <a:pPr marL="12700" marR="0" lvl="0" indent="0" algn="just" rtl="0">
              <a:lnSpc>
                <a:spcPct val="150000"/>
              </a:lnSpc>
              <a:spcBef>
                <a:spcPts val="1010"/>
              </a:spcBef>
              <a:spcAft>
                <a:spcPts val="0"/>
              </a:spcAft>
              <a:buNone/>
            </a:pPr>
            <a:r>
              <a:rPr lang="en-IN" sz="2400">
                <a:solidFill>
                  <a:schemeClr val="dk1"/>
                </a:solidFill>
                <a:latin typeface="Calibri"/>
                <a:ea typeface="Calibri"/>
                <a:cs typeface="Calibri"/>
                <a:sym typeface="Calibri"/>
              </a:rPr>
              <a:t>			H(X) = Entropy or average information</a:t>
            </a:r>
            <a:r>
              <a:rPr lang="en-IN" sz="2400">
                <a:solidFill>
                  <a:srgbClr val="FFFFFF"/>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6"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3">
              <a:alphaModFix/>
            </a:blip>
            <a:stretch>
              <a:fillRect/>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41" name="Google Shape;241;p30"/>
          <p:cNvSpPr txBox="1"/>
          <p:nvPr/>
        </p:nvSpPr>
        <p:spPr>
          <a:xfrm>
            <a:off x="335280" y="337900"/>
            <a:ext cx="95934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b="1">
                <a:solidFill>
                  <a:schemeClr val="dk1"/>
                </a:solidFill>
                <a:latin typeface="Bell MT"/>
                <a:ea typeface="Bell MT"/>
                <a:cs typeface="Bell MT"/>
                <a:sym typeface="Bell MT"/>
              </a:rPr>
              <a:t>Applications of Information Theory</a:t>
            </a:r>
            <a:endParaRPr sz="4000" b="1">
              <a:solidFill>
                <a:schemeClr val="dk1"/>
              </a:solidFill>
              <a:latin typeface="Bell MT"/>
              <a:ea typeface="Bell MT"/>
              <a:cs typeface="Bell MT"/>
              <a:sym typeface="Bell MT"/>
            </a:endParaRPr>
          </a:p>
        </p:txBody>
      </p:sp>
      <p:sp>
        <p:nvSpPr>
          <p:cNvPr id="243" name="Google Shape;243;p30"/>
          <p:cNvSpPr txBox="1"/>
          <p:nvPr/>
        </p:nvSpPr>
        <p:spPr>
          <a:xfrm>
            <a:off x="335280" y="1586781"/>
            <a:ext cx="10454640" cy="3970318"/>
          </a:xfrm>
          <a:prstGeom prst="rect">
            <a:avLst/>
          </a:prstGeom>
          <a:noFill/>
          <a:ln>
            <a:noFill/>
          </a:ln>
        </p:spPr>
        <p:txBody>
          <a:bodyPr spcFirstLastPara="1" wrap="square" lIns="91425" tIns="45700" rIns="91425" bIns="45700" anchor="t" anchorCtr="0">
            <a:spAutoFit/>
          </a:bodyPr>
          <a:lstStyle/>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Video abstraction – extraction </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Secure data transmission</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Channel capacity </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Speech coding </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Waveform coding </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Losless data compression </a:t>
            </a:r>
            <a:endParaRPr/>
          </a:p>
          <a:p>
            <a:pPr marL="698500" marR="0" lvl="0" indent="-342900" algn="just" rtl="0">
              <a:lnSpc>
                <a:spcPct val="150000"/>
              </a:lnSpc>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cryptography</a:t>
            </a:r>
            <a:endParaRPr/>
          </a:p>
        </p:txBody>
      </p:sp>
      <p:pic>
        <p:nvPicPr>
          <p:cNvPr id="244" name="Google Shape;244;p30"/>
          <p:cNvPicPr preferRelativeResize="0"/>
          <p:nvPr/>
        </p:nvPicPr>
        <p:blipFill rotWithShape="1">
          <a:blip r:embed="rId3">
            <a:alphaModFix/>
          </a:blip>
          <a:srcRect/>
          <a:stretch/>
        </p:blipFill>
        <p:spPr>
          <a:xfrm>
            <a:off x="6344298" y="1614698"/>
            <a:ext cx="4127058" cy="4127058"/>
          </a:xfrm>
          <a:prstGeom prst="rect">
            <a:avLst/>
          </a:prstGeom>
          <a:noFill/>
          <a:ln>
            <a:noFill/>
          </a:ln>
        </p:spPr>
      </p:pic>
      <p:sp>
        <p:nvSpPr>
          <p:cNvPr id="7" name="Google Shape;98;p14"/>
          <p:cNvSpPr/>
          <p:nvPr/>
        </p:nvSpPr>
        <p:spPr>
          <a:xfrm>
            <a:off x="10272464" y="245017"/>
            <a:ext cx="1329863" cy="1203568"/>
          </a:xfrm>
          <a:custGeom>
            <a:avLst/>
            <a:gdLst/>
            <a:ahLst/>
            <a:cxnLst/>
            <a:rect l="l" t="t" r="r" b="b"/>
            <a:pathLst>
              <a:path w="1613661" h="1588112" extrusionOk="0">
                <a:moveTo>
                  <a:pt x="0" y="0"/>
                </a:moveTo>
                <a:lnTo>
                  <a:pt x="1613661" y="0"/>
                </a:lnTo>
                <a:lnTo>
                  <a:pt x="1613661" y="1588112"/>
                </a:lnTo>
                <a:lnTo>
                  <a:pt x="0" y="1588112"/>
                </a:lnTo>
                <a:lnTo>
                  <a:pt x="0" y="0"/>
                </a:lnTo>
                <a:close/>
              </a:path>
            </a:pathLst>
          </a:custGeom>
          <a:blipFill rotWithShape="1">
            <a:blip r:embed="rId4">
              <a:alphaModFix/>
            </a:blip>
            <a:stretch>
              <a:fillRect/>
            </a:stretch>
          </a:blip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658</Words>
  <Application>Microsoft Office PowerPoint</Application>
  <PresentationFormat>Custom</PresentationFormat>
  <Paragraphs>108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Verdana</vt:lpstr>
      <vt:lpstr>Times New Roman</vt:lpstr>
      <vt:lpstr>Calibri</vt:lpstr>
      <vt:lpstr>Bell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PRADEEP</cp:lastModifiedBy>
  <cp:revision>5</cp:revision>
  <dcterms:modified xsi:type="dcterms:W3CDTF">2026-03-23T05:46:05Z</dcterms:modified>
</cp:coreProperties>
</file>