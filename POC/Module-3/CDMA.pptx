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sldIdLst>
    <p:sldId id="343" r:id="rId2"/>
    <p:sldId id="344" r:id="rId3"/>
    <p:sldId id="354" r:id="rId4"/>
    <p:sldId id="368" r:id="rId5"/>
    <p:sldId id="355" r:id="rId6"/>
    <p:sldId id="386" r:id="rId7"/>
    <p:sldId id="385" r:id="rId8"/>
    <p:sldId id="377" r:id="rId9"/>
    <p:sldId id="378" r:id="rId10"/>
    <p:sldId id="379" r:id="rId11"/>
    <p:sldId id="380" r:id="rId12"/>
    <p:sldId id="387" r:id="rId13"/>
    <p:sldId id="381" r:id="rId14"/>
    <p:sldId id="382" r:id="rId15"/>
    <p:sldId id="383" r:id="rId16"/>
    <p:sldId id="384" r:id="rId17"/>
  </p:sldIdLst>
  <p:sldSz cx="14630400" cy="8229600"/>
  <p:notesSz cx="9321800" cy="6985000"/>
  <p:defaultTextStyle>
    <a:defPPr>
      <a:defRPr lang="en-US"/>
    </a:defPPr>
    <a:lvl1pPr marL="0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837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1673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2512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3349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4186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5020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5859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6693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94">
          <p15:clr>
            <a:srgbClr val="A4A3A4"/>
          </p15:clr>
        </p15:guide>
        <p15:guide id="2" pos="3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 showScrollbar="0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852" y="84"/>
      </p:cViewPr>
      <p:guideLst>
        <p:guide orient="horz" pos="3394"/>
        <p:guide pos="33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104503" y="83708"/>
            <a:ext cx="14421395" cy="803064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072640" y="3840480"/>
            <a:ext cx="10241280" cy="1920240"/>
          </a:xfrm>
        </p:spPr>
        <p:txBody>
          <a:bodyPr/>
          <a:lstStyle>
            <a:lvl1pPr marL="0" indent="0" algn="ctr">
              <a:buNone/>
              <a:defRPr sz="3700">
                <a:solidFill>
                  <a:schemeClr val="tx2"/>
                </a:solidFill>
              </a:defRPr>
            </a:lvl1pPr>
            <a:lvl2pPr marL="653084" indent="0" algn="ctr">
              <a:buNone/>
            </a:lvl2pPr>
            <a:lvl3pPr marL="1306168" indent="0" algn="ctr">
              <a:buNone/>
            </a:lvl3pPr>
            <a:lvl4pPr marL="1959253" indent="0" algn="ctr">
              <a:buNone/>
            </a:lvl4pPr>
            <a:lvl5pPr marL="2612336" indent="0" algn="ctr">
              <a:buNone/>
            </a:lvl5pPr>
            <a:lvl6pPr marL="3265421" indent="0" algn="ctr">
              <a:buNone/>
            </a:lvl6pPr>
            <a:lvl7pPr marL="3918504" indent="0" algn="ctr">
              <a:buNone/>
            </a:lvl7pPr>
            <a:lvl8pPr marL="4571588" indent="0" algn="ctr">
              <a:buNone/>
            </a:lvl8pPr>
            <a:lvl9pPr marL="5224673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0692" y="1739165"/>
            <a:ext cx="14434459" cy="183281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00692" y="1676064"/>
            <a:ext cx="14434459" cy="144696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00692" y="3571979"/>
            <a:ext cx="14434459" cy="1326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31520" y="1807118"/>
            <a:ext cx="13167360" cy="1764030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463040" y="1737360"/>
            <a:ext cx="12435840" cy="54864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104503" y="83708"/>
            <a:ext cx="14421395" cy="803064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1143002"/>
            <a:ext cx="12435840" cy="1634490"/>
          </a:xfrm>
        </p:spPr>
        <p:txBody>
          <a:bodyPr anchor="b" anchorCtr="0"/>
          <a:lstStyle>
            <a:lvl1pPr algn="l">
              <a:buNone/>
              <a:defRPr sz="56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057526"/>
            <a:ext cx="12435840" cy="1605914"/>
          </a:xfrm>
        </p:spPr>
        <p:txBody>
          <a:bodyPr anchor="t" anchorCtr="0"/>
          <a:lstStyle>
            <a:lvl1pPr marL="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80160" y="7406640"/>
            <a:ext cx="6400800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111060" y="2852196"/>
            <a:ext cx="14421624" cy="10972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10635" y="2809772"/>
            <a:ext cx="14422050" cy="54863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09291" y="2962656"/>
            <a:ext cx="14423394" cy="54864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4086" y="7450531"/>
            <a:ext cx="731520" cy="548640"/>
          </a:xfrm>
        </p:spPr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463040" y="1737360"/>
            <a:ext cx="5998464" cy="54864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894320" y="1737360"/>
            <a:ext cx="5998464" cy="54864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327660"/>
            <a:ext cx="12435840" cy="13716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1737360"/>
            <a:ext cx="5974080" cy="914400"/>
          </a:xfrm>
          <a:noFill/>
          <a:ln w="12700" cap="sq" cmpd="sng" algn="ctr">
            <a:noFill/>
            <a:prstDash val="solid"/>
          </a:ln>
        </p:spPr>
        <p:txBody>
          <a:bodyPr lIns="130616" anchor="b" anchorCtr="0">
            <a:noAutofit/>
          </a:bodyPr>
          <a:lstStyle>
            <a:lvl1pPr marL="0" indent="0">
              <a:buNone/>
              <a:defRPr sz="3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924800" y="1737360"/>
            <a:ext cx="5974080" cy="914400"/>
          </a:xfrm>
          <a:noFill/>
          <a:ln w="12700" cap="sq" cmpd="sng" algn="ctr">
            <a:noFill/>
            <a:prstDash val="solid"/>
          </a:ln>
        </p:spPr>
        <p:txBody>
          <a:bodyPr lIns="130616" anchor="b" anchorCtr="0">
            <a:noAutofit/>
          </a:bodyPr>
          <a:lstStyle>
            <a:lvl1pPr marL="0" indent="0">
              <a:buNone/>
              <a:defRPr sz="3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463040" y="2697480"/>
            <a:ext cx="5974080" cy="466344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7924800" y="2697480"/>
            <a:ext cx="5974080" cy="466344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102415" y="83706"/>
            <a:ext cx="14421395" cy="803209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327660"/>
            <a:ext cx="12435840" cy="1371600"/>
          </a:xfrm>
        </p:spPr>
        <p:txBody>
          <a:bodyPr anchor="b" anchorCtr="0"/>
          <a:lstStyle>
            <a:lvl1pPr algn="l">
              <a:buNone/>
              <a:defRPr sz="56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463040" y="1920240"/>
            <a:ext cx="3048000" cy="5394960"/>
          </a:xfrm>
        </p:spPr>
        <p:txBody>
          <a:bodyPr/>
          <a:lstStyle>
            <a:lvl1pPr marL="0" indent="0">
              <a:buNone/>
              <a:defRPr sz="26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4754880" y="1920240"/>
            <a:ext cx="9144000" cy="539496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5880660"/>
            <a:ext cx="11704320" cy="626746"/>
          </a:xfrm>
        </p:spPr>
        <p:txBody>
          <a:bodyPr anchor="ctr">
            <a:noAutofit/>
          </a:bodyPr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3040" y="6534990"/>
            <a:ext cx="11704320" cy="822960"/>
          </a:xfrm>
        </p:spPr>
        <p:txBody>
          <a:bodyPr/>
          <a:lstStyle>
            <a:lvl1pPr marL="0" indent="0">
              <a:buFontTx/>
              <a:buNone/>
              <a:defRPr sz="23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63040" y="7406640"/>
            <a:ext cx="6217920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34086" y="7450531"/>
            <a:ext cx="731520" cy="548640"/>
          </a:xfrm>
        </p:spPr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109291" y="5620266"/>
            <a:ext cx="14410944" cy="10972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9614" y="5580571"/>
            <a:ext cx="14410622" cy="54863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09618" y="5727871"/>
            <a:ext cx="14410619" cy="5856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9295" y="80012"/>
            <a:ext cx="14402998" cy="5497830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46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transition spd="med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71"/>
            <a:ext cx="3218688" cy="702183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3040" y="329570"/>
            <a:ext cx="8900160" cy="702183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02415" y="83706"/>
            <a:ext cx="14421395" cy="803209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463040" y="329566"/>
            <a:ext cx="12435840" cy="1371600"/>
          </a:xfrm>
          <a:prstGeom prst="rect">
            <a:avLst/>
          </a:prstGeom>
        </p:spPr>
        <p:txBody>
          <a:bodyPr lIns="130616" tIns="65309" rIns="130616" bIns="130616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463040" y="1737360"/>
            <a:ext cx="12435840" cy="5486400"/>
          </a:xfrm>
          <a:prstGeom prst="rect">
            <a:avLst/>
          </a:prstGeom>
        </p:spPr>
        <p:txBody>
          <a:bodyPr lIns="130616" tIns="65309" rIns="130616" bIns="65309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9875520" y="7429500"/>
            <a:ext cx="3962400" cy="571500"/>
          </a:xfrm>
          <a:prstGeom prst="rect">
            <a:avLst/>
          </a:prstGeom>
        </p:spPr>
        <p:txBody>
          <a:bodyPr lIns="130616" tIns="65309" rIns="130616" bIns="65309" anchor="ctr" anchorCtr="0"/>
          <a:lstStyle>
            <a:lvl1pPr algn="r" eaLnBrk="1" latinLnBrk="0" hangingPunct="1">
              <a:defRPr kumimoji="0" sz="2000">
                <a:solidFill>
                  <a:schemeClr val="tx2"/>
                </a:solidFill>
              </a:defRPr>
            </a:lvl1pPr>
          </a:lstStyle>
          <a:p>
            <a:fld id="{C51AED2F-06AA-42A4-A44B-03BFD2EF81B1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63040" y="7406640"/>
            <a:ext cx="6339840" cy="548640"/>
          </a:xfrm>
          <a:prstGeom prst="rect">
            <a:avLst/>
          </a:prstGeom>
        </p:spPr>
        <p:txBody>
          <a:bodyPr lIns="130616" tIns="65309" rIns="130616" bIns="65309" anchor="ctr" anchorCtr="0"/>
          <a:lstStyle>
            <a:lvl1pPr eaLnBrk="1" latinLnBrk="0" hangingPunct="1">
              <a:defRPr kumimoji="0" sz="2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234086" y="7452360"/>
            <a:ext cx="731520" cy="54864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2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ransition spd="med">
    <p:wedge/>
  </p:transition>
  <p:txStyles>
    <p:titleStyle>
      <a:lvl1pPr algn="l" rtl="0" eaLnBrk="1" latinLnBrk="0" hangingPunct="1">
        <a:spcBef>
          <a:spcPct val="0"/>
        </a:spcBef>
        <a:buNone/>
        <a:defRPr kumimoji="0" sz="5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91850" indent="-391850" algn="l" rtl="0" eaLnBrk="1" latinLnBrk="0" hangingPunct="1">
        <a:spcBef>
          <a:spcPts val="829"/>
        </a:spcBef>
        <a:buClr>
          <a:schemeClr val="accent1"/>
        </a:buClr>
        <a:buSzPct val="85000"/>
        <a:buFont typeface="Wingdings 2"/>
        <a:buChar char=""/>
        <a:defRPr kumimoji="0"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783701" indent="-326542" algn="l" rtl="0" eaLnBrk="1" latinLnBrk="0" hangingPunct="1">
        <a:spcBef>
          <a:spcPts val="529"/>
        </a:spcBef>
        <a:buClr>
          <a:schemeClr val="accent2"/>
        </a:buClr>
        <a:buSzPct val="85000"/>
        <a:buFont typeface="Wingdings 2"/>
        <a:buChar char="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175551" indent="-326542" algn="l" rtl="0" eaLnBrk="1" latinLnBrk="0" hangingPunct="1">
        <a:spcBef>
          <a:spcPts val="529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567402" indent="-326542" algn="l" rtl="0" eaLnBrk="1" latinLnBrk="0" hangingPunct="1">
        <a:spcBef>
          <a:spcPts val="529"/>
        </a:spcBef>
        <a:buClr>
          <a:schemeClr val="accent3"/>
        </a:buClr>
        <a:buSzPct val="80000"/>
        <a:buFont typeface="Wingdings 2"/>
        <a:buChar char="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9253" indent="-326542" algn="l" rtl="0" eaLnBrk="1" latinLnBrk="0" hangingPunct="1">
        <a:spcBef>
          <a:spcPts val="529"/>
        </a:spcBef>
        <a:buClr>
          <a:schemeClr val="accent3"/>
        </a:buClr>
        <a:buFontTx/>
        <a:buChar char="o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2351102" indent="-326542" algn="l" rtl="0" eaLnBrk="1" latinLnBrk="0" hangingPunct="1">
        <a:spcBef>
          <a:spcPts val="529"/>
        </a:spcBef>
        <a:buClr>
          <a:schemeClr val="accent3"/>
        </a:buClr>
        <a:buChar char="•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2953" indent="-326542" algn="l" rtl="0" eaLnBrk="1" latinLnBrk="0" hangingPunct="1">
        <a:spcBef>
          <a:spcPts val="529"/>
        </a:spcBef>
        <a:buClr>
          <a:schemeClr val="accent2"/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3134803" indent="-326542" algn="l" rtl="0" eaLnBrk="1" latinLnBrk="0" hangingPunct="1">
        <a:spcBef>
          <a:spcPts val="529"/>
        </a:spcBef>
        <a:buClr>
          <a:schemeClr val="accent1">
            <a:tint val="60000"/>
          </a:schemeClr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3526654" indent="-326542" algn="l" rtl="0" eaLnBrk="1" latinLnBrk="0" hangingPunct="1">
        <a:spcBef>
          <a:spcPts val="529"/>
        </a:spcBef>
        <a:buClr>
          <a:schemeClr val="accent2">
            <a:tint val="60000"/>
          </a:schemeClr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308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6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92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654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185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246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65760" y="838200"/>
            <a:ext cx="14264640" cy="60350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MULTIPLE ACCESS TECHNIQUES</a:t>
            </a:r>
          </a:p>
          <a:p>
            <a:pPr>
              <a:lnSpc>
                <a:spcPct val="150000"/>
              </a:lnSpc>
              <a:defRPr/>
            </a:pPr>
            <a:endParaRPr lang="en-US" dirty="0">
              <a:solidFill>
                <a:schemeClr val="tx1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pic>
        <p:nvPicPr>
          <p:cNvPr id="4" name="Picture 3" descr="fTop-Image copy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3181"/>
            <a:ext cx="13411200" cy="90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3810000"/>
            <a:ext cx="7391400" cy="3713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0"/>
            <a:ext cx="12435840" cy="1371600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OVERVIEW</a:t>
            </a: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13977" y="7627623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71600" y="1524000"/>
            <a:ext cx="12115800" cy="4114800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Arial" pitchFamily="34" charset="0"/>
                <a:cs typeface="Arial" pitchFamily="34" charset="0"/>
              </a:rPr>
              <a:t> Introduction to Multiple Access</a:t>
            </a:r>
          </a:p>
          <a:p>
            <a:r>
              <a:rPr lang="en-US" sz="3400" dirty="0">
                <a:latin typeface="Arial" pitchFamily="34" charset="0"/>
                <a:cs typeface="Arial" pitchFamily="34" charset="0"/>
              </a:rPr>
              <a:t> FDMA</a:t>
            </a:r>
          </a:p>
          <a:p>
            <a:r>
              <a:rPr lang="en-US" sz="3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400" dirty="0">
                <a:latin typeface="Arial" pitchFamily="34" charset="0"/>
                <a:cs typeface="Arial" pitchFamily="34" charset="0"/>
              </a:rPr>
              <a:t>TDMA</a:t>
            </a:r>
          </a:p>
          <a:p>
            <a:r>
              <a:rPr lang="en-US" sz="34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3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Spread Spectrum Multiple Access</a:t>
            </a:r>
          </a:p>
          <a:p>
            <a:r>
              <a:rPr lang="en-US" sz="3400" dirty="0">
                <a:latin typeface="Arial" pitchFamily="34" charset="0"/>
                <a:cs typeface="Arial" pitchFamily="34" charset="0"/>
              </a:rPr>
              <a:t> SDMA</a:t>
            </a:r>
          </a:p>
          <a:p>
            <a:r>
              <a:rPr lang="en-US" sz="3400" dirty="0">
                <a:latin typeface="Arial" pitchFamily="34" charset="0"/>
                <a:cs typeface="Arial" pitchFamily="34" charset="0"/>
              </a:rPr>
              <a:t> OFDMA</a:t>
            </a:r>
          </a:p>
        </p:txBody>
      </p:sp>
      <p:pic>
        <p:nvPicPr>
          <p:cNvPr id="16386" name="Picture 2" descr="FHSS vs. DSSS bandwidth utilization | Download Scientific Diagra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4114800"/>
            <a:ext cx="9144000" cy="3276600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2362200" y="0"/>
            <a:ext cx="106680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Spread Spectrum </a:t>
            </a:r>
            <a:r>
              <a:rPr sz="7200" b="1" baseline="3103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Multiple</a:t>
            </a:r>
            <a:r>
              <a:rPr lang="en-US" sz="7200" b="1" baseline="3103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Access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581400" y="7627623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-152400"/>
            <a:ext cx="13716000" cy="8299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Transmission bandwidth is several orders of magnitude greater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 than the minimum required RF bandwidth.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Pseudo-noise (PN) sequence converts a narrowband signal to a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 wideband noise-like signal.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Provides immunity to multipath interference and robust multiple 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 access capability.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Bandwidth efficient in a multi user environment. </a:t>
            </a:r>
          </a:p>
          <a:p>
            <a:pPr algn="just">
              <a:lnSpc>
                <a:spcPct val="150000"/>
              </a:lnSpc>
            </a:pPr>
            <a:endParaRPr lang="en-US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1524000" y="0"/>
            <a:ext cx="128778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Types of Spread Spectrum Techniques 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581400" y="7627623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200" y="1600200"/>
            <a:ext cx="1203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>
              <a:latin typeface="Arial" pitchFamily="34" charset="0"/>
              <a:cs typeface="Arial" pitchFamily="34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Two main types SSMA: </a:t>
            </a:r>
          </a:p>
          <a:p>
            <a:endParaRPr lang="en-US" sz="36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3600" b="1" dirty="0">
                <a:latin typeface="Arial" pitchFamily="34" charset="0"/>
                <a:cs typeface="Arial" pitchFamily="34" charset="0"/>
              </a:rPr>
              <a:t>1. Frequency hopped multiple access (FH) </a:t>
            </a:r>
          </a:p>
          <a:p>
            <a:r>
              <a:rPr lang="en-US" sz="3600" b="1" dirty="0">
                <a:latin typeface="Arial" pitchFamily="34" charset="0"/>
                <a:cs typeface="Arial" pitchFamily="34" charset="0"/>
              </a:rPr>
              <a:t>2. Direct sequence multiple access (DS) </a:t>
            </a:r>
          </a:p>
          <a:p>
            <a:endParaRPr lang="en-US" sz="3600" b="1" dirty="0">
              <a:latin typeface="Arial" pitchFamily="34" charset="0"/>
              <a:cs typeface="Arial" pitchFamily="34" charset="0"/>
            </a:endParaRPr>
          </a:p>
          <a:p>
            <a:r>
              <a:rPr lang="en-US" sz="3600" dirty="0">
                <a:latin typeface="Arial" pitchFamily="34" charset="0"/>
                <a:cs typeface="Arial" pitchFamily="34" charset="0"/>
              </a:rPr>
              <a:t>Direct sequence multiple access is also called code division multiple access (CDMA). 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600200" y="76200"/>
            <a:ext cx="120396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Frequency Hopped Multiple Access (FHMA)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627623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24000" y="-457200"/>
            <a:ext cx="11811000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36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• The carrier frequencies of the individual users are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varied in a pseudorandom fashion within a wideband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channel. 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• The pseudorandom change of the carrier frequencies of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the user randomizes the occupancy of a specific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 channel at any given time, multiple access allowed. 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•  At any given point in time, a frequency hopped signal</a:t>
            </a:r>
          </a:p>
          <a:p>
            <a:pPr algn="just">
              <a:lnSpc>
                <a:spcPct val="150000"/>
              </a:lnSpc>
            </a:pPr>
            <a:r>
              <a:rPr lang="en-US" sz="3600" dirty="0">
                <a:latin typeface="Arial" pitchFamily="34" charset="0"/>
                <a:cs typeface="Arial" pitchFamily="34" charset="0"/>
              </a:rPr>
              <a:t>  only occupies a single, relatively narrow channel. 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600200" y="-228600"/>
            <a:ext cx="120396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Frequency Hopped Multiple Access (FHMA)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627623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04800" y="1253490"/>
            <a:ext cx="14097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  The digital data is broken into uniform sized bursts which are transmitted on different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  carrier frequencies.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 Instantaneous bandwidth of any one transmission burst is much smaller than the total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  spread bandwidth.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FHMA systems often employ energy efficient constant envelope modulation.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 Provides a level of security, especially when large number of channels are used.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 Signal is somewhat immune to fading, since error control coding and interleaving can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 be used to protect the frequency hopped signal against deep fades which may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 occasionally occur during the hopping sequence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600200" y="76200"/>
            <a:ext cx="120396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Frequency Hopped Multiple Access (FHMA)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627623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13588218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600200" y="76200"/>
            <a:ext cx="120396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Frequency Hopped Multiple Access (FHMA)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627623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33400"/>
            <a:ext cx="12573000" cy="6924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Difference between FHMA and FDMA: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In FHMA, The frequency hopped signal changes channels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at rapid intervals. </a:t>
            </a:r>
          </a:p>
          <a:p>
            <a:pPr>
              <a:lnSpc>
                <a:spcPct val="150000"/>
              </a:lnSpc>
            </a:pPr>
            <a:endParaRPr lang="en-US" sz="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Fast hopping and slow hopping: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Fast frequency hopping -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the rate of change of the carrier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frequency is greater than the symbol rate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Slow frequency hopping -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the channel changes at a rate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less than or equal to the symbol rate </a:t>
            </a:r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600200" y="76200"/>
            <a:ext cx="120396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fr-FR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Code Division Multiple Access (CDMA)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627623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-318403"/>
            <a:ext cx="12115800" cy="7709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In CDMA, the narrowband message signal is multiplied by a very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large bandwidth signal called the spreading signal.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The spreading signal is a pseudo-noise code sequence that has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a chip rate which is orders of magnitudes greater than the data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rate of the message.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All users use the same carrier frequency and may transmit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simultaneously.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Each user has its own pseudorandom code word which is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approximately orthogonal to all other code words. </a:t>
            </a:r>
          </a:p>
        </p:txBody>
      </p:sp>
    </p:spTree>
  </p:cSld>
  <p:clrMapOvr>
    <a:masterClrMapping/>
  </p:clrMapOvr>
  <p:transition spd="med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905000" y="76200"/>
            <a:ext cx="120396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fr-FR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Code Division Multiple Access (CDMA)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772400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1" y="990600"/>
            <a:ext cx="12268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905000" y="76200"/>
            <a:ext cx="120396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fr-FR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Code Division Multiple Access (CDMA)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772400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600" y="193893"/>
            <a:ext cx="111252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The receiver performs a time correlation operation to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   detect only the specific desired codeword. </a:t>
            </a:r>
          </a:p>
          <a:p>
            <a:pPr>
              <a:lnSpc>
                <a:spcPct val="150000"/>
              </a:lnSpc>
            </a:pPr>
            <a:r>
              <a:rPr lang="en-US" sz="3200" i="1" dirty="0">
                <a:latin typeface="Arial" pitchFamily="34" charset="0"/>
                <a:cs typeface="Arial" pitchFamily="34" charset="0"/>
              </a:rPr>
              <a:t>   All other </a:t>
            </a:r>
            <a:r>
              <a:rPr lang="en-US" sz="3200" i="1" dirty="0" err="1">
                <a:latin typeface="Arial" pitchFamily="34" charset="0"/>
                <a:cs typeface="Arial" pitchFamily="34" charset="0"/>
              </a:rPr>
              <a:t>codewords</a:t>
            </a:r>
            <a:r>
              <a:rPr lang="en-US" sz="3200" i="1" dirty="0">
                <a:latin typeface="Arial" pitchFamily="34" charset="0"/>
                <a:cs typeface="Arial" pitchFamily="34" charset="0"/>
              </a:rPr>
              <a:t> appear as noise due to </a:t>
            </a:r>
            <a:r>
              <a:rPr lang="en-US" sz="3200" i="1" dirty="0" err="1">
                <a:latin typeface="Arial" pitchFamily="34" charset="0"/>
                <a:cs typeface="Arial" pitchFamily="34" charset="0"/>
              </a:rPr>
              <a:t>decorrelation</a:t>
            </a:r>
            <a:r>
              <a:rPr lang="en-US" sz="3200" i="1" dirty="0"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The receiver needs to know the codeword used by the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Arial" pitchFamily="34" charset="0"/>
                <a:cs typeface="Arial" pitchFamily="34" charset="0"/>
              </a:rPr>
              <a:t>    transmitter.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</a:t>
            </a:r>
            <a:r>
              <a:rPr lang="en-US" sz="3200" i="1" dirty="0">
                <a:latin typeface="Arial" pitchFamily="34" charset="0"/>
                <a:cs typeface="Arial" pitchFamily="34" charset="0"/>
              </a:rPr>
              <a:t>Each user operates independently with no knowledge of </a:t>
            </a:r>
          </a:p>
          <a:p>
            <a:pPr>
              <a:lnSpc>
                <a:spcPct val="150000"/>
              </a:lnSpc>
            </a:pPr>
            <a:r>
              <a:rPr lang="en-US" sz="3200" i="1" dirty="0">
                <a:latin typeface="Arial" pitchFamily="34" charset="0"/>
                <a:cs typeface="Arial" pitchFamily="34" charset="0"/>
              </a:rPr>
              <a:t>   the other users. </a:t>
            </a:r>
          </a:p>
        </p:txBody>
      </p:sp>
    </p:spTree>
  </p:cSld>
  <p:clrMapOvr>
    <a:masterClrMapping/>
  </p:clrMapOvr>
  <p:transition spd="med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1905000" y="76200"/>
            <a:ext cx="120396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fr-FR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Code Division Multiple Access (CDMA)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772400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13258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6248400"/>
            <a:ext cx="8534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3505200" y="76200"/>
            <a:ext cx="70104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Near-far problem in CDMA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772400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600" y="-156603"/>
            <a:ext cx="12725400" cy="77098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  The near-far problem occurs when many mobile users share the same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  channel.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  In general, the strongest received mobile signal will capture the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 demodulator at a base station.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  In CDMA, stronger received signal levels raise the noise floor at the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 base station demodulators for the weaker signals, thereby decreasing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 the probability that weaker signals will be received.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  The power of multiple users at a receiver determines the noise floor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 after </a:t>
            </a:r>
            <a:r>
              <a:rPr lang="en-US" sz="3000" dirty="0" err="1">
                <a:latin typeface="Arial" pitchFamily="34" charset="0"/>
                <a:cs typeface="Arial" pitchFamily="34" charset="0"/>
              </a:rPr>
              <a:t>decorrelation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</p:spTree>
  </p:cSld>
  <p:clrMapOvr>
    <a:masterClrMapping/>
  </p:clrMapOvr>
  <p:transition spd="med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5257800" y="76200"/>
            <a:ext cx="39624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Power control 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772400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800" y="-152400"/>
            <a:ext cx="124968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 Provided by each base station in a cellular system and assures that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each mobile within the base station coverage area provides the same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signal level to the base station receiver.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 This solves the problem of a nearby subscriber overpowering the base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station receiver and drowning out the signals of far away subscribers.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•  Power control is implemented at the base station by rapidly sampling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the radio signal strength indicator (RSSI) levels of each mobile and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   then sending a power change command over the forward radio link. </a:t>
            </a:r>
          </a:p>
        </p:txBody>
      </p:sp>
    </p:spTree>
  </p:cSld>
  <p:clrMapOvr>
    <a:masterClrMapping/>
  </p:clrMapOvr>
  <p:transition spd="med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4495800" y="-152400"/>
            <a:ext cx="5105400" cy="1066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Features of CDMA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772400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9200" y="-228600"/>
            <a:ext cx="12115800" cy="7387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Many users of a CDMA system share the same frequency.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Either TDD or FDD may be used.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Unlike TDMA or FDMA, CDMA has a soft capacity limit.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Increasing the number of users in a CDMA system raises the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noise floor in a linear manner.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Multipath fading may be substantially reduced because the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signal is spread over a large spectrum.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Channel data rates are very high in CDMA systems. </a:t>
            </a:r>
          </a:p>
        </p:txBody>
      </p:sp>
    </p:spTree>
  </p:cSld>
  <p:clrMapOvr>
    <a:masterClrMapping/>
  </p:clrMapOvr>
  <p:transition spd="med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3810000" y="-152400"/>
            <a:ext cx="7696200" cy="1066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b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en-US" sz="4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Features of CDMA (Contd.)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971800" y="7772400"/>
            <a:ext cx="9509759" cy="438150"/>
          </a:xfrm>
        </p:spPr>
        <p:txBody>
          <a:bodyPr/>
          <a:lstStyle/>
          <a:p>
            <a:r>
              <a:rPr lang="en-US" dirty="0"/>
              <a:t>SKCET – ECE -  WIRELESS COMMUNICATION &amp; NETWORKS –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7800" y="261799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Soft handoff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is performed by the MSC, which can simultaneously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monitor a particular user from two or more base stations.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The MSC may choose the best version of the signal at any time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 without switching frequencies.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•  The </a:t>
            </a:r>
            <a:r>
              <a:rPr lang="en-US" sz="3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near-far problem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occurs at a CDMA receiver if an undesired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 user has a high detected power as compared to the desired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    user. </a:t>
            </a:r>
          </a:p>
        </p:txBody>
      </p:sp>
    </p:spTree>
  </p:cSld>
  <p:clrMapOvr>
    <a:masterClrMapping/>
  </p:clrMapOvr>
  <p:transition spd="med">
    <p:wedg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750</TotalTime>
  <Words>1108</Words>
  <Application>Microsoft Office PowerPoint</Application>
  <PresentationFormat>Custom</PresentationFormat>
  <Paragraphs>143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Franklin Gothic Book</vt:lpstr>
      <vt:lpstr>Perpetua</vt:lpstr>
      <vt:lpstr>Times New Roman</vt:lpstr>
      <vt:lpstr>Wingdings 2</vt:lpstr>
      <vt:lpstr>Equity</vt:lpstr>
      <vt:lpstr>PowerPoint Presentation</vt:lpstr>
      <vt:lpstr>OVERVIEW</vt:lpstr>
      <vt:lpstr>Spread Spectrum Multiple Access</vt:lpstr>
      <vt:lpstr>Types of Spread Spectrum Techniques </vt:lpstr>
      <vt:lpstr> Frequency Hopped Multiple Access (FHMA)</vt:lpstr>
      <vt:lpstr> Frequency Hopped Multiple Access (FHMA)</vt:lpstr>
      <vt:lpstr> Frequency Hopped Multiple Access (FHMA)</vt:lpstr>
      <vt:lpstr> Frequency Hopped Multiple Access (FHMA)</vt:lpstr>
      <vt:lpstr>  Code Division Multiple Access (CDMA)</vt:lpstr>
      <vt:lpstr>  Code Division Multiple Access (CDMA)</vt:lpstr>
      <vt:lpstr>  Code Division Multiple Access (CDMA)</vt:lpstr>
      <vt:lpstr>  Code Division Multiple Access (CDMA)</vt:lpstr>
      <vt:lpstr>   Near-far problem in CDMA</vt:lpstr>
      <vt:lpstr>    Power control </vt:lpstr>
      <vt:lpstr>     Features of CDMA</vt:lpstr>
      <vt:lpstr>     Features of CDMA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SURYA</dc:creator>
  <cp:lastModifiedBy>SKCET</cp:lastModifiedBy>
  <cp:revision>108</cp:revision>
  <dcterms:modified xsi:type="dcterms:W3CDTF">2026-03-04T09:53:07Z</dcterms:modified>
</cp:coreProperties>
</file>