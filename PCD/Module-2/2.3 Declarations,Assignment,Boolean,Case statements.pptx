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38"/>
  </p:notesMasterIdLst>
  <p:sldIdLst>
    <p:sldId id="256" r:id="rId2"/>
    <p:sldId id="257" r:id="rId3"/>
    <p:sldId id="291"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E83D44-38BD-45D3-91D5-444D837AC73F}" v="14" dt="2026-02-28T16:27:06.645"/>
  </p1510:revLst>
</p1510:revInfo>
</file>

<file path=ppt/tableStyles.xml><?xml version="1.0" encoding="utf-8"?>
<a:tblStyleLst xmlns:a="http://schemas.openxmlformats.org/drawingml/2006/main" def="{E45C88B7-2F03-4263-B044-BB84167B48E1}">
  <a:tblStyle styleId="{E45C88B7-2F03-4263-B044-BB84167B48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p:cViewPr varScale="1">
        <p:scale>
          <a:sx n="103" d="100"/>
          <a:sy n="103" d="100"/>
        </p:scale>
        <p:origin x="898"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515012_ Vidyasree" userId="2633e80093b3d421" providerId="LiveId" clId="{12EBA23A-46CD-4FA7-9690-46E67EF4679B}"/>
    <pc:docChg chg="undo custSel modSld">
      <pc:chgData name="2515012_ Vidyasree" userId="2633e80093b3d421" providerId="LiveId" clId="{12EBA23A-46CD-4FA7-9690-46E67EF4679B}" dt="2026-02-28T16:27:08.504" v="137" actId="20577"/>
      <pc:docMkLst>
        <pc:docMk/>
      </pc:docMkLst>
      <pc:sldChg chg="modSp mod">
        <pc:chgData name="2515012_ Vidyasree" userId="2633e80093b3d421" providerId="LiveId" clId="{12EBA23A-46CD-4FA7-9690-46E67EF4679B}" dt="2026-02-28T16:27:08.504" v="137" actId="20577"/>
        <pc:sldMkLst>
          <pc:docMk/>
          <pc:sldMk cId="0" sldId="256"/>
        </pc:sldMkLst>
        <pc:spChg chg="mod">
          <ac:chgData name="2515012_ Vidyasree" userId="2633e80093b3d421" providerId="LiveId" clId="{12EBA23A-46CD-4FA7-9690-46E67EF4679B}" dt="2026-02-28T16:27:08.504" v="137" actId="20577"/>
          <ac:spMkLst>
            <pc:docMk/>
            <pc:sldMk cId="0" sldId="256"/>
            <ac:spMk id="61" creationId="{00000000-0000-0000-0000-000000000000}"/>
          </ac:spMkLst>
        </pc:spChg>
      </pc:sldChg>
      <pc:sldChg chg="addSp delSp modSp mod">
        <pc:chgData name="2515012_ Vidyasree" userId="2633e80093b3d421" providerId="LiveId" clId="{12EBA23A-46CD-4FA7-9690-46E67EF4679B}" dt="2026-02-25T15:16:53.025" v="100" actId="14100"/>
        <pc:sldMkLst>
          <pc:docMk/>
          <pc:sldMk cId="0" sldId="262"/>
        </pc:sldMkLst>
        <pc:spChg chg="mod">
          <ac:chgData name="2515012_ Vidyasree" userId="2633e80093b3d421" providerId="LiveId" clId="{12EBA23A-46CD-4FA7-9690-46E67EF4679B}" dt="2026-02-25T15:16:23.876" v="97" actId="1076"/>
          <ac:spMkLst>
            <pc:docMk/>
            <pc:sldMk cId="0" sldId="262"/>
            <ac:spMk id="101" creationId="{00000000-0000-0000-0000-000000000000}"/>
          </ac:spMkLst>
        </pc:spChg>
        <pc:graphicFrameChg chg="modGraphic">
          <ac:chgData name="2515012_ Vidyasree" userId="2633e80093b3d421" providerId="LiveId" clId="{12EBA23A-46CD-4FA7-9690-46E67EF4679B}" dt="2026-02-25T15:11:03.489" v="67" actId="14734"/>
          <ac:graphicFrameMkLst>
            <pc:docMk/>
            <pc:sldMk cId="0" sldId="262"/>
            <ac:graphicFrameMk id="102" creationId="{00000000-0000-0000-0000-000000000000}"/>
          </ac:graphicFrameMkLst>
        </pc:graphicFrameChg>
        <pc:picChg chg="add mod">
          <ac:chgData name="2515012_ Vidyasree" userId="2633e80093b3d421" providerId="LiveId" clId="{12EBA23A-46CD-4FA7-9690-46E67EF4679B}" dt="2026-02-25T15:16:53.025" v="100" actId="14100"/>
          <ac:picMkLst>
            <pc:docMk/>
            <pc:sldMk cId="0" sldId="262"/>
            <ac:picMk id="5" creationId="{948906F3-D74B-D73A-C3F4-63F7E97FD5B7}"/>
          </ac:picMkLst>
        </pc:picChg>
      </pc:sldChg>
      <pc:sldChg chg="modSp mod">
        <pc:chgData name="2515012_ Vidyasree" userId="2633e80093b3d421" providerId="LiveId" clId="{12EBA23A-46CD-4FA7-9690-46E67EF4679B}" dt="2026-02-25T15:37:11.552" v="126" actId="20577"/>
        <pc:sldMkLst>
          <pc:docMk/>
          <pc:sldMk cId="0" sldId="265"/>
        </pc:sldMkLst>
        <pc:spChg chg="mod">
          <ac:chgData name="2515012_ Vidyasree" userId="2633e80093b3d421" providerId="LiveId" clId="{12EBA23A-46CD-4FA7-9690-46E67EF4679B}" dt="2026-02-25T15:37:11.552" v="126" actId="20577"/>
          <ac:spMkLst>
            <pc:docMk/>
            <pc:sldMk cId="0" sldId="265"/>
            <ac:spMk id="120" creationId="{00000000-0000-0000-0000-000000000000}"/>
          </ac:spMkLst>
        </pc:spChg>
      </pc:sldChg>
      <pc:sldChg chg="modSp mod">
        <pc:chgData name="2515012_ Vidyasree" userId="2633e80093b3d421" providerId="LiveId" clId="{12EBA23A-46CD-4FA7-9690-46E67EF4679B}" dt="2026-02-25T13:49:50.329" v="35" actId="20577"/>
        <pc:sldMkLst>
          <pc:docMk/>
          <pc:sldMk cId="0" sldId="266"/>
        </pc:sldMkLst>
        <pc:spChg chg="mod">
          <ac:chgData name="2515012_ Vidyasree" userId="2633e80093b3d421" providerId="LiveId" clId="{12EBA23A-46CD-4FA7-9690-46E67EF4679B}" dt="2026-02-25T13:49:50.329" v="35" actId="20577"/>
          <ac:spMkLst>
            <pc:docMk/>
            <pc:sldMk cId="0" sldId="266"/>
            <ac:spMk id="126" creationId="{00000000-0000-0000-0000-000000000000}"/>
          </ac:spMkLst>
        </pc:spChg>
      </pc:sldChg>
      <pc:sldChg chg="modSp mod">
        <pc:chgData name="2515012_ Vidyasree" userId="2633e80093b3d421" providerId="LiveId" clId="{12EBA23A-46CD-4FA7-9690-46E67EF4679B}" dt="2026-02-25T13:50:16.160" v="41" actId="20577"/>
        <pc:sldMkLst>
          <pc:docMk/>
          <pc:sldMk cId="0" sldId="267"/>
        </pc:sldMkLst>
        <pc:spChg chg="mod">
          <ac:chgData name="2515012_ Vidyasree" userId="2633e80093b3d421" providerId="LiveId" clId="{12EBA23A-46CD-4FA7-9690-46E67EF4679B}" dt="2026-02-25T13:50:16.160" v="41" actId="20577"/>
          <ac:spMkLst>
            <pc:docMk/>
            <pc:sldMk cId="0" sldId="267"/>
            <ac:spMk id="131" creationId="{00000000-0000-0000-0000-000000000000}"/>
          </ac:spMkLst>
        </pc:spChg>
      </pc:sldChg>
      <pc:sldChg chg="modSp mod">
        <pc:chgData name="2515012_ Vidyasree" userId="2633e80093b3d421" providerId="LiveId" clId="{12EBA23A-46CD-4FA7-9690-46E67EF4679B}" dt="2026-02-25T13:51:00.935" v="47" actId="20577"/>
        <pc:sldMkLst>
          <pc:docMk/>
          <pc:sldMk cId="0" sldId="268"/>
        </pc:sldMkLst>
        <pc:spChg chg="mod">
          <ac:chgData name="2515012_ Vidyasree" userId="2633e80093b3d421" providerId="LiveId" clId="{12EBA23A-46CD-4FA7-9690-46E67EF4679B}" dt="2026-02-25T13:51:00.935" v="47" actId="20577"/>
          <ac:spMkLst>
            <pc:docMk/>
            <pc:sldMk cId="0" sldId="268"/>
            <ac:spMk id="136" creationId="{00000000-0000-0000-0000-000000000000}"/>
          </ac:spMkLst>
        </pc:spChg>
      </pc:sldChg>
      <pc:sldChg chg="modSp mod">
        <pc:chgData name="2515012_ Vidyasree" userId="2633e80093b3d421" providerId="LiveId" clId="{12EBA23A-46CD-4FA7-9690-46E67EF4679B}" dt="2026-02-25T13:52:23.932" v="66" actId="20577"/>
        <pc:sldMkLst>
          <pc:docMk/>
          <pc:sldMk cId="0" sldId="269"/>
        </pc:sldMkLst>
        <pc:spChg chg="mod">
          <ac:chgData name="2515012_ Vidyasree" userId="2633e80093b3d421" providerId="LiveId" clId="{12EBA23A-46CD-4FA7-9690-46E67EF4679B}" dt="2026-02-25T13:52:23.932" v="66" actId="20577"/>
          <ac:spMkLst>
            <pc:docMk/>
            <pc:sldMk cId="0" sldId="269"/>
            <ac:spMk id="141" creationId="{00000000-0000-0000-0000-000000000000}"/>
          </ac:spMkLst>
        </pc:spChg>
      </pc:sldChg>
      <pc:sldChg chg="modSp mod">
        <pc:chgData name="2515012_ Vidyasree" userId="2633e80093b3d421" providerId="LiveId" clId="{12EBA23A-46CD-4FA7-9690-46E67EF4679B}" dt="2026-02-25T13:52:09.466" v="65" actId="20577"/>
        <pc:sldMkLst>
          <pc:docMk/>
          <pc:sldMk cId="0" sldId="271"/>
        </pc:sldMkLst>
        <pc:spChg chg="mod">
          <ac:chgData name="2515012_ Vidyasree" userId="2633e80093b3d421" providerId="LiveId" clId="{12EBA23A-46CD-4FA7-9690-46E67EF4679B}" dt="2026-02-25T13:52:09.466" v="65" actId="20577"/>
          <ac:spMkLst>
            <pc:docMk/>
            <pc:sldMk cId="0" sldId="271"/>
            <ac:spMk id="151" creationId="{00000000-0000-0000-0000-000000000000}"/>
          </ac:spMkLst>
        </pc:spChg>
      </pc:sldChg>
      <pc:sldChg chg="delSp mod">
        <pc:chgData name="2515012_ Vidyasree" userId="2633e80093b3d421" providerId="LiveId" clId="{12EBA23A-46CD-4FA7-9690-46E67EF4679B}" dt="2026-02-22T18:15:22.965" v="24" actId="478"/>
        <pc:sldMkLst>
          <pc:docMk/>
          <pc:sldMk cId="0" sldId="29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987ef3ff6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 name="Google Shape;58;g987ef3ff6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958432fd2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958432fd2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958432fd2e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958432fd2e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958432fd2e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958432fd2e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958432fd2e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958432fd2e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969584bb4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969584bb4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969584bb40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969584bb40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969584bb40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g969584bb40_0_36: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969584bb40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969584bb40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969584bb40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969584bb40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969584bb40_0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969584bb40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969584bb40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969584bb40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969584bb40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969584bb40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969584bb40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969584bb40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969584bb40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969584bb40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9414abc637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9414abc63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958432fd2e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958432fd2e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9729d00fc2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9729d00fc2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9729d00fc2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9729d00fc2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9729d00fc2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9729d00fc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9729d00fc2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9729d00fc2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9729d00fc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9729d00fc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9729d00fc2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9729d00fc2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969af54cb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969af54cb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95d5c8cc8e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95d5c8cc8e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95d5c8cc8e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95d5c8cc8e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958432fd2e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958432fd2e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95d5c8cc8e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95d5c8cc8e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95d5c8cc8e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95d5c8cc8e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95d5c8cc8e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95d5c8cc8e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95d5c8cc8e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95d5c8cc8e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95d5c8cc8e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95d5c8cc8e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95d5c8cc8e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95d5c8cc8e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95d5c8cc8e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95d5c8cc8e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457200" y="1110996"/>
            <a:ext cx="8229600" cy="3394500"/>
          </a:xfrm>
          <a:prstGeom prst="rect">
            <a:avLst/>
          </a:prstGeom>
          <a:noFill/>
          <a:ln>
            <a:noFill/>
          </a:ln>
        </p:spPr>
        <p:txBody>
          <a:bodyPr spcFirstLastPara="1" wrap="square" lIns="91425" tIns="45700" rIns="91425" bIns="45700" anchor="t" anchorCtr="0">
            <a:noAutofit/>
          </a:bodyPr>
          <a:lstStyle>
            <a:lvl1pPr marL="457200" lvl="0" indent="-306324" algn="l" rtl="0">
              <a:spcBef>
                <a:spcPts val="400"/>
              </a:spcBef>
              <a:spcAft>
                <a:spcPts val="0"/>
              </a:spcAft>
              <a:buSzPts val="1224"/>
              <a:buChar char="●"/>
              <a:defRPr/>
            </a:lvl1pPr>
            <a:lvl2pPr marL="914400" lvl="1" indent="-342900" algn="l" rtl="0">
              <a:spcBef>
                <a:spcPts val="324"/>
              </a:spcBef>
              <a:spcAft>
                <a:spcPts val="0"/>
              </a:spcAft>
              <a:buSzPts val="1800"/>
              <a:buChar char="○"/>
              <a:defRPr/>
            </a:lvl2pPr>
            <a:lvl3pPr marL="1371600" lvl="2" indent="-342900" algn="l" rtl="0">
              <a:spcBef>
                <a:spcPts val="1600"/>
              </a:spcBef>
              <a:spcAft>
                <a:spcPts val="0"/>
              </a:spcAft>
              <a:buSzPts val="1800"/>
              <a:buChar char="■"/>
              <a:defRPr/>
            </a:lvl3pPr>
            <a:lvl4pPr marL="1828800" lvl="3" indent="-342900" algn="l" rtl="0">
              <a:spcBef>
                <a:spcPts val="1600"/>
              </a:spcBef>
              <a:spcAft>
                <a:spcPts val="0"/>
              </a:spcAft>
              <a:buSzPts val="1800"/>
              <a:buChar char="●"/>
              <a:defRPr/>
            </a:lvl4pPr>
            <a:lvl5pPr marL="2286000" lvl="4" indent="-342900" algn="l" rtl="0">
              <a:spcBef>
                <a:spcPts val="1600"/>
              </a:spcBef>
              <a:spcAft>
                <a:spcPts val="0"/>
              </a:spcAft>
              <a:buSzPts val="1800"/>
              <a:buChar char="○"/>
              <a:defRPr/>
            </a:lvl5pPr>
            <a:lvl6pPr marL="2743200" lvl="5" indent="-342900" algn="l" rtl="0">
              <a:spcBef>
                <a:spcPts val="1600"/>
              </a:spcBef>
              <a:spcAft>
                <a:spcPts val="0"/>
              </a:spcAft>
              <a:buSzPts val="1800"/>
              <a:buChar char="■"/>
              <a:defRPr/>
            </a:lvl6pPr>
            <a:lvl7pPr marL="3200400" lvl="6" indent="-342900" algn="l" rtl="0">
              <a:spcBef>
                <a:spcPts val="1600"/>
              </a:spcBef>
              <a:spcAft>
                <a:spcPts val="0"/>
              </a:spcAft>
              <a:buSzPts val="1800"/>
              <a:buChar char="●"/>
              <a:defRPr/>
            </a:lvl7pPr>
            <a:lvl8pPr marL="3657600" lvl="7" indent="-342900" algn="l" rtl="0">
              <a:spcBef>
                <a:spcPts val="1600"/>
              </a:spcBef>
              <a:spcAft>
                <a:spcPts val="0"/>
              </a:spcAft>
              <a:buSzPts val="1800"/>
              <a:buChar char="○"/>
              <a:defRPr/>
            </a:lvl8pPr>
            <a:lvl9pPr marL="4114800" lvl="8" indent="-342900" algn="l" rtl="0">
              <a:spcBef>
                <a:spcPts val="1600"/>
              </a:spcBef>
              <a:spcAft>
                <a:spcPts val="1600"/>
              </a:spcAft>
              <a:buSzPts val="1800"/>
              <a:buChar char="■"/>
              <a:defRPr/>
            </a:lvl9pPr>
          </a:lstStyle>
          <a:p>
            <a:endParaRPr/>
          </a:p>
        </p:txBody>
      </p:sp>
      <p:sp>
        <p:nvSpPr>
          <p:cNvPr id="52" name="Google Shape;52;p13"/>
          <p:cNvSpPr txBox="1">
            <a:spLocks noGrp="1"/>
          </p:cNvSpPr>
          <p:nvPr>
            <p:ph type="dt" idx="10"/>
          </p:nvPr>
        </p:nvSpPr>
        <p:spPr>
          <a:xfrm>
            <a:off x="6727032" y="4805958"/>
            <a:ext cx="1920300" cy="274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3" name="Google Shape;53;p13"/>
          <p:cNvSpPr txBox="1">
            <a:spLocks noGrp="1"/>
          </p:cNvSpPr>
          <p:nvPr>
            <p:ph type="ftr" idx="11"/>
          </p:nvPr>
        </p:nvSpPr>
        <p:spPr>
          <a:xfrm>
            <a:off x="4380072" y="4805958"/>
            <a:ext cx="2350800" cy="273900"/>
          </a:xfrm>
          <a:prstGeom prst="rect">
            <a:avLst/>
          </a:prstGeom>
          <a:noFill/>
          <a:ln>
            <a:noFill/>
          </a:ln>
        </p:spPr>
        <p:txBody>
          <a:bodyPr spcFirstLastPara="1" wrap="square" lIns="91425" tIns="45700" rIns="91425" bIns="45700" anchor="b"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13"/>
          <p:cNvSpPr txBox="1">
            <a:spLocks noGrp="1"/>
          </p:cNvSpPr>
          <p:nvPr>
            <p:ph type="sldNum" idx="12"/>
          </p:nvPr>
        </p:nvSpPr>
        <p:spPr>
          <a:xfrm>
            <a:off x="8647272" y="4805958"/>
            <a:ext cx="365700" cy="2739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55" name="Google Shape;55;p13"/>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chemeClr val="dk2"/>
              </a:buClr>
              <a:buSzPts val="1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60" name="Google Shape;60;p14"/>
          <p:cNvPicPr preferRelativeResize="0"/>
          <p:nvPr/>
        </p:nvPicPr>
        <p:blipFill rotWithShape="1">
          <a:blip r:embed="rId3">
            <a:alphaModFix/>
          </a:blip>
          <a:srcRect t="92758"/>
          <a:stretch/>
        </p:blipFill>
        <p:spPr>
          <a:xfrm>
            <a:off x="0" y="4780359"/>
            <a:ext cx="9144001" cy="363141"/>
          </a:xfrm>
          <a:prstGeom prst="rect">
            <a:avLst/>
          </a:prstGeom>
          <a:noFill/>
          <a:ln>
            <a:noFill/>
          </a:ln>
        </p:spPr>
      </p:pic>
      <p:sp>
        <p:nvSpPr>
          <p:cNvPr id="61" name="Google Shape;61;p14"/>
          <p:cNvSpPr txBox="1"/>
          <p:nvPr/>
        </p:nvSpPr>
        <p:spPr>
          <a:xfrm>
            <a:off x="76200" y="1682325"/>
            <a:ext cx="8991600" cy="2146800"/>
          </a:xfrm>
          <a:prstGeom prst="rect">
            <a:avLst/>
          </a:prstGeom>
          <a:solidFill>
            <a:schemeClr val="lt1"/>
          </a:solidFill>
          <a:ln>
            <a:noFill/>
          </a:ln>
        </p:spPr>
        <p:txBody>
          <a:bodyPr spcFirstLastPara="1" wrap="square" lIns="91425" tIns="45700" rIns="91425" bIns="45700" anchor="t" anchorCtr="0">
            <a:noAutofit/>
          </a:bodyPr>
          <a:lstStyle/>
          <a:p>
            <a:pPr lvl="0">
              <a:lnSpc>
                <a:spcPct val="150000"/>
              </a:lnSpc>
              <a:buClr>
                <a:schemeClr val="dk1"/>
              </a:buClr>
              <a:buSzPts val="2400"/>
            </a:pPr>
            <a:r>
              <a:rPr lang="en" sz="2400" b="1" i="0" u="none" dirty="0">
                <a:solidFill>
                  <a:schemeClr val="dk1"/>
                </a:solidFill>
                <a:latin typeface="Times New Roman"/>
                <a:ea typeface="Times New Roman"/>
                <a:cs typeface="Times New Roman"/>
                <a:sym typeface="Times New Roman"/>
              </a:rPr>
              <a:t>Course  </a:t>
            </a:r>
            <a:r>
              <a:rPr lang="en" sz="2400" b="1" i="0" u="none" dirty="0">
                <a:solidFill>
                  <a:schemeClr val="dk1"/>
                </a:solidFill>
                <a:latin typeface="Arial"/>
                <a:ea typeface="Arial"/>
                <a:cs typeface="Arial"/>
                <a:sym typeface="Arial"/>
              </a:rPr>
              <a:t>  : </a:t>
            </a:r>
            <a:r>
              <a:rPr lang="en-US" b="1"/>
              <a:t>23CSC04-</a:t>
            </a:r>
            <a:r>
              <a:rPr lang="en" sz="1900" i="0" u="none">
                <a:solidFill>
                  <a:schemeClr val="dk1"/>
                </a:solidFill>
                <a:latin typeface="Times New Roman"/>
                <a:ea typeface="Times New Roman"/>
                <a:cs typeface="Times New Roman"/>
                <a:sym typeface="Times New Roman"/>
              </a:rPr>
              <a:t> </a:t>
            </a:r>
            <a:r>
              <a:rPr lang="en" sz="1900" i="0" u="none" dirty="0">
                <a:solidFill>
                  <a:schemeClr val="dk1"/>
                </a:solidFill>
                <a:latin typeface="Times New Roman"/>
                <a:ea typeface="Times New Roman"/>
                <a:cs typeface="Times New Roman"/>
                <a:sym typeface="Times New Roman"/>
              </a:rPr>
              <a:t>Principles of Compiler Design </a:t>
            </a:r>
            <a:endParaRPr sz="1900" dirty="0">
              <a:latin typeface="Times New Roman"/>
              <a:ea typeface="Times New Roman"/>
              <a:cs typeface="Times New Roman"/>
              <a:sym typeface="Times New Roman"/>
            </a:endParaRPr>
          </a:p>
          <a:p>
            <a:pPr marL="0" marR="0" lvl="0" indent="0" algn="l" rtl="0">
              <a:lnSpc>
                <a:spcPct val="150000"/>
              </a:lnSpc>
              <a:spcBef>
                <a:spcPts val="0"/>
              </a:spcBef>
              <a:spcAft>
                <a:spcPts val="0"/>
              </a:spcAft>
              <a:buClr>
                <a:schemeClr val="dk1"/>
              </a:buClr>
              <a:buSzPts val="2400"/>
              <a:buFont typeface="Arial"/>
              <a:buNone/>
            </a:pPr>
            <a:r>
              <a:rPr lang="en" sz="2400" b="1" i="0" u="none" dirty="0">
                <a:solidFill>
                  <a:schemeClr val="dk1"/>
                </a:solidFill>
                <a:latin typeface="Times New Roman"/>
                <a:ea typeface="Times New Roman"/>
                <a:cs typeface="Times New Roman"/>
                <a:sym typeface="Times New Roman"/>
              </a:rPr>
              <a:t>Module </a:t>
            </a:r>
            <a:r>
              <a:rPr lang="en" sz="2400" b="1" i="0" u="none" dirty="0">
                <a:solidFill>
                  <a:schemeClr val="dk1"/>
                </a:solidFill>
                <a:latin typeface="Arial"/>
                <a:ea typeface="Arial"/>
                <a:cs typeface="Arial"/>
                <a:sym typeface="Arial"/>
              </a:rPr>
              <a:t>   : </a:t>
            </a:r>
            <a:r>
              <a:rPr lang="en" sz="1900" i="0" u="none" dirty="0">
                <a:solidFill>
                  <a:schemeClr val="dk1"/>
                </a:solidFill>
                <a:latin typeface="Times New Roman"/>
                <a:ea typeface="Times New Roman"/>
                <a:cs typeface="Times New Roman"/>
                <a:sym typeface="Times New Roman"/>
              </a:rPr>
              <a:t>2 - </a:t>
            </a:r>
            <a:r>
              <a:rPr lang="en" sz="1900" dirty="0">
                <a:solidFill>
                  <a:schemeClr val="dk1"/>
                </a:solidFill>
                <a:latin typeface="Times New Roman"/>
                <a:ea typeface="Times New Roman"/>
                <a:cs typeface="Times New Roman"/>
                <a:sym typeface="Times New Roman"/>
              </a:rPr>
              <a:t>Semantic Analysis and Intermediate Code Generation</a:t>
            </a:r>
            <a:r>
              <a:rPr lang="en"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chemeClr val="dk1"/>
              </a:buClr>
              <a:buSzPts val="2400"/>
              <a:buFont typeface="Arial"/>
              <a:buNone/>
            </a:pPr>
            <a:r>
              <a:rPr lang="en" sz="2400" b="1" i="0" u="none" dirty="0">
                <a:solidFill>
                  <a:schemeClr val="dk1"/>
                </a:solidFill>
                <a:latin typeface="Times New Roman"/>
                <a:ea typeface="Times New Roman"/>
                <a:cs typeface="Times New Roman"/>
                <a:sym typeface="Times New Roman"/>
              </a:rPr>
              <a:t>Topic</a:t>
            </a:r>
            <a:r>
              <a:rPr lang="en" sz="2400" b="1" i="0" u="none" dirty="0">
                <a:solidFill>
                  <a:schemeClr val="dk1"/>
                </a:solidFill>
                <a:latin typeface="Arial"/>
                <a:ea typeface="Arial"/>
                <a:cs typeface="Arial"/>
                <a:sym typeface="Arial"/>
              </a:rPr>
              <a:t>	     : </a:t>
            </a:r>
            <a:r>
              <a:rPr lang="en" sz="1900" dirty="0">
                <a:solidFill>
                  <a:schemeClr val="dk1"/>
                </a:solidFill>
                <a:latin typeface="Times New Roman"/>
                <a:ea typeface="Times New Roman"/>
                <a:cs typeface="Times New Roman"/>
                <a:sym typeface="Times New Roman"/>
              </a:rPr>
              <a:t>Declarations; Assignment Statements, Boolean Expressions, Case Statements</a:t>
            </a:r>
            <a:endParaRPr sz="1900" dirty="0"/>
          </a:p>
          <a:p>
            <a:pPr marL="0" marR="0" lvl="0" indent="0" algn="l" rtl="0">
              <a:lnSpc>
                <a:spcPct val="150000"/>
              </a:lnSpc>
              <a:spcBef>
                <a:spcPts val="0"/>
              </a:spcBef>
              <a:spcAft>
                <a:spcPts val="0"/>
              </a:spcAft>
              <a:buClr>
                <a:schemeClr val="dk1"/>
              </a:buClr>
              <a:buSzPts val="2400"/>
              <a:buFont typeface="Arial"/>
              <a:buNone/>
            </a:pPr>
            <a:r>
              <a:rPr lang="en" sz="2400" b="1" i="0" u="none" dirty="0">
                <a:solidFill>
                  <a:schemeClr val="dk1"/>
                </a:solidFill>
                <a:latin typeface="Times New Roman"/>
                <a:ea typeface="Times New Roman"/>
                <a:cs typeface="Times New Roman"/>
                <a:sym typeface="Times New Roman"/>
              </a:rPr>
              <a:t>Faculty</a:t>
            </a:r>
            <a:r>
              <a:rPr lang="en" sz="2400" b="1" i="0" u="none" dirty="0">
                <a:solidFill>
                  <a:schemeClr val="dk1"/>
                </a:solidFill>
                <a:latin typeface="Arial"/>
                <a:ea typeface="Arial"/>
                <a:cs typeface="Arial"/>
                <a:sym typeface="Arial"/>
              </a:rPr>
              <a:t>    : </a:t>
            </a:r>
            <a:r>
              <a:rPr lang="en" sz="1900" dirty="0">
                <a:solidFill>
                  <a:schemeClr val="dk1"/>
                </a:solidFill>
                <a:latin typeface="Times New Roman"/>
                <a:ea typeface="Times New Roman"/>
                <a:cs typeface="Times New Roman"/>
                <a:sym typeface="Times New Roman"/>
              </a:rPr>
              <a:t>Ms G.Vidyasree</a:t>
            </a:r>
          </a:p>
          <a:p>
            <a:pPr marL="0" marR="0" lvl="0" indent="0" algn="l" rtl="0">
              <a:lnSpc>
                <a:spcPct val="150000"/>
              </a:lnSpc>
              <a:spcBef>
                <a:spcPts val="0"/>
              </a:spcBef>
              <a:spcAft>
                <a:spcPts val="0"/>
              </a:spcAft>
              <a:buClr>
                <a:schemeClr val="dk1"/>
              </a:buClr>
              <a:buSzPts val="2400"/>
              <a:buFont typeface="Arial"/>
              <a:buNone/>
            </a:pPr>
            <a:endParaRPr sz="1900" dirty="0">
              <a:latin typeface="Times New Roman"/>
              <a:ea typeface="Times New Roman"/>
              <a:cs typeface="Times New Roman"/>
              <a:sym typeface="Times New Roman"/>
            </a:endParaRPr>
          </a:p>
        </p:txBody>
      </p:sp>
      <p:sp>
        <p:nvSpPr>
          <p:cNvPr id="62" name="Google Shape;62;p14"/>
          <p:cNvSpPr txBox="1"/>
          <p:nvPr/>
        </p:nvSpPr>
        <p:spPr>
          <a:xfrm>
            <a:off x="160725" y="4401750"/>
            <a:ext cx="8738100" cy="378600"/>
          </a:xfrm>
          <a:prstGeom prst="rect">
            <a:avLst/>
          </a:prstGeom>
          <a:solidFill>
            <a:srgbClr val="DCE6F2"/>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 sz="1800" b="1" i="0" u="none">
                <a:solidFill>
                  <a:schemeClr val="dk1"/>
                </a:solidFill>
                <a:latin typeface="Arial"/>
                <a:ea typeface="Arial"/>
                <a:cs typeface="Arial"/>
                <a:sym typeface="Arial"/>
              </a:rPr>
              <a:t>www.skcet.ac.in</a:t>
            </a:r>
            <a:endParaRPr/>
          </a:p>
        </p:txBody>
      </p:sp>
      <p:sp>
        <p:nvSpPr>
          <p:cNvPr id="63" name="Google Shape;63;p14"/>
          <p:cNvSpPr txBox="1"/>
          <p:nvPr/>
        </p:nvSpPr>
        <p:spPr>
          <a:xfrm>
            <a:off x="2019300" y="1085850"/>
            <a:ext cx="5105400" cy="461100"/>
          </a:xfrm>
          <a:prstGeom prst="rect">
            <a:avLst/>
          </a:prstGeom>
          <a:solidFill>
            <a:srgbClr val="376092"/>
          </a:solid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lt1"/>
              </a:buClr>
              <a:buSzPts val="2800"/>
              <a:buFont typeface="Arial"/>
              <a:buNone/>
            </a:pPr>
            <a:r>
              <a:rPr lang="en" sz="2800" b="1" i="0" u="none">
                <a:solidFill>
                  <a:schemeClr val="lt1"/>
                </a:solidFill>
                <a:latin typeface="Arial"/>
                <a:ea typeface="Arial"/>
                <a:cs typeface="Arial"/>
                <a:sym typeface="Arial"/>
              </a:rPr>
              <a:t>COURSE MATERIAL</a:t>
            </a:r>
            <a:endParaRPr/>
          </a:p>
        </p:txBody>
      </p:sp>
      <p:pic>
        <p:nvPicPr>
          <p:cNvPr id="64" name="Google Shape;64;p14"/>
          <p:cNvPicPr preferRelativeResize="0"/>
          <p:nvPr/>
        </p:nvPicPr>
        <p:blipFill>
          <a:blip r:embed="rId4">
            <a:alphaModFix/>
          </a:blip>
          <a:stretch>
            <a:fillRect/>
          </a:stretch>
        </p:blipFill>
        <p:spPr>
          <a:xfrm>
            <a:off x="152400" y="152400"/>
            <a:ext cx="8833450" cy="76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5"/>
          <p:cNvSpPr txBox="1"/>
          <p:nvPr/>
        </p:nvSpPr>
        <p:spPr>
          <a:xfrm>
            <a:off x="181950" y="-40200"/>
            <a:ext cx="8780100" cy="391800"/>
          </a:xfrm>
          <a:prstGeom prst="rect">
            <a:avLst/>
          </a:prstGeom>
          <a:noFill/>
          <a:ln>
            <a:noFill/>
          </a:ln>
        </p:spPr>
        <p:txBody>
          <a:bodyPr spcFirstLastPara="1" wrap="square" lIns="91425" tIns="91425" rIns="91425" bIns="91425" anchor="t" anchorCtr="0">
            <a:noAutofit/>
          </a:bodyPr>
          <a:lstStyle/>
          <a:p>
            <a:pPr marL="127000" marR="128270" lvl="0" indent="0" algn="l" rtl="0">
              <a:lnSpc>
                <a:spcPct val="115000"/>
              </a:lnSpc>
              <a:spcBef>
                <a:spcPts val="0"/>
              </a:spcBef>
              <a:spcAft>
                <a:spcPts val="0"/>
              </a:spcAft>
              <a:buClr>
                <a:schemeClr val="dk1"/>
              </a:buClr>
              <a:buFont typeface="Arial"/>
              <a:buNone/>
            </a:pPr>
            <a:r>
              <a:rPr lang="en" sz="2400" b="1" dirty="0">
                <a:solidFill>
                  <a:srgbClr val="980000"/>
                </a:solidFill>
                <a:latin typeface="Times New Roman"/>
                <a:ea typeface="Times New Roman"/>
                <a:cs typeface="Times New Roman"/>
                <a:sym typeface="Times New Roman"/>
              </a:rPr>
              <a:t>Declarations-</a:t>
            </a:r>
            <a:r>
              <a:rPr lang="en" sz="2400" b="1" dirty="0">
                <a:solidFill>
                  <a:srgbClr val="990000"/>
                </a:solidFill>
                <a:latin typeface="Times New Roman"/>
                <a:ea typeface="Times New Roman"/>
                <a:cs typeface="Times New Roman"/>
                <a:sym typeface="Times New Roman"/>
              </a:rPr>
              <a:t>Compute the type and relative addresses of declared names</a:t>
            </a:r>
            <a:endParaRPr sz="2400" b="1" dirty="0">
              <a:solidFill>
                <a:srgbClr val="990000"/>
              </a:solidFill>
              <a:latin typeface="Times New Roman"/>
              <a:ea typeface="Times New Roman"/>
              <a:cs typeface="Times New Roman"/>
              <a:sym typeface="Times New Roman"/>
            </a:endParaRPr>
          </a:p>
          <a:p>
            <a:pPr marL="127000" marR="128270" lvl="0" indent="0" algn="just" rtl="0">
              <a:lnSpc>
                <a:spcPct val="115000"/>
              </a:lnSpc>
              <a:spcBef>
                <a:spcPts val="0"/>
              </a:spcBef>
              <a:spcAft>
                <a:spcPts val="0"/>
              </a:spcAft>
              <a:buClr>
                <a:schemeClr val="dk1"/>
              </a:buClr>
              <a:buFont typeface="Arial"/>
              <a:buNone/>
            </a:pPr>
            <a:r>
              <a:rPr lang="en" sz="2400" b="1" dirty="0">
                <a:solidFill>
                  <a:srgbClr val="980000"/>
                </a:solidFill>
                <a:latin typeface="Times New Roman"/>
                <a:ea typeface="Times New Roman"/>
                <a:cs typeface="Times New Roman"/>
                <a:sym typeface="Times New Roman"/>
              </a:rPr>
              <a:t> </a:t>
            </a:r>
            <a:endParaRPr sz="2400" b="1" dirty="0">
              <a:solidFill>
                <a:srgbClr val="980000"/>
              </a:solidFill>
            </a:endParaRPr>
          </a:p>
        </p:txBody>
      </p:sp>
      <p:graphicFrame>
        <p:nvGraphicFramePr>
          <p:cNvPr id="70" name="Google Shape;70;p15"/>
          <p:cNvGraphicFramePr/>
          <p:nvPr/>
        </p:nvGraphicFramePr>
        <p:xfrm>
          <a:off x="0" y="785400"/>
          <a:ext cx="8819375" cy="4267050"/>
        </p:xfrm>
        <a:graphic>
          <a:graphicData uri="http://schemas.openxmlformats.org/drawingml/2006/table">
            <a:tbl>
              <a:tblPr>
                <a:noFill/>
                <a:tableStyleId>{E45C88B7-2F03-4263-B044-BB84167B48E1}</a:tableStyleId>
              </a:tblPr>
              <a:tblGrid>
                <a:gridCol w="1985150">
                  <a:extLst>
                    <a:ext uri="{9D8B030D-6E8A-4147-A177-3AD203B41FA5}">
                      <a16:colId xmlns:a16="http://schemas.microsoft.com/office/drawing/2014/main" val="20000"/>
                    </a:ext>
                  </a:extLst>
                </a:gridCol>
                <a:gridCol w="6834225">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 sz="2200" dirty="0">
                          <a:latin typeface="Times New Roman"/>
                          <a:ea typeface="Times New Roman"/>
                          <a:cs typeface="Times New Roman"/>
                          <a:sym typeface="Times New Roman"/>
                        </a:rPr>
                        <a:t>P-&gt;D</a:t>
                      </a:r>
                      <a:endParaRPr sz="2200" dirty="0">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2200" dirty="0">
                          <a:solidFill>
                            <a:schemeClr val="dk1"/>
                          </a:solidFill>
                          <a:latin typeface="Times New Roman"/>
                          <a:ea typeface="Times New Roman"/>
                          <a:cs typeface="Times New Roman"/>
                          <a:sym typeface="Times New Roman"/>
                        </a:rPr>
                        <a:t>D-&gt;D;D</a:t>
                      </a:r>
                      <a:endParaRPr sz="2200" dirty="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sz="2200" dirty="0">
                          <a:latin typeface="Times New Roman"/>
                          <a:ea typeface="Times New Roman"/>
                          <a:cs typeface="Times New Roman"/>
                          <a:sym typeface="Times New Roman"/>
                        </a:rPr>
                        <a:t>{offset:=0}</a:t>
                      </a:r>
                      <a:endParaRPr sz="2200" dirty="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2200">
                          <a:latin typeface="Times New Roman"/>
                          <a:ea typeface="Times New Roman"/>
                          <a:cs typeface="Times New Roman"/>
                          <a:sym typeface="Times New Roman"/>
                        </a:rPr>
                        <a:t>D-&gt;id:T</a:t>
                      </a:r>
                      <a:endParaRPr sz="220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sz="2200">
                          <a:latin typeface="Times New Roman"/>
                          <a:ea typeface="Times New Roman"/>
                          <a:cs typeface="Times New Roman"/>
                          <a:sym typeface="Times New Roman"/>
                        </a:rPr>
                        <a:t>{enter(id.name,T.type,offset};offset:=offset+t.width}</a:t>
                      </a:r>
                      <a:endParaRPr sz="2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2200">
                          <a:latin typeface="Times New Roman"/>
                          <a:ea typeface="Times New Roman"/>
                          <a:cs typeface="Times New Roman"/>
                          <a:sym typeface="Times New Roman"/>
                        </a:rPr>
                        <a:t>T-&gt;integer</a:t>
                      </a:r>
                      <a:endParaRPr sz="220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sz="2200">
                          <a:latin typeface="Times New Roman"/>
                          <a:ea typeface="Times New Roman"/>
                          <a:cs typeface="Times New Roman"/>
                          <a:sym typeface="Times New Roman"/>
                        </a:rPr>
                        <a:t>{T.type:=integer;</a:t>
                      </a:r>
                      <a:endParaRPr sz="2200">
                        <a:latin typeface="Times New Roman"/>
                        <a:ea typeface="Times New Roman"/>
                        <a:cs typeface="Times New Roman"/>
                        <a:sym typeface="Times New Roman"/>
                      </a:endParaRPr>
                    </a:p>
                    <a:p>
                      <a:pPr marL="0" lvl="0" indent="0" algn="l" rtl="0">
                        <a:spcBef>
                          <a:spcPts val="0"/>
                        </a:spcBef>
                        <a:spcAft>
                          <a:spcPts val="0"/>
                        </a:spcAft>
                        <a:buNone/>
                      </a:pPr>
                      <a:r>
                        <a:rPr lang="en" sz="2200">
                          <a:latin typeface="Times New Roman"/>
                          <a:ea typeface="Times New Roman"/>
                          <a:cs typeface="Times New Roman"/>
                          <a:sym typeface="Times New Roman"/>
                        </a:rPr>
                        <a:t>T.width:=4}</a:t>
                      </a:r>
                      <a:endParaRPr sz="2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2200">
                          <a:latin typeface="Times New Roman"/>
                          <a:ea typeface="Times New Roman"/>
                          <a:cs typeface="Times New Roman"/>
                          <a:sym typeface="Times New Roman"/>
                        </a:rPr>
                        <a:t>T-&gt;real</a:t>
                      </a:r>
                      <a:endParaRPr sz="220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2200">
                          <a:solidFill>
                            <a:schemeClr val="dk1"/>
                          </a:solidFill>
                          <a:latin typeface="Times New Roman"/>
                          <a:ea typeface="Times New Roman"/>
                          <a:cs typeface="Times New Roman"/>
                          <a:sym typeface="Times New Roman"/>
                        </a:rPr>
                        <a:t>{T.type:=real;</a:t>
                      </a:r>
                      <a:endParaRPr sz="22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2200">
                          <a:solidFill>
                            <a:schemeClr val="dk1"/>
                          </a:solidFill>
                          <a:latin typeface="Times New Roman"/>
                          <a:ea typeface="Times New Roman"/>
                          <a:cs typeface="Times New Roman"/>
                          <a:sym typeface="Times New Roman"/>
                        </a:rPr>
                        <a:t>T.width:=8}</a:t>
                      </a:r>
                      <a:endParaRPr sz="22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1068075">
                <a:tc>
                  <a:txBody>
                    <a:bodyPr/>
                    <a:lstStyle/>
                    <a:p>
                      <a:pPr marL="0" lvl="0" indent="0" algn="l" rtl="0">
                        <a:spcBef>
                          <a:spcPts val="0"/>
                        </a:spcBef>
                        <a:spcAft>
                          <a:spcPts val="0"/>
                        </a:spcAft>
                        <a:buNone/>
                      </a:pPr>
                      <a:r>
                        <a:rPr lang="en" sz="2200">
                          <a:latin typeface="Times New Roman"/>
                          <a:ea typeface="Times New Roman"/>
                          <a:cs typeface="Times New Roman"/>
                          <a:sym typeface="Times New Roman"/>
                        </a:rPr>
                        <a:t>T-&gt;array[num] of </a:t>
                      </a:r>
                      <a:r>
                        <a:rPr lang="en" sz="2200">
                          <a:solidFill>
                            <a:schemeClr val="dk1"/>
                          </a:solidFill>
                          <a:latin typeface="Times New Roman"/>
                          <a:ea typeface="Times New Roman"/>
                          <a:cs typeface="Times New Roman"/>
                          <a:sym typeface="Times New Roman"/>
                        </a:rPr>
                        <a:t>T</a:t>
                      </a:r>
                      <a:r>
                        <a:rPr lang="en" sz="2200" baseline="-25000">
                          <a:solidFill>
                            <a:schemeClr val="dk1"/>
                          </a:solidFill>
                          <a:latin typeface="Times New Roman"/>
                          <a:ea typeface="Times New Roman"/>
                          <a:cs typeface="Times New Roman"/>
                          <a:sym typeface="Times New Roman"/>
                        </a:rPr>
                        <a:t>1</a:t>
                      </a:r>
                      <a:endParaRPr sz="2200" baseline="-25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20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sz="2200" dirty="0">
                          <a:latin typeface="Times New Roman"/>
                          <a:ea typeface="Times New Roman"/>
                          <a:cs typeface="Times New Roman"/>
                          <a:sym typeface="Times New Roman"/>
                        </a:rPr>
                        <a:t>{T.type:=array(num.val,</a:t>
                      </a:r>
                      <a:r>
                        <a:rPr lang="en" sz="2200" dirty="0">
                          <a:solidFill>
                            <a:schemeClr val="dk1"/>
                          </a:solidFill>
                          <a:latin typeface="Times New Roman"/>
                          <a:ea typeface="Times New Roman"/>
                          <a:cs typeface="Times New Roman"/>
                          <a:sym typeface="Times New Roman"/>
                        </a:rPr>
                        <a:t>T</a:t>
                      </a:r>
                      <a:r>
                        <a:rPr lang="en" sz="2200" baseline="-25000" dirty="0">
                          <a:solidFill>
                            <a:schemeClr val="dk1"/>
                          </a:solidFill>
                          <a:latin typeface="Times New Roman"/>
                          <a:ea typeface="Times New Roman"/>
                          <a:cs typeface="Times New Roman"/>
                          <a:sym typeface="Times New Roman"/>
                        </a:rPr>
                        <a:t>1</a:t>
                      </a:r>
                      <a:r>
                        <a:rPr lang="en" sz="2200" dirty="0">
                          <a:solidFill>
                            <a:schemeClr val="dk1"/>
                          </a:solidFill>
                          <a:latin typeface="Times New Roman"/>
                          <a:ea typeface="Times New Roman"/>
                          <a:cs typeface="Times New Roman"/>
                          <a:sym typeface="Times New Roman"/>
                        </a:rPr>
                        <a:t>.type);</a:t>
                      </a:r>
                      <a:endParaRPr sz="22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200" dirty="0">
                          <a:solidFill>
                            <a:schemeClr val="dk1"/>
                          </a:solidFill>
                          <a:latin typeface="Times New Roman"/>
                          <a:ea typeface="Times New Roman"/>
                          <a:cs typeface="Times New Roman"/>
                          <a:sym typeface="Times New Roman"/>
                        </a:rPr>
                        <a:t>T.width:=num.val*T</a:t>
                      </a:r>
                      <a:r>
                        <a:rPr lang="en" sz="2200" baseline="-25000" dirty="0">
                          <a:solidFill>
                            <a:schemeClr val="dk1"/>
                          </a:solidFill>
                          <a:latin typeface="Times New Roman"/>
                          <a:ea typeface="Times New Roman"/>
                          <a:cs typeface="Times New Roman"/>
                          <a:sym typeface="Times New Roman"/>
                        </a:rPr>
                        <a:t>1</a:t>
                      </a:r>
                      <a:r>
                        <a:rPr lang="en" sz="2200" dirty="0">
                          <a:solidFill>
                            <a:schemeClr val="dk1"/>
                          </a:solidFill>
                          <a:latin typeface="Times New Roman"/>
                          <a:ea typeface="Times New Roman"/>
                          <a:cs typeface="Times New Roman"/>
                          <a:sym typeface="Times New Roman"/>
                        </a:rPr>
                        <a:t>.width}   </a:t>
                      </a:r>
                      <a:endParaRPr sz="22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200" dirty="0">
                          <a:solidFill>
                            <a:schemeClr val="dk1"/>
                          </a:solidFill>
                          <a:latin typeface="Times New Roman"/>
                          <a:ea typeface="Times New Roman"/>
                          <a:cs typeface="Times New Roman"/>
                          <a:sym typeface="Times New Roman"/>
                        </a:rPr>
                        <a:t>int a[10];</a:t>
                      </a:r>
                      <a:endParaRPr sz="2200" dirty="0">
                        <a:solidFill>
                          <a:schemeClr val="dk1"/>
                        </a:solidFill>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bl>
          </a:graphicData>
        </a:graphic>
      </p:graphicFrame>
      <p:sp>
        <p:nvSpPr>
          <p:cNvPr id="71" name="Google Shape;71;p15"/>
          <p:cNvSpPr txBox="1"/>
          <p:nvPr/>
        </p:nvSpPr>
        <p:spPr>
          <a:xfrm>
            <a:off x="9376175" y="439350"/>
            <a:ext cx="61722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Int a;      0</a:t>
            </a:r>
            <a:endParaRPr/>
          </a:p>
          <a:p>
            <a:pPr marL="0" lvl="0" indent="0" algn="l" rtl="0">
              <a:spcBef>
                <a:spcPts val="0"/>
              </a:spcBef>
              <a:spcAft>
                <a:spcPts val="0"/>
              </a:spcAft>
              <a:buNone/>
            </a:pPr>
            <a:r>
              <a:rPr lang="en"/>
              <a:t>A   int    4</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AA243-33DD-43E8-6CAA-03CCA41ADC3D}"/>
              </a:ext>
            </a:extLst>
          </p:cNvPr>
          <p:cNvSpPr>
            <a:spLocks noGrp="1"/>
          </p:cNvSpPr>
          <p:nvPr>
            <p:ph type="title"/>
          </p:nvPr>
        </p:nvSpPr>
        <p:spPr>
          <a:xfrm>
            <a:off x="155850" y="416313"/>
            <a:ext cx="4743252" cy="1011044"/>
          </a:xfrm>
        </p:spPr>
        <p:txBody>
          <a:bodyPr/>
          <a:lstStyle/>
          <a:p>
            <a:pPr algn="l"/>
            <a:r>
              <a:rPr lang="en-US" sz="1400" dirty="0"/>
              <a:t>This is a </a:t>
            </a:r>
            <a:r>
              <a:rPr lang="en-US" sz="1400" b="1" u="sng" dirty="0"/>
              <a:t>Syntax Directed Definition (SDD)</a:t>
            </a:r>
            <a:r>
              <a:rPr lang="en-US" sz="1400" u="sng" dirty="0"/>
              <a:t> </a:t>
            </a:r>
            <a:r>
              <a:rPr lang="en-US" sz="1400" dirty="0"/>
              <a:t>to compute:</a:t>
            </a:r>
            <a:br>
              <a:rPr lang="en-US" sz="1400" dirty="0"/>
            </a:br>
            <a:r>
              <a:rPr lang="en-US" sz="1400" dirty="0"/>
              <a:t>&gt;</a:t>
            </a:r>
            <a:r>
              <a:rPr lang="en-US" sz="1400" b="1" dirty="0"/>
              <a:t>Type</a:t>
            </a:r>
            <a:br>
              <a:rPr lang="en-US" sz="1400" dirty="0"/>
            </a:br>
            <a:r>
              <a:rPr lang="en-US" sz="1400" dirty="0"/>
              <a:t>&gt;</a:t>
            </a:r>
            <a:r>
              <a:rPr lang="en-US" sz="1400" b="1" dirty="0"/>
              <a:t>Width</a:t>
            </a:r>
            <a:br>
              <a:rPr lang="en-US" sz="1400" dirty="0"/>
            </a:br>
            <a:r>
              <a:rPr lang="en-US" sz="1400" dirty="0"/>
              <a:t>&gt;</a:t>
            </a:r>
            <a:r>
              <a:rPr lang="en-US" sz="1400" b="1" dirty="0"/>
              <a:t>Relative address (offset)</a:t>
            </a:r>
            <a:r>
              <a:rPr lang="en-US" sz="1400" dirty="0"/>
              <a:t> of declared identifiers.</a:t>
            </a:r>
            <a:br>
              <a:rPr lang="en-US" sz="1400" dirty="0"/>
            </a:br>
            <a:r>
              <a:rPr lang="en-US" sz="1400" dirty="0"/>
              <a:t>Let’s understand it clearly and apply it to the example:</a:t>
            </a:r>
            <a:br>
              <a:rPr lang="en-US" sz="1400" dirty="0"/>
            </a:br>
            <a:r>
              <a:rPr lang="en-US" sz="1400" dirty="0"/>
              <a:t>int a[10];</a:t>
            </a:r>
            <a:br>
              <a:rPr lang="en-US" sz="1400" dirty="0"/>
            </a:br>
            <a:endParaRPr lang="en-IN" sz="1400" dirty="0"/>
          </a:p>
        </p:txBody>
      </p:sp>
      <p:sp>
        <p:nvSpPr>
          <p:cNvPr id="6" name="TextBox 5">
            <a:extLst>
              <a:ext uri="{FF2B5EF4-FFF2-40B4-BE49-F238E27FC236}">
                <a16:creationId xmlns:a16="http://schemas.microsoft.com/office/drawing/2014/main" id="{D64D29EE-21C4-7863-A9EB-B2DF3146A35A}"/>
              </a:ext>
            </a:extLst>
          </p:cNvPr>
          <p:cNvSpPr txBox="1"/>
          <p:nvPr/>
        </p:nvSpPr>
        <p:spPr>
          <a:xfrm>
            <a:off x="155850" y="1541976"/>
            <a:ext cx="4572000" cy="3323987"/>
          </a:xfrm>
          <a:prstGeom prst="rect">
            <a:avLst/>
          </a:prstGeom>
          <a:noFill/>
        </p:spPr>
        <p:txBody>
          <a:bodyPr wrap="square">
            <a:spAutoFit/>
          </a:bodyPr>
          <a:lstStyle/>
          <a:p>
            <a:pPr>
              <a:buNone/>
            </a:pPr>
            <a:r>
              <a:rPr lang="en-IN" b="1" dirty="0"/>
              <a:t>1️⃣ Start Rule</a:t>
            </a:r>
          </a:p>
          <a:p>
            <a:pPr rtl="0">
              <a:buNone/>
            </a:pPr>
            <a:r>
              <a:rPr lang="en-IN" dirty="0">
                <a:latin typeface="Courier New" panose="02070309020205020404" pitchFamily="49" charset="0"/>
              </a:rPr>
              <a:t>P → D        { offset := 0 }</a:t>
            </a:r>
          </a:p>
          <a:p>
            <a:pPr>
              <a:buNone/>
            </a:pPr>
            <a:r>
              <a:rPr lang="en-IN" dirty="0"/>
              <a:t>👉 Before processing declarations, initialize </a:t>
            </a:r>
            <a:r>
              <a:rPr lang="en-IN" dirty="0">
                <a:latin typeface="Courier New" panose="02070309020205020404" pitchFamily="49" charset="0"/>
              </a:rPr>
              <a:t>offset = 0</a:t>
            </a:r>
            <a:r>
              <a:rPr lang="en-IN" dirty="0"/>
              <a:t>.</a:t>
            </a:r>
          </a:p>
          <a:p>
            <a:pPr>
              <a:buNone/>
            </a:pPr>
            <a:br>
              <a:rPr lang="en-IN" dirty="0"/>
            </a:br>
            <a:endParaRPr lang="en-IN" dirty="0"/>
          </a:p>
          <a:p>
            <a:pPr>
              <a:buNone/>
            </a:pPr>
            <a:r>
              <a:rPr lang="en-IN" b="1" dirty="0"/>
              <a:t>2️⃣ Declaration Rule</a:t>
            </a:r>
          </a:p>
          <a:p>
            <a:pPr rtl="0">
              <a:buNone/>
            </a:pPr>
            <a:r>
              <a:rPr lang="en-IN" dirty="0">
                <a:latin typeface="Courier New" panose="02070309020205020404" pitchFamily="49" charset="0"/>
              </a:rPr>
              <a:t>D → id : T</a:t>
            </a:r>
            <a:br>
              <a:rPr lang="en-IN" dirty="0">
                <a:latin typeface="Courier New" panose="02070309020205020404" pitchFamily="49" charset="0"/>
              </a:rPr>
            </a:br>
            <a:r>
              <a:rPr lang="en-IN" dirty="0">
                <a:latin typeface="Courier New" panose="02070309020205020404" pitchFamily="49" charset="0"/>
              </a:rPr>
              <a:t>{</a:t>
            </a:r>
            <a:br>
              <a:rPr lang="en-IN" dirty="0">
                <a:latin typeface="Courier New" panose="02070309020205020404" pitchFamily="49" charset="0"/>
              </a:rPr>
            </a:br>
            <a:r>
              <a:rPr lang="en-IN" dirty="0">
                <a:latin typeface="Courier New" panose="02070309020205020404" pitchFamily="49" charset="0"/>
              </a:rPr>
              <a:t>   enter(id.name, </a:t>
            </a:r>
            <a:r>
              <a:rPr lang="en-IN" dirty="0" err="1">
                <a:latin typeface="Courier New" panose="02070309020205020404" pitchFamily="49" charset="0"/>
              </a:rPr>
              <a:t>T.type</a:t>
            </a:r>
            <a:r>
              <a:rPr lang="en-IN" dirty="0">
                <a:latin typeface="Courier New" panose="02070309020205020404" pitchFamily="49" charset="0"/>
              </a:rPr>
              <a:t>, offset);</a:t>
            </a:r>
            <a:br>
              <a:rPr lang="en-IN" dirty="0">
                <a:latin typeface="Courier New" panose="02070309020205020404" pitchFamily="49" charset="0"/>
              </a:rPr>
            </a:br>
            <a:r>
              <a:rPr lang="en-IN" dirty="0">
                <a:latin typeface="Courier New" panose="02070309020205020404" pitchFamily="49" charset="0"/>
              </a:rPr>
              <a:t>   offset := offset + </a:t>
            </a:r>
            <a:r>
              <a:rPr lang="en-IN" dirty="0" err="1">
                <a:latin typeface="Courier New" panose="02070309020205020404" pitchFamily="49" charset="0"/>
              </a:rPr>
              <a:t>T.width</a:t>
            </a:r>
            <a:r>
              <a:rPr lang="en-IN" dirty="0">
                <a:latin typeface="Courier New" panose="02070309020205020404" pitchFamily="49" charset="0"/>
              </a:rPr>
              <a:t>;</a:t>
            </a:r>
            <a:br>
              <a:rPr lang="en-IN" dirty="0">
                <a:latin typeface="Courier New" panose="02070309020205020404" pitchFamily="49" charset="0"/>
              </a:rPr>
            </a:br>
            <a:r>
              <a:rPr lang="en-IN" dirty="0">
                <a:latin typeface="Courier New" panose="02070309020205020404" pitchFamily="49" charset="0"/>
              </a:rPr>
              <a:t>}</a:t>
            </a:r>
          </a:p>
          <a:p>
            <a:pPr>
              <a:buNone/>
            </a:pPr>
            <a:r>
              <a:rPr lang="en-IN" dirty="0"/>
              <a:t>👉 When a variable is declared:</a:t>
            </a:r>
          </a:p>
          <a:p>
            <a:pPr marL="285750" indent="-285750">
              <a:buFont typeface="Arial" panose="020B0604020202020204" pitchFamily="34" charset="0"/>
              <a:buChar char="•"/>
            </a:pPr>
            <a:r>
              <a:rPr lang="en-US" dirty="0"/>
              <a:t>Store its name, type, and current offset</a:t>
            </a:r>
          </a:p>
          <a:p>
            <a:pPr marL="285750" indent="-285750">
              <a:buFont typeface="Arial" panose="020B0604020202020204" pitchFamily="34" charset="0"/>
              <a:buChar char="•"/>
            </a:pPr>
            <a:r>
              <a:rPr lang="en-US" dirty="0"/>
              <a:t>Increase offset by its width</a:t>
            </a:r>
            <a:endParaRPr lang="en-IN" dirty="0"/>
          </a:p>
        </p:txBody>
      </p:sp>
      <p:sp>
        <p:nvSpPr>
          <p:cNvPr id="9" name="TextBox 8">
            <a:extLst>
              <a:ext uri="{FF2B5EF4-FFF2-40B4-BE49-F238E27FC236}">
                <a16:creationId xmlns:a16="http://schemas.microsoft.com/office/drawing/2014/main" id="{58B0F690-0364-C239-8820-837A51AE63D1}"/>
              </a:ext>
            </a:extLst>
          </p:cNvPr>
          <p:cNvSpPr txBox="1"/>
          <p:nvPr/>
        </p:nvSpPr>
        <p:spPr>
          <a:xfrm>
            <a:off x="4899102" y="1987439"/>
            <a:ext cx="3531220" cy="1384995"/>
          </a:xfrm>
          <a:prstGeom prst="rect">
            <a:avLst/>
          </a:prstGeom>
          <a:noFill/>
        </p:spPr>
        <p:txBody>
          <a:bodyPr wrap="square">
            <a:spAutoFit/>
          </a:bodyPr>
          <a:lstStyle/>
          <a:p>
            <a:pPr rtl="0">
              <a:buNone/>
            </a:pPr>
            <a:endParaRPr lang="en-US" dirty="0">
              <a:latin typeface="Courier New" panose="02070309020205020404" pitchFamily="49" charset="0"/>
            </a:endParaRPr>
          </a:p>
          <a:p>
            <a:pPr rtl="0">
              <a:buNone/>
            </a:pPr>
            <a:r>
              <a:rPr lang="en-US" dirty="0">
                <a:latin typeface="Courier New" panose="02070309020205020404" pitchFamily="49" charset="0"/>
              </a:rPr>
              <a:t>int a[10];</a:t>
            </a:r>
          </a:p>
          <a:p>
            <a:pPr>
              <a:buFont typeface="Arial" panose="020B0604020202020204" pitchFamily="34" charset="0"/>
              <a:buChar char="•"/>
            </a:pPr>
            <a:r>
              <a:rPr lang="en-US" b="1" dirty="0"/>
              <a:t>Type of a</a:t>
            </a:r>
            <a:r>
              <a:rPr lang="en-US" dirty="0"/>
              <a:t> → </a:t>
            </a:r>
            <a:r>
              <a:rPr lang="en-US" dirty="0">
                <a:latin typeface="Courier New" panose="02070309020205020404" pitchFamily="49" charset="0"/>
              </a:rPr>
              <a:t>array(10, integer)</a:t>
            </a:r>
            <a:endParaRPr lang="en-US" dirty="0"/>
          </a:p>
          <a:p>
            <a:pPr>
              <a:buFont typeface="Arial" panose="020B0604020202020204" pitchFamily="34" charset="0"/>
              <a:buChar char="•"/>
            </a:pPr>
            <a:r>
              <a:rPr lang="en-US" b="1" dirty="0"/>
              <a:t>Width of a</a:t>
            </a:r>
            <a:r>
              <a:rPr lang="en-US" dirty="0"/>
              <a:t> → </a:t>
            </a:r>
            <a:r>
              <a:rPr lang="en-US" dirty="0">
                <a:latin typeface="Courier New" panose="02070309020205020404" pitchFamily="49" charset="0"/>
              </a:rPr>
              <a:t>40 bytes</a:t>
            </a:r>
            <a:endParaRPr lang="en-US" dirty="0"/>
          </a:p>
          <a:p>
            <a:pPr>
              <a:buFont typeface="Arial" panose="020B0604020202020204" pitchFamily="34" charset="0"/>
              <a:buChar char="•"/>
            </a:pPr>
            <a:r>
              <a:rPr lang="en-US" b="1" dirty="0"/>
              <a:t>Relative Address (offset)</a:t>
            </a:r>
            <a:r>
              <a:rPr lang="en-US" dirty="0"/>
              <a:t> → </a:t>
            </a:r>
            <a:r>
              <a:rPr lang="en-US" dirty="0">
                <a:latin typeface="Courier New" panose="02070309020205020404" pitchFamily="49" charset="0"/>
              </a:rPr>
              <a:t>0</a:t>
            </a:r>
            <a:endParaRPr lang="en-US" dirty="0"/>
          </a:p>
          <a:p>
            <a:pPr>
              <a:buFont typeface="Arial" panose="020B0604020202020204" pitchFamily="34" charset="0"/>
              <a:buChar char="•"/>
            </a:pPr>
            <a:r>
              <a:rPr lang="en-US" b="1" dirty="0"/>
              <a:t>Next offset value</a:t>
            </a:r>
            <a:r>
              <a:rPr lang="en-US" dirty="0"/>
              <a:t> → </a:t>
            </a:r>
            <a:r>
              <a:rPr lang="en-US" dirty="0">
                <a:latin typeface="Courier New" panose="02070309020205020404" pitchFamily="49" charset="0"/>
              </a:rPr>
              <a:t>40</a:t>
            </a:r>
            <a:endParaRPr lang="en-US" dirty="0"/>
          </a:p>
        </p:txBody>
      </p:sp>
      <p:sp>
        <p:nvSpPr>
          <p:cNvPr id="11" name="TextBox 10">
            <a:extLst>
              <a:ext uri="{FF2B5EF4-FFF2-40B4-BE49-F238E27FC236}">
                <a16:creationId xmlns:a16="http://schemas.microsoft.com/office/drawing/2014/main" id="{2EAA3D65-7EFD-518D-0748-CB2A45F03E51}"/>
              </a:ext>
            </a:extLst>
          </p:cNvPr>
          <p:cNvSpPr txBox="1"/>
          <p:nvPr/>
        </p:nvSpPr>
        <p:spPr>
          <a:xfrm>
            <a:off x="4899102" y="229880"/>
            <a:ext cx="4089048" cy="1600438"/>
          </a:xfrm>
          <a:prstGeom prst="rect">
            <a:avLst/>
          </a:prstGeom>
          <a:noFill/>
        </p:spPr>
        <p:txBody>
          <a:bodyPr wrap="square">
            <a:spAutoFit/>
          </a:bodyPr>
          <a:lstStyle/>
          <a:p>
            <a:pPr>
              <a:buNone/>
            </a:pPr>
            <a:r>
              <a:rPr lang="en-IN" b="1" dirty="0"/>
              <a:t>3️⃣ Type Rules</a:t>
            </a:r>
          </a:p>
          <a:p>
            <a:pPr>
              <a:buNone/>
            </a:pPr>
            <a:r>
              <a:rPr lang="en-IN" b="1" dirty="0"/>
              <a:t>Integer     T → integer{   </a:t>
            </a:r>
            <a:r>
              <a:rPr lang="en-IN" b="1" dirty="0" err="1"/>
              <a:t>T.type</a:t>
            </a:r>
            <a:r>
              <a:rPr lang="en-IN" b="1" dirty="0"/>
              <a:t> := integer            </a:t>
            </a:r>
            <a:r>
              <a:rPr lang="en-IN" b="1" dirty="0" err="1"/>
              <a:t>T.width</a:t>
            </a:r>
            <a:r>
              <a:rPr lang="en-IN" b="1" dirty="0"/>
              <a:t> := 4}</a:t>
            </a:r>
          </a:p>
          <a:p>
            <a:pPr>
              <a:buNone/>
            </a:pPr>
            <a:r>
              <a:rPr lang="en-IN" b="1" dirty="0"/>
              <a:t>Real   T → real{   </a:t>
            </a:r>
            <a:r>
              <a:rPr lang="en-IN" b="1" dirty="0" err="1"/>
              <a:t>T.type</a:t>
            </a:r>
            <a:r>
              <a:rPr lang="en-IN" b="1" dirty="0"/>
              <a:t> := real   </a:t>
            </a:r>
            <a:r>
              <a:rPr lang="en-IN" b="1" dirty="0" err="1"/>
              <a:t>T.width</a:t>
            </a:r>
            <a:r>
              <a:rPr lang="en-IN" b="1" dirty="0"/>
              <a:t> := 8}</a:t>
            </a:r>
          </a:p>
          <a:p>
            <a:pPr>
              <a:buNone/>
            </a:pPr>
            <a:r>
              <a:rPr lang="en-IN" b="1" dirty="0"/>
              <a:t>Array  T → array[</a:t>
            </a:r>
            <a:r>
              <a:rPr lang="en-IN" b="1" dirty="0" err="1"/>
              <a:t>num</a:t>
            </a:r>
            <a:r>
              <a:rPr lang="en-IN" b="1" dirty="0"/>
              <a:t>] of T1{   </a:t>
            </a:r>
            <a:r>
              <a:rPr lang="en-IN" b="1" dirty="0" err="1"/>
              <a:t>T.type</a:t>
            </a:r>
            <a:r>
              <a:rPr lang="en-IN" b="1" dirty="0"/>
              <a:t> := array(</a:t>
            </a:r>
            <a:r>
              <a:rPr lang="en-IN" b="1" dirty="0" err="1"/>
              <a:t>num.val</a:t>
            </a:r>
            <a:r>
              <a:rPr lang="en-IN" b="1" dirty="0"/>
              <a:t>, T1.type)   </a:t>
            </a:r>
            <a:r>
              <a:rPr lang="en-IN" b="1" dirty="0" err="1"/>
              <a:t>T.width</a:t>
            </a:r>
            <a:r>
              <a:rPr lang="en-IN" b="1" dirty="0"/>
              <a:t> := </a:t>
            </a:r>
            <a:r>
              <a:rPr lang="en-IN" b="1" dirty="0" err="1"/>
              <a:t>num.val</a:t>
            </a:r>
            <a:r>
              <a:rPr lang="en-IN" b="1" dirty="0"/>
              <a:t> × T1.width}</a:t>
            </a:r>
          </a:p>
        </p:txBody>
      </p:sp>
    </p:spTree>
    <p:extLst>
      <p:ext uri="{BB962C8B-B14F-4D97-AF65-F5344CB8AC3E}">
        <p14:creationId xmlns:p14="http://schemas.microsoft.com/office/powerpoint/2010/main" val="1343017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6"/>
          <p:cNvSpPr txBox="1"/>
          <p:nvPr/>
        </p:nvSpPr>
        <p:spPr>
          <a:xfrm>
            <a:off x="181950" y="-40200"/>
            <a:ext cx="8780100" cy="391800"/>
          </a:xfrm>
          <a:prstGeom prst="rect">
            <a:avLst/>
          </a:prstGeom>
          <a:noFill/>
          <a:ln>
            <a:noFill/>
          </a:ln>
        </p:spPr>
        <p:txBody>
          <a:bodyPr spcFirstLastPara="1" wrap="square" lIns="91425" tIns="91425" rIns="91425" bIns="91425" anchor="t" anchorCtr="0">
            <a:noAutofit/>
          </a:bodyPr>
          <a:lstStyle/>
          <a:p>
            <a:pPr marL="127000" marR="128270" lvl="0" indent="0" algn="just" rtl="0">
              <a:lnSpc>
                <a:spcPct val="115000"/>
              </a:lnSpc>
              <a:spcBef>
                <a:spcPts val="0"/>
              </a:spcBef>
              <a:spcAft>
                <a:spcPts val="0"/>
              </a:spcAft>
              <a:buClr>
                <a:schemeClr val="dk1"/>
              </a:buClr>
              <a:buFont typeface="Arial"/>
              <a:buNone/>
            </a:pPr>
            <a:r>
              <a:rPr lang="en" sz="2400" b="1">
                <a:solidFill>
                  <a:srgbClr val="980000"/>
                </a:solidFill>
                <a:latin typeface="Times New Roman"/>
                <a:ea typeface="Times New Roman"/>
                <a:cs typeface="Times New Roman"/>
                <a:sym typeface="Times New Roman"/>
              </a:rPr>
              <a:t>Declarations</a:t>
            </a:r>
            <a:endParaRPr sz="2400" b="1">
              <a:solidFill>
                <a:srgbClr val="980000"/>
              </a:solidFill>
            </a:endParaRPr>
          </a:p>
        </p:txBody>
      </p:sp>
      <p:graphicFrame>
        <p:nvGraphicFramePr>
          <p:cNvPr id="77" name="Google Shape;77;p16"/>
          <p:cNvGraphicFramePr/>
          <p:nvPr/>
        </p:nvGraphicFramePr>
        <p:xfrm>
          <a:off x="324625" y="634750"/>
          <a:ext cx="8494750" cy="914370"/>
        </p:xfrm>
        <a:graphic>
          <a:graphicData uri="http://schemas.openxmlformats.org/drawingml/2006/table">
            <a:tbl>
              <a:tblPr>
                <a:noFill/>
                <a:tableStyleId>{E45C88B7-2F03-4263-B044-BB84167B48E1}</a:tableStyleId>
              </a:tblPr>
              <a:tblGrid>
                <a:gridCol w="1660525">
                  <a:extLst>
                    <a:ext uri="{9D8B030D-6E8A-4147-A177-3AD203B41FA5}">
                      <a16:colId xmlns:a16="http://schemas.microsoft.com/office/drawing/2014/main" val="20000"/>
                    </a:ext>
                  </a:extLst>
                </a:gridCol>
                <a:gridCol w="6834225">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 sz="2400">
                          <a:latin typeface="Times New Roman"/>
                          <a:ea typeface="Times New Roman"/>
                          <a:cs typeface="Times New Roman"/>
                          <a:sym typeface="Times New Roman"/>
                        </a:rPr>
                        <a:t>T-&gt;</a:t>
                      </a:r>
                      <a:endParaRPr sz="240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sz="2400">
                          <a:latin typeface="Times New Roman"/>
                          <a:ea typeface="Times New Roman"/>
                          <a:cs typeface="Times New Roman"/>
                          <a:sym typeface="Times New Roman"/>
                        </a:rPr>
                        <a:t>{T.type:=pointer(</a:t>
                      </a:r>
                      <a:r>
                        <a:rPr lang="en" sz="2400">
                          <a:solidFill>
                            <a:schemeClr val="dk1"/>
                          </a:solidFill>
                          <a:latin typeface="Times New Roman"/>
                          <a:ea typeface="Times New Roman"/>
                          <a:cs typeface="Times New Roman"/>
                          <a:sym typeface="Times New Roman"/>
                        </a:rPr>
                        <a:t>T</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.type);</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T.width:=4}</a:t>
                      </a:r>
                      <a:endParaRPr sz="24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bl>
          </a:graphicData>
        </a:graphic>
      </p:graphicFrame>
      <p:cxnSp>
        <p:nvCxnSpPr>
          <p:cNvPr id="78" name="Google Shape;78;p16"/>
          <p:cNvCxnSpPr/>
          <p:nvPr/>
        </p:nvCxnSpPr>
        <p:spPr>
          <a:xfrm rot="10800000">
            <a:off x="974450" y="793500"/>
            <a:ext cx="0" cy="281400"/>
          </a:xfrm>
          <a:prstGeom prst="straightConnector1">
            <a:avLst/>
          </a:prstGeom>
          <a:noFill/>
          <a:ln w="9525" cap="flat" cmpd="sng">
            <a:solidFill>
              <a:schemeClr val="dk2"/>
            </a:solidFill>
            <a:prstDash val="solid"/>
            <a:round/>
            <a:headEnd type="none" w="med" len="med"/>
            <a:tailEnd type="triangle" w="med" len="med"/>
          </a:ln>
        </p:spPr>
      </p:cxnSp>
      <p:sp>
        <p:nvSpPr>
          <p:cNvPr id="79" name="Google Shape;79;p16"/>
          <p:cNvSpPr txBox="1"/>
          <p:nvPr/>
        </p:nvSpPr>
        <p:spPr>
          <a:xfrm>
            <a:off x="1125150" y="634750"/>
            <a:ext cx="622800" cy="28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T</a:t>
            </a:r>
            <a:r>
              <a:rPr lang="en" sz="2400" baseline="-25000">
                <a:solidFill>
                  <a:schemeClr val="dk1"/>
                </a:solidFill>
                <a:latin typeface="Times New Roman"/>
                <a:ea typeface="Times New Roman"/>
                <a:cs typeface="Times New Roman"/>
                <a:sym typeface="Times New Roman"/>
              </a:rPr>
              <a:t>1</a:t>
            </a:r>
            <a:endParaRPr/>
          </a:p>
        </p:txBody>
      </p:sp>
      <p:sp>
        <p:nvSpPr>
          <p:cNvPr id="80" name="Google Shape;80;p16"/>
          <p:cNvSpPr txBox="1"/>
          <p:nvPr/>
        </p:nvSpPr>
        <p:spPr>
          <a:xfrm>
            <a:off x="190875" y="1677675"/>
            <a:ext cx="8628600" cy="331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Times New Roman"/>
                <a:ea typeface="Times New Roman"/>
                <a:cs typeface="Times New Roman"/>
                <a:sym typeface="Times New Roman"/>
              </a:rPr>
              <a:t>Nonterminals generating </a:t>
            </a:r>
            <a:r>
              <a:rPr lang="en" sz="2400">
                <a:solidFill>
                  <a:schemeClr val="dk1"/>
                </a:solidFill>
                <a:latin typeface="Times New Roman"/>
                <a:ea typeface="Times New Roman"/>
                <a:cs typeface="Times New Roman"/>
                <a:sym typeface="Times New Roman"/>
              </a:rPr>
              <a:t>↋ called marker nonterminals.</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Using a marker nonterminal M can be restated as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 P-&gt;MD</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M-&gt;↋ {offset:=0}</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4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txBox="1"/>
          <p:nvPr/>
        </p:nvSpPr>
        <p:spPr>
          <a:xfrm>
            <a:off x="90425" y="60275"/>
            <a:ext cx="8970900" cy="486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Times New Roman"/>
                <a:ea typeface="Times New Roman"/>
                <a:cs typeface="Times New Roman"/>
                <a:sym typeface="Times New Roman"/>
              </a:rPr>
              <a:t>Semantic rules are defined in terms of the following operations:</a:t>
            </a:r>
            <a:endParaRPr sz="2400">
              <a:latin typeface="Times New Roman"/>
              <a:ea typeface="Times New Roman"/>
              <a:cs typeface="Times New Roman"/>
              <a:sym typeface="Times New Roman"/>
            </a:endParaRPr>
          </a:p>
          <a:p>
            <a:pPr marL="0" lvl="0" indent="0" algn="l" rtl="0">
              <a:spcBef>
                <a:spcPts val="0"/>
              </a:spcBef>
              <a:spcAft>
                <a:spcPts val="0"/>
              </a:spcAft>
              <a:buNone/>
            </a:pPr>
            <a:r>
              <a:rPr lang="en" sz="2400" b="1">
                <a:solidFill>
                  <a:srgbClr val="FF0000"/>
                </a:solidFill>
                <a:latin typeface="Times New Roman"/>
                <a:ea typeface="Times New Roman"/>
                <a:cs typeface="Times New Roman"/>
                <a:sym typeface="Times New Roman"/>
              </a:rPr>
              <a:t>mktable(previous)</a:t>
            </a:r>
            <a:endParaRPr sz="2400" b="1">
              <a:solidFill>
                <a:srgbClr val="FF0000"/>
              </a:solidFill>
              <a:latin typeface="Times New Roman"/>
              <a:ea typeface="Times New Roman"/>
              <a:cs typeface="Times New Roman"/>
              <a:sym typeface="Times New Roman"/>
            </a:endParaRPr>
          </a:p>
          <a:p>
            <a:pPr marL="457200" lvl="0" indent="-381000" algn="l" rtl="0">
              <a:spcBef>
                <a:spcPts val="0"/>
              </a:spcBef>
              <a:spcAft>
                <a:spcPts val="0"/>
              </a:spcAft>
              <a:buSzPts val="2400"/>
              <a:buFont typeface="Times New Roman"/>
              <a:buChar char="❏"/>
            </a:pPr>
            <a:r>
              <a:rPr lang="en" sz="2400">
                <a:latin typeface="Times New Roman"/>
                <a:ea typeface="Times New Roman"/>
                <a:cs typeface="Times New Roman"/>
                <a:sym typeface="Times New Roman"/>
              </a:rPr>
              <a:t>Creates a new symbol table and returns a pointer to the new table.</a:t>
            </a:r>
            <a:endParaRPr sz="2400">
              <a:latin typeface="Times New Roman"/>
              <a:ea typeface="Times New Roman"/>
              <a:cs typeface="Times New Roman"/>
              <a:sym typeface="Times New Roman"/>
            </a:endParaRPr>
          </a:p>
          <a:p>
            <a:pPr marL="457200" lvl="0" indent="-381000" algn="l" rtl="0">
              <a:spcBef>
                <a:spcPts val="0"/>
              </a:spcBef>
              <a:spcAft>
                <a:spcPts val="0"/>
              </a:spcAft>
              <a:buSzPts val="2400"/>
              <a:buFont typeface="Times New Roman"/>
              <a:buChar char="❏"/>
            </a:pPr>
            <a:r>
              <a:rPr lang="en" sz="2400">
                <a:latin typeface="Times New Roman"/>
                <a:ea typeface="Times New Roman"/>
                <a:cs typeface="Times New Roman"/>
                <a:sym typeface="Times New Roman"/>
              </a:rPr>
              <a:t>Argument previous points to previously created symbol table.</a:t>
            </a:r>
            <a:endParaRPr sz="2400">
              <a:latin typeface="Times New Roman"/>
              <a:ea typeface="Times New Roman"/>
              <a:cs typeface="Times New Roman"/>
              <a:sym typeface="Times New Roman"/>
            </a:endParaRPr>
          </a:p>
          <a:p>
            <a:pPr marL="0" lvl="0" indent="0" algn="l" rtl="0">
              <a:spcBef>
                <a:spcPts val="0"/>
              </a:spcBef>
              <a:spcAft>
                <a:spcPts val="0"/>
              </a:spcAft>
              <a:buNone/>
            </a:pPr>
            <a:r>
              <a:rPr lang="en" sz="2400" b="1">
                <a:solidFill>
                  <a:srgbClr val="FF0000"/>
                </a:solidFill>
                <a:latin typeface="Times New Roman"/>
                <a:ea typeface="Times New Roman"/>
                <a:cs typeface="Times New Roman"/>
                <a:sym typeface="Times New Roman"/>
              </a:rPr>
              <a:t>enter(table,name,type,offset)</a:t>
            </a:r>
            <a:endParaRPr sz="2400" b="1">
              <a:solidFill>
                <a:srgbClr val="FF0000"/>
              </a:solidFill>
              <a:latin typeface="Times New Roman"/>
              <a:ea typeface="Times New Roman"/>
              <a:cs typeface="Times New Roman"/>
              <a:sym typeface="Times New Roman"/>
            </a:endParaRPr>
          </a:p>
          <a:p>
            <a:pPr marL="457200" lvl="0" indent="-381000" algn="l" rtl="0">
              <a:spcBef>
                <a:spcPts val="0"/>
              </a:spcBef>
              <a:spcAft>
                <a:spcPts val="0"/>
              </a:spcAft>
              <a:buSzPts val="2400"/>
              <a:buFont typeface="Times New Roman"/>
              <a:buChar char="❏"/>
            </a:pPr>
            <a:r>
              <a:rPr lang="en" sz="2400">
                <a:latin typeface="Times New Roman"/>
                <a:ea typeface="Times New Roman"/>
                <a:cs typeface="Times New Roman"/>
                <a:sym typeface="Times New Roman"/>
              </a:rPr>
              <a:t> Creates a new entry for name name in the symbol table pointed to by table.</a:t>
            </a:r>
            <a:endParaRPr sz="2400">
              <a:latin typeface="Times New Roman"/>
              <a:ea typeface="Times New Roman"/>
              <a:cs typeface="Times New Roman"/>
              <a:sym typeface="Times New Roman"/>
            </a:endParaRPr>
          </a:p>
          <a:p>
            <a:pPr marL="457200" lvl="0" indent="-381000" algn="l" rtl="0">
              <a:spcBef>
                <a:spcPts val="0"/>
              </a:spcBef>
              <a:spcAft>
                <a:spcPts val="0"/>
              </a:spcAft>
              <a:buSzPts val="2400"/>
              <a:buFont typeface="Times New Roman"/>
              <a:buChar char="❏"/>
            </a:pPr>
            <a:r>
              <a:rPr lang="en" sz="2400">
                <a:latin typeface="Times New Roman"/>
                <a:ea typeface="Times New Roman"/>
                <a:cs typeface="Times New Roman"/>
                <a:sym typeface="Times New Roman"/>
              </a:rPr>
              <a:t>enter places type type and relative address offset in fields within the entry.</a:t>
            </a:r>
            <a:endParaRPr sz="2400">
              <a:latin typeface="Times New Roman"/>
              <a:ea typeface="Times New Roman"/>
              <a:cs typeface="Times New Roman"/>
              <a:sym typeface="Times New Roman"/>
            </a:endParaRPr>
          </a:p>
          <a:p>
            <a:pPr marL="0" lvl="0" indent="0" algn="l" rtl="0">
              <a:spcBef>
                <a:spcPts val="0"/>
              </a:spcBef>
              <a:spcAft>
                <a:spcPts val="0"/>
              </a:spcAft>
              <a:buNone/>
            </a:pPr>
            <a:r>
              <a:rPr lang="en" sz="2400" b="1">
                <a:solidFill>
                  <a:srgbClr val="FF0000"/>
                </a:solidFill>
                <a:latin typeface="Times New Roman"/>
                <a:ea typeface="Times New Roman"/>
                <a:cs typeface="Times New Roman"/>
                <a:sym typeface="Times New Roman"/>
              </a:rPr>
              <a:t>addwidth(table,width)</a:t>
            </a:r>
            <a:endParaRPr sz="2400" b="1">
              <a:solidFill>
                <a:srgbClr val="FF0000"/>
              </a:solidFill>
              <a:latin typeface="Times New Roman"/>
              <a:ea typeface="Times New Roman"/>
              <a:cs typeface="Times New Roman"/>
              <a:sym typeface="Times New Roman"/>
            </a:endParaRPr>
          </a:p>
          <a:p>
            <a:pPr marL="457200" lvl="0" indent="-381000" algn="l" rtl="0">
              <a:spcBef>
                <a:spcPts val="0"/>
              </a:spcBef>
              <a:spcAft>
                <a:spcPts val="0"/>
              </a:spcAft>
              <a:buSzPts val="2400"/>
              <a:buFont typeface="Times New Roman"/>
              <a:buChar char="❏"/>
            </a:pPr>
            <a:r>
              <a:rPr lang="en" sz="2400">
                <a:latin typeface="Times New Roman"/>
                <a:ea typeface="Times New Roman"/>
                <a:cs typeface="Times New Roman"/>
                <a:sym typeface="Times New Roman"/>
              </a:rPr>
              <a:t> Records the cumulative width of all entries in table in the header associated with this symbol table.</a:t>
            </a:r>
            <a:endParaRPr sz="24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8"/>
          <p:cNvSpPr txBox="1"/>
          <p:nvPr/>
        </p:nvSpPr>
        <p:spPr>
          <a:xfrm>
            <a:off x="60275" y="70325"/>
            <a:ext cx="9001200" cy="497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rgbClr val="FF0000"/>
                </a:solidFill>
                <a:latin typeface="Times New Roman"/>
                <a:ea typeface="Times New Roman"/>
                <a:cs typeface="Times New Roman"/>
                <a:sym typeface="Times New Roman"/>
              </a:rPr>
              <a:t>enterproc(table,name,newtable)</a:t>
            </a:r>
            <a:endParaRPr sz="2400" b="1">
              <a:solidFill>
                <a:srgbClr val="FF0000"/>
              </a:solidFill>
              <a:latin typeface="Times New Roman"/>
              <a:ea typeface="Times New Roman"/>
              <a:cs typeface="Times New Roman"/>
              <a:sym typeface="Times New Roman"/>
            </a:endParaRPr>
          </a:p>
          <a:p>
            <a:pPr marL="457200" lvl="0" indent="-381000" algn="l" rtl="0">
              <a:spcBef>
                <a:spcPts val="0"/>
              </a:spcBef>
              <a:spcAft>
                <a:spcPts val="0"/>
              </a:spcAft>
              <a:buSzPts val="2400"/>
              <a:buFont typeface="Times New Roman"/>
              <a:buChar char="❏"/>
            </a:pPr>
            <a:r>
              <a:rPr lang="en" sz="2400">
                <a:latin typeface="Times New Roman"/>
                <a:ea typeface="Times New Roman"/>
                <a:cs typeface="Times New Roman"/>
                <a:sym typeface="Times New Roman"/>
              </a:rPr>
              <a:t>Creates a new entry for procedure name in the symbol table pointed to by table.</a:t>
            </a:r>
            <a:endParaRPr sz="2400">
              <a:latin typeface="Times New Roman"/>
              <a:ea typeface="Times New Roman"/>
              <a:cs typeface="Times New Roman"/>
              <a:sym typeface="Times New Roman"/>
            </a:endParaRPr>
          </a:p>
          <a:p>
            <a:pPr marL="457200" lvl="0" indent="-381000" algn="l" rtl="0">
              <a:spcBef>
                <a:spcPts val="0"/>
              </a:spcBef>
              <a:spcAft>
                <a:spcPts val="0"/>
              </a:spcAft>
              <a:buSzPts val="2400"/>
              <a:buFont typeface="Times New Roman"/>
              <a:buChar char="❏"/>
            </a:pPr>
            <a:r>
              <a:rPr lang="en" sz="2400">
                <a:latin typeface="Times New Roman"/>
                <a:ea typeface="Times New Roman"/>
                <a:cs typeface="Times New Roman"/>
                <a:sym typeface="Times New Roman"/>
              </a:rPr>
              <a:t>Argument newtable points to the symbol table for this procedure name.</a:t>
            </a:r>
            <a:endParaRPr sz="2400" b="1">
              <a:solidFill>
                <a:srgbClr val="980000"/>
              </a:solidFill>
              <a:latin typeface="Times New Roman"/>
              <a:ea typeface="Times New Roman"/>
              <a:cs typeface="Times New Roman"/>
              <a:sym typeface="Times New Roman"/>
            </a:endParaRPr>
          </a:p>
          <a:p>
            <a:pPr marL="0" lvl="0" indent="0" algn="l" rtl="0">
              <a:spcBef>
                <a:spcPts val="0"/>
              </a:spcBef>
              <a:spcAft>
                <a:spcPts val="0"/>
              </a:spcAft>
              <a:buNone/>
            </a:pPr>
            <a:r>
              <a:rPr lang="en" sz="2400" b="1">
                <a:solidFill>
                  <a:srgbClr val="9900FF"/>
                </a:solidFill>
                <a:latin typeface="Times New Roman"/>
                <a:ea typeface="Times New Roman"/>
                <a:cs typeface="Times New Roman"/>
                <a:sym typeface="Times New Roman"/>
              </a:rPr>
              <a:t>Field Names in Record</a:t>
            </a:r>
            <a:endParaRPr sz="2400" b="1">
              <a:solidFill>
                <a:srgbClr val="9900FF"/>
              </a:solidFill>
              <a:latin typeface="Times New Roman"/>
              <a:ea typeface="Times New Roman"/>
              <a:cs typeface="Times New Roman"/>
              <a:sym typeface="Times New Roman"/>
            </a:endParaRPr>
          </a:p>
          <a:p>
            <a:pPr marL="0" lvl="0" indent="0" algn="l" rtl="0">
              <a:spcBef>
                <a:spcPts val="0"/>
              </a:spcBef>
              <a:spcAft>
                <a:spcPts val="0"/>
              </a:spcAft>
              <a:buNone/>
            </a:pPr>
            <a:r>
              <a:rPr lang="en"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p:txBody>
      </p:sp>
      <p:graphicFrame>
        <p:nvGraphicFramePr>
          <p:cNvPr id="91" name="Google Shape;91;p18"/>
          <p:cNvGraphicFramePr/>
          <p:nvPr/>
        </p:nvGraphicFramePr>
        <p:xfrm>
          <a:off x="631025" y="2491375"/>
          <a:ext cx="8248650" cy="2194500"/>
        </p:xfrm>
        <a:graphic>
          <a:graphicData uri="http://schemas.openxmlformats.org/drawingml/2006/table">
            <a:tbl>
              <a:tblPr>
                <a:noFill/>
                <a:tableStyleId>{E45C88B7-2F03-4263-B044-BB84167B48E1}</a:tableStyleId>
              </a:tblPr>
              <a:tblGrid>
                <a:gridCol w="3260375">
                  <a:extLst>
                    <a:ext uri="{9D8B030D-6E8A-4147-A177-3AD203B41FA5}">
                      <a16:colId xmlns:a16="http://schemas.microsoft.com/office/drawing/2014/main" val="20000"/>
                    </a:ext>
                  </a:extLst>
                </a:gridCol>
                <a:gridCol w="4988275">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T-&gt; record L D end</a:t>
                      </a:r>
                      <a:endParaRPr sz="240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sz="2400">
                          <a:latin typeface="Times New Roman"/>
                          <a:ea typeface="Times New Roman"/>
                          <a:cs typeface="Times New Roman"/>
                          <a:sym typeface="Times New Roman"/>
                        </a:rPr>
                        <a:t>{T.type:=record(tpo(tblptr));</a:t>
                      </a:r>
                      <a:endParaRPr sz="2400">
                        <a:latin typeface="Times New Roman"/>
                        <a:ea typeface="Times New Roman"/>
                        <a:cs typeface="Times New Roman"/>
                        <a:sym typeface="Times New Roman"/>
                      </a:endParaRPr>
                    </a:p>
                    <a:p>
                      <a:pPr marL="0" lvl="0" indent="0" algn="l" rtl="0">
                        <a:spcBef>
                          <a:spcPts val="0"/>
                        </a:spcBef>
                        <a:spcAft>
                          <a:spcPts val="0"/>
                        </a:spcAft>
                        <a:buNone/>
                      </a:pPr>
                      <a:r>
                        <a:rPr lang="en" sz="2400">
                          <a:latin typeface="Times New Roman"/>
                          <a:ea typeface="Times New Roman"/>
                          <a:cs typeface="Times New Roman"/>
                          <a:sym typeface="Times New Roman"/>
                        </a:rPr>
                        <a:t>T.width:=top(offset);</a:t>
                      </a:r>
                      <a:endParaRPr sz="2400">
                        <a:latin typeface="Times New Roman"/>
                        <a:ea typeface="Times New Roman"/>
                        <a:cs typeface="Times New Roman"/>
                        <a:sym typeface="Times New Roman"/>
                      </a:endParaRPr>
                    </a:p>
                    <a:p>
                      <a:pPr marL="0" lvl="0" indent="0" algn="l" rtl="0">
                        <a:spcBef>
                          <a:spcPts val="0"/>
                        </a:spcBef>
                        <a:spcAft>
                          <a:spcPts val="0"/>
                        </a:spcAft>
                        <a:buNone/>
                      </a:pPr>
                      <a:r>
                        <a:rPr lang="en" sz="2400">
                          <a:latin typeface="Times New Roman"/>
                          <a:ea typeface="Times New Roman"/>
                          <a:cs typeface="Times New Roman"/>
                          <a:sym typeface="Times New Roman"/>
                        </a:rPr>
                        <a:t>pop(tblptr); pop(offset)}</a:t>
                      </a:r>
                      <a:endParaRPr sz="24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548600">
                <a:tc>
                  <a:txBody>
                    <a:bodyPr/>
                    <a:lstStyle/>
                    <a:p>
                      <a:pPr marL="0" lvl="0" indent="0" algn="l" rtl="0">
                        <a:spcBef>
                          <a:spcPts val="0"/>
                        </a:spcBef>
                        <a:spcAft>
                          <a:spcPts val="0"/>
                        </a:spcAft>
                        <a:buNone/>
                      </a:pPr>
                      <a:r>
                        <a:rPr lang="en" sz="2400">
                          <a:latin typeface="Times New Roman"/>
                          <a:ea typeface="Times New Roman"/>
                          <a:cs typeface="Times New Roman"/>
                          <a:sym typeface="Times New Roman"/>
                        </a:rPr>
                        <a:t>L-&gt;</a:t>
                      </a:r>
                      <a:r>
                        <a:rPr lang="en" sz="2400">
                          <a:solidFill>
                            <a:schemeClr val="dk1"/>
                          </a:solidFill>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sz="2400">
                          <a:latin typeface="Times New Roman"/>
                          <a:ea typeface="Times New Roman"/>
                          <a:cs typeface="Times New Roman"/>
                          <a:sym typeface="Times New Roman"/>
                        </a:rPr>
                        <a:t>{t:=mktable(nil);</a:t>
                      </a:r>
                      <a:endParaRPr sz="2400">
                        <a:latin typeface="Times New Roman"/>
                        <a:ea typeface="Times New Roman"/>
                        <a:cs typeface="Times New Roman"/>
                        <a:sym typeface="Times New Roman"/>
                      </a:endParaRPr>
                    </a:p>
                    <a:p>
                      <a:pPr marL="0" lvl="0" indent="0" algn="l" rtl="0">
                        <a:spcBef>
                          <a:spcPts val="0"/>
                        </a:spcBef>
                        <a:spcAft>
                          <a:spcPts val="0"/>
                        </a:spcAft>
                        <a:buNone/>
                      </a:pPr>
                      <a:r>
                        <a:rPr lang="en" sz="2400">
                          <a:latin typeface="Times New Roman"/>
                          <a:ea typeface="Times New Roman"/>
                          <a:cs typeface="Times New Roman"/>
                          <a:sym typeface="Times New Roman"/>
                        </a:rPr>
                        <a:t>push(t,tblptr); push(0,offset)}</a:t>
                      </a:r>
                      <a:endParaRPr sz="24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9"/>
          <p:cNvSpPr txBox="1"/>
          <p:nvPr/>
        </p:nvSpPr>
        <p:spPr>
          <a:xfrm>
            <a:off x="140650" y="60275"/>
            <a:ext cx="8940900" cy="487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dirty="0">
                <a:solidFill>
                  <a:srgbClr val="980000"/>
                </a:solidFill>
                <a:latin typeface="Times New Roman"/>
                <a:ea typeface="Times New Roman"/>
                <a:cs typeface="Times New Roman"/>
                <a:sym typeface="Times New Roman"/>
              </a:rPr>
              <a:t>Assignment Statements</a:t>
            </a:r>
            <a:endParaRPr sz="2400" b="1" dirty="0">
              <a:solidFill>
                <a:srgbClr val="980000"/>
              </a:solidFill>
              <a:latin typeface="Times New Roman"/>
              <a:ea typeface="Times New Roman"/>
              <a:cs typeface="Times New Roman"/>
              <a:sym typeface="Times New Roman"/>
            </a:endParaRPr>
          </a:p>
          <a:p>
            <a:pPr marL="0" lvl="0" indent="0" algn="l" rtl="0">
              <a:spcBef>
                <a:spcPts val="0"/>
              </a:spcBef>
              <a:spcAft>
                <a:spcPts val="0"/>
              </a:spcAft>
              <a:buNone/>
            </a:pPr>
            <a:r>
              <a:rPr lang="en" sz="2400" dirty="0">
                <a:latin typeface="Times New Roman"/>
                <a:ea typeface="Times New Roman"/>
                <a:cs typeface="Times New Roman"/>
                <a:sym typeface="Times New Roman"/>
              </a:rPr>
              <a:t>Translation scheme to produce three-address for assignments:</a:t>
            </a:r>
            <a:endParaRPr sz="2400" dirty="0">
              <a:latin typeface="Times New Roman"/>
              <a:ea typeface="Times New Roman"/>
              <a:cs typeface="Times New Roman"/>
              <a:sym typeface="Times New Roman"/>
            </a:endParaRPr>
          </a:p>
          <a:p>
            <a:pPr marL="0" lvl="0" indent="0" algn="l" rtl="0">
              <a:spcBef>
                <a:spcPts val="0"/>
              </a:spcBef>
              <a:spcAft>
                <a:spcPts val="0"/>
              </a:spcAft>
              <a:buNone/>
            </a:pPr>
            <a:endParaRPr sz="2400" dirty="0">
              <a:latin typeface="Times New Roman"/>
              <a:ea typeface="Times New Roman"/>
              <a:cs typeface="Times New Roman"/>
              <a:sym typeface="Times New Roman"/>
            </a:endParaRPr>
          </a:p>
          <a:p>
            <a:pPr marL="365760" lvl="0" indent="-291846" algn="l" rtl="0">
              <a:spcBef>
                <a:spcPts val="0"/>
              </a:spcBef>
              <a:spcAft>
                <a:spcPts val="0"/>
              </a:spcAft>
              <a:buClr>
                <a:srgbClr val="2DA2BF"/>
              </a:buClr>
              <a:buSzPts val="2400"/>
              <a:buFont typeface="Times New Roman"/>
              <a:buChar char="❏"/>
            </a:pPr>
            <a:r>
              <a:rPr lang="en" sz="2400" dirty="0">
                <a:solidFill>
                  <a:schemeClr val="dk1"/>
                </a:solidFill>
                <a:latin typeface="Times New Roman"/>
                <a:ea typeface="Times New Roman"/>
                <a:cs typeface="Times New Roman"/>
                <a:sym typeface="Times New Roman"/>
              </a:rPr>
              <a:t>Names in the symbol table</a:t>
            </a:r>
            <a:endParaRPr sz="2400" dirty="0">
              <a:solidFill>
                <a:schemeClr val="dk1"/>
              </a:solidFill>
              <a:latin typeface="Times New Roman"/>
              <a:ea typeface="Times New Roman"/>
              <a:cs typeface="Times New Roman"/>
              <a:sym typeface="Times New Roman"/>
            </a:endParaRPr>
          </a:p>
          <a:p>
            <a:pPr marL="365760" lvl="0" indent="-291846" algn="l" rtl="0">
              <a:spcBef>
                <a:spcPts val="400"/>
              </a:spcBef>
              <a:spcAft>
                <a:spcPts val="0"/>
              </a:spcAft>
              <a:buClr>
                <a:srgbClr val="2DA2BF"/>
              </a:buClr>
              <a:buSzPts val="2400"/>
              <a:buFont typeface="Times New Roman"/>
              <a:buChar char="❏"/>
            </a:pPr>
            <a:r>
              <a:rPr lang="en" sz="2400" dirty="0">
                <a:solidFill>
                  <a:schemeClr val="dk1"/>
                </a:solidFill>
                <a:latin typeface="Times New Roman"/>
                <a:ea typeface="Times New Roman"/>
                <a:cs typeface="Times New Roman"/>
                <a:sym typeface="Times New Roman"/>
              </a:rPr>
              <a:t>lookup(id.name)</a:t>
            </a:r>
            <a:endParaRPr sz="2400" dirty="0">
              <a:solidFill>
                <a:schemeClr val="dk1"/>
              </a:solidFill>
              <a:latin typeface="Times New Roman"/>
              <a:ea typeface="Times New Roman"/>
              <a:cs typeface="Times New Roman"/>
              <a:sym typeface="Times New Roman"/>
            </a:endParaRPr>
          </a:p>
          <a:p>
            <a:pPr marL="365760" lvl="0" indent="-291846" algn="l" rtl="0">
              <a:spcBef>
                <a:spcPts val="400"/>
              </a:spcBef>
              <a:spcAft>
                <a:spcPts val="0"/>
              </a:spcAft>
              <a:buClr>
                <a:srgbClr val="2DA2BF"/>
              </a:buClr>
              <a:buSzPts val="2400"/>
              <a:buFont typeface="Times New Roman"/>
              <a:buChar char="❏"/>
            </a:pPr>
            <a:r>
              <a:rPr lang="en" sz="2400" dirty="0">
                <a:solidFill>
                  <a:schemeClr val="dk1"/>
                </a:solidFill>
                <a:latin typeface="Times New Roman"/>
                <a:ea typeface="Times New Roman"/>
                <a:cs typeface="Times New Roman"/>
                <a:sym typeface="Times New Roman"/>
              </a:rPr>
              <a:t>emit – to emit an three address statements to an output file</a:t>
            </a:r>
            <a:endParaRPr sz="2400" dirty="0">
              <a:solidFill>
                <a:schemeClr val="dk1"/>
              </a:solidFill>
              <a:latin typeface="Times New Roman"/>
              <a:ea typeface="Times New Roman"/>
              <a:cs typeface="Times New Roman"/>
              <a:sym typeface="Times New Roman"/>
            </a:endParaRPr>
          </a:p>
          <a:p>
            <a:pPr marL="0" lvl="0" indent="0" algn="l" rtl="0">
              <a:spcBef>
                <a:spcPts val="400"/>
              </a:spcBef>
              <a:spcAft>
                <a:spcPts val="0"/>
              </a:spcAft>
              <a:buNone/>
            </a:pPr>
            <a:r>
              <a:rPr lang="en" sz="2400" dirty="0">
                <a:solidFill>
                  <a:schemeClr val="dk1"/>
                </a:solidFill>
                <a:latin typeface="Times New Roman"/>
                <a:ea typeface="Times New Roman"/>
                <a:cs typeface="Times New Roman"/>
                <a:sym typeface="Times New Roman"/>
              </a:rPr>
              <a:t>Grammar</a:t>
            </a:r>
            <a:endParaRPr sz="2400" dirty="0">
              <a:solidFill>
                <a:schemeClr val="dk1"/>
              </a:solidFill>
              <a:latin typeface="Times New Roman"/>
              <a:ea typeface="Times New Roman"/>
              <a:cs typeface="Times New Roman"/>
              <a:sym typeface="Times New Roman"/>
            </a:endParaRPr>
          </a:p>
          <a:p>
            <a:pPr marL="365760" lvl="0" indent="-330708" algn="l" rtl="0">
              <a:spcBef>
                <a:spcPts val="324"/>
              </a:spcBef>
              <a:spcAft>
                <a:spcPts val="0"/>
              </a:spcAft>
              <a:buClr>
                <a:schemeClr val="dk1"/>
              </a:buClr>
              <a:buSzPts val="2400"/>
              <a:buFont typeface="Times New Roman"/>
              <a:buChar char="❏"/>
            </a:pPr>
            <a:r>
              <a:rPr lang="en-IN" sz="2400" dirty="0">
                <a:solidFill>
                  <a:schemeClr val="dk1"/>
                </a:solidFill>
                <a:latin typeface="Times New Roman"/>
                <a:ea typeface="Times New Roman"/>
                <a:cs typeface="Times New Roman"/>
                <a:sym typeface="Times New Roman"/>
              </a:rPr>
              <a:t>P -&gt;</a:t>
            </a:r>
            <a:r>
              <a:rPr lang="en" sz="2400" dirty="0">
                <a:solidFill>
                  <a:schemeClr val="dk1"/>
                </a:solidFill>
                <a:latin typeface="Times New Roman"/>
                <a:ea typeface="Times New Roman"/>
                <a:cs typeface="Times New Roman"/>
                <a:sym typeface="Times New Roman"/>
              </a:rPr>
              <a:t> </a:t>
            </a:r>
            <a:r>
              <a:rPr lang="en-IN" sz="2400" dirty="0">
                <a:solidFill>
                  <a:schemeClr val="dk1"/>
                </a:solidFill>
                <a:latin typeface="Times New Roman"/>
                <a:ea typeface="Times New Roman"/>
                <a:cs typeface="Times New Roman"/>
                <a:sym typeface="Times New Roman"/>
              </a:rPr>
              <a:t>MD</a:t>
            </a:r>
          </a:p>
          <a:p>
            <a:pPr marL="365760" lvl="0" indent="-330708" algn="l" rtl="0">
              <a:spcBef>
                <a:spcPts val="0"/>
              </a:spcBef>
              <a:spcAft>
                <a:spcPts val="0"/>
              </a:spcAft>
              <a:buClr>
                <a:schemeClr val="dk1"/>
              </a:buClr>
              <a:buSzPts val="2400"/>
              <a:buFont typeface="Times New Roman"/>
              <a:buChar char="❏"/>
            </a:pPr>
            <a:r>
              <a:rPr lang="en-IN" sz="2400" dirty="0">
                <a:solidFill>
                  <a:schemeClr val="dk1"/>
                </a:solidFill>
                <a:latin typeface="Times New Roman"/>
                <a:ea typeface="Times New Roman"/>
                <a:cs typeface="Times New Roman"/>
                <a:sym typeface="Times New Roman"/>
              </a:rPr>
              <a:t>M -&gt;</a:t>
            </a:r>
            <a:r>
              <a:rPr lang="en" sz="2400" dirty="0">
                <a:solidFill>
                  <a:schemeClr val="dk1"/>
                </a:solidFill>
                <a:latin typeface="Times New Roman"/>
                <a:ea typeface="Times New Roman"/>
                <a:cs typeface="Times New Roman"/>
                <a:sym typeface="Times New Roman"/>
              </a:rPr>
              <a:t> ℇ</a:t>
            </a:r>
          </a:p>
          <a:p>
            <a:pPr marL="365760" lvl="0" indent="-330708" algn="l" rtl="0">
              <a:spcBef>
                <a:spcPts val="0"/>
              </a:spcBef>
              <a:spcAft>
                <a:spcPts val="0"/>
              </a:spcAft>
              <a:buClr>
                <a:schemeClr val="dk1"/>
              </a:buClr>
              <a:buSzPts val="2400"/>
              <a:buFont typeface="Times New Roman"/>
              <a:buChar char="❏"/>
            </a:pPr>
            <a:r>
              <a:rPr lang="en-IN" sz="2400" dirty="0">
                <a:solidFill>
                  <a:schemeClr val="dk1"/>
                </a:solidFill>
                <a:latin typeface="Times New Roman"/>
                <a:ea typeface="Times New Roman"/>
                <a:cs typeface="Times New Roman"/>
                <a:sym typeface="Times New Roman"/>
              </a:rPr>
              <a:t>D -&gt;</a:t>
            </a:r>
            <a:r>
              <a:rPr lang="en" sz="2400" dirty="0">
                <a:solidFill>
                  <a:schemeClr val="dk1"/>
                </a:solidFill>
                <a:latin typeface="Times New Roman"/>
                <a:ea typeface="Times New Roman"/>
                <a:cs typeface="Times New Roman"/>
                <a:sym typeface="Times New Roman"/>
              </a:rPr>
              <a:t> </a:t>
            </a:r>
            <a:r>
              <a:rPr lang="en-IN" sz="2400" dirty="0">
                <a:solidFill>
                  <a:schemeClr val="dk1"/>
                </a:solidFill>
                <a:latin typeface="Times New Roman"/>
                <a:ea typeface="Times New Roman"/>
                <a:cs typeface="Times New Roman"/>
                <a:sym typeface="Times New Roman"/>
              </a:rPr>
              <a:t>D;D | </a:t>
            </a:r>
            <a:r>
              <a:rPr lang="en-IN" sz="2400" dirty="0" err="1">
                <a:solidFill>
                  <a:schemeClr val="dk1"/>
                </a:solidFill>
                <a:latin typeface="Times New Roman"/>
                <a:ea typeface="Times New Roman"/>
                <a:cs typeface="Times New Roman"/>
                <a:sym typeface="Times New Roman"/>
              </a:rPr>
              <a:t>id:T</a:t>
            </a:r>
            <a:r>
              <a:rPr lang="en-IN" sz="2400" dirty="0">
                <a:solidFill>
                  <a:schemeClr val="dk1"/>
                </a:solidFill>
                <a:latin typeface="Times New Roman"/>
                <a:ea typeface="Times New Roman"/>
                <a:cs typeface="Times New Roman"/>
                <a:sym typeface="Times New Roman"/>
              </a:rPr>
              <a:t> | proc id; ND;S</a:t>
            </a:r>
          </a:p>
          <a:p>
            <a:pPr marL="365760" lvl="0" indent="-330708" algn="l" rtl="0">
              <a:spcBef>
                <a:spcPts val="0"/>
              </a:spcBef>
              <a:spcAft>
                <a:spcPts val="0"/>
              </a:spcAft>
              <a:buClr>
                <a:schemeClr val="dk1"/>
              </a:buClr>
              <a:buSzPts val="2400"/>
              <a:buFont typeface="Times New Roman"/>
              <a:buChar char="❏"/>
            </a:pPr>
            <a:r>
              <a:rPr lang="en-IN" sz="2400" dirty="0">
                <a:solidFill>
                  <a:schemeClr val="dk1"/>
                </a:solidFill>
                <a:latin typeface="Times New Roman"/>
                <a:ea typeface="Times New Roman"/>
                <a:cs typeface="Times New Roman"/>
                <a:sym typeface="Times New Roman"/>
              </a:rPr>
              <a:t>N -&gt;</a:t>
            </a:r>
            <a:r>
              <a:rPr lang="en" sz="2400" dirty="0">
                <a:solidFill>
                  <a:schemeClr val="dk1"/>
                </a:solidFill>
                <a:latin typeface="Times New Roman"/>
                <a:ea typeface="Times New Roman"/>
                <a:cs typeface="Times New Roman"/>
                <a:sym typeface="Times New Roman"/>
              </a:rPr>
              <a:t> ℇ         </a:t>
            </a:r>
            <a:r>
              <a:rPr lang="en-US" sz="2400" dirty="0">
                <a:solidFill>
                  <a:schemeClr val="dk1"/>
                </a:solidFill>
                <a:latin typeface="Times New Roman"/>
                <a:ea typeface="Times New Roman"/>
                <a:cs typeface="Times New Roman"/>
                <a:sym typeface="Times New Roman"/>
              </a:rPr>
              <a:t>Translation scheme to generate three-address code (TAC) for assignment statements using syntax-directed definitions.</a:t>
            </a:r>
            <a:endParaRPr lang="en" sz="24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400" dirty="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0"/>
          <p:cNvSpPr txBox="1"/>
          <p:nvPr/>
        </p:nvSpPr>
        <p:spPr>
          <a:xfrm>
            <a:off x="0" y="0"/>
            <a:ext cx="8940900" cy="85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dirty="0">
                <a:solidFill>
                  <a:srgbClr val="980000"/>
                </a:solidFill>
                <a:latin typeface="Times New Roman"/>
                <a:ea typeface="Times New Roman"/>
                <a:cs typeface="Times New Roman"/>
                <a:sym typeface="Times New Roman"/>
              </a:rPr>
              <a:t>Assignment Statements</a:t>
            </a:r>
            <a:endParaRPr sz="2400" b="1" dirty="0">
              <a:solidFill>
                <a:srgbClr val="980000"/>
              </a:solidFill>
              <a:latin typeface="Times New Roman"/>
              <a:ea typeface="Times New Roman"/>
              <a:cs typeface="Times New Roman"/>
              <a:sym typeface="Times New Roman"/>
            </a:endParaRPr>
          </a:p>
          <a:p>
            <a:pPr marL="0" lvl="0" indent="0" algn="l" rtl="0">
              <a:spcBef>
                <a:spcPts val="0"/>
              </a:spcBef>
              <a:spcAft>
                <a:spcPts val="0"/>
              </a:spcAft>
              <a:buNone/>
            </a:pPr>
            <a:r>
              <a:rPr lang="en" sz="2400" dirty="0">
                <a:latin typeface="Times New Roman"/>
                <a:ea typeface="Times New Roman"/>
                <a:cs typeface="Times New Roman"/>
                <a:sym typeface="Times New Roman"/>
              </a:rPr>
              <a:t>Translation scheme to produce three-address for assignments:</a:t>
            </a:r>
            <a:endParaRPr sz="2400" dirty="0">
              <a:latin typeface="Times New Roman"/>
              <a:ea typeface="Times New Roman"/>
              <a:cs typeface="Times New Roman"/>
              <a:sym typeface="Times New Roman"/>
            </a:endParaRPr>
          </a:p>
          <a:p>
            <a:pPr marL="0" lvl="0" indent="0" algn="l" rtl="0">
              <a:spcBef>
                <a:spcPts val="0"/>
              </a:spcBef>
              <a:spcAft>
                <a:spcPts val="0"/>
              </a:spcAft>
              <a:buNone/>
            </a:pPr>
            <a:endParaRPr sz="2400" dirty="0">
              <a:latin typeface="Times New Roman"/>
              <a:ea typeface="Times New Roman"/>
              <a:cs typeface="Times New Roman"/>
              <a:sym typeface="Times New Roman"/>
            </a:endParaRPr>
          </a:p>
        </p:txBody>
      </p:sp>
      <p:graphicFrame>
        <p:nvGraphicFramePr>
          <p:cNvPr id="102" name="Google Shape;102;p20"/>
          <p:cNvGraphicFramePr/>
          <p:nvPr>
            <p:extLst>
              <p:ext uri="{D42A27DB-BD31-4B8C-83A1-F6EECF244321}">
                <p14:modId xmlns:p14="http://schemas.microsoft.com/office/powerpoint/2010/main" val="3829485302"/>
              </p:ext>
            </p:extLst>
          </p:nvPr>
        </p:nvGraphicFramePr>
        <p:xfrm>
          <a:off x="329675" y="1127000"/>
          <a:ext cx="5483827" cy="3718440"/>
        </p:xfrm>
        <a:graphic>
          <a:graphicData uri="http://schemas.openxmlformats.org/drawingml/2006/table">
            <a:tbl>
              <a:tblPr>
                <a:noFill/>
                <a:tableStyleId>{E45C88B7-2F03-4263-B044-BB84167B48E1}</a:tableStyleId>
              </a:tblPr>
              <a:tblGrid>
                <a:gridCol w="1700725">
                  <a:extLst>
                    <a:ext uri="{9D8B030D-6E8A-4147-A177-3AD203B41FA5}">
                      <a16:colId xmlns:a16="http://schemas.microsoft.com/office/drawing/2014/main" val="20000"/>
                    </a:ext>
                  </a:extLst>
                </a:gridCol>
                <a:gridCol w="3783102">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S-&gt;id:=E</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a:latin typeface="Times New Roman"/>
                          <a:ea typeface="Times New Roman"/>
                          <a:cs typeface="Times New Roman"/>
                          <a:sym typeface="Times New Roman"/>
                        </a:rPr>
                        <a:t>{p:=lookup(id.name);                                           </a:t>
                      </a:r>
                      <a:endParaRPr>
                        <a:latin typeface="Times New Roman"/>
                        <a:ea typeface="Times New Roman"/>
                        <a:cs typeface="Times New Roman"/>
                        <a:sym typeface="Times New Roman"/>
                      </a:endParaRPr>
                    </a:p>
                    <a:p>
                      <a:pPr marL="0" lvl="0" indent="0" algn="l" rtl="0">
                        <a:spcBef>
                          <a:spcPts val="0"/>
                        </a:spcBef>
                        <a:spcAft>
                          <a:spcPts val="0"/>
                        </a:spcAft>
                        <a:buNone/>
                      </a:pPr>
                      <a:r>
                        <a:rPr lang="en">
                          <a:latin typeface="Times New Roman"/>
                          <a:ea typeface="Times New Roman"/>
                          <a:cs typeface="Times New Roman"/>
                          <a:sym typeface="Times New Roman"/>
                        </a:rPr>
                        <a:t>If p </a:t>
                      </a:r>
                      <a:r>
                        <a:rPr lang="en">
                          <a:solidFill>
                            <a:schemeClr val="dk1"/>
                          </a:solidFill>
                          <a:latin typeface="Times New Roman"/>
                          <a:ea typeface="Times New Roman"/>
                          <a:cs typeface="Times New Roman"/>
                          <a:sym typeface="Times New Roman"/>
                        </a:rPr>
                        <a:t>≠ nil then                  </a:t>
                      </a:r>
                      <a:endParaRPr>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   emit(p ’:=’ E.place)</a:t>
                      </a:r>
                      <a:endParaRPr>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else error}</a:t>
                      </a:r>
                      <a:endParaRPr>
                        <a:solidFill>
                          <a:schemeClr val="dk1"/>
                        </a:solidFill>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latin typeface="Times New Roman"/>
                          <a:ea typeface="Times New Roman"/>
                          <a:cs typeface="Times New Roman"/>
                          <a:sym typeface="Times New Roman"/>
                        </a:rPr>
                        <a:t>E-&gt;</a:t>
                      </a:r>
                      <a:r>
                        <a:rPr lang="en">
                          <a:solidFill>
                            <a:schemeClr val="dk1"/>
                          </a:solidFill>
                          <a:latin typeface="Times New Roman"/>
                          <a:ea typeface="Times New Roman"/>
                          <a:cs typeface="Times New Roman"/>
                          <a:sym typeface="Times New Roman"/>
                        </a:rPr>
                        <a:t>E</a:t>
                      </a:r>
                      <a:r>
                        <a:rPr lang="en" baseline="-25000">
                          <a:solidFill>
                            <a:schemeClr val="dk1"/>
                          </a:solidFill>
                          <a:latin typeface="Times New Roman"/>
                          <a:ea typeface="Times New Roman"/>
                          <a:cs typeface="Times New Roman"/>
                          <a:sym typeface="Times New Roman"/>
                        </a:rPr>
                        <a:t>1</a:t>
                      </a:r>
                      <a:r>
                        <a:rPr lang="en">
                          <a:solidFill>
                            <a:schemeClr val="dk1"/>
                          </a:solidFill>
                          <a:latin typeface="Times New Roman"/>
                          <a:ea typeface="Times New Roman"/>
                          <a:cs typeface="Times New Roman"/>
                          <a:sym typeface="Times New Roman"/>
                        </a:rPr>
                        <a:t>+E</a:t>
                      </a:r>
                      <a:r>
                        <a:rPr lang="en" baseline="-25000">
                          <a:solidFill>
                            <a:schemeClr val="dk1"/>
                          </a:solidFill>
                          <a:latin typeface="Times New Roman"/>
                          <a:ea typeface="Times New Roman"/>
                          <a:cs typeface="Times New Roman"/>
                          <a:sym typeface="Times New Roman"/>
                        </a:rPr>
                        <a:t>2</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dirty="0">
                          <a:latin typeface="Times New Roman"/>
                          <a:ea typeface="Times New Roman"/>
                          <a:cs typeface="Times New Roman"/>
                          <a:sym typeface="Times New Roman"/>
                        </a:rPr>
                        <a:t>{E.place:=new temp</a:t>
                      </a:r>
                      <a:endParaRPr dirty="0">
                        <a:latin typeface="Times New Roman"/>
                        <a:ea typeface="Times New Roman"/>
                        <a:cs typeface="Times New Roman"/>
                        <a:sym typeface="Times New Roman"/>
                      </a:endParaRPr>
                    </a:p>
                    <a:p>
                      <a:pPr marL="0" lvl="0" indent="0" algn="l" rtl="0">
                        <a:spcBef>
                          <a:spcPts val="0"/>
                        </a:spcBef>
                        <a:spcAft>
                          <a:spcPts val="0"/>
                        </a:spcAft>
                        <a:buNone/>
                      </a:pPr>
                      <a:r>
                        <a:rPr lang="en" dirty="0">
                          <a:latin typeface="Times New Roman"/>
                          <a:ea typeface="Times New Roman"/>
                          <a:cs typeface="Times New Roman"/>
                          <a:sym typeface="Times New Roman"/>
                        </a:rPr>
                        <a:t>emit(E.place’:=’ </a:t>
                      </a:r>
                      <a:r>
                        <a:rPr lang="en" dirty="0">
                          <a:solidFill>
                            <a:schemeClr val="dk1"/>
                          </a:solidFill>
                          <a:latin typeface="Times New Roman"/>
                          <a:ea typeface="Times New Roman"/>
                          <a:cs typeface="Times New Roman"/>
                          <a:sym typeface="Times New Roman"/>
                        </a:rPr>
                        <a:t>E</a:t>
                      </a:r>
                      <a:r>
                        <a:rPr lang="en" baseline="-25000" dirty="0">
                          <a:solidFill>
                            <a:schemeClr val="dk1"/>
                          </a:solidFill>
                          <a:latin typeface="Times New Roman"/>
                          <a:ea typeface="Times New Roman"/>
                          <a:cs typeface="Times New Roman"/>
                          <a:sym typeface="Times New Roman"/>
                        </a:rPr>
                        <a:t>1</a:t>
                      </a:r>
                      <a:r>
                        <a:rPr lang="en" dirty="0">
                          <a:solidFill>
                            <a:schemeClr val="dk1"/>
                          </a:solidFill>
                          <a:latin typeface="Times New Roman"/>
                          <a:ea typeface="Times New Roman"/>
                          <a:cs typeface="Times New Roman"/>
                          <a:sym typeface="Times New Roman"/>
                        </a:rPr>
                        <a:t>.Place ‘+’ E</a:t>
                      </a:r>
                      <a:r>
                        <a:rPr lang="en" baseline="-25000" dirty="0">
                          <a:solidFill>
                            <a:schemeClr val="dk1"/>
                          </a:solidFill>
                          <a:latin typeface="Times New Roman"/>
                          <a:ea typeface="Times New Roman"/>
                          <a:cs typeface="Times New Roman"/>
                          <a:sym typeface="Times New Roman"/>
                        </a:rPr>
                        <a:t>2</a:t>
                      </a:r>
                      <a:r>
                        <a:rPr lang="en" dirty="0">
                          <a:solidFill>
                            <a:schemeClr val="dk1"/>
                          </a:solidFill>
                          <a:latin typeface="Times New Roman"/>
                          <a:ea typeface="Times New Roman"/>
                          <a:cs typeface="Times New Roman"/>
                          <a:sym typeface="Times New Roman"/>
                        </a:rPr>
                        <a:t>.Place)}</a:t>
                      </a:r>
                      <a:endParaRPr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dirty="0">
                        <a:solidFill>
                          <a:schemeClr val="dk1"/>
                        </a:solidFill>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E-&gt;E</a:t>
                      </a:r>
                      <a:r>
                        <a:rPr lang="en" baseline="-25000">
                          <a:solidFill>
                            <a:schemeClr val="dk1"/>
                          </a:solidFill>
                          <a:latin typeface="Times New Roman"/>
                          <a:ea typeface="Times New Roman"/>
                          <a:cs typeface="Times New Roman"/>
                          <a:sym typeface="Times New Roman"/>
                        </a:rPr>
                        <a:t>1</a:t>
                      </a:r>
                      <a:r>
                        <a:rPr lang="en">
                          <a:solidFill>
                            <a:schemeClr val="dk1"/>
                          </a:solidFill>
                          <a:latin typeface="Times New Roman"/>
                          <a:ea typeface="Times New Roman"/>
                          <a:cs typeface="Times New Roman"/>
                          <a:sym typeface="Times New Roman"/>
                        </a:rPr>
                        <a:t>*E</a:t>
                      </a:r>
                      <a:r>
                        <a:rPr lang="en" baseline="-25000">
                          <a:solidFill>
                            <a:schemeClr val="dk1"/>
                          </a:solidFill>
                          <a:latin typeface="Times New Roman"/>
                          <a:ea typeface="Times New Roman"/>
                          <a:cs typeface="Times New Roman"/>
                          <a:sym typeface="Times New Roman"/>
                        </a:rPr>
                        <a:t>2</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{E.place:=new temp</a:t>
                      </a:r>
                      <a:endParaRPr>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a:solidFill>
                            <a:schemeClr val="dk1"/>
                          </a:solidFill>
                          <a:latin typeface="Times New Roman"/>
                          <a:ea typeface="Times New Roman"/>
                          <a:cs typeface="Times New Roman"/>
                          <a:sym typeface="Times New Roman"/>
                        </a:rPr>
                        <a:t>emit(E.place’:=’ E</a:t>
                      </a:r>
                      <a:r>
                        <a:rPr lang="en" baseline="-25000">
                          <a:solidFill>
                            <a:schemeClr val="dk1"/>
                          </a:solidFill>
                          <a:latin typeface="Times New Roman"/>
                          <a:ea typeface="Times New Roman"/>
                          <a:cs typeface="Times New Roman"/>
                          <a:sym typeface="Times New Roman"/>
                        </a:rPr>
                        <a:t>1</a:t>
                      </a:r>
                      <a:r>
                        <a:rPr lang="en">
                          <a:solidFill>
                            <a:schemeClr val="dk1"/>
                          </a:solidFill>
                          <a:latin typeface="Times New Roman"/>
                          <a:ea typeface="Times New Roman"/>
                          <a:cs typeface="Times New Roman"/>
                          <a:sym typeface="Times New Roman"/>
                        </a:rPr>
                        <a:t>.Place ‘*’ E</a:t>
                      </a:r>
                      <a:r>
                        <a:rPr lang="en" baseline="-25000">
                          <a:solidFill>
                            <a:schemeClr val="dk1"/>
                          </a:solidFill>
                          <a:latin typeface="Times New Roman"/>
                          <a:ea typeface="Times New Roman"/>
                          <a:cs typeface="Times New Roman"/>
                          <a:sym typeface="Times New Roman"/>
                        </a:rPr>
                        <a:t>2</a:t>
                      </a:r>
                      <a:r>
                        <a:rPr lang="en">
                          <a:solidFill>
                            <a:schemeClr val="dk1"/>
                          </a:solidFill>
                          <a:latin typeface="Times New Roman"/>
                          <a:ea typeface="Times New Roman"/>
                          <a:cs typeface="Times New Roman"/>
                          <a:sym typeface="Times New Roman"/>
                        </a:rPr>
                        <a:t>.Place)}</a:t>
                      </a:r>
                      <a:endParaRPr>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latin typeface="Times New Roman"/>
                          <a:ea typeface="Times New Roman"/>
                          <a:cs typeface="Times New Roman"/>
                          <a:sym typeface="Times New Roman"/>
                        </a:rPr>
                        <a:t>E-&gt;-</a:t>
                      </a:r>
                      <a:r>
                        <a:rPr lang="en">
                          <a:solidFill>
                            <a:schemeClr val="dk1"/>
                          </a:solidFill>
                          <a:latin typeface="Times New Roman"/>
                          <a:ea typeface="Times New Roman"/>
                          <a:cs typeface="Times New Roman"/>
                          <a:sym typeface="Times New Roman"/>
                        </a:rPr>
                        <a:t>E</a:t>
                      </a:r>
                      <a:r>
                        <a:rPr lang="en" baseline="-25000">
                          <a:solidFill>
                            <a:schemeClr val="dk1"/>
                          </a:solidFill>
                          <a:latin typeface="Times New Roman"/>
                          <a:ea typeface="Times New Roman"/>
                          <a:cs typeface="Times New Roman"/>
                          <a:sym typeface="Times New Roman"/>
                        </a:rPr>
                        <a:t>1</a:t>
                      </a:r>
                      <a:endParaRPr>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dirty="0">
                          <a:solidFill>
                            <a:schemeClr val="dk1"/>
                          </a:solidFill>
                          <a:latin typeface="Times New Roman"/>
                          <a:ea typeface="Times New Roman"/>
                          <a:cs typeface="Times New Roman"/>
                          <a:sym typeface="Times New Roman"/>
                        </a:rPr>
                        <a:t>{E.place:=new temp</a:t>
                      </a:r>
                      <a:endParaRPr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dirty="0">
                          <a:solidFill>
                            <a:schemeClr val="dk1"/>
                          </a:solidFill>
                          <a:latin typeface="Times New Roman"/>
                          <a:ea typeface="Times New Roman"/>
                          <a:cs typeface="Times New Roman"/>
                          <a:sym typeface="Times New Roman"/>
                        </a:rPr>
                        <a:t>emit(E.place’:=’ ‘uminus’E</a:t>
                      </a:r>
                      <a:r>
                        <a:rPr lang="en" baseline="-25000" dirty="0">
                          <a:solidFill>
                            <a:schemeClr val="dk1"/>
                          </a:solidFill>
                          <a:latin typeface="Times New Roman"/>
                          <a:ea typeface="Times New Roman"/>
                          <a:cs typeface="Times New Roman"/>
                          <a:sym typeface="Times New Roman"/>
                        </a:rPr>
                        <a:t>1</a:t>
                      </a:r>
                      <a:r>
                        <a:rPr lang="en" dirty="0">
                          <a:solidFill>
                            <a:schemeClr val="dk1"/>
                          </a:solidFill>
                          <a:latin typeface="Times New Roman"/>
                          <a:ea typeface="Times New Roman"/>
                          <a:cs typeface="Times New Roman"/>
                          <a:sym typeface="Times New Roman"/>
                        </a:rPr>
                        <a:t>.Place)}</a:t>
                      </a:r>
                      <a:endParaRPr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dirty="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bl>
          </a:graphicData>
        </a:graphic>
      </p:graphicFrame>
      <p:pic>
        <p:nvPicPr>
          <p:cNvPr id="5" name="Picture 4">
            <a:extLst>
              <a:ext uri="{FF2B5EF4-FFF2-40B4-BE49-F238E27FC236}">
                <a16:creationId xmlns:a16="http://schemas.microsoft.com/office/drawing/2014/main" id="{948906F3-D74B-D73A-C3F4-63F7E97FD5B7}"/>
              </a:ext>
            </a:extLst>
          </p:cNvPr>
          <p:cNvPicPr>
            <a:picLocks noChangeAspect="1"/>
          </p:cNvPicPr>
          <p:nvPr/>
        </p:nvPicPr>
        <p:blipFill>
          <a:blip r:embed="rId3"/>
          <a:stretch>
            <a:fillRect/>
          </a:stretch>
        </p:blipFill>
        <p:spPr>
          <a:xfrm>
            <a:off x="6486664" y="1127000"/>
            <a:ext cx="1731414" cy="137830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1"/>
          <p:cNvSpPr txBox="1"/>
          <p:nvPr/>
        </p:nvSpPr>
        <p:spPr>
          <a:xfrm>
            <a:off x="80375" y="30150"/>
            <a:ext cx="9021300" cy="501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dirty="0">
                <a:solidFill>
                  <a:srgbClr val="990000"/>
                </a:solidFill>
                <a:latin typeface="Times New Roman"/>
                <a:ea typeface="Times New Roman"/>
                <a:cs typeface="Times New Roman"/>
                <a:sym typeface="Times New Roman"/>
              </a:rPr>
              <a:t>Addressing Array Elements</a:t>
            </a:r>
            <a:endParaRPr sz="2400" b="1" dirty="0">
              <a:solidFill>
                <a:srgbClr val="990000"/>
              </a:solidFill>
              <a:latin typeface="Times New Roman"/>
              <a:ea typeface="Times New Roman"/>
              <a:cs typeface="Times New Roman"/>
              <a:sym typeface="Times New Roman"/>
            </a:endParaRPr>
          </a:p>
          <a:p>
            <a:pPr marL="457200" lvl="0" indent="-381000" algn="l" rtl="0">
              <a:spcBef>
                <a:spcPts val="0"/>
              </a:spcBef>
              <a:spcAft>
                <a:spcPts val="0"/>
              </a:spcAft>
              <a:buSzPts val="2400"/>
              <a:buFont typeface="Times New Roman"/>
              <a:buChar char="❏"/>
            </a:pPr>
            <a:r>
              <a:rPr lang="en" sz="2400" dirty="0">
                <a:latin typeface="Times New Roman"/>
                <a:ea typeface="Times New Roman"/>
                <a:cs typeface="Times New Roman"/>
                <a:sym typeface="Times New Roman"/>
              </a:rPr>
              <a:t>Elements of an array can be accessed quickly if the elements are stored in a block of consecutive locations</a:t>
            </a:r>
            <a:endParaRPr sz="2400" dirty="0">
              <a:latin typeface="Times New Roman"/>
              <a:ea typeface="Times New Roman"/>
              <a:cs typeface="Times New Roman"/>
              <a:sym typeface="Times New Roman"/>
            </a:endParaRPr>
          </a:p>
          <a:p>
            <a:pPr marL="457200" lvl="0" indent="-381000" algn="l" rtl="0">
              <a:spcBef>
                <a:spcPts val="0"/>
              </a:spcBef>
              <a:spcAft>
                <a:spcPts val="0"/>
              </a:spcAft>
              <a:buSzPts val="2400"/>
              <a:buFont typeface="Times New Roman"/>
              <a:buChar char="❏"/>
            </a:pPr>
            <a:r>
              <a:rPr lang="en" sz="2400" dirty="0">
                <a:latin typeface="Times New Roman"/>
                <a:ea typeface="Times New Roman"/>
                <a:cs typeface="Times New Roman"/>
                <a:sym typeface="Times New Roman"/>
              </a:rPr>
              <a:t>If the width of each array element is w , then the ith element of array A begins in location</a:t>
            </a:r>
            <a:endParaRPr sz="2400" dirty="0">
              <a:latin typeface="Times New Roman"/>
              <a:ea typeface="Times New Roman"/>
              <a:cs typeface="Times New Roman"/>
              <a:sym typeface="Times New Roman"/>
            </a:endParaRPr>
          </a:p>
          <a:p>
            <a:pPr marL="914400" lvl="0" indent="0" algn="l" rtl="0">
              <a:lnSpc>
                <a:spcPct val="90000"/>
              </a:lnSpc>
              <a:spcBef>
                <a:spcPts val="324"/>
              </a:spcBef>
              <a:spcAft>
                <a:spcPts val="0"/>
              </a:spcAft>
              <a:buNone/>
            </a:pPr>
            <a:r>
              <a:rPr lang="en" sz="2127" b="1" dirty="0">
                <a:solidFill>
                  <a:srgbClr val="0000FF"/>
                </a:solidFill>
                <a:latin typeface="Times New Roman"/>
                <a:ea typeface="Times New Roman"/>
                <a:cs typeface="Times New Roman"/>
                <a:sym typeface="Times New Roman"/>
              </a:rPr>
              <a:t>base+(i-low) * w</a:t>
            </a:r>
            <a:endParaRPr sz="2127" b="1" dirty="0">
              <a:solidFill>
                <a:srgbClr val="0000FF"/>
              </a:solidFill>
              <a:latin typeface="Times New Roman"/>
              <a:ea typeface="Times New Roman"/>
              <a:cs typeface="Times New Roman"/>
              <a:sym typeface="Times New Roman"/>
            </a:endParaRPr>
          </a:p>
          <a:p>
            <a:pPr marL="457200" lvl="0" indent="-381000" algn="l" rtl="0">
              <a:lnSpc>
                <a:spcPct val="90000"/>
              </a:lnSpc>
              <a:spcBef>
                <a:spcPts val="324"/>
              </a:spcBef>
              <a:spcAft>
                <a:spcPts val="0"/>
              </a:spcAft>
              <a:buClr>
                <a:schemeClr val="dk1"/>
              </a:buClr>
              <a:buSzPts val="2400"/>
              <a:buFont typeface="Times New Roman"/>
              <a:buChar char="❏"/>
            </a:pPr>
            <a:r>
              <a:rPr lang="en" sz="2400" dirty="0">
                <a:solidFill>
                  <a:schemeClr val="dk1"/>
                </a:solidFill>
                <a:latin typeface="Times New Roman"/>
                <a:ea typeface="Times New Roman"/>
                <a:cs typeface="Times New Roman"/>
                <a:sym typeface="Times New Roman"/>
              </a:rPr>
              <a:t>Where low  is the lower bound on the subscript and base is the relative address of the storage allocated for the array</a:t>
            </a:r>
            <a:endParaRPr sz="2400" dirty="0">
              <a:solidFill>
                <a:schemeClr val="dk1"/>
              </a:solidFill>
              <a:latin typeface="Times New Roman"/>
              <a:ea typeface="Times New Roman"/>
              <a:cs typeface="Times New Roman"/>
              <a:sym typeface="Times New Roman"/>
            </a:endParaRPr>
          </a:p>
          <a:p>
            <a:pPr marL="457200" lvl="0" indent="-381000" algn="l" rtl="0">
              <a:lnSpc>
                <a:spcPct val="90000"/>
              </a:lnSpc>
              <a:spcBef>
                <a:spcPts val="0"/>
              </a:spcBef>
              <a:spcAft>
                <a:spcPts val="0"/>
              </a:spcAft>
              <a:buClr>
                <a:schemeClr val="dk1"/>
              </a:buClr>
              <a:buSzPts val="2400"/>
              <a:buFont typeface="Times New Roman"/>
              <a:buChar char="❏"/>
            </a:pPr>
            <a:r>
              <a:rPr lang="en" sz="2400" dirty="0">
                <a:solidFill>
                  <a:schemeClr val="dk1"/>
                </a:solidFill>
                <a:latin typeface="Times New Roman"/>
                <a:ea typeface="Times New Roman"/>
                <a:cs typeface="Times New Roman"/>
                <a:sym typeface="Times New Roman"/>
              </a:rPr>
              <a:t>Base is the relative address of A[low]</a:t>
            </a:r>
            <a:endParaRPr sz="2400" dirty="0">
              <a:solidFill>
                <a:schemeClr val="dk1"/>
              </a:solidFill>
              <a:latin typeface="Times New Roman"/>
              <a:ea typeface="Times New Roman"/>
              <a:cs typeface="Times New Roman"/>
              <a:sym typeface="Times New Roman"/>
            </a:endParaRPr>
          </a:p>
          <a:p>
            <a:pPr marL="457200" lvl="0" indent="-381000" algn="l" rtl="0">
              <a:lnSpc>
                <a:spcPct val="90000"/>
              </a:lnSpc>
              <a:spcBef>
                <a:spcPts val="0"/>
              </a:spcBef>
              <a:spcAft>
                <a:spcPts val="0"/>
              </a:spcAft>
              <a:buClr>
                <a:schemeClr val="dk1"/>
              </a:buClr>
              <a:buSzPts val="2400"/>
              <a:buFont typeface="Times New Roman"/>
              <a:buChar char="❏"/>
            </a:pPr>
            <a:r>
              <a:rPr lang="en" sz="2400" dirty="0">
                <a:solidFill>
                  <a:schemeClr val="dk1"/>
                </a:solidFill>
                <a:latin typeface="Times New Roman"/>
                <a:ea typeface="Times New Roman"/>
                <a:cs typeface="Times New Roman"/>
                <a:sym typeface="Times New Roman"/>
              </a:rPr>
              <a:t>Expression can be partially evaluated at compile time if it is rewritten as</a:t>
            </a:r>
            <a:endParaRPr sz="2400" dirty="0">
              <a:solidFill>
                <a:schemeClr val="dk1"/>
              </a:solidFill>
              <a:latin typeface="Times New Roman"/>
              <a:ea typeface="Times New Roman"/>
              <a:cs typeface="Times New Roman"/>
              <a:sym typeface="Times New Roman"/>
            </a:endParaRPr>
          </a:p>
          <a:p>
            <a:pPr marL="914400" lvl="0" indent="0" algn="l" rtl="0">
              <a:lnSpc>
                <a:spcPct val="90000"/>
              </a:lnSpc>
              <a:spcBef>
                <a:spcPts val="324"/>
              </a:spcBef>
              <a:spcAft>
                <a:spcPts val="0"/>
              </a:spcAft>
              <a:buNone/>
            </a:pPr>
            <a:r>
              <a:rPr lang="en" sz="2400" b="1" dirty="0">
                <a:solidFill>
                  <a:srgbClr val="0000FF"/>
                </a:solidFill>
                <a:latin typeface="Times New Roman"/>
                <a:ea typeface="Times New Roman"/>
                <a:cs typeface="Times New Roman"/>
                <a:sym typeface="Times New Roman"/>
              </a:rPr>
              <a:t>i*w + ( base – low*w)</a:t>
            </a:r>
            <a:endParaRPr sz="2400" b="1" dirty="0">
              <a:solidFill>
                <a:srgbClr val="0000FF"/>
              </a:solidFill>
              <a:latin typeface="Times New Roman"/>
              <a:ea typeface="Times New Roman"/>
              <a:cs typeface="Times New Roman"/>
              <a:sym typeface="Times New Roman"/>
            </a:endParaRPr>
          </a:p>
          <a:p>
            <a:pPr marL="457200" lvl="0" indent="-381000" algn="l" rtl="0">
              <a:lnSpc>
                <a:spcPct val="90000"/>
              </a:lnSpc>
              <a:spcBef>
                <a:spcPts val="324"/>
              </a:spcBef>
              <a:spcAft>
                <a:spcPts val="0"/>
              </a:spcAft>
              <a:buClr>
                <a:schemeClr val="dk1"/>
              </a:buClr>
              <a:buSzPts val="2400"/>
              <a:buFont typeface="Times New Roman"/>
              <a:buChar char="❏"/>
            </a:pPr>
            <a:r>
              <a:rPr lang="en" sz="2400" dirty="0">
                <a:solidFill>
                  <a:schemeClr val="dk1"/>
                </a:solidFill>
                <a:latin typeface="Times New Roman"/>
                <a:ea typeface="Times New Roman"/>
                <a:cs typeface="Times New Roman"/>
                <a:sym typeface="Times New Roman"/>
              </a:rPr>
              <a:t>Subexpression  c= base – low*w,  can be evaluated when the declaration of array is seen.</a:t>
            </a:r>
            <a:endParaRPr sz="24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400" dirty="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2"/>
          <p:cNvSpPr txBox="1">
            <a:spLocks noGrp="1"/>
          </p:cNvSpPr>
          <p:nvPr>
            <p:ph type="body" idx="1"/>
          </p:nvPr>
        </p:nvSpPr>
        <p:spPr>
          <a:xfrm>
            <a:off x="457200" y="1110996"/>
            <a:ext cx="8229600" cy="3394500"/>
          </a:xfrm>
          <a:prstGeom prst="rect">
            <a:avLst/>
          </a:prstGeom>
          <a:noFill/>
          <a:ln>
            <a:noFill/>
          </a:ln>
        </p:spPr>
        <p:txBody>
          <a:bodyPr spcFirstLastPara="1" wrap="square" lIns="91425" tIns="45700" rIns="91425" bIns="45700" anchor="t" anchorCtr="0">
            <a:noAutofit/>
          </a:bodyPr>
          <a:lstStyle/>
          <a:p>
            <a:pPr marL="457200" lvl="0" indent="-381000" algn="l" rtl="0">
              <a:spcBef>
                <a:spcPts val="0"/>
              </a:spcBef>
              <a:spcAft>
                <a:spcPts val="0"/>
              </a:spcAft>
              <a:buSzPts val="2400"/>
              <a:buFont typeface="Times New Roman"/>
              <a:buChar char="❏"/>
            </a:pPr>
            <a:r>
              <a:rPr lang="en" sz="2400">
                <a:latin typeface="Times New Roman"/>
                <a:ea typeface="Times New Roman"/>
                <a:cs typeface="Times New Roman"/>
                <a:sym typeface="Times New Roman"/>
              </a:rPr>
              <a:t>2D array values are stored in the memory locations either as Row – Major or as Column – Major</a:t>
            </a:r>
            <a:endParaRPr sz="2400">
              <a:latin typeface="Times New Roman"/>
              <a:ea typeface="Times New Roman"/>
              <a:cs typeface="Times New Roman"/>
              <a:sym typeface="Times New Roman"/>
            </a:endParaRPr>
          </a:p>
          <a:p>
            <a:pPr marL="365760" lvl="0" indent="-256032" algn="l" rtl="0">
              <a:spcBef>
                <a:spcPts val="400"/>
              </a:spcBef>
              <a:spcAft>
                <a:spcPts val="0"/>
              </a:spcAft>
              <a:buSzPts val="1836"/>
              <a:buNone/>
            </a:pPr>
            <a:endParaRPr/>
          </a:p>
        </p:txBody>
      </p:sp>
      <p:sp>
        <p:nvSpPr>
          <p:cNvPr id="113" name="Google Shape;113;p22"/>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4100"/>
              <a:buFont typeface="Lucida Sans"/>
              <a:buNone/>
            </a:pPr>
            <a:r>
              <a:rPr lang="en" sz="2400" b="1">
                <a:solidFill>
                  <a:srgbClr val="990000"/>
                </a:solidFill>
                <a:latin typeface="Times New Roman"/>
                <a:ea typeface="Times New Roman"/>
                <a:cs typeface="Times New Roman"/>
                <a:sym typeface="Times New Roman"/>
              </a:rPr>
              <a:t>Two Dimensional Array</a:t>
            </a:r>
            <a:endParaRPr sz="2400" b="1">
              <a:solidFill>
                <a:srgbClr val="990000"/>
              </a:solidFill>
              <a:latin typeface="Times New Roman"/>
              <a:ea typeface="Times New Roman"/>
              <a:cs typeface="Times New Roman"/>
              <a:sym typeface="Times New Roman"/>
            </a:endParaRPr>
          </a:p>
        </p:txBody>
      </p:sp>
      <p:pic>
        <p:nvPicPr>
          <p:cNvPr id="114" name="Google Shape;114;p22"/>
          <p:cNvPicPr preferRelativeResize="0"/>
          <p:nvPr/>
        </p:nvPicPr>
        <p:blipFill>
          <a:blip r:embed="rId3">
            <a:alphaModFix/>
          </a:blip>
          <a:stretch>
            <a:fillRect/>
          </a:stretch>
        </p:blipFill>
        <p:spPr>
          <a:xfrm>
            <a:off x="823775" y="2119700"/>
            <a:ext cx="7263171" cy="279274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3"/>
          <p:cNvSpPr txBox="1"/>
          <p:nvPr/>
        </p:nvSpPr>
        <p:spPr>
          <a:xfrm>
            <a:off x="0" y="0"/>
            <a:ext cx="9144000" cy="61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dirty="0">
                <a:solidFill>
                  <a:srgbClr val="464646"/>
                </a:solidFill>
                <a:latin typeface="Times New Roman"/>
                <a:ea typeface="Times New Roman"/>
                <a:cs typeface="Times New Roman"/>
                <a:sym typeface="Times New Roman"/>
              </a:rPr>
              <a:t>Translation scheme for addressing array elements</a:t>
            </a:r>
            <a:endParaRPr sz="2400" b="1" dirty="0">
              <a:solidFill>
                <a:srgbClr val="464646"/>
              </a:solidFill>
              <a:latin typeface="Times New Roman"/>
              <a:ea typeface="Times New Roman"/>
              <a:cs typeface="Times New Roman"/>
              <a:sym typeface="Times New Roman"/>
            </a:endParaRPr>
          </a:p>
        </p:txBody>
      </p:sp>
      <p:sp>
        <p:nvSpPr>
          <p:cNvPr id="120" name="Google Shape;120;p23"/>
          <p:cNvSpPr txBox="1"/>
          <p:nvPr/>
        </p:nvSpPr>
        <p:spPr>
          <a:xfrm>
            <a:off x="2081225" y="612900"/>
            <a:ext cx="3000000" cy="3000000"/>
          </a:xfrm>
          <a:prstGeom prst="rect">
            <a:avLst/>
          </a:prstGeom>
          <a:noFill/>
          <a:ln>
            <a:noFill/>
          </a:ln>
        </p:spPr>
        <p:txBody>
          <a:bodyPr spcFirstLastPara="1" wrap="square" lIns="91425" tIns="91425" rIns="91425" bIns="91425" anchor="t" anchorCtr="0">
            <a:noAutofit/>
          </a:bodyPr>
          <a:lstStyle/>
          <a:p>
            <a:pPr marL="365760" lvl="0" indent="-256032" algn="l" rtl="0">
              <a:spcBef>
                <a:spcPts val="0"/>
              </a:spcBef>
              <a:spcAft>
                <a:spcPts val="0"/>
              </a:spcAft>
              <a:buNone/>
            </a:pPr>
            <a:r>
              <a:rPr lang="en" sz="2400" dirty="0">
                <a:solidFill>
                  <a:schemeClr val="dk1"/>
                </a:solidFill>
                <a:latin typeface="Times New Roman"/>
                <a:ea typeface="Times New Roman"/>
                <a:cs typeface="Times New Roman"/>
                <a:sym typeface="Times New Roman"/>
              </a:rPr>
              <a:t>S -&gt; L : = E</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(2) E -&gt; E + E</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(3) E -&gt; (E)</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(4) E -&gt; L</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(5) L -&gt;[ Elist ] </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(6) L -&gt; id</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(7) Elist -&gt; Elist, E </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(8) </a:t>
            </a:r>
            <a:r>
              <a:rPr lang="en" sz="2400">
                <a:solidFill>
                  <a:schemeClr val="dk1"/>
                </a:solidFill>
                <a:latin typeface="Times New Roman"/>
                <a:ea typeface="Times New Roman"/>
                <a:cs typeface="Times New Roman"/>
                <a:sym typeface="Times New Roman"/>
              </a:rPr>
              <a:t>Elist -&gt;id [ E]</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4"/>
          <p:cNvSpPr txBox="1"/>
          <p:nvPr/>
        </p:nvSpPr>
        <p:spPr>
          <a:xfrm>
            <a:off x="0" y="0"/>
            <a:ext cx="9031200" cy="74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rgbClr val="464646"/>
                </a:solidFill>
                <a:latin typeface="Times New Roman"/>
                <a:ea typeface="Times New Roman"/>
                <a:cs typeface="Times New Roman"/>
                <a:sym typeface="Times New Roman"/>
              </a:rPr>
              <a:t>Syntax Directed Definition</a:t>
            </a:r>
            <a:endParaRPr sz="2400">
              <a:latin typeface="Times New Roman"/>
              <a:ea typeface="Times New Roman"/>
              <a:cs typeface="Times New Roman"/>
              <a:sym typeface="Times New Roman"/>
            </a:endParaRPr>
          </a:p>
        </p:txBody>
      </p:sp>
      <p:sp>
        <p:nvSpPr>
          <p:cNvPr id="126" name="Google Shape;126;p24"/>
          <p:cNvSpPr txBox="1"/>
          <p:nvPr/>
        </p:nvSpPr>
        <p:spPr>
          <a:xfrm>
            <a:off x="1277550" y="674775"/>
            <a:ext cx="6688800" cy="3000000"/>
          </a:xfrm>
          <a:prstGeom prst="rect">
            <a:avLst/>
          </a:prstGeom>
          <a:noFill/>
          <a:ln>
            <a:noFill/>
          </a:ln>
        </p:spPr>
        <p:txBody>
          <a:bodyPr spcFirstLastPara="1" wrap="square" lIns="91425" tIns="91425" rIns="91425" bIns="91425" anchor="t" anchorCtr="0">
            <a:noAutofit/>
          </a:bodyPr>
          <a:lstStyle/>
          <a:p>
            <a:pPr marL="365760" lvl="0" indent="-256032" algn="l" rtl="0">
              <a:spcBef>
                <a:spcPts val="0"/>
              </a:spcBef>
              <a:spcAft>
                <a:spcPts val="0"/>
              </a:spcAft>
              <a:buNone/>
            </a:pPr>
            <a:r>
              <a:rPr lang="en" sz="2400" dirty="0">
                <a:solidFill>
                  <a:schemeClr val="dk1"/>
                </a:solidFill>
                <a:latin typeface="Times New Roman"/>
                <a:ea typeface="Times New Roman"/>
                <a:cs typeface="Times New Roman"/>
                <a:sym typeface="Times New Roman"/>
              </a:rPr>
              <a:t>S -&gt; L : = E   {if L.</a:t>
            </a:r>
            <a:r>
              <a:rPr lang="en" sz="2400" i="1" dirty="0">
                <a:solidFill>
                  <a:schemeClr val="dk1"/>
                </a:solidFill>
                <a:latin typeface="Times New Roman"/>
                <a:ea typeface="Times New Roman"/>
                <a:cs typeface="Times New Roman"/>
                <a:sym typeface="Times New Roman"/>
              </a:rPr>
              <a:t>offset </a:t>
            </a:r>
            <a:r>
              <a:rPr lang="en" sz="2400" dirty="0">
                <a:solidFill>
                  <a:schemeClr val="dk1"/>
                </a:solidFill>
                <a:latin typeface="Times New Roman"/>
                <a:ea typeface="Times New Roman"/>
                <a:cs typeface="Times New Roman"/>
                <a:sym typeface="Times New Roman"/>
              </a:rPr>
              <a:t>= null then </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i="1" dirty="0">
                <a:solidFill>
                  <a:schemeClr val="dk1"/>
                </a:solidFill>
                <a:latin typeface="Times New Roman"/>
                <a:ea typeface="Times New Roman"/>
                <a:cs typeface="Times New Roman"/>
                <a:sym typeface="Times New Roman"/>
              </a:rPr>
              <a:t>emit</a:t>
            </a:r>
            <a:r>
              <a:rPr lang="en" sz="2400" dirty="0">
                <a:solidFill>
                  <a:schemeClr val="dk1"/>
                </a:solidFill>
                <a:latin typeface="Times New Roman"/>
                <a:ea typeface="Times New Roman"/>
                <a:cs typeface="Times New Roman"/>
                <a:sym typeface="Times New Roman"/>
              </a:rPr>
              <a:t>(L.</a:t>
            </a:r>
            <a:r>
              <a:rPr lang="en" sz="2400" i="1" dirty="0">
                <a:solidFill>
                  <a:schemeClr val="dk1"/>
                </a:solidFill>
                <a:latin typeface="Times New Roman"/>
                <a:ea typeface="Times New Roman"/>
                <a:cs typeface="Times New Roman"/>
                <a:sym typeface="Times New Roman"/>
              </a:rPr>
              <a:t>place</a:t>
            </a:r>
            <a:r>
              <a:rPr lang="en" sz="2400" dirty="0">
                <a:solidFill>
                  <a:schemeClr val="dk1"/>
                </a:solidFill>
                <a:latin typeface="Times New Roman"/>
                <a:ea typeface="Times New Roman"/>
                <a:cs typeface="Times New Roman"/>
                <a:sym typeface="Times New Roman"/>
              </a:rPr>
              <a:t>  ‘:=’ E.</a:t>
            </a:r>
            <a:r>
              <a:rPr lang="en" sz="2400" i="1" dirty="0">
                <a:solidFill>
                  <a:schemeClr val="dk1"/>
                </a:solidFill>
                <a:latin typeface="Times New Roman"/>
                <a:ea typeface="Times New Roman"/>
                <a:cs typeface="Times New Roman"/>
                <a:sym typeface="Times New Roman"/>
              </a:rPr>
              <a:t>place</a:t>
            </a:r>
            <a:r>
              <a:rPr lang="en" sz="2400" dirty="0">
                <a:solidFill>
                  <a:schemeClr val="dk1"/>
                </a:solidFill>
                <a:latin typeface="Times New Roman"/>
                <a:ea typeface="Times New Roman"/>
                <a:cs typeface="Times New Roman"/>
                <a:sym typeface="Times New Roman"/>
              </a:rPr>
              <a:t>);</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else</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i="1" dirty="0">
                <a:solidFill>
                  <a:schemeClr val="dk1"/>
                </a:solidFill>
                <a:latin typeface="Times New Roman"/>
                <a:ea typeface="Times New Roman"/>
                <a:cs typeface="Times New Roman"/>
                <a:sym typeface="Times New Roman"/>
              </a:rPr>
              <a:t>  emit</a:t>
            </a:r>
            <a:r>
              <a:rPr lang="en" sz="2400" dirty="0">
                <a:solidFill>
                  <a:schemeClr val="dk1"/>
                </a:solidFill>
                <a:latin typeface="Times New Roman"/>
                <a:ea typeface="Times New Roman"/>
                <a:cs typeface="Times New Roman"/>
                <a:sym typeface="Times New Roman"/>
              </a:rPr>
              <a:t>(L.</a:t>
            </a:r>
            <a:r>
              <a:rPr lang="en" sz="2400" i="1" dirty="0">
                <a:solidFill>
                  <a:schemeClr val="dk1"/>
                </a:solidFill>
                <a:latin typeface="Times New Roman"/>
                <a:ea typeface="Times New Roman"/>
                <a:cs typeface="Times New Roman"/>
                <a:sym typeface="Times New Roman"/>
              </a:rPr>
              <a:t>place</a:t>
            </a:r>
            <a:r>
              <a:rPr lang="en" sz="2400" dirty="0">
                <a:solidFill>
                  <a:schemeClr val="dk1"/>
                </a:solidFill>
                <a:latin typeface="Times New Roman"/>
                <a:ea typeface="Times New Roman"/>
                <a:cs typeface="Times New Roman"/>
                <a:sym typeface="Times New Roman"/>
              </a:rPr>
              <a:t> ‘[‘  L.</a:t>
            </a:r>
            <a:r>
              <a:rPr lang="en" sz="2400" i="1" dirty="0">
                <a:solidFill>
                  <a:schemeClr val="dk1"/>
                </a:solidFill>
                <a:latin typeface="Times New Roman"/>
                <a:ea typeface="Times New Roman"/>
                <a:cs typeface="Times New Roman"/>
                <a:sym typeface="Times New Roman"/>
              </a:rPr>
              <a:t>offset </a:t>
            </a:r>
            <a:r>
              <a:rPr lang="en" sz="2400" dirty="0">
                <a:solidFill>
                  <a:schemeClr val="dk1"/>
                </a:solidFill>
                <a:latin typeface="Times New Roman"/>
                <a:ea typeface="Times New Roman"/>
                <a:cs typeface="Times New Roman"/>
                <a:sym typeface="Times New Roman"/>
              </a:rPr>
              <a:t>‘]’   ‘:=’ E</a:t>
            </a:r>
            <a:r>
              <a:rPr lang="en" sz="2400" i="1" dirty="0">
                <a:solidFill>
                  <a:schemeClr val="dk1"/>
                </a:solidFill>
                <a:latin typeface="Times New Roman"/>
                <a:ea typeface="Times New Roman"/>
                <a:cs typeface="Times New Roman"/>
                <a:sym typeface="Times New Roman"/>
              </a:rPr>
              <a:t>.place</a:t>
            </a:r>
            <a:r>
              <a:rPr lang="en"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(2) E-&gt; E + E    { E.</a:t>
            </a:r>
            <a:r>
              <a:rPr lang="en" sz="2400" i="1" dirty="0">
                <a:solidFill>
                  <a:schemeClr val="dk1"/>
                </a:solidFill>
                <a:latin typeface="Times New Roman"/>
                <a:ea typeface="Times New Roman"/>
                <a:cs typeface="Times New Roman"/>
                <a:sym typeface="Times New Roman"/>
              </a:rPr>
              <a:t>place</a:t>
            </a:r>
            <a:r>
              <a:rPr lang="en" sz="2400" dirty="0">
                <a:solidFill>
                  <a:schemeClr val="dk1"/>
                </a:solidFill>
                <a:latin typeface="Times New Roman"/>
                <a:ea typeface="Times New Roman"/>
                <a:cs typeface="Times New Roman"/>
                <a:sym typeface="Times New Roman"/>
              </a:rPr>
              <a:t>:=</a:t>
            </a:r>
            <a:r>
              <a:rPr lang="en" sz="2400" i="1" dirty="0">
                <a:solidFill>
                  <a:schemeClr val="dk1"/>
                </a:solidFill>
                <a:latin typeface="Times New Roman"/>
                <a:ea typeface="Times New Roman"/>
                <a:cs typeface="Times New Roman"/>
                <a:sym typeface="Times New Roman"/>
              </a:rPr>
              <a:t>newtemp</a:t>
            </a:r>
            <a:r>
              <a:rPr lang="en" sz="2400" dirty="0">
                <a:solidFill>
                  <a:schemeClr val="dk1"/>
                </a:solidFill>
                <a:latin typeface="Times New Roman"/>
                <a:ea typeface="Times New Roman"/>
                <a:cs typeface="Times New Roman"/>
                <a:sym typeface="Times New Roman"/>
              </a:rPr>
              <a:t>;</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                               </a:t>
            </a:r>
            <a:r>
              <a:rPr lang="en" sz="2400" i="1" dirty="0">
                <a:solidFill>
                  <a:schemeClr val="dk1"/>
                </a:solidFill>
                <a:latin typeface="Times New Roman"/>
                <a:ea typeface="Times New Roman"/>
                <a:cs typeface="Times New Roman"/>
                <a:sym typeface="Times New Roman"/>
              </a:rPr>
              <a:t>emit</a:t>
            </a:r>
            <a:r>
              <a:rPr lang="en" sz="2400" dirty="0">
                <a:solidFill>
                  <a:schemeClr val="dk1"/>
                </a:solidFill>
                <a:latin typeface="Times New Roman"/>
                <a:ea typeface="Times New Roman"/>
                <a:cs typeface="Times New Roman"/>
                <a:sym typeface="Times New Roman"/>
              </a:rPr>
              <a:t>( E.</a:t>
            </a:r>
            <a:r>
              <a:rPr lang="en" sz="2400" i="1" dirty="0">
                <a:solidFill>
                  <a:schemeClr val="dk1"/>
                </a:solidFill>
                <a:latin typeface="Times New Roman"/>
                <a:ea typeface="Times New Roman"/>
                <a:cs typeface="Times New Roman"/>
                <a:sym typeface="Times New Roman"/>
              </a:rPr>
              <a:t>place</a:t>
            </a:r>
            <a:r>
              <a:rPr lang="en" sz="2400" dirty="0">
                <a:solidFill>
                  <a:schemeClr val="dk1"/>
                </a:solidFill>
                <a:latin typeface="Times New Roman"/>
                <a:ea typeface="Times New Roman"/>
                <a:cs typeface="Times New Roman"/>
                <a:sym typeface="Times New Roman"/>
              </a:rPr>
              <a:t> ‘:=’ E</a:t>
            </a:r>
            <a:r>
              <a:rPr lang="en" sz="2400" baseline="-25000" dirty="0">
                <a:solidFill>
                  <a:schemeClr val="dk1"/>
                </a:solidFill>
                <a:latin typeface="Times New Roman"/>
                <a:ea typeface="Times New Roman"/>
                <a:cs typeface="Times New Roman"/>
                <a:sym typeface="Times New Roman"/>
              </a:rPr>
              <a:t>1</a:t>
            </a:r>
            <a:r>
              <a:rPr lang="en" sz="2400" i="1" dirty="0">
                <a:solidFill>
                  <a:schemeClr val="dk1"/>
                </a:solidFill>
                <a:latin typeface="Times New Roman"/>
                <a:ea typeface="Times New Roman"/>
                <a:cs typeface="Times New Roman"/>
                <a:sym typeface="Times New Roman"/>
              </a:rPr>
              <a:t>.place</a:t>
            </a:r>
            <a:r>
              <a:rPr lang="en" sz="2400" dirty="0">
                <a:solidFill>
                  <a:schemeClr val="dk1"/>
                </a:solidFill>
                <a:latin typeface="Times New Roman"/>
                <a:ea typeface="Times New Roman"/>
                <a:cs typeface="Times New Roman"/>
                <a:sym typeface="Times New Roman"/>
              </a:rPr>
              <a:t> ‘+’ E</a:t>
            </a:r>
            <a:r>
              <a:rPr lang="en" sz="2400" baseline="-25000" dirty="0">
                <a:solidFill>
                  <a:schemeClr val="dk1"/>
                </a:solidFill>
                <a:latin typeface="Times New Roman"/>
                <a:ea typeface="Times New Roman"/>
                <a:cs typeface="Times New Roman"/>
                <a:sym typeface="Times New Roman"/>
              </a:rPr>
              <a:t>2</a:t>
            </a:r>
            <a:r>
              <a:rPr lang="en" sz="2400" i="1" dirty="0">
                <a:solidFill>
                  <a:schemeClr val="dk1"/>
                </a:solidFill>
                <a:latin typeface="Times New Roman"/>
                <a:ea typeface="Times New Roman"/>
                <a:cs typeface="Times New Roman"/>
                <a:sym typeface="Times New Roman"/>
              </a:rPr>
              <a:t>.place</a:t>
            </a:r>
            <a:r>
              <a:rPr lang="en"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a:p>
            <a:pPr marL="624078" lvl="0" indent="-514350" algn="l" rtl="0">
              <a:spcBef>
                <a:spcPts val="400"/>
              </a:spcBef>
              <a:spcAft>
                <a:spcPts val="0"/>
              </a:spcAft>
              <a:buNone/>
            </a:pPr>
            <a:endParaRPr sz="2700" dirty="0">
              <a:solidFill>
                <a:schemeClr val="dk1"/>
              </a:solidFill>
              <a:latin typeface="Lucida Sans"/>
              <a:ea typeface="Lucida Sans"/>
              <a:cs typeface="Lucida Sans"/>
              <a:sym typeface="Lucida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5"/>
          <p:cNvSpPr txBox="1"/>
          <p:nvPr/>
        </p:nvSpPr>
        <p:spPr>
          <a:xfrm>
            <a:off x="0" y="0"/>
            <a:ext cx="7805700" cy="3000000"/>
          </a:xfrm>
          <a:prstGeom prst="rect">
            <a:avLst/>
          </a:prstGeom>
          <a:noFill/>
          <a:ln>
            <a:noFill/>
          </a:ln>
        </p:spPr>
        <p:txBody>
          <a:bodyPr spcFirstLastPara="1" wrap="square" lIns="91425" tIns="91425" rIns="91425" bIns="91425" anchor="t" anchorCtr="0">
            <a:noAutofit/>
          </a:bodyPr>
          <a:lstStyle/>
          <a:p>
            <a:pPr marL="365760" lvl="0" indent="-256032" algn="l" rtl="0">
              <a:spcBef>
                <a:spcPts val="0"/>
              </a:spcBef>
              <a:spcAft>
                <a:spcPts val="0"/>
              </a:spcAft>
              <a:buNone/>
            </a:pPr>
            <a:r>
              <a:rPr lang="en" sz="2400" dirty="0">
                <a:solidFill>
                  <a:schemeClr val="dk1"/>
                </a:solidFill>
                <a:latin typeface="Times New Roman"/>
                <a:ea typeface="Times New Roman"/>
                <a:cs typeface="Times New Roman"/>
                <a:sym typeface="Times New Roman"/>
              </a:rPr>
              <a:t>E -&gt; (E)        { E.</a:t>
            </a:r>
            <a:r>
              <a:rPr lang="en" sz="2400" i="1" dirty="0">
                <a:solidFill>
                  <a:schemeClr val="dk1"/>
                </a:solidFill>
                <a:latin typeface="Times New Roman"/>
                <a:ea typeface="Times New Roman"/>
                <a:cs typeface="Times New Roman"/>
                <a:sym typeface="Times New Roman"/>
              </a:rPr>
              <a:t>place</a:t>
            </a:r>
            <a:r>
              <a:rPr lang="en" sz="2400" dirty="0">
                <a:solidFill>
                  <a:schemeClr val="dk1"/>
                </a:solidFill>
                <a:latin typeface="Times New Roman"/>
                <a:ea typeface="Times New Roman"/>
                <a:cs typeface="Times New Roman"/>
                <a:sym typeface="Times New Roman"/>
              </a:rPr>
              <a:t> := E</a:t>
            </a:r>
            <a:r>
              <a:rPr lang="en" sz="2400" baseline="-25000" dirty="0">
                <a:solidFill>
                  <a:schemeClr val="dk1"/>
                </a:solidFill>
                <a:latin typeface="Times New Roman"/>
                <a:ea typeface="Times New Roman"/>
                <a:cs typeface="Times New Roman"/>
                <a:sym typeface="Times New Roman"/>
              </a:rPr>
              <a:t>1</a:t>
            </a:r>
            <a:r>
              <a:rPr lang="en" sz="2400" dirty="0">
                <a:solidFill>
                  <a:schemeClr val="dk1"/>
                </a:solidFill>
                <a:latin typeface="Times New Roman"/>
                <a:ea typeface="Times New Roman"/>
                <a:cs typeface="Times New Roman"/>
                <a:sym typeface="Times New Roman"/>
              </a:rPr>
              <a:t>.</a:t>
            </a:r>
            <a:r>
              <a:rPr lang="en" sz="2400" i="1" dirty="0">
                <a:solidFill>
                  <a:schemeClr val="dk1"/>
                </a:solidFill>
                <a:latin typeface="Times New Roman"/>
                <a:ea typeface="Times New Roman"/>
                <a:cs typeface="Times New Roman"/>
                <a:sym typeface="Times New Roman"/>
              </a:rPr>
              <a:t>place</a:t>
            </a:r>
            <a:r>
              <a:rPr lang="en"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a:p>
            <a:pPr marL="365760" lvl="0" indent="-256032"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365760" lvl="0" indent="-256032" algn="l" rtl="0">
              <a:spcBef>
                <a:spcPts val="0"/>
              </a:spcBef>
              <a:spcAft>
                <a:spcPts val="0"/>
              </a:spcAft>
              <a:buNone/>
            </a:pPr>
            <a:r>
              <a:rPr lang="en" sz="2400" dirty="0">
                <a:solidFill>
                  <a:schemeClr val="dk1"/>
                </a:solidFill>
                <a:latin typeface="Times New Roman"/>
                <a:ea typeface="Times New Roman"/>
                <a:cs typeface="Times New Roman"/>
                <a:sym typeface="Times New Roman"/>
              </a:rPr>
              <a:t>Array reference reduced to E, we want the r-value of L, we use indexing to obtain the contents of the location L.place[L.offset]:</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(4) E -&gt; L           { if L.</a:t>
            </a:r>
            <a:r>
              <a:rPr lang="en" sz="2400" i="1" dirty="0">
                <a:solidFill>
                  <a:schemeClr val="dk1"/>
                </a:solidFill>
                <a:latin typeface="Times New Roman"/>
                <a:ea typeface="Times New Roman"/>
                <a:cs typeface="Times New Roman"/>
                <a:sym typeface="Times New Roman"/>
              </a:rPr>
              <a:t>offse</a:t>
            </a:r>
            <a:r>
              <a:rPr lang="en" sz="2400" dirty="0">
                <a:solidFill>
                  <a:schemeClr val="dk1"/>
                </a:solidFill>
                <a:latin typeface="Times New Roman"/>
                <a:ea typeface="Times New Roman"/>
                <a:cs typeface="Times New Roman"/>
                <a:sym typeface="Times New Roman"/>
              </a:rPr>
              <a:t>t = null then</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                                  E.</a:t>
            </a:r>
            <a:r>
              <a:rPr lang="en" sz="2400" i="1" dirty="0">
                <a:solidFill>
                  <a:schemeClr val="dk1"/>
                </a:solidFill>
                <a:latin typeface="Times New Roman"/>
                <a:ea typeface="Times New Roman"/>
                <a:cs typeface="Times New Roman"/>
                <a:sym typeface="Times New Roman"/>
              </a:rPr>
              <a:t>place:</a:t>
            </a:r>
            <a:r>
              <a:rPr lang="en" sz="2400" dirty="0">
                <a:solidFill>
                  <a:schemeClr val="dk1"/>
                </a:solidFill>
                <a:latin typeface="Times New Roman"/>
                <a:ea typeface="Times New Roman"/>
                <a:cs typeface="Times New Roman"/>
                <a:sym typeface="Times New Roman"/>
              </a:rPr>
              <a:t>= L</a:t>
            </a:r>
            <a:r>
              <a:rPr lang="en" sz="2400" i="1" dirty="0">
                <a:solidFill>
                  <a:schemeClr val="dk1"/>
                </a:solidFill>
                <a:latin typeface="Times New Roman"/>
                <a:ea typeface="Times New Roman"/>
                <a:cs typeface="Times New Roman"/>
                <a:sym typeface="Times New Roman"/>
              </a:rPr>
              <a:t>.place</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                              else begin</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					E.</a:t>
            </a:r>
            <a:r>
              <a:rPr lang="en" sz="2400" i="1" dirty="0">
                <a:solidFill>
                  <a:schemeClr val="dk1"/>
                </a:solidFill>
                <a:latin typeface="Times New Roman"/>
                <a:ea typeface="Times New Roman"/>
                <a:cs typeface="Times New Roman"/>
                <a:sym typeface="Times New Roman"/>
              </a:rPr>
              <a:t>place</a:t>
            </a:r>
            <a:r>
              <a:rPr lang="en" sz="2400" dirty="0">
                <a:solidFill>
                  <a:schemeClr val="dk1"/>
                </a:solidFill>
                <a:latin typeface="Times New Roman"/>
                <a:ea typeface="Times New Roman"/>
                <a:cs typeface="Times New Roman"/>
                <a:sym typeface="Times New Roman"/>
              </a:rPr>
              <a:t>:=</a:t>
            </a:r>
            <a:r>
              <a:rPr lang="en" sz="2400" i="1" dirty="0">
                <a:solidFill>
                  <a:schemeClr val="dk1"/>
                </a:solidFill>
                <a:latin typeface="Times New Roman"/>
                <a:ea typeface="Times New Roman"/>
                <a:cs typeface="Times New Roman"/>
                <a:sym typeface="Times New Roman"/>
              </a:rPr>
              <a:t>newtemp</a:t>
            </a:r>
            <a:r>
              <a:rPr lang="en" sz="2400" dirty="0">
                <a:solidFill>
                  <a:schemeClr val="dk1"/>
                </a:solidFill>
                <a:latin typeface="Times New Roman"/>
                <a:ea typeface="Times New Roman"/>
                <a:cs typeface="Times New Roman"/>
                <a:sym typeface="Times New Roman"/>
              </a:rPr>
              <a:t>;</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i="1" dirty="0">
                <a:solidFill>
                  <a:schemeClr val="dk1"/>
                </a:solidFill>
                <a:latin typeface="Times New Roman"/>
                <a:ea typeface="Times New Roman"/>
                <a:cs typeface="Times New Roman"/>
                <a:sym typeface="Times New Roman"/>
              </a:rPr>
              <a:t>					emit</a:t>
            </a:r>
            <a:r>
              <a:rPr lang="en" sz="2400" dirty="0">
                <a:solidFill>
                  <a:schemeClr val="dk1"/>
                </a:solidFill>
                <a:latin typeface="Times New Roman"/>
                <a:ea typeface="Times New Roman"/>
                <a:cs typeface="Times New Roman"/>
                <a:sym typeface="Times New Roman"/>
              </a:rPr>
              <a:t>(E.</a:t>
            </a:r>
            <a:r>
              <a:rPr lang="en" sz="2400" i="1" dirty="0">
                <a:solidFill>
                  <a:schemeClr val="dk1"/>
                </a:solidFill>
                <a:latin typeface="Times New Roman"/>
                <a:ea typeface="Times New Roman"/>
                <a:cs typeface="Times New Roman"/>
                <a:sym typeface="Times New Roman"/>
              </a:rPr>
              <a:t>place</a:t>
            </a:r>
            <a:r>
              <a:rPr lang="en" sz="2400" dirty="0">
                <a:solidFill>
                  <a:schemeClr val="dk1"/>
                </a:solidFill>
                <a:latin typeface="Times New Roman"/>
                <a:ea typeface="Times New Roman"/>
                <a:cs typeface="Times New Roman"/>
                <a:sym typeface="Times New Roman"/>
              </a:rPr>
              <a:t>‘:=’ L</a:t>
            </a:r>
            <a:r>
              <a:rPr lang="en" sz="2400" i="1" dirty="0">
                <a:solidFill>
                  <a:schemeClr val="dk1"/>
                </a:solidFill>
                <a:latin typeface="Times New Roman"/>
                <a:ea typeface="Times New Roman"/>
                <a:cs typeface="Times New Roman"/>
                <a:sym typeface="Times New Roman"/>
              </a:rPr>
              <a:t>.place</a:t>
            </a:r>
            <a:r>
              <a:rPr lang="en" sz="2400" dirty="0">
                <a:solidFill>
                  <a:schemeClr val="dk1"/>
                </a:solidFill>
                <a:latin typeface="Times New Roman"/>
                <a:ea typeface="Times New Roman"/>
                <a:cs typeface="Times New Roman"/>
                <a:sym typeface="Times New Roman"/>
              </a:rPr>
              <a:t> ‘[‘  L.</a:t>
            </a:r>
            <a:r>
              <a:rPr lang="en" sz="2400" i="1" dirty="0">
                <a:solidFill>
                  <a:schemeClr val="dk1"/>
                </a:solidFill>
                <a:latin typeface="Times New Roman"/>
                <a:ea typeface="Times New Roman"/>
                <a:cs typeface="Times New Roman"/>
                <a:sym typeface="Times New Roman"/>
              </a:rPr>
              <a:t>offset</a:t>
            </a:r>
            <a:r>
              <a:rPr lang="en" sz="2400" dirty="0">
                <a:solidFill>
                  <a:schemeClr val="dk1"/>
                </a:solidFill>
                <a:latin typeface="Times New Roman"/>
                <a:ea typeface="Times New Roman"/>
                <a:cs typeface="Times New Roman"/>
                <a:sym typeface="Times New Roman"/>
              </a:rPr>
              <a:t> ‘]’   )</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               			end    }</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6"/>
          <p:cNvSpPr txBox="1"/>
          <p:nvPr/>
        </p:nvSpPr>
        <p:spPr>
          <a:xfrm>
            <a:off x="0" y="0"/>
            <a:ext cx="8589300" cy="3000000"/>
          </a:xfrm>
          <a:prstGeom prst="rect">
            <a:avLst/>
          </a:prstGeom>
          <a:noFill/>
          <a:ln>
            <a:noFill/>
          </a:ln>
        </p:spPr>
        <p:txBody>
          <a:bodyPr spcFirstLastPara="1" wrap="square" lIns="91425" tIns="91425" rIns="91425" bIns="91425" anchor="t" anchorCtr="0">
            <a:noAutofit/>
          </a:bodyPr>
          <a:lstStyle/>
          <a:p>
            <a:pPr marL="365760" lvl="0" indent="-256032" algn="l" rtl="0">
              <a:spcBef>
                <a:spcPts val="0"/>
              </a:spcBef>
              <a:spcAft>
                <a:spcPts val="0"/>
              </a:spcAft>
              <a:buNone/>
            </a:pPr>
            <a:r>
              <a:rPr lang="en" sz="2400" dirty="0">
                <a:solidFill>
                  <a:schemeClr val="dk1"/>
                </a:solidFill>
                <a:latin typeface="Times New Roman"/>
                <a:ea typeface="Times New Roman"/>
                <a:cs typeface="Times New Roman"/>
                <a:sym typeface="Times New Roman"/>
              </a:rPr>
              <a:t>L.place represents value returned by function c(Elist.array) </a:t>
            </a:r>
            <a:endParaRPr sz="2400" dirty="0">
              <a:solidFill>
                <a:schemeClr val="dk1"/>
              </a:solidFill>
              <a:latin typeface="Times New Roman"/>
              <a:ea typeface="Times New Roman"/>
              <a:cs typeface="Times New Roman"/>
              <a:sym typeface="Times New Roman"/>
            </a:endParaRPr>
          </a:p>
          <a:p>
            <a:pPr marL="365760" lvl="0" indent="-256032" algn="l" rtl="0">
              <a:spcBef>
                <a:spcPts val="0"/>
              </a:spcBef>
              <a:spcAft>
                <a:spcPts val="0"/>
              </a:spcAft>
              <a:buNone/>
            </a:pPr>
            <a:r>
              <a:rPr lang="en" sz="2400" dirty="0">
                <a:solidFill>
                  <a:schemeClr val="dk1"/>
                </a:solidFill>
                <a:latin typeface="Times New Roman"/>
                <a:ea typeface="Times New Roman"/>
                <a:cs typeface="Times New Roman"/>
                <a:sym typeface="Times New Roman"/>
              </a:rPr>
              <a:t>(5) L -&gt; Elist ]  	{ L.</a:t>
            </a:r>
            <a:r>
              <a:rPr lang="en" sz="2400" i="1" dirty="0">
                <a:solidFill>
                  <a:schemeClr val="dk1"/>
                </a:solidFill>
                <a:latin typeface="Times New Roman"/>
                <a:ea typeface="Times New Roman"/>
                <a:cs typeface="Times New Roman"/>
                <a:sym typeface="Times New Roman"/>
              </a:rPr>
              <a:t>place</a:t>
            </a:r>
            <a:r>
              <a:rPr lang="en" sz="2400" dirty="0">
                <a:solidFill>
                  <a:schemeClr val="dk1"/>
                </a:solidFill>
                <a:latin typeface="Times New Roman"/>
                <a:ea typeface="Times New Roman"/>
                <a:cs typeface="Times New Roman"/>
                <a:sym typeface="Times New Roman"/>
              </a:rPr>
              <a:t>:=</a:t>
            </a:r>
            <a:r>
              <a:rPr lang="en" sz="2400" i="1" dirty="0">
                <a:solidFill>
                  <a:schemeClr val="dk1"/>
                </a:solidFill>
                <a:latin typeface="Times New Roman"/>
                <a:ea typeface="Times New Roman"/>
                <a:cs typeface="Times New Roman"/>
                <a:sym typeface="Times New Roman"/>
              </a:rPr>
              <a:t>newtemp</a:t>
            </a:r>
            <a:r>
              <a:rPr lang="en" sz="2400" dirty="0">
                <a:solidFill>
                  <a:schemeClr val="dk1"/>
                </a:solidFill>
                <a:latin typeface="Times New Roman"/>
                <a:ea typeface="Times New Roman"/>
                <a:cs typeface="Times New Roman"/>
                <a:sym typeface="Times New Roman"/>
              </a:rPr>
              <a:t>;</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			   L.</a:t>
            </a:r>
            <a:r>
              <a:rPr lang="en" sz="2400" i="1" dirty="0">
                <a:solidFill>
                  <a:schemeClr val="dk1"/>
                </a:solidFill>
                <a:latin typeface="Times New Roman"/>
                <a:ea typeface="Times New Roman"/>
                <a:cs typeface="Times New Roman"/>
                <a:sym typeface="Times New Roman"/>
              </a:rPr>
              <a:t>offset</a:t>
            </a:r>
            <a:r>
              <a:rPr lang="en" sz="2400" dirty="0">
                <a:solidFill>
                  <a:schemeClr val="dk1"/>
                </a:solidFill>
                <a:latin typeface="Times New Roman"/>
                <a:ea typeface="Times New Roman"/>
                <a:cs typeface="Times New Roman"/>
                <a:sym typeface="Times New Roman"/>
              </a:rPr>
              <a:t>:=</a:t>
            </a:r>
            <a:r>
              <a:rPr lang="en" sz="2400" i="1" dirty="0">
                <a:solidFill>
                  <a:schemeClr val="dk1"/>
                </a:solidFill>
                <a:latin typeface="Times New Roman"/>
                <a:ea typeface="Times New Roman"/>
                <a:cs typeface="Times New Roman"/>
                <a:sym typeface="Times New Roman"/>
              </a:rPr>
              <a:t>newtemp</a:t>
            </a:r>
            <a:r>
              <a:rPr lang="en" sz="2400" dirty="0">
                <a:solidFill>
                  <a:schemeClr val="dk1"/>
                </a:solidFill>
                <a:latin typeface="Times New Roman"/>
                <a:ea typeface="Times New Roman"/>
                <a:cs typeface="Times New Roman"/>
                <a:sym typeface="Times New Roman"/>
              </a:rPr>
              <a:t>;</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			   </a:t>
            </a:r>
            <a:r>
              <a:rPr lang="en" sz="2400" i="1" dirty="0">
                <a:solidFill>
                  <a:schemeClr val="dk1"/>
                </a:solidFill>
                <a:latin typeface="Times New Roman"/>
                <a:ea typeface="Times New Roman"/>
                <a:cs typeface="Times New Roman"/>
                <a:sym typeface="Times New Roman"/>
              </a:rPr>
              <a:t>emit</a:t>
            </a:r>
            <a:r>
              <a:rPr lang="en" sz="2400" dirty="0">
                <a:solidFill>
                  <a:schemeClr val="dk1"/>
                </a:solidFill>
                <a:latin typeface="Times New Roman"/>
                <a:ea typeface="Times New Roman"/>
                <a:cs typeface="Times New Roman"/>
                <a:sym typeface="Times New Roman"/>
              </a:rPr>
              <a:t>(L.</a:t>
            </a:r>
            <a:r>
              <a:rPr lang="en" sz="2400" i="1" dirty="0">
                <a:solidFill>
                  <a:schemeClr val="dk1"/>
                </a:solidFill>
                <a:latin typeface="Times New Roman"/>
                <a:ea typeface="Times New Roman"/>
                <a:cs typeface="Times New Roman"/>
                <a:sym typeface="Times New Roman"/>
              </a:rPr>
              <a:t>place</a:t>
            </a:r>
            <a:r>
              <a:rPr lang="en" sz="2400" dirty="0">
                <a:solidFill>
                  <a:schemeClr val="dk1"/>
                </a:solidFill>
                <a:latin typeface="Times New Roman"/>
                <a:ea typeface="Times New Roman"/>
                <a:cs typeface="Times New Roman"/>
                <a:sym typeface="Times New Roman"/>
              </a:rPr>
              <a:t>‘:=’ c(Elist.</a:t>
            </a:r>
            <a:r>
              <a:rPr lang="en" sz="2400" i="1" dirty="0">
                <a:solidFill>
                  <a:schemeClr val="dk1"/>
                </a:solidFill>
                <a:latin typeface="Times New Roman"/>
                <a:ea typeface="Times New Roman"/>
                <a:cs typeface="Times New Roman"/>
                <a:sym typeface="Times New Roman"/>
              </a:rPr>
              <a:t>array</a:t>
            </a:r>
            <a:r>
              <a:rPr lang="en" sz="2400" dirty="0">
                <a:solidFill>
                  <a:schemeClr val="dk1"/>
                </a:solidFill>
                <a:latin typeface="Times New Roman"/>
                <a:ea typeface="Times New Roman"/>
                <a:cs typeface="Times New Roman"/>
                <a:sym typeface="Times New Roman"/>
              </a:rPr>
              <a:t>));</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                      </a:t>
            </a:r>
            <a:r>
              <a:rPr lang="en" sz="2400" i="1" dirty="0">
                <a:solidFill>
                  <a:schemeClr val="dk1"/>
                </a:solidFill>
                <a:latin typeface="Times New Roman"/>
                <a:ea typeface="Times New Roman"/>
                <a:cs typeface="Times New Roman"/>
                <a:sym typeface="Times New Roman"/>
              </a:rPr>
              <a:t>emit</a:t>
            </a:r>
            <a:r>
              <a:rPr lang="en" sz="2400" dirty="0">
                <a:solidFill>
                  <a:schemeClr val="dk1"/>
                </a:solidFill>
                <a:latin typeface="Times New Roman"/>
                <a:ea typeface="Times New Roman"/>
                <a:cs typeface="Times New Roman"/>
                <a:sym typeface="Times New Roman"/>
              </a:rPr>
              <a:t>(L.offset ‘:=’ Elist.</a:t>
            </a:r>
            <a:r>
              <a:rPr lang="en" sz="2400" i="1" dirty="0">
                <a:solidFill>
                  <a:schemeClr val="dk1"/>
                </a:solidFill>
                <a:latin typeface="Times New Roman"/>
                <a:ea typeface="Times New Roman"/>
                <a:cs typeface="Times New Roman"/>
                <a:sym typeface="Times New Roman"/>
              </a:rPr>
              <a:t>place</a:t>
            </a:r>
            <a:r>
              <a:rPr lang="en" sz="2400" dirty="0">
                <a:solidFill>
                  <a:schemeClr val="dk1"/>
                </a:solidFill>
                <a:latin typeface="Times New Roman"/>
                <a:ea typeface="Times New Roman"/>
                <a:cs typeface="Times New Roman"/>
                <a:sym typeface="Times New Roman"/>
              </a:rPr>
              <a:t> ‘*’ width(Elist.</a:t>
            </a:r>
            <a:r>
              <a:rPr lang="en" sz="2400" i="1" dirty="0">
                <a:solidFill>
                  <a:schemeClr val="dk1"/>
                </a:solidFill>
                <a:latin typeface="Times New Roman"/>
                <a:ea typeface="Times New Roman"/>
                <a:cs typeface="Times New Roman"/>
                <a:sym typeface="Times New Roman"/>
              </a:rPr>
              <a:t>array)</a:t>
            </a:r>
            <a:r>
              <a:rPr lang="en"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Null offset indicates a simple name</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(6) L -&gt; id		{ L.</a:t>
            </a:r>
            <a:r>
              <a:rPr lang="en" sz="2400" i="1" dirty="0">
                <a:solidFill>
                  <a:schemeClr val="dk1"/>
                </a:solidFill>
                <a:latin typeface="Times New Roman"/>
                <a:ea typeface="Times New Roman"/>
                <a:cs typeface="Times New Roman"/>
                <a:sym typeface="Times New Roman"/>
              </a:rPr>
              <a:t>place</a:t>
            </a:r>
            <a:r>
              <a:rPr lang="en" sz="2400" dirty="0">
                <a:solidFill>
                  <a:schemeClr val="dk1"/>
                </a:solidFill>
                <a:latin typeface="Times New Roman"/>
                <a:ea typeface="Times New Roman"/>
                <a:cs typeface="Times New Roman"/>
                <a:sym typeface="Times New Roman"/>
              </a:rPr>
              <a:t> := id.</a:t>
            </a:r>
            <a:r>
              <a:rPr lang="en" sz="2400" i="1" dirty="0">
                <a:solidFill>
                  <a:schemeClr val="dk1"/>
                </a:solidFill>
                <a:latin typeface="Times New Roman"/>
                <a:ea typeface="Times New Roman"/>
                <a:cs typeface="Times New Roman"/>
                <a:sym typeface="Times New Roman"/>
              </a:rPr>
              <a:t>place</a:t>
            </a:r>
            <a:r>
              <a:rPr lang="en" sz="2400" dirty="0">
                <a:solidFill>
                  <a:schemeClr val="dk1"/>
                </a:solidFill>
                <a:latin typeface="Times New Roman"/>
                <a:ea typeface="Times New Roman"/>
                <a:cs typeface="Times New Roman"/>
                <a:sym typeface="Times New Roman"/>
              </a:rPr>
              <a:t>;</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			   L</a:t>
            </a:r>
            <a:r>
              <a:rPr lang="en" sz="2400" i="1" dirty="0">
                <a:solidFill>
                  <a:schemeClr val="dk1"/>
                </a:solidFill>
                <a:latin typeface="Times New Roman"/>
                <a:ea typeface="Times New Roman"/>
                <a:cs typeface="Times New Roman"/>
                <a:sym typeface="Times New Roman"/>
              </a:rPr>
              <a:t>.offset</a:t>
            </a:r>
            <a:r>
              <a:rPr lang="en" sz="2400" dirty="0">
                <a:solidFill>
                  <a:schemeClr val="dk1"/>
                </a:solidFill>
                <a:latin typeface="Times New Roman"/>
                <a:ea typeface="Times New Roman"/>
                <a:cs typeface="Times New Roman"/>
                <a:sym typeface="Times New Roman"/>
              </a:rPr>
              <a:t>:= null   }</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endParaRPr sz="2700" dirty="0">
              <a:solidFill>
                <a:schemeClr val="dk1"/>
              </a:solidFill>
              <a:latin typeface="Lucida Sans"/>
              <a:ea typeface="Lucida Sans"/>
              <a:cs typeface="Lucida Sans"/>
              <a:sym typeface="Lucid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7"/>
          <p:cNvSpPr txBox="1"/>
          <p:nvPr/>
        </p:nvSpPr>
        <p:spPr>
          <a:xfrm>
            <a:off x="0" y="0"/>
            <a:ext cx="8649600" cy="3000000"/>
          </a:xfrm>
          <a:prstGeom prst="rect">
            <a:avLst/>
          </a:prstGeom>
          <a:noFill/>
          <a:ln>
            <a:noFill/>
          </a:ln>
        </p:spPr>
        <p:txBody>
          <a:bodyPr spcFirstLastPara="1" wrap="square" lIns="91425" tIns="91425" rIns="91425" bIns="91425" anchor="t" anchorCtr="0">
            <a:noAutofit/>
          </a:bodyPr>
          <a:lstStyle/>
          <a:p>
            <a:pPr marL="365760" lvl="0" indent="-256032" algn="l" rtl="0">
              <a:spcBef>
                <a:spcPts val="0"/>
              </a:spcBef>
              <a:spcAft>
                <a:spcPts val="0"/>
              </a:spcAft>
              <a:buClr>
                <a:schemeClr val="dk1"/>
              </a:buClr>
              <a:buSzPts val="1100"/>
              <a:buFont typeface="Arial"/>
              <a:buNone/>
            </a:pPr>
            <a:r>
              <a:rPr lang="en" sz="2400" dirty="0">
                <a:solidFill>
                  <a:schemeClr val="dk1"/>
                </a:solidFill>
                <a:latin typeface="Times New Roman"/>
                <a:ea typeface="Times New Roman"/>
                <a:cs typeface="Times New Roman"/>
                <a:sym typeface="Times New Roman"/>
              </a:rPr>
              <a:t>(7) Elist -&gt; Elist, E   		{ t:=</a:t>
            </a:r>
            <a:r>
              <a:rPr lang="en" sz="2400" i="1" dirty="0">
                <a:solidFill>
                  <a:schemeClr val="dk1"/>
                </a:solidFill>
                <a:latin typeface="Times New Roman"/>
                <a:ea typeface="Times New Roman"/>
                <a:cs typeface="Times New Roman"/>
                <a:sym typeface="Times New Roman"/>
              </a:rPr>
              <a:t>newtemp;</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Clr>
                <a:schemeClr val="dk1"/>
              </a:buClr>
              <a:buSzPts val="1100"/>
              <a:buFont typeface="Arial"/>
              <a:buNone/>
            </a:pPr>
            <a:r>
              <a:rPr lang="en" sz="2400" dirty="0">
                <a:solidFill>
                  <a:schemeClr val="dk1"/>
                </a:solidFill>
                <a:latin typeface="Times New Roman"/>
                <a:ea typeface="Times New Roman"/>
                <a:cs typeface="Times New Roman"/>
                <a:sym typeface="Times New Roman"/>
              </a:rPr>
              <a:t>				   M:=Elist1.ndim +1;</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Clr>
                <a:schemeClr val="dk1"/>
              </a:buClr>
              <a:buSzPts val="1100"/>
              <a:buFont typeface="Arial"/>
              <a:buNone/>
            </a:pPr>
            <a:r>
              <a:rPr lang="en" sz="2400" dirty="0">
                <a:solidFill>
                  <a:schemeClr val="dk1"/>
                </a:solidFill>
                <a:latin typeface="Times New Roman"/>
                <a:ea typeface="Times New Roman"/>
                <a:cs typeface="Times New Roman"/>
                <a:sym typeface="Times New Roman"/>
              </a:rPr>
              <a:t>				</a:t>
            </a:r>
            <a:r>
              <a:rPr lang="en" sz="2400" i="1" dirty="0">
                <a:solidFill>
                  <a:schemeClr val="dk1"/>
                </a:solidFill>
                <a:latin typeface="Times New Roman"/>
                <a:ea typeface="Times New Roman"/>
                <a:cs typeface="Times New Roman"/>
                <a:sym typeface="Times New Roman"/>
              </a:rPr>
              <a:t>emit(</a:t>
            </a:r>
            <a:r>
              <a:rPr lang="en" sz="2400" dirty="0">
                <a:solidFill>
                  <a:schemeClr val="dk1"/>
                </a:solidFill>
                <a:latin typeface="Times New Roman"/>
                <a:ea typeface="Times New Roman"/>
                <a:cs typeface="Times New Roman"/>
                <a:sym typeface="Times New Roman"/>
              </a:rPr>
              <a:t> t‘:=’ Elist</a:t>
            </a:r>
            <a:r>
              <a:rPr lang="en" sz="2400" baseline="-25000" dirty="0">
                <a:solidFill>
                  <a:schemeClr val="dk1"/>
                </a:solidFill>
                <a:latin typeface="Times New Roman"/>
                <a:ea typeface="Times New Roman"/>
                <a:cs typeface="Times New Roman"/>
                <a:sym typeface="Times New Roman"/>
              </a:rPr>
              <a:t>1</a:t>
            </a:r>
            <a:r>
              <a:rPr lang="en" sz="2400" dirty="0">
                <a:solidFill>
                  <a:schemeClr val="dk1"/>
                </a:solidFill>
                <a:latin typeface="Times New Roman"/>
                <a:ea typeface="Times New Roman"/>
                <a:cs typeface="Times New Roman"/>
                <a:sym typeface="Times New Roman"/>
              </a:rPr>
              <a:t>.</a:t>
            </a:r>
            <a:r>
              <a:rPr lang="en" sz="2400" i="1" dirty="0">
                <a:solidFill>
                  <a:schemeClr val="dk1"/>
                </a:solidFill>
                <a:latin typeface="Times New Roman"/>
                <a:ea typeface="Times New Roman"/>
                <a:cs typeface="Times New Roman"/>
                <a:sym typeface="Times New Roman"/>
              </a:rPr>
              <a:t>place </a:t>
            </a:r>
            <a:r>
              <a:rPr lang="en" sz="2400" dirty="0">
                <a:solidFill>
                  <a:schemeClr val="dk1"/>
                </a:solidFill>
                <a:latin typeface="Times New Roman"/>
                <a:ea typeface="Times New Roman"/>
                <a:cs typeface="Times New Roman"/>
                <a:sym typeface="Times New Roman"/>
              </a:rPr>
              <a:t>‘*’ limit(Elist</a:t>
            </a:r>
            <a:r>
              <a:rPr lang="en" sz="2400" baseline="-25000" dirty="0">
                <a:solidFill>
                  <a:schemeClr val="dk1"/>
                </a:solidFill>
                <a:latin typeface="Times New Roman"/>
                <a:ea typeface="Times New Roman"/>
                <a:cs typeface="Times New Roman"/>
                <a:sym typeface="Times New Roman"/>
              </a:rPr>
              <a:t>1</a:t>
            </a:r>
            <a:r>
              <a:rPr lang="en" sz="2400" dirty="0">
                <a:solidFill>
                  <a:schemeClr val="dk1"/>
                </a:solidFill>
                <a:latin typeface="Times New Roman"/>
                <a:ea typeface="Times New Roman"/>
                <a:cs typeface="Times New Roman"/>
                <a:sym typeface="Times New Roman"/>
              </a:rPr>
              <a:t>.</a:t>
            </a:r>
            <a:r>
              <a:rPr lang="en" sz="2400" i="1" dirty="0">
                <a:solidFill>
                  <a:schemeClr val="dk1"/>
                </a:solidFill>
                <a:latin typeface="Times New Roman"/>
                <a:ea typeface="Times New Roman"/>
                <a:cs typeface="Times New Roman"/>
                <a:sym typeface="Times New Roman"/>
              </a:rPr>
              <a:t>array</a:t>
            </a:r>
            <a:r>
              <a:rPr lang="en" sz="2400" dirty="0">
                <a:solidFill>
                  <a:schemeClr val="dk1"/>
                </a:solidFill>
                <a:latin typeface="Times New Roman"/>
                <a:ea typeface="Times New Roman"/>
                <a:cs typeface="Times New Roman"/>
                <a:sym typeface="Times New Roman"/>
              </a:rPr>
              <a:t>,m));</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Clr>
                <a:schemeClr val="dk1"/>
              </a:buClr>
              <a:buSzPts val="1100"/>
              <a:buFont typeface="Arial"/>
              <a:buNone/>
            </a:pPr>
            <a:r>
              <a:rPr lang="en" sz="2400" dirty="0">
                <a:solidFill>
                  <a:schemeClr val="dk1"/>
                </a:solidFill>
                <a:latin typeface="Times New Roman"/>
                <a:ea typeface="Times New Roman"/>
                <a:cs typeface="Times New Roman"/>
                <a:sym typeface="Times New Roman"/>
              </a:rPr>
              <a:t>				Elist.</a:t>
            </a:r>
            <a:r>
              <a:rPr lang="en" sz="2400" i="1" dirty="0">
                <a:solidFill>
                  <a:schemeClr val="dk1"/>
                </a:solidFill>
                <a:latin typeface="Times New Roman"/>
                <a:ea typeface="Times New Roman"/>
                <a:cs typeface="Times New Roman"/>
                <a:sym typeface="Times New Roman"/>
              </a:rPr>
              <a:t>array:</a:t>
            </a:r>
            <a:r>
              <a:rPr lang="en" sz="2400" dirty="0">
                <a:solidFill>
                  <a:schemeClr val="dk1"/>
                </a:solidFill>
                <a:latin typeface="Times New Roman"/>
                <a:ea typeface="Times New Roman"/>
                <a:cs typeface="Times New Roman"/>
                <a:sym typeface="Times New Roman"/>
              </a:rPr>
              <a:t>=Elist</a:t>
            </a:r>
            <a:r>
              <a:rPr lang="en" sz="2400" baseline="-25000" dirty="0">
                <a:solidFill>
                  <a:schemeClr val="dk1"/>
                </a:solidFill>
                <a:latin typeface="Times New Roman"/>
                <a:ea typeface="Times New Roman"/>
                <a:cs typeface="Times New Roman"/>
                <a:sym typeface="Times New Roman"/>
              </a:rPr>
              <a:t>1</a:t>
            </a:r>
            <a:r>
              <a:rPr lang="en" sz="2400" dirty="0">
                <a:solidFill>
                  <a:schemeClr val="dk1"/>
                </a:solidFill>
                <a:latin typeface="Times New Roman"/>
                <a:ea typeface="Times New Roman"/>
                <a:cs typeface="Times New Roman"/>
                <a:sym typeface="Times New Roman"/>
              </a:rPr>
              <a:t>.</a:t>
            </a:r>
            <a:r>
              <a:rPr lang="en" sz="2400" i="1" dirty="0">
                <a:solidFill>
                  <a:schemeClr val="dk1"/>
                </a:solidFill>
                <a:latin typeface="Times New Roman"/>
                <a:ea typeface="Times New Roman"/>
                <a:cs typeface="Times New Roman"/>
                <a:sym typeface="Times New Roman"/>
              </a:rPr>
              <a:t>arra</a:t>
            </a:r>
            <a:r>
              <a:rPr lang="en" sz="2400" dirty="0">
                <a:solidFill>
                  <a:schemeClr val="dk1"/>
                </a:solidFill>
                <a:latin typeface="Times New Roman"/>
                <a:ea typeface="Times New Roman"/>
                <a:cs typeface="Times New Roman"/>
                <a:sym typeface="Times New Roman"/>
              </a:rPr>
              <a:t>y;</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Clr>
                <a:schemeClr val="dk1"/>
              </a:buClr>
              <a:buSzPts val="1100"/>
              <a:buFont typeface="Arial"/>
              <a:buNone/>
            </a:pPr>
            <a:r>
              <a:rPr lang="en" sz="2400" dirty="0">
                <a:solidFill>
                  <a:schemeClr val="dk1"/>
                </a:solidFill>
                <a:latin typeface="Times New Roman"/>
                <a:ea typeface="Times New Roman"/>
                <a:cs typeface="Times New Roman"/>
                <a:sym typeface="Times New Roman"/>
              </a:rPr>
              <a:t>				Elist.</a:t>
            </a:r>
            <a:r>
              <a:rPr lang="en" sz="2400" i="1" dirty="0">
                <a:solidFill>
                  <a:schemeClr val="dk1"/>
                </a:solidFill>
                <a:latin typeface="Times New Roman"/>
                <a:ea typeface="Times New Roman"/>
                <a:cs typeface="Times New Roman"/>
                <a:sym typeface="Times New Roman"/>
              </a:rPr>
              <a:t>place</a:t>
            </a:r>
            <a:r>
              <a:rPr lang="en" sz="2400" dirty="0">
                <a:solidFill>
                  <a:schemeClr val="dk1"/>
                </a:solidFill>
                <a:latin typeface="Times New Roman"/>
                <a:ea typeface="Times New Roman"/>
                <a:cs typeface="Times New Roman"/>
                <a:sym typeface="Times New Roman"/>
              </a:rPr>
              <a:t> := t;</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Clr>
                <a:schemeClr val="dk1"/>
              </a:buClr>
              <a:buSzPts val="1100"/>
              <a:buFont typeface="Arial"/>
              <a:buNone/>
            </a:pPr>
            <a:r>
              <a:rPr lang="en" sz="2400" dirty="0">
                <a:solidFill>
                  <a:schemeClr val="dk1"/>
                </a:solidFill>
                <a:latin typeface="Times New Roman"/>
                <a:ea typeface="Times New Roman"/>
                <a:cs typeface="Times New Roman"/>
                <a:sym typeface="Times New Roman"/>
              </a:rPr>
              <a:t>				Elsit</a:t>
            </a:r>
            <a:r>
              <a:rPr lang="en" sz="2400" i="1" dirty="0">
                <a:solidFill>
                  <a:schemeClr val="dk1"/>
                </a:solidFill>
                <a:latin typeface="Times New Roman"/>
                <a:ea typeface="Times New Roman"/>
                <a:cs typeface="Times New Roman"/>
                <a:sym typeface="Times New Roman"/>
              </a:rPr>
              <a:t>.ndim</a:t>
            </a:r>
            <a:r>
              <a:rPr lang="en" sz="2400" dirty="0">
                <a:solidFill>
                  <a:schemeClr val="dk1"/>
                </a:solidFill>
                <a:latin typeface="Times New Roman"/>
                <a:ea typeface="Times New Roman"/>
                <a:cs typeface="Times New Roman"/>
                <a:sym typeface="Times New Roman"/>
              </a:rPr>
              <a:t>:=m   }</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Clr>
                <a:schemeClr val="dk1"/>
              </a:buClr>
              <a:buSzPts val="1100"/>
              <a:buFont typeface="Arial"/>
              <a:buNone/>
            </a:pP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Clr>
                <a:schemeClr val="dk1"/>
              </a:buClr>
              <a:buSzPts val="1100"/>
              <a:buFont typeface="Arial"/>
              <a:buNone/>
            </a:pPr>
            <a:endParaRPr sz="2700" dirty="0">
              <a:solidFill>
                <a:schemeClr val="dk1"/>
              </a:solidFill>
              <a:latin typeface="Lucida Sans"/>
              <a:ea typeface="Lucida Sans"/>
              <a:cs typeface="Lucida Sans"/>
              <a:sym typeface="Lucida Sans"/>
            </a:endParaRPr>
          </a:p>
          <a:p>
            <a:pPr marL="365760" lvl="0" indent="-256032" algn="l" rtl="0">
              <a:spcBef>
                <a:spcPts val="0"/>
              </a:spcBef>
              <a:spcAft>
                <a:spcPts val="0"/>
              </a:spcAft>
              <a:buNone/>
            </a:pPr>
            <a:endParaRPr sz="2400" dirty="0">
              <a:solidFill>
                <a:schemeClr val="dk1"/>
              </a:solidFill>
              <a:latin typeface="Times New Roman"/>
              <a:ea typeface="Times New Roman"/>
              <a:cs typeface="Times New Roman"/>
              <a:sym typeface="Times New Roman"/>
            </a:endParaRPr>
          </a:p>
          <a:p>
            <a:pPr marL="365760" lvl="0" indent="-256032" algn="l" rtl="0">
              <a:spcBef>
                <a:spcPts val="0"/>
              </a:spcBef>
              <a:spcAft>
                <a:spcPts val="0"/>
              </a:spcAft>
              <a:buNone/>
            </a:pPr>
            <a:r>
              <a:rPr lang="en" sz="2400" dirty="0">
                <a:solidFill>
                  <a:schemeClr val="dk1"/>
                </a:solidFill>
                <a:latin typeface="Times New Roman"/>
                <a:ea typeface="Times New Roman"/>
                <a:cs typeface="Times New Roman"/>
                <a:sym typeface="Times New Roman"/>
              </a:rPr>
              <a:t>(8) Elist -&gt;id [ E ] 		{ Elist.</a:t>
            </a:r>
            <a:r>
              <a:rPr lang="en" sz="2400" i="1" dirty="0">
                <a:solidFill>
                  <a:schemeClr val="dk1"/>
                </a:solidFill>
                <a:latin typeface="Times New Roman"/>
                <a:ea typeface="Times New Roman"/>
                <a:cs typeface="Times New Roman"/>
                <a:sym typeface="Times New Roman"/>
              </a:rPr>
              <a:t>array</a:t>
            </a:r>
            <a:r>
              <a:rPr lang="en" sz="2400" dirty="0">
                <a:solidFill>
                  <a:schemeClr val="dk1"/>
                </a:solidFill>
                <a:latin typeface="Times New Roman"/>
                <a:ea typeface="Times New Roman"/>
                <a:cs typeface="Times New Roman"/>
                <a:sym typeface="Times New Roman"/>
              </a:rPr>
              <a:t>:=id.</a:t>
            </a:r>
            <a:r>
              <a:rPr lang="en" sz="2400" i="1" dirty="0">
                <a:solidFill>
                  <a:schemeClr val="dk1"/>
                </a:solidFill>
                <a:latin typeface="Times New Roman"/>
                <a:ea typeface="Times New Roman"/>
                <a:cs typeface="Times New Roman"/>
                <a:sym typeface="Times New Roman"/>
              </a:rPr>
              <a:t>place;</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				   Elist</a:t>
            </a:r>
            <a:r>
              <a:rPr lang="en" sz="2400" i="1" dirty="0">
                <a:solidFill>
                  <a:schemeClr val="dk1"/>
                </a:solidFill>
                <a:latin typeface="Times New Roman"/>
                <a:ea typeface="Times New Roman"/>
                <a:cs typeface="Times New Roman"/>
                <a:sym typeface="Times New Roman"/>
              </a:rPr>
              <a:t>.place</a:t>
            </a:r>
            <a:r>
              <a:rPr lang="en" sz="2400" dirty="0">
                <a:solidFill>
                  <a:schemeClr val="dk1"/>
                </a:solidFill>
                <a:latin typeface="Times New Roman"/>
                <a:ea typeface="Times New Roman"/>
                <a:cs typeface="Times New Roman"/>
                <a:sym typeface="Times New Roman"/>
              </a:rPr>
              <a:t>:=E.</a:t>
            </a:r>
            <a:r>
              <a:rPr lang="en" sz="2400" i="1" dirty="0">
                <a:solidFill>
                  <a:schemeClr val="dk1"/>
                </a:solidFill>
                <a:latin typeface="Times New Roman"/>
                <a:ea typeface="Times New Roman"/>
                <a:cs typeface="Times New Roman"/>
                <a:sym typeface="Times New Roman"/>
              </a:rPr>
              <a:t>place</a:t>
            </a:r>
            <a:r>
              <a:rPr lang="en" sz="2400" dirty="0">
                <a:solidFill>
                  <a:schemeClr val="dk1"/>
                </a:solidFill>
                <a:latin typeface="Times New Roman"/>
                <a:ea typeface="Times New Roman"/>
                <a:cs typeface="Times New Roman"/>
                <a:sym typeface="Times New Roman"/>
              </a:rPr>
              <a:t>;</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				   Elist.</a:t>
            </a:r>
            <a:r>
              <a:rPr lang="en" sz="2400" i="1" dirty="0">
                <a:solidFill>
                  <a:schemeClr val="dk1"/>
                </a:solidFill>
                <a:latin typeface="Times New Roman"/>
                <a:ea typeface="Times New Roman"/>
                <a:cs typeface="Times New Roman"/>
                <a:sym typeface="Times New Roman"/>
              </a:rPr>
              <a:t>ndim:</a:t>
            </a:r>
            <a:r>
              <a:rPr lang="en" sz="2400" dirty="0">
                <a:solidFill>
                  <a:schemeClr val="dk1"/>
                </a:solidFill>
                <a:latin typeface="Times New Roman"/>
                <a:ea typeface="Times New Roman"/>
                <a:cs typeface="Times New Roman"/>
                <a:sym typeface="Times New Roman"/>
              </a:rPr>
              <a:t>=1     }</a:t>
            </a:r>
            <a:endParaRPr sz="2400" dirty="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8"/>
          <p:cNvSpPr txBox="1"/>
          <p:nvPr/>
        </p:nvSpPr>
        <p:spPr>
          <a:xfrm>
            <a:off x="0" y="0"/>
            <a:ext cx="9144000" cy="30000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2D array stored in Row- Major form, the relative address of A[i</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,i</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 can be calculated by the formula</a:t>
            </a:r>
            <a:endParaRPr sz="2400">
              <a:solidFill>
                <a:schemeClr val="dk1"/>
              </a:solidFill>
              <a:latin typeface="Times New Roman"/>
              <a:ea typeface="Times New Roman"/>
              <a:cs typeface="Times New Roman"/>
              <a:sym typeface="Times New Roman"/>
            </a:endParaRPr>
          </a:p>
          <a:p>
            <a:pPr marL="457200" lvl="0" indent="0" algn="l" rtl="0">
              <a:spcBef>
                <a:spcPts val="400"/>
              </a:spcBef>
              <a:spcAft>
                <a:spcPts val="0"/>
              </a:spcAft>
              <a:buNone/>
            </a:pPr>
            <a:r>
              <a:rPr lang="en" sz="2400">
                <a:solidFill>
                  <a:schemeClr val="dk1"/>
                </a:solidFill>
                <a:latin typeface="Times New Roman"/>
                <a:ea typeface="Times New Roman"/>
                <a:cs typeface="Times New Roman"/>
                <a:sym typeface="Times New Roman"/>
              </a:rPr>
              <a:t>   </a:t>
            </a:r>
            <a:r>
              <a:rPr lang="en" sz="2400" b="1">
                <a:solidFill>
                  <a:srgbClr val="0000FF"/>
                </a:solidFill>
                <a:latin typeface="Times New Roman"/>
                <a:ea typeface="Times New Roman"/>
                <a:cs typeface="Times New Roman"/>
                <a:sym typeface="Times New Roman"/>
              </a:rPr>
              <a:t> base +(i</a:t>
            </a:r>
            <a:r>
              <a:rPr lang="en" sz="2400" b="1" baseline="-25000">
                <a:solidFill>
                  <a:srgbClr val="0000FF"/>
                </a:solidFill>
                <a:latin typeface="Times New Roman"/>
                <a:ea typeface="Times New Roman"/>
                <a:cs typeface="Times New Roman"/>
                <a:sym typeface="Times New Roman"/>
              </a:rPr>
              <a:t>1</a:t>
            </a:r>
            <a:r>
              <a:rPr lang="en" sz="2400" b="1">
                <a:solidFill>
                  <a:srgbClr val="0000FF"/>
                </a:solidFill>
                <a:latin typeface="Times New Roman"/>
                <a:ea typeface="Times New Roman"/>
                <a:cs typeface="Times New Roman"/>
                <a:sym typeface="Times New Roman"/>
              </a:rPr>
              <a:t> – low</a:t>
            </a:r>
            <a:r>
              <a:rPr lang="en" sz="2400" b="1" baseline="-25000">
                <a:solidFill>
                  <a:srgbClr val="0000FF"/>
                </a:solidFill>
                <a:latin typeface="Times New Roman"/>
                <a:ea typeface="Times New Roman"/>
                <a:cs typeface="Times New Roman"/>
                <a:sym typeface="Times New Roman"/>
              </a:rPr>
              <a:t>1</a:t>
            </a:r>
            <a:r>
              <a:rPr lang="en" sz="2400" b="1">
                <a:solidFill>
                  <a:srgbClr val="0000FF"/>
                </a:solidFill>
                <a:latin typeface="Times New Roman"/>
                <a:ea typeface="Times New Roman"/>
                <a:cs typeface="Times New Roman"/>
                <a:sym typeface="Times New Roman"/>
              </a:rPr>
              <a:t> ) * n</a:t>
            </a:r>
            <a:r>
              <a:rPr lang="en" sz="2400" b="1" baseline="-25000">
                <a:solidFill>
                  <a:srgbClr val="0000FF"/>
                </a:solidFill>
                <a:latin typeface="Times New Roman"/>
                <a:ea typeface="Times New Roman"/>
                <a:cs typeface="Times New Roman"/>
                <a:sym typeface="Times New Roman"/>
              </a:rPr>
              <a:t>2</a:t>
            </a:r>
            <a:r>
              <a:rPr lang="en" sz="2400" b="1">
                <a:solidFill>
                  <a:srgbClr val="0000FF"/>
                </a:solidFill>
                <a:latin typeface="Times New Roman"/>
                <a:ea typeface="Times New Roman"/>
                <a:cs typeface="Times New Roman"/>
                <a:sym typeface="Times New Roman"/>
              </a:rPr>
              <a:t> + i</a:t>
            </a:r>
            <a:r>
              <a:rPr lang="en" sz="2400" b="1" baseline="-25000">
                <a:solidFill>
                  <a:srgbClr val="0000FF"/>
                </a:solidFill>
                <a:latin typeface="Times New Roman"/>
                <a:ea typeface="Times New Roman"/>
                <a:cs typeface="Times New Roman"/>
                <a:sym typeface="Times New Roman"/>
              </a:rPr>
              <a:t>2</a:t>
            </a:r>
            <a:r>
              <a:rPr lang="en" sz="2400" b="1">
                <a:solidFill>
                  <a:srgbClr val="0000FF"/>
                </a:solidFill>
                <a:latin typeface="Times New Roman"/>
                <a:ea typeface="Times New Roman"/>
                <a:cs typeface="Times New Roman"/>
                <a:sym typeface="Times New Roman"/>
              </a:rPr>
              <a:t> – low</a:t>
            </a:r>
            <a:r>
              <a:rPr lang="en" sz="2400" b="1" baseline="-25000">
                <a:solidFill>
                  <a:srgbClr val="0000FF"/>
                </a:solidFill>
                <a:latin typeface="Times New Roman"/>
                <a:ea typeface="Times New Roman"/>
                <a:cs typeface="Times New Roman"/>
                <a:sym typeface="Times New Roman"/>
              </a:rPr>
              <a:t>2</a:t>
            </a:r>
            <a:r>
              <a:rPr lang="en" sz="2400" b="1">
                <a:solidFill>
                  <a:srgbClr val="0000FF"/>
                </a:solidFill>
                <a:latin typeface="Times New Roman"/>
                <a:ea typeface="Times New Roman"/>
                <a:cs typeface="Times New Roman"/>
                <a:sym typeface="Times New Roman"/>
              </a:rPr>
              <a:t>) *w</a:t>
            </a:r>
            <a:endParaRPr sz="2400" b="1">
              <a:solidFill>
                <a:srgbClr val="0000FF"/>
              </a:solidFill>
              <a:latin typeface="Times New Roman"/>
              <a:ea typeface="Times New Roman"/>
              <a:cs typeface="Times New Roman"/>
              <a:sym typeface="Times New Roman"/>
            </a:endParaRPr>
          </a:p>
          <a:p>
            <a:pPr marL="457200" lvl="0" indent="-381000" algn="l" rtl="0">
              <a:spcBef>
                <a:spcPts val="40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Where  low</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 and  low</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 are the lower bounds on the values of i</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 and i</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 and n</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 is the number of values that i</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 can take.</a:t>
            </a:r>
            <a:endParaRPr sz="2400">
              <a:solidFill>
                <a:schemeClr val="dk1"/>
              </a:solidFill>
              <a:latin typeface="Times New Roman"/>
              <a:ea typeface="Times New Roman"/>
              <a:cs typeface="Times New Roman"/>
              <a:sym typeface="Times New Roman"/>
            </a:endParaRPr>
          </a:p>
          <a:p>
            <a:pPr marL="457200" lvl="0" indent="-381000" algn="l" rtl="0">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  Assuming that i</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 and i</a:t>
            </a:r>
            <a:r>
              <a:rPr lang="en" sz="2400" baseline="-25000">
                <a:solidFill>
                  <a:schemeClr val="dk1"/>
                </a:solidFill>
                <a:latin typeface="Times New Roman"/>
                <a:ea typeface="Times New Roman"/>
                <a:cs typeface="Times New Roman"/>
                <a:sym typeface="Times New Roman"/>
              </a:rPr>
              <a:t>2   </a:t>
            </a:r>
            <a:r>
              <a:rPr lang="en" sz="2400">
                <a:solidFill>
                  <a:schemeClr val="dk1"/>
                </a:solidFill>
                <a:latin typeface="Times New Roman"/>
                <a:ea typeface="Times New Roman"/>
                <a:cs typeface="Times New Roman"/>
                <a:sym typeface="Times New Roman"/>
              </a:rPr>
              <a:t>are the only values that are not known at compile time the above expression is rewritten as:</a:t>
            </a:r>
            <a:endParaRPr sz="2400">
              <a:solidFill>
                <a:schemeClr val="dk1"/>
              </a:solidFill>
              <a:latin typeface="Times New Roman"/>
              <a:ea typeface="Times New Roman"/>
              <a:cs typeface="Times New Roman"/>
              <a:sym typeface="Times New Roman"/>
            </a:endParaRPr>
          </a:p>
          <a:p>
            <a:pPr marL="457200" lvl="0" indent="0" algn="l" rtl="0">
              <a:spcBef>
                <a:spcPts val="400"/>
              </a:spcBef>
              <a:spcAft>
                <a:spcPts val="0"/>
              </a:spcAft>
              <a:buNone/>
            </a:pPr>
            <a:r>
              <a:rPr lang="en" sz="2400">
                <a:solidFill>
                  <a:schemeClr val="dk1"/>
                </a:solidFill>
                <a:latin typeface="Times New Roman"/>
                <a:ea typeface="Times New Roman"/>
                <a:cs typeface="Times New Roman"/>
                <a:sym typeface="Times New Roman"/>
              </a:rPr>
              <a:t> </a:t>
            </a:r>
            <a:r>
              <a:rPr lang="en" sz="2400" b="1">
                <a:solidFill>
                  <a:srgbClr val="0000FF"/>
                </a:solidFill>
                <a:latin typeface="Times New Roman"/>
                <a:ea typeface="Times New Roman"/>
                <a:cs typeface="Times New Roman"/>
                <a:sym typeface="Times New Roman"/>
              </a:rPr>
              <a:t>(i</a:t>
            </a:r>
            <a:r>
              <a:rPr lang="en" sz="2400" b="1" baseline="-25000">
                <a:solidFill>
                  <a:srgbClr val="0000FF"/>
                </a:solidFill>
                <a:latin typeface="Times New Roman"/>
                <a:ea typeface="Times New Roman"/>
                <a:cs typeface="Times New Roman"/>
                <a:sym typeface="Times New Roman"/>
              </a:rPr>
              <a:t>1</a:t>
            </a:r>
            <a:r>
              <a:rPr lang="en" sz="2400" b="1">
                <a:solidFill>
                  <a:srgbClr val="0000FF"/>
                </a:solidFill>
                <a:latin typeface="Times New Roman"/>
                <a:ea typeface="Times New Roman"/>
                <a:cs typeface="Times New Roman"/>
                <a:sym typeface="Times New Roman"/>
              </a:rPr>
              <a:t> * n</a:t>
            </a:r>
            <a:r>
              <a:rPr lang="en" sz="2400" b="1" baseline="-25000">
                <a:solidFill>
                  <a:srgbClr val="0000FF"/>
                </a:solidFill>
                <a:latin typeface="Times New Roman"/>
                <a:ea typeface="Times New Roman"/>
                <a:cs typeface="Times New Roman"/>
                <a:sym typeface="Times New Roman"/>
              </a:rPr>
              <a:t>2</a:t>
            </a:r>
            <a:r>
              <a:rPr lang="en" sz="2400" b="1">
                <a:solidFill>
                  <a:srgbClr val="0000FF"/>
                </a:solidFill>
                <a:latin typeface="Times New Roman"/>
                <a:ea typeface="Times New Roman"/>
                <a:cs typeface="Times New Roman"/>
                <a:sym typeface="Times New Roman"/>
              </a:rPr>
              <a:t> )</a:t>
            </a:r>
            <a:r>
              <a:rPr lang="en" sz="2400" b="1" baseline="-25000">
                <a:solidFill>
                  <a:srgbClr val="0000FF"/>
                </a:solidFill>
                <a:latin typeface="Times New Roman"/>
                <a:ea typeface="Times New Roman"/>
                <a:cs typeface="Times New Roman"/>
                <a:sym typeface="Times New Roman"/>
              </a:rPr>
              <a:t> </a:t>
            </a:r>
            <a:r>
              <a:rPr lang="en" sz="2400" b="1">
                <a:solidFill>
                  <a:srgbClr val="0000FF"/>
                </a:solidFill>
                <a:latin typeface="Times New Roman"/>
                <a:ea typeface="Times New Roman"/>
                <a:cs typeface="Times New Roman"/>
                <a:sym typeface="Times New Roman"/>
              </a:rPr>
              <a:t> + i</a:t>
            </a:r>
            <a:r>
              <a:rPr lang="en" sz="2400" b="1" baseline="-25000">
                <a:solidFill>
                  <a:srgbClr val="0000FF"/>
                </a:solidFill>
                <a:latin typeface="Times New Roman"/>
                <a:ea typeface="Times New Roman"/>
                <a:cs typeface="Times New Roman"/>
                <a:sym typeface="Times New Roman"/>
              </a:rPr>
              <a:t>2</a:t>
            </a:r>
            <a:r>
              <a:rPr lang="en" sz="2400" b="1">
                <a:solidFill>
                  <a:srgbClr val="0000FF"/>
                </a:solidFill>
                <a:latin typeface="Times New Roman"/>
                <a:ea typeface="Times New Roman"/>
                <a:cs typeface="Times New Roman"/>
                <a:sym typeface="Times New Roman"/>
              </a:rPr>
              <a:t> ) * w + ( base – ((low</a:t>
            </a:r>
            <a:r>
              <a:rPr lang="en" sz="2400" b="1" baseline="-25000">
                <a:solidFill>
                  <a:srgbClr val="0000FF"/>
                </a:solidFill>
                <a:latin typeface="Times New Roman"/>
                <a:ea typeface="Times New Roman"/>
                <a:cs typeface="Times New Roman"/>
                <a:sym typeface="Times New Roman"/>
              </a:rPr>
              <a:t>1</a:t>
            </a:r>
            <a:r>
              <a:rPr lang="en" sz="2400" b="1">
                <a:solidFill>
                  <a:srgbClr val="0000FF"/>
                </a:solidFill>
                <a:latin typeface="Times New Roman"/>
                <a:ea typeface="Times New Roman"/>
                <a:cs typeface="Times New Roman"/>
                <a:sym typeface="Times New Roman"/>
              </a:rPr>
              <a:t> * n</a:t>
            </a:r>
            <a:r>
              <a:rPr lang="en" sz="2400" b="1" baseline="-25000">
                <a:solidFill>
                  <a:srgbClr val="0000FF"/>
                </a:solidFill>
                <a:latin typeface="Times New Roman"/>
                <a:ea typeface="Times New Roman"/>
                <a:cs typeface="Times New Roman"/>
                <a:sym typeface="Times New Roman"/>
              </a:rPr>
              <a:t>2</a:t>
            </a:r>
            <a:r>
              <a:rPr lang="en" sz="2400" b="1">
                <a:solidFill>
                  <a:srgbClr val="0000FF"/>
                </a:solidFill>
                <a:latin typeface="Times New Roman"/>
                <a:ea typeface="Times New Roman"/>
                <a:cs typeface="Times New Roman"/>
                <a:sym typeface="Times New Roman"/>
              </a:rPr>
              <a:t>)+low</a:t>
            </a:r>
            <a:r>
              <a:rPr lang="en" sz="2400" b="1" baseline="-25000">
                <a:solidFill>
                  <a:srgbClr val="0000FF"/>
                </a:solidFill>
                <a:latin typeface="Times New Roman"/>
                <a:ea typeface="Times New Roman"/>
                <a:cs typeface="Times New Roman"/>
                <a:sym typeface="Times New Roman"/>
              </a:rPr>
              <a:t>2</a:t>
            </a:r>
            <a:r>
              <a:rPr lang="en" sz="2400" b="1">
                <a:solidFill>
                  <a:srgbClr val="0000FF"/>
                </a:solidFill>
                <a:latin typeface="Times New Roman"/>
                <a:ea typeface="Times New Roman"/>
                <a:cs typeface="Times New Roman"/>
                <a:sym typeface="Times New Roman"/>
              </a:rPr>
              <a:t>)*w)</a:t>
            </a:r>
            <a:endParaRPr sz="2400" b="1">
              <a:solidFill>
                <a:srgbClr val="0000FF"/>
              </a:solidFill>
              <a:latin typeface="Times New Roman"/>
              <a:ea typeface="Times New Roman"/>
              <a:cs typeface="Times New Roman"/>
              <a:sym typeface="Times New Roman"/>
            </a:endParaRPr>
          </a:p>
          <a:p>
            <a:pPr marL="457200" lvl="0" indent="-381000" algn="l" rtl="0">
              <a:spcBef>
                <a:spcPts val="40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 Major issue is generating code for array references.</a:t>
            </a:r>
            <a:endParaRPr sz="2400">
              <a:solidFill>
                <a:schemeClr val="dk1"/>
              </a:solidFill>
              <a:latin typeface="Times New Roman"/>
              <a:ea typeface="Times New Roman"/>
              <a:cs typeface="Times New Roman"/>
              <a:sym typeface="Times New Roman"/>
            </a:endParaRPr>
          </a:p>
          <a:p>
            <a:pPr marL="114300" lvl="0" indent="-247650" algn="l" rtl="0">
              <a:spcBef>
                <a:spcPts val="400"/>
              </a:spcBef>
              <a:spcAft>
                <a:spcPts val="0"/>
              </a:spcAft>
              <a:buNone/>
            </a:pPr>
            <a:endParaRPr sz="2400">
              <a:solidFill>
                <a:schemeClr val="dk1"/>
              </a:solidFill>
              <a:latin typeface="Times New Roman"/>
              <a:ea typeface="Times New Roman"/>
              <a:cs typeface="Times New Roman"/>
              <a:sym typeface="Times New Roman"/>
            </a:endParaRPr>
          </a:p>
          <a:p>
            <a:pPr marL="114300" lvl="0" indent="-247650" algn="l" rtl="0">
              <a:spcBef>
                <a:spcPts val="400"/>
              </a:spcBef>
              <a:spcAft>
                <a:spcPts val="0"/>
              </a:spcAft>
              <a:buNone/>
            </a:pPr>
            <a:r>
              <a:rPr lang="en"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114300" lvl="0" indent="-247650" algn="l" rtl="0">
              <a:spcBef>
                <a:spcPts val="400"/>
              </a:spcBef>
              <a:spcAft>
                <a:spcPts val="0"/>
              </a:spcAft>
              <a:buNone/>
            </a:pPr>
            <a:r>
              <a:rPr lang="en"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114300" lvl="0" indent="-57150" algn="l" rtl="0">
              <a:spcBef>
                <a:spcPts val="400"/>
              </a:spcBef>
              <a:spcAft>
                <a:spcPts val="0"/>
              </a:spcAft>
              <a:buNone/>
            </a:pPr>
            <a:r>
              <a:rPr lang="en" sz="2400">
                <a:solidFill>
                  <a:schemeClr val="dk1"/>
                </a:solidFill>
                <a:latin typeface="Times New Roman"/>
                <a:ea typeface="Times New Roman"/>
                <a:cs typeface="Times New Roman"/>
                <a:sym typeface="Times New Roman"/>
              </a:rPr>
              <a:t>    </a:t>
            </a:r>
            <a:r>
              <a:rPr lang="en" sz="2400" baseline="-250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9"/>
          <p:cNvSpPr txBox="1"/>
          <p:nvPr/>
        </p:nvSpPr>
        <p:spPr>
          <a:xfrm>
            <a:off x="90425" y="10050"/>
            <a:ext cx="8981100" cy="507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latin typeface="Times New Roman"/>
                <a:ea typeface="Times New Roman"/>
                <a:cs typeface="Times New Roman"/>
                <a:sym typeface="Times New Roman"/>
              </a:rPr>
              <a:t>Grammar</a:t>
            </a:r>
            <a:endParaRPr sz="2400" dirty="0">
              <a:latin typeface="Times New Roman"/>
              <a:ea typeface="Times New Roman"/>
              <a:cs typeface="Times New Roman"/>
              <a:sym typeface="Times New Roman"/>
            </a:endParaRPr>
          </a:p>
          <a:p>
            <a:pPr marL="365760" lvl="0" indent="-256032" algn="l" rtl="0">
              <a:spcBef>
                <a:spcPts val="0"/>
              </a:spcBef>
              <a:spcAft>
                <a:spcPts val="0"/>
              </a:spcAft>
              <a:buClr>
                <a:schemeClr val="dk1"/>
              </a:buClr>
              <a:buSzPts val="1836"/>
              <a:buFont typeface="Arial"/>
              <a:buNone/>
            </a:pPr>
            <a:r>
              <a:rPr lang="en" sz="2400" dirty="0">
                <a:solidFill>
                  <a:schemeClr val="dk1"/>
                </a:solidFill>
                <a:latin typeface="Times New Roman"/>
                <a:ea typeface="Times New Roman"/>
                <a:cs typeface="Times New Roman"/>
                <a:sym typeface="Times New Roman"/>
              </a:rPr>
              <a:t>L -&gt; id [ Elist ] | id</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Elist -&gt; Elist,E | E</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Elist- Group of index expressions </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Rewriting the above grammar for simplicity as,</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L -&gt; [Elist ] | id</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Elist -&gt; Elist, E | id [ E</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Array name is attached to the leftmost index expression rather than being joined to Elist when an L is formed.</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dirty="0">
                <a:solidFill>
                  <a:schemeClr val="dk1"/>
                </a:solidFill>
                <a:latin typeface="Times New Roman"/>
                <a:ea typeface="Times New Roman"/>
                <a:cs typeface="Times New Roman"/>
                <a:sym typeface="Times New Roman"/>
              </a:rPr>
              <a:t>These productions allow a pointer symbol-table entry for the array name to be passed as a synthesized attribute array of Elist.</a:t>
            </a: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endParaRPr sz="2400" dirty="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Clr>
                <a:schemeClr val="dk1"/>
              </a:buClr>
              <a:buSzPts val="1836"/>
              <a:buFont typeface="Arial"/>
              <a:buNone/>
            </a:pPr>
            <a:endParaRPr sz="24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400" dirty="0">
              <a:latin typeface="Times New Roman"/>
              <a:ea typeface="Times New Roman"/>
              <a:cs typeface="Times New Roman"/>
              <a:sym typeface="Times New Roman"/>
            </a:endParaRPr>
          </a:p>
          <a:p>
            <a:pPr marL="0" lvl="0" indent="0" algn="l" rtl="0">
              <a:spcBef>
                <a:spcPts val="0"/>
              </a:spcBef>
              <a:spcAft>
                <a:spcPts val="0"/>
              </a:spcAft>
              <a:buNone/>
            </a:pPr>
            <a:endParaRPr sz="2400" dirty="0">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30"/>
          <p:cNvSpPr txBox="1"/>
          <p:nvPr/>
        </p:nvSpPr>
        <p:spPr>
          <a:xfrm>
            <a:off x="140650" y="60275"/>
            <a:ext cx="8940900" cy="503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rgbClr val="980000"/>
                </a:solidFill>
                <a:latin typeface="Times New Roman"/>
                <a:ea typeface="Times New Roman"/>
                <a:cs typeface="Times New Roman"/>
                <a:sym typeface="Times New Roman"/>
              </a:rPr>
              <a:t>Assignment Statements</a:t>
            </a:r>
            <a:endParaRPr sz="2400" b="1">
              <a:solidFill>
                <a:srgbClr val="980000"/>
              </a:solidFill>
              <a:latin typeface="Times New Roman"/>
              <a:ea typeface="Times New Roman"/>
              <a:cs typeface="Times New Roman"/>
              <a:sym typeface="Times New Roman"/>
            </a:endParaRPr>
          </a:p>
          <a:p>
            <a:pPr marL="0" lvl="0" indent="0" algn="l" rtl="0">
              <a:spcBef>
                <a:spcPts val="0"/>
              </a:spcBef>
              <a:spcAft>
                <a:spcPts val="0"/>
              </a:spcAft>
              <a:buNone/>
            </a:pPr>
            <a:r>
              <a:rPr lang="en" sz="2400">
                <a:latin typeface="Times New Roman"/>
                <a:ea typeface="Times New Roman"/>
                <a:cs typeface="Times New Roman"/>
                <a:sym typeface="Times New Roman"/>
              </a:rPr>
              <a:t>Translation scheme to produce three-address for assignments:</a:t>
            </a:r>
            <a:endParaRPr sz="2400">
              <a:latin typeface="Times New Roman"/>
              <a:ea typeface="Times New Roman"/>
              <a:cs typeface="Times New Roman"/>
              <a:sym typeface="Times New Roman"/>
            </a:endParaRPr>
          </a:p>
          <a:p>
            <a:pPr marL="0" lvl="0" indent="0" algn="l" rtl="0">
              <a:spcBef>
                <a:spcPts val="0"/>
              </a:spcBef>
              <a:spcAft>
                <a:spcPts val="0"/>
              </a:spcAft>
              <a:buNone/>
            </a:pPr>
            <a:endParaRPr sz="2400">
              <a:latin typeface="Times New Roman"/>
              <a:ea typeface="Times New Roman"/>
              <a:cs typeface="Times New Roman"/>
              <a:sym typeface="Times New Roman"/>
            </a:endParaRPr>
          </a:p>
        </p:txBody>
      </p:sp>
      <p:graphicFrame>
        <p:nvGraphicFramePr>
          <p:cNvPr id="157" name="Google Shape;157;p30"/>
          <p:cNvGraphicFramePr/>
          <p:nvPr/>
        </p:nvGraphicFramePr>
        <p:xfrm>
          <a:off x="758300" y="869825"/>
          <a:ext cx="7239000" cy="4389000"/>
        </p:xfrm>
        <a:graphic>
          <a:graphicData uri="http://schemas.openxmlformats.org/drawingml/2006/table">
            <a:tbl>
              <a:tblPr>
                <a:noFill/>
                <a:tableStyleId>{E45C88B7-2F03-4263-B044-BB84167B48E1}</a:tableStyleId>
              </a:tblPr>
              <a:tblGrid>
                <a:gridCol w="1700725">
                  <a:extLst>
                    <a:ext uri="{9D8B030D-6E8A-4147-A177-3AD203B41FA5}">
                      <a16:colId xmlns:a16="http://schemas.microsoft.com/office/drawing/2014/main" val="20000"/>
                    </a:ext>
                  </a:extLst>
                </a:gridCol>
                <a:gridCol w="5538275">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E-&gt;E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*E</a:t>
                      </a:r>
                      <a:r>
                        <a:rPr lang="en" sz="2400" baseline="-25000">
                          <a:solidFill>
                            <a:schemeClr val="dk1"/>
                          </a:solidFill>
                          <a:latin typeface="Times New Roman"/>
                          <a:ea typeface="Times New Roman"/>
                          <a:cs typeface="Times New Roman"/>
                          <a:sym typeface="Times New Roman"/>
                        </a:rPr>
                        <a:t>2</a:t>
                      </a:r>
                      <a:endParaRPr sz="240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{E.place:=new temp</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emit(E.place’:=’ 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.Place ‘*’ E</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.Place)}</a:t>
                      </a:r>
                      <a:endParaRPr sz="24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2400">
                          <a:latin typeface="Times New Roman"/>
                          <a:ea typeface="Times New Roman"/>
                          <a:cs typeface="Times New Roman"/>
                          <a:sym typeface="Times New Roman"/>
                        </a:rPr>
                        <a:t>E-&gt;-</a:t>
                      </a:r>
                      <a:r>
                        <a:rPr lang="en" sz="2400">
                          <a:solidFill>
                            <a:schemeClr val="dk1"/>
                          </a:solidFill>
                          <a:latin typeface="Times New Roman"/>
                          <a:ea typeface="Times New Roman"/>
                          <a:cs typeface="Times New Roman"/>
                          <a:sym typeface="Times New Roman"/>
                        </a:rPr>
                        <a:t>E</a:t>
                      </a:r>
                      <a:r>
                        <a:rPr lang="en" sz="2400" baseline="-25000">
                          <a:solidFill>
                            <a:schemeClr val="dk1"/>
                          </a:solidFill>
                          <a:latin typeface="Times New Roman"/>
                          <a:ea typeface="Times New Roman"/>
                          <a:cs typeface="Times New Roman"/>
                          <a:sym typeface="Times New Roman"/>
                        </a:rPr>
                        <a:t>1</a:t>
                      </a:r>
                      <a:endParaRPr sz="240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{E.place:=new temp</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emit(E.place’:=’ ‘uminus’E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.Place)}</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2400">
                          <a:latin typeface="Times New Roman"/>
                          <a:ea typeface="Times New Roman"/>
                          <a:cs typeface="Times New Roman"/>
                          <a:sym typeface="Times New Roman"/>
                        </a:rPr>
                        <a:t>E-&gt;</a:t>
                      </a:r>
                      <a:r>
                        <a:rPr lang="en" sz="2400">
                          <a:solidFill>
                            <a:schemeClr val="dk1"/>
                          </a:solidFill>
                          <a:latin typeface="Times New Roman"/>
                          <a:ea typeface="Times New Roman"/>
                          <a:cs typeface="Times New Roman"/>
                          <a:sym typeface="Times New Roman"/>
                        </a:rPr>
                        <a:t>(E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sz="2400">
                          <a:latin typeface="Times New Roman"/>
                          <a:ea typeface="Times New Roman"/>
                          <a:cs typeface="Times New Roman"/>
                          <a:sym typeface="Times New Roman"/>
                        </a:rPr>
                        <a:t>{</a:t>
                      </a:r>
                      <a:r>
                        <a:rPr lang="en" sz="2400">
                          <a:solidFill>
                            <a:schemeClr val="dk1"/>
                          </a:solidFill>
                          <a:latin typeface="Times New Roman"/>
                          <a:ea typeface="Times New Roman"/>
                          <a:cs typeface="Times New Roman"/>
                          <a:sym typeface="Times New Roman"/>
                        </a:rPr>
                        <a:t>E.place:=E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.Place }</a:t>
                      </a:r>
                      <a:endParaRPr sz="24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2400">
                          <a:latin typeface="Times New Roman"/>
                          <a:ea typeface="Times New Roman"/>
                          <a:cs typeface="Times New Roman"/>
                          <a:sym typeface="Times New Roman"/>
                        </a:rPr>
                        <a:t>E-&gt;id</a:t>
                      </a:r>
                      <a:endParaRPr sz="240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sz="2400">
                          <a:latin typeface="Times New Roman"/>
                          <a:ea typeface="Times New Roman"/>
                          <a:cs typeface="Times New Roman"/>
                          <a:sym typeface="Times New Roman"/>
                        </a:rPr>
                        <a:t>{p:=lookup(id.name);</a:t>
                      </a:r>
                      <a:endParaRPr sz="2400">
                        <a:latin typeface="Times New Roman"/>
                        <a:ea typeface="Times New Roman"/>
                        <a:cs typeface="Times New Roman"/>
                        <a:sym typeface="Times New Roman"/>
                      </a:endParaRPr>
                    </a:p>
                    <a:p>
                      <a:pPr marL="0" lvl="0" indent="0" algn="l" rtl="0">
                        <a:spcBef>
                          <a:spcPts val="0"/>
                        </a:spcBef>
                        <a:spcAft>
                          <a:spcPts val="0"/>
                        </a:spcAft>
                        <a:buNone/>
                      </a:pPr>
                      <a:r>
                        <a:rPr lang="en" sz="2400">
                          <a:latin typeface="Times New Roman"/>
                          <a:ea typeface="Times New Roman"/>
                          <a:cs typeface="Times New Roman"/>
                          <a:sym typeface="Times New Roman"/>
                        </a:rPr>
                        <a:t>If p</a:t>
                      </a:r>
                      <a:r>
                        <a:rPr lang="en" sz="2400">
                          <a:solidFill>
                            <a:schemeClr val="dk1"/>
                          </a:solidFill>
                          <a:latin typeface="Times New Roman"/>
                          <a:ea typeface="Times New Roman"/>
                          <a:cs typeface="Times New Roman"/>
                          <a:sym typeface="Times New Roman"/>
                        </a:rPr>
                        <a:t>≠ nil then</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latin typeface="Times New Roman"/>
                          <a:ea typeface="Times New Roman"/>
                          <a:cs typeface="Times New Roman"/>
                          <a:sym typeface="Times New Roman"/>
                        </a:rPr>
                        <a:t>E.place:=p</a:t>
                      </a:r>
                      <a:endParaRPr sz="2400">
                        <a:latin typeface="Times New Roman"/>
                        <a:ea typeface="Times New Roman"/>
                        <a:cs typeface="Times New Roman"/>
                        <a:sym typeface="Times New Roman"/>
                      </a:endParaRPr>
                    </a:p>
                    <a:p>
                      <a:pPr marL="0" lvl="0" indent="0" algn="l" rtl="0">
                        <a:spcBef>
                          <a:spcPts val="0"/>
                        </a:spcBef>
                        <a:spcAft>
                          <a:spcPts val="0"/>
                        </a:spcAft>
                        <a:buNone/>
                      </a:pPr>
                      <a:r>
                        <a:rPr lang="en" sz="2400">
                          <a:latin typeface="Times New Roman"/>
                          <a:ea typeface="Times New Roman"/>
                          <a:cs typeface="Times New Roman"/>
                          <a:sym typeface="Times New Roman"/>
                        </a:rPr>
                        <a:t>Else error}</a:t>
                      </a:r>
                      <a:endParaRPr sz="24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1"/>
          <p:cNvSpPr txBox="1"/>
          <p:nvPr/>
        </p:nvSpPr>
        <p:spPr>
          <a:xfrm>
            <a:off x="50250" y="0"/>
            <a:ext cx="9043500" cy="32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rgbClr val="FF0000"/>
                </a:solidFill>
                <a:latin typeface="Times New Roman"/>
                <a:ea typeface="Times New Roman"/>
                <a:cs typeface="Times New Roman"/>
                <a:sym typeface="Times New Roman"/>
              </a:rPr>
              <a:t>Type Conversions within Assignments</a:t>
            </a:r>
            <a:endParaRPr sz="2400" b="1">
              <a:solidFill>
                <a:srgbClr val="FF0000"/>
              </a:solidFill>
              <a:latin typeface="Times New Roman"/>
              <a:ea typeface="Times New Roman"/>
              <a:cs typeface="Times New Roman"/>
              <a:sym typeface="Times New Roman"/>
            </a:endParaRPr>
          </a:p>
          <a:p>
            <a:pPr marL="0" lvl="0" indent="0" algn="l" rtl="0">
              <a:spcBef>
                <a:spcPts val="0"/>
              </a:spcBef>
              <a:spcAft>
                <a:spcPts val="0"/>
              </a:spcAft>
              <a:buNone/>
            </a:pPr>
            <a:endParaRPr sz="2400" b="1">
              <a:solidFill>
                <a:srgbClr val="FF0000"/>
              </a:solidFill>
              <a:latin typeface="Times New Roman"/>
              <a:ea typeface="Times New Roman"/>
              <a:cs typeface="Times New Roman"/>
              <a:sym typeface="Times New Roman"/>
            </a:endParaRPr>
          </a:p>
        </p:txBody>
      </p:sp>
      <p:graphicFrame>
        <p:nvGraphicFramePr>
          <p:cNvPr id="163" name="Google Shape;163;p31"/>
          <p:cNvGraphicFramePr/>
          <p:nvPr/>
        </p:nvGraphicFramePr>
        <p:xfrm>
          <a:off x="148825" y="494450"/>
          <a:ext cx="8720775" cy="4937730"/>
        </p:xfrm>
        <a:graphic>
          <a:graphicData uri="http://schemas.openxmlformats.org/drawingml/2006/table">
            <a:tbl>
              <a:tblPr>
                <a:noFill/>
                <a:tableStyleId>{E45C88B7-2F03-4263-B044-BB84167B48E1}</a:tableStyleId>
              </a:tblPr>
              <a:tblGrid>
                <a:gridCol w="1697900">
                  <a:extLst>
                    <a:ext uri="{9D8B030D-6E8A-4147-A177-3AD203B41FA5}">
                      <a16:colId xmlns:a16="http://schemas.microsoft.com/office/drawing/2014/main" val="20000"/>
                    </a:ext>
                  </a:extLst>
                </a:gridCol>
                <a:gridCol w="7022875">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E-&gt;E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+E</a:t>
                      </a:r>
                      <a:r>
                        <a:rPr lang="en" sz="2400" baseline="-25000">
                          <a:solidFill>
                            <a:schemeClr val="dk1"/>
                          </a:solidFill>
                          <a:latin typeface="Times New Roman"/>
                          <a:ea typeface="Times New Roman"/>
                          <a:cs typeface="Times New Roman"/>
                          <a:sym typeface="Times New Roman"/>
                        </a:rPr>
                        <a:t>2</a:t>
                      </a:r>
                      <a:endParaRPr sz="240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sz="2400">
                          <a:latin typeface="Times New Roman"/>
                          <a:ea typeface="Times New Roman"/>
                          <a:cs typeface="Times New Roman"/>
                          <a:sym typeface="Times New Roman"/>
                        </a:rPr>
                        <a:t>E.place:=newtemp;</a:t>
                      </a:r>
                      <a:endParaRPr sz="2400">
                        <a:latin typeface="Times New Roman"/>
                        <a:ea typeface="Times New Roman"/>
                        <a:cs typeface="Times New Roman"/>
                        <a:sym typeface="Times New Roman"/>
                      </a:endParaRPr>
                    </a:p>
                    <a:p>
                      <a:pPr marL="0" lvl="0" indent="0" algn="l" rtl="0">
                        <a:spcBef>
                          <a:spcPts val="0"/>
                        </a:spcBef>
                        <a:spcAft>
                          <a:spcPts val="0"/>
                        </a:spcAft>
                        <a:buNone/>
                      </a:pPr>
                      <a:r>
                        <a:rPr lang="en" sz="2400">
                          <a:latin typeface="Times New Roman"/>
                          <a:ea typeface="Times New Roman"/>
                          <a:cs typeface="Times New Roman"/>
                          <a:sym typeface="Times New Roman"/>
                        </a:rPr>
                        <a:t>if </a:t>
                      </a:r>
                      <a:r>
                        <a:rPr lang="en" sz="2400">
                          <a:solidFill>
                            <a:schemeClr val="dk1"/>
                          </a:solidFill>
                          <a:latin typeface="Times New Roman"/>
                          <a:ea typeface="Times New Roman"/>
                          <a:cs typeface="Times New Roman"/>
                          <a:sym typeface="Times New Roman"/>
                        </a:rPr>
                        <a:t>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.type=integer and E</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.type=integer then begin</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emit(E.place’:=’ 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.Place ‘int +’ E</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.Place);</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E.type:=integer</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end</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else if 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.type=real and E</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.type=real then begin</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emit(E.place’:=’ 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.Place ‘real  +’ E</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.Place);</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E.type:=real</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end</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else if 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.type=integer and E</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.type=real then begin</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U:=newtemp;</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emit(U ‘:=’ ‘intoreal’ 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.Place  );</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4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2"/>
          <p:cNvSpPr txBox="1"/>
          <p:nvPr/>
        </p:nvSpPr>
        <p:spPr>
          <a:xfrm>
            <a:off x="50250" y="0"/>
            <a:ext cx="9043500" cy="32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rgbClr val="FF0000"/>
                </a:solidFill>
                <a:latin typeface="Times New Roman"/>
                <a:ea typeface="Times New Roman"/>
                <a:cs typeface="Times New Roman"/>
                <a:sym typeface="Times New Roman"/>
              </a:rPr>
              <a:t>Type Conversions within Assignments</a:t>
            </a:r>
            <a:endParaRPr sz="2400" b="1">
              <a:solidFill>
                <a:srgbClr val="FF0000"/>
              </a:solidFill>
              <a:latin typeface="Times New Roman"/>
              <a:ea typeface="Times New Roman"/>
              <a:cs typeface="Times New Roman"/>
              <a:sym typeface="Times New Roman"/>
            </a:endParaRPr>
          </a:p>
          <a:p>
            <a:pPr marL="0" lvl="0" indent="0" algn="l" rtl="0">
              <a:spcBef>
                <a:spcPts val="0"/>
              </a:spcBef>
              <a:spcAft>
                <a:spcPts val="0"/>
              </a:spcAft>
              <a:buNone/>
            </a:pPr>
            <a:endParaRPr sz="2400" b="1">
              <a:solidFill>
                <a:srgbClr val="FF0000"/>
              </a:solidFill>
              <a:latin typeface="Times New Roman"/>
              <a:ea typeface="Times New Roman"/>
              <a:cs typeface="Times New Roman"/>
              <a:sym typeface="Times New Roman"/>
            </a:endParaRPr>
          </a:p>
        </p:txBody>
      </p:sp>
      <p:graphicFrame>
        <p:nvGraphicFramePr>
          <p:cNvPr id="169" name="Google Shape;169;p32"/>
          <p:cNvGraphicFramePr/>
          <p:nvPr/>
        </p:nvGraphicFramePr>
        <p:xfrm>
          <a:off x="158850" y="584850"/>
          <a:ext cx="8720775" cy="4206210"/>
        </p:xfrm>
        <a:graphic>
          <a:graphicData uri="http://schemas.openxmlformats.org/drawingml/2006/table">
            <a:tbl>
              <a:tblPr>
                <a:noFill/>
                <a:tableStyleId>{E45C88B7-2F03-4263-B044-BB84167B48E1}</a:tableStyleId>
              </a:tblPr>
              <a:tblGrid>
                <a:gridCol w="1697900">
                  <a:extLst>
                    <a:ext uri="{9D8B030D-6E8A-4147-A177-3AD203B41FA5}">
                      <a16:colId xmlns:a16="http://schemas.microsoft.com/office/drawing/2014/main" val="20000"/>
                    </a:ext>
                  </a:extLst>
                </a:gridCol>
                <a:gridCol w="7022875">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E-&gt;E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+E</a:t>
                      </a:r>
                      <a:r>
                        <a:rPr lang="en" sz="2400" baseline="-25000">
                          <a:solidFill>
                            <a:schemeClr val="dk1"/>
                          </a:solidFill>
                          <a:latin typeface="Times New Roman"/>
                          <a:ea typeface="Times New Roman"/>
                          <a:cs typeface="Times New Roman"/>
                          <a:sym typeface="Times New Roman"/>
                        </a:rPr>
                        <a:t>2</a:t>
                      </a:r>
                      <a:endParaRPr sz="240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emit(E.place ‘:=’ U ‘real +’ E</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.place);</a:t>
                      </a:r>
                      <a:endParaRPr sz="2400">
                        <a:latin typeface="Times New Roman"/>
                        <a:ea typeface="Times New Roman"/>
                        <a:cs typeface="Times New Roman"/>
                        <a:sym typeface="Times New Roman"/>
                      </a:endParaRPr>
                    </a:p>
                    <a:p>
                      <a:pPr marL="0" lvl="0" indent="0" algn="l" rtl="0">
                        <a:spcBef>
                          <a:spcPts val="0"/>
                        </a:spcBef>
                        <a:spcAft>
                          <a:spcPts val="0"/>
                        </a:spcAft>
                        <a:buNone/>
                      </a:pPr>
                      <a:r>
                        <a:rPr lang="en" sz="2400">
                          <a:latin typeface="Times New Roman"/>
                          <a:ea typeface="Times New Roman"/>
                          <a:cs typeface="Times New Roman"/>
                          <a:sym typeface="Times New Roman"/>
                        </a:rPr>
                        <a:t>E.type:=real</a:t>
                      </a:r>
                      <a:endParaRPr sz="2400">
                        <a:latin typeface="Times New Roman"/>
                        <a:ea typeface="Times New Roman"/>
                        <a:cs typeface="Times New Roman"/>
                        <a:sym typeface="Times New Roman"/>
                      </a:endParaRPr>
                    </a:p>
                    <a:p>
                      <a:pPr marL="0" lvl="0" indent="0" algn="l" rtl="0">
                        <a:spcBef>
                          <a:spcPts val="0"/>
                        </a:spcBef>
                        <a:spcAft>
                          <a:spcPts val="0"/>
                        </a:spcAft>
                        <a:buNone/>
                      </a:pPr>
                      <a:r>
                        <a:rPr lang="en" sz="2400">
                          <a:latin typeface="Times New Roman"/>
                          <a:ea typeface="Times New Roman"/>
                          <a:cs typeface="Times New Roman"/>
                          <a:sym typeface="Times New Roman"/>
                        </a:rPr>
                        <a:t>end</a:t>
                      </a:r>
                      <a:endParaRPr sz="2400">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else if 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.type=real and E</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.type=integer then begin</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U:=newtemp;</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emit(U ‘:=’ ‘intoreal’  E</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.place);</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emit(E.place ‘:=’ 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.place  ‘real +’ U);</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E.type:=real</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end</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latin typeface="Times New Roman"/>
                          <a:ea typeface="Times New Roman"/>
                          <a:cs typeface="Times New Roman"/>
                          <a:sym typeface="Times New Roman"/>
                        </a:rPr>
                        <a:t>else</a:t>
                      </a:r>
                      <a:endParaRPr sz="2400">
                        <a:latin typeface="Times New Roman"/>
                        <a:ea typeface="Times New Roman"/>
                        <a:cs typeface="Times New Roman"/>
                        <a:sym typeface="Times New Roman"/>
                      </a:endParaRPr>
                    </a:p>
                    <a:p>
                      <a:pPr marL="0" lvl="0" indent="0" algn="l" rtl="0">
                        <a:spcBef>
                          <a:spcPts val="0"/>
                        </a:spcBef>
                        <a:spcAft>
                          <a:spcPts val="0"/>
                        </a:spcAft>
                        <a:buNone/>
                      </a:pPr>
                      <a:r>
                        <a:rPr lang="en" sz="2400">
                          <a:latin typeface="Times New Roman"/>
                          <a:ea typeface="Times New Roman"/>
                          <a:cs typeface="Times New Roman"/>
                          <a:sym typeface="Times New Roman"/>
                        </a:rPr>
                        <a:t>E.type:=type_error;</a:t>
                      </a:r>
                      <a:endParaRPr sz="24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3"/>
          <p:cNvSpPr txBox="1"/>
          <p:nvPr/>
        </p:nvSpPr>
        <p:spPr>
          <a:xfrm>
            <a:off x="100450" y="70325"/>
            <a:ext cx="8991000" cy="4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rgbClr val="FF0000"/>
                </a:solidFill>
                <a:latin typeface="Times New Roman"/>
                <a:ea typeface="Times New Roman"/>
                <a:cs typeface="Times New Roman"/>
                <a:sym typeface="Times New Roman"/>
              </a:rPr>
              <a:t>Boolean Expression</a:t>
            </a:r>
            <a:endParaRPr sz="2400" b="1">
              <a:solidFill>
                <a:srgbClr val="FF0000"/>
              </a:solidFill>
              <a:latin typeface="Times New Roman"/>
              <a:ea typeface="Times New Roman"/>
              <a:cs typeface="Times New Roman"/>
              <a:sym typeface="Times New Roman"/>
            </a:endParaRPr>
          </a:p>
        </p:txBody>
      </p:sp>
      <p:graphicFrame>
        <p:nvGraphicFramePr>
          <p:cNvPr id="175" name="Google Shape;175;p33"/>
          <p:cNvGraphicFramePr/>
          <p:nvPr/>
        </p:nvGraphicFramePr>
        <p:xfrm>
          <a:off x="221000" y="655225"/>
          <a:ext cx="8605250" cy="3505080"/>
        </p:xfrm>
        <a:graphic>
          <a:graphicData uri="http://schemas.openxmlformats.org/drawingml/2006/table">
            <a:tbl>
              <a:tblPr>
                <a:noFill/>
                <a:tableStyleId>{E45C88B7-2F03-4263-B044-BB84167B48E1}</a:tableStyleId>
              </a:tblPr>
              <a:tblGrid>
                <a:gridCol w="1951900">
                  <a:extLst>
                    <a:ext uri="{9D8B030D-6E8A-4147-A177-3AD203B41FA5}">
                      <a16:colId xmlns:a16="http://schemas.microsoft.com/office/drawing/2014/main" val="20000"/>
                    </a:ext>
                  </a:extLst>
                </a:gridCol>
                <a:gridCol w="665335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E-&gt;E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or E</a:t>
                      </a:r>
                      <a:r>
                        <a:rPr lang="en" sz="2400" baseline="-25000">
                          <a:solidFill>
                            <a:schemeClr val="dk1"/>
                          </a:solidFill>
                          <a:latin typeface="Times New Roman"/>
                          <a:ea typeface="Times New Roman"/>
                          <a:cs typeface="Times New Roman"/>
                          <a:sym typeface="Times New Roman"/>
                        </a:rPr>
                        <a:t>2</a:t>
                      </a: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{E.place:=new temp</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emit(E.place’:=’ 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.Place ‘or’ E</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.Place)}</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E-&gt;E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and E</a:t>
                      </a:r>
                      <a:r>
                        <a:rPr lang="en" sz="2400" baseline="-25000">
                          <a:solidFill>
                            <a:schemeClr val="dk1"/>
                          </a:solidFill>
                          <a:latin typeface="Times New Roman"/>
                          <a:ea typeface="Times New Roman"/>
                          <a:cs typeface="Times New Roman"/>
                          <a:sym typeface="Times New Roman"/>
                        </a:rPr>
                        <a:t>2</a:t>
                      </a: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{E.place:=new temp</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emit(E.place’:=’ 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.Place ‘and’ E</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.Place)}</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E-&gt;not E</a:t>
                      </a:r>
                      <a:r>
                        <a:rPr lang="en" sz="2400" baseline="-25000">
                          <a:solidFill>
                            <a:schemeClr val="dk1"/>
                          </a:solidFill>
                          <a:latin typeface="Times New Roman"/>
                          <a:ea typeface="Times New Roman"/>
                          <a:cs typeface="Times New Roman"/>
                          <a:sym typeface="Times New Roman"/>
                        </a:rPr>
                        <a:t>1</a:t>
                      </a:r>
                      <a:endParaRPr/>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{E.place:=new temp</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emit(E.place’:=’ ‘not’ 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.Place )}</a:t>
                      </a:r>
                      <a:endParaRPr>
                        <a:solidFill>
                          <a:schemeClr val="dk1"/>
                        </a:solidFill>
                      </a:endParaRPr>
                    </a:p>
                    <a:p>
                      <a:pPr marL="0" lvl="0" indent="0" algn="l" rtl="0">
                        <a:spcBef>
                          <a:spcPts val="0"/>
                        </a:spcBef>
                        <a:spcAft>
                          <a:spcPts val="0"/>
                        </a:spcAft>
                        <a:buNone/>
                      </a:pPr>
                      <a:endParaRPr/>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2400">
                          <a:latin typeface="Times New Roman"/>
                          <a:ea typeface="Times New Roman"/>
                          <a:cs typeface="Times New Roman"/>
                          <a:sym typeface="Times New Roman"/>
                        </a:rPr>
                        <a:t>E-&gt;</a:t>
                      </a:r>
                      <a:r>
                        <a:rPr lang="en" sz="2400">
                          <a:solidFill>
                            <a:schemeClr val="dk1"/>
                          </a:solidFill>
                          <a:latin typeface="Times New Roman"/>
                          <a:ea typeface="Times New Roman"/>
                          <a:cs typeface="Times New Roman"/>
                          <a:sym typeface="Times New Roman"/>
                        </a:rPr>
                        <a:t>(E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latin typeface="Times New Roman"/>
                          <a:ea typeface="Times New Roman"/>
                          <a:cs typeface="Times New Roman"/>
                          <a:sym typeface="Times New Roman"/>
                        </a:rPr>
                        <a:t>{</a:t>
                      </a:r>
                      <a:r>
                        <a:rPr lang="en" sz="2400">
                          <a:solidFill>
                            <a:schemeClr val="dk1"/>
                          </a:solidFill>
                          <a:latin typeface="Times New Roman"/>
                          <a:ea typeface="Times New Roman"/>
                          <a:cs typeface="Times New Roman"/>
                          <a:sym typeface="Times New Roman"/>
                        </a:rPr>
                        <a:t>E.place:=E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.Place }</a:t>
                      </a:r>
                      <a:endParaRPr sz="2400">
                        <a:latin typeface="Times New Roman"/>
                        <a:ea typeface="Times New Roman"/>
                        <a:cs typeface="Times New Roman"/>
                        <a:sym typeface="Times New Roman"/>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graphicFrame>
        <p:nvGraphicFramePr>
          <p:cNvPr id="180" name="Google Shape;180;p34"/>
          <p:cNvGraphicFramePr/>
          <p:nvPr/>
        </p:nvGraphicFramePr>
        <p:xfrm>
          <a:off x="199050" y="221400"/>
          <a:ext cx="8750900" cy="4206150"/>
        </p:xfrm>
        <a:graphic>
          <a:graphicData uri="http://schemas.openxmlformats.org/drawingml/2006/table">
            <a:tbl>
              <a:tblPr>
                <a:noFill/>
                <a:tableStyleId>{E45C88B7-2F03-4263-B044-BB84167B48E1}</a:tableStyleId>
              </a:tblPr>
              <a:tblGrid>
                <a:gridCol w="2238875">
                  <a:extLst>
                    <a:ext uri="{9D8B030D-6E8A-4147-A177-3AD203B41FA5}">
                      <a16:colId xmlns:a16="http://schemas.microsoft.com/office/drawing/2014/main" val="20000"/>
                    </a:ext>
                  </a:extLst>
                </a:gridCol>
                <a:gridCol w="6512025">
                  <a:extLst>
                    <a:ext uri="{9D8B030D-6E8A-4147-A177-3AD203B41FA5}">
                      <a16:colId xmlns:a16="http://schemas.microsoft.com/office/drawing/2014/main" val="20001"/>
                    </a:ext>
                  </a:extLst>
                </a:gridCol>
              </a:tblGrid>
              <a:tr h="396200">
                <a:tc>
                  <a:txBody>
                    <a:bodyPr/>
                    <a:lstStyle/>
                    <a:p>
                      <a:pPr marL="0" lvl="0" indent="0" algn="l" rtl="0">
                        <a:spcBef>
                          <a:spcPts val="0"/>
                        </a:spcBef>
                        <a:spcAft>
                          <a:spcPts val="0"/>
                        </a:spcAft>
                        <a:buNone/>
                      </a:pPr>
                      <a:r>
                        <a:rPr lang="en" sz="2400">
                          <a:latin typeface="Times New Roman"/>
                          <a:ea typeface="Times New Roman"/>
                          <a:cs typeface="Times New Roman"/>
                          <a:sym typeface="Times New Roman"/>
                        </a:rPr>
                        <a:t>E-&gt;</a:t>
                      </a:r>
                      <a:r>
                        <a:rPr lang="en" sz="2400">
                          <a:solidFill>
                            <a:schemeClr val="dk1"/>
                          </a:solidFill>
                          <a:latin typeface="Times New Roman"/>
                          <a:ea typeface="Times New Roman"/>
                          <a:cs typeface="Times New Roman"/>
                          <a:sym typeface="Times New Roman"/>
                        </a:rPr>
                        <a:t>id</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 relop id</a:t>
                      </a:r>
                      <a:r>
                        <a:rPr lang="en" sz="2400" baseline="-25000">
                          <a:solidFill>
                            <a:schemeClr val="dk1"/>
                          </a:solidFill>
                          <a:latin typeface="Times New Roman"/>
                          <a:ea typeface="Times New Roman"/>
                          <a:cs typeface="Times New Roman"/>
                          <a:sym typeface="Times New Roman"/>
                        </a:rPr>
                        <a:t>2</a:t>
                      </a:r>
                      <a:endParaRPr sz="2400" baseline="-25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40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sz="2400">
                          <a:latin typeface="Times New Roman"/>
                          <a:ea typeface="Times New Roman"/>
                          <a:cs typeface="Times New Roman"/>
                          <a:sym typeface="Times New Roman"/>
                        </a:rPr>
                        <a:t>{E.place:=newtemp;</a:t>
                      </a:r>
                      <a:endParaRPr sz="2400">
                        <a:latin typeface="Times New Roman"/>
                        <a:ea typeface="Times New Roman"/>
                        <a:cs typeface="Times New Roman"/>
                        <a:sym typeface="Times New Roman"/>
                      </a:endParaRPr>
                    </a:p>
                    <a:p>
                      <a:pPr marL="0" lvl="0" indent="0" algn="l" rtl="0">
                        <a:spcBef>
                          <a:spcPts val="0"/>
                        </a:spcBef>
                        <a:spcAft>
                          <a:spcPts val="0"/>
                        </a:spcAft>
                        <a:buNone/>
                      </a:pPr>
                      <a:r>
                        <a:rPr lang="en" sz="2400">
                          <a:latin typeface="Times New Roman"/>
                          <a:ea typeface="Times New Roman"/>
                          <a:cs typeface="Times New Roman"/>
                          <a:sym typeface="Times New Roman"/>
                        </a:rPr>
                        <a:t>emit(‘if’ </a:t>
                      </a:r>
                      <a:r>
                        <a:rPr lang="en" sz="2400">
                          <a:solidFill>
                            <a:schemeClr val="dk1"/>
                          </a:solidFill>
                          <a:latin typeface="Times New Roman"/>
                          <a:ea typeface="Times New Roman"/>
                          <a:cs typeface="Times New Roman"/>
                          <a:sym typeface="Times New Roman"/>
                        </a:rPr>
                        <a:t>id</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.place relop id</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.place ‘goto’ nextstat+3);</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emit(E.place ‘:=’ ‘0’);</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emit(‘goto’ nextstat+2);</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emit(E.place ‘:=’ ‘1’);</a:t>
                      </a:r>
                      <a:endParaRPr sz="24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396200">
                <a:tc>
                  <a:txBody>
                    <a:bodyPr/>
                    <a:lstStyle/>
                    <a:p>
                      <a:pPr marL="0" lvl="0" indent="0" algn="l" rtl="0">
                        <a:spcBef>
                          <a:spcPts val="0"/>
                        </a:spcBef>
                        <a:spcAft>
                          <a:spcPts val="0"/>
                        </a:spcAft>
                        <a:buNone/>
                      </a:pPr>
                      <a:r>
                        <a:rPr lang="en" sz="2400">
                          <a:latin typeface="Times New Roman"/>
                          <a:ea typeface="Times New Roman"/>
                          <a:cs typeface="Times New Roman"/>
                          <a:sym typeface="Times New Roman"/>
                        </a:rPr>
                        <a:t>E-&gt;true</a:t>
                      </a:r>
                      <a:endParaRPr sz="240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{E.place:=newtemp;</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emit(E.place ’:=’ ‘1’)}</a:t>
                      </a:r>
                      <a:endParaRPr sz="24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96200">
                <a:tc>
                  <a:txBody>
                    <a:bodyPr/>
                    <a:lstStyle/>
                    <a:p>
                      <a:pPr marL="0" lvl="0" indent="0" algn="l" rtl="0">
                        <a:spcBef>
                          <a:spcPts val="0"/>
                        </a:spcBef>
                        <a:spcAft>
                          <a:spcPts val="0"/>
                        </a:spcAft>
                        <a:buNone/>
                      </a:pPr>
                      <a:r>
                        <a:rPr lang="en" sz="2400">
                          <a:latin typeface="Times New Roman"/>
                          <a:ea typeface="Times New Roman"/>
                          <a:cs typeface="Times New Roman"/>
                          <a:sym typeface="Times New Roman"/>
                        </a:rPr>
                        <a:t>E-&gt;false</a:t>
                      </a:r>
                      <a:endParaRPr sz="2400">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{E.place:=newtemp;</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emit(E.place ’:=’ ‘0’)}</a:t>
                      </a:r>
                      <a:endParaRPr sz="24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5"/>
          <p:cNvSpPr txBox="1"/>
          <p:nvPr/>
        </p:nvSpPr>
        <p:spPr>
          <a:xfrm>
            <a:off x="60275" y="0"/>
            <a:ext cx="8920800" cy="492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latin typeface="Times New Roman"/>
                <a:ea typeface="Times New Roman"/>
                <a:cs typeface="Times New Roman"/>
                <a:sym typeface="Times New Roman"/>
              </a:rPr>
              <a:t>Example</a:t>
            </a:r>
            <a:endParaRPr sz="2400" b="1">
              <a:latin typeface="Times New Roman"/>
              <a:ea typeface="Times New Roman"/>
              <a:cs typeface="Times New Roman"/>
              <a:sym typeface="Times New Roman"/>
            </a:endParaRPr>
          </a:p>
          <a:p>
            <a:pPr marL="0" lvl="0" indent="0" algn="l" rtl="0">
              <a:spcBef>
                <a:spcPts val="0"/>
              </a:spcBef>
              <a:spcAft>
                <a:spcPts val="0"/>
              </a:spcAft>
              <a:buNone/>
            </a:pPr>
            <a:r>
              <a:rPr lang="en" sz="2400">
                <a:latin typeface="Times New Roman"/>
                <a:ea typeface="Times New Roman"/>
                <a:cs typeface="Times New Roman"/>
                <a:sym typeface="Times New Roman"/>
              </a:rPr>
              <a:t> a or b and not c</a:t>
            </a:r>
            <a:endParaRPr sz="2400">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2400" b="1">
                <a:solidFill>
                  <a:schemeClr val="dk1"/>
                </a:solidFill>
                <a:latin typeface="Times New Roman"/>
                <a:ea typeface="Times New Roman"/>
                <a:cs typeface="Times New Roman"/>
                <a:sym typeface="Times New Roman"/>
              </a:rPr>
              <a:t>Three-address code</a:t>
            </a:r>
            <a:endParaRPr sz="2400" b="1">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t</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 not c</a:t>
            </a:r>
            <a:endParaRPr sz="24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t</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:=b and t</a:t>
            </a:r>
            <a:r>
              <a:rPr lang="en" sz="2400" baseline="-25000">
                <a:solidFill>
                  <a:schemeClr val="dk1"/>
                </a:solidFill>
                <a:latin typeface="Times New Roman"/>
                <a:ea typeface="Times New Roman"/>
                <a:cs typeface="Times New Roman"/>
                <a:sym typeface="Times New Roman"/>
              </a:rPr>
              <a:t>1</a:t>
            </a:r>
            <a:endParaRPr sz="2400" baseline="-25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t</a:t>
            </a:r>
            <a:r>
              <a:rPr lang="en" sz="2400" baseline="-25000">
                <a:solidFill>
                  <a:schemeClr val="dk1"/>
                </a:solidFill>
                <a:latin typeface="Times New Roman"/>
                <a:ea typeface="Times New Roman"/>
                <a:cs typeface="Times New Roman"/>
                <a:sym typeface="Times New Roman"/>
              </a:rPr>
              <a:t>3</a:t>
            </a:r>
            <a:r>
              <a:rPr lang="en" sz="2400">
                <a:solidFill>
                  <a:schemeClr val="dk1"/>
                </a:solidFill>
                <a:latin typeface="Times New Roman"/>
                <a:ea typeface="Times New Roman"/>
                <a:cs typeface="Times New Roman"/>
                <a:sym typeface="Times New Roman"/>
              </a:rPr>
              <a:t>:= a or t</a:t>
            </a:r>
            <a:r>
              <a:rPr lang="en" sz="2400" baseline="-25000">
                <a:solidFill>
                  <a:schemeClr val="dk1"/>
                </a:solidFill>
                <a:latin typeface="Times New Roman"/>
                <a:ea typeface="Times New Roman"/>
                <a:cs typeface="Times New Roman"/>
                <a:sym typeface="Times New Roman"/>
              </a:rPr>
              <a:t>2</a:t>
            </a:r>
            <a:endParaRPr sz="2400" baseline="-25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2400" baseline="-25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None/>
            </a:pPr>
            <a:endParaRPr sz="2400" baseline="-250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endParaRPr sz="2400">
              <a:latin typeface="Times New Roman"/>
              <a:ea typeface="Times New Roman"/>
              <a:cs typeface="Times New Roman"/>
              <a:sym typeface="Times New Roman"/>
            </a:endParaRPr>
          </a:p>
        </p:txBody>
      </p:sp>
      <p:sp>
        <p:nvSpPr>
          <p:cNvPr id="186" name="Google Shape;186;p35"/>
          <p:cNvSpPr txBox="1"/>
          <p:nvPr/>
        </p:nvSpPr>
        <p:spPr>
          <a:xfrm>
            <a:off x="4641200" y="0"/>
            <a:ext cx="4138800" cy="311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Times New Roman"/>
                <a:ea typeface="Times New Roman"/>
                <a:cs typeface="Times New Roman"/>
                <a:sym typeface="Times New Roman"/>
              </a:rPr>
              <a:t>Relational expression</a:t>
            </a:r>
            <a:endParaRPr sz="2400">
              <a:latin typeface="Times New Roman"/>
              <a:ea typeface="Times New Roman"/>
              <a:cs typeface="Times New Roman"/>
              <a:sym typeface="Times New Roman"/>
            </a:endParaRPr>
          </a:p>
          <a:p>
            <a:pPr marL="0" lvl="0" indent="0" algn="l" rtl="0">
              <a:spcBef>
                <a:spcPts val="0"/>
              </a:spcBef>
              <a:spcAft>
                <a:spcPts val="0"/>
              </a:spcAft>
              <a:buNone/>
            </a:pPr>
            <a:r>
              <a:rPr lang="en" sz="2400">
                <a:latin typeface="Times New Roman"/>
                <a:ea typeface="Times New Roman"/>
                <a:cs typeface="Times New Roman"/>
                <a:sym typeface="Times New Roman"/>
              </a:rPr>
              <a:t>if a&lt;b then 1 else 0</a:t>
            </a:r>
            <a:endParaRPr sz="2400">
              <a:latin typeface="Times New Roman"/>
              <a:ea typeface="Times New Roman"/>
              <a:cs typeface="Times New Roman"/>
              <a:sym typeface="Times New Roman"/>
            </a:endParaRPr>
          </a:p>
          <a:p>
            <a:pPr marL="0" lvl="0" indent="0" algn="l" rtl="0">
              <a:spcBef>
                <a:spcPts val="0"/>
              </a:spcBef>
              <a:spcAft>
                <a:spcPts val="0"/>
              </a:spcAft>
              <a:buNone/>
            </a:pPr>
            <a:r>
              <a:rPr lang="en" sz="2400" b="1">
                <a:solidFill>
                  <a:schemeClr val="dk1"/>
                </a:solidFill>
                <a:latin typeface="Times New Roman"/>
                <a:ea typeface="Times New Roman"/>
                <a:cs typeface="Times New Roman"/>
                <a:sym typeface="Times New Roman"/>
              </a:rPr>
              <a:t>Three-address code</a:t>
            </a:r>
            <a:endParaRPr sz="2400" b="1">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100: if a&lt;b goto 103</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101: t:=0</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102: goto 104</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103: t:=1</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104:</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400">
              <a:latin typeface="Times New Roman"/>
              <a:ea typeface="Times New Roman"/>
              <a:cs typeface="Times New Roman"/>
              <a:sym typeface="Times New Roman"/>
            </a:endParaRPr>
          </a:p>
        </p:txBody>
      </p:sp>
      <p:sp>
        <p:nvSpPr>
          <p:cNvPr id="187" name="Google Shape;187;p35"/>
          <p:cNvSpPr txBox="1"/>
          <p:nvPr/>
        </p:nvSpPr>
        <p:spPr>
          <a:xfrm>
            <a:off x="60275" y="2913400"/>
            <a:ext cx="59370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{E.place:=newtemp;</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emit(‘if’ id</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.place relop id</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.place ‘goto’ nextstat+3);</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emit(E.place ‘:=’ ‘0’);</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emit(‘goto’ nextstat+2);</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emit(E.place ‘:=’ ‘1’);</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6"/>
          <p:cNvSpPr txBox="1"/>
          <p:nvPr/>
        </p:nvSpPr>
        <p:spPr>
          <a:xfrm>
            <a:off x="0" y="85350"/>
            <a:ext cx="8981100" cy="497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Times New Roman"/>
                <a:ea typeface="Times New Roman"/>
                <a:cs typeface="Times New Roman"/>
                <a:sym typeface="Times New Roman"/>
              </a:rPr>
              <a:t>a&lt;b or </a:t>
            </a:r>
            <a:r>
              <a:rPr lang="en" sz="3100" b="1">
                <a:solidFill>
                  <a:srgbClr val="9900FF"/>
                </a:solidFill>
                <a:latin typeface="Times New Roman"/>
                <a:ea typeface="Times New Roman"/>
                <a:cs typeface="Times New Roman"/>
                <a:sym typeface="Times New Roman"/>
              </a:rPr>
              <a:t>c&lt;d and e&lt;f</a:t>
            </a:r>
            <a:endParaRPr sz="3100" b="1">
              <a:solidFill>
                <a:srgbClr val="9900FF"/>
              </a:solidFill>
              <a:latin typeface="Times New Roman"/>
              <a:ea typeface="Times New Roman"/>
              <a:cs typeface="Times New Roman"/>
              <a:sym typeface="Times New Roman"/>
            </a:endParaRPr>
          </a:p>
          <a:p>
            <a:pPr marL="0" lvl="0" indent="0" algn="l" rtl="0">
              <a:spcBef>
                <a:spcPts val="0"/>
              </a:spcBef>
              <a:spcAft>
                <a:spcPts val="0"/>
              </a:spcAft>
              <a:buNone/>
            </a:pPr>
            <a:r>
              <a:rPr lang="en" sz="2400">
                <a:latin typeface="Times New Roman"/>
                <a:ea typeface="Times New Roman"/>
                <a:cs typeface="Times New Roman"/>
                <a:sym typeface="Times New Roman"/>
              </a:rPr>
              <a:t>Three- address code</a:t>
            </a:r>
            <a:endParaRPr sz="2400">
              <a:latin typeface="Times New Roman"/>
              <a:ea typeface="Times New Roman"/>
              <a:cs typeface="Times New Roman"/>
              <a:sym typeface="Times New Roman"/>
            </a:endParaRPr>
          </a:p>
        </p:txBody>
      </p:sp>
      <p:sp>
        <p:nvSpPr>
          <p:cNvPr id="193" name="Google Shape;193;p36"/>
          <p:cNvSpPr txBox="1"/>
          <p:nvPr/>
        </p:nvSpPr>
        <p:spPr>
          <a:xfrm>
            <a:off x="4820900" y="120550"/>
            <a:ext cx="4471500" cy="147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E-&gt;E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or E</a:t>
            </a:r>
            <a:r>
              <a:rPr lang="en" sz="2400" baseline="-25000">
                <a:solidFill>
                  <a:schemeClr val="dk1"/>
                </a:solidFill>
                <a:latin typeface="Times New Roman"/>
                <a:ea typeface="Times New Roman"/>
                <a:cs typeface="Times New Roman"/>
                <a:sym typeface="Times New Roman"/>
              </a:rPr>
              <a:t>2</a:t>
            </a:r>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{E.place:=new temp</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emit(E.place’:=’ 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.Place ‘or’ E</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.Place)}</a:t>
            </a:r>
            <a:endParaRPr/>
          </a:p>
          <a:p>
            <a:pPr marL="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194" name="Google Shape;194;p36"/>
          <p:cNvSpPr txBox="1"/>
          <p:nvPr/>
        </p:nvSpPr>
        <p:spPr>
          <a:xfrm>
            <a:off x="100450" y="954350"/>
            <a:ext cx="4471500" cy="410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FF0000"/>
                </a:solidFill>
                <a:highlight>
                  <a:srgbClr val="FFFFFF"/>
                </a:highlight>
                <a:latin typeface="Times New Roman"/>
                <a:ea typeface="Times New Roman"/>
                <a:cs typeface="Times New Roman"/>
                <a:sym typeface="Times New Roman"/>
              </a:rPr>
              <a:t>100: if a &lt; b goto 103</a:t>
            </a:r>
            <a:endParaRPr sz="2400">
              <a:solidFill>
                <a:srgbClr val="FF0000"/>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None/>
            </a:pPr>
            <a:r>
              <a:rPr lang="en" sz="2400">
                <a:solidFill>
                  <a:srgbClr val="FF0000"/>
                </a:solidFill>
                <a:highlight>
                  <a:srgbClr val="FFFFFF"/>
                </a:highlight>
                <a:latin typeface="Times New Roman"/>
                <a:ea typeface="Times New Roman"/>
                <a:cs typeface="Times New Roman"/>
                <a:sym typeface="Times New Roman"/>
              </a:rPr>
              <a:t>101: </a:t>
            </a:r>
            <a:r>
              <a:rPr lang="en" sz="2400">
                <a:solidFill>
                  <a:srgbClr val="FF0000"/>
                </a:solidFill>
                <a:latin typeface="Times New Roman"/>
                <a:ea typeface="Times New Roman"/>
                <a:cs typeface="Times New Roman"/>
                <a:sym typeface="Times New Roman"/>
              </a:rPr>
              <a:t>t</a:t>
            </a:r>
            <a:r>
              <a:rPr lang="en" sz="2400" baseline="-25000">
                <a:solidFill>
                  <a:srgbClr val="FF0000"/>
                </a:solidFill>
                <a:latin typeface="Times New Roman"/>
                <a:ea typeface="Times New Roman"/>
                <a:cs typeface="Times New Roman"/>
                <a:sym typeface="Times New Roman"/>
              </a:rPr>
              <a:t>1</a:t>
            </a:r>
            <a:r>
              <a:rPr lang="en" sz="2400">
                <a:solidFill>
                  <a:srgbClr val="FF0000"/>
                </a:solidFill>
                <a:latin typeface="Times New Roman"/>
                <a:ea typeface="Times New Roman"/>
                <a:cs typeface="Times New Roman"/>
                <a:sym typeface="Times New Roman"/>
              </a:rPr>
              <a:t>:=0</a:t>
            </a:r>
            <a:endParaRPr sz="2400">
              <a:solidFill>
                <a:srgbClr val="FF0000"/>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rgbClr val="FF0000"/>
                </a:solidFill>
                <a:latin typeface="Times New Roman"/>
                <a:ea typeface="Times New Roman"/>
                <a:cs typeface="Times New Roman"/>
                <a:sym typeface="Times New Roman"/>
              </a:rPr>
              <a:t>102: goto 104</a:t>
            </a:r>
            <a:endParaRPr sz="2400">
              <a:solidFill>
                <a:srgbClr val="FF0000"/>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rgbClr val="FF0000"/>
                </a:solidFill>
                <a:latin typeface="Times New Roman"/>
                <a:ea typeface="Times New Roman"/>
                <a:cs typeface="Times New Roman"/>
                <a:sym typeface="Times New Roman"/>
              </a:rPr>
              <a:t>103: t</a:t>
            </a:r>
            <a:r>
              <a:rPr lang="en" sz="2400" baseline="-25000">
                <a:solidFill>
                  <a:srgbClr val="FF0000"/>
                </a:solidFill>
                <a:latin typeface="Times New Roman"/>
                <a:ea typeface="Times New Roman"/>
                <a:cs typeface="Times New Roman"/>
                <a:sym typeface="Times New Roman"/>
              </a:rPr>
              <a:t>1</a:t>
            </a:r>
            <a:r>
              <a:rPr lang="en" sz="2400">
                <a:solidFill>
                  <a:srgbClr val="FF0000"/>
                </a:solidFill>
                <a:latin typeface="Times New Roman"/>
                <a:ea typeface="Times New Roman"/>
                <a:cs typeface="Times New Roman"/>
                <a:sym typeface="Times New Roman"/>
              </a:rPr>
              <a:t>:=1</a:t>
            </a:r>
            <a:endParaRPr sz="2400">
              <a:solidFill>
                <a:srgbClr val="FF0000"/>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rgbClr val="0000FF"/>
                </a:solidFill>
                <a:latin typeface="Times New Roman"/>
                <a:ea typeface="Times New Roman"/>
                <a:cs typeface="Times New Roman"/>
                <a:sym typeface="Times New Roman"/>
              </a:rPr>
              <a:t>104: if c &lt; d goto 107</a:t>
            </a:r>
            <a:endParaRPr sz="2400">
              <a:solidFill>
                <a:srgbClr val="0000FF"/>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rgbClr val="0000FF"/>
                </a:solidFill>
                <a:latin typeface="Times New Roman"/>
                <a:ea typeface="Times New Roman"/>
                <a:cs typeface="Times New Roman"/>
                <a:sym typeface="Times New Roman"/>
              </a:rPr>
              <a:t>105: t</a:t>
            </a:r>
            <a:r>
              <a:rPr lang="en" sz="2400" baseline="-25000">
                <a:solidFill>
                  <a:srgbClr val="0000FF"/>
                </a:solidFill>
                <a:latin typeface="Times New Roman"/>
                <a:ea typeface="Times New Roman"/>
                <a:cs typeface="Times New Roman"/>
                <a:sym typeface="Times New Roman"/>
              </a:rPr>
              <a:t>2</a:t>
            </a:r>
            <a:r>
              <a:rPr lang="en" sz="2400">
                <a:solidFill>
                  <a:srgbClr val="0000FF"/>
                </a:solidFill>
                <a:latin typeface="Times New Roman"/>
                <a:ea typeface="Times New Roman"/>
                <a:cs typeface="Times New Roman"/>
                <a:sym typeface="Times New Roman"/>
              </a:rPr>
              <a:t>:=0</a:t>
            </a:r>
            <a:endParaRPr sz="2400">
              <a:solidFill>
                <a:srgbClr val="0000FF"/>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rgbClr val="0000FF"/>
                </a:solidFill>
                <a:latin typeface="Times New Roman"/>
                <a:ea typeface="Times New Roman"/>
                <a:cs typeface="Times New Roman"/>
                <a:sym typeface="Times New Roman"/>
              </a:rPr>
              <a:t>106: goto 108</a:t>
            </a:r>
            <a:endParaRPr sz="2400">
              <a:solidFill>
                <a:srgbClr val="0000FF"/>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rgbClr val="0000FF"/>
                </a:solidFill>
                <a:latin typeface="Times New Roman"/>
                <a:ea typeface="Times New Roman"/>
                <a:cs typeface="Times New Roman"/>
                <a:sym typeface="Times New Roman"/>
              </a:rPr>
              <a:t>107:t</a:t>
            </a:r>
            <a:r>
              <a:rPr lang="en" sz="2400" baseline="-25000">
                <a:solidFill>
                  <a:srgbClr val="0000FF"/>
                </a:solidFill>
                <a:latin typeface="Times New Roman"/>
                <a:ea typeface="Times New Roman"/>
                <a:cs typeface="Times New Roman"/>
                <a:sym typeface="Times New Roman"/>
              </a:rPr>
              <a:t>2</a:t>
            </a:r>
            <a:r>
              <a:rPr lang="en" sz="2400">
                <a:solidFill>
                  <a:srgbClr val="0000FF"/>
                </a:solidFill>
                <a:latin typeface="Times New Roman"/>
                <a:ea typeface="Times New Roman"/>
                <a:cs typeface="Times New Roman"/>
                <a:sym typeface="Times New Roman"/>
              </a:rPr>
              <a:t>:=1</a:t>
            </a:r>
            <a:endParaRPr sz="2400">
              <a:solidFill>
                <a:srgbClr val="0000FF"/>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rgbClr val="FF00FF"/>
                </a:solidFill>
                <a:latin typeface="Times New Roman"/>
                <a:ea typeface="Times New Roman"/>
                <a:cs typeface="Times New Roman"/>
                <a:sym typeface="Times New Roman"/>
              </a:rPr>
              <a:t>108:if e &lt; f goto 111</a:t>
            </a:r>
            <a:endParaRPr sz="2400">
              <a:solidFill>
                <a:srgbClr val="FF00FF"/>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rgbClr val="FF00FF"/>
                </a:solidFill>
                <a:latin typeface="Times New Roman"/>
                <a:ea typeface="Times New Roman"/>
                <a:cs typeface="Times New Roman"/>
                <a:sym typeface="Times New Roman"/>
              </a:rPr>
              <a:t>109: t</a:t>
            </a:r>
            <a:r>
              <a:rPr lang="en" sz="2400" baseline="-25000">
                <a:solidFill>
                  <a:srgbClr val="FF00FF"/>
                </a:solidFill>
                <a:latin typeface="Times New Roman"/>
                <a:ea typeface="Times New Roman"/>
                <a:cs typeface="Times New Roman"/>
                <a:sym typeface="Times New Roman"/>
              </a:rPr>
              <a:t>3</a:t>
            </a:r>
            <a:r>
              <a:rPr lang="en" sz="2400">
                <a:solidFill>
                  <a:srgbClr val="FF00FF"/>
                </a:solidFill>
                <a:latin typeface="Times New Roman"/>
                <a:ea typeface="Times New Roman"/>
                <a:cs typeface="Times New Roman"/>
                <a:sym typeface="Times New Roman"/>
              </a:rPr>
              <a:t>:=0</a:t>
            </a:r>
            <a:endParaRPr sz="2400">
              <a:solidFill>
                <a:srgbClr val="FF00FF"/>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rgbClr val="FF00FF"/>
                </a:solidFill>
                <a:latin typeface="Times New Roman"/>
                <a:ea typeface="Times New Roman"/>
                <a:cs typeface="Times New Roman"/>
                <a:sym typeface="Times New Roman"/>
              </a:rPr>
              <a:t>110:goto 113</a:t>
            </a:r>
            <a:endParaRPr sz="2400">
              <a:solidFill>
                <a:srgbClr val="FF00FF"/>
              </a:solidFill>
              <a:latin typeface="Times New Roman"/>
              <a:ea typeface="Times New Roman"/>
              <a:cs typeface="Times New Roman"/>
              <a:sym typeface="Times New Roman"/>
            </a:endParaRPr>
          </a:p>
          <a:p>
            <a:pPr marL="0" lvl="0" indent="0" algn="l" rtl="0">
              <a:spcBef>
                <a:spcPts val="0"/>
              </a:spcBef>
              <a:spcAft>
                <a:spcPts val="0"/>
              </a:spcAft>
              <a:buNone/>
            </a:pPr>
            <a:endParaRPr sz="2400">
              <a:solidFill>
                <a:srgbClr val="0000FF"/>
              </a:solidFill>
              <a:latin typeface="Times New Roman"/>
              <a:ea typeface="Times New Roman"/>
              <a:cs typeface="Times New Roman"/>
              <a:sym typeface="Times New Roman"/>
            </a:endParaRPr>
          </a:p>
          <a:p>
            <a:pPr marL="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400">
              <a:solidFill>
                <a:srgbClr val="202124"/>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None/>
            </a:pPr>
            <a:endParaRPr sz="2400">
              <a:solidFill>
                <a:srgbClr val="202124"/>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None/>
            </a:pPr>
            <a:endParaRPr sz="2400">
              <a:solidFill>
                <a:srgbClr val="202124"/>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None/>
            </a:pPr>
            <a:endParaRPr sz="2400">
              <a:solidFill>
                <a:srgbClr val="202124"/>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None/>
            </a:pPr>
            <a:endParaRPr sz="2400">
              <a:latin typeface="Times New Roman"/>
              <a:ea typeface="Times New Roman"/>
              <a:cs typeface="Times New Roman"/>
              <a:sym typeface="Times New Roman"/>
            </a:endParaRPr>
          </a:p>
        </p:txBody>
      </p:sp>
      <p:sp>
        <p:nvSpPr>
          <p:cNvPr id="195" name="Google Shape;195;p36"/>
          <p:cNvSpPr txBox="1"/>
          <p:nvPr/>
        </p:nvSpPr>
        <p:spPr>
          <a:xfrm>
            <a:off x="2591800" y="1516950"/>
            <a:ext cx="2541600" cy="82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FF00FF"/>
                </a:solidFill>
                <a:highlight>
                  <a:srgbClr val="FFFFFF"/>
                </a:highlight>
                <a:latin typeface="Times New Roman"/>
                <a:ea typeface="Times New Roman"/>
                <a:cs typeface="Times New Roman"/>
                <a:sym typeface="Times New Roman"/>
              </a:rPr>
              <a:t>111:</a:t>
            </a:r>
            <a:r>
              <a:rPr lang="en" sz="2400">
                <a:solidFill>
                  <a:srgbClr val="FF00FF"/>
                </a:solidFill>
                <a:latin typeface="Times New Roman"/>
                <a:ea typeface="Times New Roman"/>
                <a:cs typeface="Times New Roman"/>
                <a:sym typeface="Times New Roman"/>
              </a:rPr>
              <a:t>t</a:t>
            </a:r>
            <a:r>
              <a:rPr lang="en" sz="2400" baseline="-25000">
                <a:solidFill>
                  <a:srgbClr val="FF00FF"/>
                </a:solidFill>
                <a:latin typeface="Times New Roman"/>
                <a:ea typeface="Times New Roman"/>
                <a:cs typeface="Times New Roman"/>
                <a:sym typeface="Times New Roman"/>
              </a:rPr>
              <a:t>3</a:t>
            </a:r>
            <a:r>
              <a:rPr lang="en" sz="2400">
                <a:solidFill>
                  <a:srgbClr val="FF00FF"/>
                </a:solidFill>
                <a:latin typeface="Times New Roman"/>
                <a:ea typeface="Times New Roman"/>
                <a:cs typeface="Times New Roman"/>
                <a:sym typeface="Times New Roman"/>
              </a:rPr>
              <a:t>:=0</a:t>
            </a:r>
            <a:endParaRPr sz="2400">
              <a:solidFill>
                <a:srgbClr val="FF00FF"/>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rgbClr val="FF9900"/>
                </a:solidFill>
                <a:latin typeface="Times New Roman"/>
                <a:ea typeface="Times New Roman"/>
                <a:cs typeface="Times New Roman"/>
                <a:sym typeface="Times New Roman"/>
              </a:rPr>
              <a:t>112:t</a:t>
            </a:r>
            <a:r>
              <a:rPr lang="en" sz="2400" baseline="-25000">
                <a:solidFill>
                  <a:srgbClr val="FF9900"/>
                </a:solidFill>
                <a:latin typeface="Times New Roman"/>
                <a:ea typeface="Times New Roman"/>
                <a:cs typeface="Times New Roman"/>
                <a:sym typeface="Times New Roman"/>
              </a:rPr>
              <a:t>4</a:t>
            </a:r>
            <a:r>
              <a:rPr lang="en" sz="2400">
                <a:solidFill>
                  <a:srgbClr val="FF9900"/>
                </a:solidFill>
                <a:latin typeface="Times New Roman"/>
                <a:ea typeface="Times New Roman"/>
                <a:cs typeface="Times New Roman"/>
                <a:sym typeface="Times New Roman"/>
              </a:rPr>
              <a:t>:=t</a:t>
            </a:r>
            <a:r>
              <a:rPr lang="en" sz="2400" baseline="-25000">
                <a:solidFill>
                  <a:srgbClr val="FF9900"/>
                </a:solidFill>
                <a:latin typeface="Times New Roman"/>
                <a:ea typeface="Times New Roman"/>
                <a:cs typeface="Times New Roman"/>
                <a:sym typeface="Times New Roman"/>
              </a:rPr>
              <a:t>2 </a:t>
            </a:r>
            <a:r>
              <a:rPr lang="en" sz="2400">
                <a:solidFill>
                  <a:srgbClr val="FF9900"/>
                </a:solidFill>
                <a:latin typeface="Times New Roman"/>
                <a:ea typeface="Times New Roman"/>
                <a:cs typeface="Times New Roman"/>
                <a:sym typeface="Times New Roman"/>
              </a:rPr>
              <a:t>and t</a:t>
            </a:r>
            <a:r>
              <a:rPr lang="en" sz="2400" baseline="-25000">
                <a:solidFill>
                  <a:srgbClr val="FF9900"/>
                </a:solidFill>
                <a:latin typeface="Times New Roman"/>
                <a:ea typeface="Times New Roman"/>
                <a:cs typeface="Times New Roman"/>
                <a:sym typeface="Times New Roman"/>
              </a:rPr>
              <a:t>3</a:t>
            </a:r>
            <a:endParaRPr sz="2400" baseline="-25000">
              <a:solidFill>
                <a:srgbClr val="FF9900"/>
              </a:solidFill>
              <a:latin typeface="Times New Roman"/>
              <a:ea typeface="Times New Roman"/>
              <a:cs typeface="Times New Roman"/>
              <a:sym typeface="Times New Roman"/>
            </a:endParaRPr>
          </a:p>
          <a:p>
            <a:pPr marL="0" lvl="0" indent="0" algn="l" rtl="0">
              <a:spcBef>
                <a:spcPts val="0"/>
              </a:spcBef>
              <a:spcAft>
                <a:spcPts val="0"/>
              </a:spcAft>
              <a:buNone/>
            </a:pPr>
            <a:endParaRPr sz="2400" baseline="-25000">
              <a:solidFill>
                <a:srgbClr val="FFFF00"/>
              </a:solidFill>
              <a:latin typeface="Times New Roman"/>
              <a:ea typeface="Times New Roman"/>
              <a:cs typeface="Times New Roman"/>
              <a:sym typeface="Times New Roman"/>
            </a:endParaRPr>
          </a:p>
          <a:p>
            <a:pPr marL="0" lvl="0" indent="0" algn="l" rtl="0">
              <a:spcBef>
                <a:spcPts val="0"/>
              </a:spcBef>
              <a:spcAft>
                <a:spcPts val="0"/>
              </a:spcAft>
              <a:buNone/>
            </a:pPr>
            <a:endParaRPr sz="2400">
              <a:solidFill>
                <a:srgbClr val="FFFF00"/>
              </a:solidFill>
              <a:latin typeface="Times New Roman"/>
              <a:ea typeface="Times New Roman"/>
              <a:cs typeface="Times New Roman"/>
              <a:sym typeface="Times New Roman"/>
            </a:endParaRPr>
          </a:p>
          <a:p>
            <a:pPr marL="0" lvl="0" indent="0" algn="l" rtl="0">
              <a:spcBef>
                <a:spcPts val="0"/>
              </a:spcBef>
              <a:spcAft>
                <a:spcPts val="0"/>
              </a:spcAft>
              <a:buNone/>
            </a:pPr>
            <a:endParaRPr sz="2400">
              <a:solidFill>
                <a:srgbClr val="FFFF00"/>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None/>
            </a:pPr>
            <a:endParaRPr sz="2400">
              <a:latin typeface="Times New Roman"/>
              <a:ea typeface="Times New Roman"/>
              <a:cs typeface="Times New Roman"/>
              <a:sym typeface="Times New Roman"/>
            </a:endParaRPr>
          </a:p>
        </p:txBody>
      </p:sp>
      <p:sp>
        <p:nvSpPr>
          <p:cNvPr id="196" name="Google Shape;196;p36"/>
          <p:cNvSpPr txBox="1"/>
          <p:nvPr/>
        </p:nvSpPr>
        <p:spPr>
          <a:xfrm>
            <a:off x="2933375" y="2411000"/>
            <a:ext cx="2029200" cy="78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FF9900"/>
                </a:solidFill>
                <a:latin typeface="Times New Roman"/>
                <a:ea typeface="Times New Roman"/>
                <a:cs typeface="Times New Roman"/>
                <a:sym typeface="Times New Roman"/>
              </a:rPr>
              <a:t>113: t</a:t>
            </a:r>
            <a:r>
              <a:rPr lang="en" sz="2400" baseline="-25000">
                <a:solidFill>
                  <a:srgbClr val="FF9900"/>
                </a:solidFill>
                <a:latin typeface="Times New Roman"/>
                <a:ea typeface="Times New Roman"/>
                <a:cs typeface="Times New Roman"/>
                <a:sym typeface="Times New Roman"/>
              </a:rPr>
              <a:t>5</a:t>
            </a:r>
            <a:r>
              <a:rPr lang="en" sz="2400">
                <a:solidFill>
                  <a:srgbClr val="FF9900"/>
                </a:solidFill>
                <a:latin typeface="Times New Roman"/>
                <a:ea typeface="Times New Roman"/>
                <a:cs typeface="Times New Roman"/>
                <a:sym typeface="Times New Roman"/>
              </a:rPr>
              <a:t>:=t</a:t>
            </a:r>
            <a:r>
              <a:rPr lang="en" sz="2400" baseline="-25000">
                <a:solidFill>
                  <a:srgbClr val="FF9900"/>
                </a:solidFill>
                <a:latin typeface="Times New Roman"/>
                <a:ea typeface="Times New Roman"/>
                <a:cs typeface="Times New Roman"/>
                <a:sym typeface="Times New Roman"/>
              </a:rPr>
              <a:t>1</a:t>
            </a:r>
            <a:r>
              <a:rPr lang="en" sz="2400">
                <a:solidFill>
                  <a:srgbClr val="FF9900"/>
                </a:solidFill>
                <a:latin typeface="Times New Roman"/>
                <a:ea typeface="Times New Roman"/>
                <a:cs typeface="Times New Roman"/>
                <a:sym typeface="Times New Roman"/>
              </a:rPr>
              <a:t> or t</a:t>
            </a:r>
            <a:r>
              <a:rPr lang="en" sz="2400" baseline="-25000">
                <a:solidFill>
                  <a:srgbClr val="FF9900"/>
                </a:solidFill>
                <a:latin typeface="Times New Roman"/>
                <a:ea typeface="Times New Roman"/>
                <a:cs typeface="Times New Roman"/>
                <a:sym typeface="Times New Roman"/>
              </a:rPr>
              <a:t>4</a:t>
            </a:r>
            <a:r>
              <a:rPr lang="en" sz="2400">
                <a:solidFill>
                  <a:srgbClr val="FF9900"/>
                </a:solidFill>
                <a:latin typeface="Times New Roman"/>
                <a:ea typeface="Times New Roman"/>
                <a:cs typeface="Times New Roman"/>
                <a:sym typeface="Times New Roman"/>
              </a:rPr>
              <a:t> </a:t>
            </a:r>
            <a:endParaRPr sz="2400">
              <a:solidFill>
                <a:srgbClr val="FF9900"/>
              </a:solidFill>
              <a:latin typeface="Times New Roman"/>
              <a:ea typeface="Times New Roman"/>
              <a:cs typeface="Times New Roman"/>
              <a:sym typeface="Times New Roman"/>
            </a:endParaRPr>
          </a:p>
          <a:p>
            <a:pPr marL="0" lvl="0" indent="0" algn="l" rtl="0">
              <a:spcBef>
                <a:spcPts val="0"/>
              </a:spcBef>
              <a:spcAft>
                <a:spcPts val="0"/>
              </a:spcAft>
              <a:buNone/>
            </a:pPr>
            <a:endParaRPr sz="2400">
              <a:solidFill>
                <a:srgbClr val="FF9900"/>
              </a:solidFill>
              <a:latin typeface="Times New Roman"/>
              <a:ea typeface="Times New Roman"/>
              <a:cs typeface="Times New Roman"/>
              <a:sym typeface="Times New Roman"/>
            </a:endParaRPr>
          </a:p>
        </p:txBody>
      </p:sp>
      <p:sp>
        <p:nvSpPr>
          <p:cNvPr id="197" name="Google Shape;197;p36"/>
          <p:cNvSpPr txBox="1"/>
          <p:nvPr/>
        </p:nvSpPr>
        <p:spPr>
          <a:xfrm>
            <a:off x="5806500" y="1656225"/>
            <a:ext cx="32751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{E.place:=newtemp;</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emit(‘if’ id</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.place relop id</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.place ‘goto’ nextstat+3);</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emit(E.place ‘:=’ ‘0’);</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emit(‘goto’ nextstat+2);</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emit(E.place ‘:=’ ‘1’);</a:t>
            </a:r>
            <a:endParaRPr/>
          </a:p>
        </p:txBody>
      </p:sp>
      <p:graphicFrame>
        <p:nvGraphicFramePr>
          <p:cNvPr id="198" name="Google Shape;198;p36"/>
          <p:cNvGraphicFramePr/>
          <p:nvPr/>
        </p:nvGraphicFramePr>
        <p:xfrm>
          <a:off x="2655825" y="2975825"/>
          <a:ext cx="3275100" cy="2011650"/>
        </p:xfrm>
        <a:graphic>
          <a:graphicData uri="http://schemas.openxmlformats.org/drawingml/2006/table">
            <a:tbl>
              <a:tblPr>
                <a:noFill/>
                <a:tableStyleId>{E45C88B7-2F03-4263-B044-BB84167B48E1}</a:tableStyleId>
              </a:tblPr>
              <a:tblGrid>
                <a:gridCol w="1071875">
                  <a:extLst>
                    <a:ext uri="{9D8B030D-6E8A-4147-A177-3AD203B41FA5}">
                      <a16:colId xmlns:a16="http://schemas.microsoft.com/office/drawing/2014/main" val="20000"/>
                    </a:ext>
                  </a:extLst>
                </a:gridCol>
                <a:gridCol w="2203225">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E-&gt;E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and E</a:t>
                      </a:r>
                      <a:r>
                        <a:rPr lang="en" sz="2400" baseline="-25000">
                          <a:solidFill>
                            <a:schemeClr val="dk1"/>
                          </a:solidFill>
                          <a:latin typeface="Times New Roman"/>
                          <a:ea typeface="Times New Roman"/>
                          <a:cs typeface="Times New Roman"/>
                          <a:sym typeface="Times New Roman"/>
                        </a:rPr>
                        <a:t>2</a:t>
                      </a: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{E.place:=new temp</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emit(E.place’:=’ E</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.Place ‘and’ E</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.Place)}</a:t>
                      </a:r>
                      <a:endParaRPr/>
                    </a:p>
                  </a:txBody>
                  <a:tcPr marL="91425" marR="91425" marT="91425" marB="91425"/>
                </a:tc>
                <a:extLst>
                  <a:ext uri="{0D108BD9-81ED-4DB2-BD59-A6C34878D82A}">
                    <a16:rowId xmlns:a16="http://schemas.microsoft.com/office/drawing/2014/main" val="10000"/>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7"/>
          <p:cNvSpPr txBox="1"/>
          <p:nvPr/>
        </p:nvSpPr>
        <p:spPr>
          <a:xfrm>
            <a:off x="100450" y="70325"/>
            <a:ext cx="8961000" cy="494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a&lt;b or c&lt;d and e&lt;f</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Three- address code</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100: if a&lt;b goto 103</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101: t</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 0</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102: goto 104</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103: t</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 1</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104: if c&lt;d goto 107</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105:t</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106:goto 108</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107:t</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108: if e&lt;f goto 111</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109:t</a:t>
            </a:r>
            <a:r>
              <a:rPr lang="en" sz="2400" baseline="-25000">
                <a:solidFill>
                  <a:schemeClr val="dk1"/>
                </a:solidFill>
                <a:latin typeface="Times New Roman"/>
                <a:ea typeface="Times New Roman"/>
                <a:cs typeface="Times New Roman"/>
                <a:sym typeface="Times New Roman"/>
              </a:rPr>
              <a:t>3</a:t>
            </a:r>
            <a:r>
              <a:rPr lang="en" sz="2400">
                <a:solidFill>
                  <a:schemeClr val="dk1"/>
                </a:solidFill>
                <a:latin typeface="Times New Roman"/>
                <a:ea typeface="Times New Roman"/>
                <a:cs typeface="Times New Roman"/>
                <a:sym typeface="Times New Roman"/>
              </a:rPr>
              <a:t>:= 0</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110: goto 112</a:t>
            </a:r>
            <a:endParaRPr sz="24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400">
              <a:latin typeface="Times New Roman"/>
              <a:ea typeface="Times New Roman"/>
              <a:cs typeface="Times New Roman"/>
              <a:sym typeface="Times New Roman"/>
            </a:endParaRPr>
          </a:p>
        </p:txBody>
      </p:sp>
      <p:sp>
        <p:nvSpPr>
          <p:cNvPr id="204" name="Google Shape;204;p37"/>
          <p:cNvSpPr txBox="1"/>
          <p:nvPr/>
        </p:nvSpPr>
        <p:spPr>
          <a:xfrm>
            <a:off x="5133450" y="150700"/>
            <a:ext cx="3877800" cy="486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Times New Roman"/>
                <a:ea typeface="Times New Roman"/>
                <a:cs typeface="Times New Roman"/>
                <a:sym typeface="Times New Roman"/>
              </a:rPr>
              <a:t>111: </a:t>
            </a:r>
            <a:r>
              <a:rPr lang="en" sz="2400">
                <a:solidFill>
                  <a:schemeClr val="dk1"/>
                </a:solidFill>
                <a:latin typeface="Times New Roman"/>
                <a:ea typeface="Times New Roman"/>
                <a:cs typeface="Times New Roman"/>
                <a:sym typeface="Times New Roman"/>
              </a:rPr>
              <a:t>t</a:t>
            </a:r>
            <a:r>
              <a:rPr lang="en" sz="2400" baseline="-25000">
                <a:solidFill>
                  <a:schemeClr val="dk1"/>
                </a:solidFill>
                <a:latin typeface="Times New Roman"/>
                <a:ea typeface="Times New Roman"/>
                <a:cs typeface="Times New Roman"/>
                <a:sym typeface="Times New Roman"/>
              </a:rPr>
              <a:t>3</a:t>
            </a:r>
            <a:r>
              <a:rPr lang="en" sz="2400">
                <a:solidFill>
                  <a:schemeClr val="dk1"/>
                </a:solidFill>
                <a:latin typeface="Times New Roman"/>
                <a:ea typeface="Times New Roman"/>
                <a:cs typeface="Times New Roman"/>
                <a:sym typeface="Times New Roman"/>
              </a:rPr>
              <a:t>:=1</a:t>
            </a:r>
            <a:endParaRPr sz="2400">
              <a:latin typeface="Times New Roman"/>
              <a:ea typeface="Times New Roman"/>
              <a:cs typeface="Times New Roman"/>
              <a:sym typeface="Times New Roman"/>
            </a:endParaRPr>
          </a:p>
          <a:p>
            <a:pPr marL="0" lvl="0" indent="0" algn="l" rtl="0">
              <a:spcBef>
                <a:spcPts val="0"/>
              </a:spcBef>
              <a:spcAft>
                <a:spcPts val="0"/>
              </a:spcAft>
              <a:buNone/>
            </a:pPr>
            <a:r>
              <a:rPr lang="en" sz="2400">
                <a:latin typeface="Times New Roman"/>
                <a:ea typeface="Times New Roman"/>
                <a:cs typeface="Times New Roman"/>
                <a:sym typeface="Times New Roman"/>
              </a:rPr>
              <a:t>112: </a:t>
            </a:r>
            <a:r>
              <a:rPr lang="en" sz="2400">
                <a:solidFill>
                  <a:schemeClr val="dk1"/>
                </a:solidFill>
                <a:latin typeface="Times New Roman"/>
                <a:ea typeface="Times New Roman"/>
                <a:cs typeface="Times New Roman"/>
                <a:sym typeface="Times New Roman"/>
              </a:rPr>
              <a:t>t</a:t>
            </a:r>
            <a:r>
              <a:rPr lang="en" sz="2400" baseline="-25000">
                <a:solidFill>
                  <a:schemeClr val="dk1"/>
                </a:solidFill>
                <a:latin typeface="Times New Roman"/>
                <a:ea typeface="Times New Roman"/>
                <a:cs typeface="Times New Roman"/>
                <a:sym typeface="Times New Roman"/>
              </a:rPr>
              <a:t>4</a:t>
            </a:r>
            <a:r>
              <a:rPr lang="en" sz="2400">
                <a:solidFill>
                  <a:schemeClr val="dk1"/>
                </a:solidFill>
                <a:latin typeface="Times New Roman"/>
                <a:ea typeface="Times New Roman"/>
                <a:cs typeface="Times New Roman"/>
                <a:sym typeface="Times New Roman"/>
              </a:rPr>
              <a:t>:=t</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 and t</a:t>
            </a:r>
            <a:r>
              <a:rPr lang="en" sz="2400" baseline="-25000">
                <a:solidFill>
                  <a:schemeClr val="dk1"/>
                </a:solidFill>
                <a:latin typeface="Times New Roman"/>
                <a:ea typeface="Times New Roman"/>
                <a:cs typeface="Times New Roman"/>
                <a:sym typeface="Times New Roman"/>
              </a:rPr>
              <a:t>3</a:t>
            </a:r>
            <a:endParaRPr sz="2400">
              <a:latin typeface="Times New Roman"/>
              <a:ea typeface="Times New Roman"/>
              <a:cs typeface="Times New Roman"/>
              <a:sym typeface="Times New Roman"/>
            </a:endParaRPr>
          </a:p>
          <a:p>
            <a:pPr marL="0" lvl="0" indent="0" algn="l" rtl="0">
              <a:spcBef>
                <a:spcPts val="0"/>
              </a:spcBef>
              <a:spcAft>
                <a:spcPts val="0"/>
              </a:spcAft>
              <a:buNone/>
            </a:pPr>
            <a:r>
              <a:rPr lang="en" sz="2400">
                <a:latin typeface="Times New Roman"/>
                <a:ea typeface="Times New Roman"/>
                <a:cs typeface="Times New Roman"/>
                <a:sym typeface="Times New Roman"/>
              </a:rPr>
              <a:t>113:</a:t>
            </a:r>
            <a:r>
              <a:rPr lang="en" sz="2400">
                <a:solidFill>
                  <a:schemeClr val="dk1"/>
                </a:solidFill>
                <a:latin typeface="Times New Roman"/>
                <a:ea typeface="Times New Roman"/>
                <a:cs typeface="Times New Roman"/>
                <a:sym typeface="Times New Roman"/>
              </a:rPr>
              <a:t>t</a:t>
            </a:r>
            <a:r>
              <a:rPr lang="en" sz="2400" baseline="-25000">
                <a:solidFill>
                  <a:schemeClr val="dk1"/>
                </a:solidFill>
                <a:latin typeface="Times New Roman"/>
                <a:ea typeface="Times New Roman"/>
                <a:cs typeface="Times New Roman"/>
                <a:sym typeface="Times New Roman"/>
              </a:rPr>
              <a:t>5</a:t>
            </a:r>
            <a:r>
              <a:rPr lang="en" sz="2400">
                <a:solidFill>
                  <a:schemeClr val="dk1"/>
                </a:solidFill>
                <a:latin typeface="Times New Roman"/>
                <a:ea typeface="Times New Roman"/>
                <a:cs typeface="Times New Roman"/>
                <a:sym typeface="Times New Roman"/>
              </a:rPr>
              <a:t>:=t</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 or t</a:t>
            </a:r>
            <a:r>
              <a:rPr lang="en" sz="2400" baseline="-25000">
                <a:solidFill>
                  <a:schemeClr val="dk1"/>
                </a:solidFill>
                <a:latin typeface="Times New Roman"/>
                <a:ea typeface="Times New Roman"/>
                <a:cs typeface="Times New Roman"/>
                <a:sym typeface="Times New Roman"/>
              </a:rPr>
              <a:t>4</a:t>
            </a:r>
            <a:endParaRPr sz="2400">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8"/>
          <p:cNvSpPr txBox="1"/>
          <p:nvPr/>
        </p:nvSpPr>
        <p:spPr>
          <a:xfrm>
            <a:off x="221000" y="110500"/>
            <a:ext cx="8478600" cy="466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Times New Roman"/>
                <a:ea typeface="Times New Roman"/>
                <a:cs typeface="Times New Roman"/>
                <a:sym typeface="Times New Roman"/>
              </a:rPr>
              <a:t>Tutorial</a:t>
            </a:r>
            <a:endParaRPr sz="2400">
              <a:latin typeface="Times New Roman"/>
              <a:ea typeface="Times New Roman"/>
              <a:cs typeface="Times New Roman"/>
              <a:sym typeface="Times New Roman"/>
            </a:endParaRPr>
          </a:p>
          <a:p>
            <a:pPr marL="0" lvl="0" indent="0" algn="l" rtl="0">
              <a:spcBef>
                <a:spcPts val="0"/>
              </a:spcBef>
              <a:spcAft>
                <a:spcPts val="0"/>
              </a:spcAft>
              <a:buNone/>
            </a:pPr>
            <a:r>
              <a:rPr lang="en" sz="2400">
                <a:latin typeface="Times New Roman"/>
                <a:ea typeface="Times New Roman"/>
                <a:cs typeface="Times New Roman"/>
                <a:sym typeface="Times New Roman"/>
              </a:rPr>
              <a:t>Write the three address code for</a:t>
            </a:r>
            <a:endParaRPr sz="2400">
              <a:latin typeface="Times New Roman"/>
              <a:ea typeface="Times New Roman"/>
              <a:cs typeface="Times New Roman"/>
              <a:sym typeface="Times New Roman"/>
            </a:endParaRPr>
          </a:p>
          <a:p>
            <a:pPr marL="0" lvl="0" indent="0" algn="l" rtl="0">
              <a:spcBef>
                <a:spcPts val="0"/>
              </a:spcBef>
              <a:spcAft>
                <a:spcPts val="0"/>
              </a:spcAft>
              <a:buNone/>
            </a:pPr>
            <a:r>
              <a:rPr lang="en" sz="2400">
                <a:latin typeface="Times New Roman"/>
                <a:ea typeface="Times New Roman"/>
                <a:cs typeface="Times New Roman"/>
                <a:sym typeface="Times New Roman"/>
              </a:rPr>
              <a:t>if(g&gt;h) and (i&lt;j) or(l&gt;m)</a:t>
            </a:r>
            <a:endParaRPr sz="2400">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9"/>
          <p:cNvSpPr txBox="1"/>
          <p:nvPr/>
        </p:nvSpPr>
        <p:spPr>
          <a:xfrm>
            <a:off x="100450" y="70325"/>
            <a:ext cx="8961000" cy="494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b="1">
                <a:solidFill>
                  <a:schemeClr val="dk1"/>
                </a:solidFill>
                <a:latin typeface="Times New Roman"/>
                <a:ea typeface="Times New Roman"/>
                <a:cs typeface="Times New Roman"/>
                <a:sym typeface="Times New Roman"/>
              </a:rPr>
              <a:t>Short-Circuit Code</a:t>
            </a:r>
            <a:endParaRPr sz="2400" b="1">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400" b="1">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400" b="1">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400" b="1">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b="1">
                <a:solidFill>
                  <a:schemeClr val="dk1"/>
                </a:solidFill>
                <a:latin typeface="Times New Roman"/>
                <a:ea typeface="Times New Roman"/>
                <a:cs typeface="Times New Roman"/>
                <a:sym typeface="Times New Roman"/>
              </a:rPr>
              <a:t>Flow- of - Control Statements</a:t>
            </a:r>
            <a:endParaRPr sz="2400" b="1">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S-&gt;if E then S</a:t>
            </a:r>
            <a:r>
              <a:rPr lang="en" sz="2400" baseline="-25000">
                <a:solidFill>
                  <a:schemeClr val="dk1"/>
                </a:solidFill>
                <a:latin typeface="Times New Roman"/>
                <a:ea typeface="Times New Roman"/>
                <a:cs typeface="Times New Roman"/>
                <a:sym typeface="Times New Roman"/>
              </a:rPr>
              <a:t>1</a:t>
            </a:r>
            <a:endParaRPr sz="2400" baseline="-25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     | if E then S</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 else S</a:t>
            </a:r>
            <a:r>
              <a:rPr lang="en" sz="2400" baseline="-25000">
                <a:solidFill>
                  <a:schemeClr val="dk1"/>
                </a:solidFill>
                <a:latin typeface="Times New Roman"/>
                <a:ea typeface="Times New Roman"/>
                <a:cs typeface="Times New Roman"/>
                <a:sym typeface="Times New Roman"/>
              </a:rPr>
              <a:t>2</a:t>
            </a:r>
            <a:endParaRPr sz="2400" baseline="-25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     | while E do S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19" name="Google Shape;219;p40"/>
          <p:cNvPicPr preferRelativeResize="0"/>
          <p:nvPr/>
        </p:nvPicPr>
        <p:blipFill>
          <a:blip r:embed="rId3">
            <a:alphaModFix/>
          </a:blip>
          <a:stretch>
            <a:fillRect/>
          </a:stretch>
        </p:blipFill>
        <p:spPr>
          <a:xfrm>
            <a:off x="180800" y="237275"/>
            <a:ext cx="8160148" cy="48306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41"/>
          <p:cNvSpPr txBox="1"/>
          <p:nvPr/>
        </p:nvSpPr>
        <p:spPr>
          <a:xfrm>
            <a:off x="80375" y="60275"/>
            <a:ext cx="9063600" cy="503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rgbClr val="990000"/>
                </a:solidFill>
                <a:latin typeface="Times New Roman"/>
                <a:ea typeface="Times New Roman"/>
                <a:cs typeface="Times New Roman"/>
                <a:sym typeface="Times New Roman"/>
              </a:rPr>
              <a:t>Syntax-directed definition for flow-of-control statements</a:t>
            </a:r>
            <a:endParaRPr sz="2400" b="1">
              <a:solidFill>
                <a:srgbClr val="990000"/>
              </a:solidFill>
              <a:latin typeface="Times New Roman"/>
              <a:ea typeface="Times New Roman"/>
              <a:cs typeface="Times New Roman"/>
              <a:sym typeface="Times New Roman"/>
            </a:endParaRPr>
          </a:p>
        </p:txBody>
      </p:sp>
      <p:graphicFrame>
        <p:nvGraphicFramePr>
          <p:cNvPr id="225" name="Google Shape;225;p41"/>
          <p:cNvGraphicFramePr/>
          <p:nvPr/>
        </p:nvGraphicFramePr>
        <p:xfrm>
          <a:off x="128725" y="573375"/>
          <a:ext cx="8921700" cy="1783050"/>
        </p:xfrm>
        <a:graphic>
          <a:graphicData uri="http://schemas.openxmlformats.org/drawingml/2006/table">
            <a:tbl>
              <a:tblPr>
                <a:noFill/>
                <a:tableStyleId>{E45C88B7-2F03-4263-B044-BB84167B48E1}</a:tableStyleId>
              </a:tblPr>
              <a:tblGrid>
                <a:gridCol w="3335725">
                  <a:extLst>
                    <a:ext uri="{9D8B030D-6E8A-4147-A177-3AD203B41FA5}">
                      <a16:colId xmlns:a16="http://schemas.microsoft.com/office/drawing/2014/main" val="20000"/>
                    </a:ext>
                  </a:extLst>
                </a:gridCol>
                <a:gridCol w="5585975">
                  <a:extLst>
                    <a:ext uri="{9D8B030D-6E8A-4147-A177-3AD203B41FA5}">
                      <a16:colId xmlns:a16="http://schemas.microsoft.com/office/drawing/2014/main" val="20001"/>
                    </a:ext>
                  </a:extLst>
                </a:gridCol>
              </a:tblGrid>
              <a:tr h="548625">
                <a:tc>
                  <a:txBody>
                    <a:bodyPr/>
                    <a:lstStyle/>
                    <a:p>
                      <a:pPr marL="0" lvl="0" indent="0" algn="l" rtl="0">
                        <a:spcBef>
                          <a:spcPts val="0"/>
                        </a:spcBef>
                        <a:spcAft>
                          <a:spcPts val="0"/>
                        </a:spcAft>
                        <a:buClr>
                          <a:schemeClr val="dk1"/>
                        </a:buClr>
                        <a:buSzPts val="1100"/>
                        <a:buFont typeface="Arial"/>
                        <a:buNone/>
                      </a:pPr>
                      <a:r>
                        <a:rPr lang="en" sz="2100">
                          <a:solidFill>
                            <a:schemeClr val="dk1"/>
                          </a:solidFill>
                          <a:latin typeface="Times New Roman"/>
                          <a:ea typeface="Times New Roman"/>
                          <a:cs typeface="Times New Roman"/>
                          <a:sym typeface="Times New Roman"/>
                        </a:rPr>
                        <a:t>S-&gt;if E then S</a:t>
                      </a:r>
                      <a:r>
                        <a:rPr lang="en" sz="2100" baseline="-25000">
                          <a:solidFill>
                            <a:schemeClr val="dk1"/>
                          </a:solidFill>
                          <a:latin typeface="Times New Roman"/>
                          <a:ea typeface="Times New Roman"/>
                          <a:cs typeface="Times New Roman"/>
                          <a:sym typeface="Times New Roman"/>
                        </a:rPr>
                        <a:t>1</a:t>
                      </a:r>
                      <a:endParaRPr sz="2100">
                        <a:latin typeface="Times New Roman"/>
                        <a:ea typeface="Times New Roman"/>
                        <a:cs typeface="Times New Roman"/>
                        <a:sym typeface="Times New Roman"/>
                      </a:endParaRPr>
                    </a:p>
                  </a:txBody>
                  <a:tcPr marL="91425" marR="91425" marT="91425" marB="91425"/>
                </a:tc>
                <a:tc>
                  <a:txBody>
                    <a:bodyPr/>
                    <a:lstStyle/>
                    <a:p>
                      <a:pPr marL="0" lvl="0" indent="0" algn="l" rtl="0">
                        <a:lnSpc>
                          <a:spcPct val="100000"/>
                        </a:lnSpc>
                        <a:spcBef>
                          <a:spcPts val="0"/>
                        </a:spcBef>
                        <a:spcAft>
                          <a:spcPts val="0"/>
                        </a:spcAft>
                        <a:buNone/>
                      </a:pPr>
                      <a:r>
                        <a:rPr lang="en" sz="2100">
                          <a:latin typeface="Times New Roman"/>
                          <a:ea typeface="Times New Roman"/>
                          <a:cs typeface="Times New Roman"/>
                          <a:sym typeface="Times New Roman"/>
                        </a:rPr>
                        <a:t>E.true:=newlabel;</a:t>
                      </a:r>
                      <a:endParaRPr sz="210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2100">
                          <a:latin typeface="Times New Roman"/>
                          <a:ea typeface="Times New Roman"/>
                          <a:cs typeface="Times New Roman"/>
                          <a:sym typeface="Times New Roman"/>
                        </a:rPr>
                        <a:t>E.false:=S.next;</a:t>
                      </a:r>
                      <a:endParaRPr sz="2100">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2100">
                          <a:solidFill>
                            <a:schemeClr val="dk1"/>
                          </a:solidFill>
                          <a:latin typeface="Times New Roman"/>
                          <a:ea typeface="Times New Roman"/>
                          <a:cs typeface="Times New Roman"/>
                          <a:sym typeface="Times New Roman"/>
                        </a:rPr>
                        <a:t>S</a:t>
                      </a:r>
                      <a:r>
                        <a:rPr lang="en" sz="2100" baseline="-25000">
                          <a:solidFill>
                            <a:schemeClr val="dk1"/>
                          </a:solidFill>
                          <a:latin typeface="Times New Roman"/>
                          <a:ea typeface="Times New Roman"/>
                          <a:cs typeface="Times New Roman"/>
                          <a:sym typeface="Times New Roman"/>
                        </a:rPr>
                        <a:t>1</a:t>
                      </a:r>
                      <a:r>
                        <a:rPr lang="en" sz="2100">
                          <a:solidFill>
                            <a:schemeClr val="dk1"/>
                          </a:solidFill>
                          <a:latin typeface="Times New Roman"/>
                          <a:ea typeface="Times New Roman"/>
                          <a:cs typeface="Times New Roman"/>
                          <a:sym typeface="Times New Roman"/>
                        </a:rPr>
                        <a:t>.next:=S.next;</a:t>
                      </a:r>
                      <a:endParaRPr sz="21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2100">
                          <a:solidFill>
                            <a:schemeClr val="dk1"/>
                          </a:solidFill>
                          <a:latin typeface="Times New Roman"/>
                          <a:ea typeface="Times New Roman"/>
                          <a:cs typeface="Times New Roman"/>
                          <a:sym typeface="Times New Roman"/>
                        </a:rPr>
                        <a:t>S.code:=E.code||</a:t>
                      </a:r>
                      <a:endParaRPr sz="21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2100">
                          <a:solidFill>
                            <a:schemeClr val="dk1"/>
                          </a:solidFill>
                          <a:latin typeface="Times New Roman"/>
                          <a:ea typeface="Times New Roman"/>
                          <a:cs typeface="Times New Roman"/>
                          <a:sym typeface="Times New Roman"/>
                        </a:rPr>
                        <a:t>                    gen(E.true’:’) ||S</a:t>
                      </a:r>
                      <a:r>
                        <a:rPr lang="en" sz="2100" baseline="-25000">
                          <a:solidFill>
                            <a:schemeClr val="dk1"/>
                          </a:solidFill>
                          <a:latin typeface="Times New Roman"/>
                          <a:ea typeface="Times New Roman"/>
                          <a:cs typeface="Times New Roman"/>
                          <a:sym typeface="Times New Roman"/>
                        </a:rPr>
                        <a:t>1</a:t>
                      </a:r>
                      <a:r>
                        <a:rPr lang="en" sz="2100">
                          <a:solidFill>
                            <a:schemeClr val="dk1"/>
                          </a:solidFill>
                          <a:latin typeface="Times New Roman"/>
                          <a:ea typeface="Times New Roman"/>
                          <a:cs typeface="Times New Roman"/>
                          <a:sym typeface="Times New Roman"/>
                        </a:rPr>
                        <a:t>.code</a:t>
                      </a:r>
                      <a:endParaRPr sz="2100">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bl>
          </a:graphicData>
        </a:graphic>
      </p:graphicFrame>
      <p:pic>
        <p:nvPicPr>
          <p:cNvPr id="226" name="Google Shape;226;p41"/>
          <p:cNvPicPr preferRelativeResize="0"/>
          <p:nvPr/>
        </p:nvPicPr>
        <p:blipFill>
          <a:blip r:embed="rId3">
            <a:alphaModFix/>
          </a:blip>
          <a:stretch>
            <a:fillRect/>
          </a:stretch>
        </p:blipFill>
        <p:spPr>
          <a:xfrm>
            <a:off x="1366250" y="2611950"/>
            <a:ext cx="3716975" cy="248142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42"/>
          <p:cNvSpPr txBox="1"/>
          <p:nvPr/>
        </p:nvSpPr>
        <p:spPr>
          <a:xfrm>
            <a:off x="80375" y="60275"/>
            <a:ext cx="9063600" cy="503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rgbClr val="990000"/>
                </a:solidFill>
                <a:latin typeface="Times New Roman"/>
                <a:ea typeface="Times New Roman"/>
                <a:cs typeface="Times New Roman"/>
                <a:sym typeface="Times New Roman"/>
              </a:rPr>
              <a:t>Syntax-directed definition for flow-of-control statements</a:t>
            </a:r>
            <a:endParaRPr sz="2400" b="1">
              <a:solidFill>
                <a:srgbClr val="990000"/>
              </a:solidFill>
              <a:latin typeface="Times New Roman"/>
              <a:ea typeface="Times New Roman"/>
              <a:cs typeface="Times New Roman"/>
              <a:sym typeface="Times New Roman"/>
            </a:endParaRPr>
          </a:p>
        </p:txBody>
      </p:sp>
      <p:graphicFrame>
        <p:nvGraphicFramePr>
          <p:cNvPr id="232" name="Google Shape;232;p42"/>
          <p:cNvGraphicFramePr/>
          <p:nvPr/>
        </p:nvGraphicFramePr>
        <p:xfrm>
          <a:off x="128725" y="573375"/>
          <a:ext cx="8921700" cy="2621250"/>
        </p:xfrm>
        <a:graphic>
          <a:graphicData uri="http://schemas.openxmlformats.org/drawingml/2006/table">
            <a:tbl>
              <a:tblPr>
                <a:noFill/>
                <a:tableStyleId>{E45C88B7-2F03-4263-B044-BB84167B48E1}</a:tableStyleId>
              </a:tblPr>
              <a:tblGrid>
                <a:gridCol w="3335725">
                  <a:extLst>
                    <a:ext uri="{9D8B030D-6E8A-4147-A177-3AD203B41FA5}">
                      <a16:colId xmlns:a16="http://schemas.microsoft.com/office/drawing/2014/main" val="20000"/>
                    </a:ext>
                  </a:extLst>
                </a:gridCol>
                <a:gridCol w="5585975">
                  <a:extLst>
                    <a:ext uri="{9D8B030D-6E8A-4147-A177-3AD203B41FA5}">
                      <a16:colId xmlns:a16="http://schemas.microsoft.com/office/drawing/2014/main" val="20001"/>
                    </a:ext>
                  </a:extLst>
                </a:gridCol>
              </a:tblGrid>
              <a:tr h="548625">
                <a:tc>
                  <a:txBody>
                    <a:bodyPr/>
                    <a:lstStyle/>
                    <a:p>
                      <a:pPr marL="0" lvl="0" indent="0" algn="l" rtl="0">
                        <a:spcBef>
                          <a:spcPts val="0"/>
                        </a:spcBef>
                        <a:spcAft>
                          <a:spcPts val="0"/>
                        </a:spcAft>
                        <a:buNone/>
                      </a:pPr>
                      <a:r>
                        <a:rPr lang="en" sz="2000">
                          <a:solidFill>
                            <a:schemeClr val="dk1"/>
                          </a:solidFill>
                          <a:latin typeface="Times New Roman"/>
                          <a:ea typeface="Times New Roman"/>
                          <a:cs typeface="Times New Roman"/>
                          <a:sym typeface="Times New Roman"/>
                        </a:rPr>
                        <a:t>S-&gt;if E then S</a:t>
                      </a:r>
                      <a:r>
                        <a:rPr lang="en" sz="2000" baseline="-25000">
                          <a:solidFill>
                            <a:schemeClr val="dk1"/>
                          </a:solidFill>
                          <a:latin typeface="Times New Roman"/>
                          <a:ea typeface="Times New Roman"/>
                          <a:cs typeface="Times New Roman"/>
                          <a:sym typeface="Times New Roman"/>
                        </a:rPr>
                        <a:t>1</a:t>
                      </a:r>
                      <a:r>
                        <a:rPr lang="en" sz="2000">
                          <a:solidFill>
                            <a:schemeClr val="dk1"/>
                          </a:solidFill>
                          <a:latin typeface="Times New Roman"/>
                          <a:ea typeface="Times New Roman"/>
                          <a:cs typeface="Times New Roman"/>
                          <a:sym typeface="Times New Roman"/>
                        </a:rPr>
                        <a:t> else S</a:t>
                      </a:r>
                      <a:r>
                        <a:rPr lang="en" sz="2000" baseline="-25000">
                          <a:solidFill>
                            <a:schemeClr val="dk1"/>
                          </a:solidFill>
                          <a:latin typeface="Times New Roman"/>
                          <a:ea typeface="Times New Roman"/>
                          <a:cs typeface="Times New Roman"/>
                          <a:sym typeface="Times New Roman"/>
                        </a:rPr>
                        <a:t>2</a:t>
                      </a:r>
                      <a:endParaRPr sz="2000" baseline="-25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000">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sz="2000">
                          <a:solidFill>
                            <a:schemeClr val="dk1"/>
                          </a:solidFill>
                          <a:latin typeface="Times New Roman"/>
                          <a:ea typeface="Times New Roman"/>
                          <a:cs typeface="Times New Roman"/>
                          <a:sym typeface="Times New Roman"/>
                        </a:rPr>
                        <a:t>E.true:=newlabel;</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000">
                          <a:solidFill>
                            <a:schemeClr val="dk1"/>
                          </a:solidFill>
                          <a:latin typeface="Times New Roman"/>
                          <a:ea typeface="Times New Roman"/>
                          <a:cs typeface="Times New Roman"/>
                          <a:sym typeface="Times New Roman"/>
                        </a:rPr>
                        <a:t>E.false:=newlabel;</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000">
                          <a:solidFill>
                            <a:schemeClr val="dk1"/>
                          </a:solidFill>
                          <a:latin typeface="Times New Roman"/>
                          <a:ea typeface="Times New Roman"/>
                          <a:cs typeface="Times New Roman"/>
                          <a:sym typeface="Times New Roman"/>
                        </a:rPr>
                        <a:t>S</a:t>
                      </a:r>
                      <a:r>
                        <a:rPr lang="en" sz="2000" baseline="-25000">
                          <a:solidFill>
                            <a:schemeClr val="dk1"/>
                          </a:solidFill>
                          <a:latin typeface="Times New Roman"/>
                          <a:ea typeface="Times New Roman"/>
                          <a:cs typeface="Times New Roman"/>
                          <a:sym typeface="Times New Roman"/>
                        </a:rPr>
                        <a:t>1</a:t>
                      </a:r>
                      <a:r>
                        <a:rPr lang="en" sz="2000">
                          <a:solidFill>
                            <a:schemeClr val="dk1"/>
                          </a:solidFill>
                          <a:latin typeface="Times New Roman"/>
                          <a:ea typeface="Times New Roman"/>
                          <a:cs typeface="Times New Roman"/>
                          <a:sym typeface="Times New Roman"/>
                        </a:rPr>
                        <a:t>.next:=S.next;</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000">
                          <a:solidFill>
                            <a:schemeClr val="dk1"/>
                          </a:solidFill>
                          <a:latin typeface="Times New Roman"/>
                          <a:ea typeface="Times New Roman"/>
                          <a:cs typeface="Times New Roman"/>
                          <a:sym typeface="Times New Roman"/>
                        </a:rPr>
                        <a:t>S</a:t>
                      </a:r>
                      <a:r>
                        <a:rPr lang="en" sz="2000" baseline="-25000">
                          <a:solidFill>
                            <a:schemeClr val="dk1"/>
                          </a:solidFill>
                          <a:latin typeface="Times New Roman"/>
                          <a:ea typeface="Times New Roman"/>
                          <a:cs typeface="Times New Roman"/>
                          <a:sym typeface="Times New Roman"/>
                        </a:rPr>
                        <a:t>2</a:t>
                      </a:r>
                      <a:r>
                        <a:rPr lang="en" sz="2000">
                          <a:solidFill>
                            <a:schemeClr val="dk1"/>
                          </a:solidFill>
                          <a:latin typeface="Times New Roman"/>
                          <a:ea typeface="Times New Roman"/>
                          <a:cs typeface="Times New Roman"/>
                          <a:sym typeface="Times New Roman"/>
                        </a:rPr>
                        <a:t>.next:=S.next;</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000">
                          <a:solidFill>
                            <a:schemeClr val="dk1"/>
                          </a:solidFill>
                          <a:latin typeface="Times New Roman"/>
                          <a:ea typeface="Times New Roman"/>
                          <a:cs typeface="Times New Roman"/>
                          <a:sym typeface="Times New Roman"/>
                        </a:rPr>
                        <a:t>S.code:=E.code||</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000">
                          <a:solidFill>
                            <a:schemeClr val="dk1"/>
                          </a:solidFill>
                          <a:latin typeface="Times New Roman"/>
                          <a:ea typeface="Times New Roman"/>
                          <a:cs typeface="Times New Roman"/>
                          <a:sym typeface="Times New Roman"/>
                        </a:rPr>
                        <a:t>                    gen(E.true’:’) ||S</a:t>
                      </a:r>
                      <a:r>
                        <a:rPr lang="en" sz="2000" baseline="-25000">
                          <a:solidFill>
                            <a:schemeClr val="dk1"/>
                          </a:solidFill>
                          <a:latin typeface="Times New Roman"/>
                          <a:ea typeface="Times New Roman"/>
                          <a:cs typeface="Times New Roman"/>
                          <a:sym typeface="Times New Roman"/>
                        </a:rPr>
                        <a:t>1</a:t>
                      </a:r>
                      <a:r>
                        <a:rPr lang="en" sz="2000">
                          <a:solidFill>
                            <a:schemeClr val="dk1"/>
                          </a:solidFill>
                          <a:latin typeface="Times New Roman"/>
                          <a:ea typeface="Times New Roman"/>
                          <a:cs typeface="Times New Roman"/>
                          <a:sym typeface="Times New Roman"/>
                        </a:rPr>
                        <a:t>.code||</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000">
                          <a:solidFill>
                            <a:schemeClr val="dk1"/>
                          </a:solidFill>
                          <a:latin typeface="Times New Roman"/>
                          <a:ea typeface="Times New Roman"/>
                          <a:cs typeface="Times New Roman"/>
                          <a:sym typeface="Times New Roman"/>
                        </a:rPr>
                        <a:t>                    gen(‘goto’ S.next) ||</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2000">
                          <a:solidFill>
                            <a:schemeClr val="dk1"/>
                          </a:solidFill>
                          <a:latin typeface="Times New Roman"/>
                          <a:ea typeface="Times New Roman"/>
                          <a:cs typeface="Times New Roman"/>
                          <a:sym typeface="Times New Roman"/>
                        </a:rPr>
                        <a:t>                   gen(E.false’:’) ||S</a:t>
                      </a:r>
                      <a:r>
                        <a:rPr lang="en" sz="2000" baseline="-25000">
                          <a:solidFill>
                            <a:schemeClr val="dk1"/>
                          </a:solidFill>
                          <a:latin typeface="Times New Roman"/>
                          <a:ea typeface="Times New Roman"/>
                          <a:cs typeface="Times New Roman"/>
                          <a:sym typeface="Times New Roman"/>
                        </a:rPr>
                        <a:t>2</a:t>
                      </a:r>
                      <a:r>
                        <a:rPr lang="en" sz="2000">
                          <a:solidFill>
                            <a:schemeClr val="dk1"/>
                          </a:solidFill>
                          <a:latin typeface="Times New Roman"/>
                          <a:ea typeface="Times New Roman"/>
                          <a:cs typeface="Times New Roman"/>
                          <a:sym typeface="Times New Roman"/>
                        </a:rPr>
                        <a:t>.code</a:t>
                      </a:r>
                      <a:endParaRPr sz="2000">
                        <a:solidFill>
                          <a:schemeClr val="dk1"/>
                        </a:solidFill>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bl>
          </a:graphicData>
        </a:graphic>
      </p:graphicFrame>
      <p:pic>
        <p:nvPicPr>
          <p:cNvPr id="233" name="Google Shape;233;p42"/>
          <p:cNvPicPr preferRelativeResize="0"/>
          <p:nvPr/>
        </p:nvPicPr>
        <p:blipFill>
          <a:blip r:embed="rId3">
            <a:alphaModFix/>
          </a:blip>
          <a:stretch>
            <a:fillRect/>
          </a:stretch>
        </p:blipFill>
        <p:spPr>
          <a:xfrm>
            <a:off x="80375" y="2190050"/>
            <a:ext cx="3887749" cy="2853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3"/>
          <p:cNvSpPr txBox="1"/>
          <p:nvPr/>
        </p:nvSpPr>
        <p:spPr>
          <a:xfrm>
            <a:off x="80375" y="60275"/>
            <a:ext cx="9063600" cy="503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rgbClr val="990000"/>
                </a:solidFill>
                <a:latin typeface="Times New Roman"/>
                <a:ea typeface="Times New Roman"/>
                <a:cs typeface="Times New Roman"/>
                <a:sym typeface="Times New Roman"/>
              </a:rPr>
              <a:t>Syntax-directed definition for flow-of-control statements</a:t>
            </a:r>
            <a:endParaRPr sz="2400" b="1">
              <a:solidFill>
                <a:srgbClr val="990000"/>
              </a:solidFill>
              <a:latin typeface="Times New Roman"/>
              <a:ea typeface="Times New Roman"/>
              <a:cs typeface="Times New Roman"/>
              <a:sym typeface="Times New Roman"/>
            </a:endParaRPr>
          </a:p>
        </p:txBody>
      </p:sp>
      <p:graphicFrame>
        <p:nvGraphicFramePr>
          <p:cNvPr id="239" name="Google Shape;239;p43"/>
          <p:cNvGraphicFramePr/>
          <p:nvPr/>
        </p:nvGraphicFramePr>
        <p:xfrm>
          <a:off x="128725" y="573375"/>
          <a:ext cx="8921700" cy="2499330"/>
        </p:xfrm>
        <a:graphic>
          <a:graphicData uri="http://schemas.openxmlformats.org/drawingml/2006/table">
            <a:tbl>
              <a:tblPr>
                <a:noFill/>
                <a:tableStyleId>{E45C88B7-2F03-4263-B044-BB84167B48E1}</a:tableStyleId>
              </a:tblPr>
              <a:tblGrid>
                <a:gridCol w="3335725">
                  <a:extLst>
                    <a:ext uri="{9D8B030D-6E8A-4147-A177-3AD203B41FA5}">
                      <a16:colId xmlns:a16="http://schemas.microsoft.com/office/drawing/2014/main" val="20000"/>
                    </a:ext>
                  </a:extLst>
                </a:gridCol>
                <a:gridCol w="5585975">
                  <a:extLst>
                    <a:ext uri="{9D8B030D-6E8A-4147-A177-3AD203B41FA5}">
                      <a16:colId xmlns:a16="http://schemas.microsoft.com/office/drawing/2014/main" val="20001"/>
                    </a:ext>
                  </a:extLst>
                </a:gridCol>
              </a:tblGrid>
              <a:tr h="548625">
                <a:tc>
                  <a:txBody>
                    <a:bodyPr/>
                    <a:lstStyle/>
                    <a:p>
                      <a:pPr marL="0" lvl="0" indent="0" algn="l" rtl="0">
                        <a:spcBef>
                          <a:spcPts val="0"/>
                        </a:spcBef>
                        <a:spcAft>
                          <a:spcPts val="0"/>
                        </a:spcAft>
                        <a:buNone/>
                      </a:pPr>
                      <a:r>
                        <a:rPr lang="en" sz="1900">
                          <a:solidFill>
                            <a:schemeClr val="dk1"/>
                          </a:solidFill>
                          <a:latin typeface="Times New Roman"/>
                          <a:ea typeface="Times New Roman"/>
                          <a:cs typeface="Times New Roman"/>
                          <a:sym typeface="Times New Roman"/>
                        </a:rPr>
                        <a:t>S-&gt;while E do S</a:t>
                      </a:r>
                      <a:endParaRPr sz="1900" baseline="-25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900">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l" rtl="0">
                        <a:spcBef>
                          <a:spcPts val="0"/>
                        </a:spcBef>
                        <a:spcAft>
                          <a:spcPts val="0"/>
                        </a:spcAft>
                        <a:buNone/>
                      </a:pPr>
                      <a:r>
                        <a:rPr lang="en" sz="1900">
                          <a:solidFill>
                            <a:schemeClr val="dk1"/>
                          </a:solidFill>
                          <a:latin typeface="Times New Roman"/>
                          <a:ea typeface="Times New Roman"/>
                          <a:cs typeface="Times New Roman"/>
                          <a:sym typeface="Times New Roman"/>
                        </a:rPr>
                        <a:t>S.begin:=newlabel;</a:t>
                      </a:r>
                      <a:endParaRPr sz="19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1900">
                          <a:solidFill>
                            <a:schemeClr val="dk1"/>
                          </a:solidFill>
                          <a:latin typeface="Times New Roman"/>
                          <a:ea typeface="Times New Roman"/>
                          <a:cs typeface="Times New Roman"/>
                          <a:sym typeface="Times New Roman"/>
                        </a:rPr>
                        <a:t>E.true:=newlabel;</a:t>
                      </a:r>
                      <a:endParaRPr sz="19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1900">
                          <a:solidFill>
                            <a:schemeClr val="dk1"/>
                          </a:solidFill>
                          <a:latin typeface="Times New Roman"/>
                          <a:ea typeface="Times New Roman"/>
                          <a:cs typeface="Times New Roman"/>
                          <a:sym typeface="Times New Roman"/>
                        </a:rPr>
                        <a:t>E.false:=S.next;</a:t>
                      </a:r>
                      <a:endParaRPr sz="19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1900">
                          <a:solidFill>
                            <a:schemeClr val="dk1"/>
                          </a:solidFill>
                          <a:latin typeface="Times New Roman"/>
                          <a:ea typeface="Times New Roman"/>
                          <a:cs typeface="Times New Roman"/>
                          <a:sym typeface="Times New Roman"/>
                        </a:rPr>
                        <a:t>S</a:t>
                      </a:r>
                      <a:r>
                        <a:rPr lang="en" sz="1900" baseline="-25000">
                          <a:solidFill>
                            <a:schemeClr val="dk1"/>
                          </a:solidFill>
                          <a:latin typeface="Times New Roman"/>
                          <a:ea typeface="Times New Roman"/>
                          <a:cs typeface="Times New Roman"/>
                          <a:sym typeface="Times New Roman"/>
                        </a:rPr>
                        <a:t>1</a:t>
                      </a:r>
                      <a:r>
                        <a:rPr lang="en" sz="1900">
                          <a:solidFill>
                            <a:schemeClr val="dk1"/>
                          </a:solidFill>
                          <a:latin typeface="Times New Roman"/>
                          <a:ea typeface="Times New Roman"/>
                          <a:cs typeface="Times New Roman"/>
                          <a:sym typeface="Times New Roman"/>
                        </a:rPr>
                        <a:t>.next:=S.begin;</a:t>
                      </a:r>
                      <a:endParaRPr sz="19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1900">
                          <a:solidFill>
                            <a:schemeClr val="dk1"/>
                          </a:solidFill>
                          <a:latin typeface="Times New Roman"/>
                          <a:ea typeface="Times New Roman"/>
                          <a:cs typeface="Times New Roman"/>
                          <a:sym typeface="Times New Roman"/>
                        </a:rPr>
                        <a:t>S.code:=gen(S.begin’:’)|| E.code||</a:t>
                      </a:r>
                      <a:endParaRPr sz="19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1900">
                          <a:solidFill>
                            <a:schemeClr val="dk1"/>
                          </a:solidFill>
                          <a:latin typeface="Times New Roman"/>
                          <a:ea typeface="Times New Roman"/>
                          <a:cs typeface="Times New Roman"/>
                          <a:sym typeface="Times New Roman"/>
                        </a:rPr>
                        <a:t>                    gen(E.true’:’) ||S</a:t>
                      </a:r>
                      <a:r>
                        <a:rPr lang="en" sz="1900" baseline="-25000">
                          <a:solidFill>
                            <a:schemeClr val="dk1"/>
                          </a:solidFill>
                          <a:latin typeface="Times New Roman"/>
                          <a:ea typeface="Times New Roman"/>
                          <a:cs typeface="Times New Roman"/>
                          <a:sym typeface="Times New Roman"/>
                        </a:rPr>
                        <a:t>1</a:t>
                      </a:r>
                      <a:r>
                        <a:rPr lang="en" sz="1900">
                          <a:solidFill>
                            <a:schemeClr val="dk1"/>
                          </a:solidFill>
                          <a:latin typeface="Times New Roman"/>
                          <a:ea typeface="Times New Roman"/>
                          <a:cs typeface="Times New Roman"/>
                          <a:sym typeface="Times New Roman"/>
                        </a:rPr>
                        <a:t>.code||</a:t>
                      </a:r>
                      <a:endParaRPr sz="19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1900">
                          <a:solidFill>
                            <a:schemeClr val="dk1"/>
                          </a:solidFill>
                          <a:latin typeface="Times New Roman"/>
                          <a:ea typeface="Times New Roman"/>
                          <a:cs typeface="Times New Roman"/>
                          <a:sym typeface="Times New Roman"/>
                        </a:rPr>
                        <a:t>                    gen(‘goto’ S.begin) </a:t>
                      </a:r>
                      <a:endParaRPr sz="19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1900">
                          <a:solidFill>
                            <a:schemeClr val="dk1"/>
                          </a:solidFill>
                          <a:latin typeface="Times New Roman"/>
                          <a:ea typeface="Times New Roman"/>
                          <a:cs typeface="Times New Roman"/>
                          <a:sym typeface="Times New Roman"/>
                        </a:rPr>
                        <a:t>                   </a:t>
                      </a:r>
                      <a:endParaRPr sz="1900">
                        <a:solidFill>
                          <a:schemeClr val="dk1"/>
                        </a:solidFill>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bl>
          </a:graphicData>
        </a:graphic>
      </p:graphicFrame>
      <p:pic>
        <p:nvPicPr>
          <p:cNvPr id="240" name="Google Shape;240;p43"/>
          <p:cNvPicPr preferRelativeResize="0"/>
          <p:nvPr/>
        </p:nvPicPr>
        <p:blipFill>
          <a:blip r:embed="rId3">
            <a:alphaModFix/>
          </a:blip>
          <a:stretch>
            <a:fillRect/>
          </a:stretch>
        </p:blipFill>
        <p:spPr>
          <a:xfrm>
            <a:off x="241100" y="1305975"/>
            <a:ext cx="3174501" cy="36582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44"/>
          <p:cNvSpPr txBox="1"/>
          <p:nvPr/>
        </p:nvSpPr>
        <p:spPr>
          <a:xfrm>
            <a:off x="0" y="0"/>
            <a:ext cx="9071400" cy="3000000"/>
          </a:xfrm>
          <a:prstGeom prst="rect">
            <a:avLst/>
          </a:prstGeom>
          <a:noFill/>
          <a:ln>
            <a:noFill/>
          </a:ln>
        </p:spPr>
        <p:txBody>
          <a:bodyPr spcFirstLastPara="1" wrap="square" lIns="91425" tIns="91425" rIns="91425" bIns="91425" anchor="t" anchorCtr="0">
            <a:noAutofit/>
          </a:bodyPr>
          <a:lstStyle/>
          <a:p>
            <a:pPr marL="365760" lvl="0" indent="-256032" algn="l" rtl="0">
              <a:spcBef>
                <a:spcPts val="0"/>
              </a:spcBef>
              <a:spcAft>
                <a:spcPts val="0"/>
              </a:spcAft>
              <a:buNone/>
            </a:pPr>
            <a:r>
              <a:rPr lang="en" sz="2400" b="1">
                <a:solidFill>
                  <a:srgbClr val="990000"/>
                </a:solidFill>
                <a:latin typeface="Times New Roman"/>
                <a:ea typeface="Times New Roman"/>
                <a:cs typeface="Times New Roman"/>
                <a:sym typeface="Times New Roman"/>
              </a:rPr>
              <a:t>Case Statements</a:t>
            </a:r>
            <a:endParaRPr sz="2400" b="1">
              <a:solidFill>
                <a:srgbClr val="990000"/>
              </a:solidFill>
              <a:latin typeface="Times New Roman"/>
              <a:ea typeface="Times New Roman"/>
              <a:cs typeface="Times New Roman"/>
              <a:sym typeface="Times New Roman"/>
            </a:endParaRPr>
          </a:p>
          <a:p>
            <a:pPr marL="365760" lvl="0" indent="-256032" algn="l" rtl="0">
              <a:spcBef>
                <a:spcPts val="0"/>
              </a:spcBef>
              <a:spcAft>
                <a:spcPts val="0"/>
              </a:spcAft>
              <a:buNone/>
            </a:pPr>
            <a:endParaRPr sz="2400">
              <a:solidFill>
                <a:schemeClr val="dk1"/>
              </a:solidFill>
              <a:latin typeface="Times New Roman"/>
              <a:ea typeface="Times New Roman"/>
              <a:cs typeface="Times New Roman"/>
              <a:sym typeface="Times New Roman"/>
            </a:endParaRPr>
          </a:p>
          <a:p>
            <a:pPr marL="365760" lvl="0" indent="-256032" algn="l" rtl="0">
              <a:spcBef>
                <a:spcPts val="0"/>
              </a:spcBef>
              <a:spcAft>
                <a:spcPts val="0"/>
              </a:spcAft>
              <a:buNone/>
            </a:pPr>
            <a:r>
              <a:rPr lang="en" sz="2400">
                <a:solidFill>
                  <a:schemeClr val="dk1"/>
                </a:solidFill>
                <a:latin typeface="Times New Roman"/>
                <a:ea typeface="Times New Roman"/>
                <a:cs typeface="Times New Roman"/>
                <a:sym typeface="Times New Roman"/>
              </a:rPr>
              <a:t>Translation of a switch is code to:</a:t>
            </a:r>
            <a:endParaRPr sz="2400">
              <a:solidFill>
                <a:schemeClr val="dk1"/>
              </a:solidFill>
              <a:latin typeface="Times New Roman"/>
              <a:ea typeface="Times New Roman"/>
              <a:cs typeface="Times New Roman"/>
              <a:sym typeface="Times New Roman"/>
            </a:endParaRPr>
          </a:p>
          <a:p>
            <a:pPr marL="457200" lvl="0" indent="-381000" algn="l" rtl="0">
              <a:spcBef>
                <a:spcPts val="40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Evaluate the expression.</a:t>
            </a:r>
            <a:endParaRPr sz="2400">
              <a:solidFill>
                <a:schemeClr val="dk1"/>
              </a:solidFill>
              <a:latin typeface="Times New Roman"/>
              <a:ea typeface="Times New Roman"/>
              <a:cs typeface="Times New Roman"/>
              <a:sym typeface="Times New Roman"/>
            </a:endParaRPr>
          </a:p>
          <a:p>
            <a:pPr marL="457200" lvl="0" indent="-381000" algn="l" rtl="0">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Find which value in the list of cases is the same as the value of the expression. Recall that the default value matches the expression if none of the values explicitly mentioned in cases does.</a:t>
            </a:r>
            <a:endParaRPr sz="2400">
              <a:solidFill>
                <a:schemeClr val="dk1"/>
              </a:solidFill>
              <a:latin typeface="Times New Roman"/>
              <a:ea typeface="Times New Roman"/>
              <a:cs typeface="Times New Roman"/>
              <a:sym typeface="Times New Roman"/>
            </a:endParaRPr>
          </a:p>
          <a:p>
            <a:pPr marL="457200" lvl="0" indent="-381000" algn="l" rtl="0">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Execute the statement associated with the value found.</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5"/>
          <p:cNvSpPr txBox="1"/>
          <p:nvPr/>
        </p:nvSpPr>
        <p:spPr>
          <a:xfrm>
            <a:off x="0" y="0"/>
            <a:ext cx="9543600" cy="87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rgbClr val="464646"/>
                </a:solidFill>
                <a:latin typeface="Times New Roman"/>
                <a:ea typeface="Times New Roman"/>
                <a:cs typeface="Times New Roman"/>
                <a:sym typeface="Times New Roman"/>
              </a:rPr>
              <a:t>Switch statement syntax</a:t>
            </a:r>
            <a:endParaRPr sz="2400">
              <a:latin typeface="Times New Roman"/>
              <a:ea typeface="Times New Roman"/>
              <a:cs typeface="Times New Roman"/>
              <a:sym typeface="Times New Roman"/>
            </a:endParaRPr>
          </a:p>
        </p:txBody>
      </p:sp>
      <p:sp>
        <p:nvSpPr>
          <p:cNvPr id="251" name="Google Shape;251;p45"/>
          <p:cNvSpPr txBox="1"/>
          <p:nvPr/>
        </p:nvSpPr>
        <p:spPr>
          <a:xfrm>
            <a:off x="212675" y="996250"/>
            <a:ext cx="7693500" cy="3000000"/>
          </a:xfrm>
          <a:prstGeom prst="rect">
            <a:avLst/>
          </a:prstGeom>
          <a:noFill/>
          <a:ln>
            <a:noFill/>
          </a:ln>
        </p:spPr>
        <p:txBody>
          <a:bodyPr spcFirstLastPara="1" wrap="square" lIns="91425" tIns="91425" rIns="91425" bIns="91425" anchor="t" anchorCtr="0">
            <a:noAutofit/>
          </a:bodyPr>
          <a:lstStyle/>
          <a:p>
            <a:pPr marL="365760" lvl="0" indent="-256032" algn="l" rtl="0">
              <a:spcBef>
                <a:spcPts val="0"/>
              </a:spcBef>
              <a:spcAft>
                <a:spcPts val="0"/>
              </a:spcAft>
              <a:buNone/>
            </a:pPr>
            <a:r>
              <a:rPr lang="en" sz="2400">
                <a:solidFill>
                  <a:schemeClr val="dk1"/>
                </a:solidFill>
                <a:latin typeface="Times New Roman"/>
                <a:ea typeface="Times New Roman"/>
                <a:cs typeface="Times New Roman"/>
                <a:sym typeface="Times New Roman"/>
              </a:rPr>
              <a:t>Switch expression</a:t>
            </a:r>
            <a:endParaRPr sz="240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a:solidFill>
                  <a:schemeClr val="dk1"/>
                </a:solidFill>
                <a:latin typeface="Times New Roman"/>
                <a:ea typeface="Times New Roman"/>
                <a:cs typeface="Times New Roman"/>
                <a:sym typeface="Times New Roman"/>
              </a:rPr>
              <a:t>	begin</a:t>
            </a:r>
            <a:endParaRPr sz="240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a:solidFill>
                  <a:schemeClr val="dk1"/>
                </a:solidFill>
                <a:latin typeface="Times New Roman"/>
                <a:ea typeface="Times New Roman"/>
                <a:cs typeface="Times New Roman"/>
                <a:sym typeface="Times New Roman"/>
              </a:rPr>
              <a:t>		case value: statement		</a:t>
            </a:r>
            <a:endParaRPr sz="240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a:solidFill>
                  <a:schemeClr val="dk1"/>
                </a:solidFill>
                <a:latin typeface="Times New Roman"/>
                <a:ea typeface="Times New Roman"/>
                <a:cs typeface="Times New Roman"/>
                <a:sym typeface="Times New Roman"/>
              </a:rPr>
              <a:t>		case value: statement</a:t>
            </a:r>
            <a:endParaRPr sz="240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a:solidFill>
                  <a:schemeClr val="dk1"/>
                </a:solidFill>
                <a:latin typeface="Times New Roman"/>
                <a:ea typeface="Times New Roman"/>
                <a:cs typeface="Times New Roman"/>
                <a:sym typeface="Times New Roman"/>
              </a:rPr>
              <a:t>		case value: statement</a:t>
            </a:r>
            <a:endParaRPr sz="240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a:solidFill>
                  <a:schemeClr val="dk1"/>
                </a:solidFill>
                <a:latin typeface="Times New Roman"/>
                <a:ea typeface="Times New Roman"/>
                <a:cs typeface="Times New Roman"/>
                <a:sym typeface="Times New Roman"/>
              </a:rPr>
              <a:t>		case value: statement</a:t>
            </a:r>
            <a:endParaRPr sz="240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a:solidFill>
                  <a:schemeClr val="dk1"/>
                </a:solidFill>
                <a:latin typeface="Times New Roman"/>
                <a:ea typeface="Times New Roman"/>
                <a:cs typeface="Times New Roman"/>
                <a:sym typeface="Times New Roman"/>
              </a:rPr>
              <a:t>		case value: statement</a:t>
            </a:r>
            <a:endParaRPr sz="240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a:solidFill>
                  <a:schemeClr val="dk1"/>
                </a:solidFill>
                <a:latin typeface="Times New Roman"/>
                <a:ea typeface="Times New Roman"/>
                <a:cs typeface="Times New Roman"/>
                <a:sym typeface="Times New Roman"/>
              </a:rPr>
              <a:t>end</a:t>
            </a:r>
            <a:endParaRPr sz="2400">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6"/>
          <p:cNvSpPr txBox="1"/>
          <p:nvPr/>
        </p:nvSpPr>
        <p:spPr>
          <a:xfrm>
            <a:off x="0" y="0"/>
            <a:ext cx="9402900" cy="75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rgbClr val="990000"/>
                </a:solidFill>
                <a:latin typeface="Times New Roman"/>
                <a:ea typeface="Times New Roman"/>
                <a:cs typeface="Times New Roman"/>
                <a:sym typeface="Times New Roman"/>
              </a:rPr>
              <a:t>Syntax Directed Translation</a:t>
            </a:r>
            <a:endParaRPr sz="2400" b="1">
              <a:solidFill>
                <a:srgbClr val="990000"/>
              </a:solidFill>
              <a:latin typeface="Times New Roman"/>
              <a:ea typeface="Times New Roman"/>
              <a:cs typeface="Times New Roman"/>
              <a:sym typeface="Times New Roman"/>
            </a:endParaRPr>
          </a:p>
        </p:txBody>
      </p:sp>
      <p:sp>
        <p:nvSpPr>
          <p:cNvPr id="257" name="Google Shape;257;p46"/>
          <p:cNvSpPr txBox="1"/>
          <p:nvPr/>
        </p:nvSpPr>
        <p:spPr>
          <a:xfrm>
            <a:off x="1026400" y="753600"/>
            <a:ext cx="6427500" cy="3000000"/>
          </a:xfrm>
          <a:prstGeom prst="rect">
            <a:avLst/>
          </a:prstGeom>
          <a:noFill/>
          <a:ln>
            <a:noFill/>
          </a:ln>
        </p:spPr>
        <p:txBody>
          <a:bodyPr spcFirstLastPara="1" wrap="square" lIns="91425" tIns="91425" rIns="91425" bIns="91425" anchor="t" anchorCtr="0">
            <a:noAutofit/>
          </a:bodyPr>
          <a:lstStyle/>
          <a:p>
            <a:pPr marL="365760" lvl="0" indent="-256032" algn="l" rtl="0">
              <a:spcBef>
                <a:spcPts val="0"/>
              </a:spcBef>
              <a:spcAft>
                <a:spcPts val="0"/>
              </a:spcAft>
              <a:buNone/>
            </a:pPr>
            <a:r>
              <a:rPr lang="en" sz="2400">
                <a:solidFill>
                  <a:schemeClr val="dk1"/>
                </a:solidFill>
                <a:latin typeface="Times New Roman"/>
                <a:ea typeface="Times New Roman"/>
                <a:cs typeface="Times New Roman"/>
                <a:sym typeface="Times New Roman"/>
              </a:rPr>
              <a:t>switch E</a:t>
            </a:r>
            <a:endParaRPr sz="240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a:solidFill>
                  <a:schemeClr val="dk1"/>
                </a:solidFill>
                <a:latin typeface="Times New Roman"/>
                <a:ea typeface="Times New Roman"/>
                <a:cs typeface="Times New Roman"/>
                <a:sym typeface="Times New Roman"/>
              </a:rPr>
              <a:t>     begin</a:t>
            </a:r>
            <a:endParaRPr sz="240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a:solidFill>
                  <a:schemeClr val="dk1"/>
                </a:solidFill>
                <a:latin typeface="Times New Roman"/>
                <a:ea typeface="Times New Roman"/>
                <a:cs typeface="Times New Roman"/>
                <a:sym typeface="Times New Roman"/>
              </a:rPr>
              <a:t>		case V</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     S</a:t>
            </a:r>
            <a:r>
              <a:rPr lang="en" sz="2400" baseline="-250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a:solidFill>
                  <a:schemeClr val="dk1"/>
                </a:solidFill>
                <a:latin typeface="Times New Roman"/>
                <a:ea typeface="Times New Roman"/>
                <a:cs typeface="Times New Roman"/>
                <a:sym typeface="Times New Roman"/>
              </a:rPr>
              <a:t>		case V</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     S</a:t>
            </a:r>
            <a:r>
              <a:rPr lang="en" sz="2400" baseline="-250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a:solidFill>
                  <a:schemeClr val="dk1"/>
                </a:solidFill>
                <a:latin typeface="Times New Roman"/>
                <a:ea typeface="Times New Roman"/>
                <a:cs typeface="Times New Roman"/>
                <a:sym typeface="Times New Roman"/>
              </a:rPr>
              <a:t>		case V</a:t>
            </a:r>
            <a:r>
              <a:rPr lang="en" sz="2400" baseline="-25000">
                <a:solidFill>
                  <a:schemeClr val="dk1"/>
                </a:solidFill>
                <a:latin typeface="Times New Roman"/>
                <a:ea typeface="Times New Roman"/>
                <a:cs typeface="Times New Roman"/>
                <a:sym typeface="Times New Roman"/>
              </a:rPr>
              <a:t>n-1</a:t>
            </a:r>
            <a:r>
              <a:rPr lang="en" sz="2400">
                <a:solidFill>
                  <a:schemeClr val="dk1"/>
                </a:solidFill>
                <a:latin typeface="Times New Roman"/>
                <a:ea typeface="Times New Roman"/>
                <a:cs typeface="Times New Roman"/>
                <a:sym typeface="Times New Roman"/>
              </a:rPr>
              <a:t>:    S</a:t>
            </a:r>
            <a:r>
              <a:rPr lang="en" sz="2400" baseline="-25000">
                <a:solidFill>
                  <a:schemeClr val="dk1"/>
                </a:solidFill>
                <a:latin typeface="Times New Roman"/>
                <a:ea typeface="Times New Roman"/>
                <a:cs typeface="Times New Roman"/>
                <a:sym typeface="Times New Roman"/>
              </a:rPr>
              <a:t>n-1</a:t>
            </a:r>
            <a:endParaRPr sz="240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a:solidFill>
                  <a:schemeClr val="dk1"/>
                </a:solidFill>
                <a:latin typeface="Times New Roman"/>
                <a:ea typeface="Times New Roman"/>
                <a:cs typeface="Times New Roman"/>
                <a:sym typeface="Times New Roman"/>
              </a:rPr>
              <a:t>		default: S</a:t>
            </a:r>
            <a:r>
              <a:rPr lang="en" sz="2400" baseline="-25000">
                <a:solidFill>
                  <a:schemeClr val="dk1"/>
                </a:solidFill>
                <a:latin typeface="Times New Roman"/>
                <a:ea typeface="Times New Roman"/>
                <a:cs typeface="Times New Roman"/>
                <a:sym typeface="Times New Roman"/>
              </a:rPr>
              <a:t>n</a:t>
            </a:r>
            <a:endParaRPr sz="2400" baseline="-2500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a:solidFill>
                  <a:schemeClr val="dk1"/>
                </a:solidFill>
                <a:latin typeface="Times New Roman"/>
                <a:ea typeface="Times New Roman"/>
                <a:cs typeface="Times New Roman"/>
                <a:sym typeface="Times New Roman"/>
              </a:rPr>
              <a:t>	end</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7"/>
          <p:cNvSpPr txBox="1"/>
          <p:nvPr/>
        </p:nvSpPr>
        <p:spPr>
          <a:xfrm>
            <a:off x="0" y="0"/>
            <a:ext cx="8378400" cy="59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rgbClr val="990000"/>
                </a:solidFill>
                <a:latin typeface="Times New Roman"/>
                <a:ea typeface="Times New Roman"/>
                <a:cs typeface="Times New Roman"/>
                <a:sym typeface="Times New Roman"/>
              </a:rPr>
              <a:t>Syntax Directed Translation of a Case Statement </a:t>
            </a:r>
            <a:endParaRPr sz="2400" b="1">
              <a:solidFill>
                <a:srgbClr val="990000"/>
              </a:solidFill>
              <a:latin typeface="Times New Roman"/>
              <a:ea typeface="Times New Roman"/>
              <a:cs typeface="Times New Roman"/>
              <a:sym typeface="Times New Roman"/>
            </a:endParaRPr>
          </a:p>
        </p:txBody>
      </p:sp>
      <p:sp>
        <p:nvSpPr>
          <p:cNvPr id="263" name="Google Shape;263;p47"/>
          <p:cNvSpPr txBox="1"/>
          <p:nvPr/>
        </p:nvSpPr>
        <p:spPr>
          <a:xfrm>
            <a:off x="544175" y="592800"/>
            <a:ext cx="7171200" cy="3000000"/>
          </a:xfrm>
          <a:prstGeom prst="rect">
            <a:avLst/>
          </a:prstGeom>
          <a:noFill/>
          <a:ln>
            <a:noFill/>
          </a:ln>
        </p:spPr>
        <p:txBody>
          <a:bodyPr spcFirstLastPara="1" wrap="square" lIns="91425" tIns="91425" rIns="91425" bIns="91425" anchor="t" anchorCtr="0">
            <a:noAutofit/>
          </a:bodyPr>
          <a:lstStyle/>
          <a:p>
            <a:pPr marL="365760" lvl="0" indent="-256032" algn="l" rtl="0">
              <a:lnSpc>
                <a:spcPct val="80000"/>
              </a:lnSpc>
              <a:spcBef>
                <a:spcPts val="0"/>
              </a:spcBef>
              <a:spcAft>
                <a:spcPts val="0"/>
              </a:spcAft>
              <a:buNone/>
            </a:pPr>
            <a:r>
              <a:rPr lang="en" sz="2400">
                <a:solidFill>
                  <a:schemeClr val="dk1"/>
                </a:solidFill>
                <a:latin typeface="Times New Roman"/>
                <a:ea typeface="Times New Roman"/>
                <a:cs typeface="Times New Roman"/>
                <a:sym typeface="Times New Roman"/>
              </a:rPr>
              <a:t>code to evaluate E into t</a:t>
            </a:r>
            <a:endParaRPr sz="2400">
              <a:solidFill>
                <a:schemeClr val="dk1"/>
              </a:solidFill>
              <a:latin typeface="Times New Roman"/>
              <a:ea typeface="Times New Roman"/>
              <a:cs typeface="Times New Roman"/>
              <a:sym typeface="Times New Roman"/>
            </a:endParaRPr>
          </a:p>
          <a:p>
            <a:pPr marL="365760" lvl="0" indent="-256032" algn="l" rtl="0">
              <a:lnSpc>
                <a:spcPct val="80000"/>
              </a:lnSpc>
              <a:spcBef>
                <a:spcPts val="400"/>
              </a:spcBef>
              <a:spcAft>
                <a:spcPts val="0"/>
              </a:spcAft>
              <a:buNone/>
            </a:pPr>
            <a:r>
              <a:rPr lang="en" sz="2400">
                <a:solidFill>
                  <a:schemeClr val="dk1"/>
                </a:solidFill>
                <a:latin typeface="Times New Roman"/>
                <a:ea typeface="Times New Roman"/>
                <a:cs typeface="Times New Roman"/>
                <a:sym typeface="Times New Roman"/>
              </a:rPr>
              <a:t>goto test</a:t>
            </a:r>
            <a:endParaRPr sz="2400">
              <a:solidFill>
                <a:schemeClr val="dk1"/>
              </a:solidFill>
              <a:latin typeface="Times New Roman"/>
              <a:ea typeface="Times New Roman"/>
              <a:cs typeface="Times New Roman"/>
              <a:sym typeface="Times New Roman"/>
            </a:endParaRPr>
          </a:p>
          <a:p>
            <a:pPr marL="365760" lvl="0" indent="-256032" algn="l" rtl="0">
              <a:lnSpc>
                <a:spcPct val="80000"/>
              </a:lnSpc>
              <a:spcBef>
                <a:spcPts val="400"/>
              </a:spcBef>
              <a:spcAft>
                <a:spcPts val="0"/>
              </a:spcAft>
              <a:buNone/>
            </a:pPr>
            <a:r>
              <a:rPr lang="en" sz="2400">
                <a:solidFill>
                  <a:schemeClr val="dk1"/>
                </a:solidFill>
                <a:latin typeface="Times New Roman"/>
                <a:ea typeface="Times New Roman"/>
                <a:cs typeface="Times New Roman"/>
                <a:sym typeface="Times New Roman"/>
              </a:rPr>
              <a:t>L</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 	code for S</a:t>
            </a:r>
            <a:r>
              <a:rPr lang="en" sz="2400" baseline="-250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p>
            <a:pPr marL="365760" lvl="0" indent="-256032" algn="l" rtl="0">
              <a:lnSpc>
                <a:spcPct val="80000"/>
              </a:lnSpc>
              <a:spcBef>
                <a:spcPts val="400"/>
              </a:spcBef>
              <a:spcAft>
                <a:spcPts val="0"/>
              </a:spcAft>
              <a:buNone/>
            </a:pPr>
            <a:r>
              <a:rPr lang="en" sz="2400">
                <a:solidFill>
                  <a:schemeClr val="dk1"/>
                </a:solidFill>
                <a:latin typeface="Times New Roman"/>
                <a:ea typeface="Times New Roman"/>
                <a:cs typeface="Times New Roman"/>
                <a:sym typeface="Times New Roman"/>
              </a:rPr>
              <a:t>		goto next</a:t>
            </a:r>
            <a:endParaRPr sz="2400">
              <a:solidFill>
                <a:schemeClr val="dk1"/>
              </a:solidFill>
              <a:latin typeface="Times New Roman"/>
              <a:ea typeface="Times New Roman"/>
              <a:cs typeface="Times New Roman"/>
              <a:sym typeface="Times New Roman"/>
            </a:endParaRPr>
          </a:p>
          <a:p>
            <a:pPr marL="365760" lvl="0" indent="-256032" algn="l" rtl="0">
              <a:lnSpc>
                <a:spcPct val="80000"/>
              </a:lnSpc>
              <a:spcBef>
                <a:spcPts val="400"/>
              </a:spcBef>
              <a:spcAft>
                <a:spcPts val="0"/>
              </a:spcAft>
              <a:buNone/>
            </a:pPr>
            <a:r>
              <a:rPr lang="en" sz="2400">
                <a:solidFill>
                  <a:schemeClr val="dk1"/>
                </a:solidFill>
                <a:latin typeface="Times New Roman"/>
                <a:ea typeface="Times New Roman"/>
                <a:cs typeface="Times New Roman"/>
                <a:sym typeface="Times New Roman"/>
              </a:rPr>
              <a:t>L</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		 code for S</a:t>
            </a:r>
            <a:r>
              <a:rPr lang="en" sz="2400" baseline="-250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p>
            <a:pPr marL="365760" lvl="0" indent="-256032" algn="l" rtl="0">
              <a:lnSpc>
                <a:spcPct val="80000"/>
              </a:lnSpc>
              <a:spcBef>
                <a:spcPts val="400"/>
              </a:spcBef>
              <a:spcAft>
                <a:spcPts val="0"/>
              </a:spcAft>
              <a:buNone/>
            </a:pPr>
            <a:r>
              <a:rPr lang="en" sz="2400">
                <a:solidFill>
                  <a:schemeClr val="dk1"/>
                </a:solidFill>
                <a:latin typeface="Times New Roman"/>
                <a:ea typeface="Times New Roman"/>
                <a:cs typeface="Times New Roman"/>
                <a:sym typeface="Times New Roman"/>
              </a:rPr>
              <a:t>		goto next</a:t>
            </a:r>
            <a:endParaRPr sz="2400">
              <a:solidFill>
                <a:schemeClr val="dk1"/>
              </a:solidFill>
              <a:latin typeface="Times New Roman"/>
              <a:ea typeface="Times New Roman"/>
              <a:cs typeface="Times New Roman"/>
              <a:sym typeface="Times New Roman"/>
            </a:endParaRPr>
          </a:p>
          <a:p>
            <a:pPr marL="365760" lvl="0" indent="-256032" algn="l" rtl="0">
              <a:lnSpc>
                <a:spcPct val="80000"/>
              </a:lnSpc>
              <a:spcBef>
                <a:spcPts val="400"/>
              </a:spcBef>
              <a:spcAft>
                <a:spcPts val="0"/>
              </a:spcAft>
              <a:buNone/>
            </a:pPr>
            <a:r>
              <a:rPr lang="en"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marL="365760" lvl="0" indent="-256032" algn="l" rtl="0">
              <a:lnSpc>
                <a:spcPct val="80000"/>
              </a:lnSpc>
              <a:spcBef>
                <a:spcPts val="400"/>
              </a:spcBef>
              <a:spcAft>
                <a:spcPts val="0"/>
              </a:spcAft>
              <a:buNone/>
            </a:pPr>
            <a:r>
              <a:rPr lang="en" sz="2400">
                <a:solidFill>
                  <a:schemeClr val="dk1"/>
                </a:solidFill>
                <a:latin typeface="Times New Roman"/>
                <a:ea typeface="Times New Roman"/>
                <a:cs typeface="Times New Roman"/>
                <a:sym typeface="Times New Roman"/>
              </a:rPr>
              <a:t>L</a:t>
            </a:r>
            <a:r>
              <a:rPr lang="en" sz="2400" baseline="-25000">
                <a:solidFill>
                  <a:schemeClr val="dk1"/>
                </a:solidFill>
                <a:latin typeface="Times New Roman"/>
                <a:ea typeface="Times New Roman"/>
                <a:cs typeface="Times New Roman"/>
                <a:sym typeface="Times New Roman"/>
              </a:rPr>
              <a:t>n-1</a:t>
            </a:r>
            <a:r>
              <a:rPr lang="en" sz="2400">
                <a:solidFill>
                  <a:schemeClr val="dk1"/>
                </a:solidFill>
                <a:latin typeface="Times New Roman"/>
                <a:ea typeface="Times New Roman"/>
                <a:cs typeface="Times New Roman"/>
                <a:sym typeface="Times New Roman"/>
              </a:rPr>
              <a:t>:	 code for S</a:t>
            </a:r>
            <a:r>
              <a:rPr lang="en" sz="2400" baseline="-25000">
                <a:solidFill>
                  <a:schemeClr val="dk1"/>
                </a:solidFill>
                <a:latin typeface="Times New Roman"/>
                <a:ea typeface="Times New Roman"/>
                <a:cs typeface="Times New Roman"/>
                <a:sym typeface="Times New Roman"/>
              </a:rPr>
              <a:t>n-1</a:t>
            </a:r>
            <a:endParaRPr sz="2400">
              <a:solidFill>
                <a:schemeClr val="dk1"/>
              </a:solidFill>
              <a:latin typeface="Times New Roman"/>
              <a:ea typeface="Times New Roman"/>
              <a:cs typeface="Times New Roman"/>
              <a:sym typeface="Times New Roman"/>
            </a:endParaRPr>
          </a:p>
          <a:p>
            <a:pPr marL="365760" lvl="0" indent="-256032" algn="l" rtl="0">
              <a:lnSpc>
                <a:spcPct val="80000"/>
              </a:lnSpc>
              <a:spcBef>
                <a:spcPts val="400"/>
              </a:spcBef>
              <a:spcAft>
                <a:spcPts val="0"/>
              </a:spcAft>
              <a:buNone/>
            </a:pPr>
            <a:r>
              <a:rPr lang="en" sz="2400">
                <a:solidFill>
                  <a:schemeClr val="dk1"/>
                </a:solidFill>
                <a:latin typeface="Times New Roman"/>
                <a:ea typeface="Times New Roman"/>
                <a:cs typeface="Times New Roman"/>
                <a:sym typeface="Times New Roman"/>
              </a:rPr>
              <a:t>		goto next</a:t>
            </a:r>
            <a:endParaRPr sz="2400">
              <a:solidFill>
                <a:schemeClr val="dk1"/>
              </a:solidFill>
              <a:latin typeface="Times New Roman"/>
              <a:ea typeface="Times New Roman"/>
              <a:cs typeface="Times New Roman"/>
              <a:sym typeface="Times New Roman"/>
            </a:endParaRPr>
          </a:p>
          <a:p>
            <a:pPr marL="365760" lvl="0" indent="-256032" algn="l" rtl="0">
              <a:lnSpc>
                <a:spcPct val="80000"/>
              </a:lnSpc>
              <a:spcBef>
                <a:spcPts val="400"/>
              </a:spcBef>
              <a:spcAft>
                <a:spcPts val="0"/>
              </a:spcAft>
              <a:buNone/>
            </a:pPr>
            <a:r>
              <a:rPr lang="en"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365760" lvl="0" indent="-256032" algn="l" rtl="0">
              <a:lnSpc>
                <a:spcPct val="80000"/>
              </a:lnSpc>
              <a:spcBef>
                <a:spcPts val="400"/>
              </a:spcBef>
              <a:spcAft>
                <a:spcPts val="0"/>
              </a:spcAft>
              <a:buNone/>
            </a:pPr>
            <a:r>
              <a:rPr lang="en" sz="2400">
                <a:solidFill>
                  <a:schemeClr val="dk1"/>
                </a:solidFill>
                <a:latin typeface="Times New Roman"/>
                <a:ea typeface="Times New Roman"/>
                <a:cs typeface="Times New Roman"/>
                <a:sym typeface="Times New Roman"/>
              </a:rPr>
              <a:t>L</a:t>
            </a:r>
            <a:r>
              <a:rPr lang="en" sz="2400" baseline="-25000">
                <a:solidFill>
                  <a:schemeClr val="dk1"/>
                </a:solidFill>
                <a:latin typeface="Times New Roman"/>
                <a:ea typeface="Times New Roman"/>
                <a:cs typeface="Times New Roman"/>
                <a:sym typeface="Times New Roman"/>
              </a:rPr>
              <a:t>n</a:t>
            </a:r>
            <a:r>
              <a:rPr lang="en" sz="2400">
                <a:solidFill>
                  <a:schemeClr val="dk1"/>
                </a:solidFill>
                <a:latin typeface="Times New Roman"/>
                <a:ea typeface="Times New Roman"/>
                <a:cs typeface="Times New Roman"/>
                <a:sym typeface="Times New Roman"/>
              </a:rPr>
              <a:t>:		 code for S</a:t>
            </a:r>
            <a:r>
              <a:rPr lang="en" sz="2400" baseline="-25000">
                <a:solidFill>
                  <a:schemeClr val="dk1"/>
                </a:solidFill>
                <a:latin typeface="Times New Roman"/>
                <a:ea typeface="Times New Roman"/>
                <a:cs typeface="Times New Roman"/>
                <a:sym typeface="Times New Roman"/>
              </a:rPr>
              <a:t>n</a:t>
            </a:r>
            <a:endParaRPr sz="2400">
              <a:solidFill>
                <a:schemeClr val="dk1"/>
              </a:solidFill>
              <a:latin typeface="Times New Roman"/>
              <a:ea typeface="Times New Roman"/>
              <a:cs typeface="Times New Roman"/>
              <a:sym typeface="Times New Roman"/>
            </a:endParaRPr>
          </a:p>
          <a:p>
            <a:pPr marL="365760" lvl="0" indent="-256032" algn="l" rtl="0">
              <a:lnSpc>
                <a:spcPct val="80000"/>
              </a:lnSpc>
              <a:spcBef>
                <a:spcPts val="400"/>
              </a:spcBef>
              <a:spcAft>
                <a:spcPts val="0"/>
              </a:spcAft>
              <a:buNone/>
            </a:pPr>
            <a:r>
              <a:rPr lang="en" sz="2400">
                <a:solidFill>
                  <a:schemeClr val="dk1"/>
                </a:solidFill>
                <a:latin typeface="Times New Roman"/>
                <a:ea typeface="Times New Roman"/>
                <a:cs typeface="Times New Roman"/>
                <a:sym typeface="Times New Roman"/>
              </a:rPr>
              <a:t>		goto next</a:t>
            </a:r>
            <a:endParaRPr sz="2400">
              <a:solidFill>
                <a:schemeClr val="dk1"/>
              </a:solidFill>
              <a:latin typeface="Times New Roman"/>
              <a:ea typeface="Times New Roman"/>
              <a:cs typeface="Times New Roman"/>
              <a:sym typeface="Times New Roman"/>
            </a:endParaRPr>
          </a:p>
          <a:p>
            <a:pPr marL="365760" lvl="0" indent="-256032" algn="l" rtl="0">
              <a:lnSpc>
                <a:spcPct val="80000"/>
              </a:lnSpc>
              <a:spcBef>
                <a:spcPts val="400"/>
              </a:spcBef>
              <a:spcAft>
                <a:spcPts val="0"/>
              </a:spcAft>
              <a:buNone/>
            </a:pPr>
            <a:endParaRPr sz="2497">
              <a:solidFill>
                <a:schemeClr val="dk1"/>
              </a:solidFill>
              <a:latin typeface="Lucida Sans"/>
              <a:ea typeface="Lucida Sans"/>
              <a:cs typeface="Lucida Sans"/>
              <a:sym typeface="Lucida Sans"/>
            </a:endParaRPr>
          </a:p>
        </p:txBody>
      </p:sp>
      <p:sp>
        <p:nvSpPr>
          <p:cNvPr id="264" name="Google Shape;264;p47"/>
          <p:cNvSpPr txBox="1"/>
          <p:nvPr/>
        </p:nvSpPr>
        <p:spPr>
          <a:xfrm>
            <a:off x="5086650" y="592800"/>
            <a:ext cx="3613200" cy="3000000"/>
          </a:xfrm>
          <a:prstGeom prst="rect">
            <a:avLst/>
          </a:prstGeom>
          <a:noFill/>
          <a:ln>
            <a:noFill/>
          </a:ln>
        </p:spPr>
        <p:txBody>
          <a:bodyPr spcFirstLastPara="1" wrap="square" lIns="91425" tIns="91425" rIns="91425" bIns="91425" anchor="t" anchorCtr="0">
            <a:noAutofit/>
          </a:bodyPr>
          <a:lstStyle/>
          <a:p>
            <a:pPr marL="365760" lvl="0" indent="-256032" algn="l" rtl="0">
              <a:spcBef>
                <a:spcPts val="0"/>
              </a:spcBef>
              <a:spcAft>
                <a:spcPts val="0"/>
              </a:spcAft>
              <a:buNone/>
            </a:pPr>
            <a:r>
              <a:rPr lang="en" sz="2400">
                <a:solidFill>
                  <a:schemeClr val="dk1"/>
                </a:solidFill>
                <a:latin typeface="Times New Roman"/>
                <a:ea typeface="Times New Roman"/>
                <a:cs typeface="Times New Roman"/>
                <a:sym typeface="Times New Roman"/>
              </a:rPr>
              <a:t>test:	if t= V</a:t>
            </a:r>
            <a:r>
              <a:rPr lang="en" sz="2400" baseline="-250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 goto L</a:t>
            </a:r>
            <a:r>
              <a:rPr lang="en" sz="2400" baseline="-250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a:solidFill>
                  <a:schemeClr val="dk1"/>
                </a:solidFill>
                <a:latin typeface="Times New Roman"/>
                <a:ea typeface="Times New Roman"/>
                <a:cs typeface="Times New Roman"/>
                <a:sym typeface="Times New Roman"/>
              </a:rPr>
              <a:t>		if t= V</a:t>
            </a:r>
            <a:r>
              <a:rPr lang="en" sz="2400" baseline="-25000">
                <a:solidFill>
                  <a:schemeClr val="dk1"/>
                </a:solidFill>
                <a:latin typeface="Times New Roman"/>
                <a:ea typeface="Times New Roman"/>
                <a:cs typeface="Times New Roman"/>
                <a:sym typeface="Times New Roman"/>
              </a:rPr>
              <a:t>2</a:t>
            </a:r>
            <a:r>
              <a:rPr lang="en" sz="2400">
                <a:solidFill>
                  <a:schemeClr val="dk1"/>
                </a:solidFill>
                <a:latin typeface="Times New Roman"/>
                <a:ea typeface="Times New Roman"/>
                <a:cs typeface="Times New Roman"/>
                <a:sym typeface="Times New Roman"/>
              </a:rPr>
              <a:t> goto L</a:t>
            </a:r>
            <a:r>
              <a:rPr lang="en" sz="2400" baseline="-250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a:solidFill>
                  <a:schemeClr val="dk1"/>
                </a:solidFill>
                <a:latin typeface="Times New Roman"/>
                <a:ea typeface="Times New Roman"/>
                <a:cs typeface="Times New Roman"/>
                <a:sym typeface="Times New Roman"/>
              </a:rPr>
              <a:t>if t= V</a:t>
            </a:r>
            <a:r>
              <a:rPr lang="en" sz="2400" baseline="-25000">
                <a:solidFill>
                  <a:schemeClr val="dk1"/>
                </a:solidFill>
                <a:latin typeface="Times New Roman"/>
                <a:ea typeface="Times New Roman"/>
                <a:cs typeface="Times New Roman"/>
                <a:sym typeface="Times New Roman"/>
              </a:rPr>
              <a:t>n-1</a:t>
            </a:r>
            <a:r>
              <a:rPr lang="en" sz="2400">
                <a:solidFill>
                  <a:schemeClr val="dk1"/>
                </a:solidFill>
                <a:latin typeface="Times New Roman"/>
                <a:ea typeface="Times New Roman"/>
                <a:cs typeface="Times New Roman"/>
                <a:sym typeface="Times New Roman"/>
              </a:rPr>
              <a:t> goto L</a:t>
            </a:r>
            <a:r>
              <a:rPr lang="en" sz="2400" baseline="-25000">
                <a:solidFill>
                  <a:schemeClr val="dk1"/>
                </a:solidFill>
                <a:latin typeface="Times New Roman"/>
                <a:ea typeface="Times New Roman"/>
                <a:cs typeface="Times New Roman"/>
                <a:sym typeface="Times New Roman"/>
              </a:rPr>
              <a:t>n-1</a:t>
            </a:r>
            <a:endParaRPr sz="240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a:solidFill>
                  <a:schemeClr val="dk1"/>
                </a:solidFill>
                <a:latin typeface="Times New Roman"/>
                <a:ea typeface="Times New Roman"/>
                <a:cs typeface="Times New Roman"/>
                <a:sym typeface="Times New Roman"/>
              </a:rPr>
              <a:t>goto L</a:t>
            </a:r>
            <a:r>
              <a:rPr lang="en" sz="2400" baseline="-25000">
                <a:solidFill>
                  <a:schemeClr val="dk1"/>
                </a:solidFill>
                <a:latin typeface="Times New Roman"/>
                <a:ea typeface="Times New Roman"/>
                <a:cs typeface="Times New Roman"/>
                <a:sym typeface="Times New Roman"/>
              </a:rPr>
              <a:t>n</a:t>
            </a:r>
            <a:endParaRPr sz="240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r>
              <a:rPr lang="en" sz="2400">
                <a:solidFill>
                  <a:schemeClr val="dk1"/>
                </a:solidFill>
                <a:latin typeface="Times New Roman"/>
                <a:ea typeface="Times New Roman"/>
                <a:cs typeface="Times New Roman"/>
                <a:sym typeface="Times New Roman"/>
              </a:rPr>
              <a:t>next:</a:t>
            </a:r>
            <a:endParaRPr sz="2400">
              <a:solidFill>
                <a:schemeClr val="dk1"/>
              </a:solidFill>
              <a:latin typeface="Times New Roman"/>
              <a:ea typeface="Times New Roman"/>
              <a:cs typeface="Times New Roman"/>
              <a:sym typeface="Times New Roman"/>
            </a:endParaRPr>
          </a:p>
          <a:p>
            <a:pPr marL="365760" lvl="0" indent="-256032" algn="l" rtl="0">
              <a:spcBef>
                <a:spcPts val="400"/>
              </a:spcBef>
              <a:spcAft>
                <a:spcPts val="0"/>
              </a:spcAft>
              <a:buNone/>
            </a:pPr>
            <a:endParaRPr sz="2700">
              <a:solidFill>
                <a:schemeClr val="dk1"/>
              </a:solidFill>
              <a:latin typeface="Lucida Sans"/>
              <a:ea typeface="Lucida Sans"/>
              <a:cs typeface="Lucida Sans"/>
              <a:sym typeface="Lucida Sans"/>
            </a:endParaRPr>
          </a:p>
        </p:txBody>
      </p:sp>
      <p:cxnSp>
        <p:nvCxnSpPr>
          <p:cNvPr id="265" name="Google Shape;265;p47"/>
          <p:cNvCxnSpPr/>
          <p:nvPr/>
        </p:nvCxnSpPr>
        <p:spPr>
          <a:xfrm>
            <a:off x="4359925" y="482200"/>
            <a:ext cx="40200" cy="43701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8"/>
          <p:cNvSpPr txBox="1"/>
          <p:nvPr/>
        </p:nvSpPr>
        <p:spPr>
          <a:xfrm>
            <a:off x="512375" y="1768075"/>
            <a:ext cx="4671300" cy="90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4600" b="1">
                <a:solidFill>
                  <a:srgbClr val="9900FF"/>
                </a:solidFill>
                <a:latin typeface="Times New Roman"/>
                <a:ea typeface="Times New Roman"/>
                <a:cs typeface="Times New Roman"/>
                <a:sym typeface="Times New Roman"/>
              </a:rPr>
              <a:t>Thank You!!!!!!</a:t>
            </a:r>
            <a:endParaRPr sz="4600" b="1">
              <a:solidFill>
                <a:srgbClr val="9900FF"/>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199</TotalTime>
  <Words>3067</Words>
  <Application>Microsoft Office PowerPoint</Application>
  <PresentationFormat>On-screen Show (16:9)</PresentationFormat>
  <Paragraphs>405</Paragraphs>
  <Slides>36</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Courier New</vt:lpstr>
      <vt:lpstr>Lucida Sans</vt:lpstr>
      <vt:lpstr>Times New Roman</vt:lpstr>
      <vt:lpstr>Simple Light</vt:lpstr>
      <vt:lpstr>PowerPoint Presentation</vt:lpstr>
      <vt:lpstr>PowerPoint Presentation</vt:lpstr>
      <vt:lpstr>This is a Syntax Directed Definition (SDD) to compute: &gt;Type &gt;Width &gt;Relative address (offset) of declared identifiers. Let’s understand it clearly and apply it to the example: int a[10]; </vt:lpstr>
      <vt:lpstr>PowerPoint Presentation</vt:lpstr>
      <vt:lpstr>PowerPoint Presentation</vt:lpstr>
      <vt:lpstr>PowerPoint Presentation</vt:lpstr>
      <vt:lpstr>PowerPoint Presentation</vt:lpstr>
      <vt:lpstr>PowerPoint Presentation</vt:lpstr>
      <vt:lpstr>PowerPoint Presentation</vt:lpstr>
      <vt:lpstr>Two Dimensional Array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2515012_ Vidyasree</cp:lastModifiedBy>
  <cp:revision>4</cp:revision>
  <dcterms:modified xsi:type="dcterms:W3CDTF">2026-02-28T16:27:09Z</dcterms:modified>
</cp:coreProperties>
</file>