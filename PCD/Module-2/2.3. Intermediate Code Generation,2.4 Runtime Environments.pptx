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D586F-4DC8-48CA-8C43-F2DE57659710}" v="3" dt="2026-03-10T18:19:07.1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15012_ Vidyasree" userId="2633e80093b3d421" providerId="LiveId" clId="{12EBA23A-46CD-4FA7-9690-46E67EF4679B}"/>
    <pc:docChg chg="custSel modSld">
      <pc:chgData name="2515012_ Vidyasree" userId="2633e80093b3d421" providerId="LiveId" clId="{12EBA23A-46CD-4FA7-9690-46E67EF4679B}" dt="2026-03-16T17:22:23.262" v="179" actId="14100"/>
      <pc:docMkLst>
        <pc:docMk/>
      </pc:docMkLst>
      <pc:sldChg chg="delSp modSp mod">
        <pc:chgData name="2515012_ Vidyasree" userId="2633e80093b3d421" providerId="LiveId" clId="{12EBA23A-46CD-4FA7-9690-46E67EF4679B}" dt="2026-03-16T17:18:17.461" v="142" actId="478"/>
        <pc:sldMkLst>
          <pc:docMk/>
          <pc:sldMk cId="0" sldId="256"/>
        </pc:sldMkLst>
        <pc:spChg chg="mod">
          <ac:chgData name="2515012_ Vidyasree" userId="2633e80093b3d421" providerId="LiveId" clId="{12EBA23A-46CD-4FA7-9690-46E67EF4679B}" dt="2026-02-28T16:29:41.161" v="93" actId="313"/>
          <ac:spMkLst>
            <pc:docMk/>
            <pc:sldMk cId="0" sldId="256"/>
            <ac:spMk id="4" creationId="{00000000-0000-0000-0000-000000000000}"/>
          </ac:spMkLst>
        </pc:spChg>
        <pc:picChg chg="del">
          <ac:chgData name="2515012_ Vidyasree" userId="2633e80093b3d421" providerId="LiveId" clId="{12EBA23A-46CD-4FA7-9690-46E67EF4679B}" dt="2026-03-16T17:18:17.461" v="142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Sp modSp mod">
        <pc:chgData name="2515012_ Vidyasree" userId="2633e80093b3d421" providerId="LiveId" clId="{12EBA23A-46CD-4FA7-9690-46E67EF4679B}" dt="2026-03-16T17:19:03.138" v="177" actId="20577"/>
        <pc:sldMkLst>
          <pc:docMk/>
          <pc:sldMk cId="0" sldId="257"/>
        </pc:sldMkLst>
        <pc:spChg chg="mod">
          <ac:chgData name="2515012_ Vidyasree" userId="2633e80093b3d421" providerId="LiveId" clId="{12EBA23A-46CD-4FA7-9690-46E67EF4679B}" dt="2026-03-16T17:19:03.138" v="177" actId="20577"/>
          <ac:spMkLst>
            <pc:docMk/>
            <pc:sldMk cId="0" sldId="257"/>
            <ac:spMk id="7" creationId="{00000000-0000-0000-0000-000000000000}"/>
          </ac:spMkLst>
        </pc:spChg>
        <pc:picChg chg="del">
          <ac:chgData name="2515012_ Vidyasree" userId="2633e80093b3d421" providerId="LiveId" clId="{12EBA23A-46CD-4FA7-9690-46E67EF4679B}" dt="2026-03-16T17:18:30.494" v="143" actId="478"/>
          <ac:picMkLst>
            <pc:docMk/>
            <pc:sldMk cId="0" sldId="257"/>
            <ac:picMk id="8" creationId="{00000000-0000-0000-0000-000000000000}"/>
          </ac:picMkLst>
        </pc:picChg>
      </pc:sldChg>
      <pc:sldChg chg="delSp modSp mod">
        <pc:chgData name="2515012_ Vidyasree" userId="2633e80093b3d421" providerId="LiveId" clId="{12EBA23A-46CD-4FA7-9690-46E67EF4679B}" dt="2026-02-23T12:38:46.177" v="84" actId="20577"/>
        <pc:sldMkLst>
          <pc:docMk/>
          <pc:sldMk cId="0" sldId="261"/>
        </pc:sldMkLst>
        <pc:spChg chg="mod">
          <ac:chgData name="2515012_ Vidyasree" userId="2633e80093b3d421" providerId="LiveId" clId="{12EBA23A-46CD-4FA7-9690-46E67EF4679B}" dt="2026-02-23T12:38:46.177" v="84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2515012_ Vidyasree" userId="2633e80093b3d421" providerId="LiveId" clId="{12EBA23A-46CD-4FA7-9690-46E67EF4679B}" dt="2026-03-16T04:35:19.084" v="121" actId="207"/>
        <pc:sldMkLst>
          <pc:docMk/>
          <pc:sldMk cId="0" sldId="269"/>
        </pc:sldMkLst>
        <pc:spChg chg="mod">
          <ac:chgData name="2515012_ Vidyasree" userId="2633e80093b3d421" providerId="LiveId" clId="{12EBA23A-46CD-4FA7-9690-46E67EF4679B}" dt="2026-03-16T04:35:19.084" v="121" actId="20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2515012_ Vidyasree" userId="2633e80093b3d421" providerId="LiveId" clId="{12EBA23A-46CD-4FA7-9690-46E67EF4679B}" dt="2026-03-10T18:20:11.773" v="119" actId="1076"/>
        <pc:sldMkLst>
          <pc:docMk/>
          <pc:sldMk cId="0" sldId="271"/>
        </pc:sldMkLst>
        <pc:spChg chg="mod">
          <ac:chgData name="2515012_ Vidyasree" userId="2633e80093b3d421" providerId="LiveId" clId="{12EBA23A-46CD-4FA7-9690-46E67EF4679B}" dt="2026-03-10T18:20:11.773" v="119" actId="1076"/>
          <ac:spMkLst>
            <pc:docMk/>
            <pc:sldMk cId="0" sldId="271"/>
            <ac:spMk id="5" creationId="{00000000-0000-0000-0000-000000000000}"/>
          </ac:spMkLst>
        </pc:spChg>
      </pc:sldChg>
      <pc:sldChg chg="delSp modSp mod">
        <pc:chgData name="2515012_ Vidyasree" userId="2633e80093b3d421" providerId="LiveId" clId="{12EBA23A-46CD-4FA7-9690-46E67EF4679B}" dt="2026-03-16T17:22:23.262" v="179" actId="14100"/>
        <pc:sldMkLst>
          <pc:docMk/>
          <pc:sldMk cId="0" sldId="306"/>
        </pc:sldMkLst>
        <pc:spChg chg="mod">
          <ac:chgData name="2515012_ Vidyasree" userId="2633e80093b3d421" providerId="LiveId" clId="{12EBA23A-46CD-4FA7-9690-46E67EF4679B}" dt="2026-03-16T17:22:23.262" v="179" actId="14100"/>
          <ac:spMkLst>
            <pc:docMk/>
            <pc:sldMk cId="0" sldId="306"/>
            <ac:spMk id="2" creationId="{00000000-0000-0000-0000-000000000000}"/>
          </ac:spMkLst>
        </pc:spChg>
        <pc:spChg chg="del mod">
          <ac:chgData name="2515012_ Vidyasree" userId="2633e80093b3d421" providerId="LiveId" clId="{12EBA23A-46CD-4FA7-9690-46E67EF4679B}" dt="2026-03-16T17:18:01.537" v="141"/>
          <ac:spMkLst>
            <pc:docMk/>
            <pc:sldMk cId="0" sldId="306"/>
            <ac:spMk id="3" creationId="{00000000-0000-0000-0000-000000000000}"/>
          </ac:spMkLst>
        </pc:spChg>
        <pc:picChg chg="del">
          <ac:chgData name="2515012_ Vidyasree" userId="2633e80093b3d421" providerId="LiveId" clId="{12EBA23A-46CD-4FA7-9690-46E67EF4679B}" dt="2026-03-16T17:17:44.365" v="122" actId="478"/>
          <ac:picMkLst>
            <pc:docMk/>
            <pc:sldMk cId="0" sldId="306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2000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70492" y="762000"/>
            <a:ext cx="2921635" cy="5334000"/>
          </a:xfrm>
          <a:custGeom>
            <a:avLst/>
            <a:gdLst/>
            <a:ahLst/>
            <a:cxnLst/>
            <a:rect l="l" t="t" r="r" b="b"/>
            <a:pathLst>
              <a:path w="2921634" h="5334000">
                <a:moveTo>
                  <a:pt x="2921507" y="0"/>
                </a:moveTo>
                <a:lnTo>
                  <a:pt x="0" y="0"/>
                </a:lnTo>
                <a:lnTo>
                  <a:pt x="0" y="5334000"/>
                </a:lnTo>
                <a:lnTo>
                  <a:pt x="2921507" y="5334000"/>
                </a:lnTo>
                <a:lnTo>
                  <a:pt x="292150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8892" y="1831594"/>
            <a:ext cx="6584315" cy="255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3714" y="258571"/>
            <a:ext cx="7755255" cy="1049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3714" y="1655190"/>
            <a:ext cx="7757159" cy="267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000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0492" y="762000"/>
            <a:ext cx="2921635" cy="5334000"/>
          </a:xfrm>
          <a:custGeom>
            <a:avLst/>
            <a:gdLst/>
            <a:ahLst/>
            <a:cxnLst/>
            <a:rect l="l" t="t" r="r" b="b"/>
            <a:pathLst>
              <a:path w="2921634" h="5334000">
                <a:moveTo>
                  <a:pt x="2921507" y="0"/>
                </a:moveTo>
                <a:lnTo>
                  <a:pt x="0" y="0"/>
                </a:lnTo>
                <a:lnTo>
                  <a:pt x="0" y="5334000"/>
                </a:lnTo>
                <a:lnTo>
                  <a:pt x="2921507" y="5334000"/>
                </a:lnTo>
                <a:lnTo>
                  <a:pt x="292150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0492" y="762000"/>
            <a:ext cx="2921635" cy="498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</a:pPr>
            <a:r>
              <a:rPr sz="2200" spc="-20" dirty="0">
                <a:solidFill>
                  <a:srgbClr val="0097A2"/>
                </a:solidFill>
                <a:latin typeface="Candara"/>
                <a:cs typeface="Candara"/>
              </a:rPr>
              <a:t>Department</a:t>
            </a:r>
            <a:r>
              <a:rPr sz="2200" spc="-4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of</a:t>
            </a:r>
            <a:r>
              <a:rPr sz="2200" spc="-3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200" spc="-25" dirty="0">
                <a:solidFill>
                  <a:srgbClr val="0097A2"/>
                </a:solidFill>
                <a:latin typeface="Candara"/>
                <a:cs typeface="Candara"/>
              </a:rPr>
              <a:t>IT</a:t>
            </a: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2200" dirty="0">
              <a:latin typeface="Candara"/>
              <a:cs typeface="Candara"/>
            </a:endParaRPr>
          </a:p>
          <a:p>
            <a:pPr marL="270510" marR="463550">
              <a:lnSpc>
                <a:spcPct val="100000"/>
              </a:lnSpc>
              <a:spcBef>
                <a:spcPts val="5"/>
              </a:spcBef>
            </a:pPr>
            <a:r>
              <a:rPr lang="en-IN" sz="2200" dirty="0">
                <a:solidFill>
                  <a:srgbClr val="0097A2"/>
                </a:solidFill>
                <a:latin typeface="Candara"/>
                <a:cs typeface="Candara"/>
              </a:rPr>
              <a:t>Module </a:t>
            </a: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:</a:t>
            </a:r>
            <a:r>
              <a:rPr sz="2200" spc="-2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200" spc="-50" dirty="0">
                <a:solidFill>
                  <a:srgbClr val="0097A2"/>
                </a:solidFill>
                <a:latin typeface="Candara"/>
                <a:cs typeface="Candara"/>
              </a:rPr>
              <a:t>II</a:t>
            </a:r>
            <a:r>
              <a:rPr sz="2200" spc="-5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10" dirty="0">
                <a:solidFill>
                  <a:srgbClr val="0097A2"/>
                </a:solidFill>
                <a:latin typeface="Candara"/>
                <a:cs typeface="Candara"/>
              </a:rPr>
              <a:t>Intermediate</a:t>
            </a:r>
            <a:r>
              <a:rPr sz="2200" spc="-10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20" dirty="0">
                <a:solidFill>
                  <a:srgbClr val="0097A2"/>
                </a:solidFill>
                <a:latin typeface="Candara"/>
                <a:cs typeface="Candara"/>
              </a:rPr>
              <a:t>Code Generation</a:t>
            </a:r>
            <a:r>
              <a:rPr sz="2200" spc="-7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25" dirty="0">
                <a:solidFill>
                  <a:srgbClr val="0097A2"/>
                </a:solidFill>
                <a:latin typeface="Candara"/>
                <a:cs typeface="Candara"/>
              </a:rPr>
              <a:t>and </a:t>
            </a:r>
            <a:r>
              <a:rPr sz="2200" spc="-10" dirty="0">
                <a:solidFill>
                  <a:srgbClr val="0097A2"/>
                </a:solidFill>
                <a:latin typeface="Candara"/>
                <a:cs typeface="Candara"/>
              </a:rPr>
              <a:t>Memory Management </a:t>
            </a: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2200" dirty="0">
              <a:latin typeface="Candara"/>
              <a:cs typeface="Candara"/>
            </a:endParaRPr>
          </a:p>
          <a:p>
            <a:pPr marL="516890">
              <a:lnSpc>
                <a:spcPct val="100000"/>
              </a:lnSpc>
              <a:spcBef>
                <a:spcPts val="5"/>
              </a:spcBef>
            </a:pPr>
            <a:r>
              <a:rPr lang="en-IN" sz="2000" dirty="0">
                <a:solidFill>
                  <a:srgbClr val="585858"/>
                </a:solidFill>
                <a:latin typeface="Candara"/>
                <a:cs typeface="Candara"/>
              </a:rPr>
              <a:t>MS . G . VIDYASREE</a:t>
            </a:r>
            <a:endParaRPr sz="2000" dirty="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3436" y="2296675"/>
            <a:ext cx="5670550" cy="25673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9055" algn="ctr">
              <a:lnSpc>
                <a:spcPct val="100000"/>
              </a:lnSpc>
              <a:spcBef>
                <a:spcPts val="285"/>
              </a:spcBef>
              <a:tabLst>
                <a:tab pos="2456180" algn="l"/>
              </a:tabLst>
            </a:pPr>
            <a:r>
              <a:rPr sz="2800" b="1" spc="-65" dirty="0">
                <a:solidFill>
                  <a:srgbClr val="FFFFFF"/>
                </a:solidFill>
                <a:latin typeface="Corbel"/>
                <a:cs typeface="Corbel"/>
              </a:rPr>
              <a:t>CD</a:t>
            </a:r>
            <a:r>
              <a:rPr sz="2800" b="1" spc="-1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orbel"/>
                <a:cs typeface="Corbel"/>
              </a:rPr>
              <a:t>:</a:t>
            </a:r>
            <a:r>
              <a:rPr sz="2800" b="1" spc="-2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r>
              <a:rPr sz="2800" b="1" dirty="0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orbel"/>
                <a:cs typeface="Corbel"/>
              </a:rPr>
              <a:t>DESIGN</a:t>
            </a:r>
            <a:endParaRPr sz="2800" dirty="0">
              <a:latin typeface="Corbel"/>
              <a:cs typeface="Corbel"/>
            </a:endParaRPr>
          </a:p>
          <a:p>
            <a:pPr marL="12065" marR="5080" algn="ctr">
              <a:lnSpc>
                <a:spcPct val="90000"/>
              </a:lnSpc>
              <a:spcBef>
                <a:spcPts val="910"/>
              </a:spcBef>
            </a:pPr>
            <a:r>
              <a:rPr sz="4800" b="1" spc="-110" dirty="0">
                <a:solidFill>
                  <a:srgbClr val="FFFFFF"/>
                </a:solidFill>
                <a:latin typeface="Corbel"/>
                <a:cs typeface="Corbel"/>
              </a:rPr>
              <a:t>Intermediate</a:t>
            </a:r>
            <a:r>
              <a:rPr sz="4800" b="1" spc="-3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4800" b="1" spc="-20" dirty="0">
                <a:solidFill>
                  <a:srgbClr val="FFFFFF"/>
                </a:solidFill>
                <a:latin typeface="Corbel"/>
                <a:cs typeface="Corbel"/>
              </a:rPr>
              <a:t>Code </a:t>
            </a:r>
            <a:r>
              <a:rPr sz="4800" b="1" spc="-105" dirty="0">
                <a:solidFill>
                  <a:srgbClr val="FFFFFF"/>
                </a:solidFill>
                <a:latin typeface="Corbel"/>
                <a:cs typeface="Corbel"/>
              </a:rPr>
              <a:t>Generation</a:t>
            </a:r>
            <a:r>
              <a:rPr sz="4800" b="1" spc="-1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4800" b="1" spc="-25" dirty="0">
                <a:solidFill>
                  <a:srgbClr val="FFFFFF"/>
                </a:solidFill>
                <a:latin typeface="Corbel"/>
                <a:cs typeface="Corbel"/>
              </a:rPr>
              <a:t>and </a:t>
            </a:r>
            <a:r>
              <a:rPr sz="4800" b="1" spc="-95" dirty="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sz="4800" b="1" spc="-2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4800" b="1" spc="-90" dirty="0">
                <a:solidFill>
                  <a:srgbClr val="FFFFFF"/>
                </a:solidFill>
                <a:latin typeface="Corbel"/>
                <a:cs typeface="Corbel"/>
              </a:rPr>
              <a:t>Management</a:t>
            </a:r>
            <a:endParaRPr sz="4800" dirty="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2273807"/>
            <a:ext cx="1496567" cy="1498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000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0492" y="762000"/>
            <a:ext cx="2921635" cy="5334000"/>
          </a:xfrm>
          <a:custGeom>
            <a:avLst/>
            <a:gdLst/>
            <a:ahLst/>
            <a:cxnLst/>
            <a:rect l="l" t="t" r="r" b="b"/>
            <a:pathLst>
              <a:path w="2921634" h="5334000">
                <a:moveTo>
                  <a:pt x="2921507" y="0"/>
                </a:moveTo>
                <a:lnTo>
                  <a:pt x="0" y="0"/>
                </a:lnTo>
                <a:lnTo>
                  <a:pt x="0" y="5334000"/>
                </a:lnTo>
                <a:lnTo>
                  <a:pt x="2921507" y="5334000"/>
                </a:lnTo>
                <a:lnTo>
                  <a:pt x="292150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996696"/>
            <a:ext cx="1498092" cy="14965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77695" y="970229"/>
            <a:ext cx="18180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Cambria"/>
                <a:cs typeface="Cambria"/>
              </a:rPr>
              <a:t>Outline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5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7695" y="1524127"/>
            <a:ext cx="5455920" cy="387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4845">
              <a:lnSpc>
                <a:spcPct val="1317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sz="2400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40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Intermediate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240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Generator Intermediate</a:t>
            </a:r>
            <a:r>
              <a:rPr sz="2400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Languages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Directed</a:t>
            </a:r>
            <a:r>
              <a:rPr sz="24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Acyclic</a:t>
            </a:r>
            <a:r>
              <a:rPr sz="2400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Graph</a:t>
            </a:r>
            <a:r>
              <a:rPr sz="24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(DAG)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Quadruple,</a:t>
            </a:r>
            <a:r>
              <a:rPr sz="2400" spc="-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Triples,</a:t>
            </a:r>
            <a:r>
              <a:rPr sz="24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2400" spc="-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3790"/>
              </a:lnSpc>
              <a:spcBef>
                <a:spcPts val="280"/>
              </a:spcBef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SDD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Synthesized</a:t>
            </a:r>
            <a:r>
              <a:rPr sz="240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Inherited</a:t>
            </a:r>
            <a:r>
              <a:rPr sz="2400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Attribute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24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Directed</a:t>
            </a:r>
            <a:r>
              <a:rPr sz="24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Translation</a:t>
            </a:r>
            <a:endParaRPr sz="2400">
              <a:latin typeface="Cambria"/>
              <a:cs typeface="Cambria"/>
            </a:endParaRPr>
          </a:p>
          <a:p>
            <a:pPr marL="12700" marR="1816100">
              <a:lnSpc>
                <a:spcPts val="3790"/>
              </a:lnSpc>
            </a:pP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Activation</a:t>
            </a:r>
            <a:r>
              <a:rPr sz="24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Record Parameter</a:t>
            </a:r>
            <a:r>
              <a:rPr sz="2400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Passing</a:t>
            </a:r>
            <a:r>
              <a:rPr sz="2400" spc="-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Methods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0492" y="762000"/>
            <a:ext cx="2921635" cy="4670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sz="2200" spc="-20" dirty="0">
                <a:solidFill>
                  <a:srgbClr val="0097A2"/>
                </a:solidFill>
                <a:latin typeface="Candara"/>
                <a:cs typeface="Candara"/>
              </a:rPr>
              <a:t>Department</a:t>
            </a:r>
            <a:r>
              <a:rPr sz="2200" spc="-4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of</a:t>
            </a:r>
            <a:r>
              <a:rPr sz="2200" spc="-3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200" spc="-25" dirty="0">
                <a:solidFill>
                  <a:srgbClr val="0097A2"/>
                </a:solidFill>
                <a:latin typeface="Candara"/>
                <a:cs typeface="Candara"/>
              </a:rPr>
              <a:t>IT</a:t>
            </a: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200" dirty="0">
              <a:latin typeface="Candara"/>
              <a:cs typeface="Candara"/>
            </a:endParaRPr>
          </a:p>
          <a:p>
            <a:pPr marL="270510" marR="463550">
              <a:lnSpc>
                <a:spcPct val="100000"/>
              </a:lnSpc>
            </a:pP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Unit</a:t>
            </a:r>
            <a:r>
              <a:rPr sz="2200" spc="-3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no</a:t>
            </a:r>
            <a:r>
              <a:rPr sz="2200" spc="-3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dirty="0">
                <a:solidFill>
                  <a:srgbClr val="0097A2"/>
                </a:solidFill>
                <a:latin typeface="Candara"/>
                <a:cs typeface="Candara"/>
              </a:rPr>
              <a:t>:</a:t>
            </a:r>
            <a:r>
              <a:rPr sz="2200" spc="-2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200" spc="-50" dirty="0">
                <a:solidFill>
                  <a:srgbClr val="0097A2"/>
                </a:solidFill>
                <a:latin typeface="Candara"/>
                <a:cs typeface="Candara"/>
              </a:rPr>
              <a:t>2</a:t>
            </a:r>
            <a:r>
              <a:rPr sz="2200" spc="-5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10" dirty="0">
                <a:solidFill>
                  <a:srgbClr val="0097A2"/>
                </a:solidFill>
                <a:latin typeface="Candara"/>
                <a:cs typeface="Candara"/>
              </a:rPr>
              <a:t>Intermediate</a:t>
            </a:r>
            <a:r>
              <a:rPr sz="2200" spc="-10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20" dirty="0">
                <a:solidFill>
                  <a:srgbClr val="0097A2"/>
                </a:solidFill>
                <a:latin typeface="Candara"/>
                <a:cs typeface="Candara"/>
              </a:rPr>
              <a:t>Code Generation</a:t>
            </a:r>
            <a:r>
              <a:rPr sz="2200" spc="-7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200" spc="-25" dirty="0">
                <a:solidFill>
                  <a:srgbClr val="0097A2"/>
                </a:solidFill>
                <a:latin typeface="Candara"/>
                <a:cs typeface="Candara"/>
              </a:rPr>
              <a:t>and </a:t>
            </a:r>
            <a:r>
              <a:rPr sz="2200" spc="-10" dirty="0">
                <a:solidFill>
                  <a:srgbClr val="0097A2"/>
                </a:solidFill>
                <a:latin typeface="Candara"/>
                <a:cs typeface="Candara"/>
              </a:rPr>
              <a:t>Memory </a:t>
            </a:r>
            <a:r>
              <a:rPr sz="2200" spc="-10">
                <a:solidFill>
                  <a:srgbClr val="0097A2"/>
                </a:solidFill>
                <a:latin typeface="Candara"/>
                <a:cs typeface="Candara"/>
              </a:rPr>
              <a:t>Management </a:t>
            </a: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22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200" dirty="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410845">
              <a:lnSpc>
                <a:spcPct val="89200"/>
              </a:lnSpc>
            </a:pPr>
            <a:r>
              <a:rPr sz="3600" b="1" spc="-8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sz="3600" b="1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Intermediate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Code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4971" y="3394913"/>
            <a:ext cx="7667625" cy="30016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5080" indent="-182880" algn="just">
              <a:lnSpc>
                <a:spcPct val="90100"/>
              </a:lnSpc>
              <a:spcBef>
                <a:spcPts val="38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Source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translated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directly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spc="-5" dirty="0">
                <a:latin typeface="Cambria"/>
                <a:cs typeface="Cambria"/>
              </a:rPr>
              <a:t>n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machine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language,</a:t>
            </a:r>
            <a:r>
              <a:rPr sz="2400" spc="18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some</a:t>
            </a:r>
            <a:r>
              <a:rPr sz="2400" spc="18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benefits</a:t>
            </a:r>
            <a:r>
              <a:rPr sz="2400" spc="18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8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using</a:t>
            </a:r>
            <a:r>
              <a:rPr sz="2400" spc="183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8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</a:t>
            </a:r>
            <a:r>
              <a:rPr sz="2400" spc="18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 </a:t>
            </a:r>
            <a:r>
              <a:rPr sz="2400" spc="-10" dirty="0">
                <a:latin typeface="Cambria"/>
                <a:cs typeface="Cambria"/>
              </a:rPr>
              <a:t>independent </a:t>
            </a:r>
            <a:r>
              <a:rPr sz="2400" spc="-15" dirty="0">
                <a:latin typeface="Cambria"/>
                <a:cs typeface="Cambria"/>
              </a:rPr>
              <a:t>intermediate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dirty="0">
                <a:latin typeface="Cambria"/>
                <a:cs typeface="Cambria"/>
              </a:rPr>
              <a:t>m</a:t>
            </a:r>
            <a:r>
              <a:rPr sz="2400" spc="-15" dirty="0">
                <a:latin typeface="Cambria"/>
                <a:cs typeface="Cambria"/>
              </a:rPr>
              <a:t> are</a:t>
            </a:r>
            <a:r>
              <a:rPr sz="2400" spc="-10" dirty="0">
                <a:latin typeface="Cambria"/>
                <a:cs typeface="Cambria"/>
              </a:rPr>
              <a:t> :</a:t>
            </a:r>
            <a:endParaRPr sz="2400">
              <a:latin typeface="Cambria"/>
              <a:cs typeface="Cambria"/>
            </a:endParaRPr>
          </a:p>
          <a:p>
            <a:pPr marL="467995" marR="5080" indent="-455295" algn="just">
              <a:lnSpc>
                <a:spcPct val="90000"/>
              </a:lnSpc>
              <a:spcBef>
                <a:spcPts val="1200"/>
              </a:spcBef>
              <a:buAutoNum type="arabicParenR"/>
              <a:tabLst>
                <a:tab pos="469900" algn="l"/>
              </a:tabLst>
            </a:pPr>
            <a:r>
              <a:rPr sz="2400" b="1" dirty="0">
                <a:latin typeface="Cambria"/>
                <a:cs typeface="Cambria"/>
              </a:rPr>
              <a:t>Retargeting</a:t>
            </a:r>
            <a:r>
              <a:rPr sz="2400" b="1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facilitated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;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different 	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created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attaching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back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	</a:t>
            </a:r>
            <a:r>
              <a:rPr sz="2400" dirty="0">
                <a:latin typeface="Cambria"/>
                <a:cs typeface="Cambria"/>
              </a:rPr>
              <a:t>new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existing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front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end.</a:t>
            </a:r>
            <a:endParaRPr sz="2400">
              <a:latin typeface="Cambria"/>
              <a:cs typeface="Cambria"/>
            </a:endParaRPr>
          </a:p>
          <a:p>
            <a:pPr marL="467995" marR="5080" indent="-455295" algn="just">
              <a:lnSpc>
                <a:spcPts val="2590"/>
              </a:lnSpc>
              <a:spcBef>
                <a:spcPts val="1240"/>
              </a:spcBef>
              <a:buAutoNum type="arabicParenR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3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independent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code</a:t>
            </a:r>
            <a:r>
              <a:rPr sz="2400" b="1" spc="365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optimizer</a:t>
            </a:r>
            <a:r>
              <a:rPr sz="2400" b="1" spc="3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37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be 	</a:t>
            </a:r>
            <a:r>
              <a:rPr sz="2400" dirty="0">
                <a:latin typeface="Cambria"/>
                <a:cs typeface="Cambria"/>
              </a:rPr>
              <a:t>applied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representation.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9405" y="2038350"/>
            <a:ext cx="1606550" cy="986155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Parser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9582" y="2026157"/>
            <a:ext cx="1607820" cy="9861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Times New Roman"/>
              <a:cs typeface="Times New Roman"/>
            </a:endParaRPr>
          </a:p>
          <a:p>
            <a:pPr marL="9715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Static</a:t>
            </a:r>
            <a:r>
              <a:rPr sz="18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Checker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9757" y="2026157"/>
            <a:ext cx="1607820" cy="9861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57480" marR="150495" algn="ctr">
              <a:lnSpc>
                <a:spcPct val="100000"/>
              </a:lnSpc>
              <a:spcBef>
                <a:spcPts val="52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Intermediate </a:t>
            </a:r>
            <a:r>
              <a:rPr sz="1800" b="1" spc="-20" dirty="0">
                <a:solidFill>
                  <a:srgbClr val="FFFFFF"/>
                </a:solidFill>
                <a:latin typeface="Corbel"/>
                <a:cs typeface="Corbel"/>
              </a:rPr>
              <a:t>Code </a:t>
            </a: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Generator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9933" y="2026157"/>
            <a:ext cx="1607820" cy="9861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03200" rIns="0" bIns="0" rtlCol="0">
            <a:spAutoFit/>
          </a:bodyPr>
          <a:lstStyle/>
          <a:p>
            <a:pPr marL="301625" marR="292735" indent="249554">
              <a:lnSpc>
                <a:spcPct val="100000"/>
              </a:lnSpc>
              <a:spcBef>
                <a:spcPts val="1600"/>
              </a:spcBef>
            </a:pPr>
            <a:r>
              <a:rPr sz="1800" b="1" spc="-20" dirty="0">
                <a:solidFill>
                  <a:srgbClr val="FFFFFF"/>
                </a:solidFill>
                <a:latin typeface="Corbel"/>
                <a:cs typeface="Corbel"/>
              </a:rPr>
              <a:t>Code </a:t>
            </a: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Generator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17747" y="2493264"/>
            <a:ext cx="309880" cy="76200"/>
          </a:xfrm>
          <a:custGeom>
            <a:avLst/>
            <a:gdLst/>
            <a:ahLst/>
            <a:cxnLst/>
            <a:rect l="l" t="t" r="r" b="b"/>
            <a:pathLst>
              <a:path w="309879" h="76200">
                <a:moveTo>
                  <a:pt x="233552" y="0"/>
                </a:moveTo>
                <a:lnTo>
                  <a:pt x="233552" y="76200"/>
                </a:lnTo>
                <a:lnTo>
                  <a:pt x="297052" y="44450"/>
                </a:lnTo>
                <a:lnTo>
                  <a:pt x="246252" y="44450"/>
                </a:lnTo>
                <a:lnTo>
                  <a:pt x="246252" y="31750"/>
                </a:lnTo>
                <a:lnTo>
                  <a:pt x="297052" y="31750"/>
                </a:lnTo>
                <a:lnTo>
                  <a:pt x="233552" y="0"/>
                </a:lnTo>
                <a:close/>
              </a:path>
              <a:path w="309879" h="76200">
                <a:moveTo>
                  <a:pt x="23355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33552" y="44450"/>
                </a:lnTo>
                <a:lnTo>
                  <a:pt x="233552" y="31750"/>
                </a:lnTo>
                <a:close/>
              </a:path>
              <a:path w="309879" h="76200">
                <a:moveTo>
                  <a:pt x="297052" y="31750"/>
                </a:moveTo>
                <a:lnTo>
                  <a:pt x="246252" y="31750"/>
                </a:lnTo>
                <a:lnTo>
                  <a:pt x="246252" y="44450"/>
                </a:lnTo>
                <a:lnTo>
                  <a:pt x="297052" y="44450"/>
                </a:lnTo>
                <a:lnTo>
                  <a:pt x="309752" y="38100"/>
                </a:lnTo>
                <a:lnTo>
                  <a:pt x="297052" y="3175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34813" y="2482723"/>
            <a:ext cx="563245" cy="76200"/>
          </a:xfrm>
          <a:custGeom>
            <a:avLst/>
            <a:gdLst/>
            <a:ahLst/>
            <a:cxnLst/>
            <a:rect l="l" t="t" r="r" b="b"/>
            <a:pathLst>
              <a:path w="563245" h="76200">
                <a:moveTo>
                  <a:pt x="552532" y="31496"/>
                </a:moveTo>
                <a:lnTo>
                  <a:pt x="499363" y="31496"/>
                </a:lnTo>
                <a:lnTo>
                  <a:pt x="499463" y="36449"/>
                </a:lnTo>
                <a:lnTo>
                  <a:pt x="499574" y="42037"/>
                </a:lnTo>
                <a:lnTo>
                  <a:pt x="499617" y="44196"/>
                </a:lnTo>
                <a:lnTo>
                  <a:pt x="486992" y="44462"/>
                </a:lnTo>
                <a:lnTo>
                  <a:pt x="487679" y="76200"/>
                </a:lnTo>
                <a:lnTo>
                  <a:pt x="562990" y="36449"/>
                </a:lnTo>
                <a:lnTo>
                  <a:pt x="552532" y="31496"/>
                </a:lnTo>
                <a:close/>
              </a:path>
              <a:path w="563245" h="76200">
                <a:moveTo>
                  <a:pt x="486717" y="31762"/>
                </a:moveTo>
                <a:lnTo>
                  <a:pt x="0" y="42037"/>
                </a:lnTo>
                <a:lnTo>
                  <a:pt x="253" y="54737"/>
                </a:lnTo>
                <a:lnTo>
                  <a:pt x="486992" y="44462"/>
                </a:lnTo>
                <a:lnTo>
                  <a:pt x="486939" y="42037"/>
                </a:lnTo>
                <a:lnTo>
                  <a:pt x="486818" y="36449"/>
                </a:lnTo>
                <a:lnTo>
                  <a:pt x="486717" y="31762"/>
                </a:lnTo>
                <a:close/>
              </a:path>
              <a:path w="563245" h="76200">
                <a:moveTo>
                  <a:pt x="499363" y="31496"/>
                </a:moveTo>
                <a:lnTo>
                  <a:pt x="486717" y="31762"/>
                </a:lnTo>
                <a:lnTo>
                  <a:pt x="486818" y="36449"/>
                </a:lnTo>
                <a:lnTo>
                  <a:pt x="486939" y="42037"/>
                </a:lnTo>
                <a:lnTo>
                  <a:pt x="486992" y="44462"/>
                </a:lnTo>
                <a:lnTo>
                  <a:pt x="499617" y="44196"/>
                </a:lnTo>
                <a:lnTo>
                  <a:pt x="499574" y="42037"/>
                </a:lnTo>
                <a:lnTo>
                  <a:pt x="499463" y="36449"/>
                </a:lnTo>
                <a:lnTo>
                  <a:pt x="499363" y="31496"/>
                </a:lnTo>
                <a:close/>
              </a:path>
              <a:path w="563245" h="76200">
                <a:moveTo>
                  <a:pt x="486028" y="0"/>
                </a:moveTo>
                <a:lnTo>
                  <a:pt x="486711" y="31496"/>
                </a:lnTo>
                <a:lnTo>
                  <a:pt x="486717" y="31762"/>
                </a:lnTo>
                <a:lnTo>
                  <a:pt x="499363" y="31496"/>
                </a:lnTo>
                <a:lnTo>
                  <a:pt x="552532" y="31496"/>
                </a:lnTo>
                <a:lnTo>
                  <a:pt x="486028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06640" y="2481072"/>
            <a:ext cx="563245" cy="76200"/>
          </a:xfrm>
          <a:custGeom>
            <a:avLst/>
            <a:gdLst/>
            <a:ahLst/>
            <a:cxnLst/>
            <a:rect l="l" t="t" r="r" b="b"/>
            <a:pathLst>
              <a:path w="563245" h="76200">
                <a:moveTo>
                  <a:pt x="486663" y="0"/>
                </a:moveTo>
                <a:lnTo>
                  <a:pt x="486663" y="76200"/>
                </a:lnTo>
                <a:lnTo>
                  <a:pt x="550163" y="44450"/>
                </a:lnTo>
                <a:lnTo>
                  <a:pt x="499363" y="44450"/>
                </a:lnTo>
                <a:lnTo>
                  <a:pt x="499363" y="31750"/>
                </a:lnTo>
                <a:lnTo>
                  <a:pt x="550163" y="31750"/>
                </a:lnTo>
                <a:lnTo>
                  <a:pt x="486663" y="0"/>
                </a:lnTo>
                <a:close/>
              </a:path>
              <a:path w="563245" h="76200">
                <a:moveTo>
                  <a:pt x="48666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6663" y="44450"/>
                </a:lnTo>
                <a:lnTo>
                  <a:pt x="486663" y="31750"/>
                </a:lnTo>
                <a:close/>
              </a:path>
              <a:path w="563245" h="76200">
                <a:moveTo>
                  <a:pt x="550163" y="31750"/>
                </a:moveTo>
                <a:lnTo>
                  <a:pt x="499363" y="31750"/>
                </a:lnTo>
                <a:lnTo>
                  <a:pt x="499363" y="44450"/>
                </a:lnTo>
                <a:lnTo>
                  <a:pt x="550163" y="44450"/>
                </a:lnTo>
                <a:lnTo>
                  <a:pt x="562863" y="38100"/>
                </a:lnTo>
                <a:lnTo>
                  <a:pt x="550163" y="3175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76816" y="2481072"/>
            <a:ext cx="563245" cy="76200"/>
          </a:xfrm>
          <a:custGeom>
            <a:avLst/>
            <a:gdLst/>
            <a:ahLst/>
            <a:cxnLst/>
            <a:rect l="l" t="t" r="r" b="b"/>
            <a:pathLst>
              <a:path w="563245" h="76200">
                <a:moveTo>
                  <a:pt x="486663" y="0"/>
                </a:moveTo>
                <a:lnTo>
                  <a:pt x="486663" y="76200"/>
                </a:lnTo>
                <a:lnTo>
                  <a:pt x="550163" y="44450"/>
                </a:lnTo>
                <a:lnTo>
                  <a:pt x="499363" y="44450"/>
                </a:lnTo>
                <a:lnTo>
                  <a:pt x="499363" y="31750"/>
                </a:lnTo>
                <a:lnTo>
                  <a:pt x="550163" y="31750"/>
                </a:lnTo>
                <a:lnTo>
                  <a:pt x="486663" y="0"/>
                </a:lnTo>
                <a:close/>
              </a:path>
              <a:path w="563245" h="76200">
                <a:moveTo>
                  <a:pt x="48666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6663" y="44450"/>
                </a:lnTo>
                <a:lnTo>
                  <a:pt x="486663" y="31750"/>
                </a:lnTo>
                <a:close/>
              </a:path>
              <a:path w="563245" h="76200">
                <a:moveTo>
                  <a:pt x="550163" y="31750"/>
                </a:moveTo>
                <a:lnTo>
                  <a:pt x="499363" y="31750"/>
                </a:lnTo>
                <a:lnTo>
                  <a:pt x="499363" y="44450"/>
                </a:lnTo>
                <a:lnTo>
                  <a:pt x="550163" y="44450"/>
                </a:lnTo>
                <a:lnTo>
                  <a:pt x="562863" y="38100"/>
                </a:lnTo>
                <a:lnTo>
                  <a:pt x="550163" y="3175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46992" y="2481072"/>
            <a:ext cx="445134" cy="76200"/>
          </a:xfrm>
          <a:custGeom>
            <a:avLst/>
            <a:gdLst/>
            <a:ahLst/>
            <a:cxnLst/>
            <a:rect l="l" t="t" r="r" b="b"/>
            <a:pathLst>
              <a:path w="445134" h="76200">
                <a:moveTo>
                  <a:pt x="368680" y="0"/>
                </a:moveTo>
                <a:lnTo>
                  <a:pt x="368680" y="76200"/>
                </a:lnTo>
                <a:lnTo>
                  <a:pt x="432180" y="44450"/>
                </a:lnTo>
                <a:lnTo>
                  <a:pt x="381380" y="44450"/>
                </a:lnTo>
                <a:lnTo>
                  <a:pt x="381380" y="31750"/>
                </a:lnTo>
                <a:lnTo>
                  <a:pt x="432180" y="31750"/>
                </a:lnTo>
                <a:lnTo>
                  <a:pt x="368680" y="0"/>
                </a:lnTo>
                <a:close/>
              </a:path>
              <a:path w="445134" h="76200">
                <a:moveTo>
                  <a:pt x="3686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68680" y="44450"/>
                </a:lnTo>
                <a:lnTo>
                  <a:pt x="368680" y="31750"/>
                </a:lnTo>
                <a:close/>
              </a:path>
              <a:path w="445134" h="76200">
                <a:moveTo>
                  <a:pt x="432180" y="31750"/>
                </a:moveTo>
                <a:lnTo>
                  <a:pt x="381380" y="31750"/>
                </a:lnTo>
                <a:lnTo>
                  <a:pt x="381380" y="44450"/>
                </a:lnTo>
                <a:lnTo>
                  <a:pt x="432180" y="44450"/>
                </a:lnTo>
                <a:lnTo>
                  <a:pt x="444880" y="38100"/>
                </a:lnTo>
                <a:lnTo>
                  <a:pt x="432180" y="3175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601327" y="1627759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Intermediate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1327" y="1902078"/>
            <a:ext cx="51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orbel"/>
                <a:cs typeface="Corbel"/>
              </a:rPr>
              <a:t>Code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4971" y="448817"/>
            <a:ext cx="766635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analysis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synthesis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model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compiler,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front</a:t>
            </a:r>
            <a:r>
              <a:rPr sz="2400" spc="-10" dirty="0">
                <a:latin typeface="Cambria"/>
                <a:cs typeface="Cambria"/>
              </a:rPr>
              <a:t> end</a:t>
            </a:r>
            <a:r>
              <a:rPr sz="2400" spc="6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translates</a:t>
            </a:r>
            <a:r>
              <a:rPr sz="2400" spc="6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6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source</a:t>
            </a:r>
            <a:r>
              <a:rPr sz="2400" spc="6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6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into</a:t>
            </a:r>
            <a:r>
              <a:rPr sz="2400" spc="6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6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intermediate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representation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back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generates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target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887851" y="1436065"/>
            <a:ext cx="702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2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410845">
              <a:lnSpc>
                <a:spcPct val="8940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Intermediate Language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50" dirty="0">
                <a:solidFill>
                  <a:srgbClr val="FFFFFF"/>
                </a:solidFill>
                <a:latin typeface="Cambria"/>
                <a:cs typeface="Cambria"/>
              </a:rPr>
              <a:t>/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Different 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Intermediate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Form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9195" y="841311"/>
            <a:ext cx="7979409" cy="5168265"/>
            <a:chOff x="3469195" y="841311"/>
            <a:chExt cx="7979409" cy="5168265"/>
          </a:xfrm>
        </p:grpSpPr>
        <p:sp>
          <p:nvSpPr>
            <p:cNvPr id="4" name="object 4"/>
            <p:cNvSpPr/>
            <p:nvPr/>
          </p:nvSpPr>
          <p:spPr>
            <a:xfrm>
              <a:off x="3474593" y="846709"/>
              <a:ext cx="1083310" cy="5157470"/>
            </a:xfrm>
            <a:custGeom>
              <a:avLst/>
              <a:gdLst/>
              <a:ahLst/>
              <a:cxnLst/>
              <a:rect l="l" t="t" r="r" b="b"/>
              <a:pathLst>
                <a:path w="1083310" h="5157470">
                  <a:moveTo>
                    <a:pt x="15240" y="0"/>
                  </a:moveTo>
                  <a:lnTo>
                    <a:pt x="49131" y="34349"/>
                  </a:lnTo>
                  <a:lnTo>
                    <a:pt x="82476" y="69032"/>
                  </a:lnTo>
                  <a:lnTo>
                    <a:pt x="115275" y="104044"/>
                  </a:lnTo>
                  <a:lnTo>
                    <a:pt x="147527" y="139380"/>
                  </a:lnTo>
                  <a:lnTo>
                    <a:pt x="179232" y="175033"/>
                  </a:lnTo>
                  <a:lnTo>
                    <a:pt x="210390" y="210999"/>
                  </a:lnTo>
                  <a:lnTo>
                    <a:pt x="241002" y="247271"/>
                  </a:lnTo>
                  <a:lnTo>
                    <a:pt x="271067" y="283846"/>
                  </a:lnTo>
                  <a:lnTo>
                    <a:pt x="300586" y="320716"/>
                  </a:lnTo>
                  <a:lnTo>
                    <a:pt x="329558" y="357878"/>
                  </a:lnTo>
                  <a:lnTo>
                    <a:pt x="357983" y="395324"/>
                  </a:lnTo>
                  <a:lnTo>
                    <a:pt x="385862" y="433050"/>
                  </a:lnTo>
                  <a:lnTo>
                    <a:pt x="413194" y="471051"/>
                  </a:lnTo>
                  <a:lnTo>
                    <a:pt x="439979" y="509321"/>
                  </a:lnTo>
                  <a:lnTo>
                    <a:pt x="466218" y="547854"/>
                  </a:lnTo>
                  <a:lnTo>
                    <a:pt x="491910" y="586646"/>
                  </a:lnTo>
                  <a:lnTo>
                    <a:pt x="517055" y="625690"/>
                  </a:lnTo>
                  <a:lnTo>
                    <a:pt x="541654" y="664981"/>
                  </a:lnTo>
                  <a:lnTo>
                    <a:pt x="565706" y="704514"/>
                  </a:lnTo>
                  <a:lnTo>
                    <a:pt x="589212" y="744284"/>
                  </a:lnTo>
                  <a:lnTo>
                    <a:pt x="612171" y="784284"/>
                  </a:lnTo>
                  <a:lnTo>
                    <a:pt x="634583" y="824510"/>
                  </a:lnTo>
                  <a:lnTo>
                    <a:pt x="656449" y="864956"/>
                  </a:lnTo>
                  <a:lnTo>
                    <a:pt x="677768" y="905617"/>
                  </a:lnTo>
                  <a:lnTo>
                    <a:pt x="698540" y="946487"/>
                  </a:lnTo>
                  <a:lnTo>
                    <a:pt x="718766" y="987561"/>
                  </a:lnTo>
                  <a:lnTo>
                    <a:pt x="738445" y="1028833"/>
                  </a:lnTo>
                  <a:lnTo>
                    <a:pt x="757577" y="1070298"/>
                  </a:lnTo>
                  <a:lnTo>
                    <a:pt x="776163" y="1111950"/>
                  </a:lnTo>
                  <a:lnTo>
                    <a:pt x="794202" y="1153785"/>
                  </a:lnTo>
                  <a:lnTo>
                    <a:pt x="811695" y="1195796"/>
                  </a:lnTo>
                  <a:lnTo>
                    <a:pt x="828641" y="1237978"/>
                  </a:lnTo>
                  <a:lnTo>
                    <a:pt x="845040" y="1280326"/>
                  </a:lnTo>
                  <a:lnTo>
                    <a:pt x="860892" y="1322834"/>
                  </a:lnTo>
                  <a:lnTo>
                    <a:pt x="876198" y="1365497"/>
                  </a:lnTo>
                  <a:lnTo>
                    <a:pt x="890958" y="1408310"/>
                  </a:lnTo>
                  <a:lnTo>
                    <a:pt x="905170" y="1451266"/>
                  </a:lnTo>
                  <a:lnTo>
                    <a:pt x="918836" y="1494361"/>
                  </a:lnTo>
                  <a:lnTo>
                    <a:pt x="931956" y="1537590"/>
                  </a:lnTo>
                  <a:lnTo>
                    <a:pt x="944528" y="1580946"/>
                  </a:lnTo>
                  <a:lnTo>
                    <a:pt x="956554" y="1624424"/>
                  </a:lnTo>
                  <a:lnTo>
                    <a:pt x="968034" y="1668019"/>
                  </a:lnTo>
                  <a:lnTo>
                    <a:pt x="978967" y="1711725"/>
                  </a:lnTo>
                  <a:lnTo>
                    <a:pt x="989353" y="1755538"/>
                  </a:lnTo>
                  <a:lnTo>
                    <a:pt x="999192" y="1799451"/>
                  </a:lnTo>
                  <a:lnTo>
                    <a:pt x="1008485" y="1843459"/>
                  </a:lnTo>
                  <a:lnTo>
                    <a:pt x="1017232" y="1887557"/>
                  </a:lnTo>
                  <a:lnTo>
                    <a:pt x="1025431" y="1931739"/>
                  </a:lnTo>
                  <a:lnTo>
                    <a:pt x="1033084" y="1975999"/>
                  </a:lnTo>
                  <a:lnTo>
                    <a:pt x="1040190" y="2020333"/>
                  </a:lnTo>
                  <a:lnTo>
                    <a:pt x="1046750" y="2064735"/>
                  </a:lnTo>
                  <a:lnTo>
                    <a:pt x="1052763" y="2109200"/>
                  </a:lnTo>
                  <a:lnTo>
                    <a:pt x="1058230" y="2153722"/>
                  </a:lnTo>
                  <a:lnTo>
                    <a:pt x="1063149" y="2198295"/>
                  </a:lnTo>
                  <a:lnTo>
                    <a:pt x="1067522" y="2242914"/>
                  </a:lnTo>
                  <a:lnTo>
                    <a:pt x="1071349" y="2287574"/>
                  </a:lnTo>
                  <a:lnTo>
                    <a:pt x="1074629" y="2332270"/>
                  </a:lnTo>
                  <a:lnTo>
                    <a:pt x="1077362" y="2376995"/>
                  </a:lnTo>
                  <a:lnTo>
                    <a:pt x="1079549" y="2421745"/>
                  </a:lnTo>
                  <a:lnTo>
                    <a:pt x="1081188" y="2466514"/>
                  </a:lnTo>
                  <a:lnTo>
                    <a:pt x="1082282" y="2511296"/>
                  </a:lnTo>
                  <a:lnTo>
                    <a:pt x="1082828" y="2556087"/>
                  </a:lnTo>
                  <a:lnTo>
                    <a:pt x="1082828" y="2600880"/>
                  </a:lnTo>
                  <a:lnTo>
                    <a:pt x="1082282" y="2645671"/>
                  </a:lnTo>
                  <a:lnTo>
                    <a:pt x="1081188" y="2690453"/>
                  </a:lnTo>
                  <a:lnTo>
                    <a:pt x="1079549" y="2735222"/>
                  </a:lnTo>
                  <a:lnTo>
                    <a:pt x="1077362" y="2779972"/>
                  </a:lnTo>
                  <a:lnTo>
                    <a:pt x="1074629" y="2824698"/>
                  </a:lnTo>
                  <a:lnTo>
                    <a:pt x="1071349" y="2869393"/>
                  </a:lnTo>
                  <a:lnTo>
                    <a:pt x="1067522" y="2914053"/>
                  </a:lnTo>
                  <a:lnTo>
                    <a:pt x="1063149" y="2958673"/>
                  </a:lnTo>
                  <a:lnTo>
                    <a:pt x="1058230" y="3003246"/>
                  </a:lnTo>
                  <a:lnTo>
                    <a:pt x="1052763" y="3047768"/>
                  </a:lnTo>
                  <a:lnTo>
                    <a:pt x="1046750" y="3092233"/>
                  </a:lnTo>
                  <a:lnTo>
                    <a:pt x="1040190" y="3136635"/>
                  </a:lnTo>
                  <a:lnTo>
                    <a:pt x="1033084" y="3180969"/>
                  </a:lnTo>
                  <a:lnTo>
                    <a:pt x="1025431" y="3225230"/>
                  </a:lnTo>
                  <a:lnTo>
                    <a:pt x="1017232" y="3269412"/>
                  </a:lnTo>
                  <a:lnTo>
                    <a:pt x="1008485" y="3313510"/>
                  </a:lnTo>
                  <a:lnTo>
                    <a:pt x="999192" y="3357518"/>
                  </a:lnTo>
                  <a:lnTo>
                    <a:pt x="989353" y="3401431"/>
                  </a:lnTo>
                  <a:lnTo>
                    <a:pt x="978967" y="3445244"/>
                  </a:lnTo>
                  <a:lnTo>
                    <a:pt x="968034" y="3488950"/>
                  </a:lnTo>
                  <a:lnTo>
                    <a:pt x="956554" y="3532546"/>
                  </a:lnTo>
                  <a:lnTo>
                    <a:pt x="944528" y="3576024"/>
                  </a:lnTo>
                  <a:lnTo>
                    <a:pt x="931956" y="3619380"/>
                  </a:lnTo>
                  <a:lnTo>
                    <a:pt x="918836" y="3662609"/>
                  </a:lnTo>
                  <a:lnTo>
                    <a:pt x="905170" y="3705704"/>
                  </a:lnTo>
                  <a:lnTo>
                    <a:pt x="890958" y="3748661"/>
                  </a:lnTo>
                  <a:lnTo>
                    <a:pt x="876198" y="3791474"/>
                  </a:lnTo>
                  <a:lnTo>
                    <a:pt x="860892" y="3834137"/>
                  </a:lnTo>
                  <a:lnTo>
                    <a:pt x="845040" y="3876646"/>
                  </a:lnTo>
                  <a:lnTo>
                    <a:pt x="828641" y="3918994"/>
                  </a:lnTo>
                  <a:lnTo>
                    <a:pt x="811695" y="3961177"/>
                  </a:lnTo>
                  <a:lnTo>
                    <a:pt x="794202" y="4003188"/>
                  </a:lnTo>
                  <a:lnTo>
                    <a:pt x="776163" y="4045023"/>
                  </a:lnTo>
                  <a:lnTo>
                    <a:pt x="757577" y="4086675"/>
                  </a:lnTo>
                  <a:lnTo>
                    <a:pt x="738445" y="4128141"/>
                  </a:lnTo>
                  <a:lnTo>
                    <a:pt x="718766" y="4169413"/>
                  </a:lnTo>
                  <a:lnTo>
                    <a:pt x="698540" y="4210487"/>
                  </a:lnTo>
                  <a:lnTo>
                    <a:pt x="677768" y="4251357"/>
                  </a:lnTo>
                  <a:lnTo>
                    <a:pt x="656449" y="4292019"/>
                  </a:lnTo>
                  <a:lnTo>
                    <a:pt x="634583" y="4332465"/>
                  </a:lnTo>
                  <a:lnTo>
                    <a:pt x="612171" y="4372691"/>
                  </a:lnTo>
                  <a:lnTo>
                    <a:pt x="589212" y="4412692"/>
                  </a:lnTo>
                  <a:lnTo>
                    <a:pt x="565706" y="4452462"/>
                  </a:lnTo>
                  <a:lnTo>
                    <a:pt x="541654" y="4491996"/>
                  </a:lnTo>
                  <a:lnTo>
                    <a:pt x="517055" y="4531288"/>
                  </a:lnTo>
                  <a:lnTo>
                    <a:pt x="491910" y="4570332"/>
                  </a:lnTo>
                  <a:lnTo>
                    <a:pt x="466218" y="4609124"/>
                  </a:lnTo>
                  <a:lnTo>
                    <a:pt x="439979" y="4647658"/>
                  </a:lnTo>
                  <a:lnTo>
                    <a:pt x="413194" y="4685928"/>
                  </a:lnTo>
                  <a:lnTo>
                    <a:pt x="385862" y="4723929"/>
                  </a:lnTo>
                  <a:lnTo>
                    <a:pt x="357983" y="4761656"/>
                  </a:lnTo>
                  <a:lnTo>
                    <a:pt x="329558" y="4799103"/>
                  </a:lnTo>
                  <a:lnTo>
                    <a:pt x="300586" y="4836265"/>
                  </a:lnTo>
                  <a:lnTo>
                    <a:pt x="271067" y="4873136"/>
                  </a:lnTo>
                  <a:lnTo>
                    <a:pt x="241002" y="4909711"/>
                  </a:lnTo>
                  <a:lnTo>
                    <a:pt x="210390" y="4945984"/>
                  </a:lnTo>
                  <a:lnTo>
                    <a:pt x="179232" y="4981951"/>
                  </a:lnTo>
                  <a:lnTo>
                    <a:pt x="147527" y="5017604"/>
                  </a:lnTo>
                  <a:lnTo>
                    <a:pt x="115275" y="5052940"/>
                  </a:lnTo>
                  <a:lnTo>
                    <a:pt x="82476" y="5087953"/>
                  </a:lnTo>
                  <a:lnTo>
                    <a:pt x="49131" y="5122637"/>
                  </a:lnTo>
                  <a:lnTo>
                    <a:pt x="15240" y="5156987"/>
                  </a:lnTo>
                  <a:lnTo>
                    <a:pt x="0" y="5141722"/>
                  </a:lnTo>
                  <a:lnTo>
                    <a:pt x="33961" y="5107301"/>
                  </a:lnTo>
                  <a:lnTo>
                    <a:pt x="67371" y="5072542"/>
                  </a:lnTo>
                  <a:lnTo>
                    <a:pt x="100228" y="5037452"/>
                  </a:lnTo>
                  <a:lnTo>
                    <a:pt x="132533" y="5002035"/>
                  </a:lnTo>
                  <a:lnTo>
                    <a:pt x="164286" y="4966297"/>
                  </a:lnTo>
                  <a:lnTo>
                    <a:pt x="195486" y="4930243"/>
                  </a:lnTo>
                  <a:lnTo>
                    <a:pt x="226134" y="4893879"/>
                  </a:lnTo>
                  <a:lnTo>
                    <a:pt x="256231" y="4857211"/>
                  </a:lnTo>
                  <a:lnTo>
                    <a:pt x="285774" y="4820244"/>
                  </a:lnTo>
                  <a:lnTo>
                    <a:pt x="314766" y="4782984"/>
                  </a:lnTo>
                  <a:lnTo>
                    <a:pt x="343205" y="4745436"/>
                  </a:lnTo>
                  <a:lnTo>
                    <a:pt x="371093" y="4707605"/>
                  </a:lnTo>
                  <a:lnTo>
                    <a:pt x="398428" y="4669498"/>
                  </a:lnTo>
                  <a:lnTo>
                    <a:pt x="425210" y="4631120"/>
                  </a:lnTo>
                  <a:lnTo>
                    <a:pt x="451441" y="4592476"/>
                  </a:lnTo>
                  <a:lnTo>
                    <a:pt x="477119" y="4553571"/>
                  </a:lnTo>
                  <a:lnTo>
                    <a:pt x="502245" y="4514412"/>
                  </a:lnTo>
                  <a:lnTo>
                    <a:pt x="526819" y="4475004"/>
                  </a:lnTo>
                  <a:lnTo>
                    <a:pt x="550841" y="4435353"/>
                  </a:lnTo>
                  <a:lnTo>
                    <a:pt x="574310" y="4395463"/>
                  </a:lnTo>
                  <a:lnTo>
                    <a:pt x="597228" y="4355341"/>
                  </a:lnTo>
                  <a:lnTo>
                    <a:pt x="619593" y="4314992"/>
                  </a:lnTo>
                  <a:lnTo>
                    <a:pt x="641405" y="4274422"/>
                  </a:lnTo>
                  <a:lnTo>
                    <a:pt x="662666" y="4233635"/>
                  </a:lnTo>
                  <a:lnTo>
                    <a:pt x="683374" y="4192639"/>
                  </a:lnTo>
                  <a:lnTo>
                    <a:pt x="703530" y="4151437"/>
                  </a:lnTo>
                  <a:lnTo>
                    <a:pt x="723134" y="4110037"/>
                  </a:lnTo>
                  <a:lnTo>
                    <a:pt x="742186" y="4068442"/>
                  </a:lnTo>
                  <a:lnTo>
                    <a:pt x="760685" y="4026660"/>
                  </a:lnTo>
                  <a:lnTo>
                    <a:pt x="778633" y="3984694"/>
                  </a:lnTo>
                  <a:lnTo>
                    <a:pt x="796028" y="3942552"/>
                  </a:lnTo>
                  <a:lnTo>
                    <a:pt x="812870" y="3900238"/>
                  </a:lnTo>
                  <a:lnTo>
                    <a:pt x="829161" y="3857758"/>
                  </a:lnTo>
                  <a:lnTo>
                    <a:pt x="844899" y="3815117"/>
                  </a:lnTo>
                  <a:lnTo>
                    <a:pt x="860085" y="3772321"/>
                  </a:lnTo>
                  <a:lnTo>
                    <a:pt x="874719" y="3729376"/>
                  </a:lnTo>
                  <a:lnTo>
                    <a:pt x="888801" y="3686287"/>
                  </a:lnTo>
                  <a:lnTo>
                    <a:pt x="902330" y="3643060"/>
                  </a:lnTo>
                  <a:lnTo>
                    <a:pt x="915308" y="3599700"/>
                  </a:lnTo>
                  <a:lnTo>
                    <a:pt x="927733" y="3556212"/>
                  </a:lnTo>
                  <a:lnTo>
                    <a:pt x="939605" y="3512603"/>
                  </a:lnTo>
                  <a:lnTo>
                    <a:pt x="950926" y="3468877"/>
                  </a:lnTo>
                  <a:lnTo>
                    <a:pt x="961694" y="3425041"/>
                  </a:lnTo>
                  <a:lnTo>
                    <a:pt x="971910" y="3381100"/>
                  </a:lnTo>
                  <a:lnTo>
                    <a:pt x="981574" y="3337059"/>
                  </a:lnTo>
                  <a:lnTo>
                    <a:pt x="990686" y="3292924"/>
                  </a:lnTo>
                  <a:lnTo>
                    <a:pt x="999245" y="3248700"/>
                  </a:lnTo>
                  <a:lnTo>
                    <a:pt x="1007252" y="3204393"/>
                  </a:lnTo>
                  <a:lnTo>
                    <a:pt x="1014707" y="3160009"/>
                  </a:lnTo>
                  <a:lnTo>
                    <a:pt x="1021610" y="3115553"/>
                  </a:lnTo>
                  <a:lnTo>
                    <a:pt x="1027961" y="3071030"/>
                  </a:lnTo>
                  <a:lnTo>
                    <a:pt x="1033759" y="3026447"/>
                  </a:lnTo>
                  <a:lnTo>
                    <a:pt x="1039005" y="2981808"/>
                  </a:lnTo>
                  <a:lnTo>
                    <a:pt x="1043699" y="2937119"/>
                  </a:lnTo>
                  <a:lnTo>
                    <a:pt x="1047841" y="2892386"/>
                  </a:lnTo>
                  <a:lnTo>
                    <a:pt x="1051430" y="2847614"/>
                  </a:lnTo>
                  <a:lnTo>
                    <a:pt x="1054467" y="2802810"/>
                  </a:lnTo>
                  <a:lnTo>
                    <a:pt x="1056952" y="2757977"/>
                  </a:lnTo>
                  <a:lnTo>
                    <a:pt x="1058885" y="2713122"/>
                  </a:lnTo>
                  <a:lnTo>
                    <a:pt x="1060266" y="2668251"/>
                  </a:lnTo>
                  <a:lnTo>
                    <a:pt x="1061094" y="2623368"/>
                  </a:lnTo>
                  <a:lnTo>
                    <a:pt x="1061370" y="2578481"/>
                  </a:lnTo>
                  <a:lnTo>
                    <a:pt x="1061094" y="2533593"/>
                  </a:lnTo>
                  <a:lnTo>
                    <a:pt x="1060266" y="2488710"/>
                  </a:lnTo>
                  <a:lnTo>
                    <a:pt x="1058885" y="2443839"/>
                  </a:lnTo>
                  <a:lnTo>
                    <a:pt x="1056952" y="2398984"/>
                  </a:lnTo>
                  <a:lnTo>
                    <a:pt x="1054467" y="2354151"/>
                  </a:lnTo>
                  <a:lnTo>
                    <a:pt x="1051430" y="2309347"/>
                  </a:lnTo>
                  <a:lnTo>
                    <a:pt x="1047841" y="2264575"/>
                  </a:lnTo>
                  <a:lnTo>
                    <a:pt x="1043699" y="2219842"/>
                  </a:lnTo>
                  <a:lnTo>
                    <a:pt x="1039005" y="2175153"/>
                  </a:lnTo>
                  <a:lnTo>
                    <a:pt x="1033759" y="2130514"/>
                  </a:lnTo>
                  <a:lnTo>
                    <a:pt x="1027961" y="2085931"/>
                  </a:lnTo>
                  <a:lnTo>
                    <a:pt x="1021610" y="2041408"/>
                  </a:lnTo>
                  <a:lnTo>
                    <a:pt x="1014707" y="1996952"/>
                  </a:lnTo>
                  <a:lnTo>
                    <a:pt x="1007252" y="1952568"/>
                  </a:lnTo>
                  <a:lnTo>
                    <a:pt x="999245" y="1908261"/>
                  </a:lnTo>
                  <a:lnTo>
                    <a:pt x="990686" y="1864037"/>
                  </a:lnTo>
                  <a:lnTo>
                    <a:pt x="981574" y="1819902"/>
                  </a:lnTo>
                  <a:lnTo>
                    <a:pt x="971910" y="1775861"/>
                  </a:lnTo>
                  <a:lnTo>
                    <a:pt x="961694" y="1731920"/>
                  </a:lnTo>
                  <a:lnTo>
                    <a:pt x="950926" y="1688084"/>
                  </a:lnTo>
                  <a:lnTo>
                    <a:pt x="939605" y="1644358"/>
                  </a:lnTo>
                  <a:lnTo>
                    <a:pt x="927733" y="1600749"/>
                  </a:lnTo>
                  <a:lnTo>
                    <a:pt x="915308" y="1557261"/>
                  </a:lnTo>
                  <a:lnTo>
                    <a:pt x="902330" y="1513901"/>
                  </a:lnTo>
                  <a:lnTo>
                    <a:pt x="888801" y="1470674"/>
                  </a:lnTo>
                  <a:lnTo>
                    <a:pt x="874719" y="1427585"/>
                  </a:lnTo>
                  <a:lnTo>
                    <a:pt x="860085" y="1384640"/>
                  </a:lnTo>
                  <a:lnTo>
                    <a:pt x="844899" y="1341844"/>
                  </a:lnTo>
                  <a:lnTo>
                    <a:pt x="829161" y="1299203"/>
                  </a:lnTo>
                  <a:lnTo>
                    <a:pt x="812870" y="1256723"/>
                  </a:lnTo>
                  <a:lnTo>
                    <a:pt x="796028" y="1214409"/>
                  </a:lnTo>
                  <a:lnTo>
                    <a:pt x="778633" y="1172267"/>
                  </a:lnTo>
                  <a:lnTo>
                    <a:pt x="760685" y="1130301"/>
                  </a:lnTo>
                  <a:lnTo>
                    <a:pt x="742186" y="1088519"/>
                  </a:lnTo>
                  <a:lnTo>
                    <a:pt x="723134" y="1046924"/>
                  </a:lnTo>
                  <a:lnTo>
                    <a:pt x="703530" y="1005524"/>
                  </a:lnTo>
                  <a:lnTo>
                    <a:pt x="683374" y="964322"/>
                  </a:lnTo>
                  <a:lnTo>
                    <a:pt x="662666" y="923326"/>
                  </a:lnTo>
                  <a:lnTo>
                    <a:pt x="641405" y="882539"/>
                  </a:lnTo>
                  <a:lnTo>
                    <a:pt x="619593" y="841969"/>
                  </a:lnTo>
                  <a:lnTo>
                    <a:pt x="597228" y="801620"/>
                  </a:lnTo>
                  <a:lnTo>
                    <a:pt x="574310" y="761498"/>
                  </a:lnTo>
                  <a:lnTo>
                    <a:pt x="550841" y="721608"/>
                  </a:lnTo>
                  <a:lnTo>
                    <a:pt x="526819" y="681957"/>
                  </a:lnTo>
                  <a:lnTo>
                    <a:pt x="502245" y="642549"/>
                  </a:lnTo>
                  <a:lnTo>
                    <a:pt x="477119" y="603390"/>
                  </a:lnTo>
                  <a:lnTo>
                    <a:pt x="451441" y="564485"/>
                  </a:lnTo>
                  <a:lnTo>
                    <a:pt x="425210" y="525841"/>
                  </a:lnTo>
                  <a:lnTo>
                    <a:pt x="398428" y="487463"/>
                  </a:lnTo>
                  <a:lnTo>
                    <a:pt x="371093" y="449356"/>
                  </a:lnTo>
                  <a:lnTo>
                    <a:pt x="343205" y="411525"/>
                  </a:lnTo>
                  <a:lnTo>
                    <a:pt x="314766" y="373977"/>
                  </a:lnTo>
                  <a:lnTo>
                    <a:pt x="285774" y="336717"/>
                  </a:lnTo>
                  <a:lnTo>
                    <a:pt x="256231" y="299750"/>
                  </a:lnTo>
                  <a:lnTo>
                    <a:pt x="226134" y="263082"/>
                  </a:lnTo>
                  <a:lnTo>
                    <a:pt x="195486" y="226718"/>
                  </a:lnTo>
                  <a:lnTo>
                    <a:pt x="164286" y="190664"/>
                  </a:lnTo>
                  <a:lnTo>
                    <a:pt x="132533" y="154926"/>
                  </a:lnTo>
                  <a:lnTo>
                    <a:pt x="100228" y="119509"/>
                  </a:lnTo>
                  <a:lnTo>
                    <a:pt x="67371" y="84419"/>
                  </a:lnTo>
                  <a:lnTo>
                    <a:pt x="33961" y="49660"/>
                  </a:lnTo>
                  <a:lnTo>
                    <a:pt x="0" y="15239"/>
                  </a:lnTo>
                  <a:lnTo>
                    <a:pt x="15240" y="0"/>
                  </a:lnTo>
                  <a:close/>
                </a:path>
              </a:pathLst>
            </a:custGeom>
            <a:ln w="10667">
              <a:solidFill>
                <a:srgbClr val="309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41470" y="1258062"/>
              <a:ext cx="7301865" cy="1083945"/>
            </a:xfrm>
            <a:custGeom>
              <a:avLst/>
              <a:gdLst/>
              <a:ahLst/>
              <a:cxnLst/>
              <a:rect l="l" t="t" r="r" b="b"/>
              <a:pathLst>
                <a:path w="7301865" h="1083945">
                  <a:moveTo>
                    <a:pt x="7301483" y="0"/>
                  </a:moveTo>
                  <a:lnTo>
                    <a:pt x="0" y="0"/>
                  </a:lnTo>
                  <a:lnTo>
                    <a:pt x="0" y="1083564"/>
                  </a:lnTo>
                  <a:lnTo>
                    <a:pt x="7301483" y="1083564"/>
                  </a:lnTo>
                  <a:lnTo>
                    <a:pt x="7301483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41470" y="1258062"/>
              <a:ext cx="7301865" cy="1083945"/>
            </a:xfrm>
            <a:custGeom>
              <a:avLst/>
              <a:gdLst/>
              <a:ahLst/>
              <a:cxnLst/>
              <a:rect l="l" t="t" r="r" b="b"/>
              <a:pathLst>
                <a:path w="7301865" h="1083945">
                  <a:moveTo>
                    <a:pt x="0" y="1083564"/>
                  </a:moveTo>
                  <a:lnTo>
                    <a:pt x="7301483" y="1083564"/>
                  </a:lnTo>
                  <a:lnTo>
                    <a:pt x="7301483" y="0"/>
                  </a:lnTo>
                  <a:lnTo>
                    <a:pt x="0" y="0"/>
                  </a:lnTo>
                  <a:lnTo>
                    <a:pt x="0" y="1083564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89067" y="1273505"/>
            <a:ext cx="607885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dirty="0">
                <a:solidFill>
                  <a:srgbClr val="FFFFFF"/>
                </a:solidFill>
                <a:latin typeface="Corbel"/>
                <a:cs typeface="Corbel"/>
              </a:rPr>
              <a:t>Abstract</a:t>
            </a:r>
            <a:r>
              <a:rPr sz="5600" spc="-1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5600" spc="-10" dirty="0">
                <a:solidFill>
                  <a:srgbClr val="FFFFFF"/>
                </a:solidFill>
                <a:latin typeface="Corbel"/>
                <a:cs typeface="Corbel"/>
              </a:rPr>
              <a:t>Syntax</a:t>
            </a:r>
            <a:r>
              <a:rPr sz="5600" spc="-4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5600" spc="-60" dirty="0">
                <a:solidFill>
                  <a:srgbClr val="FFFFFF"/>
                </a:solidFill>
                <a:latin typeface="Corbel"/>
                <a:cs typeface="Corbel"/>
              </a:rPr>
              <a:t>Tree</a:t>
            </a:r>
            <a:endParaRPr sz="5600">
              <a:latin typeface="Corbel"/>
              <a:cs typeface="Corbe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59416" y="1117028"/>
            <a:ext cx="7988934" cy="2856230"/>
            <a:chOff x="3459416" y="1117028"/>
            <a:chExt cx="7988934" cy="2856230"/>
          </a:xfrm>
        </p:grpSpPr>
        <p:sp>
          <p:nvSpPr>
            <p:cNvPr id="9" name="object 9"/>
            <p:cNvSpPr/>
            <p:nvPr/>
          </p:nvSpPr>
          <p:spPr>
            <a:xfrm>
              <a:off x="3464813" y="1122426"/>
              <a:ext cx="1355090" cy="1355090"/>
            </a:xfrm>
            <a:custGeom>
              <a:avLst/>
              <a:gdLst/>
              <a:ahLst/>
              <a:cxnLst/>
              <a:rect l="l" t="t" r="r" b="b"/>
              <a:pathLst>
                <a:path w="1355089" h="1355089">
                  <a:moveTo>
                    <a:pt x="677418" y="0"/>
                  </a:moveTo>
                  <a:lnTo>
                    <a:pt x="629037" y="1700"/>
                  </a:lnTo>
                  <a:lnTo>
                    <a:pt x="581576" y="6726"/>
                  </a:lnTo>
                  <a:lnTo>
                    <a:pt x="535147" y="14963"/>
                  </a:lnTo>
                  <a:lnTo>
                    <a:pt x="489866" y="26295"/>
                  </a:lnTo>
                  <a:lnTo>
                    <a:pt x="445847" y="40609"/>
                  </a:lnTo>
                  <a:lnTo>
                    <a:pt x="403205" y="57790"/>
                  </a:lnTo>
                  <a:lnTo>
                    <a:pt x="362054" y="77723"/>
                  </a:lnTo>
                  <a:lnTo>
                    <a:pt x="322509" y="100293"/>
                  </a:lnTo>
                  <a:lnTo>
                    <a:pt x="284685" y="125386"/>
                  </a:lnTo>
                  <a:lnTo>
                    <a:pt x="248697" y="152888"/>
                  </a:lnTo>
                  <a:lnTo>
                    <a:pt x="214658" y="182683"/>
                  </a:lnTo>
                  <a:lnTo>
                    <a:pt x="182683" y="214658"/>
                  </a:lnTo>
                  <a:lnTo>
                    <a:pt x="152888" y="248697"/>
                  </a:lnTo>
                  <a:lnTo>
                    <a:pt x="125386" y="284685"/>
                  </a:lnTo>
                  <a:lnTo>
                    <a:pt x="100293" y="322509"/>
                  </a:lnTo>
                  <a:lnTo>
                    <a:pt x="77723" y="362054"/>
                  </a:lnTo>
                  <a:lnTo>
                    <a:pt x="57790" y="403205"/>
                  </a:lnTo>
                  <a:lnTo>
                    <a:pt x="40609" y="445847"/>
                  </a:lnTo>
                  <a:lnTo>
                    <a:pt x="26295" y="489866"/>
                  </a:lnTo>
                  <a:lnTo>
                    <a:pt x="14963" y="535147"/>
                  </a:lnTo>
                  <a:lnTo>
                    <a:pt x="6726" y="581576"/>
                  </a:lnTo>
                  <a:lnTo>
                    <a:pt x="1700" y="629037"/>
                  </a:lnTo>
                  <a:lnTo>
                    <a:pt x="0" y="677418"/>
                  </a:lnTo>
                  <a:lnTo>
                    <a:pt x="1700" y="725798"/>
                  </a:lnTo>
                  <a:lnTo>
                    <a:pt x="6726" y="773259"/>
                  </a:lnTo>
                  <a:lnTo>
                    <a:pt x="14963" y="819688"/>
                  </a:lnTo>
                  <a:lnTo>
                    <a:pt x="26295" y="864969"/>
                  </a:lnTo>
                  <a:lnTo>
                    <a:pt x="40609" y="908988"/>
                  </a:lnTo>
                  <a:lnTo>
                    <a:pt x="57790" y="951630"/>
                  </a:lnTo>
                  <a:lnTo>
                    <a:pt x="77723" y="992781"/>
                  </a:lnTo>
                  <a:lnTo>
                    <a:pt x="100293" y="1032326"/>
                  </a:lnTo>
                  <a:lnTo>
                    <a:pt x="125386" y="1070150"/>
                  </a:lnTo>
                  <a:lnTo>
                    <a:pt x="152888" y="1106138"/>
                  </a:lnTo>
                  <a:lnTo>
                    <a:pt x="182683" y="1140177"/>
                  </a:lnTo>
                  <a:lnTo>
                    <a:pt x="214658" y="1172152"/>
                  </a:lnTo>
                  <a:lnTo>
                    <a:pt x="248697" y="1201947"/>
                  </a:lnTo>
                  <a:lnTo>
                    <a:pt x="284685" y="1229449"/>
                  </a:lnTo>
                  <a:lnTo>
                    <a:pt x="322509" y="1254542"/>
                  </a:lnTo>
                  <a:lnTo>
                    <a:pt x="362054" y="1277112"/>
                  </a:lnTo>
                  <a:lnTo>
                    <a:pt x="403205" y="1297045"/>
                  </a:lnTo>
                  <a:lnTo>
                    <a:pt x="445847" y="1314226"/>
                  </a:lnTo>
                  <a:lnTo>
                    <a:pt x="489866" y="1328540"/>
                  </a:lnTo>
                  <a:lnTo>
                    <a:pt x="535147" y="1339872"/>
                  </a:lnTo>
                  <a:lnTo>
                    <a:pt x="581576" y="1348109"/>
                  </a:lnTo>
                  <a:lnTo>
                    <a:pt x="629037" y="1353135"/>
                  </a:lnTo>
                  <a:lnTo>
                    <a:pt x="677418" y="1354836"/>
                  </a:lnTo>
                  <a:lnTo>
                    <a:pt x="725798" y="1353135"/>
                  </a:lnTo>
                  <a:lnTo>
                    <a:pt x="773259" y="1348109"/>
                  </a:lnTo>
                  <a:lnTo>
                    <a:pt x="819688" y="1339872"/>
                  </a:lnTo>
                  <a:lnTo>
                    <a:pt x="864969" y="1328540"/>
                  </a:lnTo>
                  <a:lnTo>
                    <a:pt x="908988" y="1314226"/>
                  </a:lnTo>
                  <a:lnTo>
                    <a:pt x="951630" y="1297045"/>
                  </a:lnTo>
                  <a:lnTo>
                    <a:pt x="992781" y="1277112"/>
                  </a:lnTo>
                  <a:lnTo>
                    <a:pt x="1032326" y="1254542"/>
                  </a:lnTo>
                  <a:lnTo>
                    <a:pt x="1070150" y="1229449"/>
                  </a:lnTo>
                  <a:lnTo>
                    <a:pt x="1106138" y="1201947"/>
                  </a:lnTo>
                  <a:lnTo>
                    <a:pt x="1140177" y="1172152"/>
                  </a:lnTo>
                  <a:lnTo>
                    <a:pt x="1172152" y="1140177"/>
                  </a:lnTo>
                  <a:lnTo>
                    <a:pt x="1201947" y="1106138"/>
                  </a:lnTo>
                  <a:lnTo>
                    <a:pt x="1229449" y="1070150"/>
                  </a:lnTo>
                  <a:lnTo>
                    <a:pt x="1254542" y="1032326"/>
                  </a:lnTo>
                  <a:lnTo>
                    <a:pt x="1277112" y="992781"/>
                  </a:lnTo>
                  <a:lnTo>
                    <a:pt x="1297045" y="951630"/>
                  </a:lnTo>
                  <a:lnTo>
                    <a:pt x="1314226" y="908988"/>
                  </a:lnTo>
                  <a:lnTo>
                    <a:pt x="1328540" y="864969"/>
                  </a:lnTo>
                  <a:lnTo>
                    <a:pt x="1339872" y="819688"/>
                  </a:lnTo>
                  <a:lnTo>
                    <a:pt x="1348109" y="773259"/>
                  </a:lnTo>
                  <a:lnTo>
                    <a:pt x="1353135" y="725798"/>
                  </a:lnTo>
                  <a:lnTo>
                    <a:pt x="1354836" y="677418"/>
                  </a:lnTo>
                  <a:lnTo>
                    <a:pt x="1353135" y="629037"/>
                  </a:lnTo>
                  <a:lnTo>
                    <a:pt x="1348109" y="581576"/>
                  </a:lnTo>
                  <a:lnTo>
                    <a:pt x="1339872" y="535147"/>
                  </a:lnTo>
                  <a:lnTo>
                    <a:pt x="1328540" y="489866"/>
                  </a:lnTo>
                  <a:lnTo>
                    <a:pt x="1314226" y="445847"/>
                  </a:lnTo>
                  <a:lnTo>
                    <a:pt x="1297045" y="403205"/>
                  </a:lnTo>
                  <a:lnTo>
                    <a:pt x="1277112" y="362054"/>
                  </a:lnTo>
                  <a:lnTo>
                    <a:pt x="1254542" y="322509"/>
                  </a:lnTo>
                  <a:lnTo>
                    <a:pt x="1229449" y="284685"/>
                  </a:lnTo>
                  <a:lnTo>
                    <a:pt x="1201947" y="248697"/>
                  </a:lnTo>
                  <a:lnTo>
                    <a:pt x="1172152" y="214658"/>
                  </a:lnTo>
                  <a:lnTo>
                    <a:pt x="1140177" y="182683"/>
                  </a:lnTo>
                  <a:lnTo>
                    <a:pt x="1106138" y="152888"/>
                  </a:lnTo>
                  <a:lnTo>
                    <a:pt x="1070150" y="125386"/>
                  </a:lnTo>
                  <a:lnTo>
                    <a:pt x="1032326" y="100293"/>
                  </a:lnTo>
                  <a:lnTo>
                    <a:pt x="992781" y="77723"/>
                  </a:lnTo>
                  <a:lnTo>
                    <a:pt x="951630" y="57790"/>
                  </a:lnTo>
                  <a:lnTo>
                    <a:pt x="908988" y="40609"/>
                  </a:lnTo>
                  <a:lnTo>
                    <a:pt x="864969" y="26295"/>
                  </a:lnTo>
                  <a:lnTo>
                    <a:pt x="819688" y="14963"/>
                  </a:lnTo>
                  <a:lnTo>
                    <a:pt x="773259" y="6726"/>
                  </a:lnTo>
                  <a:lnTo>
                    <a:pt x="725798" y="1700"/>
                  </a:lnTo>
                  <a:lnTo>
                    <a:pt x="677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4813" y="1122426"/>
              <a:ext cx="1355090" cy="1355090"/>
            </a:xfrm>
            <a:custGeom>
              <a:avLst/>
              <a:gdLst/>
              <a:ahLst/>
              <a:cxnLst/>
              <a:rect l="l" t="t" r="r" b="b"/>
              <a:pathLst>
                <a:path w="1355089" h="1355089">
                  <a:moveTo>
                    <a:pt x="0" y="677418"/>
                  </a:moveTo>
                  <a:lnTo>
                    <a:pt x="1700" y="629037"/>
                  </a:lnTo>
                  <a:lnTo>
                    <a:pt x="6726" y="581576"/>
                  </a:lnTo>
                  <a:lnTo>
                    <a:pt x="14963" y="535147"/>
                  </a:lnTo>
                  <a:lnTo>
                    <a:pt x="26295" y="489866"/>
                  </a:lnTo>
                  <a:lnTo>
                    <a:pt x="40609" y="445847"/>
                  </a:lnTo>
                  <a:lnTo>
                    <a:pt x="57790" y="403205"/>
                  </a:lnTo>
                  <a:lnTo>
                    <a:pt x="77723" y="362054"/>
                  </a:lnTo>
                  <a:lnTo>
                    <a:pt x="100293" y="322509"/>
                  </a:lnTo>
                  <a:lnTo>
                    <a:pt x="125386" y="284685"/>
                  </a:lnTo>
                  <a:lnTo>
                    <a:pt x="152888" y="248697"/>
                  </a:lnTo>
                  <a:lnTo>
                    <a:pt x="182683" y="214658"/>
                  </a:lnTo>
                  <a:lnTo>
                    <a:pt x="214658" y="182683"/>
                  </a:lnTo>
                  <a:lnTo>
                    <a:pt x="248697" y="152888"/>
                  </a:lnTo>
                  <a:lnTo>
                    <a:pt x="284685" y="125386"/>
                  </a:lnTo>
                  <a:lnTo>
                    <a:pt x="322509" y="100293"/>
                  </a:lnTo>
                  <a:lnTo>
                    <a:pt x="362054" y="77723"/>
                  </a:lnTo>
                  <a:lnTo>
                    <a:pt x="403205" y="57790"/>
                  </a:lnTo>
                  <a:lnTo>
                    <a:pt x="445847" y="40609"/>
                  </a:lnTo>
                  <a:lnTo>
                    <a:pt x="489866" y="26295"/>
                  </a:lnTo>
                  <a:lnTo>
                    <a:pt x="535147" y="14963"/>
                  </a:lnTo>
                  <a:lnTo>
                    <a:pt x="581576" y="6726"/>
                  </a:lnTo>
                  <a:lnTo>
                    <a:pt x="629037" y="1700"/>
                  </a:lnTo>
                  <a:lnTo>
                    <a:pt x="677418" y="0"/>
                  </a:lnTo>
                  <a:lnTo>
                    <a:pt x="725798" y="1700"/>
                  </a:lnTo>
                  <a:lnTo>
                    <a:pt x="773259" y="6726"/>
                  </a:lnTo>
                  <a:lnTo>
                    <a:pt x="819688" y="14963"/>
                  </a:lnTo>
                  <a:lnTo>
                    <a:pt x="864969" y="26295"/>
                  </a:lnTo>
                  <a:lnTo>
                    <a:pt x="908988" y="40609"/>
                  </a:lnTo>
                  <a:lnTo>
                    <a:pt x="951630" y="57790"/>
                  </a:lnTo>
                  <a:lnTo>
                    <a:pt x="992781" y="77723"/>
                  </a:lnTo>
                  <a:lnTo>
                    <a:pt x="1032326" y="100293"/>
                  </a:lnTo>
                  <a:lnTo>
                    <a:pt x="1070150" y="125386"/>
                  </a:lnTo>
                  <a:lnTo>
                    <a:pt x="1106138" y="152888"/>
                  </a:lnTo>
                  <a:lnTo>
                    <a:pt x="1140177" y="182683"/>
                  </a:lnTo>
                  <a:lnTo>
                    <a:pt x="1172152" y="214658"/>
                  </a:lnTo>
                  <a:lnTo>
                    <a:pt x="1201947" y="248697"/>
                  </a:lnTo>
                  <a:lnTo>
                    <a:pt x="1229449" y="284685"/>
                  </a:lnTo>
                  <a:lnTo>
                    <a:pt x="1254542" y="322509"/>
                  </a:lnTo>
                  <a:lnTo>
                    <a:pt x="1277112" y="362054"/>
                  </a:lnTo>
                  <a:lnTo>
                    <a:pt x="1297045" y="403205"/>
                  </a:lnTo>
                  <a:lnTo>
                    <a:pt x="1314226" y="445847"/>
                  </a:lnTo>
                  <a:lnTo>
                    <a:pt x="1328540" y="489866"/>
                  </a:lnTo>
                  <a:lnTo>
                    <a:pt x="1339872" y="535147"/>
                  </a:lnTo>
                  <a:lnTo>
                    <a:pt x="1348109" y="581576"/>
                  </a:lnTo>
                  <a:lnTo>
                    <a:pt x="1353135" y="629037"/>
                  </a:lnTo>
                  <a:lnTo>
                    <a:pt x="1354836" y="677418"/>
                  </a:lnTo>
                  <a:lnTo>
                    <a:pt x="1353135" y="725798"/>
                  </a:lnTo>
                  <a:lnTo>
                    <a:pt x="1348109" y="773259"/>
                  </a:lnTo>
                  <a:lnTo>
                    <a:pt x="1339872" y="819688"/>
                  </a:lnTo>
                  <a:lnTo>
                    <a:pt x="1328540" y="864969"/>
                  </a:lnTo>
                  <a:lnTo>
                    <a:pt x="1314226" y="908988"/>
                  </a:lnTo>
                  <a:lnTo>
                    <a:pt x="1297045" y="951630"/>
                  </a:lnTo>
                  <a:lnTo>
                    <a:pt x="1277112" y="992781"/>
                  </a:lnTo>
                  <a:lnTo>
                    <a:pt x="1254542" y="1032326"/>
                  </a:lnTo>
                  <a:lnTo>
                    <a:pt x="1229449" y="1070150"/>
                  </a:lnTo>
                  <a:lnTo>
                    <a:pt x="1201947" y="1106138"/>
                  </a:lnTo>
                  <a:lnTo>
                    <a:pt x="1172152" y="1140177"/>
                  </a:lnTo>
                  <a:lnTo>
                    <a:pt x="1140177" y="1172152"/>
                  </a:lnTo>
                  <a:lnTo>
                    <a:pt x="1106138" y="1201947"/>
                  </a:lnTo>
                  <a:lnTo>
                    <a:pt x="1070150" y="1229449"/>
                  </a:lnTo>
                  <a:lnTo>
                    <a:pt x="1032326" y="1254542"/>
                  </a:lnTo>
                  <a:lnTo>
                    <a:pt x="992781" y="1277112"/>
                  </a:lnTo>
                  <a:lnTo>
                    <a:pt x="951630" y="1297045"/>
                  </a:lnTo>
                  <a:lnTo>
                    <a:pt x="908988" y="1314226"/>
                  </a:lnTo>
                  <a:lnTo>
                    <a:pt x="864969" y="1328540"/>
                  </a:lnTo>
                  <a:lnTo>
                    <a:pt x="819688" y="1339872"/>
                  </a:lnTo>
                  <a:lnTo>
                    <a:pt x="773259" y="1348109"/>
                  </a:lnTo>
                  <a:lnTo>
                    <a:pt x="725798" y="1353135"/>
                  </a:lnTo>
                  <a:lnTo>
                    <a:pt x="677418" y="1354836"/>
                  </a:lnTo>
                  <a:lnTo>
                    <a:pt x="629037" y="1353135"/>
                  </a:lnTo>
                  <a:lnTo>
                    <a:pt x="581576" y="1348109"/>
                  </a:lnTo>
                  <a:lnTo>
                    <a:pt x="535147" y="1339872"/>
                  </a:lnTo>
                  <a:lnTo>
                    <a:pt x="489866" y="1328540"/>
                  </a:lnTo>
                  <a:lnTo>
                    <a:pt x="445847" y="1314226"/>
                  </a:lnTo>
                  <a:lnTo>
                    <a:pt x="403205" y="1297045"/>
                  </a:lnTo>
                  <a:lnTo>
                    <a:pt x="362054" y="1277112"/>
                  </a:lnTo>
                  <a:lnTo>
                    <a:pt x="322509" y="1254542"/>
                  </a:lnTo>
                  <a:lnTo>
                    <a:pt x="284685" y="1229449"/>
                  </a:lnTo>
                  <a:lnTo>
                    <a:pt x="248697" y="1201947"/>
                  </a:lnTo>
                  <a:lnTo>
                    <a:pt x="214658" y="1172152"/>
                  </a:lnTo>
                  <a:lnTo>
                    <a:pt x="182683" y="1140177"/>
                  </a:lnTo>
                  <a:lnTo>
                    <a:pt x="152888" y="1106138"/>
                  </a:lnTo>
                  <a:lnTo>
                    <a:pt x="125386" y="1070150"/>
                  </a:lnTo>
                  <a:lnTo>
                    <a:pt x="100293" y="1032326"/>
                  </a:lnTo>
                  <a:lnTo>
                    <a:pt x="77723" y="992781"/>
                  </a:lnTo>
                  <a:lnTo>
                    <a:pt x="57790" y="951630"/>
                  </a:lnTo>
                  <a:lnTo>
                    <a:pt x="40609" y="908988"/>
                  </a:lnTo>
                  <a:lnTo>
                    <a:pt x="26295" y="864969"/>
                  </a:lnTo>
                  <a:lnTo>
                    <a:pt x="14963" y="819688"/>
                  </a:lnTo>
                  <a:lnTo>
                    <a:pt x="6726" y="773259"/>
                  </a:lnTo>
                  <a:lnTo>
                    <a:pt x="1700" y="725798"/>
                  </a:lnTo>
                  <a:lnTo>
                    <a:pt x="0" y="677418"/>
                  </a:lnTo>
                  <a:close/>
                </a:path>
              </a:pathLst>
            </a:custGeom>
            <a:ln w="10668">
              <a:solidFill>
                <a:srgbClr val="40B9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36185" y="2882645"/>
              <a:ext cx="6906895" cy="1085215"/>
            </a:xfrm>
            <a:custGeom>
              <a:avLst/>
              <a:gdLst/>
              <a:ahLst/>
              <a:cxnLst/>
              <a:rect l="l" t="t" r="r" b="b"/>
              <a:pathLst>
                <a:path w="6906895" h="1085214">
                  <a:moveTo>
                    <a:pt x="6906767" y="0"/>
                  </a:moveTo>
                  <a:lnTo>
                    <a:pt x="0" y="0"/>
                  </a:lnTo>
                  <a:lnTo>
                    <a:pt x="0" y="1085087"/>
                  </a:lnTo>
                  <a:lnTo>
                    <a:pt x="6906767" y="1085087"/>
                  </a:lnTo>
                  <a:lnTo>
                    <a:pt x="6906767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36185" y="2882645"/>
              <a:ext cx="6906895" cy="1085215"/>
            </a:xfrm>
            <a:custGeom>
              <a:avLst/>
              <a:gdLst/>
              <a:ahLst/>
              <a:cxnLst/>
              <a:rect l="l" t="t" r="r" b="b"/>
              <a:pathLst>
                <a:path w="6906895" h="1085214">
                  <a:moveTo>
                    <a:pt x="0" y="1085087"/>
                  </a:moveTo>
                  <a:lnTo>
                    <a:pt x="6906767" y="1085087"/>
                  </a:lnTo>
                  <a:lnTo>
                    <a:pt x="6906767" y="0"/>
                  </a:lnTo>
                  <a:lnTo>
                    <a:pt x="0" y="0"/>
                  </a:lnTo>
                  <a:lnTo>
                    <a:pt x="0" y="1085087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83148" y="2899613"/>
            <a:ext cx="468884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spc="-10" dirty="0">
                <a:solidFill>
                  <a:srgbClr val="FFFFFF"/>
                </a:solidFill>
                <a:latin typeface="Corbel"/>
                <a:cs typeface="Corbel"/>
              </a:rPr>
              <a:t>Postfix</a:t>
            </a:r>
            <a:r>
              <a:rPr sz="5600" spc="-2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5600" spc="-10" dirty="0">
                <a:solidFill>
                  <a:srgbClr val="FFFFFF"/>
                </a:solidFill>
                <a:latin typeface="Corbel"/>
                <a:cs typeface="Corbel"/>
              </a:rPr>
              <a:t>notation</a:t>
            </a:r>
            <a:endParaRPr sz="5600">
              <a:latin typeface="Corbel"/>
              <a:cs typeface="Corbe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52608" y="2743136"/>
            <a:ext cx="7595870" cy="2854960"/>
            <a:chOff x="3852608" y="2743136"/>
            <a:chExt cx="7595870" cy="2854960"/>
          </a:xfrm>
        </p:grpSpPr>
        <p:sp>
          <p:nvSpPr>
            <p:cNvPr id="15" name="object 15"/>
            <p:cNvSpPr/>
            <p:nvPr/>
          </p:nvSpPr>
          <p:spPr>
            <a:xfrm>
              <a:off x="3858006" y="2748533"/>
              <a:ext cx="1355090" cy="1353820"/>
            </a:xfrm>
            <a:custGeom>
              <a:avLst/>
              <a:gdLst/>
              <a:ahLst/>
              <a:cxnLst/>
              <a:rect l="l" t="t" r="r" b="b"/>
              <a:pathLst>
                <a:path w="1355089" h="1353820">
                  <a:moveTo>
                    <a:pt x="677418" y="0"/>
                  </a:moveTo>
                  <a:lnTo>
                    <a:pt x="629037" y="1698"/>
                  </a:lnTo>
                  <a:lnTo>
                    <a:pt x="581576" y="6718"/>
                  </a:lnTo>
                  <a:lnTo>
                    <a:pt x="535147" y="14944"/>
                  </a:lnTo>
                  <a:lnTo>
                    <a:pt x="489866" y="26263"/>
                  </a:lnTo>
                  <a:lnTo>
                    <a:pt x="445847" y="40559"/>
                  </a:lnTo>
                  <a:lnTo>
                    <a:pt x="403205" y="57719"/>
                  </a:lnTo>
                  <a:lnTo>
                    <a:pt x="362054" y="77628"/>
                  </a:lnTo>
                  <a:lnTo>
                    <a:pt x="322509" y="100171"/>
                  </a:lnTo>
                  <a:lnTo>
                    <a:pt x="284685" y="125234"/>
                  </a:lnTo>
                  <a:lnTo>
                    <a:pt x="248697" y="152703"/>
                  </a:lnTo>
                  <a:lnTo>
                    <a:pt x="214658" y="182464"/>
                  </a:lnTo>
                  <a:lnTo>
                    <a:pt x="182683" y="214401"/>
                  </a:lnTo>
                  <a:lnTo>
                    <a:pt x="152888" y="248400"/>
                  </a:lnTo>
                  <a:lnTo>
                    <a:pt x="125386" y="284348"/>
                  </a:lnTo>
                  <a:lnTo>
                    <a:pt x="100293" y="322129"/>
                  </a:lnTo>
                  <a:lnTo>
                    <a:pt x="77723" y="361629"/>
                  </a:lnTo>
                  <a:lnTo>
                    <a:pt x="57790" y="402734"/>
                  </a:lnTo>
                  <a:lnTo>
                    <a:pt x="40609" y="445329"/>
                  </a:lnTo>
                  <a:lnTo>
                    <a:pt x="26295" y="489300"/>
                  </a:lnTo>
                  <a:lnTo>
                    <a:pt x="14963" y="534533"/>
                  </a:lnTo>
                  <a:lnTo>
                    <a:pt x="6726" y="580913"/>
                  </a:lnTo>
                  <a:lnTo>
                    <a:pt x="1700" y="628325"/>
                  </a:lnTo>
                  <a:lnTo>
                    <a:pt x="0" y="676655"/>
                  </a:lnTo>
                  <a:lnTo>
                    <a:pt x="1700" y="724986"/>
                  </a:lnTo>
                  <a:lnTo>
                    <a:pt x="6726" y="772398"/>
                  </a:lnTo>
                  <a:lnTo>
                    <a:pt x="14963" y="818778"/>
                  </a:lnTo>
                  <a:lnTo>
                    <a:pt x="26295" y="864011"/>
                  </a:lnTo>
                  <a:lnTo>
                    <a:pt x="40609" y="907982"/>
                  </a:lnTo>
                  <a:lnTo>
                    <a:pt x="57790" y="950577"/>
                  </a:lnTo>
                  <a:lnTo>
                    <a:pt x="77723" y="991682"/>
                  </a:lnTo>
                  <a:lnTo>
                    <a:pt x="100293" y="1031182"/>
                  </a:lnTo>
                  <a:lnTo>
                    <a:pt x="125386" y="1068963"/>
                  </a:lnTo>
                  <a:lnTo>
                    <a:pt x="152888" y="1104911"/>
                  </a:lnTo>
                  <a:lnTo>
                    <a:pt x="182683" y="1138910"/>
                  </a:lnTo>
                  <a:lnTo>
                    <a:pt x="214658" y="1170847"/>
                  </a:lnTo>
                  <a:lnTo>
                    <a:pt x="248697" y="1200608"/>
                  </a:lnTo>
                  <a:lnTo>
                    <a:pt x="284685" y="1228077"/>
                  </a:lnTo>
                  <a:lnTo>
                    <a:pt x="322509" y="1253140"/>
                  </a:lnTo>
                  <a:lnTo>
                    <a:pt x="362054" y="1275683"/>
                  </a:lnTo>
                  <a:lnTo>
                    <a:pt x="403205" y="1295592"/>
                  </a:lnTo>
                  <a:lnTo>
                    <a:pt x="445847" y="1312752"/>
                  </a:lnTo>
                  <a:lnTo>
                    <a:pt x="489866" y="1327048"/>
                  </a:lnTo>
                  <a:lnTo>
                    <a:pt x="535147" y="1338367"/>
                  </a:lnTo>
                  <a:lnTo>
                    <a:pt x="581576" y="1346593"/>
                  </a:lnTo>
                  <a:lnTo>
                    <a:pt x="629037" y="1351613"/>
                  </a:lnTo>
                  <a:lnTo>
                    <a:pt x="677418" y="1353311"/>
                  </a:lnTo>
                  <a:lnTo>
                    <a:pt x="725798" y="1351613"/>
                  </a:lnTo>
                  <a:lnTo>
                    <a:pt x="773259" y="1346593"/>
                  </a:lnTo>
                  <a:lnTo>
                    <a:pt x="819688" y="1338367"/>
                  </a:lnTo>
                  <a:lnTo>
                    <a:pt x="864969" y="1327048"/>
                  </a:lnTo>
                  <a:lnTo>
                    <a:pt x="908988" y="1312752"/>
                  </a:lnTo>
                  <a:lnTo>
                    <a:pt x="951630" y="1295592"/>
                  </a:lnTo>
                  <a:lnTo>
                    <a:pt x="992781" y="1275683"/>
                  </a:lnTo>
                  <a:lnTo>
                    <a:pt x="1032326" y="1253140"/>
                  </a:lnTo>
                  <a:lnTo>
                    <a:pt x="1070150" y="1228077"/>
                  </a:lnTo>
                  <a:lnTo>
                    <a:pt x="1106138" y="1200608"/>
                  </a:lnTo>
                  <a:lnTo>
                    <a:pt x="1140177" y="1170847"/>
                  </a:lnTo>
                  <a:lnTo>
                    <a:pt x="1172152" y="1138910"/>
                  </a:lnTo>
                  <a:lnTo>
                    <a:pt x="1201947" y="1104911"/>
                  </a:lnTo>
                  <a:lnTo>
                    <a:pt x="1229449" y="1068963"/>
                  </a:lnTo>
                  <a:lnTo>
                    <a:pt x="1254542" y="1031182"/>
                  </a:lnTo>
                  <a:lnTo>
                    <a:pt x="1277112" y="991682"/>
                  </a:lnTo>
                  <a:lnTo>
                    <a:pt x="1297045" y="950577"/>
                  </a:lnTo>
                  <a:lnTo>
                    <a:pt x="1314226" y="907982"/>
                  </a:lnTo>
                  <a:lnTo>
                    <a:pt x="1328540" y="864011"/>
                  </a:lnTo>
                  <a:lnTo>
                    <a:pt x="1339872" y="818778"/>
                  </a:lnTo>
                  <a:lnTo>
                    <a:pt x="1348109" y="772398"/>
                  </a:lnTo>
                  <a:lnTo>
                    <a:pt x="1353135" y="724986"/>
                  </a:lnTo>
                  <a:lnTo>
                    <a:pt x="1354836" y="676655"/>
                  </a:lnTo>
                  <a:lnTo>
                    <a:pt x="1353135" y="628325"/>
                  </a:lnTo>
                  <a:lnTo>
                    <a:pt x="1348109" y="580913"/>
                  </a:lnTo>
                  <a:lnTo>
                    <a:pt x="1339872" y="534533"/>
                  </a:lnTo>
                  <a:lnTo>
                    <a:pt x="1328540" y="489300"/>
                  </a:lnTo>
                  <a:lnTo>
                    <a:pt x="1314226" y="445329"/>
                  </a:lnTo>
                  <a:lnTo>
                    <a:pt x="1297045" y="402734"/>
                  </a:lnTo>
                  <a:lnTo>
                    <a:pt x="1277112" y="361629"/>
                  </a:lnTo>
                  <a:lnTo>
                    <a:pt x="1254542" y="322129"/>
                  </a:lnTo>
                  <a:lnTo>
                    <a:pt x="1229449" y="284348"/>
                  </a:lnTo>
                  <a:lnTo>
                    <a:pt x="1201947" y="248400"/>
                  </a:lnTo>
                  <a:lnTo>
                    <a:pt x="1172152" y="214401"/>
                  </a:lnTo>
                  <a:lnTo>
                    <a:pt x="1140177" y="182464"/>
                  </a:lnTo>
                  <a:lnTo>
                    <a:pt x="1106138" y="152703"/>
                  </a:lnTo>
                  <a:lnTo>
                    <a:pt x="1070150" y="125234"/>
                  </a:lnTo>
                  <a:lnTo>
                    <a:pt x="1032326" y="100171"/>
                  </a:lnTo>
                  <a:lnTo>
                    <a:pt x="992781" y="77628"/>
                  </a:lnTo>
                  <a:lnTo>
                    <a:pt x="951630" y="57719"/>
                  </a:lnTo>
                  <a:lnTo>
                    <a:pt x="908988" y="40559"/>
                  </a:lnTo>
                  <a:lnTo>
                    <a:pt x="864969" y="26263"/>
                  </a:lnTo>
                  <a:lnTo>
                    <a:pt x="819688" y="14944"/>
                  </a:lnTo>
                  <a:lnTo>
                    <a:pt x="773259" y="6718"/>
                  </a:lnTo>
                  <a:lnTo>
                    <a:pt x="725798" y="1698"/>
                  </a:lnTo>
                  <a:lnTo>
                    <a:pt x="677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58006" y="2748533"/>
              <a:ext cx="1355090" cy="1353820"/>
            </a:xfrm>
            <a:custGeom>
              <a:avLst/>
              <a:gdLst/>
              <a:ahLst/>
              <a:cxnLst/>
              <a:rect l="l" t="t" r="r" b="b"/>
              <a:pathLst>
                <a:path w="1355089" h="1353820">
                  <a:moveTo>
                    <a:pt x="0" y="676655"/>
                  </a:moveTo>
                  <a:lnTo>
                    <a:pt x="1700" y="628325"/>
                  </a:lnTo>
                  <a:lnTo>
                    <a:pt x="6726" y="580913"/>
                  </a:lnTo>
                  <a:lnTo>
                    <a:pt x="14963" y="534533"/>
                  </a:lnTo>
                  <a:lnTo>
                    <a:pt x="26295" y="489300"/>
                  </a:lnTo>
                  <a:lnTo>
                    <a:pt x="40609" y="445329"/>
                  </a:lnTo>
                  <a:lnTo>
                    <a:pt x="57790" y="402734"/>
                  </a:lnTo>
                  <a:lnTo>
                    <a:pt x="77723" y="361629"/>
                  </a:lnTo>
                  <a:lnTo>
                    <a:pt x="100293" y="322129"/>
                  </a:lnTo>
                  <a:lnTo>
                    <a:pt x="125386" y="284348"/>
                  </a:lnTo>
                  <a:lnTo>
                    <a:pt x="152888" y="248400"/>
                  </a:lnTo>
                  <a:lnTo>
                    <a:pt x="182683" y="214401"/>
                  </a:lnTo>
                  <a:lnTo>
                    <a:pt x="214658" y="182464"/>
                  </a:lnTo>
                  <a:lnTo>
                    <a:pt x="248697" y="152703"/>
                  </a:lnTo>
                  <a:lnTo>
                    <a:pt x="284685" y="125234"/>
                  </a:lnTo>
                  <a:lnTo>
                    <a:pt x="322509" y="100171"/>
                  </a:lnTo>
                  <a:lnTo>
                    <a:pt x="362054" y="77628"/>
                  </a:lnTo>
                  <a:lnTo>
                    <a:pt x="403205" y="57719"/>
                  </a:lnTo>
                  <a:lnTo>
                    <a:pt x="445847" y="40559"/>
                  </a:lnTo>
                  <a:lnTo>
                    <a:pt x="489866" y="26263"/>
                  </a:lnTo>
                  <a:lnTo>
                    <a:pt x="535147" y="14944"/>
                  </a:lnTo>
                  <a:lnTo>
                    <a:pt x="581576" y="6718"/>
                  </a:lnTo>
                  <a:lnTo>
                    <a:pt x="629037" y="1698"/>
                  </a:lnTo>
                  <a:lnTo>
                    <a:pt x="677418" y="0"/>
                  </a:lnTo>
                  <a:lnTo>
                    <a:pt x="725798" y="1698"/>
                  </a:lnTo>
                  <a:lnTo>
                    <a:pt x="773259" y="6718"/>
                  </a:lnTo>
                  <a:lnTo>
                    <a:pt x="819688" y="14944"/>
                  </a:lnTo>
                  <a:lnTo>
                    <a:pt x="864969" y="26263"/>
                  </a:lnTo>
                  <a:lnTo>
                    <a:pt x="908988" y="40559"/>
                  </a:lnTo>
                  <a:lnTo>
                    <a:pt x="951630" y="57719"/>
                  </a:lnTo>
                  <a:lnTo>
                    <a:pt x="992781" y="77628"/>
                  </a:lnTo>
                  <a:lnTo>
                    <a:pt x="1032326" y="100171"/>
                  </a:lnTo>
                  <a:lnTo>
                    <a:pt x="1070150" y="125234"/>
                  </a:lnTo>
                  <a:lnTo>
                    <a:pt x="1106138" y="152703"/>
                  </a:lnTo>
                  <a:lnTo>
                    <a:pt x="1140177" y="182464"/>
                  </a:lnTo>
                  <a:lnTo>
                    <a:pt x="1172152" y="214401"/>
                  </a:lnTo>
                  <a:lnTo>
                    <a:pt x="1201947" y="248400"/>
                  </a:lnTo>
                  <a:lnTo>
                    <a:pt x="1229449" y="284348"/>
                  </a:lnTo>
                  <a:lnTo>
                    <a:pt x="1254542" y="322129"/>
                  </a:lnTo>
                  <a:lnTo>
                    <a:pt x="1277112" y="361629"/>
                  </a:lnTo>
                  <a:lnTo>
                    <a:pt x="1297045" y="402734"/>
                  </a:lnTo>
                  <a:lnTo>
                    <a:pt x="1314226" y="445329"/>
                  </a:lnTo>
                  <a:lnTo>
                    <a:pt x="1328540" y="489300"/>
                  </a:lnTo>
                  <a:lnTo>
                    <a:pt x="1339872" y="534533"/>
                  </a:lnTo>
                  <a:lnTo>
                    <a:pt x="1348109" y="580913"/>
                  </a:lnTo>
                  <a:lnTo>
                    <a:pt x="1353135" y="628325"/>
                  </a:lnTo>
                  <a:lnTo>
                    <a:pt x="1354836" y="676655"/>
                  </a:lnTo>
                  <a:lnTo>
                    <a:pt x="1353135" y="724986"/>
                  </a:lnTo>
                  <a:lnTo>
                    <a:pt x="1348109" y="772398"/>
                  </a:lnTo>
                  <a:lnTo>
                    <a:pt x="1339872" y="818778"/>
                  </a:lnTo>
                  <a:lnTo>
                    <a:pt x="1328540" y="864011"/>
                  </a:lnTo>
                  <a:lnTo>
                    <a:pt x="1314226" y="907982"/>
                  </a:lnTo>
                  <a:lnTo>
                    <a:pt x="1297045" y="950577"/>
                  </a:lnTo>
                  <a:lnTo>
                    <a:pt x="1277112" y="991682"/>
                  </a:lnTo>
                  <a:lnTo>
                    <a:pt x="1254542" y="1031182"/>
                  </a:lnTo>
                  <a:lnTo>
                    <a:pt x="1229449" y="1068963"/>
                  </a:lnTo>
                  <a:lnTo>
                    <a:pt x="1201947" y="1104911"/>
                  </a:lnTo>
                  <a:lnTo>
                    <a:pt x="1172152" y="1138910"/>
                  </a:lnTo>
                  <a:lnTo>
                    <a:pt x="1140177" y="1170847"/>
                  </a:lnTo>
                  <a:lnTo>
                    <a:pt x="1106138" y="1200608"/>
                  </a:lnTo>
                  <a:lnTo>
                    <a:pt x="1070150" y="1228077"/>
                  </a:lnTo>
                  <a:lnTo>
                    <a:pt x="1032326" y="1253140"/>
                  </a:lnTo>
                  <a:lnTo>
                    <a:pt x="992781" y="1275683"/>
                  </a:lnTo>
                  <a:lnTo>
                    <a:pt x="951630" y="1295592"/>
                  </a:lnTo>
                  <a:lnTo>
                    <a:pt x="908988" y="1312752"/>
                  </a:lnTo>
                  <a:lnTo>
                    <a:pt x="864969" y="1327048"/>
                  </a:lnTo>
                  <a:lnTo>
                    <a:pt x="819688" y="1338367"/>
                  </a:lnTo>
                  <a:lnTo>
                    <a:pt x="773259" y="1346593"/>
                  </a:lnTo>
                  <a:lnTo>
                    <a:pt x="725798" y="1351613"/>
                  </a:lnTo>
                  <a:lnTo>
                    <a:pt x="677418" y="1353311"/>
                  </a:lnTo>
                  <a:lnTo>
                    <a:pt x="629037" y="1351613"/>
                  </a:lnTo>
                  <a:lnTo>
                    <a:pt x="581576" y="1346593"/>
                  </a:lnTo>
                  <a:lnTo>
                    <a:pt x="535147" y="1338367"/>
                  </a:lnTo>
                  <a:lnTo>
                    <a:pt x="489866" y="1327048"/>
                  </a:lnTo>
                  <a:lnTo>
                    <a:pt x="445847" y="1312752"/>
                  </a:lnTo>
                  <a:lnTo>
                    <a:pt x="403205" y="1295592"/>
                  </a:lnTo>
                  <a:lnTo>
                    <a:pt x="362054" y="1275683"/>
                  </a:lnTo>
                  <a:lnTo>
                    <a:pt x="322509" y="1253140"/>
                  </a:lnTo>
                  <a:lnTo>
                    <a:pt x="284685" y="1228077"/>
                  </a:lnTo>
                  <a:lnTo>
                    <a:pt x="248697" y="1200608"/>
                  </a:lnTo>
                  <a:lnTo>
                    <a:pt x="214658" y="1170847"/>
                  </a:lnTo>
                  <a:lnTo>
                    <a:pt x="182683" y="1138910"/>
                  </a:lnTo>
                  <a:lnTo>
                    <a:pt x="152888" y="1104911"/>
                  </a:lnTo>
                  <a:lnTo>
                    <a:pt x="125386" y="1068963"/>
                  </a:lnTo>
                  <a:lnTo>
                    <a:pt x="100293" y="1031182"/>
                  </a:lnTo>
                  <a:lnTo>
                    <a:pt x="77723" y="991682"/>
                  </a:lnTo>
                  <a:lnTo>
                    <a:pt x="57790" y="950577"/>
                  </a:lnTo>
                  <a:lnTo>
                    <a:pt x="40609" y="907982"/>
                  </a:lnTo>
                  <a:lnTo>
                    <a:pt x="26295" y="864011"/>
                  </a:lnTo>
                  <a:lnTo>
                    <a:pt x="14963" y="818778"/>
                  </a:lnTo>
                  <a:lnTo>
                    <a:pt x="6726" y="772398"/>
                  </a:lnTo>
                  <a:lnTo>
                    <a:pt x="1700" y="724986"/>
                  </a:lnTo>
                  <a:lnTo>
                    <a:pt x="0" y="676655"/>
                  </a:lnTo>
                  <a:close/>
                </a:path>
              </a:pathLst>
            </a:custGeom>
            <a:ln w="10668">
              <a:solidFill>
                <a:srgbClr val="40B9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41470" y="4508753"/>
              <a:ext cx="7301865" cy="1083945"/>
            </a:xfrm>
            <a:custGeom>
              <a:avLst/>
              <a:gdLst/>
              <a:ahLst/>
              <a:cxnLst/>
              <a:rect l="l" t="t" r="r" b="b"/>
              <a:pathLst>
                <a:path w="7301865" h="1083945">
                  <a:moveTo>
                    <a:pt x="7301483" y="0"/>
                  </a:moveTo>
                  <a:lnTo>
                    <a:pt x="0" y="0"/>
                  </a:lnTo>
                  <a:lnTo>
                    <a:pt x="0" y="1083564"/>
                  </a:lnTo>
                  <a:lnTo>
                    <a:pt x="7301483" y="1083564"/>
                  </a:lnTo>
                  <a:lnTo>
                    <a:pt x="7301483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41470" y="4508753"/>
              <a:ext cx="7301865" cy="1083945"/>
            </a:xfrm>
            <a:custGeom>
              <a:avLst/>
              <a:gdLst/>
              <a:ahLst/>
              <a:cxnLst/>
              <a:rect l="l" t="t" r="r" b="b"/>
              <a:pathLst>
                <a:path w="7301865" h="1083945">
                  <a:moveTo>
                    <a:pt x="0" y="1083564"/>
                  </a:moveTo>
                  <a:lnTo>
                    <a:pt x="7301483" y="1083564"/>
                  </a:lnTo>
                  <a:lnTo>
                    <a:pt x="7301483" y="0"/>
                  </a:lnTo>
                  <a:lnTo>
                    <a:pt x="0" y="0"/>
                  </a:lnTo>
                  <a:lnTo>
                    <a:pt x="0" y="1083564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89067" y="4526026"/>
            <a:ext cx="588708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>
                <a:solidFill>
                  <a:srgbClr val="FFFFFF"/>
                </a:solidFill>
                <a:latin typeface="Corbel"/>
                <a:cs typeface="Corbel"/>
              </a:rPr>
              <a:t>Three</a:t>
            </a:r>
            <a:r>
              <a:rPr sz="5600" spc="-2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5600" dirty="0">
                <a:solidFill>
                  <a:srgbClr val="FFFFFF"/>
                </a:solidFill>
                <a:latin typeface="Corbel"/>
                <a:cs typeface="Corbel"/>
              </a:rPr>
              <a:t>Address</a:t>
            </a:r>
            <a:r>
              <a:rPr sz="5600" spc="-2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5600" spc="-20" dirty="0">
                <a:solidFill>
                  <a:srgbClr val="FFFFFF"/>
                </a:solidFill>
                <a:latin typeface="Corbel"/>
                <a:cs typeface="Corbel"/>
              </a:rPr>
              <a:t>Code</a:t>
            </a:r>
            <a:endParaRPr sz="5600">
              <a:latin typeface="Corbel"/>
              <a:cs typeface="Corbe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59479" y="4367784"/>
            <a:ext cx="1365885" cy="1365885"/>
            <a:chOff x="3459479" y="4367784"/>
            <a:chExt cx="1365885" cy="1365885"/>
          </a:xfrm>
        </p:grpSpPr>
        <p:sp>
          <p:nvSpPr>
            <p:cNvPr id="21" name="object 21"/>
            <p:cNvSpPr/>
            <p:nvPr/>
          </p:nvSpPr>
          <p:spPr>
            <a:xfrm>
              <a:off x="3464813" y="4373118"/>
              <a:ext cx="1355090" cy="1355090"/>
            </a:xfrm>
            <a:custGeom>
              <a:avLst/>
              <a:gdLst/>
              <a:ahLst/>
              <a:cxnLst/>
              <a:rect l="l" t="t" r="r" b="b"/>
              <a:pathLst>
                <a:path w="1355089" h="1355089">
                  <a:moveTo>
                    <a:pt x="677418" y="0"/>
                  </a:moveTo>
                  <a:lnTo>
                    <a:pt x="629037" y="1700"/>
                  </a:lnTo>
                  <a:lnTo>
                    <a:pt x="581576" y="6726"/>
                  </a:lnTo>
                  <a:lnTo>
                    <a:pt x="535147" y="14963"/>
                  </a:lnTo>
                  <a:lnTo>
                    <a:pt x="489866" y="26295"/>
                  </a:lnTo>
                  <a:lnTo>
                    <a:pt x="445847" y="40609"/>
                  </a:lnTo>
                  <a:lnTo>
                    <a:pt x="403205" y="57790"/>
                  </a:lnTo>
                  <a:lnTo>
                    <a:pt x="362054" y="77723"/>
                  </a:lnTo>
                  <a:lnTo>
                    <a:pt x="322509" y="100293"/>
                  </a:lnTo>
                  <a:lnTo>
                    <a:pt x="284685" y="125386"/>
                  </a:lnTo>
                  <a:lnTo>
                    <a:pt x="248697" y="152888"/>
                  </a:lnTo>
                  <a:lnTo>
                    <a:pt x="214658" y="182683"/>
                  </a:lnTo>
                  <a:lnTo>
                    <a:pt x="182683" y="214658"/>
                  </a:lnTo>
                  <a:lnTo>
                    <a:pt x="152888" y="248697"/>
                  </a:lnTo>
                  <a:lnTo>
                    <a:pt x="125386" y="284685"/>
                  </a:lnTo>
                  <a:lnTo>
                    <a:pt x="100293" y="322509"/>
                  </a:lnTo>
                  <a:lnTo>
                    <a:pt x="77723" y="362054"/>
                  </a:lnTo>
                  <a:lnTo>
                    <a:pt x="57790" y="403205"/>
                  </a:lnTo>
                  <a:lnTo>
                    <a:pt x="40609" y="445847"/>
                  </a:lnTo>
                  <a:lnTo>
                    <a:pt x="26295" y="489866"/>
                  </a:lnTo>
                  <a:lnTo>
                    <a:pt x="14963" y="535147"/>
                  </a:lnTo>
                  <a:lnTo>
                    <a:pt x="6726" y="581576"/>
                  </a:lnTo>
                  <a:lnTo>
                    <a:pt x="1700" y="629037"/>
                  </a:lnTo>
                  <a:lnTo>
                    <a:pt x="0" y="677417"/>
                  </a:lnTo>
                  <a:lnTo>
                    <a:pt x="1700" y="725798"/>
                  </a:lnTo>
                  <a:lnTo>
                    <a:pt x="6726" y="773259"/>
                  </a:lnTo>
                  <a:lnTo>
                    <a:pt x="14963" y="819688"/>
                  </a:lnTo>
                  <a:lnTo>
                    <a:pt x="26295" y="864969"/>
                  </a:lnTo>
                  <a:lnTo>
                    <a:pt x="40609" y="908988"/>
                  </a:lnTo>
                  <a:lnTo>
                    <a:pt x="57790" y="951630"/>
                  </a:lnTo>
                  <a:lnTo>
                    <a:pt x="77723" y="992781"/>
                  </a:lnTo>
                  <a:lnTo>
                    <a:pt x="100293" y="1032326"/>
                  </a:lnTo>
                  <a:lnTo>
                    <a:pt x="125386" y="1070150"/>
                  </a:lnTo>
                  <a:lnTo>
                    <a:pt x="152888" y="1106138"/>
                  </a:lnTo>
                  <a:lnTo>
                    <a:pt x="182683" y="1140177"/>
                  </a:lnTo>
                  <a:lnTo>
                    <a:pt x="214658" y="1172152"/>
                  </a:lnTo>
                  <a:lnTo>
                    <a:pt x="248697" y="1201947"/>
                  </a:lnTo>
                  <a:lnTo>
                    <a:pt x="284685" y="1229449"/>
                  </a:lnTo>
                  <a:lnTo>
                    <a:pt x="322509" y="1254542"/>
                  </a:lnTo>
                  <a:lnTo>
                    <a:pt x="362054" y="1277112"/>
                  </a:lnTo>
                  <a:lnTo>
                    <a:pt x="403205" y="1297045"/>
                  </a:lnTo>
                  <a:lnTo>
                    <a:pt x="445847" y="1314226"/>
                  </a:lnTo>
                  <a:lnTo>
                    <a:pt x="489866" y="1328540"/>
                  </a:lnTo>
                  <a:lnTo>
                    <a:pt x="535147" y="1339872"/>
                  </a:lnTo>
                  <a:lnTo>
                    <a:pt x="581576" y="1348109"/>
                  </a:lnTo>
                  <a:lnTo>
                    <a:pt x="629037" y="1353135"/>
                  </a:lnTo>
                  <a:lnTo>
                    <a:pt x="677418" y="1354835"/>
                  </a:lnTo>
                  <a:lnTo>
                    <a:pt x="725798" y="1353135"/>
                  </a:lnTo>
                  <a:lnTo>
                    <a:pt x="773259" y="1348109"/>
                  </a:lnTo>
                  <a:lnTo>
                    <a:pt x="819688" y="1339872"/>
                  </a:lnTo>
                  <a:lnTo>
                    <a:pt x="864969" y="1328540"/>
                  </a:lnTo>
                  <a:lnTo>
                    <a:pt x="908988" y="1314226"/>
                  </a:lnTo>
                  <a:lnTo>
                    <a:pt x="951630" y="1297045"/>
                  </a:lnTo>
                  <a:lnTo>
                    <a:pt x="992781" y="1277112"/>
                  </a:lnTo>
                  <a:lnTo>
                    <a:pt x="1032326" y="1254542"/>
                  </a:lnTo>
                  <a:lnTo>
                    <a:pt x="1070150" y="1229449"/>
                  </a:lnTo>
                  <a:lnTo>
                    <a:pt x="1106138" y="1201947"/>
                  </a:lnTo>
                  <a:lnTo>
                    <a:pt x="1140177" y="1172152"/>
                  </a:lnTo>
                  <a:lnTo>
                    <a:pt x="1172152" y="1140177"/>
                  </a:lnTo>
                  <a:lnTo>
                    <a:pt x="1201947" y="1106138"/>
                  </a:lnTo>
                  <a:lnTo>
                    <a:pt x="1229449" y="1070150"/>
                  </a:lnTo>
                  <a:lnTo>
                    <a:pt x="1254542" y="1032326"/>
                  </a:lnTo>
                  <a:lnTo>
                    <a:pt x="1277112" y="992781"/>
                  </a:lnTo>
                  <a:lnTo>
                    <a:pt x="1297045" y="951630"/>
                  </a:lnTo>
                  <a:lnTo>
                    <a:pt x="1314226" y="908988"/>
                  </a:lnTo>
                  <a:lnTo>
                    <a:pt x="1328540" y="864969"/>
                  </a:lnTo>
                  <a:lnTo>
                    <a:pt x="1339872" y="819688"/>
                  </a:lnTo>
                  <a:lnTo>
                    <a:pt x="1348109" y="773259"/>
                  </a:lnTo>
                  <a:lnTo>
                    <a:pt x="1353135" y="725798"/>
                  </a:lnTo>
                  <a:lnTo>
                    <a:pt x="1354836" y="677417"/>
                  </a:lnTo>
                  <a:lnTo>
                    <a:pt x="1353135" y="629037"/>
                  </a:lnTo>
                  <a:lnTo>
                    <a:pt x="1348109" y="581576"/>
                  </a:lnTo>
                  <a:lnTo>
                    <a:pt x="1339872" y="535147"/>
                  </a:lnTo>
                  <a:lnTo>
                    <a:pt x="1328540" y="489866"/>
                  </a:lnTo>
                  <a:lnTo>
                    <a:pt x="1314226" y="445847"/>
                  </a:lnTo>
                  <a:lnTo>
                    <a:pt x="1297045" y="403205"/>
                  </a:lnTo>
                  <a:lnTo>
                    <a:pt x="1277112" y="362054"/>
                  </a:lnTo>
                  <a:lnTo>
                    <a:pt x="1254542" y="322509"/>
                  </a:lnTo>
                  <a:lnTo>
                    <a:pt x="1229449" y="284685"/>
                  </a:lnTo>
                  <a:lnTo>
                    <a:pt x="1201947" y="248697"/>
                  </a:lnTo>
                  <a:lnTo>
                    <a:pt x="1172152" y="214658"/>
                  </a:lnTo>
                  <a:lnTo>
                    <a:pt x="1140177" y="182683"/>
                  </a:lnTo>
                  <a:lnTo>
                    <a:pt x="1106138" y="152888"/>
                  </a:lnTo>
                  <a:lnTo>
                    <a:pt x="1070150" y="125386"/>
                  </a:lnTo>
                  <a:lnTo>
                    <a:pt x="1032326" y="100293"/>
                  </a:lnTo>
                  <a:lnTo>
                    <a:pt x="992781" y="77723"/>
                  </a:lnTo>
                  <a:lnTo>
                    <a:pt x="951630" y="57790"/>
                  </a:lnTo>
                  <a:lnTo>
                    <a:pt x="908988" y="40609"/>
                  </a:lnTo>
                  <a:lnTo>
                    <a:pt x="864969" y="26295"/>
                  </a:lnTo>
                  <a:lnTo>
                    <a:pt x="819688" y="14963"/>
                  </a:lnTo>
                  <a:lnTo>
                    <a:pt x="773259" y="6726"/>
                  </a:lnTo>
                  <a:lnTo>
                    <a:pt x="725798" y="1700"/>
                  </a:lnTo>
                  <a:lnTo>
                    <a:pt x="677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64813" y="4373118"/>
              <a:ext cx="1355090" cy="1355090"/>
            </a:xfrm>
            <a:custGeom>
              <a:avLst/>
              <a:gdLst/>
              <a:ahLst/>
              <a:cxnLst/>
              <a:rect l="l" t="t" r="r" b="b"/>
              <a:pathLst>
                <a:path w="1355089" h="1355089">
                  <a:moveTo>
                    <a:pt x="0" y="677417"/>
                  </a:moveTo>
                  <a:lnTo>
                    <a:pt x="1700" y="629037"/>
                  </a:lnTo>
                  <a:lnTo>
                    <a:pt x="6726" y="581576"/>
                  </a:lnTo>
                  <a:lnTo>
                    <a:pt x="14963" y="535147"/>
                  </a:lnTo>
                  <a:lnTo>
                    <a:pt x="26295" y="489866"/>
                  </a:lnTo>
                  <a:lnTo>
                    <a:pt x="40609" y="445847"/>
                  </a:lnTo>
                  <a:lnTo>
                    <a:pt x="57790" y="403205"/>
                  </a:lnTo>
                  <a:lnTo>
                    <a:pt x="77723" y="362054"/>
                  </a:lnTo>
                  <a:lnTo>
                    <a:pt x="100293" y="322509"/>
                  </a:lnTo>
                  <a:lnTo>
                    <a:pt x="125386" y="284685"/>
                  </a:lnTo>
                  <a:lnTo>
                    <a:pt x="152888" y="248697"/>
                  </a:lnTo>
                  <a:lnTo>
                    <a:pt x="182683" y="214658"/>
                  </a:lnTo>
                  <a:lnTo>
                    <a:pt x="214658" y="182683"/>
                  </a:lnTo>
                  <a:lnTo>
                    <a:pt x="248697" y="152888"/>
                  </a:lnTo>
                  <a:lnTo>
                    <a:pt x="284685" y="125386"/>
                  </a:lnTo>
                  <a:lnTo>
                    <a:pt x="322509" y="100293"/>
                  </a:lnTo>
                  <a:lnTo>
                    <a:pt x="362054" y="77723"/>
                  </a:lnTo>
                  <a:lnTo>
                    <a:pt x="403205" y="57790"/>
                  </a:lnTo>
                  <a:lnTo>
                    <a:pt x="445847" y="40609"/>
                  </a:lnTo>
                  <a:lnTo>
                    <a:pt x="489866" y="26295"/>
                  </a:lnTo>
                  <a:lnTo>
                    <a:pt x="535147" y="14963"/>
                  </a:lnTo>
                  <a:lnTo>
                    <a:pt x="581576" y="6726"/>
                  </a:lnTo>
                  <a:lnTo>
                    <a:pt x="629037" y="1700"/>
                  </a:lnTo>
                  <a:lnTo>
                    <a:pt x="677418" y="0"/>
                  </a:lnTo>
                  <a:lnTo>
                    <a:pt x="725798" y="1700"/>
                  </a:lnTo>
                  <a:lnTo>
                    <a:pt x="773259" y="6726"/>
                  </a:lnTo>
                  <a:lnTo>
                    <a:pt x="819688" y="14963"/>
                  </a:lnTo>
                  <a:lnTo>
                    <a:pt x="864969" y="26295"/>
                  </a:lnTo>
                  <a:lnTo>
                    <a:pt x="908988" y="40609"/>
                  </a:lnTo>
                  <a:lnTo>
                    <a:pt x="951630" y="57790"/>
                  </a:lnTo>
                  <a:lnTo>
                    <a:pt x="992781" y="77723"/>
                  </a:lnTo>
                  <a:lnTo>
                    <a:pt x="1032326" y="100293"/>
                  </a:lnTo>
                  <a:lnTo>
                    <a:pt x="1070150" y="125386"/>
                  </a:lnTo>
                  <a:lnTo>
                    <a:pt x="1106138" y="152888"/>
                  </a:lnTo>
                  <a:lnTo>
                    <a:pt x="1140177" y="182683"/>
                  </a:lnTo>
                  <a:lnTo>
                    <a:pt x="1172152" y="214658"/>
                  </a:lnTo>
                  <a:lnTo>
                    <a:pt x="1201947" y="248697"/>
                  </a:lnTo>
                  <a:lnTo>
                    <a:pt x="1229449" y="284685"/>
                  </a:lnTo>
                  <a:lnTo>
                    <a:pt x="1254542" y="322509"/>
                  </a:lnTo>
                  <a:lnTo>
                    <a:pt x="1277112" y="362054"/>
                  </a:lnTo>
                  <a:lnTo>
                    <a:pt x="1297045" y="403205"/>
                  </a:lnTo>
                  <a:lnTo>
                    <a:pt x="1314226" y="445847"/>
                  </a:lnTo>
                  <a:lnTo>
                    <a:pt x="1328540" y="489866"/>
                  </a:lnTo>
                  <a:lnTo>
                    <a:pt x="1339872" y="535147"/>
                  </a:lnTo>
                  <a:lnTo>
                    <a:pt x="1348109" y="581576"/>
                  </a:lnTo>
                  <a:lnTo>
                    <a:pt x="1353135" y="629037"/>
                  </a:lnTo>
                  <a:lnTo>
                    <a:pt x="1354836" y="677417"/>
                  </a:lnTo>
                  <a:lnTo>
                    <a:pt x="1353135" y="725798"/>
                  </a:lnTo>
                  <a:lnTo>
                    <a:pt x="1348109" y="773259"/>
                  </a:lnTo>
                  <a:lnTo>
                    <a:pt x="1339872" y="819688"/>
                  </a:lnTo>
                  <a:lnTo>
                    <a:pt x="1328540" y="864969"/>
                  </a:lnTo>
                  <a:lnTo>
                    <a:pt x="1314226" y="908988"/>
                  </a:lnTo>
                  <a:lnTo>
                    <a:pt x="1297045" y="951630"/>
                  </a:lnTo>
                  <a:lnTo>
                    <a:pt x="1277112" y="992781"/>
                  </a:lnTo>
                  <a:lnTo>
                    <a:pt x="1254542" y="1032326"/>
                  </a:lnTo>
                  <a:lnTo>
                    <a:pt x="1229449" y="1070150"/>
                  </a:lnTo>
                  <a:lnTo>
                    <a:pt x="1201947" y="1106138"/>
                  </a:lnTo>
                  <a:lnTo>
                    <a:pt x="1172152" y="1140177"/>
                  </a:lnTo>
                  <a:lnTo>
                    <a:pt x="1140177" y="1172152"/>
                  </a:lnTo>
                  <a:lnTo>
                    <a:pt x="1106138" y="1201947"/>
                  </a:lnTo>
                  <a:lnTo>
                    <a:pt x="1070150" y="1229449"/>
                  </a:lnTo>
                  <a:lnTo>
                    <a:pt x="1032326" y="1254542"/>
                  </a:lnTo>
                  <a:lnTo>
                    <a:pt x="992781" y="1277112"/>
                  </a:lnTo>
                  <a:lnTo>
                    <a:pt x="951630" y="1297045"/>
                  </a:lnTo>
                  <a:lnTo>
                    <a:pt x="908988" y="1314226"/>
                  </a:lnTo>
                  <a:lnTo>
                    <a:pt x="864969" y="1328540"/>
                  </a:lnTo>
                  <a:lnTo>
                    <a:pt x="819688" y="1339872"/>
                  </a:lnTo>
                  <a:lnTo>
                    <a:pt x="773259" y="1348109"/>
                  </a:lnTo>
                  <a:lnTo>
                    <a:pt x="725798" y="1353135"/>
                  </a:lnTo>
                  <a:lnTo>
                    <a:pt x="677418" y="1354835"/>
                  </a:lnTo>
                  <a:lnTo>
                    <a:pt x="629037" y="1353135"/>
                  </a:lnTo>
                  <a:lnTo>
                    <a:pt x="581576" y="1348109"/>
                  </a:lnTo>
                  <a:lnTo>
                    <a:pt x="535147" y="1339872"/>
                  </a:lnTo>
                  <a:lnTo>
                    <a:pt x="489866" y="1328540"/>
                  </a:lnTo>
                  <a:lnTo>
                    <a:pt x="445847" y="1314226"/>
                  </a:lnTo>
                  <a:lnTo>
                    <a:pt x="403205" y="1297045"/>
                  </a:lnTo>
                  <a:lnTo>
                    <a:pt x="362054" y="1277112"/>
                  </a:lnTo>
                  <a:lnTo>
                    <a:pt x="322509" y="1254542"/>
                  </a:lnTo>
                  <a:lnTo>
                    <a:pt x="284685" y="1229449"/>
                  </a:lnTo>
                  <a:lnTo>
                    <a:pt x="248697" y="1201947"/>
                  </a:lnTo>
                  <a:lnTo>
                    <a:pt x="214658" y="1172152"/>
                  </a:lnTo>
                  <a:lnTo>
                    <a:pt x="182683" y="1140177"/>
                  </a:lnTo>
                  <a:lnTo>
                    <a:pt x="152888" y="1106138"/>
                  </a:lnTo>
                  <a:lnTo>
                    <a:pt x="125386" y="1070150"/>
                  </a:lnTo>
                  <a:lnTo>
                    <a:pt x="100293" y="1032326"/>
                  </a:lnTo>
                  <a:lnTo>
                    <a:pt x="77723" y="992781"/>
                  </a:lnTo>
                  <a:lnTo>
                    <a:pt x="57790" y="951630"/>
                  </a:lnTo>
                  <a:lnTo>
                    <a:pt x="40609" y="908988"/>
                  </a:lnTo>
                  <a:lnTo>
                    <a:pt x="26295" y="864969"/>
                  </a:lnTo>
                  <a:lnTo>
                    <a:pt x="14963" y="819688"/>
                  </a:lnTo>
                  <a:lnTo>
                    <a:pt x="6726" y="773259"/>
                  </a:lnTo>
                  <a:lnTo>
                    <a:pt x="1700" y="725798"/>
                  </a:lnTo>
                  <a:lnTo>
                    <a:pt x="0" y="677417"/>
                  </a:lnTo>
                  <a:close/>
                </a:path>
              </a:pathLst>
            </a:custGeom>
            <a:ln w="10668">
              <a:solidFill>
                <a:srgbClr val="40B9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704850">
              <a:lnSpc>
                <a:spcPts val="3779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Abstract </a:t>
            </a:r>
            <a:r>
              <a:rPr sz="3600" b="1" spc="-80" dirty="0">
                <a:solidFill>
                  <a:srgbClr val="FFFFFF"/>
                </a:solidFill>
                <a:latin typeface="Cambria"/>
                <a:cs typeface="Cambria"/>
              </a:rPr>
              <a:t>Syntax </a:t>
            </a: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Tree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8285" y="116586"/>
            <a:ext cx="7959090" cy="18002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2089785" algn="l"/>
                <a:tab pos="278638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Syntax</a:t>
            </a:r>
            <a:r>
              <a:rPr sz="2400" spc="-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Tree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DAG</a:t>
            </a:r>
            <a:r>
              <a:rPr sz="2400" dirty="0">
                <a:latin typeface="Cambria"/>
                <a:cs typeface="Cambria"/>
              </a:rPr>
              <a:t>	(Directed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Acyclic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Graph)</a:t>
            </a:r>
            <a:endParaRPr sz="2400">
              <a:latin typeface="Cambria"/>
              <a:cs typeface="Cambria"/>
            </a:endParaRPr>
          </a:p>
          <a:p>
            <a:pPr marL="194945" marR="6350" indent="-182880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syntax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tree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depicts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natural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hierarchical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structure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DAG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(Directed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Acyclic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Graph)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gives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same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information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165" y="1854149"/>
            <a:ext cx="7772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2480" algn="l"/>
                <a:tab pos="1390015" algn="l"/>
                <a:tab pos="1880870" algn="l"/>
                <a:tab pos="2909570" algn="l"/>
                <a:tab pos="4359275" algn="l"/>
                <a:tab pos="5231130" algn="l"/>
                <a:tab pos="6623050" algn="l"/>
              </a:tabLst>
            </a:pPr>
            <a:r>
              <a:rPr sz="2400" spc="-25" dirty="0">
                <a:latin typeface="Cambria"/>
                <a:cs typeface="Cambria"/>
              </a:rPr>
              <a:t>but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more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compact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way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because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common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165" y="2184019"/>
            <a:ext cx="391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subexpressions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identified.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58155" y="5530596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706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20183" y="5918708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0429" y="5180152"/>
            <a:ext cx="1148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2825" algn="l"/>
              </a:tabLst>
            </a:pPr>
            <a:r>
              <a:rPr sz="1800" spc="-10" dirty="0">
                <a:latin typeface="Corbel"/>
                <a:cs typeface="Corbel"/>
              </a:rPr>
              <a:t>uminus</a:t>
            </a:r>
            <a:r>
              <a:rPr sz="1800" dirty="0">
                <a:latin typeface="Corbel"/>
                <a:cs typeface="Corbel"/>
              </a:rPr>
              <a:t>	</a:t>
            </a:r>
            <a:r>
              <a:rPr sz="2700" spc="-75" baseline="3086" dirty="0">
                <a:latin typeface="Corbel"/>
                <a:cs typeface="Corbel"/>
              </a:rPr>
              <a:t>b</a:t>
            </a:r>
            <a:endParaRPr sz="2700" baseline="3086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6802" y="518045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03547" y="4660391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0"/>
                </a:moveTo>
                <a:lnTo>
                  <a:pt x="420369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26026" y="4441697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*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37176" y="4660391"/>
            <a:ext cx="250825" cy="501015"/>
          </a:xfrm>
          <a:custGeom>
            <a:avLst/>
            <a:gdLst/>
            <a:ahLst/>
            <a:cxnLst/>
            <a:rect l="l" t="t" r="r" b="b"/>
            <a:pathLst>
              <a:path w="250825" h="501014">
                <a:moveTo>
                  <a:pt x="0" y="0"/>
                </a:moveTo>
                <a:lnTo>
                  <a:pt x="250698" y="50076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93052" y="5521452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706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54190" y="5908344"/>
            <a:ext cx="1263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4182" y="5170119"/>
            <a:ext cx="720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uminus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94247" y="4660391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0"/>
                </a:moveTo>
                <a:lnTo>
                  <a:pt x="420369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88785" y="4431233"/>
            <a:ext cx="148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*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88252" y="4660391"/>
            <a:ext cx="334645" cy="491490"/>
          </a:xfrm>
          <a:custGeom>
            <a:avLst/>
            <a:gdLst/>
            <a:ahLst/>
            <a:cxnLst/>
            <a:rect l="l" t="t" r="r" b="b"/>
            <a:pathLst>
              <a:path w="334645" h="491489">
                <a:moveTo>
                  <a:pt x="0" y="0"/>
                </a:moveTo>
                <a:lnTo>
                  <a:pt x="334264" y="490981"/>
                </a:lnTo>
              </a:path>
            </a:pathLst>
          </a:custGeom>
          <a:ln w="9143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53609" y="3708654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+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01540" y="3988308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1"/>
                </a:moveTo>
                <a:lnTo>
                  <a:pt x="420370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01640" y="4037076"/>
            <a:ext cx="657860" cy="451484"/>
          </a:xfrm>
          <a:custGeom>
            <a:avLst/>
            <a:gdLst/>
            <a:ahLst/>
            <a:cxnLst/>
            <a:rect l="l" t="t" r="r" b="b"/>
            <a:pathLst>
              <a:path w="657860" h="451485">
                <a:moveTo>
                  <a:pt x="0" y="0"/>
                </a:moveTo>
                <a:lnTo>
                  <a:pt x="657479" y="451357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82667" y="3378708"/>
            <a:ext cx="657860" cy="451484"/>
          </a:xfrm>
          <a:custGeom>
            <a:avLst/>
            <a:gdLst/>
            <a:ahLst/>
            <a:cxnLst/>
            <a:rect l="l" t="t" r="r" b="b"/>
            <a:pathLst>
              <a:path w="657860" h="451485">
                <a:moveTo>
                  <a:pt x="0" y="0"/>
                </a:moveTo>
                <a:lnTo>
                  <a:pt x="657479" y="451357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58285" y="2490004"/>
            <a:ext cx="4044950" cy="972819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  <a:tabLst>
                <a:tab pos="1732914" algn="l"/>
                <a:tab pos="3065145" algn="l"/>
                <a:tab pos="336677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040"/>
              </a:spcBef>
            </a:pPr>
            <a:r>
              <a:rPr sz="1800" spc="-50" dirty="0">
                <a:latin typeface="Corbel"/>
                <a:cs typeface="Corbel"/>
              </a:rPr>
              <a:t>=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9246" y="3848227"/>
            <a:ext cx="13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97223" y="3360420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0"/>
                </a:moveTo>
                <a:lnTo>
                  <a:pt x="420370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034016" y="5506211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706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995661" y="5894019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86035" y="5155819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uminus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52661" y="515581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979407" y="4636008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1"/>
                </a:moveTo>
                <a:lnTo>
                  <a:pt x="420370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501631" y="4416932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*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813035" y="4636008"/>
            <a:ext cx="250825" cy="501015"/>
          </a:xfrm>
          <a:custGeom>
            <a:avLst/>
            <a:gdLst/>
            <a:ahLst/>
            <a:cxnLst/>
            <a:rect l="l" t="t" r="r" b="b"/>
            <a:pathLst>
              <a:path w="250825" h="501014">
                <a:moveTo>
                  <a:pt x="0" y="0"/>
                </a:moveTo>
                <a:lnTo>
                  <a:pt x="250698" y="500761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517760" y="3616832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+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813035" y="3899915"/>
            <a:ext cx="547370" cy="571500"/>
          </a:xfrm>
          <a:custGeom>
            <a:avLst/>
            <a:gdLst/>
            <a:ahLst/>
            <a:cxnLst/>
            <a:rect l="l" t="t" r="r" b="b"/>
            <a:pathLst>
              <a:path w="547370" h="571500">
                <a:moveTo>
                  <a:pt x="0" y="0"/>
                </a:moveTo>
                <a:lnTo>
                  <a:pt x="59608" y="1681"/>
                </a:lnTo>
                <a:lnTo>
                  <a:pt x="117359" y="6608"/>
                </a:lnTo>
                <a:lnTo>
                  <a:pt x="172919" y="14606"/>
                </a:lnTo>
                <a:lnTo>
                  <a:pt x="225952" y="25500"/>
                </a:lnTo>
                <a:lnTo>
                  <a:pt x="276126" y="39115"/>
                </a:lnTo>
                <a:lnTo>
                  <a:pt x="323106" y="55278"/>
                </a:lnTo>
                <a:lnTo>
                  <a:pt x="366558" y="73813"/>
                </a:lnTo>
                <a:lnTo>
                  <a:pt x="406149" y="94544"/>
                </a:lnTo>
                <a:lnTo>
                  <a:pt x="441545" y="117299"/>
                </a:lnTo>
                <a:lnTo>
                  <a:pt x="472411" y="141901"/>
                </a:lnTo>
                <a:lnTo>
                  <a:pt x="519220" y="195949"/>
                </a:lnTo>
                <a:lnTo>
                  <a:pt x="543905" y="255292"/>
                </a:lnTo>
                <a:lnTo>
                  <a:pt x="547116" y="286511"/>
                </a:lnTo>
                <a:lnTo>
                  <a:pt x="543460" y="319736"/>
                </a:lnTo>
                <a:lnTo>
                  <a:pt x="515384" y="382798"/>
                </a:lnTo>
                <a:lnTo>
                  <a:pt x="462206" y="439830"/>
                </a:lnTo>
                <a:lnTo>
                  <a:pt x="427174" y="465516"/>
                </a:lnTo>
                <a:lnTo>
                  <a:pt x="387031" y="489011"/>
                </a:lnTo>
                <a:lnTo>
                  <a:pt x="342166" y="510088"/>
                </a:lnTo>
                <a:lnTo>
                  <a:pt x="292965" y="528521"/>
                </a:lnTo>
                <a:lnTo>
                  <a:pt x="239818" y="544080"/>
                </a:lnTo>
                <a:lnTo>
                  <a:pt x="183113" y="556539"/>
                </a:lnTo>
                <a:lnTo>
                  <a:pt x="123237" y="565670"/>
                </a:lnTo>
                <a:lnTo>
                  <a:pt x="60579" y="571245"/>
                </a:lnTo>
              </a:path>
            </a:pathLst>
          </a:custGeom>
          <a:ln w="9143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52930" y="3878684"/>
            <a:ext cx="532130" cy="612775"/>
          </a:xfrm>
          <a:custGeom>
            <a:avLst/>
            <a:gdLst/>
            <a:ahLst/>
            <a:cxnLst/>
            <a:rect l="l" t="t" r="r" b="b"/>
            <a:pathLst>
              <a:path w="532129" h="612775">
                <a:moveTo>
                  <a:pt x="531988" y="586762"/>
                </a:moveTo>
                <a:lnTo>
                  <a:pt x="483420" y="600895"/>
                </a:lnTo>
                <a:lnTo>
                  <a:pt x="434123" y="609448"/>
                </a:lnTo>
                <a:lnTo>
                  <a:pt x="384694" y="612608"/>
                </a:lnTo>
                <a:lnTo>
                  <a:pt x="335726" y="610563"/>
                </a:lnTo>
                <a:lnTo>
                  <a:pt x="287815" y="603499"/>
                </a:lnTo>
                <a:lnTo>
                  <a:pt x="241555" y="591604"/>
                </a:lnTo>
                <a:lnTo>
                  <a:pt x="197541" y="575065"/>
                </a:lnTo>
                <a:lnTo>
                  <a:pt x="156369" y="554071"/>
                </a:lnTo>
                <a:lnTo>
                  <a:pt x="118633" y="528808"/>
                </a:lnTo>
                <a:lnTo>
                  <a:pt x="84927" y="499464"/>
                </a:lnTo>
                <a:lnTo>
                  <a:pt x="55848" y="466226"/>
                </a:lnTo>
                <a:lnTo>
                  <a:pt x="31989" y="429282"/>
                </a:lnTo>
                <a:lnTo>
                  <a:pt x="13226" y="386490"/>
                </a:lnTo>
                <a:lnTo>
                  <a:pt x="2663" y="343045"/>
                </a:lnTo>
                <a:lnTo>
                  <a:pt x="0" y="299571"/>
                </a:lnTo>
                <a:lnTo>
                  <a:pt x="4934" y="256692"/>
                </a:lnTo>
                <a:lnTo>
                  <a:pt x="17166" y="215033"/>
                </a:lnTo>
                <a:lnTo>
                  <a:pt x="36394" y="175218"/>
                </a:lnTo>
                <a:lnTo>
                  <a:pt x="62317" y="137873"/>
                </a:lnTo>
                <a:lnTo>
                  <a:pt x="94634" y="103621"/>
                </a:lnTo>
                <a:lnTo>
                  <a:pt x="133043" y="73088"/>
                </a:lnTo>
                <a:lnTo>
                  <a:pt x="177243" y="46898"/>
                </a:lnTo>
                <a:lnTo>
                  <a:pt x="226934" y="25676"/>
                </a:lnTo>
                <a:lnTo>
                  <a:pt x="273146" y="12137"/>
                </a:lnTo>
                <a:lnTo>
                  <a:pt x="320845" y="3560"/>
                </a:lnTo>
                <a:lnTo>
                  <a:pt x="369416" y="0"/>
                </a:lnTo>
                <a:lnTo>
                  <a:pt x="418243" y="1511"/>
                </a:lnTo>
                <a:lnTo>
                  <a:pt x="466710" y="815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363839" y="2960623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=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58481" y="3808221"/>
            <a:ext cx="13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9268" y="3285744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0"/>
                </a:moveTo>
                <a:lnTo>
                  <a:pt x="420370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70619" y="3241548"/>
            <a:ext cx="657860" cy="451484"/>
          </a:xfrm>
          <a:custGeom>
            <a:avLst/>
            <a:gdLst/>
            <a:ahLst/>
            <a:cxnLst/>
            <a:rect l="l" t="t" r="r" b="b"/>
            <a:pathLst>
              <a:path w="657859" h="451485">
                <a:moveTo>
                  <a:pt x="0" y="0"/>
                </a:moveTo>
                <a:lnTo>
                  <a:pt x="657478" y="451357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313815">
              <a:lnSpc>
                <a:spcPts val="3779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Postfix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Notation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836167"/>
            <a:ext cx="7753984" cy="24949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  <a:buFont typeface="Microsoft Sans Serif"/>
              <a:buChar char="•"/>
              <a:tabLst>
                <a:tab pos="195580" algn="l"/>
              </a:tabLst>
            </a:pPr>
            <a:r>
              <a:rPr sz="2400" dirty="0">
                <a:latin typeface="Cambria"/>
                <a:cs typeface="Cambria"/>
              </a:rPr>
              <a:t>Postfix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notation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linearized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syntax </a:t>
            </a:r>
            <a:r>
              <a:rPr sz="2400" dirty="0">
                <a:latin typeface="Cambria"/>
                <a:cs typeface="Cambria"/>
              </a:rPr>
              <a:t>tree;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list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nodes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tree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node </a:t>
            </a:r>
            <a:r>
              <a:rPr sz="2400" dirty="0">
                <a:latin typeface="Cambria"/>
                <a:cs typeface="Cambria"/>
              </a:rPr>
              <a:t>appears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immediately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after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children.</a:t>
            </a:r>
            <a:endParaRPr sz="2400">
              <a:latin typeface="Cambria"/>
              <a:cs typeface="Cambria"/>
            </a:endParaRPr>
          </a:p>
          <a:p>
            <a:pPr marL="194310" marR="4586605" indent="-182245" algn="just">
              <a:lnSpc>
                <a:spcPts val="3790"/>
              </a:lnSpc>
              <a:spcBef>
                <a:spcPts val="250"/>
              </a:spcBef>
              <a:buFont typeface="Microsoft Sans Serif"/>
              <a:buChar char="•"/>
              <a:tabLst>
                <a:tab pos="212090" algn="l"/>
              </a:tabLst>
            </a:pPr>
            <a:r>
              <a:rPr sz="2400" dirty="0">
                <a:latin typeface="Cambria"/>
                <a:cs typeface="Cambria"/>
              </a:rPr>
              <a:t>For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example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229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 	</a:t>
            </a:r>
            <a:r>
              <a:rPr sz="2400" dirty="0">
                <a:latin typeface="Cambria"/>
                <a:cs typeface="Cambria"/>
              </a:rPr>
              <a:t>Postfix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notation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bc*</a:t>
            </a:r>
            <a:endParaRPr sz="2400">
              <a:latin typeface="Cambria"/>
              <a:cs typeface="Cambria"/>
            </a:endParaRPr>
          </a:p>
          <a:p>
            <a:pPr marL="2546985" algn="just">
              <a:lnSpc>
                <a:spcPct val="100000"/>
              </a:lnSpc>
              <a:spcBef>
                <a:spcPts val="640"/>
              </a:spcBef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bc*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+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3714" y="3786652"/>
            <a:ext cx="7580630" cy="151574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1733550" algn="l"/>
                <a:tab pos="3065145" algn="l"/>
                <a:tab pos="336677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  <a:tabLst>
                <a:tab pos="2618740" algn="l"/>
                <a:tab pos="2967990" algn="l"/>
                <a:tab pos="3267710" algn="l"/>
                <a:tab pos="3536315" algn="l"/>
                <a:tab pos="4842510" algn="l"/>
                <a:tab pos="5142865" algn="l"/>
                <a:tab pos="6651625" algn="l"/>
                <a:tab pos="6953884" algn="l"/>
              </a:tabLst>
            </a:pPr>
            <a:r>
              <a:rPr sz="2400" dirty="0">
                <a:latin typeface="Cambria"/>
                <a:cs typeface="Cambria"/>
              </a:rPr>
              <a:t>Postfix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notation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b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uminus</a:t>
            </a:r>
            <a:r>
              <a:rPr sz="2400" spc="-50" dirty="0">
                <a:latin typeface="Cambria"/>
                <a:cs typeface="Cambria"/>
              </a:rPr>
              <a:t> *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b</a:t>
            </a:r>
            <a:r>
              <a:rPr sz="2400" dirty="0">
                <a:latin typeface="Cambria"/>
                <a:cs typeface="Cambria"/>
              </a:rPr>
              <a:t>	c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uminus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*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=</a:t>
            </a:r>
            <a:endParaRPr sz="2400" dirty="0">
              <a:latin typeface="Cambria"/>
              <a:cs typeface="Cambria"/>
            </a:endParaRPr>
          </a:p>
          <a:p>
            <a:pPr marL="335280">
              <a:lnSpc>
                <a:spcPct val="100000"/>
              </a:lnSpc>
              <a:spcBef>
                <a:spcPts val="2455"/>
              </a:spcBef>
            </a:pP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335280">
              <a:lnSpc>
                <a:spcPts val="3779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Three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Address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4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0346" y="461009"/>
            <a:ext cx="827913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address</a:t>
            </a:r>
            <a:r>
              <a:rPr spc="10" dirty="0"/>
              <a:t> </a:t>
            </a:r>
            <a:r>
              <a:rPr dirty="0"/>
              <a:t>code</a:t>
            </a:r>
            <a:r>
              <a:rPr spc="-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a sequence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statements</a:t>
            </a:r>
            <a:r>
              <a:rPr spc="1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general </a:t>
            </a:r>
            <a:r>
              <a:rPr spc="-20" dirty="0"/>
              <a:t>form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30346" y="1156208"/>
            <a:ext cx="8278495" cy="19767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87960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mbria"/>
                <a:cs typeface="Cambria"/>
              </a:rPr>
              <a:t>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op</a:t>
            </a:r>
            <a:r>
              <a:rPr sz="2400" i="1" spc="5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z</a:t>
            </a:r>
            <a:endParaRPr sz="2400">
              <a:latin typeface="Cambria"/>
              <a:cs typeface="Cambria"/>
            </a:endParaRPr>
          </a:p>
          <a:p>
            <a:pPr marL="12700" marR="5080" algn="just">
              <a:lnSpc>
                <a:spcPct val="90000"/>
              </a:lnSpc>
              <a:spcBef>
                <a:spcPts val="1200"/>
              </a:spcBef>
            </a:pPr>
            <a:r>
              <a:rPr sz="2400" dirty="0">
                <a:latin typeface="Cambria"/>
                <a:cs typeface="Cambria"/>
              </a:rPr>
              <a:t>Where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z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names,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constants,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generated </a:t>
            </a:r>
            <a:r>
              <a:rPr sz="2400" dirty="0">
                <a:latin typeface="Cambria"/>
                <a:cs typeface="Cambria"/>
              </a:rPr>
              <a:t>temporaries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;</a:t>
            </a:r>
            <a:r>
              <a:rPr sz="2400" spc="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op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stands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3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any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operator,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such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fixed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or </a:t>
            </a:r>
            <a:r>
              <a:rPr sz="2400" dirty="0">
                <a:latin typeface="Cambria"/>
                <a:cs typeface="Cambria"/>
              </a:rPr>
              <a:t>floating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point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arithmetic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operator,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Boolean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value.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346" y="3223005"/>
            <a:ext cx="6279515" cy="14935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Thus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expression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like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y </a:t>
            </a:r>
            <a:r>
              <a:rPr sz="2400" spc="-10" dirty="0">
                <a:latin typeface="Cambria"/>
                <a:cs typeface="Cambria"/>
              </a:rPr>
              <a:t>translated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sequence</a:t>
            </a:r>
            <a:endParaRPr sz="2400">
              <a:latin typeface="Cambria"/>
              <a:cs typeface="Cambria"/>
            </a:endParaRPr>
          </a:p>
          <a:p>
            <a:pPr marL="1841500">
              <a:lnSpc>
                <a:spcPts val="2860"/>
              </a:lnSpc>
            </a:pPr>
            <a:r>
              <a:rPr sz="2400" dirty="0">
                <a:latin typeface="Cambria"/>
                <a:cs typeface="Cambria"/>
              </a:rPr>
              <a:t>t1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z</a:t>
            </a:r>
            <a:endParaRPr sz="2400">
              <a:latin typeface="Cambria"/>
              <a:cs typeface="Cambria"/>
            </a:endParaRPr>
          </a:p>
          <a:p>
            <a:pPr marL="18415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Cambria"/>
                <a:cs typeface="Cambria"/>
              </a:rPr>
              <a:t>t2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2139" y="3223005"/>
            <a:ext cx="18059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315" algn="l"/>
              </a:tabLst>
            </a:pPr>
            <a:r>
              <a:rPr sz="2400" spc="-50" dirty="0">
                <a:latin typeface="Cambria"/>
                <a:cs typeface="Cambria"/>
              </a:rPr>
              <a:t>*</a:t>
            </a:r>
            <a:r>
              <a:rPr sz="2400" dirty="0">
                <a:latin typeface="Cambria"/>
                <a:cs typeface="Cambria"/>
              </a:rPr>
              <a:t>	z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might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3265" y="4730318"/>
            <a:ext cx="75888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Where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t1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t2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temporary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names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0346" y="5136260"/>
            <a:ext cx="827976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address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229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linearized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29" dirty="0">
                <a:latin typeface="Cambria"/>
                <a:cs typeface="Cambria"/>
              </a:rPr>
              <a:t>  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syntax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tree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explicit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correspond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interior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graph.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335280">
              <a:lnSpc>
                <a:spcPts val="3779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Three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Address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4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9109" y="644397"/>
            <a:ext cx="407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1758950" algn="l"/>
                <a:tab pos="3091180" algn="l"/>
                <a:tab pos="3392804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53509" y="1454861"/>
            <a:ext cx="18586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t1</a:t>
            </a:r>
            <a:r>
              <a:rPr spc="-35" dirty="0"/>
              <a:t> </a:t>
            </a:r>
            <a:r>
              <a:rPr dirty="0"/>
              <a:t>:=</a:t>
            </a:r>
            <a:r>
              <a:rPr spc="-35" dirty="0"/>
              <a:t> </a:t>
            </a:r>
            <a:r>
              <a:rPr dirty="0"/>
              <a:t>uminus</a:t>
            </a:r>
            <a:r>
              <a:rPr spc="-10" dirty="0"/>
              <a:t> </a:t>
            </a:r>
            <a:r>
              <a:rPr spc="-50" dirty="0"/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53509" y="1821306"/>
            <a:ext cx="1858010" cy="20529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Cambria"/>
                <a:cs typeface="Cambria"/>
              </a:rPr>
              <a:t>t2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t1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10800"/>
              </a:lnSpc>
            </a:pPr>
            <a:r>
              <a:rPr sz="2400" dirty="0">
                <a:latin typeface="Cambria"/>
                <a:cs typeface="Cambria"/>
              </a:rPr>
              <a:t>t3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uminus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 </a:t>
            </a:r>
            <a:r>
              <a:rPr sz="2400" dirty="0">
                <a:latin typeface="Cambria"/>
                <a:cs typeface="Cambria"/>
              </a:rPr>
              <a:t>t4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t3</a:t>
            </a:r>
            <a:endParaRPr sz="2400">
              <a:latin typeface="Cambria"/>
              <a:cs typeface="Cambria"/>
            </a:endParaRPr>
          </a:p>
          <a:p>
            <a:pPr marL="12700" marR="418465">
              <a:lnSpc>
                <a:spcPct val="110800"/>
              </a:lnSpc>
              <a:spcBef>
                <a:spcPts val="5"/>
              </a:spcBef>
            </a:pPr>
            <a:r>
              <a:rPr sz="2400" dirty="0">
                <a:latin typeface="Cambria"/>
                <a:cs typeface="Cambria"/>
              </a:rPr>
              <a:t>t5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t2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t4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t5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9109" y="4293870"/>
            <a:ext cx="815340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reason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“Three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Address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Code”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each </a:t>
            </a:r>
            <a:r>
              <a:rPr sz="2400" dirty="0">
                <a:latin typeface="Cambria"/>
                <a:cs typeface="Cambria"/>
              </a:rPr>
              <a:t>statement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usually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contains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5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addresses,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3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operands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342900">
              <a:lnSpc>
                <a:spcPts val="389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Directed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Acyclic</a:t>
            </a:r>
            <a:r>
              <a:rPr sz="3600" b="1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60" dirty="0">
                <a:solidFill>
                  <a:srgbClr val="FFFFFF"/>
                </a:solidFill>
                <a:latin typeface="Cambria"/>
                <a:cs typeface="Cambria"/>
              </a:rPr>
              <a:t>Graph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836167"/>
            <a:ext cx="579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200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of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DAG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contains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unique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value.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1317447"/>
            <a:ext cx="74244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does</a:t>
            </a:r>
            <a:r>
              <a:rPr spc="-2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contain</a:t>
            </a:r>
            <a:r>
              <a:rPr spc="-50" dirty="0"/>
              <a:t> </a:t>
            </a:r>
            <a:r>
              <a:rPr dirty="0"/>
              <a:t>any</a:t>
            </a:r>
            <a:r>
              <a:rPr spc="-30" dirty="0"/>
              <a:t> </a:t>
            </a:r>
            <a:r>
              <a:rPr dirty="0"/>
              <a:t>cycles</a:t>
            </a:r>
            <a:r>
              <a:rPr spc="-2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it,</a:t>
            </a:r>
            <a:r>
              <a:rPr spc="-50" dirty="0"/>
              <a:t> </a:t>
            </a:r>
            <a:r>
              <a:rPr dirty="0"/>
              <a:t>hence</a:t>
            </a:r>
            <a:r>
              <a:rPr spc="-30" dirty="0"/>
              <a:t> </a:t>
            </a:r>
            <a:r>
              <a:rPr dirty="0"/>
              <a:t>called</a:t>
            </a:r>
            <a:r>
              <a:rPr spc="-25" dirty="0"/>
              <a:t> </a:t>
            </a:r>
            <a:r>
              <a:rPr b="1" spc="-10" dirty="0">
                <a:latin typeface="Cambria"/>
                <a:cs typeface="Cambria"/>
              </a:rPr>
              <a:t>Acyclic</a:t>
            </a:r>
            <a:r>
              <a:rPr spc="-10" dirty="0"/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2281173"/>
            <a:ext cx="273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3360" algn="l"/>
              </a:tabLst>
            </a:pP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52661" y="5155819"/>
            <a:ext cx="13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79407" y="4636008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500761"/>
                </a:moveTo>
                <a:lnTo>
                  <a:pt x="420370" y="0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01631" y="4416932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+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22840" y="5155819"/>
            <a:ext cx="24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10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29216" y="4636008"/>
            <a:ext cx="420370" cy="501015"/>
          </a:xfrm>
          <a:custGeom>
            <a:avLst/>
            <a:gdLst/>
            <a:ahLst/>
            <a:cxnLst/>
            <a:rect l="l" t="t" r="r" b="b"/>
            <a:pathLst>
              <a:path w="420370" h="501014">
                <a:moveTo>
                  <a:pt x="0" y="0"/>
                </a:moveTo>
                <a:lnTo>
                  <a:pt x="420369" y="500761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31174" y="3564237"/>
            <a:ext cx="990600" cy="1569720"/>
          </a:xfrm>
          <a:custGeom>
            <a:avLst/>
            <a:gdLst/>
            <a:ahLst/>
            <a:cxnLst/>
            <a:rect l="l" t="t" r="r" b="b"/>
            <a:pathLst>
              <a:path w="990600" h="1569720">
                <a:moveTo>
                  <a:pt x="738658" y="1569356"/>
                </a:moveTo>
                <a:lnTo>
                  <a:pt x="694836" y="1525972"/>
                </a:lnTo>
                <a:lnTo>
                  <a:pt x="651152" y="1482631"/>
                </a:lnTo>
                <a:lnTo>
                  <a:pt x="607743" y="1439374"/>
                </a:lnTo>
                <a:lnTo>
                  <a:pt x="564745" y="1396244"/>
                </a:lnTo>
                <a:lnTo>
                  <a:pt x="522296" y="1353285"/>
                </a:lnTo>
                <a:lnTo>
                  <a:pt x="480533" y="1310539"/>
                </a:lnTo>
                <a:lnTo>
                  <a:pt x="439594" y="1268049"/>
                </a:lnTo>
                <a:lnTo>
                  <a:pt x="399616" y="1225858"/>
                </a:lnTo>
                <a:lnTo>
                  <a:pt x="360736" y="1184009"/>
                </a:lnTo>
                <a:lnTo>
                  <a:pt x="323091" y="1142545"/>
                </a:lnTo>
                <a:lnTo>
                  <a:pt x="286819" y="1101509"/>
                </a:lnTo>
                <a:lnTo>
                  <a:pt x="252057" y="1060943"/>
                </a:lnTo>
                <a:lnTo>
                  <a:pt x="218942" y="1020890"/>
                </a:lnTo>
                <a:lnTo>
                  <a:pt x="187611" y="981394"/>
                </a:lnTo>
                <a:lnTo>
                  <a:pt x="158202" y="942497"/>
                </a:lnTo>
                <a:lnTo>
                  <a:pt x="130852" y="904242"/>
                </a:lnTo>
                <a:lnTo>
                  <a:pt x="105698" y="866672"/>
                </a:lnTo>
                <a:lnTo>
                  <a:pt x="82878" y="829830"/>
                </a:lnTo>
                <a:lnTo>
                  <a:pt x="62528" y="793758"/>
                </a:lnTo>
                <a:lnTo>
                  <a:pt x="44786" y="758500"/>
                </a:lnTo>
                <a:lnTo>
                  <a:pt x="17675" y="690596"/>
                </a:lnTo>
                <a:lnTo>
                  <a:pt x="2643" y="626460"/>
                </a:lnTo>
                <a:lnTo>
                  <a:pt x="0" y="595913"/>
                </a:lnTo>
                <a:lnTo>
                  <a:pt x="788" y="566437"/>
                </a:lnTo>
                <a:lnTo>
                  <a:pt x="22473" y="500303"/>
                </a:lnTo>
                <a:lnTo>
                  <a:pt x="71814" y="438578"/>
                </a:lnTo>
                <a:lnTo>
                  <a:pt x="105172" y="409338"/>
                </a:lnTo>
                <a:lnTo>
                  <a:pt x="143423" y="381163"/>
                </a:lnTo>
                <a:lnTo>
                  <a:pt x="185895" y="354040"/>
                </a:lnTo>
                <a:lnTo>
                  <a:pt x="231914" y="327958"/>
                </a:lnTo>
                <a:lnTo>
                  <a:pt x="280806" y="302903"/>
                </a:lnTo>
                <a:lnTo>
                  <a:pt x="331899" y="278863"/>
                </a:lnTo>
                <a:lnTo>
                  <a:pt x="384518" y="255827"/>
                </a:lnTo>
                <a:lnTo>
                  <a:pt x="437991" y="233780"/>
                </a:lnTo>
                <a:lnTo>
                  <a:pt x="491643" y="212711"/>
                </a:lnTo>
                <a:lnTo>
                  <a:pt x="544802" y="192608"/>
                </a:lnTo>
                <a:lnTo>
                  <a:pt x="596794" y="173458"/>
                </a:lnTo>
                <a:lnTo>
                  <a:pt x="646946" y="155248"/>
                </a:lnTo>
                <a:lnTo>
                  <a:pt x="694584" y="137966"/>
                </a:lnTo>
                <a:lnTo>
                  <a:pt x="739035" y="121599"/>
                </a:lnTo>
                <a:lnTo>
                  <a:pt x="779626" y="106136"/>
                </a:lnTo>
                <a:lnTo>
                  <a:pt x="815682" y="91564"/>
                </a:lnTo>
                <a:lnTo>
                  <a:pt x="871500" y="65041"/>
                </a:lnTo>
                <a:lnTo>
                  <a:pt x="945531" y="23221"/>
                </a:lnTo>
                <a:lnTo>
                  <a:pt x="982010" y="3372"/>
                </a:lnTo>
                <a:lnTo>
                  <a:pt x="990326" y="0"/>
                </a:lnTo>
                <a:lnTo>
                  <a:pt x="979866" y="7612"/>
                </a:lnTo>
                <a:lnTo>
                  <a:pt x="960019" y="20718"/>
                </a:lnTo>
              </a:path>
            </a:pathLst>
          </a:custGeom>
          <a:ln w="10668">
            <a:solidFill>
              <a:srgbClr val="2C87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94393" y="3301746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=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26880" y="3653028"/>
            <a:ext cx="208915" cy="641350"/>
          </a:xfrm>
          <a:custGeom>
            <a:avLst/>
            <a:gdLst/>
            <a:ahLst/>
            <a:cxnLst/>
            <a:rect l="l" t="t" r="r" b="b"/>
            <a:pathLst>
              <a:path w="208915" h="641350">
                <a:moveTo>
                  <a:pt x="0" y="0"/>
                </a:moveTo>
                <a:lnTo>
                  <a:pt x="208915" y="641223"/>
                </a:lnTo>
              </a:path>
            </a:pathLst>
          </a:custGeom>
          <a:ln w="914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136390" y="3940175"/>
          <a:ext cx="3083559" cy="182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 gridSpan="4">
                  <a:txBody>
                    <a:bodyPr/>
                    <a:lstStyle/>
                    <a:p>
                      <a:pPr marL="7829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Representation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id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Entry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0" dirty="0">
                          <a:latin typeface="Corbel"/>
                          <a:cs typeface="Corbel"/>
                        </a:rPr>
                        <a:t>a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2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Num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10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+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2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342900">
              <a:lnSpc>
                <a:spcPts val="389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Directed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Acyclic</a:t>
            </a:r>
            <a:r>
              <a:rPr sz="3600" b="1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60" dirty="0">
                <a:solidFill>
                  <a:srgbClr val="FFFFFF"/>
                </a:solidFill>
                <a:latin typeface="Cambria"/>
                <a:cs typeface="Cambria"/>
              </a:rPr>
              <a:t>Graph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Examples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2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1)</a:t>
            </a:r>
            <a:r>
              <a:rPr spc="-25" dirty="0"/>
              <a:t> </a:t>
            </a:r>
            <a:r>
              <a:rPr dirty="0"/>
              <a:t>(</a:t>
            </a:r>
            <a:r>
              <a:rPr spc="-10" dirty="0"/>
              <a:t> </a:t>
            </a:r>
            <a:r>
              <a:rPr dirty="0"/>
              <a:t>a +</a:t>
            </a:r>
            <a:r>
              <a:rPr spc="-15" dirty="0"/>
              <a:t> </a:t>
            </a:r>
            <a:r>
              <a:rPr dirty="0"/>
              <a:t>b</a:t>
            </a:r>
            <a:r>
              <a:rPr spc="-5" dirty="0"/>
              <a:t> </a:t>
            </a:r>
            <a:r>
              <a:rPr dirty="0"/>
              <a:t>)</a:t>
            </a:r>
            <a:r>
              <a:rPr spc="-10" dirty="0"/>
              <a:t> </a:t>
            </a:r>
            <a:r>
              <a:rPr dirty="0"/>
              <a:t>*</a:t>
            </a:r>
            <a:r>
              <a:rPr spc="-10" dirty="0"/>
              <a:t> </a:t>
            </a:r>
            <a:r>
              <a:rPr dirty="0"/>
              <a:t>(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+</a:t>
            </a:r>
            <a:r>
              <a:rPr spc="-5" dirty="0"/>
              <a:t> </a:t>
            </a:r>
            <a:r>
              <a:rPr dirty="0"/>
              <a:t>b</a:t>
            </a:r>
            <a:r>
              <a:rPr spc="-10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c</a:t>
            </a:r>
            <a:r>
              <a:rPr spc="-5" dirty="0"/>
              <a:t> </a:t>
            </a:r>
            <a:r>
              <a:rPr spc="-50" dirty="0"/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375" y="4781218"/>
            <a:ext cx="3315601" cy="18481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691598" y="2295905"/>
            <a:ext cx="3380740" cy="2270125"/>
            <a:chOff x="4691598" y="2295905"/>
            <a:chExt cx="3380740" cy="2270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7996" y="2697502"/>
              <a:ext cx="3323890" cy="18679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96932" y="2301239"/>
              <a:ext cx="1970405" cy="1461135"/>
            </a:xfrm>
            <a:custGeom>
              <a:avLst/>
              <a:gdLst/>
              <a:ahLst/>
              <a:cxnLst/>
              <a:rect l="l" t="t" r="r" b="b"/>
              <a:pathLst>
                <a:path w="1970404" h="1461135">
                  <a:moveTo>
                    <a:pt x="1969805" y="546354"/>
                  </a:moveTo>
                  <a:lnTo>
                    <a:pt x="1936176" y="498403"/>
                  </a:lnTo>
                  <a:lnTo>
                    <a:pt x="1902515" y="450780"/>
                  </a:lnTo>
                  <a:lnTo>
                    <a:pt x="1868789" y="403808"/>
                  </a:lnTo>
                  <a:lnTo>
                    <a:pt x="1834967" y="357812"/>
                  </a:lnTo>
                  <a:lnTo>
                    <a:pt x="1801014" y="313116"/>
                  </a:lnTo>
                  <a:lnTo>
                    <a:pt x="1766900" y="270044"/>
                  </a:lnTo>
                  <a:lnTo>
                    <a:pt x="1732592" y="228921"/>
                  </a:lnTo>
                  <a:lnTo>
                    <a:pt x="1698057" y="190071"/>
                  </a:lnTo>
                  <a:lnTo>
                    <a:pt x="1663263" y="153818"/>
                  </a:lnTo>
                  <a:lnTo>
                    <a:pt x="1628177" y="120486"/>
                  </a:lnTo>
                  <a:lnTo>
                    <a:pt x="1592768" y="90399"/>
                  </a:lnTo>
                  <a:lnTo>
                    <a:pt x="1557003" y="63882"/>
                  </a:lnTo>
                  <a:lnTo>
                    <a:pt x="1520850" y="41260"/>
                  </a:lnTo>
                  <a:lnTo>
                    <a:pt x="1484275" y="22856"/>
                  </a:lnTo>
                  <a:lnTo>
                    <a:pt x="1447248" y="8994"/>
                  </a:lnTo>
                  <a:lnTo>
                    <a:pt x="1409735" y="0"/>
                  </a:lnTo>
                  <a:lnTo>
                    <a:pt x="1223438" y="38488"/>
                  </a:lnTo>
                  <a:lnTo>
                    <a:pt x="1009971" y="156844"/>
                  </a:lnTo>
                  <a:lnTo>
                    <a:pt x="834270" y="281678"/>
                  </a:lnTo>
                  <a:lnTo>
                    <a:pt x="761273" y="339598"/>
                  </a:lnTo>
                </a:path>
                <a:path w="1970404" h="1461135">
                  <a:moveTo>
                    <a:pt x="849665" y="1460754"/>
                  </a:moveTo>
                  <a:lnTo>
                    <a:pt x="786006" y="1458067"/>
                  </a:lnTo>
                  <a:lnTo>
                    <a:pt x="722661" y="1455263"/>
                  </a:lnTo>
                  <a:lnTo>
                    <a:pt x="659947" y="1452224"/>
                  </a:lnTo>
                  <a:lnTo>
                    <a:pt x="598177" y="1448833"/>
                  </a:lnTo>
                  <a:lnTo>
                    <a:pt x="537667" y="1444971"/>
                  </a:lnTo>
                  <a:lnTo>
                    <a:pt x="478731" y="1440523"/>
                  </a:lnTo>
                  <a:lnTo>
                    <a:pt x="421684" y="1435370"/>
                  </a:lnTo>
                  <a:lnTo>
                    <a:pt x="366842" y="1429394"/>
                  </a:lnTo>
                  <a:lnTo>
                    <a:pt x="314519" y="1422479"/>
                  </a:lnTo>
                  <a:lnTo>
                    <a:pt x="265029" y="1414507"/>
                  </a:lnTo>
                  <a:lnTo>
                    <a:pt x="218689" y="1405360"/>
                  </a:lnTo>
                  <a:lnTo>
                    <a:pt x="175812" y="1394920"/>
                  </a:lnTo>
                  <a:lnTo>
                    <a:pt x="136714" y="1383072"/>
                  </a:lnTo>
                  <a:lnTo>
                    <a:pt x="71114" y="1354676"/>
                  </a:lnTo>
                  <a:lnTo>
                    <a:pt x="24406" y="1319233"/>
                  </a:lnTo>
                  <a:lnTo>
                    <a:pt x="0" y="1271252"/>
                  </a:lnTo>
                  <a:lnTo>
                    <a:pt x="1006" y="1238680"/>
                  </a:lnTo>
                  <a:lnTo>
                    <a:pt x="10757" y="1201658"/>
                  </a:lnTo>
                  <a:lnTo>
                    <a:pt x="28062" y="1160986"/>
                  </a:lnTo>
                  <a:lnTo>
                    <a:pt x="51735" y="1117462"/>
                  </a:lnTo>
                  <a:lnTo>
                    <a:pt x="80586" y="1071885"/>
                  </a:lnTo>
                  <a:lnTo>
                    <a:pt x="113427" y="1025056"/>
                  </a:lnTo>
                  <a:lnTo>
                    <a:pt x="149069" y="977772"/>
                  </a:lnTo>
                  <a:lnTo>
                    <a:pt x="186325" y="930834"/>
                  </a:lnTo>
                  <a:lnTo>
                    <a:pt x="224006" y="885041"/>
                  </a:lnTo>
                  <a:lnTo>
                    <a:pt x="260924" y="841191"/>
                  </a:lnTo>
                  <a:lnTo>
                    <a:pt x="295889" y="800084"/>
                  </a:lnTo>
                  <a:lnTo>
                    <a:pt x="327715" y="762519"/>
                  </a:lnTo>
                  <a:lnTo>
                    <a:pt x="355211" y="729295"/>
                  </a:lnTo>
                  <a:lnTo>
                    <a:pt x="392465" y="679069"/>
                  </a:lnTo>
                  <a:lnTo>
                    <a:pt x="418194" y="636331"/>
                  </a:lnTo>
                  <a:lnTo>
                    <a:pt x="424806" y="624050"/>
                  </a:lnTo>
                  <a:lnTo>
                    <a:pt x="417080" y="634610"/>
                  </a:lnTo>
                  <a:lnTo>
                    <a:pt x="399796" y="660398"/>
                  </a:lnTo>
                  <a:lnTo>
                    <a:pt x="377733" y="693801"/>
                  </a:lnTo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342265">
              <a:lnSpc>
                <a:spcPct val="900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Directed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Acyclic </a:t>
            </a:r>
            <a:r>
              <a:rPr sz="3600" b="1" spc="-55" dirty="0">
                <a:solidFill>
                  <a:srgbClr val="FFFFFF"/>
                </a:solidFill>
                <a:latin typeface="Cambria"/>
                <a:cs typeface="Cambria"/>
              </a:rPr>
              <a:t>Graph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Examples (Self Practice)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836167"/>
            <a:ext cx="4685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751205" algn="l"/>
                <a:tab pos="1053465" algn="l"/>
                <a:tab pos="1337310" algn="l"/>
                <a:tab pos="1666239" algn="l"/>
                <a:tab pos="2082164" algn="l"/>
                <a:tab pos="2318385" algn="l"/>
                <a:tab pos="2767965" algn="l"/>
                <a:tab pos="3069590" algn="l"/>
                <a:tab pos="3319779" algn="l"/>
                <a:tab pos="3620135" algn="l"/>
                <a:tab pos="4239260" algn="l"/>
                <a:tab pos="4502785" algn="l"/>
              </a:tabLst>
            </a:pPr>
            <a:r>
              <a:rPr sz="2400" spc="-25" dirty="0">
                <a:latin typeface="Cambria"/>
                <a:cs typeface="Cambria"/>
              </a:rPr>
              <a:t>2)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*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(b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	c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)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(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b</a:t>
            </a:r>
            <a:r>
              <a:rPr sz="2400" dirty="0">
                <a:latin typeface="Cambria"/>
                <a:cs typeface="Cambria"/>
              </a:rPr>
              <a:t>	-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)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*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3714" y="1799590"/>
            <a:ext cx="1659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22019" algn="l"/>
              </a:tabLst>
            </a:pPr>
            <a:r>
              <a:rPr sz="2400" spc="-25" dirty="0">
                <a:latin typeface="Cambria"/>
                <a:cs typeface="Cambria"/>
              </a:rPr>
              <a:t>3)</a:t>
            </a:r>
            <a:r>
              <a:rPr sz="2400" dirty="0">
                <a:latin typeface="Cambria"/>
                <a:cs typeface="Cambria"/>
              </a:rPr>
              <a:t>	i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r>
              <a:rPr sz="2400" dirty="0">
                <a:latin typeface="Cambria"/>
                <a:cs typeface="Cambria"/>
              </a:rPr>
              <a:t>	i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4" y="2762453"/>
            <a:ext cx="6346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latin typeface="Cambria"/>
                <a:cs typeface="Cambria"/>
              </a:rPr>
              <a:t>4)</a:t>
            </a:r>
            <a:r>
              <a:rPr sz="2400" dirty="0">
                <a:latin typeface="Cambria"/>
                <a:cs typeface="Cambria"/>
              </a:rPr>
              <a:t>	(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 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 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0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98755">
              <a:lnSpc>
                <a:spcPct val="90200"/>
              </a:lnSpc>
              <a:tabLst>
                <a:tab pos="1849755" algn="l"/>
                <a:tab pos="2245995" algn="l"/>
              </a:tabLst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Representation </a:t>
            </a:r>
            <a:r>
              <a:rPr sz="3600" b="1" spc="-3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600" b="1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8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3600" b="1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Tree 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3200" b="1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spc="-35" dirty="0">
                <a:solidFill>
                  <a:srgbClr val="FFFFFF"/>
                </a:solidFill>
                <a:latin typeface="Cambria"/>
                <a:cs typeface="Cambria"/>
              </a:rPr>
              <a:t>:=</a:t>
            </a:r>
            <a:r>
              <a:rPr sz="3200" b="1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b</a:t>
            </a:r>
            <a:r>
              <a:rPr sz="3200" b="1" spc="-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*</a:t>
            </a:r>
            <a:r>
              <a:rPr sz="3200" b="1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3200" b="1" spc="-50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200" b="1" spc="-6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	b</a:t>
            </a:r>
            <a:r>
              <a:rPr sz="3200" b="1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mbria"/>
                <a:cs typeface="Cambria"/>
              </a:rPr>
              <a:t>*</a:t>
            </a:r>
            <a:r>
              <a:rPr sz="3200" b="1" spc="-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3200" b="1" spc="-50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0" y="729995"/>
            <a:ext cx="4837176" cy="46527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0431" y="836676"/>
            <a:ext cx="2816351" cy="44394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3188" y="832484"/>
            <a:ext cx="7630159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tabLst>
                <a:tab pos="422275" algn="l"/>
                <a:tab pos="802005" algn="l"/>
                <a:tab pos="1680845" algn="l"/>
                <a:tab pos="2889885" algn="l"/>
                <a:tab pos="4387850" algn="l"/>
                <a:tab pos="4792345" algn="l"/>
                <a:tab pos="5300980" algn="l"/>
                <a:tab pos="6544945" algn="l"/>
                <a:tab pos="7363459" algn="l"/>
              </a:tabLst>
            </a:pPr>
            <a:r>
              <a:rPr spc="-1300" dirty="0">
                <a:latin typeface="Arial MT"/>
                <a:cs typeface="Arial MT"/>
              </a:rPr>
              <a:t>🞄</a:t>
            </a:r>
            <a:r>
              <a:rPr dirty="0">
                <a:latin typeface="Arial MT"/>
                <a:cs typeface="Arial MT"/>
              </a:rPr>
              <a:t>	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three</a:t>
            </a:r>
            <a:r>
              <a:rPr dirty="0"/>
              <a:t>	</a:t>
            </a:r>
            <a:r>
              <a:rPr spc="-10" dirty="0"/>
              <a:t>address</a:t>
            </a:r>
            <a:r>
              <a:rPr dirty="0"/>
              <a:t>	</a:t>
            </a:r>
            <a:r>
              <a:rPr spc="-10" dirty="0"/>
              <a:t>statement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an</a:t>
            </a:r>
            <a:r>
              <a:rPr dirty="0"/>
              <a:t>	</a:t>
            </a:r>
            <a:r>
              <a:rPr spc="-10" dirty="0"/>
              <a:t>abstract</a:t>
            </a:r>
            <a:r>
              <a:rPr dirty="0"/>
              <a:t>	</a:t>
            </a:r>
            <a:r>
              <a:rPr spc="-20" dirty="0"/>
              <a:t>form</a:t>
            </a:r>
            <a:r>
              <a:rPr dirty="0"/>
              <a:t>	</a:t>
            </a:r>
            <a:r>
              <a:rPr spc="-25" dirty="0"/>
              <a:t>of </a:t>
            </a:r>
            <a:r>
              <a:rPr spc="-10" dirty="0"/>
              <a:t>intermediate</a:t>
            </a:r>
            <a:r>
              <a:rPr spc="-75" dirty="0"/>
              <a:t> </a:t>
            </a:r>
            <a:r>
              <a:rPr spc="-20" dirty="0"/>
              <a:t>code.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3188" y="1972817"/>
            <a:ext cx="763206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tabLst>
                <a:tab pos="354965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these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statements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implemented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as </a:t>
            </a:r>
            <a:r>
              <a:rPr sz="2400" spc="-10" dirty="0">
                <a:latin typeface="Cambria"/>
                <a:cs typeface="Cambria"/>
              </a:rPr>
              <a:t>records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operands.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3188" y="3073743"/>
            <a:ext cx="4425315" cy="164718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54965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such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representations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are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310"/>
              </a:spcBef>
              <a:buAutoNum type="arabicParenR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Quadruples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315"/>
              </a:spcBef>
              <a:buAutoNum type="arabicParenR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Triples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310"/>
              </a:spcBef>
              <a:buAutoNum type="arabicParenR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Indirect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Triples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4226157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Implementations of Three- Address Statement</a:t>
            </a: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3188" y="515873"/>
            <a:ext cx="6961505" cy="213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Quadruples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22275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Quadruple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record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structure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four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65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5" dirty="0">
                <a:latin typeface="Cambria"/>
                <a:cs typeface="Cambria"/>
              </a:rPr>
              <a:t>Op</a:t>
            </a:r>
            <a:endParaRPr sz="220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75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0" dirty="0">
                <a:latin typeface="Cambria"/>
                <a:cs typeface="Cambria"/>
              </a:rPr>
              <a:t>Arg1</a:t>
            </a:r>
            <a:endParaRPr sz="220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70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0" dirty="0">
                <a:latin typeface="Cambria"/>
                <a:cs typeface="Cambria"/>
              </a:rPr>
              <a:t>Arg2</a:t>
            </a:r>
            <a:endParaRPr sz="220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75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10" dirty="0">
                <a:latin typeface="Cambria"/>
                <a:cs typeface="Cambria"/>
              </a:rPr>
              <a:t>Result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3188" y="2631440"/>
            <a:ext cx="784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992505" algn="l"/>
                <a:tab pos="2152015" algn="l"/>
                <a:tab pos="3740150" algn="l"/>
                <a:tab pos="4025265" algn="l"/>
                <a:tab pos="4412615" algn="l"/>
                <a:tab pos="4705350" algn="l"/>
                <a:tab pos="5173345" algn="l"/>
                <a:tab pos="5448935" algn="l"/>
                <a:tab pos="5803900" algn="l"/>
                <a:tab pos="7522209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address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statement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x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:=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op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z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represented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6088" y="2923743"/>
            <a:ext cx="55219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placing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arg1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z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arg2,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3188" y="3293109"/>
            <a:ext cx="7852409" cy="29616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7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Statements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unary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operators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like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do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arg2.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595"/>
              </a:lnSpc>
              <a:spcBef>
                <a:spcPts val="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Conditional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unconditional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jumps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put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target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label</a:t>
            </a:r>
            <a:endParaRPr sz="2400">
              <a:latin typeface="Cambria"/>
              <a:cs typeface="Cambria"/>
            </a:endParaRPr>
          </a:p>
          <a:p>
            <a:pPr marL="355600" algn="just">
              <a:lnSpc>
                <a:spcPts val="2595"/>
              </a:lnSpc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result.</a:t>
            </a:r>
            <a:endParaRPr sz="2400">
              <a:latin typeface="Cambria"/>
              <a:cs typeface="Cambria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0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contents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arg1,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arg2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result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normally </a:t>
            </a:r>
            <a:r>
              <a:rPr sz="2400" dirty="0">
                <a:latin typeface="Cambria"/>
                <a:cs typeface="Cambria"/>
              </a:rPr>
              <a:t>pointers</a:t>
            </a:r>
            <a:r>
              <a:rPr sz="2400" spc="20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2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symbol</a:t>
            </a:r>
            <a:r>
              <a:rPr sz="2400" spc="2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table</a:t>
            </a:r>
            <a:r>
              <a:rPr sz="2400" spc="2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entries</a:t>
            </a:r>
            <a:r>
              <a:rPr sz="2400" spc="2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4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names represented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these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fields.</a:t>
            </a:r>
            <a:endParaRPr sz="2400">
              <a:latin typeface="Cambria"/>
              <a:cs typeface="Cambria"/>
            </a:endParaRPr>
          </a:p>
          <a:p>
            <a:pPr marL="355600" marR="6985" indent="-342900" algn="just">
              <a:lnSpc>
                <a:spcPct val="80000"/>
              </a:lnSpc>
              <a:spcBef>
                <a:spcPts val="60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so,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temporary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entered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symbol </a:t>
            </a:r>
            <a:r>
              <a:rPr sz="2400" dirty="0">
                <a:latin typeface="Cambria"/>
                <a:cs typeface="Cambria"/>
              </a:rPr>
              <a:t>table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created.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25036" y="1572767"/>
          <a:ext cx="7167878" cy="3101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result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(0)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10" dirty="0">
                          <a:latin typeface="Corbel"/>
                          <a:cs typeface="Corbel"/>
                        </a:rPr>
                        <a:t>uminus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c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t1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(1)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*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b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t1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t2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(2)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-10" dirty="0">
                          <a:latin typeface="Corbel"/>
                          <a:cs typeface="Corbel"/>
                        </a:rPr>
                        <a:t>uminus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c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t3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(3)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*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b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t3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t4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(4)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+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t2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t4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t5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(5)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:=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5" dirty="0">
                          <a:latin typeface="Corbel"/>
                          <a:cs typeface="Corbel"/>
                        </a:rPr>
                        <a:t>t5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50" dirty="0">
                          <a:latin typeface="Corbel"/>
                          <a:cs typeface="Corbel"/>
                        </a:rPr>
                        <a:t>a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761" y="1140028"/>
            <a:ext cx="1146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2566" y="1140028"/>
            <a:ext cx="2326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1646555" algn="l"/>
              </a:tabLst>
            </a:pPr>
            <a:r>
              <a:rPr sz="2400" dirty="0">
                <a:latin typeface="Cambria"/>
                <a:cs typeface="Cambria"/>
              </a:rPr>
              <a:t>a :=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b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3188" y="552450"/>
            <a:ext cx="1176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mbria"/>
                <a:cs typeface="Cambria"/>
              </a:rPr>
              <a:t>Triples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3188" y="957834"/>
            <a:ext cx="785304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430" dirty="0">
                <a:latin typeface="Arial MT"/>
                <a:cs typeface="Arial MT"/>
              </a:rPr>
              <a:t>  </a:t>
            </a:r>
            <a:r>
              <a:rPr dirty="0"/>
              <a:t>To</a:t>
            </a:r>
            <a:r>
              <a:rPr spc="100" dirty="0"/>
              <a:t>  </a:t>
            </a:r>
            <a:r>
              <a:rPr dirty="0"/>
              <a:t>avoid</a:t>
            </a:r>
            <a:r>
              <a:rPr spc="100" dirty="0"/>
              <a:t>  </a:t>
            </a:r>
            <a:r>
              <a:rPr dirty="0"/>
              <a:t>creating</a:t>
            </a:r>
            <a:r>
              <a:rPr spc="105" dirty="0"/>
              <a:t>  </a:t>
            </a:r>
            <a:r>
              <a:rPr dirty="0"/>
              <a:t>temporary</a:t>
            </a:r>
            <a:r>
              <a:rPr spc="110" dirty="0"/>
              <a:t>  </a:t>
            </a:r>
            <a:r>
              <a:rPr dirty="0"/>
              <a:t>names</a:t>
            </a:r>
            <a:r>
              <a:rPr spc="105" dirty="0"/>
              <a:t>  </a:t>
            </a:r>
            <a:r>
              <a:rPr dirty="0"/>
              <a:t>into</a:t>
            </a:r>
            <a:r>
              <a:rPr spc="95" dirty="0"/>
              <a:t>  </a:t>
            </a:r>
            <a:r>
              <a:rPr dirty="0"/>
              <a:t>the</a:t>
            </a:r>
            <a:r>
              <a:rPr spc="105" dirty="0"/>
              <a:t>  </a:t>
            </a:r>
            <a:r>
              <a:rPr spc="-10" dirty="0"/>
              <a:t>symbol </a:t>
            </a:r>
            <a:r>
              <a:rPr dirty="0"/>
              <a:t>table,</a:t>
            </a:r>
            <a:r>
              <a:rPr spc="-40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might</a:t>
            </a:r>
            <a:r>
              <a:rPr spc="-40" dirty="0"/>
              <a:t> </a:t>
            </a:r>
            <a:r>
              <a:rPr dirty="0"/>
              <a:t>refer</a:t>
            </a:r>
            <a:r>
              <a:rPr spc="-3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temporary</a:t>
            </a:r>
            <a:r>
              <a:rPr spc="-40" dirty="0"/>
              <a:t>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position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statement</a:t>
            </a:r>
            <a:r>
              <a:rPr spc="-45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computes</a:t>
            </a:r>
            <a:r>
              <a:rPr spc="-25" dirty="0"/>
              <a:t> 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14089" y="1835113"/>
            <a:ext cx="7690612" cy="1898597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354965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Triple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record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structure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334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5" dirty="0">
                <a:latin typeface="Cambria"/>
                <a:cs typeface="Cambria"/>
              </a:rPr>
              <a:t>Op</a:t>
            </a:r>
            <a:endParaRPr sz="2200" dirty="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335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0" dirty="0">
                <a:latin typeface="Cambria"/>
                <a:cs typeface="Cambria"/>
              </a:rPr>
              <a:t>Arg1</a:t>
            </a:r>
            <a:r>
              <a:rPr lang="en-IN" sz="2200" spc="-20" dirty="0">
                <a:latin typeface="Cambria"/>
                <a:cs typeface="Cambria"/>
              </a:rPr>
              <a:t>       </a:t>
            </a:r>
            <a:r>
              <a:rPr lang="en-US" spc="-20" dirty="0">
                <a:latin typeface="Cambria"/>
                <a:cs typeface="Cambria"/>
              </a:rPr>
              <a:t>Triples store operations and reference results using their       		position 	number instead of temporary variable</a:t>
            </a:r>
            <a:endParaRPr dirty="0">
              <a:latin typeface="Cambria"/>
              <a:cs typeface="Cambria"/>
            </a:endParaRPr>
          </a:p>
          <a:p>
            <a:pPr marL="812165" indent="-342265">
              <a:lnSpc>
                <a:spcPct val="100000"/>
              </a:lnSpc>
              <a:spcBef>
                <a:spcPts val="335"/>
              </a:spcBef>
              <a:buFont typeface="Wingdings"/>
              <a:buChar char=""/>
              <a:tabLst>
                <a:tab pos="812165" algn="l"/>
              </a:tabLst>
            </a:pPr>
            <a:r>
              <a:rPr sz="2200" spc="-20" dirty="0">
                <a:latin typeface="Cambria"/>
                <a:cs typeface="Cambria"/>
              </a:rPr>
              <a:t>Arg2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3188" y="3561333"/>
            <a:ext cx="7853045" cy="1455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Note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copy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statement</a:t>
            </a:r>
            <a:r>
              <a:rPr sz="2400" spc="3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t5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encoded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triple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placing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a</a:t>
            </a:r>
            <a:r>
              <a:rPr sz="2400" i="1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arg1</a:t>
            </a:r>
            <a:r>
              <a:rPr sz="2400" i="1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 </a:t>
            </a:r>
            <a:r>
              <a:rPr sz="2400" dirty="0">
                <a:latin typeface="Cambria"/>
                <a:cs typeface="Cambria"/>
              </a:rPr>
              <a:t>using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assign.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284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[i]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requires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entries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triple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structure.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75479" y="5241035"/>
          <a:ext cx="5372100" cy="1329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arg1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arg2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(0)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20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] 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=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0" dirty="0">
                          <a:latin typeface="Cambria"/>
                          <a:cs typeface="Cambria"/>
                        </a:rPr>
                        <a:t>x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0" dirty="0">
                          <a:latin typeface="Cambria"/>
                          <a:cs typeface="Cambria"/>
                        </a:rPr>
                        <a:t>i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(1)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assign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(0)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0" dirty="0">
                          <a:latin typeface="Cambria"/>
                          <a:cs typeface="Cambria"/>
                        </a:rPr>
                        <a:t>y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25036" y="1572767"/>
          <a:ext cx="5692774" cy="3101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(0)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uminus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c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(1)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spc="-50" dirty="0">
                          <a:latin typeface="Corbel"/>
                          <a:cs typeface="Corbel"/>
                        </a:rPr>
                        <a:t>*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spc="-50" dirty="0">
                          <a:latin typeface="Corbel"/>
                          <a:cs typeface="Corbel"/>
                        </a:rPr>
                        <a:t>b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(0)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(2)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uminus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c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(3)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*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b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(2)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+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(1)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(3)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(5)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:=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a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761" y="1140028"/>
            <a:ext cx="1146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2566" y="1140028"/>
            <a:ext cx="2326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1646555" algn="l"/>
              </a:tabLst>
            </a:pPr>
            <a:r>
              <a:rPr sz="2400" dirty="0">
                <a:latin typeface="Cambria"/>
                <a:cs typeface="Cambria"/>
              </a:rPr>
              <a:t>a :=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b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-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3188" y="552450"/>
            <a:ext cx="2365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Indirect</a:t>
            </a:r>
            <a:r>
              <a:rPr sz="2400" b="1" spc="-10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Triples</a:t>
            </a:r>
            <a:r>
              <a:rPr sz="2400" b="1" spc="-105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3188" y="957834"/>
            <a:ext cx="7852409" cy="1455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430" dirty="0">
                <a:latin typeface="Arial MT"/>
                <a:cs typeface="Arial MT"/>
              </a:rPr>
              <a:t>  </a:t>
            </a:r>
            <a:r>
              <a:rPr dirty="0"/>
              <a:t>Another</a:t>
            </a:r>
            <a:r>
              <a:rPr spc="204" dirty="0"/>
              <a:t> </a:t>
            </a:r>
            <a:r>
              <a:rPr dirty="0"/>
              <a:t>implementation</a:t>
            </a:r>
            <a:r>
              <a:rPr spc="225" dirty="0"/>
              <a:t> </a:t>
            </a:r>
            <a:r>
              <a:rPr dirty="0"/>
              <a:t>of</a:t>
            </a:r>
            <a:r>
              <a:rPr spc="215" dirty="0"/>
              <a:t> </a:t>
            </a:r>
            <a:r>
              <a:rPr dirty="0"/>
              <a:t>three</a:t>
            </a:r>
            <a:r>
              <a:rPr spc="215" dirty="0"/>
              <a:t> </a:t>
            </a:r>
            <a:r>
              <a:rPr dirty="0"/>
              <a:t>address</a:t>
            </a:r>
            <a:r>
              <a:rPr spc="225" dirty="0"/>
              <a:t> </a:t>
            </a:r>
            <a:r>
              <a:rPr dirty="0"/>
              <a:t>code</a:t>
            </a:r>
            <a:r>
              <a:rPr spc="215" dirty="0"/>
              <a:t> </a:t>
            </a:r>
            <a:r>
              <a:rPr dirty="0"/>
              <a:t>that</a:t>
            </a:r>
            <a:r>
              <a:rPr spc="210" dirty="0"/>
              <a:t> </a:t>
            </a:r>
            <a:r>
              <a:rPr spc="-25" dirty="0"/>
              <a:t>has </a:t>
            </a:r>
            <a:r>
              <a:rPr dirty="0"/>
              <a:t>been</a:t>
            </a:r>
            <a:r>
              <a:rPr spc="100" dirty="0"/>
              <a:t>  </a:t>
            </a:r>
            <a:r>
              <a:rPr dirty="0"/>
              <a:t>considered</a:t>
            </a:r>
            <a:r>
              <a:rPr spc="105" dirty="0"/>
              <a:t>  </a:t>
            </a:r>
            <a:r>
              <a:rPr dirty="0"/>
              <a:t>is</a:t>
            </a:r>
            <a:r>
              <a:rPr spc="105" dirty="0"/>
              <a:t>  </a:t>
            </a:r>
            <a:r>
              <a:rPr dirty="0"/>
              <a:t>that</a:t>
            </a:r>
            <a:r>
              <a:rPr spc="100" dirty="0"/>
              <a:t>  </a:t>
            </a:r>
            <a:r>
              <a:rPr dirty="0"/>
              <a:t>of</a:t>
            </a:r>
            <a:r>
              <a:rPr spc="105" dirty="0"/>
              <a:t>  </a:t>
            </a:r>
            <a:r>
              <a:rPr dirty="0"/>
              <a:t>listing</a:t>
            </a:r>
            <a:r>
              <a:rPr spc="105" dirty="0"/>
              <a:t>  </a:t>
            </a:r>
            <a:r>
              <a:rPr dirty="0"/>
              <a:t>pointers</a:t>
            </a:r>
            <a:r>
              <a:rPr spc="100" dirty="0"/>
              <a:t>  </a:t>
            </a:r>
            <a:r>
              <a:rPr dirty="0"/>
              <a:t>to</a:t>
            </a:r>
            <a:r>
              <a:rPr spc="100" dirty="0"/>
              <a:t>  </a:t>
            </a:r>
            <a:r>
              <a:rPr spc="-10" dirty="0"/>
              <a:t>triples, </a:t>
            </a:r>
            <a:r>
              <a:rPr dirty="0"/>
              <a:t>rather</a:t>
            </a:r>
            <a:r>
              <a:rPr spc="-65" dirty="0"/>
              <a:t> </a:t>
            </a:r>
            <a:r>
              <a:rPr dirty="0"/>
              <a:t>than</a:t>
            </a:r>
            <a:r>
              <a:rPr spc="-40" dirty="0"/>
              <a:t> </a:t>
            </a:r>
            <a:r>
              <a:rPr dirty="0"/>
              <a:t>listing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triples</a:t>
            </a:r>
            <a:r>
              <a:rPr spc="-45" dirty="0"/>
              <a:t> </a:t>
            </a:r>
            <a:r>
              <a:rPr spc="-10" dirty="0"/>
              <a:t>themselves.</a:t>
            </a:r>
          </a:p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210" dirty="0">
                <a:latin typeface="Arial MT"/>
                <a:cs typeface="Arial MT"/>
              </a:rPr>
              <a:t>  </a:t>
            </a: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implementation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naturally</a:t>
            </a:r>
            <a:r>
              <a:rPr spc="-40" dirty="0"/>
              <a:t> </a:t>
            </a:r>
            <a:r>
              <a:rPr dirty="0"/>
              <a:t>called</a:t>
            </a:r>
            <a:r>
              <a:rPr spc="-20" dirty="0"/>
              <a:t> </a:t>
            </a:r>
            <a:r>
              <a:rPr dirty="0"/>
              <a:t>indirect</a:t>
            </a:r>
            <a:r>
              <a:rPr spc="-60" dirty="0"/>
              <a:t> </a:t>
            </a:r>
            <a:r>
              <a:rPr spc="-10" dirty="0"/>
              <a:t>triples.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69965" y="2619882"/>
          <a:ext cx="5692774" cy="3101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arg2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uminus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c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(15)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*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b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(16)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uminus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c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(17)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*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b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(16)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(18)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+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(15)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(17)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(19)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:=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400" spc="-50" dirty="0">
                          <a:latin typeface="Cambria"/>
                          <a:cs typeface="Cambria"/>
                        </a:rPr>
                        <a:t>a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(18)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77463" y="2624963"/>
          <a:ext cx="2315845" cy="3128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Statement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(0)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(1)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(15)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6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(2)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(16)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(3)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38100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(17)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38100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(4)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(18)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38100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(5)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(19)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0B9D2"/>
                      </a:solidFill>
                      <a:prstDash val="solid"/>
                    </a:lnL>
                    <a:lnR w="12700">
                      <a:solidFill>
                        <a:srgbClr val="40B9D2"/>
                      </a:solidFill>
                      <a:prstDash val="solid"/>
                    </a:lnR>
                    <a:lnT w="28575">
                      <a:solidFill>
                        <a:srgbClr val="40B9D2"/>
                      </a:solidFill>
                      <a:prstDash val="solid"/>
                    </a:lnT>
                    <a:lnB w="28575">
                      <a:solidFill>
                        <a:srgbClr val="40B9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91440" marR="179705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Quadruple, 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Indirect</a:t>
            </a:r>
            <a:r>
              <a:rPr sz="3600" b="1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Triples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78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120" dirty="0"/>
              <a:t> </a:t>
            </a:r>
            <a:r>
              <a:rPr dirty="0"/>
              <a:t>Examples</a:t>
            </a:r>
            <a:r>
              <a:rPr spc="-10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3188" y="1363217"/>
            <a:ext cx="1842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1)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c)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3188" y="2174240"/>
            <a:ext cx="329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417320" algn="l"/>
                <a:tab pos="2327275" algn="l"/>
              </a:tabLst>
            </a:pPr>
            <a:r>
              <a:rPr sz="2400" spc="-25" dirty="0">
                <a:latin typeface="Cambria"/>
                <a:cs typeface="Cambria"/>
              </a:rPr>
              <a:t>2)</a:t>
            </a:r>
            <a:r>
              <a:rPr sz="2400" dirty="0">
                <a:latin typeface="Cambria"/>
                <a:cs typeface="Cambria"/>
              </a:rPr>
              <a:t>	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*</a:t>
            </a:r>
            <a:r>
              <a:rPr sz="2400" dirty="0">
                <a:latin typeface="Cambria"/>
                <a:cs typeface="Cambria"/>
              </a:rPr>
              <a:t>	c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/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↑</a:t>
            </a:r>
            <a:r>
              <a:rPr sz="2400" dirty="0">
                <a:latin typeface="Cambria"/>
                <a:cs typeface="Cambria"/>
              </a:rPr>
              <a:t>	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3188" y="2985261"/>
            <a:ext cx="1406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Quadruple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77463" y="3348101"/>
          <a:ext cx="8128000" cy="29286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Location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Op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Arg1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Arg2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Result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(0)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↑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f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(1)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*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b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c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T2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(2)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/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T2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(3)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*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b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c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(4)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+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a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(5)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+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T6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038860">
              <a:lnSpc>
                <a:spcPts val="389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Syntax Directed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Definition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7209" y="1022350"/>
            <a:ext cx="6304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  <a:tab pos="1703070" algn="l"/>
                <a:tab pos="3013710" algn="l"/>
                <a:tab pos="4514850" algn="l"/>
                <a:tab pos="5873115" algn="l"/>
              </a:tabLst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syntax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directed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definition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specifies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88626" y="1022350"/>
            <a:ext cx="13392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7625" marR="5080" indent="-35560">
              <a:lnSpc>
                <a:spcPts val="2590"/>
              </a:lnSpc>
              <a:spcBef>
                <a:spcPts val="425"/>
              </a:spcBef>
              <a:tabLst>
                <a:tab pos="905510" algn="l"/>
                <a:tab pos="1071245" algn="l"/>
              </a:tabLst>
            </a:pPr>
            <a:r>
              <a:rPr spc="-10" dirty="0"/>
              <a:t>values</a:t>
            </a:r>
            <a:r>
              <a:rPr dirty="0"/>
              <a:t>		</a:t>
            </a:r>
            <a:r>
              <a:rPr spc="-25" dirty="0"/>
              <a:t>of </a:t>
            </a:r>
            <a:r>
              <a:rPr spc="-20" dirty="0"/>
              <a:t>with</a:t>
            </a:r>
            <a:r>
              <a:rPr dirty="0"/>
              <a:t>	</a:t>
            </a:r>
            <a:r>
              <a:rPr spc="-25" dirty="0"/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0089" y="1351229"/>
            <a:ext cx="61252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9560" algn="l"/>
                <a:tab pos="2139950" algn="l"/>
                <a:tab pos="3858260" algn="l"/>
                <a:tab pos="5392420" algn="l"/>
              </a:tabLst>
            </a:pPr>
            <a:r>
              <a:rPr sz="2400" spc="-10" dirty="0">
                <a:latin typeface="Cambria"/>
                <a:cs typeface="Cambria"/>
              </a:rPr>
              <a:t>attributes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associating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semantic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rules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0089" y="1681098"/>
            <a:ext cx="2933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grammar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productions.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209" y="2047279"/>
            <a:ext cx="7851140" cy="39033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Grammar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Semantic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Rules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91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syntax-</a:t>
            </a:r>
            <a:r>
              <a:rPr sz="2400" dirty="0">
                <a:latin typeface="Cambria"/>
                <a:cs typeface="Cambria"/>
              </a:rPr>
              <a:t>directed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translation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executable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specification</a:t>
            </a:r>
            <a:endParaRPr sz="2400">
              <a:latin typeface="Cambria"/>
              <a:cs typeface="Cambria"/>
            </a:endParaRPr>
          </a:p>
          <a:p>
            <a:pPr marL="194945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of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SDD.</a:t>
            </a:r>
            <a:endParaRPr sz="2400">
              <a:latin typeface="Cambria"/>
              <a:cs typeface="Cambria"/>
            </a:endParaRPr>
          </a:p>
          <a:p>
            <a:pPr marL="194945" marR="5080" indent="-182880" algn="just">
              <a:lnSpc>
                <a:spcPct val="90100"/>
              </a:lnSpc>
              <a:spcBef>
                <a:spcPts val="119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Syntax</a:t>
            </a:r>
            <a:r>
              <a:rPr sz="2400" spc="5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directed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definition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generalization</a:t>
            </a:r>
            <a:r>
              <a:rPr sz="2400" spc="5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context</a:t>
            </a:r>
            <a:r>
              <a:rPr sz="2400" spc="-15" dirty="0">
                <a:latin typeface="Cambria"/>
                <a:cs typeface="Cambria"/>
              </a:rPr>
              <a:t> free</a:t>
            </a:r>
            <a:r>
              <a:rPr sz="2400" spc="8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grammar</a:t>
            </a:r>
            <a:r>
              <a:rPr sz="2400" spc="8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8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which</a:t>
            </a:r>
            <a:r>
              <a:rPr sz="2400" spc="7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each</a:t>
            </a:r>
            <a:r>
              <a:rPr sz="2400" spc="8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grammar</a:t>
            </a:r>
            <a:r>
              <a:rPr sz="2400" spc="8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symbol</a:t>
            </a:r>
            <a:r>
              <a:rPr sz="2400" spc="8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has</a:t>
            </a:r>
            <a:r>
              <a:rPr sz="2400" spc="8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 </a:t>
            </a:r>
            <a:r>
              <a:rPr sz="2400" spc="-20" dirty="0">
                <a:latin typeface="Cambria"/>
                <a:cs typeface="Cambria"/>
              </a:rPr>
              <a:t>associated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set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attributes.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Types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attributes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are:</a:t>
            </a:r>
            <a:endParaRPr sz="2400">
              <a:latin typeface="Cambria"/>
              <a:cs typeface="Cambria"/>
            </a:endParaRPr>
          </a:p>
          <a:p>
            <a:pPr marL="765810" indent="-295910" algn="just">
              <a:lnSpc>
                <a:spcPct val="100000"/>
              </a:lnSpc>
              <a:spcBef>
                <a:spcPts val="910"/>
              </a:spcBef>
              <a:buClr>
                <a:srgbClr val="40B9D2"/>
              </a:buClr>
              <a:buAutoNum type="arabicPeriod"/>
              <a:tabLst>
                <a:tab pos="765810" algn="l"/>
              </a:tabLst>
            </a:pPr>
            <a:r>
              <a:rPr sz="2400" dirty="0">
                <a:latin typeface="Cambria"/>
                <a:cs typeface="Cambria"/>
              </a:rPr>
              <a:t>Synthesized</a:t>
            </a:r>
            <a:r>
              <a:rPr sz="2400" spc="-1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attribute</a:t>
            </a:r>
            <a:endParaRPr sz="2400">
              <a:latin typeface="Cambria"/>
              <a:cs typeface="Cambria"/>
            </a:endParaRPr>
          </a:p>
          <a:p>
            <a:pPr marL="765810" indent="-295910" algn="just">
              <a:lnSpc>
                <a:spcPct val="100000"/>
              </a:lnSpc>
              <a:spcBef>
                <a:spcPts val="915"/>
              </a:spcBef>
              <a:buClr>
                <a:srgbClr val="40B9D2"/>
              </a:buClr>
              <a:buAutoNum type="arabicPeriod"/>
              <a:tabLst>
                <a:tab pos="765810" algn="l"/>
              </a:tabLst>
            </a:pPr>
            <a:r>
              <a:rPr sz="2400" dirty="0">
                <a:latin typeface="Cambria"/>
                <a:cs typeface="Cambria"/>
              </a:rPr>
              <a:t>Inherited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attribute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65341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Synthesized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7209" y="837691"/>
            <a:ext cx="7879080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45" dirty="0"/>
              <a:t>Value</a:t>
            </a:r>
            <a:r>
              <a:rPr spc="1310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305" dirty="0"/>
              <a:t> </a:t>
            </a:r>
            <a:r>
              <a:rPr b="1" spc="-15" dirty="0">
                <a:latin typeface="Cambria"/>
                <a:cs typeface="Cambria"/>
              </a:rPr>
              <a:t>synthesized</a:t>
            </a:r>
            <a:r>
              <a:rPr b="1" spc="1310" dirty="0">
                <a:latin typeface="Cambria"/>
                <a:cs typeface="Cambria"/>
              </a:rPr>
              <a:t> </a:t>
            </a:r>
            <a:r>
              <a:rPr b="1" spc="-20" dirty="0">
                <a:latin typeface="Cambria"/>
                <a:cs typeface="Cambria"/>
              </a:rPr>
              <a:t>attribute</a:t>
            </a:r>
            <a:r>
              <a:rPr b="1" spc="1310" dirty="0">
                <a:latin typeface="Cambria"/>
                <a:cs typeface="Cambria"/>
              </a:rPr>
              <a:t> </a:t>
            </a:r>
            <a:r>
              <a:rPr b="1" spc="-15" dirty="0">
                <a:latin typeface="Cambria"/>
                <a:cs typeface="Cambria"/>
              </a:rPr>
              <a:t>at</a:t>
            </a:r>
            <a:r>
              <a:rPr b="1" spc="1310" dirty="0">
                <a:latin typeface="Cambria"/>
                <a:cs typeface="Cambria"/>
              </a:rPr>
              <a:t> </a:t>
            </a:r>
            <a:r>
              <a:rPr b="1" spc="-15" dirty="0">
                <a:latin typeface="Cambria"/>
                <a:cs typeface="Cambria"/>
              </a:rPr>
              <a:t>a</a:t>
            </a:r>
            <a:r>
              <a:rPr b="1" spc="1310" dirty="0">
                <a:latin typeface="Cambria"/>
                <a:cs typeface="Cambria"/>
              </a:rPr>
              <a:t> </a:t>
            </a:r>
            <a:r>
              <a:rPr b="1" spc="-20" dirty="0">
                <a:latin typeface="Cambria"/>
                <a:cs typeface="Cambria"/>
              </a:rPr>
              <a:t>node</a:t>
            </a:r>
            <a:r>
              <a:rPr b="1" spc="1305" dirty="0">
                <a:latin typeface="Cambria"/>
                <a:cs typeface="Cambria"/>
              </a:rPr>
              <a:t> </a:t>
            </a:r>
            <a:r>
              <a:rPr spc="-20" dirty="0"/>
              <a:t>can</a:t>
            </a:r>
            <a:r>
              <a:rPr spc="1305" dirty="0"/>
              <a:t> </a:t>
            </a:r>
            <a:r>
              <a:rPr spc="-85" dirty="0"/>
              <a:t>be</a:t>
            </a:r>
            <a:r>
              <a:rPr spc="-15" dirty="0"/>
              <a:t> </a:t>
            </a:r>
            <a:r>
              <a:rPr b="1" spc="-15" dirty="0">
                <a:latin typeface="Cambria"/>
                <a:cs typeface="Cambria"/>
              </a:rPr>
              <a:t>computed</a:t>
            </a:r>
            <a:r>
              <a:rPr b="1" spc="30" dirty="0">
                <a:latin typeface="Cambria"/>
                <a:cs typeface="Cambria"/>
              </a:rPr>
              <a:t> </a:t>
            </a:r>
            <a:r>
              <a:rPr spc="-20" dirty="0"/>
              <a:t>from</a:t>
            </a:r>
            <a:r>
              <a:rPr spc="10" dirty="0"/>
              <a:t> </a:t>
            </a:r>
            <a:r>
              <a:rPr spc="-15" dirty="0"/>
              <a:t>the</a:t>
            </a:r>
            <a:r>
              <a:rPr spc="20" dirty="0"/>
              <a:t> </a:t>
            </a:r>
            <a:r>
              <a:rPr b="1" spc="-25" dirty="0">
                <a:latin typeface="Cambria"/>
                <a:cs typeface="Cambria"/>
              </a:rPr>
              <a:t>value</a:t>
            </a:r>
            <a:r>
              <a:rPr b="1" spc="1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of</a:t>
            </a:r>
            <a:r>
              <a:rPr b="1" spc="1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attributes</a:t>
            </a:r>
            <a:r>
              <a:rPr b="1" spc="25" dirty="0">
                <a:latin typeface="Cambria"/>
                <a:cs typeface="Cambria"/>
              </a:rPr>
              <a:t> </a:t>
            </a:r>
            <a:r>
              <a:rPr b="1" spc="-5" dirty="0">
                <a:latin typeface="Cambria"/>
                <a:cs typeface="Cambria"/>
              </a:rPr>
              <a:t>a</a:t>
            </a:r>
            <a:r>
              <a:rPr b="1" dirty="0">
                <a:latin typeface="Cambria"/>
                <a:cs typeface="Cambria"/>
              </a:rPr>
              <a:t>t</a:t>
            </a:r>
            <a:r>
              <a:rPr b="1" spc="20" dirty="0">
                <a:latin typeface="Cambria"/>
                <a:cs typeface="Cambria"/>
              </a:rPr>
              <a:t> </a:t>
            </a:r>
            <a:r>
              <a:rPr b="1" spc="-15" dirty="0">
                <a:latin typeface="Cambria"/>
                <a:cs typeface="Cambria"/>
              </a:rPr>
              <a:t>the</a:t>
            </a:r>
            <a:r>
              <a:rPr b="1" spc="20" dirty="0">
                <a:latin typeface="Cambria"/>
                <a:cs typeface="Cambria"/>
              </a:rPr>
              <a:t> </a:t>
            </a:r>
            <a:r>
              <a:rPr b="1" spc="-20" dirty="0">
                <a:latin typeface="Cambria"/>
                <a:cs typeface="Cambria"/>
              </a:rPr>
              <a:t>children</a:t>
            </a:r>
            <a:r>
              <a:rPr b="1" spc="35" dirty="0">
                <a:latin typeface="Cambria"/>
                <a:cs typeface="Cambria"/>
              </a:rPr>
              <a:t> </a:t>
            </a:r>
            <a:r>
              <a:rPr spc="-5" dirty="0"/>
              <a:t>of </a:t>
            </a:r>
            <a:r>
              <a:rPr spc="-15" dirty="0"/>
              <a:t>that</a:t>
            </a:r>
            <a:r>
              <a:rPr spc="-5" dirty="0"/>
              <a:t> </a:t>
            </a:r>
            <a:r>
              <a:rPr spc="-10" dirty="0"/>
              <a:t>node</a:t>
            </a:r>
            <a:r>
              <a:rPr spc="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15" dirty="0"/>
              <a:t>the</a:t>
            </a:r>
            <a:r>
              <a:rPr dirty="0"/>
              <a:t> </a:t>
            </a:r>
            <a:r>
              <a:rPr spc="-15" dirty="0"/>
              <a:t>parse</a:t>
            </a:r>
            <a:r>
              <a:rPr spc="-5" dirty="0"/>
              <a:t> </a:t>
            </a:r>
            <a:r>
              <a:rPr spc="-10" dirty="0"/>
              <a:t>tree.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77209" y="1977897"/>
            <a:ext cx="7877809" cy="3482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715" indent="-18288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Syntax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directed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definition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uses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synthesized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attribute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exclusively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said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S-</a:t>
            </a:r>
            <a:r>
              <a:rPr sz="2400" b="1" spc="-15" dirty="0">
                <a:latin typeface="Cambria"/>
                <a:cs typeface="Cambria"/>
              </a:rPr>
              <a:t>attribute</a:t>
            </a:r>
            <a:r>
              <a:rPr sz="2400" b="1" spc="30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definition</a:t>
            </a:r>
            <a:r>
              <a:rPr sz="2400" spc="-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parse</a:t>
            </a:r>
            <a:r>
              <a:rPr sz="2400" spc="5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tree</a:t>
            </a:r>
            <a:r>
              <a:rPr sz="2400" dirty="0">
                <a:latin typeface="Cambria"/>
                <a:cs typeface="Cambria"/>
              </a:rPr>
              <a:t> 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S-attribute</a:t>
            </a:r>
            <a:r>
              <a:rPr sz="2400" spc="5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definition</a:t>
            </a:r>
            <a:r>
              <a:rPr sz="2400" spc="5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always</a:t>
            </a:r>
            <a:r>
              <a:rPr sz="2400" spc="53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be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annotated</a:t>
            </a:r>
            <a:r>
              <a:rPr sz="2400" spc="130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spc="13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evaluating</a:t>
            </a:r>
            <a:r>
              <a:rPr sz="2400" spc="12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3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semantic</a:t>
            </a:r>
            <a:r>
              <a:rPr sz="2400" spc="12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rules</a:t>
            </a:r>
            <a:r>
              <a:rPr sz="2400" spc="12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attribute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each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node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bottom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up,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leaves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root.</a:t>
            </a:r>
            <a:endParaRPr sz="2400">
              <a:latin typeface="Cambria"/>
              <a:cs typeface="Cambri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645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Annotated</a:t>
            </a:r>
            <a:r>
              <a:rPr sz="2400" b="1" spc="640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parse</a:t>
            </a:r>
            <a:r>
              <a:rPr sz="2400" b="1" spc="655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tree</a:t>
            </a:r>
            <a:r>
              <a:rPr sz="2400" b="1" spc="6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6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6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parse</a:t>
            </a:r>
            <a:r>
              <a:rPr sz="2400" spc="6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tree</a:t>
            </a:r>
            <a:r>
              <a:rPr sz="2400" spc="6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showing</a:t>
            </a:r>
            <a:r>
              <a:rPr sz="2400" spc="64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attributes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 </a:t>
            </a:r>
            <a:r>
              <a:rPr sz="2400" spc="-15" dirty="0">
                <a:latin typeface="Cambria"/>
                <a:cs typeface="Cambria"/>
              </a:rPr>
              <a:t>each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node.</a:t>
            </a:r>
            <a:endParaRPr sz="2400">
              <a:latin typeface="Cambria"/>
              <a:cs typeface="Cambria"/>
            </a:endParaRPr>
          </a:p>
          <a:p>
            <a:pPr marL="194945" marR="6985" indent="-182880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process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computing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attribute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values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node</a:t>
            </a:r>
            <a:r>
              <a:rPr sz="2400" spc="-10" dirty="0">
                <a:latin typeface="Cambria"/>
                <a:cs typeface="Cambria"/>
              </a:rPr>
              <a:t> is</a:t>
            </a:r>
            <a:r>
              <a:rPr sz="2400" spc="-15" dirty="0">
                <a:latin typeface="Cambria"/>
                <a:cs typeface="Cambria"/>
              </a:rPr>
              <a:t> called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Annotating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 </a:t>
            </a:r>
            <a:r>
              <a:rPr sz="2400" spc="-10" dirty="0">
                <a:latin typeface="Cambria"/>
                <a:cs typeface="Cambria"/>
              </a:rPr>
              <a:t>Decorating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parse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tree.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65341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Synthesized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7209" y="1396110"/>
            <a:ext cx="4404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Example:</a:t>
            </a:r>
            <a:r>
              <a:rPr spc="-120" dirty="0"/>
              <a:t> </a:t>
            </a:r>
            <a:r>
              <a:rPr dirty="0"/>
              <a:t>Simple</a:t>
            </a:r>
            <a:r>
              <a:rPr spc="-65" dirty="0"/>
              <a:t> </a:t>
            </a:r>
            <a:r>
              <a:rPr dirty="0"/>
              <a:t>desk</a:t>
            </a:r>
            <a:r>
              <a:rPr spc="-45" dirty="0"/>
              <a:t> </a:t>
            </a:r>
            <a:r>
              <a:rPr spc="-10" dirty="0"/>
              <a:t>calculator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91890" y="2475864"/>
          <a:ext cx="5812790" cy="296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Production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Semantic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rules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37" baseline="-20833" dirty="0">
                          <a:latin typeface="Cambria"/>
                          <a:cs typeface="Cambria"/>
                        </a:rPr>
                        <a:t>n</a:t>
                      </a:r>
                      <a:endParaRPr sz="1800" baseline="-20833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Print</a:t>
                      </a:r>
                      <a:r>
                        <a:rPr sz="1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(E.val)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30" baseline="-20833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+T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E.val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E1.val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E.val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1800" baseline="-20833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800" spc="179" baseline="-20833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T.val=T1.val*F.val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T.val=F.val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(E)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F.val=E.val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digit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F.val=digit.lexval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65341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Synthesized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7209" y="432561"/>
            <a:ext cx="4404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Example: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Simple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desk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calculator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77209" y="781722"/>
            <a:ext cx="2611120" cy="87566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585858"/>
                </a:solidFill>
                <a:latin typeface="Corbel"/>
                <a:cs typeface="Corbel"/>
              </a:rPr>
              <a:t>String:</a:t>
            </a:r>
            <a:r>
              <a:rPr spc="-5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spc="-10" dirty="0">
                <a:solidFill>
                  <a:srgbClr val="585858"/>
                </a:solidFill>
                <a:latin typeface="Corbel"/>
                <a:cs typeface="Corbel"/>
              </a:rPr>
              <a:t>3*5+4n;</a:t>
            </a:r>
          </a:p>
          <a:p>
            <a:pPr marR="5080" algn="r">
              <a:lnSpc>
                <a:spcPct val="100000"/>
              </a:lnSpc>
              <a:spcBef>
                <a:spcPts val="710"/>
              </a:spcBef>
            </a:pPr>
            <a:r>
              <a:rPr sz="1800" spc="-5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49995" y="1026922"/>
          <a:ext cx="3304540" cy="4040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Production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Semantic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rules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37" baseline="-20833" dirty="0">
                          <a:latin typeface="Cambria"/>
                          <a:cs typeface="Cambria"/>
                        </a:rPr>
                        <a:t>n</a:t>
                      </a:r>
                      <a:endParaRPr sz="1800" baseline="-20833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Print</a:t>
                      </a:r>
                      <a:r>
                        <a:rPr sz="1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(E.val)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30" baseline="-20833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+T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E.val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E1.val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+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E.val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1800" baseline="-20833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800" spc="179" baseline="-20833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63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"/>
                          <a:cs typeface="Cambria"/>
                        </a:rPr>
                        <a:t>T.val=T1.val*F.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T.val=F.val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(E)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F.val=E.val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digit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F.val=digit.lexv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mbria"/>
                          <a:cs typeface="Cambria"/>
                        </a:rPr>
                        <a:t>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777229" y="1945004"/>
            <a:ext cx="79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E.val=19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8281" y="1738960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7359" y="266039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8765" y="1718310"/>
            <a:ext cx="676275" cy="276225"/>
          </a:xfrm>
          <a:custGeom>
            <a:avLst/>
            <a:gdLst/>
            <a:ahLst/>
            <a:cxnLst/>
            <a:rect l="l" t="t" r="r" b="b"/>
            <a:pathLst>
              <a:path w="676275" h="276225">
                <a:moveTo>
                  <a:pt x="3048" y="0"/>
                </a:moveTo>
                <a:lnTo>
                  <a:pt x="3048" y="276225"/>
                </a:lnTo>
              </a:path>
              <a:path w="676275" h="276225">
                <a:moveTo>
                  <a:pt x="0" y="6095"/>
                </a:moveTo>
                <a:lnTo>
                  <a:pt x="676275" y="187070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69941" y="2329433"/>
            <a:ext cx="2372360" cy="468630"/>
          </a:xfrm>
          <a:custGeom>
            <a:avLst/>
            <a:gdLst/>
            <a:ahLst/>
            <a:cxnLst/>
            <a:rect l="l" t="t" r="r" b="b"/>
            <a:pathLst>
              <a:path w="2372359" h="468630">
                <a:moveTo>
                  <a:pt x="1248156" y="7619"/>
                </a:moveTo>
                <a:lnTo>
                  <a:pt x="1248156" y="283844"/>
                </a:lnTo>
              </a:path>
              <a:path w="2372359" h="468630">
                <a:moveTo>
                  <a:pt x="1248156" y="0"/>
                </a:moveTo>
                <a:lnTo>
                  <a:pt x="2372106" y="400050"/>
                </a:lnTo>
              </a:path>
              <a:path w="2372359" h="468630">
                <a:moveTo>
                  <a:pt x="1247775" y="1524"/>
                </a:moveTo>
                <a:lnTo>
                  <a:pt x="0" y="468249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12945" y="3429127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T.val=15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38828" y="2798064"/>
            <a:ext cx="1123315" cy="426720"/>
          </a:xfrm>
          <a:custGeom>
            <a:avLst/>
            <a:gdLst/>
            <a:ahLst/>
            <a:cxnLst/>
            <a:rect l="l" t="t" r="r" b="b"/>
            <a:pathLst>
              <a:path w="1123314" h="426719">
                <a:moveTo>
                  <a:pt x="0" y="426720"/>
                </a:moveTo>
                <a:lnTo>
                  <a:pt x="1123188" y="426720"/>
                </a:lnTo>
                <a:lnTo>
                  <a:pt x="1123188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3165" y="2815539"/>
            <a:ext cx="793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E.val=15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19650" y="421309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9753" y="3173729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506533" y="3790124"/>
            <a:ext cx="2135505" cy="815975"/>
            <a:chOff x="3506533" y="3790124"/>
            <a:chExt cx="2135505" cy="815975"/>
          </a:xfrm>
        </p:grpSpPr>
        <p:sp>
          <p:nvSpPr>
            <p:cNvPr id="17" name="object 17"/>
            <p:cNvSpPr/>
            <p:nvPr/>
          </p:nvSpPr>
          <p:spPr>
            <a:xfrm>
              <a:off x="4069842" y="3803141"/>
              <a:ext cx="1558925" cy="531495"/>
            </a:xfrm>
            <a:custGeom>
              <a:avLst/>
              <a:gdLst/>
              <a:ahLst/>
              <a:cxnLst/>
              <a:rect l="l" t="t" r="r" b="b"/>
              <a:pathLst>
                <a:path w="1558925" h="531495">
                  <a:moveTo>
                    <a:pt x="826008" y="0"/>
                  </a:moveTo>
                  <a:lnTo>
                    <a:pt x="826008" y="276224"/>
                  </a:lnTo>
                </a:path>
                <a:path w="1558925" h="531495">
                  <a:moveTo>
                    <a:pt x="827786" y="0"/>
                  </a:moveTo>
                  <a:lnTo>
                    <a:pt x="0" y="518032"/>
                  </a:lnTo>
                </a:path>
                <a:path w="1558925" h="531495">
                  <a:moveTo>
                    <a:pt x="829056" y="15239"/>
                  </a:moveTo>
                  <a:lnTo>
                    <a:pt x="1558925" y="530986"/>
                  </a:lnTo>
                </a:path>
              </a:pathLst>
            </a:custGeom>
            <a:ln w="25908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11296" y="4320539"/>
              <a:ext cx="1117600" cy="280670"/>
            </a:xfrm>
            <a:custGeom>
              <a:avLst/>
              <a:gdLst/>
              <a:ahLst/>
              <a:cxnLst/>
              <a:rect l="l" t="t" r="r" b="b"/>
              <a:pathLst>
                <a:path w="1117600" h="280670">
                  <a:moveTo>
                    <a:pt x="1117091" y="0"/>
                  </a:moveTo>
                  <a:lnTo>
                    <a:pt x="0" y="0"/>
                  </a:lnTo>
                  <a:lnTo>
                    <a:pt x="0" y="280416"/>
                  </a:lnTo>
                  <a:lnTo>
                    <a:pt x="1117091" y="280416"/>
                  </a:lnTo>
                  <a:lnTo>
                    <a:pt x="1117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11296" y="4320539"/>
              <a:ext cx="1117600" cy="280670"/>
            </a:xfrm>
            <a:custGeom>
              <a:avLst/>
              <a:gdLst/>
              <a:ahLst/>
              <a:cxnLst/>
              <a:rect l="l" t="t" r="r" b="b"/>
              <a:pathLst>
                <a:path w="1117600" h="280670">
                  <a:moveTo>
                    <a:pt x="0" y="280416"/>
                  </a:moveTo>
                  <a:lnTo>
                    <a:pt x="1117091" y="280416"/>
                  </a:lnTo>
                  <a:lnTo>
                    <a:pt x="1117091" y="0"/>
                  </a:lnTo>
                  <a:lnTo>
                    <a:pt x="0" y="0"/>
                  </a:lnTo>
                  <a:lnTo>
                    <a:pt x="0" y="28041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68978" y="4981447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F.val=3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43325" y="4341698"/>
            <a:ext cx="655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T.val=3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78985" y="4652009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78985" y="5375909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4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18052" y="5568937"/>
            <a:ext cx="3089275" cy="78549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930"/>
              </a:spcBef>
            </a:pPr>
            <a:r>
              <a:rPr sz="1800" spc="-10" dirty="0">
                <a:latin typeface="Calibri"/>
                <a:cs typeface="Calibri"/>
              </a:rPr>
              <a:t>digit.lexval=3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2791A6"/>
                </a:solidFill>
                <a:latin typeface="Corbel"/>
                <a:cs typeface="Corbel"/>
              </a:rPr>
              <a:t>Annotated</a:t>
            </a:r>
            <a:r>
              <a:rPr sz="1800" spc="-15" dirty="0">
                <a:solidFill>
                  <a:srgbClr val="2791A6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2791A6"/>
                </a:solidFill>
                <a:latin typeface="Corbel"/>
                <a:cs typeface="Corbel"/>
              </a:rPr>
              <a:t>parse</a:t>
            </a:r>
            <a:r>
              <a:rPr sz="1800" spc="-25" dirty="0">
                <a:solidFill>
                  <a:srgbClr val="2791A6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2791A6"/>
                </a:solidFill>
                <a:latin typeface="Corbel"/>
                <a:cs typeface="Corbel"/>
              </a:rPr>
              <a:t>tree</a:t>
            </a:r>
            <a:r>
              <a:rPr sz="1800" spc="-25" dirty="0">
                <a:solidFill>
                  <a:srgbClr val="2791A6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2791A6"/>
                </a:solidFill>
                <a:latin typeface="Corbel"/>
                <a:cs typeface="Corbel"/>
              </a:rPr>
              <a:t>for</a:t>
            </a:r>
            <a:r>
              <a:rPr sz="1800" spc="-25" dirty="0">
                <a:solidFill>
                  <a:srgbClr val="2791A6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2791A6"/>
                </a:solidFill>
                <a:latin typeface="Corbel"/>
                <a:cs typeface="Corbel"/>
              </a:rPr>
              <a:t>3*5+4n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47661" y="3399282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F.val=4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68997" y="2758185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T.val=4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78243" y="4149090"/>
            <a:ext cx="1247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digit.lexval=4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22057" y="3102101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11390" y="3818382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5038153" y="4312729"/>
            <a:ext cx="1238250" cy="457834"/>
            <a:chOff x="5038153" y="4312729"/>
            <a:chExt cx="1238250" cy="457834"/>
          </a:xfrm>
        </p:grpSpPr>
        <p:sp>
          <p:nvSpPr>
            <p:cNvPr id="31" name="object 31"/>
            <p:cNvSpPr/>
            <p:nvPr/>
          </p:nvSpPr>
          <p:spPr>
            <a:xfrm>
              <a:off x="5042915" y="4317491"/>
              <a:ext cx="1228725" cy="448309"/>
            </a:xfrm>
            <a:custGeom>
              <a:avLst/>
              <a:gdLst/>
              <a:ahLst/>
              <a:cxnLst/>
              <a:rect l="l" t="t" r="r" b="b"/>
              <a:pathLst>
                <a:path w="1228725" h="448310">
                  <a:moveTo>
                    <a:pt x="1228343" y="0"/>
                  </a:moveTo>
                  <a:lnTo>
                    <a:pt x="0" y="0"/>
                  </a:lnTo>
                  <a:lnTo>
                    <a:pt x="0" y="448055"/>
                  </a:lnTo>
                  <a:lnTo>
                    <a:pt x="1228343" y="448055"/>
                  </a:lnTo>
                  <a:lnTo>
                    <a:pt x="1228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42915" y="4317491"/>
              <a:ext cx="1228725" cy="448309"/>
            </a:xfrm>
            <a:custGeom>
              <a:avLst/>
              <a:gdLst/>
              <a:ahLst/>
              <a:cxnLst/>
              <a:rect l="l" t="t" r="r" b="b"/>
              <a:pathLst>
                <a:path w="1228725" h="448310">
                  <a:moveTo>
                    <a:pt x="0" y="448055"/>
                  </a:moveTo>
                  <a:lnTo>
                    <a:pt x="1228343" y="448055"/>
                  </a:lnTo>
                  <a:lnTo>
                    <a:pt x="1228343" y="0"/>
                  </a:lnTo>
                  <a:lnTo>
                    <a:pt x="0" y="0"/>
                  </a:lnTo>
                  <a:lnTo>
                    <a:pt x="0" y="44805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31967" y="4336795"/>
            <a:ext cx="65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F.val=5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94172" y="5060950"/>
            <a:ext cx="1247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digit.lexval=5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57850" y="4741926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7157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Inherited </a:t>
            </a:r>
            <a:r>
              <a:rPr sz="3600" b="1" spc="-3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7209" y="837691"/>
            <a:ext cx="7878445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An</a:t>
            </a:r>
            <a:r>
              <a:rPr spc="229" dirty="0"/>
              <a:t> </a:t>
            </a:r>
            <a:r>
              <a:rPr spc="-10" dirty="0"/>
              <a:t>inherited</a:t>
            </a:r>
            <a:r>
              <a:rPr spc="229" dirty="0"/>
              <a:t> </a:t>
            </a:r>
            <a:r>
              <a:rPr spc="-15" dirty="0"/>
              <a:t>attribute</a:t>
            </a:r>
            <a:r>
              <a:rPr spc="235" dirty="0"/>
              <a:t> </a:t>
            </a:r>
            <a:r>
              <a:rPr spc="-10" dirty="0"/>
              <a:t>at</a:t>
            </a:r>
            <a:r>
              <a:rPr spc="229" dirty="0"/>
              <a:t> </a:t>
            </a:r>
            <a:r>
              <a:rPr spc="-15" dirty="0"/>
              <a:t>a</a:t>
            </a:r>
            <a:r>
              <a:rPr spc="229" dirty="0"/>
              <a:t> </a:t>
            </a:r>
            <a:r>
              <a:rPr spc="-15" dirty="0"/>
              <a:t>node</a:t>
            </a:r>
            <a:r>
              <a:rPr spc="220" dirty="0"/>
              <a:t> </a:t>
            </a:r>
            <a:r>
              <a:rPr spc="-10" dirty="0"/>
              <a:t>i</a:t>
            </a:r>
            <a:r>
              <a:rPr dirty="0"/>
              <a:t>n</a:t>
            </a:r>
            <a:r>
              <a:rPr spc="229" dirty="0"/>
              <a:t> </a:t>
            </a:r>
            <a:r>
              <a:rPr spc="-15" dirty="0"/>
              <a:t>a</a:t>
            </a:r>
            <a:r>
              <a:rPr spc="229" dirty="0"/>
              <a:t> </a:t>
            </a:r>
            <a:r>
              <a:rPr spc="-15" dirty="0"/>
              <a:t>parse</a:t>
            </a:r>
            <a:r>
              <a:rPr spc="235" dirty="0"/>
              <a:t> </a:t>
            </a:r>
            <a:r>
              <a:rPr spc="-20" dirty="0"/>
              <a:t>tree</a:t>
            </a:r>
            <a:r>
              <a:rPr spc="235" dirty="0"/>
              <a:t> </a:t>
            </a:r>
            <a:r>
              <a:rPr spc="-10" dirty="0"/>
              <a:t>is</a:t>
            </a:r>
            <a:r>
              <a:rPr spc="225" dirty="0"/>
              <a:t> </a:t>
            </a:r>
            <a:r>
              <a:rPr spc="-45" dirty="0"/>
              <a:t>defined</a:t>
            </a:r>
            <a:r>
              <a:rPr spc="-10" dirty="0"/>
              <a:t> </a:t>
            </a:r>
            <a:r>
              <a:rPr dirty="0"/>
              <a:t>in</a:t>
            </a:r>
            <a:r>
              <a:rPr spc="240" dirty="0"/>
              <a:t> </a:t>
            </a:r>
            <a:r>
              <a:rPr spc="-20" dirty="0"/>
              <a:t>terms</a:t>
            </a:r>
            <a:r>
              <a:rPr spc="23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240" dirty="0"/>
              <a:t> </a:t>
            </a:r>
            <a:r>
              <a:rPr spc="-15" dirty="0"/>
              <a:t>attributes</a:t>
            </a:r>
            <a:r>
              <a:rPr spc="250" dirty="0"/>
              <a:t> </a:t>
            </a:r>
            <a:r>
              <a:rPr spc="-10" dirty="0"/>
              <a:t>at</a:t>
            </a:r>
            <a:r>
              <a:rPr spc="250" dirty="0"/>
              <a:t> </a:t>
            </a:r>
            <a:r>
              <a:rPr spc="-15" dirty="0"/>
              <a:t>the</a:t>
            </a:r>
            <a:r>
              <a:rPr spc="240" dirty="0"/>
              <a:t> </a:t>
            </a:r>
            <a:r>
              <a:rPr spc="-15" dirty="0"/>
              <a:t>parent</a:t>
            </a:r>
            <a:r>
              <a:rPr spc="240" dirty="0"/>
              <a:t> </a:t>
            </a:r>
            <a:r>
              <a:rPr dirty="0"/>
              <a:t>and/or</a:t>
            </a:r>
            <a:r>
              <a:rPr spc="235" dirty="0"/>
              <a:t> </a:t>
            </a:r>
            <a:r>
              <a:rPr spc="-10" dirty="0"/>
              <a:t>siblings</a:t>
            </a:r>
            <a:r>
              <a:rPr spc="250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240" dirty="0"/>
              <a:t> </a:t>
            </a:r>
            <a:r>
              <a:rPr spc="-15" dirty="0"/>
              <a:t>the</a:t>
            </a:r>
            <a:r>
              <a:rPr spc="-10" dirty="0"/>
              <a:t> node.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77209" y="1977897"/>
            <a:ext cx="7877809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5080" indent="-182880" algn="just">
              <a:lnSpc>
                <a:spcPct val="90100"/>
              </a:lnSpc>
              <a:spcBef>
                <a:spcPts val="38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Convenient</a:t>
            </a:r>
            <a:r>
              <a:rPr sz="2400" dirty="0">
                <a:latin typeface="Cambria"/>
                <a:cs typeface="Cambria"/>
              </a:rPr>
              <a:t>   </a:t>
            </a:r>
            <a:r>
              <a:rPr sz="2400" spc="-50" dirty="0">
                <a:latin typeface="Cambria"/>
                <a:cs typeface="Cambria"/>
              </a:rPr>
              <a:t>way</a:t>
            </a:r>
            <a:r>
              <a:rPr sz="2400" dirty="0">
                <a:latin typeface="Cambria"/>
                <a:cs typeface="Cambria"/>
              </a:rPr>
              <a:t>  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26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expressing</a:t>
            </a:r>
            <a:r>
              <a:rPr sz="2400" dirty="0">
                <a:latin typeface="Cambria"/>
                <a:cs typeface="Cambria"/>
              </a:rPr>
              <a:t>  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  </a:t>
            </a:r>
            <a:r>
              <a:rPr sz="2400" spc="-15" dirty="0">
                <a:latin typeface="Cambria"/>
                <a:cs typeface="Cambria"/>
              </a:rPr>
              <a:t>dependency</a:t>
            </a:r>
            <a:r>
              <a:rPr sz="2400" spc="105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040" dirty="0">
                <a:latin typeface="Cambria"/>
                <a:cs typeface="Cambria"/>
              </a:rPr>
              <a:t> </a:t>
            </a:r>
            <a:r>
              <a:rPr sz="2400" spc="-155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programming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constru</a:t>
            </a:r>
            <a:r>
              <a:rPr sz="2400" spc="-10" dirty="0">
                <a:latin typeface="Cambria"/>
                <a:cs typeface="Cambria"/>
              </a:rPr>
              <a:t>c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context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appears.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7209" y="3118230"/>
            <a:ext cx="7878445" cy="21901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5080" indent="-182880" algn="just">
              <a:lnSpc>
                <a:spcPct val="90000"/>
              </a:lnSpc>
              <a:spcBef>
                <a:spcPts val="38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latin typeface="Cambria"/>
                <a:cs typeface="Cambria"/>
              </a:rPr>
              <a:t>We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can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inherited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attributes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to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keep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track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whether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95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identifier</a:t>
            </a:r>
            <a:r>
              <a:rPr sz="2400" spc="9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appears</a:t>
            </a:r>
            <a:r>
              <a:rPr sz="2400" spc="96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9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9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left</a:t>
            </a:r>
            <a:r>
              <a:rPr sz="2400" spc="95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</a:t>
            </a:r>
            <a:r>
              <a:rPr sz="2400" spc="9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</a:t>
            </a:r>
            <a:r>
              <a:rPr sz="2400" spc="-5" dirty="0">
                <a:latin typeface="Cambria"/>
                <a:cs typeface="Cambria"/>
              </a:rPr>
              <a:t>igh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9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side</a:t>
            </a:r>
            <a:r>
              <a:rPr sz="2400" spc="96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9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</a:t>
            </a:r>
            <a:r>
              <a:rPr sz="2400" spc="-20" dirty="0">
                <a:latin typeface="Cambria"/>
                <a:cs typeface="Cambria"/>
              </a:rPr>
              <a:t> assignment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decide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whether</a:t>
            </a:r>
            <a:r>
              <a:rPr sz="2400" spc="8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address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assignment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needed.</a:t>
            </a:r>
            <a:endParaRPr sz="2400">
              <a:latin typeface="Cambria"/>
              <a:cs typeface="Cambria"/>
            </a:endParaRPr>
          </a:p>
          <a:p>
            <a:pPr marL="194945" marR="6985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inherited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attribute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distributes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type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information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various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identifiers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declaration.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7157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Inherited </a:t>
            </a:r>
            <a:r>
              <a:rPr sz="3600" b="1" spc="-3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46752" y="916432"/>
          <a:ext cx="5250180" cy="318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Production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Semantic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rules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Cambria"/>
                          <a:cs typeface="Cambria"/>
                        </a:rPr>
                        <a:t>D</a:t>
                      </a:r>
                      <a:r>
                        <a:rPr sz="1800" spc="-2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L.in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T.type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0" dirty="0">
                          <a:latin typeface="Cambria"/>
                          <a:cs typeface="Cambria"/>
                        </a:rPr>
                        <a:t>T.Type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integer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real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30" dirty="0">
                          <a:latin typeface="Cambria"/>
                          <a:cs typeface="Cambria"/>
                        </a:rPr>
                        <a:t>T.type=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real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L1,id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L1.in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L.in,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addtype(id.entry,L.in)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addtype(id.entry,L.in)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679316" y="4535246"/>
            <a:ext cx="62071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Symbol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associated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synthesized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attribute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type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Symbol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associated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inherited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attribute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Cambria"/>
                <a:cs typeface="Cambria"/>
              </a:rPr>
              <a:t>in.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71575">
              <a:lnSpc>
                <a:spcPts val="3890"/>
              </a:lnSpc>
            </a:pP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Inherited </a:t>
            </a:r>
            <a:r>
              <a:rPr sz="3600" b="1" spc="-30" dirty="0">
                <a:solidFill>
                  <a:srgbClr val="FFFFFF"/>
                </a:solidFill>
                <a:latin typeface="Cambria"/>
                <a:cs typeface="Cambria"/>
              </a:rPr>
              <a:t>Attribute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23681" y="563244"/>
          <a:ext cx="3603625" cy="3402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92075" marR="1365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Producti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Semantic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rules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Cambria"/>
                          <a:cs typeface="Cambria"/>
                        </a:rPr>
                        <a:t>D</a:t>
                      </a:r>
                      <a:r>
                        <a:rPr sz="1800" spc="-2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L.in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T.type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0" dirty="0">
                          <a:latin typeface="Cambria"/>
                          <a:cs typeface="Cambria"/>
                        </a:rPr>
                        <a:t>T.Type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integer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real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30" dirty="0">
                          <a:latin typeface="Cambria"/>
                          <a:cs typeface="Cambria"/>
                        </a:rPr>
                        <a:t>T.type=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real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L1,id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L1.in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L.in,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addtype(id.entry,L.in)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addtype(id.entry,L.in)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224398" y="1567688"/>
            <a:ext cx="179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7838" y="1954529"/>
            <a:ext cx="2371090" cy="468630"/>
          </a:xfrm>
          <a:custGeom>
            <a:avLst/>
            <a:gdLst/>
            <a:ahLst/>
            <a:cxnLst/>
            <a:rect l="l" t="t" r="r" b="b"/>
            <a:pathLst>
              <a:path w="2371090" h="468630">
                <a:moveTo>
                  <a:pt x="1246632" y="0"/>
                </a:moveTo>
                <a:lnTo>
                  <a:pt x="2370582" y="400050"/>
                </a:lnTo>
              </a:path>
              <a:path w="2371090" h="468630">
                <a:moveTo>
                  <a:pt x="1247775" y="1524"/>
                </a:moveTo>
                <a:lnTo>
                  <a:pt x="0" y="468249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93078" y="2451535"/>
            <a:ext cx="11938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50" dirty="0">
                <a:latin typeface="Corbel"/>
                <a:cs typeface="Corbel"/>
              </a:rPr>
              <a:t>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334" y="3059048"/>
            <a:ext cx="397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orbel"/>
                <a:cs typeface="Corbel"/>
              </a:rPr>
              <a:t>real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31158" y="2849117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25908">
            <a:solidFill>
              <a:srgbClr val="2791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31463" y="2476322"/>
            <a:ext cx="10953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rbel"/>
                <a:cs typeface="Corbel"/>
              </a:rPr>
              <a:t>T</a:t>
            </a:r>
            <a:r>
              <a:rPr sz="2700" spc="-15" baseline="1543" dirty="0">
                <a:latin typeface="Corbel"/>
                <a:cs typeface="Corbel"/>
              </a:rPr>
              <a:t>.type=real</a:t>
            </a:r>
            <a:endParaRPr sz="2700" baseline="1543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9944" y="2382011"/>
            <a:ext cx="1196340" cy="428625"/>
          </a:xfrm>
          <a:custGeom>
            <a:avLst/>
            <a:gdLst/>
            <a:ahLst/>
            <a:cxnLst/>
            <a:rect l="l" t="t" r="r" b="b"/>
            <a:pathLst>
              <a:path w="1196340" h="428625">
                <a:moveTo>
                  <a:pt x="1196340" y="0"/>
                </a:moveTo>
                <a:lnTo>
                  <a:pt x="0" y="0"/>
                </a:lnTo>
                <a:lnTo>
                  <a:pt x="0" y="428244"/>
                </a:lnTo>
                <a:lnTo>
                  <a:pt x="1196340" y="428244"/>
                </a:lnTo>
                <a:lnTo>
                  <a:pt x="11963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83426" y="2399487"/>
            <a:ext cx="851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L.in=real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35552" y="2569464"/>
            <a:ext cx="3721100" cy="930275"/>
            <a:chOff x="4035552" y="2569464"/>
            <a:chExt cx="3721100" cy="930275"/>
          </a:xfrm>
        </p:grpSpPr>
        <p:sp>
          <p:nvSpPr>
            <p:cNvPr id="13" name="object 13"/>
            <p:cNvSpPr/>
            <p:nvPr/>
          </p:nvSpPr>
          <p:spPr>
            <a:xfrm>
              <a:off x="4035552" y="2569463"/>
              <a:ext cx="2460625" cy="884555"/>
            </a:xfrm>
            <a:custGeom>
              <a:avLst/>
              <a:gdLst/>
              <a:ahLst/>
              <a:cxnLst/>
              <a:rect l="l" t="t" r="r" b="b"/>
              <a:pathLst>
                <a:path w="2460625" h="884554">
                  <a:moveTo>
                    <a:pt x="79248" y="821817"/>
                  </a:moveTo>
                  <a:lnTo>
                    <a:pt x="42291" y="800227"/>
                  </a:lnTo>
                  <a:lnTo>
                    <a:pt x="24257" y="778510"/>
                  </a:lnTo>
                  <a:lnTo>
                    <a:pt x="23977" y="777875"/>
                  </a:lnTo>
                  <a:lnTo>
                    <a:pt x="23876" y="777671"/>
                  </a:lnTo>
                  <a:lnTo>
                    <a:pt x="23825" y="777240"/>
                  </a:lnTo>
                  <a:lnTo>
                    <a:pt x="23698" y="777062"/>
                  </a:lnTo>
                  <a:lnTo>
                    <a:pt x="23698" y="776732"/>
                  </a:lnTo>
                  <a:lnTo>
                    <a:pt x="23406" y="775462"/>
                  </a:lnTo>
                  <a:lnTo>
                    <a:pt x="23152" y="774395"/>
                  </a:lnTo>
                  <a:lnTo>
                    <a:pt x="22987" y="773684"/>
                  </a:lnTo>
                  <a:lnTo>
                    <a:pt x="22999" y="772541"/>
                  </a:lnTo>
                  <a:lnTo>
                    <a:pt x="22860" y="770763"/>
                  </a:lnTo>
                  <a:lnTo>
                    <a:pt x="0" y="772541"/>
                  </a:lnTo>
                  <a:lnTo>
                    <a:pt x="88" y="773684"/>
                  </a:lnTo>
                  <a:lnTo>
                    <a:pt x="139" y="774395"/>
                  </a:lnTo>
                  <a:lnTo>
                    <a:pt x="228" y="775462"/>
                  </a:lnTo>
                  <a:lnTo>
                    <a:pt x="330" y="776732"/>
                  </a:lnTo>
                  <a:lnTo>
                    <a:pt x="381" y="777240"/>
                  </a:lnTo>
                  <a:lnTo>
                    <a:pt x="508" y="777875"/>
                  </a:lnTo>
                  <a:lnTo>
                    <a:pt x="635" y="779018"/>
                  </a:lnTo>
                  <a:lnTo>
                    <a:pt x="1778" y="783844"/>
                  </a:lnTo>
                  <a:lnTo>
                    <a:pt x="2032" y="784352"/>
                  </a:lnTo>
                  <a:lnTo>
                    <a:pt x="2209" y="785114"/>
                  </a:lnTo>
                  <a:lnTo>
                    <a:pt x="2413" y="785622"/>
                  </a:lnTo>
                  <a:lnTo>
                    <a:pt x="27432" y="817626"/>
                  </a:lnTo>
                  <a:lnTo>
                    <a:pt x="69469" y="842518"/>
                  </a:lnTo>
                  <a:lnTo>
                    <a:pt x="79248" y="821817"/>
                  </a:lnTo>
                  <a:close/>
                </a:path>
                <a:path w="2460625" h="884554">
                  <a:moveTo>
                    <a:pt x="230251" y="859155"/>
                  </a:moveTo>
                  <a:lnTo>
                    <a:pt x="210439" y="856996"/>
                  </a:lnTo>
                  <a:lnTo>
                    <a:pt x="186436" y="853313"/>
                  </a:lnTo>
                  <a:lnTo>
                    <a:pt x="163322" y="848868"/>
                  </a:lnTo>
                  <a:lnTo>
                    <a:pt x="141605" y="843661"/>
                  </a:lnTo>
                  <a:lnTo>
                    <a:pt x="136271" y="865886"/>
                  </a:lnTo>
                  <a:lnTo>
                    <a:pt x="157988" y="871093"/>
                  </a:lnTo>
                  <a:lnTo>
                    <a:pt x="182118" y="875792"/>
                  </a:lnTo>
                  <a:lnTo>
                    <a:pt x="207010" y="879602"/>
                  </a:lnTo>
                  <a:lnTo>
                    <a:pt x="227711" y="881888"/>
                  </a:lnTo>
                  <a:lnTo>
                    <a:pt x="230251" y="859155"/>
                  </a:lnTo>
                  <a:close/>
                </a:path>
                <a:path w="2460625" h="884554">
                  <a:moveTo>
                    <a:pt x="389001" y="853948"/>
                  </a:moveTo>
                  <a:lnTo>
                    <a:pt x="377698" y="834009"/>
                  </a:lnTo>
                  <a:lnTo>
                    <a:pt x="367792" y="839724"/>
                  </a:lnTo>
                  <a:lnTo>
                    <a:pt x="356108" y="845439"/>
                  </a:lnTo>
                  <a:lnTo>
                    <a:pt x="308864" y="860044"/>
                  </a:lnTo>
                  <a:lnTo>
                    <a:pt x="296037" y="861568"/>
                  </a:lnTo>
                  <a:lnTo>
                    <a:pt x="298831" y="884174"/>
                  </a:lnTo>
                  <a:lnTo>
                    <a:pt x="338582" y="876427"/>
                  </a:lnTo>
                  <a:lnTo>
                    <a:pt x="377825" y="860298"/>
                  </a:lnTo>
                  <a:lnTo>
                    <a:pt x="389001" y="853948"/>
                  </a:lnTo>
                  <a:close/>
                </a:path>
                <a:path w="2460625" h="884554">
                  <a:moveTo>
                    <a:pt x="438912" y="221361"/>
                  </a:moveTo>
                  <a:lnTo>
                    <a:pt x="435356" y="218059"/>
                  </a:lnTo>
                  <a:lnTo>
                    <a:pt x="424180" y="208788"/>
                  </a:lnTo>
                  <a:lnTo>
                    <a:pt x="419823" y="205486"/>
                  </a:lnTo>
                  <a:lnTo>
                    <a:pt x="418642" y="204597"/>
                  </a:lnTo>
                  <a:lnTo>
                    <a:pt x="412623" y="200025"/>
                  </a:lnTo>
                  <a:lnTo>
                    <a:pt x="400939" y="192151"/>
                  </a:lnTo>
                  <a:lnTo>
                    <a:pt x="387731" y="184277"/>
                  </a:lnTo>
                  <a:lnTo>
                    <a:pt x="386969" y="184023"/>
                  </a:lnTo>
                  <a:lnTo>
                    <a:pt x="376135" y="180098"/>
                  </a:lnTo>
                  <a:lnTo>
                    <a:pt x="377113" y="176149"/>
                  </a:lnTo>
                  <a:lnTo>
                    <a:pt x="382905" y="152908"/>
                  </a:lnTo>
                  <a:lnTo>
                    <a:pt x="299720" y="171450"/>
                  </a:lnTo>
                  <a:lnTo>
                    <a:pt x="364490" y="226949"/>
                  </a:lnTo>
                  <a:lnTo>
                    <a:pt x="370598" y="202387"/>
                  </a:lnTo>
                  <a:lnTo>
                    <a:pt x="377825" y="204990"/>
                  </a:lnTo>
                  <a:lnTo>
                    <a:pt x="409448" y="226314"/>
                  </a:lnTo>
                  <a:lnTo>
                    <a:pt x="423418" y="238125"/>
                  </a:lnTo>
                  <a:lnTo>
                    <a:pt x="438912" y="221361"/>
                  </a:lnTo>
                  <a:close/>
                </a:path>
                <a:path w="2460625" h="884554">
                  <a:moveTo>
                    <a:pt x="504698" y="737235"/>
                  </a:moveTo>
                  <a:lnTo>
                    <a:pt x="485013" y="725424"/>
                  </a:lnTo>
                  <a:lnTo>
                    <a:pt x="481584" y="731393"/>
                  </a:lnTo>
                  <a:lnTo>
                    <a:pt x="463550" y="756539"/>
                  </a:lnTo>
                  <a:lnTo>
                    <a:pt x="454025" y="768223"/>
                  </a:lnTo>
                  <a:lnTo>
                    <a:pt x="444246" y="779399"/>
                  </a:lnTo>
                  <a:lnTo>
                    <a:pt x="434086" y="789940"/>
                  </a:lnTo>
                  <a:lnTo>
                    <a:pt x="429768" y="794131"/>
                  </a:lnTo>
                  <a:lnTo>
                    <a:pt x="445516" y="810641"/>
                  </a:lnTo>
                  <a:lnTo>
                    <a:pt x="481330" y="770890"/>
                  </a:lnTo>
                  <a:lnTo>
                    <a:pt x="500126" y="744601"/>
                  </a:lnTo>
                  <a:lnTo>
                    <a:pt x="504698" y="737235"/>
                  </a:lnTo>
                  <a:close/>
                </a:path>
                <a:path w="2460625" h="884554">
                  <a:moveTo>
                    <a:pt x="532638" y="354965"/>
                  </a:moveTo>
                  <a:lnTo>
                    <a:pt x="520446" y="329438"/>
                  </a:lnTo>
                  <a:lnTo>
                    <a:pt x="504444" y="301117"/>
                  </a:lnTo>
                  <a:lnTo>
                    <a:pt x="485902" y="273685"/>
                  </a:lnTo>
                  <a:lnTo>
                    <a:pt x="467741" y="287528"/>
                  </a:lnTo>
                  <a:lnTo>
                    <a:pt x="484632" y="312420"/>
                  </a:lnTo>
                  <a:lnTo>
                    <a:pt x="499872" y="339217"/>
                  </a:lnTo>
                  <a:lnTo>
                    <a:pt x="512064" y="364744"/>
                  </a:lnTo>
                  <a:lnTo>
                    <a:pt x="532638" y="354965"/>
                  </a:lnTo>
                  <a:close/>
                </a:path>
                <a:path w="2460625" h="884554">
                  <a:moveTo>
                    <a:pt x="563753" y="584962"/>
                  </a:moveTo>
                  <a:lnTo>
                    <a:pt x="541147" y="581406"/>
                  </a:lnTo>
                  <a:lnTo>
                    <a:pt x="540588" y="584962"/>
                  </a:lnTo>
                  <a:lnTo>
                    <a:pt x="540512" y="585470"/>
                  </a:lnTo>
                  <a:lnTo>
                    <a:pt x="537210" y="601218"/>
                  </a:lnTo>
                  <a:lnTo>
                    <a:pt x="523748" y="647192"/>
                  </a:lnTo>
                  <a:lnTo>
                    <a:pt x="516128" y="666115"/>
                  </a:lnTo>
                  <a:lnTo>
                    <a:pt x="537210" y="675132"/>
                  </a:lnTo>
                  <a:lnTo>
                    <a:pt x="555244" y="623189"/>
                  </a:lnTo>
                  <a:lnTo>
                    <a:pt x="563664" y="585470"/>
                  </a:lnTo>
                  <a:lnTo>
                    <a:pt x="563753" y="584962"/>
                  </a:lnTo>
                  <a:close/>
                </a:path>
                <a:path w="2460625" h="884554">
                  <a:moveTo>
                    <a:pt x="569087" y="514604"/>
                  </a:moveTo>
                  <a:lnTo>
                    <a:pt x="568845" y="506222"/>
                  </a:lnTo>
                  <a:lnTo>
                    <a:pt x="568833" y="505714"/>
                  </a:lnTo>
                  <a:lnTo>
                    <a:pt x="567791" y="490347"/>
                  </a:lnTo>
                  <a:lnTo>
                    <a:pt x="560070" y="438785"/>
                  </a:lnTo>
                  <a:lnTo>
                    <a:pt x="555879" y="421513"/>
                  </a:lnTo>
                  <a:lnTo>
                    <a:pt x="533908" y="427609"/>
                  </a:lnTo>
                  <a:lnTo>
                    <a:pt x="537591" y="443103"/>
                  </a:lnTo>
                  <a:lnTo>
                    <a:pt x="540639" y="458724"/>
                  </a:lnTo>
                  <a:lnTo>
                    <a:pt x="543052" y="474472"/>
                  </a:lnTo>
                  <a:lnTo>
                    <a:pt x="544830" y="490347"/>
                  </a:lnTo>
                  <a:lnTo>
                    <a:pt x="545934" y="505714"/>
                  </a:lnTo>
                  <a:lnTo>
                    <a:pt x="545973" y="506222"/>
                  </a:lnTo>
                  <a:lnTo>
                    <a:pt x="546201" y="514604"/>
                  </a:lnTo>
                  <a:lnTo>
                    <a:pt x="546227" y="515112"/>
                  </a:lnTo>
                  <a:lnTo>
                    <a:pt x="569087" y="514604"/>
                  </a:lnTo>
                  <a:close/>
                </a:path>
                <a:path w="2460625" h="884554">
                  <a:moveTo>
                    <a:pt x="1114933" y="10287"/>
                  </a:moveTo>
                  <a:lnTo>
                    <a:pt x="1023493" y="9144"/>
                  </a:lnTo>
                  <a:lnTo>
                    <a:pt x="1023239" y="32004"/>
                  </a:lnTo>
                  <a:lnTo>
                    <a:pt x="1114679" y="33147"/>
                  </a:lnTo>
                  <a:lnTo>
                    <a:pt x="1114933" y="10287"/>
                  </a:lnTo>
                  <a:close/>
                </a:path>
                <a:path w="2460625" h="884554">
                  <a:moveTo>
                    <a:pt x="1274953" y="12319"/>
                  </a:moveTo>
                  <a:lnTo>
                    <a:pt x="1183513" y="11176"/>
                  </a:lnTo>
                  <a:lnTo>
                    <a:pt x="1183259" y="34036"/>
                  </a:lnTo>
                  <a:lnTo>
                    <a:pt x="1274699" y="35179"/>
                  </a:lnTo>
                  <a:lnTo>
                    <a:pt x="1274953" y="12319"/>
                  </a:lnTo>
                  <a:close/>
                </a:path>
                <a:path w="2460625" h="884554">
                  <a:moveTo>
                    <a:pt x="1434973" y="14478"/>
                  </a:moveTo>
                  <a:lnTo>
                    <a:pt x="1343533" y="13208"/>
                  </a:lnTo>
                  <a:lnTo>
                    <a:pt x="1343279" y="36068"/>
                  </a:lnTo>
                  <a:lnTo>
                    <a:pt x="1434719" y="37338"/>
                  </a:lnTo>
                  <a:lnTo>
                    <a:pt x="1434973" y="14478"/>
                  </a:lnTo>
                  <a:close/>
                </a:path>
                <a:path w="2460625" h="884554">
                  <a:moveTo>
                    <a:pt x="1594993" y="16510"/>
                  </a:moveTo>
                  <a:lnTo>
                    <a:pt x="1503553" y="15367"/>
                  </a:lnTo>
                  <a:lnTo>
                    <a:pt x="1503299" y="38227"/>
                  </a:lnTo>
                  <a:lnTo>
                    <a:pt x="1594612" y="39370"/>
                  </a:lnTo>
                  <a:lnTo>
                    <a:pt x="1594993" y="16510"/>
                  </a:lnTo>
                  <a:close/>
                </a:path>
                <a:path w="2460625" h="884554">
                  <a:moveTo>
                    <a:pt x="1755013" y="18542"/>
                  </a:moveTo>
                  <a:lnTo>
                    <a:pt x="1663573" y="17399"/>
                  </a:lnTo>
                  <a:lnTo>
                    <a:pt x="1663192" y="40259"/>
                  </a:lnTo>
                  <a:lnTo>
                    <a:pt x="1754632" y="41402"/>
                  </a:lnTo>
                  <a:lnTo>
                    <a:pt x="1755013" y="18542"/>
                  </a:lnTo>
                  <a:close/>
                </a:path>
                <a:path w="2460625" h="884554">
                  <a:moveTo>
                    <a:pt x="1915033" y="20574"/>
                  </a:moveTo>
                  <a:lnTo>
                    <a:pt x="1823593" y="19431"/>
                  </a:lnTo>
                  <a:lnTo>
                    <a:pt x="1823212" y="42291"/>
                  </a:lnTo>
                  <a:lnTo>
                    <a:pt x="1914652" y="43434"/>
                  </a:lnTo>
                  <a:lnTo>
                    <a:pt x="1915033" y="20574"/>
                  </a:lnTo>
                  <a:close/>
                </a:path>
                <a:path w="2460625" h="884554">
                  <a:moveTo>
                    <a:pt x="2074926" y="22606"/>
                  </a:moveTo>
                  <a:lnTo>
                    <a:pt x="1983613" y="21463"/>
                  </a:lnTo>
                  <a:lnTo>
                    <a:pt x="1983232" y="44323"/>
                  </a:lnTo>
                  <a:lnTo>
                    <a:pt x="2074672" y="45466"/>
                  </a:lnTo>
                  <a:lnTo>
                    <a:pt x="2074926" y="22606"/>
                  </a:lnTo>
                  <a:close/>
                </a:path>
                <a:path w="2460625" h="884554">
                  <a:moveTo>
                    <a:pt x="2234946" y="24765"/>
                  </a:moveTo>
                  <a:lnTo>
                    <a:pt x="2143506" y="23495"/>
                  </a:lnTo>
                  <a:lnTo>
                    <a:pt x="2143252" y="46355"/>
                  </a:lnTo>
                  <a:lnTo>
                    <a:pt x="2234692" y="47625"/>
                  </a:lnTo>
                  <a:lnTo>
                    <a:pt x="2234946" y="24765"/>
                  </a:lnTo>
                  <a:close/>
                </a:path>
                <a:path w="2460625" h="884554">
                  <a:moveTo>
                    <a:pt x="2438374" y="49657"/>
                  </a:moveTo>
                  <a:lnTo>
                    <a:pt x="2394712" y="49657"/>
                  </a:lnTo>
                  <a:lnTo>
                    <a:pt x="2384006" y="49657"/>
                  </a:lnTo>
                  <a:lnTo>
                    <a:pt x="2383663" y="76200"/>
                  </a:lnTo>
                  <a:lnTo>
                    <a:pt x="2438374" y="49657"/>
                  </a:lnTo>
                  <a:close/>
                </a:path>
                <a:path w="2460625" h="884554">
                  <a:moveTo>
                    <a:pt x="2460371" y="38989"/>
                  </a:moveTo>
                  <a:lnTo>
                    <a:pt x="2384679" y="0"/>
                  </a:lnTo>
                  <a:lnTo>
                    <a:pt x="2384336" y="25527"/>
                  </a:lnTo>
                  <a:lnTo>
                    <a:pt x="2384323" y="26657"/>
                  </a:lnTo>
                  <a:lnTo>
                    <a:pt x="2384310" y="26797"/>
                  </a:lnTo>
                  <a:lnTo>
                    <a:pt x="2384158" y="38989"/>
                  </a:lnTo>
                  <a:lnTo>
                    <a:pt x="2384056" y="45605"/>
                  </a:lnTo>
                  <a:lnTo>
                    <a:pt x="2384310" y="26797"/>
                  </a:lnTo>
                  <a:lnTo>
                    <a:pt x="2384310" y="26657"/>
                  </a:lnTo>
                  <a:lnTo>
                    <a:pt x="2303526" y="25527"/>
                  </a:lnTo>
                  <a:lnTo>
                    <a:pt x="2303373" y="38989"/>
                  </a:lnTo>
                  <a:lnTo>
                    <a:pt x="2303272" y="48387"/>
                  </a:lnTo>
                  <a:lnTo>
                    <a:pt x="2384018" y="49517"/>
                  </a:lnTo>
                  <a:lnTo>
                    <a:pt x="2394712" y="49517"/>
                  </a:lnTo>
                  <a:lnTo>
                    <a:pt x="2438679" y="49517"/>
                  </a:lnTo>
                  <a:lnTo>
                    <a:pt x="2460371" y="3898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72862" y="2844546"/>
              <a:ext cx="2371090" cy="469900"/>
            </a:xfrm>
            <a:custGeom>
              <a:avLst/>
              <a:gdLst/>
              <a:ahLst/>
              <a:cxnLst/>
              <a:rect l="l" t="t" r="r" b="b"/>
              <a:pathLst>
                <a:path w="2371090" h="469900">
                  <a:moveTo>
                    <a:pt x="1246632" y="0"/>
                  </a:moveTo>
                  <a:lnTo>
                    <a:pt x="2370582" y="400050"/>
                  </a:lnTo>
                </a:path>
                <a:path w="2371090" h="469900">
                  <a:moveTo>
                    <a:pt x="1247774" y="3048"/>
                  </a:moveTo>
                  <a:lnTo>
                    <a:pt x="0" y="469773"/>
                  </a:lnTo>
                </a:path>
              </a:pathLst>
            </a:custGeom>
            <a:ln w="25908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84748" y="3102864"/>
              <a:ext cx="1268095" cy="391795"/>
            </a:xfrm>
            <a:custGeom>
              <a:avLst/>
              <a:gdLst/>
              <a:ahLst/>
              <a:cxnLst/>
              <a:rect l="l" t="t" r="r" b="b"/>
              <a:pathLst>
                <a:path w="1268095" h="391795">
                  <a:moveTo>
                    <a:pt x="1267968" y="0"/>
                  </a:moveTo>
                  <a:lnTo>
                    <a:pt x="0" y="0"/>
                  </a:lnTo>
                  <a:lnTo>
                    <a:pt x="0" y="391667"/>
                  </a:lnTo>
                  <a:lnTo>
                    <a:pt x="1267968" y="391667"/>
                  </a:lnTo>
                  <a:lnTo>
                    <a:pt x="1267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84748" y="3102864"/>
              <a:ext cx="1268095" cy="391795"/>
            </a:xfrm>
            <a:custGeom>
              <a:avLst/>
              <a:gdLst/>
              <a:ahLst/>
              <a:cxnLst/>
              <a:rect l="l" t="t" r="r" b="b"/>
              <a:pathLst>
                <a:path w="1268095" h="391795">
                  <a:moveTo>
                    <a:pt x="0" y="391667"/>
                  </a:moveTo>
                  <a:lnTo>
                    <a:pt x="1267968" y="391667"/>
                  </a:lnTo>
                  <a:lnTo>
                    <a:pt x="1267968" y="0"/>
                  </a:lnTo>
                  <a:lnTo>
                    <a:pt x="0" y="0"/>
                  </a:lnTo>
                  <a:lnTo>
                    <a:pt x="0" y="391667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569709" y="3121914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rbel"/>
                <a:cs typeface="Corbel"/>
              </a:rPr>
              <a:t>,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12017" y="2854388"/>
            <a:ext cx="1911350" cy="892175"/>
            <a:chOff x="4712017" y="2854388"/>
            <a:chExt cx="1911350" cy="892175"/>
          </a:xfrm>
        </p:grpSpPr>
        <p:sp>
          <p:nvSpPr>
            <p:cNvPr id="19" name="object 19"/>
            <p:cNvSpPr/>
            <p:nvPr/>
          </p:nvSpPr>
          <p:spPr>
            <a:xfrm>
              <a:off x="6610350" y="2867406"/>
              <a:ext cx="0" cy="276225"/>
            </a:xfrm>
            <a:custGeom>
              <a:avLst/>
              <a:gdLst/>
              <a:ahLst/>
              <a:cxnLst/>
              <a:rect l="l" t="t" r="r" b="b"/>
              <a:pathLst>
                <a:path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ln w="25908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6779" y="3313176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1197864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1197864" y="428244"/>
                  </a:lnTo>
                  <a:lnTo>
                    <a:pt x="1197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16779" y="3313176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0" y="428244"/>
                  </a:moveTo>
                  <a:lnTo>
                    <a:pt x="1197864" y="428244"/>
                  </a:lnTo>
                  <a:lnTo>
                    <a:pt x="1197864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21478" y="3403146"/>
            <a:ext cx="18732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25" dirty="0">
                <a:latin typeface="Corbel"/>
                <a:cs typeface="Corbel"/>
              </a:rPr>
              <a:t>L</a:t>
            </a:r>
            <a:r>
              <a:rPr sz="1800" spc="-37" baseline="-20833" dirty="0">
                <a:latin typeface="Corbel"/>
                <a:cs typeface="Corbel"/>
              </a:rPr>
              <a:t>1</a:t>
            </a:r>
            <a:endParaRPr sz="1800" baseline="-20833">
              <a:latin typeface="Corbel"/>
              <a:cs typeface="Corbe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40033" y="3316033"/>
            <a:ext cx="1207770" cy="438150"/>
            <a:chOff x="4840033" y="3316033"/>
            <a:chExt cx="1207770" cy="438150"/>
          </a:xfrm>
        </p:grpSpPr>
        <p:sp>
          <p:nvSpPr>
            <p:cNvPr id="24" name="object 24"/>
            <p:cNvSpPr/>
            <p:nvPr/>
          </p:nvSpPr>
          <p:spPr>
            <a:xfrm>
              <a:off x="4844796" y="3320796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1197864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1197864" y="428243"/>
                  </a:lnTo>
                  <a:lnTo>
                    <a:pt x="1197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44796" y="3320796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0" y="428243"/>
                  </a:moveTo>
                  <a:lnTo>
                    <a:pt x="1197864" y="428243"/>
                  </a:lnTo>
                  <a:lnTo>
                    <a:pt x="1197864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19294" y="3339210"/>
            <a:ext cx="85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L.in=real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63002" y="3368475"/>
            <a:ext cx="1765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25" dirty="0">
                <a:latin typeface="Corbel"/>
                <a:cs typeface="Corbel"/>
              </a:rPr>
              <a:t>id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11688" y="3780980"/>
            <a:ext cx="2398395" cy="668020"/>
            <a:chOff x="4111688" y="3780980"/>
            <a:chExt cx="2398395" cy="668020"/>
          </a:xfrm>
        </p:grpSpPr>
        <p:sp>
          <p:nvSpPr>
            <p:cNvPr id="29" name="object 29"/>
            <p:cNvSpPr/>
            <p:nvPr/>
          </p:nvSpPr>
          <p:spPr>
            <a:xfrm>
              <a:off x="4124706" y="3793997"/>
              <a:ext cx="2372360" cy="468630"/>
            </a:xfrm>
            <a:custGeom>
              <a:avLst/>
              <a:gdLst/>
              <a:ahLst/>
              <a:cxnLst/>
              <a:rect l="l" t="t" r="r" b="b"/>
              <a:pathLst>
                <a:path w="2372360" h="468629">
                  <a:moveTo>
                    <a:pt x="1248156" y="0"/>
                  </a:moveTo>
                  <a:lnTo>
                    <a:pt x="2372106" y="400050"/>
                  </a:lnTo>
                </a:path>
                <a:path w="2372360" h="468629">
                  <a:moveTo>
                    <a:pt x="1247775" y="1524"/>
                  </a:moveTo>
                  <a:lnTo>
                    <a:pt x="0" y="468249"/>
                  </a:lnTo>
                </a:path>
              </a:pathLst>
            </a:custGeom>
            <a:ln w="25908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36592" y="4052315"/>
              <a:ext cx="1270000" cy="391795"/>
            </a:xfrm>
            <a:custGeom>
              <a:avLst/>
              <a:gdLst/>
              <a:ahLst/>
              <a:cxnLst/>
              <a:rect l="l" t="t" r="r" b="b"/>
              <a:pathLst>
                <a:path w="1270000" h="391795">
                  <a:moveTo>
                    <a:pt x="1269491" y="0"/>
                  </a:moveTo>
                  <a:lnTo>
                    <a:pt x="0" y="0"/>
                  </a:lnTo>
                  <a:lnTo>
                    <a:pt x="0" y="391668"/>
                  </a:lnTo>
                  <a:lnTo>
                    <a:pt x="1269491" y="391668"/>
                  </a:lnTo>
                  <a:lnTo>
                    <a:pt x="1269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36592" y="4052315"/>
              <a:ext cx="1270000" cy="391795"/>
            </a:xfrm>
            <a:custGeom>
              <a:avLst/>
              <a:gdLst/>
              <a:ahLst/>
              <a:cxnLst/>
              <a:rect l="l" t="t" r="r" b="b"/>
              <a:pathLst>
                <a:path w="1270000" h="391795">
                  <a:moveTo>
                    <a:pt x="0" y="391668"/>
                  </a:moveTo>
                  <a:lnTo>
                    <a:pt x="1269491" y="391668"/>
                  </a:lnTo>
                  <a:lnTo>
                    <a:pt x="1269491" y="0"/>
                  </a:lnTo>
                  <a:lnTo>
                    <a:pt x="0" y="0"/>
                  </a:lnTo>
                  <a:lnTo>
                    <a:pt x="0" y="39166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22189" y="4070984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rbel"/>
                <a:cs typeface="Corbel"/>
              </a:rPr>
              <a:t>,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552253" y="3773360"/>
            <a:ext cx="1840230" cy="953135"/>
            <a:chOff x="3552253" y="3773360"/>
            <a:chExt cx="1840230" cy="953135"/>
          </a:xfrm>
        </p:grpSpPr>
        <p:sp>
          <p:nvSpPr>
            <p:cNvPr id="34" name="object 34"/>
            <p:cNvSpPr/>
            <p:nvPr/>
          </p:nvSpPr>
          <p:spPr>
            <a:xfrm>
              <a:off x="5378957" y="3786377"/>
              <a:ext cx="0" cy="276225"/>
            </a:xfrm>
            <a:custGeom>
              <a:avLst/>
              <a:gdLst/>
              <a:ahLst/>
              <a:cxnLst/>
              <a:rect l="l" t="t" r="r" b="b"/>
              <a:pathLst>
                <a:path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ln w="25908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57015" y="4293107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1197864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1197864" y="428244"/>
                  </a:lnTo>
                  <a:lnTo>
                    <a:pt x="1197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57015" y="4293107"/>
              <a:ext cx="1198245" cy="428625"/>
            </a:xfrm>
            <a:custGeom>
              <a:avLst/>
              <a:gdLst/>
              <a:ahLst/>
              <a:cxnLst/>
              <a:rect l="l" t="t" r="r" b="b"/>
              <a:pathLst>
                <a:path w="1198245" h="428625">
                  <a:moveTo>
                    <a:pt x="0" y="428244"/>
                  </a:moveTo>
                  <a:lnTo>
                    <a:pt x="1197864" y="428244"/>
                  </a:lnTo>
                  <a:lnTo>
                    <a:pt x="1197864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62984" y="4382823"/>
            <a:ext cx="18732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25" dirty="0">
                <a:latin typeface="Corbel"/>
                <a:cs typeface="Corbel"/>
              </a:rPr>
              <a:t>L</a:t>
            </a:r>
            <a:r>
              <a:rPr sz="1800" spc="-37" baseline="-20833" dirty="0">
                <a:latin typeface="Corbel"/>
                <a:cs typeface="Corbel"/>
              </a:rPr>
              <a:t>1</a:t>
            </a:r>
            <a:endParaRPr sz="1800" baseline="-20833">
              <a:latin typeface="Corbel"/>
              <a:cs typeface="Corbe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639121" y="4265485"/>
            <a:ext cx="1205865" cy="438150"/>
            <a:chOff x="3639121" y="4265485"/>
            <a:chExt cx="1205865" cy="438150"/>
          </a:xfrm>
        </p:grpSpPr>
        <p:sp>
          <p:nvSpPr>
            <p:cNvPr id="39" name="object 39"/>
            <p:cNvSpPr/>
            <p:nvPr/>
          </p:nvSpPr>
          <p:spPr>
            <a:xfrm>
              <a:off x="3643884" y="4270247"/>
              <a:ext cx="1196340" cy="428625"/>
            </a:xfrm>
            <a:custGeom>
              <a:avLst/>
              <a:gdLst/>
              <a:ahLst/>
              <a:cxnLst/>
              <a:rect l="l" t="t" r="r" b="b"/>
              <a:pathLst>
                <a:path w="1196339" h="428625">
                  <a:moveTo>
                    <a:pt x="1196339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1196339" y="428244"/>
                  </a:lnTo>
                  <a:lnTo>
                    <a:pt x="1196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43884" y="4270247"/>
              <a:ext cx="1196340" cy="428625"/>
            </a:xfrm>
            <a:custGeom>
              <a:avLst/>
              <a:gdLst/>
              <a:ahLst/>
              <a:cxnLst/>
              <a:rect l="l" t="t" r="r" b="b"/>
              <a:pathLst>
                <a:path w="1196339" h="428625">
                  <a:moveTo>
                    <a:pt x="0" y="428244"/>
                  </a:moveTo>
                  <a:lnTo>
                    <a:pt x="1196339" y="428244"/>
                  </a:lnTo>
                  <a:lnTo>
                    <a:pt x="1196339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817111" y="4288663"/>
            <a:ext cx="85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L.in=real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08673" y="4315160"/>
            <a:ext cx="17653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25" dirty="0">
                <a:latin typeface="Corbel"/>
                <a:cs typeface="Corbel"/>
              </a:rPr>
              <a:t>id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45584" y="5040303"/>
            <a:ext cx="1765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25" dirty="0">
                <a:latin typeface="Corbel"/>
                <a:cs typeface="Corbel"/>
              </a:rPr>
              <a:t>id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868165" y="2699004"/>
            <a:ext cx="4212590" cy="2571750"/>
            <a:chOff x="3868165" y="2699004"/>
            <a:chExt cx="4212590" cy="2571750"/>
          </a:xfrm>
        </p:grpSpPr>
        <p:sp>
          <p:nvSpPr>
            <p:cNvPr id="45" name="object 45"/>
            <p:cNvSpPr/>
            <p:nvPr/>
          </p:nvSpPr>
          <p:spPr>
            <a:xfrm>
              <a:off x="4124705" y="4714494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4">
                  <a:moveTo>
                    <a:pt x="0" y="0"/>
                  </a:moveTo>
                  <a:lnTo>
                    <a:pt x="0" y="243077"/>
                  </a:lnTo>
                </a:path>
              </a:pathLst>
            </a:custGeom>
            <a:ln w="25907">
              <a:solidFill>
                <a:srgbClr val="279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68166" y="2699003"/>
              <a:ext cx="3725545" cy="2571750"/>
            </a:xfrm>
            <a:custGeom>
              <a:avLst/>
              <a:gdLst/>
              <a:ahLst/>
              <a:cxnLst/>
              <a:rect l="l" t="t" r="r" b="b"/>
              <a:pathLst>
                <a:path w="3725545" h="2571750">
                  <a:moveTo>
                    <a:pt x="74930" y="1527175"/>
                  </a:moveTo>
                  <a:lnTo>
                    <a:pt x="0" y="1513078"/>
                  </a:lnTo>
                  <a:lnTo>
                    <a:pt x="23368" y="1594993"/>
                  </a:lnTo>
                  <a:lnTo>
                    <a:pt x="74930" y="1527175"/>
                  </a:lnTo>
                  <a:close/>
                </a:path>
                <a:path w="3725545" h="2571750">
                  <a:moveTo>
                    <a:pt x="95377" y="1441831"/>
                  </a:moveTo>
                  <a:lnTo>
                    <a:pt x="77343" y="1427734"/>
                  </a:lnTo>
                  <a:lnTo>
                    <a:pt x="72644" y="1433830"/>
                  </a:lnTo>
                  <a:lnTo>
                    <a:pt x="62484" y="1448054"/>
                  </a:lnTo>
                  <a:lnTo>
                    <a:pt x="53213" y="1462278"/>
                  </a:lnTo>
                  <a:lnTo>
                    <a:pt x="44831" y="1476629"/>
                  </a:lnTo>
                  <a:lnTo>
                    <a:pt x="37338" y="1490980"/>
                  </a:lnTo>
                  <a:lnTo>
                    <a:pt x="30734" y="1505585"/>
                  </a:lnTo>
                  <a:lnTo>
                    <a:pt x="30480" y="1506093"/>
                  </a:lnTo>
                  <a:lnTo>
                    <a:pt x="30353" y="1506728"/>
                  </a:lnTo>
                  <a:lnTo>
                    <a:pt x="30099" y="1507236"/>
                  </a:lnTo>
                  <a:lnTo>
                    <a:pt x="29337" y="1510411"/>
                  </a:lnTo>
                  <a:lnTo>
                    <a:pt x="51435" y="1516380"/>
                  </a:lnTo>
                  <a:lnTo>
                    <a:pt x="51777" y="1514983"/>
                  </a:lnTo>
                  <a:lnTo>
                    <a:pt x="52057" y="1513890"/>
                  </a:lnTo>
                  <a:lnTo>
                    <a:pt x="51562" y="1514983"/>
                  </a:lnTo>
                  <a:lnTo>
                    <a:pt x="52197" y="1513332"/>
                  </a:lnTo>
                  <a:lnTo>
                    <a:pt x="52412" y="1513078"/>
                  </a:lnTo>
                  <a:lnTo>
                    <a:pt x="57658" y="1501521"/>
                  </a:lnTo>
                  <a:lnTo>
                    <a:pt x="64643" y="1488186"/>
                  </a:lnTo>
                  <a:lnTo>
                    <a:pt x="72390" y="1474724"/>
                  </a:lnTo>
                  <a:lnTo>
                    <a:pt x="81026" y="1461262"/>
                  </a:lnTo>
                  <a:lnTo>
                    <a:pt x="90576" y="1448054"/>
                  </a:lnTo>
                  <a:lnTo>
                    <a:pt x="95377" y="1441831"/>
                  </a:lnTo>
                  <a:close/>
                </a:path>
                <a:path w="3725545" h="2571750">
                  <a:moveTo>
                    <a:pt x="208788" y="1333754"/>
                  </a:moveTo>
                  <a:lnTo>
                    <a:pt x="194945" y="1315593"/>
                  </a:lnTo>
                  <a:lnTo>
                    <a:pt x="182626" y="1324991"/>
                  </a:lnTo>
                  <a:lnTo>
                    <a:pt x="166243" y="1338072"/>
                  </a:lnTo>
                  <a:lnTo>
                    <a:pt x="150495" y="1351407"/>
                  </a:lnTo>
                  <a:lnTo>
                    <a:pt x="135636" y="1364742"/>
                  </a:lnTo>
                  <a:lnTo>
                    <a:pt x="124333" y="1375664"/>
                  </a:lnTo>
                  <a:lnTo>
                    <a:pt x="140208" y="1392174"/>
                  </a:lnTo>
                  <a:lnTo>
                    <a:pt x="150876" y="1381887"/>
                  </a:lnTo>
                  <a:lnTo>
                    <a:pt x="165354" y="1368806"/>
                  </a:lnTo>
                  <a:lnTo>
                    <a:pt x="180467" y="1355979"/>
                  </a:lnTo>
                  <a:lnTo>
                    <a:pt x="196469" y="1343152"/>
                  </a:lnTo>
                  <a:lnTo>
                    <a:pt x="208788" y="1333754"/>
                  </a:lnTo>
                  <a:close/>
                </a:path>
                <a:path w="3725545" h="2571750">
                  <a:moveTo>
                    <a:pt x="342519" y="1249299"/>
                  </a:moveTo>
                  <a:lnTo>
                    <a:pt x="331470" y="1229233"/>
                  </a:lnTo>
                  <a:lnTo>
                    <a:pt x="316611" y="1237361"/>
                  </a:lnTo>
                  <a:lnTo>
                    <a:pt x="295529" y="1249299"/>
                  </a:lnTo>
                  <a:lnTo>
                    <a:pt x="275082" y="1261618"/>
                  </a:lnTo>
                  <a:lnTo>
                    <a:pt x="255270" y="1273937"/>
                  </a:lnTo>
                  <a:lnTo>
                    <a:pt x="251968" y="1276096"/>
                  </a:lnTo>
                  <a:lnTo>
                    <a:pt x="264414" y="1295146"/>
                  </a:lnTo>
                  <a:lnTo>
                    <a:pt x="267335" y="1293241"/>
                  </a:lnTo>
                  <a:lnTo>
                    <a:pt x="286766" y="1281176"/>
                  </a:lnTo>
                  <a:lnTo>
                    <a:pt x="306705" y="1269238"/>
                  </a:lnTo>
                  <a:lnTo>
                    <a:pt x="327533" y="1257427"/>
                  </a:lnTo>
                  <a:lnTo>
                    <a:pt x="342519" y="1249299"/>
                  </a:lnTo>
                  <a:close/>
                </a:path>
                <a:path w="3725545" h="2571750">
                  <a:moveTo>
                    <a:pt x="485902" y="1181354"/>
                  </a:moveTo>
                  <a:lnTo>
                    <a:pt x="477139" y="1160272"/>
                  </a:lnTo>
                  <a:lnTo>
                    <a:pt x="455041" y="1169543"/>
                  </a:lnTo>
                  <a:lnTo>
                    <a:pt x="406781" y="1191260"/>
                  </a:lnTo>
                  <a:lnTo>
                    <a:pt x="393065" y="1197737"/>
                  </a:lnTo>
                  <a:lnTo>
                    <a:pt x="402971" y="1218438"/>
                  </a:lnTo>
                  <a:lnTo>
                    <a:pt x="416052" y="1212088"/>
                  </a:lnTo>
                  <a:lnTo>
                    <a:pt x="463804" y="1190625"/>
                  </a:lnTo>
                  <a:lnTo>
                    <a:pt x="485902" y="1181354"/>
                  </a:lnTo>
                  <a:close/>
                </a:path>
                <a:path w="3725545" h="2571750">
                  <a:moveTo>
                    <a:pt x="635000" y="1126236"/>
                  </a:moveTo>
                  <a:lnTo>
                    <a:pt x="628142" y="1104392"/>
                  </a:lnTo>
                  <a:lnTo>
                    <a:pt x="611759" y="1109599"/>
                  </a:lnTo>
                  <a:lnTo>
                    <a:pt x="557657" y="1128649"/>
                  </a:lnTo>
                  <a:lnTo>
                    <a:pt x="541274" y="1134872"/>
                  </a:lnTo>
                  <a:lnTo>
                    <a:pt x="549402" y="1156208"/>
                  </a:lnTo>
                  <a:lnTo>
                    <a:pt x="565277" y="1150112"/>
                  </a:lnTo>
                  <a:lnTo>
                    <a:pt x="618744" y="1131443"/>
                  </a:lnTo>
                  <a:lnTo>
                    <a:pt x="635000" y="1126236"/>
                  </a:lnTo>
                  <a:close/>
                </a:path>
                <a:path w="3725545" h="2571750">
                  <a:moveTo>
                    <a:pt x="719455" y="2528951"/>
                  </a:moveTo>
                  <a:lnTo>
                    <a:pt x="703326" y="2524633"/>
                  </a:lnTo>
                  <a:lnTo>
                    <a:pt x="682879" y="2517902"/>
                  </a:lnTo>
                  <a:lnTo>
                    <a:pt x="666127" y="2511552"/>
                  </a:lnTo>
                  <a:lnTo>
                    <a:pt x="664870" y="2511082"/>
                  </a:lnTo>
                  <a:lnTo>
                    <a:pt x="664032" y="2510536"/>
                  </a:lnTo>
                  <a:lnTo>
                    <a:pt x="652462" y="2503055"/>
                  </a:lnTo>
                  <a:lnTo>
                    <a:pt x="661200" y="2494534"/>
                  </a:lnTo>
                  <a:lnTo>
                    <a:pt x="669290" y="2486660"/>
                  </a:lnTo>
                  <a:lnTo>
                    <a:pt x="588772" y="2458720"/>
                  </a:lnTo>
                  <a:lnTo>
                    <a:pt x="614680" y="2539873"/>
                  </a:lnTo>
                  <a:lnTo>
                    <a:pt x="635622" y="2519464"/>
                  </a:lnTo>
                  <a:lnTo>
                    <a:pt x="653161" y="2530729"/>
                  </a:lnTo>
                  <a:lnTo>
                    <a:pt x="653796" y="2531249"/>
                  </a:lnTo>
                  <a:lnTo>
                    <a:pt x="654558" y="2531630"/>
                  </a:lnTo>
                  <a:lnTo>
                    <a:pt x="655320" y="2531872"/>
                  </a:lnTo>
                  <a:lnTo>
                    <a:pt x="674751" y="2539238"/>
                  </a:lnTo>
                  <a:lnTo>
                    <a:pt x="696341" y="2546350"/>
                  </a:lnTo>
                  <a:lnTo>
                    <a:pt x="713359" y="2551049"/>
                  </a:lnTo>
                  <a:lnTo>
                    <a:pt x="719455" y="2528951"/>
                  </a:lnTo>
                  <a:close/>
                </a:path>
                <a:path w="3725545" h="2571750">
                  <a:moveTo>
                    <a:pt x="788162" y="1081786"/>
                  </a:moveTo>
                  <a:lnTo>
                    <a:pt x="782320" y="1059688"/>
                  </a:lnTo>
                  <a:lnTo>
                    <a:pt x="724662" y="1075055"/>
                  </a:lnTo>
                  <a:lnTo>
                    <a:pt x="693928" y="1084072"/>
                  </a:lnTo>
                  <a:lnTo>
                    <a:pt x="700278" y="1106043"/>
                  </a:lnTo>
                  <a:lnTo>
                    <a:pt x="730631" y="1097153"/>
                  </a:lnTo>
                  <a:lnTo>
                    <a:pt x="788162" y="1081786"/>
                  </a:lnTo>
                  <a:close/>
                </a:path>
                <a:path w="3725545" h="2571750">
                  <a:moveTo>
                    <a:pt x="874903" y="2548890"/>
                  </a:moveTo>
                  <a:lnTo>
                    <a:pt x="850519" y="2548382"/>
                  </a:lnTo>
                  <a:lnTo>
                    <a:pt x="824230" y="2546731"/>
                  </a:lnTo>
                  <a:lnTo>
                    <a:pt x="798322" y="2544064"/>
                  </a:lnTo>
                  <a:lnTo>
                    <a:pt x="785241" y="2542159"/>
                  </a:lnTo>
                  <a:lnTo>
                    <a:pt x="781939" y="2564765"/>
                  </a:lnTo>
                  <a:lnTo>
                    <a:pt x="795020" y="2566670"/>
                  </a:lnTo>
                  <a:lnTo>
                    <a:pt x="821817" y="2569464"/>
                  </a:lnTo>
                  <a:lnTo>
                    <a:pt x="848995" y="2571242"/>
                  </a:lnTo>
                  <a:lnTo>
                    <a:pt x="874522" y="2571750"/>
                  </a:lnTo>
                  <a:lnTo>
                    <a:pt x="874903" y="2548890"/>
                  </a:lnTo>
                  <a:close/>
                </a:path>
                <a:path w="3725545" h="2571750">
                  <a:moveTo>
                    <a:pt x="943737" y="1047877"/>
                  </a:moveTo>
                  <a:lnTo>
                    <a:pt x="939419" y="1025398"/>
                  </a:lnTo>
                  <a:lnTo>
                    <a:pt x="904367" y="1032002"/>
                  </a:lnTo>
                  <a:lnTo>
                    <a:pt x="849630" y="1043686"/>
                  </a:lnTo>
                  <a:lnTo>
                    <a:pt x="854329" y="1066038"/>
                  </a:lnTo>
                  <a:lnTo>
                    <a:pt x="908558" y="1054481"/>
                  </a:lnTo>
                  <a:lnTo>
                    <a:pt x="943737" y="1047877"/>
                  </a:lnTo>
                  <a:close/>
                </a:path>
                <a:path w="3725545" h="2571750">
                  <a:moveTo>
                    <a:pt x="1000633" y="1886204"/>
                  </a:moveTo>
                  <a:lnTo>
                    <a:pt x="961898" y="1865503"/>
                  </a:lnTo>
                  <a:lnTo>
                    <a:pt x="920242" y="1851914"/>
                  </a:lnTo>
                  <a:lnTo>
                    <a:pt x="912622" y="1850517"/>
                  </a:lnTo>
                  <a:lnTo>
                    <a:pt x="908431" y="1872996"/>
                  </a:lnTo>
                  <a:lnTo>
                    <a:pt x="914527" y="1874012"/>
                  </a:lnTo>
                  <a:lnTo>
                    <a:pt x="927227" y="1877314"/>
                  </a:lnTo>
                  <a:lnTo>
                    <a:pt x="964438" y="1891919"/>
                  </a:lnTo>
                  <a:lnTo>
                    <a:pt x="988822" y="1905762"/>
                  </a:lnTo>
                  <a:lnTo>
                    <a:pt x="1000633" y="1886204"/>
                  </a:lnTo>
                  <a:close/>
                </a:path>
                <a:path w="3725545" h="2571750">
                  <a:moveTo>
                    <a:pt x="1028446" y="2512695"/>
                  </a:moveTo>
                  <a:lnTo>
                    <a:pt x="1013841" y="2495181"/>
                  </a:lnTo>
                  <a:lnTo>
                    <a:pt x="1012571" y="2496185"/>
                  </a:lnTo>
                  <a:lnTo>
                    <a:pt x="1000887" y="2504948"/>
                  </a:lnTo>
                  <a:lnTo>
                    <a:pt x="964819" y="2526665"/>
                  </a:lnTo>
                  <a:lnTo>
                    <a:pt x="938403" y="2537968"/>
                  </a:lnTo>
                  <a:lnTo>
                    <a:pt x="945515" y="2559685"/>
                  </a:lnTo>
                  <a:lnTo>
                    <a:pt x="987806" y="2540254"/>
                  </a:lnTo>
                  <a:lnTo>
                    <a:pt x="1026287" y="2514473"/>
                  </a:lnTo>
                  <a:lnTo>
                    <a:pt x="1028446" y="2512695"/>
                  </a:lnTo>
                  <a:close/>
                </a:path>
                <a:path w="3725545" h="2571750">
                  <a:moveTo>
                    <a:pt x="1085723" y="1764411"/>
                  </a:moveTo>
                  <a:lnTo>
                    <a:pt x="994283" y="1763268"/>
                  </a:lnTo>
                  <a:lnTo>
                    <a:pt x="994029" y="1786128"/>
                  </a:lnTo>
                  <a:lnTo>
                    <a:pt x="1085469" y="1787271"/>
                  </a:lnTo>
                  <a:lnTo>
                    <a:pt x="1085723" y="1764411"/>
                  </a:lnTo>
                  <a:close/>
                </a:path>
                <a:path w="3725545" h="2571750">
                  <a:moveTo>
                    <a:pt x="1100963" y="1023112"/>
                  </a:moveTo>
                  <a:lnTo>
                    <a:pt x="1098359" y="1001014"/>
                  </a:lnTo>
                  <a:lnTo>
                    <a:pt x="1098296" y="1000379"/>
                  </a:lnTo>
                  <a:lnTo>
                    <a:pt x="1093089" y="1001014"/>
                  </a:lnTo>
                  <a:lnTo>
                    <a:pt x="1029335" y="1009904"/>
                  </a:lnTo>
                  <a:lnTo>
                    <a:pt x="1007237" y="1013460"/>
                  </a:lnTo>
                  <a:lnTo>
                    <a:pt x="1010920" y="1036066"/>
                  </a:lnTo>
                  <a:lnTo>
                    <a:pt x="1032510" y="1032510"/>
                  </a:lnTo>
                  <a:lnTo>
                    <a:pt x="1095629" y="1023620"/>
                  </a:lnTo>
                  <a:lnTo>
                    <a:pt x="1100963" y="1023112"/>
                  </a:lnTo>
                  <a:close/>
                </a:path>
                <a:path w="3725545" h="2571750">
                  <a:moveTo>
                    <a:pt x="1114298" y="2004314"/>
                  </a:moveTo>
                  <a:lnTo>
                    <a:pt x="1083818" y="1961388"/>
                  </a:lnTo>
                  <a:lnTo>
                    <a:pt x="1056005" y="1930781"/>
                  </a:lnTo>
                  <a:lnTo>
                    <a:pt x="1040003" y="1947164"/>
                  </a:lnTo>
                  <a:lnTo>
                    <a:pt x="1045337" y="1952371"/>
                  </a:lnTo>
                  <a:lnTo>
                    <a:pt x="1055751" y="1963547"/>
                  </a:lnTo>
                  <a:lnTo>
                    <a:pt x="1065657" y="1975104"/>
                  </a:lnTo>
                  <a:lnTo>
                    <a:pt x="1084453" y="1999996"/>
                  </a:lnTo>
                  <a:lnTo>
                    <a:pt x="1094994" y="2016633"/>
                  </a:lnTo>
                  <a:lnTo>
                    <a:pt x="1114298" y="2004314"/>
                  </a:lnTo>
                  <a:close/>
                </a:path>
                <a:path w="3725545" h="2571750">
                  <a:moveTo>
                    <a:pt x="1131189" y="2385441"/>
                  </a:moveTo>
                  <a:lnTo>
                    <a:pt x="1110742" y="2375281"/>
                  </a:lnTo>
                  <a:lnTo>
                    <a:pt x="1109472" y="2377821"/>
                  </a:lnTo>
                  <a:lnTo>
                    <a:pt x="1101852" y="2391537"/>
                  </a:lnTo>
                  <a:lnTo>
                    <a:pt x="1084961" y="2418207"/>
                  </a:lnTo>
                  <a:lnTo>
                    <a:pt x="1066038" y="2443353"/>
                  </a:lnTo>
                  <a:lnTo>
                    <a:pt x="1061466" y="2448687"/>
                  </a:lnTo>
                  <a:lnTo>
                    <a:pt x="1078865" y="2463546"/>
                  </a:lnTo>
                  <a:lnTo>
                    <a:pt x="1083437" y="2458212"/>
                  </a:lnTo>
                  <a:lnTo>
                    <a:pt x="1103249" y="2431923"/>
                  </a:lnTo>
                  <a:lnTo>
                    <a:pt x="1121156" y="2403729"/>
                  </a:lnTo>
                  <a:lnTo>
                    <a:pt x="1129538" y="2388870"/>
                  </a:lnTo>
                  <a:lnTo>
                    <a:pt x="1131189" y="2385441"/>
                  </a:lnTo>
                  <a:close/>
                </a:path>
                <a:path w="3725545" h="2571750">
                  <a:moveTo>
                    <a:pt x="1171956" y="2157222"/>
                  </a:moveTo>
                  <a:lnTo>
                    <a:pt x="1161542" y="2109089"/>
                  </a:lnTo>
                  <a:lnTo>
                    <a:pt x="1146683" y="2066925"/>
                  </a:lnTo>
                  <a:lnTo>
                    <a:pt x="1125474" y="2075561"/>
                  </a:lnTo>
                  <a:lnTo>
                    <a:pt x="1129157" y="2084578"/>
                  </a:lnTo>
                  <a:lnTo>
                    <a:pt x="1134618" y="2099564"/>
                  </a:lnTo>
                  <a:lnTo>
                    <a:pt x="1139444" y="2114931"/>
                  </a:lnTo>
                  <a:lnTo>
                    <a:pt x="1143508" y="2130425"/>
                  </a:lnTo>
                  <a:lnTo>
                    <a:pt x="1146937" y="2146046"/>
                  </a:lnTo>
                  <a:lnTo>
                    <a:pt x="1149477" y="2161032"/>
                  </a:lnTo>
                  <a:lnTo>
                    <a:pt x="1171956" y="2157222"/>
                  </a:lnTo>
                  <a:close/>
                </a:path>
                <a:path w="3725545" h="2571750">
                  <a:moveTo>
                    <a:pt x="1175512" y="2228342"/>
                  </a:moveTo>
                  <a:lnTo>
                    <a:pt x="1152779" y="2226564"/>
                  </a:lnTo>
                  <a:lnTo>
                    <a:pt x="1151636" y="2240915"/>
                  </a:lnTo>
                  <a:lnTo>
                    <a:pt x="1149731" y="2256790"/>
                  </a:lnTo>
                  <a:lnTo>
                    <a:pt x="1147064" y="2272538"/>
                  </a:lnTo>
                  <a:lnTo>
                    <a:pt x="1143635" y="2288159"/>
                  </a:lnTo>
                  <a:lnTo>
                    <a:pt x="1139571" y="2303653"/>
                  </a:lnTo>
                  <a:lnTo>
                    <a:pt x="1136396" y="2313686"/>
                  </a:lnTo>
                  <a:lnTo>
                    <a:pt x="1158240" y="2320544"/>
                  </a:lnTo>
                  <a:lnTo>
                    <a:pt x="1169289" y="2277364"/>
                  </a:lnTo>
                  <a:lnTo>
                    <a:pt x="1174369" y="2243836"/>
                  </a:lnTo>
                  <a:lnTo>
                    <a:pt x="1175512" y="2228342"/>
                  </a:lnTo>
                  <a:close/>
                </a:path>
                <a:path w="3725545" h="2571750">
                  <a:moveTo>
                    <a:pt x="1245743" y="1766443"/>
                  </a:moveTo>
                  <a:lnTo>
                    <a:pt x="1154303" y="1765300"/>
                  </a:lnTo>
                  <a:lnTo>
                    <a:pt x="1154049" y="1788160"/>
                  </a:lnTo>
                  <a:lnTo>
                    <a:pt x="1245489" y="1789303"/>
                  </a:lnTo>
                  <a:lnTo>
                    <a:pt x="1245743" y="1766443"/>
                  </a:lnTo>
                  <a:close/>
                </a:path>
                <a:path w="3725545" h="2571750">
                  <a:moveTo>
                    <a:pt x="1259586" y="1008126"/>
                  </a:moveTo>
                  <a:lnTo>
                    <a:pt x="1258189" y="985266"/>
                  </a:lnTo>
                  <a:lnTo>
                    <a:pt x="1222375" y="987679"/>
                  </a:lnTo>
                  <a:lnTo>
                    <a:pt x="1166749" y="992632"/>
                  </a:lnTo>
                  <a:lnTo>
                    <a:pt x="1168781" y="1015492"/>
                  </a:lnTo>
                  <a:lnTo>
                    <a:pt x="1223899" y="1010539"/>
                  </a:lnTo>
                  <a:lnTo>
                    <a:pt x="1259586" y="1008126"/>
                  </a:lnTo>
                  <a:close/>
                </a:path>
                <a:path w="3725545" h="2571750">
                  <a:moveTo>
                    <a:pt x="1405763" y="1768602"/>
                  </a:moveTo>
                  <a:lnTo>
                    <a:pt x="1314323" y="1767332"/>
                  </a:lnTo>
                  <a:lnTo>
                    <a:pt x="1314069" y="1790192"/>
                  </a:lnTo>
                  <a:lnTo>
                    <a:pt x="1405509" y="1791462"/>
                  </a:lnTo>
                  <a:lnTo>
                    <a:pt x="1405763" y="1768602"/>
                  </a:lnTo>
                  <a:close/>
                </a:path>
                <a:path w="3725545" h="2571750">
                  <a:moveTo>
                    <a:pt x="1418971" y="1002792"/>
                  </a:moveTo>
                  <a:lnTo>
                    <a:pt x="1418615" y="981837"/>
                  </a:lnTo>
                  <a:lnTo>
                    <a:pt x="1418590" y="979932"/>
                  </a:lnTo>
                  <a:lnTo>
                    <a:pt x="1353312" y="980821"/>
                  </a:lnTo>
                  <a:lnTo>
                    <a:pt x="1326896" y="981837"/>
                  </a:lnTo>
                  <a:lnTo>
                    <a:pt x="1327708" y="1002792"/>
                  </a:lnTo>
                  <a:lnTo>
                    <a:pt x="1327785" y="1004697"/>
                  </a:lnTo>
                  <a:lnTo>
                    <a:pt x="1353566" y="1003681"/>
                  </a:lnTo>
                  <a:lnTo>
                    <a:pt x="1418971" y="1002792"/>
                  </a:lnTo>
                  <a:close/>
                </a:path>
                <a:path w="3725545" h="2571750">
                  <a:moveTo>
                    <a:pt x="1499870" y="547243"/>
                  </a:moveTo>
                  <a:lnTo>
                    <a:pt x="1424940" y="533146"/>
                  </a:lnTo>
                  <a:lnTo>
                    <a:pt x="1448308" y="615061"/>
                  </a:lnTo>
                  <a:lnTo>
                    <a:pt x="1499870" y="547243"/>
                  </a:lnTo>
                  <a:close/>
                </a:path>
                <a:path w="3725545" h="2571750">
                  <a:moveTo>
                    <a:pt x="1520317" y="461899"/>
                  </a:moveTo>
                  <a:lnTo>
                    <a:pt x="1502283" y="447802"/>
                  </a:lnTo>
                  <a:lnTo>
                    <a:pt x="1497584" y="453898"/>
                  </a:lnTo>
                  <a:lnTo>
                    <a:pt x="1487424" y="468122"/>
                  </a:lnTo>
                  <a:lnTo>
                    <a:pt x="1478153" y="482346"/>
                  </a:lnTo>
                  <a:lnTo>
                    <a:pt x="1469771" y="496697"/>
                  </a:lnTo>
                  <a:lnTo>
                    <a:pt x="1462278" y="511048"/>
                  </a:lnTo>
                  <a:lnTo>
                    <a:pt x="1455674" y="525653"/>
                  </a:lnTo>
                  <a:lnTo>
                    <a:pt x="1455420" y="526161"/>
                  </a:lnTo>
                  <a:lnTo>
                    <a:pt x="1455293" y="526796"/>
                  </a:lnTo>
                  <a:lnTo>
                    <a:pt x="1455039" y="527304"/>
                  </a:lnTo>
                  <a:lnTo>
                    <a:pt x="1454277" y="530479"/>
                  </a:lnTo>
                  <a:lnTo>
                    <a:pt x="1476375" y="536448"/>
                  </a:lnTo>
                  <a:lnTo>
                    <a:pt x="1476717" y="535051"/>
                  </a:lnTo>
                  <a:lnTo>
                    <a:pt x="1476997" y="533958"/>
                  </a:lnTo>
                  <a:lnTo>
                    <a:pt x="1476502" y="535051"/>
                  </a:lnTo>
                  <a:lnTo>
                    <a:pt x="1477137" y="533400"/>
                  </a:lnTo>
                  <a:lnTo>
                    <a:pt x="1477352" y="533146"/>
                  </a:lnTo>
                  <a:lnTo>
                    <a:pt x="1482598" y="521589"/>
                  </a:lnTo>
                  <a:lnTo>
                    <a:pt x="1489583" y="508254"/>
                  </a:lnTo>
                  <a:lnTo>
                    <a:pt x="1497330" y="494792"/>
                  </a:lnTo>
                  <a:lnTo>
                    <a:pt x="1505966" y="481330"/>
                  </a:lnTo>
                  <a:lnTo>
                    <a:pt x="1515516" y="468122"/>
                  </a:lnTo>
                  <a:lnTo>
                    <a:pt x="1520317" y="461899"/>
                  </a:lnTo>
                  <a:close/>
                </a:path>
                <a:path w="3725545" h="2571750">
                  <a:moveTo>
                    <a:pt x="1565783" y="1770634"/>
                  </a:moveTo>
                  <a:lnTo>
                    <a:pt x="1474343" y="1769491"/>
                  </a:lnTo>
                  <a:lnTo>
                    <a:pt x="1474089" y="1792351"/>
                  </a:lnTo>
                  <a:lnTo>
                    <a:pt x="1565402" y="1793494"/>
                  </a:lnTo>
                  <a:lnTo>
                    <a:pt x="1565783" y="1770634"/>
                  </a:lnTo>
                  <a:close/>
                </a:path>
                <a:path w="3725545" h="2571750">
                  <a:moveTo>
                    <a:pt x="1633728" y="353822"/>
                  </a:moveTo>
                  <a:lnTo>
                    <a:pt x="1619885" y="335661"/>
                  </a:lnTo>
                  <a:lnTo>
                    <a:pt x="1607566" y="345059"/>
                  </a:lnTo>
                  <a:lnTo>
                    <a:pt x="1591183" y="358140"/>
                  </a:lnTo>
                  <a:lnTo>
                    <a:pt x="1575435" y="371475"/>
                  </a:lnTo>
                  <a:lnTo>
                    <a:pt x="1560576" y="384810"/>
                  </a:lnTo>
                  <a:lnTo>
                    <a:pt x="1549273" y="395732"/>
                  </a:lnTo>
                  <a:lnTo>
                    <a:pt x="1565148" y="412242"/>
                  </a:lnTo>
                  <a:lnTo>
                    <a:pt x="1575816" y="401955"/>
                  </a:lnTo>
                  <a:lnTo>
                    <a:pt x="1590294" y="389001"/>
                  </a:lnTo>
                  <a:lnTo>
                    <a:pt x="1605407" y="376047"/>
                  </a:lnTo>
                  <a:lnTo>
                    <a:pt x="1621409" y="363220"/>
                  </a:lnTo>
                  <a:lnTo>
                    <a:pt x="1633728" y="353822"/>
                  </a:lnTo>
                  <a:close/>
                </a:path>
                <a:path w="3725545" h="2571750">
                  <a:moveTo>
                    <a:pt x="1725803" y="1772666"/>
                  </a:moveTo>
                  <a:lnTo>
                    <a:pt x="1634363" y="1771523"/>
                  </a:lnTo>
                  <a:lnTo>
                    <a:pt x="1633982" y="1794383"/>
                  </a:lnTo>
                  <a:lnTo>
                    <a:pt x="1725422" y="1795526"/>
                  </a:lnTo>
                  <a:lnTo>
                    <a:pt x="1725803" y="1772666"/>
                  </a:lnTo>
                  <a:close/>
                </a:path>
                <a:path w="3725545" h="2571750">
                  <a:moveTo>
                    <a:pt x="1767459" y="269367"/>
                  </a:moveTo>
                  <a:lnTo>
                    <a:pt x="1756410" y="249301"/>
                  </a:lnTo>
                  <a:lnTo>
                    <a:pt x="1741551" y="257429"/>
                  </a:lnTo>
                  <a:lnTo>
                    <a:pt x="1720469" y="269367"/>
                  </a:lnTo>
                  <a:lnTo>
                    <a:pt x="1700022" y="281686"/>
                  </a:lnTo>
                  <a:lnTo>
                    <a:pt x="1680210" y="294005"/>
                  </a:lnTo>
                  <a:lnTo>
                    <a:pt x="1676908" y="296164"/>
                  </a:lnTo>
                  <a:lnTo>
                    <a:pt x="1689354" y="315214"/>
                  </a:lnTo>
                  <a:lnTo>
                    <a:pt x="1692275" y="313309"/>
                  </a:lnTo>
                  <a:lnTo>
                    <a:pt x="1711706" y="301244"/>
                  </a:lnTo>
                  <a:lnTo>
                    <a:pt x="1731645" y="289306"/>
                  </a:lnTo>
                  <a:lnTo>
                    <a:pt x="1752473" y="277495"/>
                  </a:lnTo>
                  <a:lnTo>
                    <a:pt x="1767459" y="269367"/>
                  </a:lnTo>
                  <a:close/>
                </a:path>
                <a:path w="3725545" h="2571750">
                  <a:moveTo>
                    <a:pt x="1885823" y="1774698"/>
                  </a:moveTo>
                  <a:lnTo>
                    <a:pt x="1794383" y="1773555"/>
                  </a:lnTo>
                  <a:lnTo>
                    <a:pt x="1794002" y="1796415"/>
                  </a:lnTo>
                  <a:lnTo>
                    <a:pt x="1885442" y="1797558"/>
                  </a:lnTo>
                  <a:lnTo>
                    <a:pt x="1885823" y="1774698"/>
                  </a:lnTo>
                  <a:close/>
                </a:path>
                <a:path w="3725545" h="2571750">
                  <a:moveTo>
                    <a:pt x="1910842" y="201422"/>
                  </a:moveTo>
                  <a:lnTo>
                    <a:pt x="1902079" y="180340"/>
                  </a:lnTo>
                  <a:lnTo>
                    <a:pt x="1879981" y="189611"/>
                  </a:lnTo>
                  <a:lnTo>
                    <a:pt x="1831721" y="211328"/>
                  </a:lnTo>
                  <a:lnTo>
                    <a:pt x="1818005" y="217805"/>
                  </a:lnTo>
                  <a:lnTo>
                    <a:pt x="1827911" y="238506"/>
                  </a:lnTo>
                  <a:lnTo>
                    <a:pt x="1840992" y="232156"/>
                  </a:lnTo>
                  <a:lnTo>
                    <a:pt x="1888744" y="210693"/>
                  </a:lnTo>
                  <a:lnTo>
                    <a:pt x="1910842" y="201422"/>
                  </a:lnTo>
                  <a:close/>
                </a:path>
                <a:path w="3725545" h="2571750">
                  <a:moveTo>
                    <a:pt x="2045716" y="1776730"/>
                  </a:moveTo>
                  <a:lnTo>
                    <a:pt x="1954403" y="1775587"/>
                  </a:lnTo>
                  <a:lnTo>
                    <a:pt x="1954022" y="1798447"/>
                  </a:lnTo>
                  <a:lnTo>
                    <a:pt x="2045462" y="1799590"/>
                  </a:lnTo>
                  <a:lnTo>
                    <a:pt x="2045716" y="1776730"/>
                  </a:lnTo>
                  <a:close/>
                </a:path>
                <a:path w="3725545" h="2571750">
                  <a:moveTo>
                    <a:pt x="2059940" y="146304"/>
                  </a:moveTo>
                  <a:lnTo>
                    <a:pt x="2053082" y="124460"/>
                  </a:lnTo>
                  <a:lnTo>
                    <a:pt x="2036699" y="129667"/>
                  </a:lnTo>
                  <a:lnTo>
                    <a:pt x="1982597" y="148717"/>
                  </a:lnTo>
                  <a:lnTo>
                    <a:pt x="1966214" y="154940"/>
                  </a:lnTo>
                  <a:lnTo>
                    <a:pt x="1974342" y="176276"/>
                  </a:lnTo>
                  <a:lnTo>
                    <a:pt x="1990217" y="170180"/>
                  </a:lnTo>
                  <a:lnTo>
                    <a:pt x="2043684" y="151511"/>
                  </a:lnTo>
                  <a:lnTo>
                    <a:pt x="2059940" y="146304"/>
                  </a:lnTo>
                  <a:close/>
                </a:path>
                <a:path w="3725545" h="2571750">
                  <a:moveTo>
                    <a:pt x="2205736" y="1778889"/>
                  </a:moveTo>
                  <a:lnTo>
                    <a:pt x="2114296" y="1777619"/>
                  </a:lnTo>
                  <a:lnTo>
                    <a:pt x="2114042" y="1800479"/>
                  </a:lnTo>
                  <a:lnTo>
                    <a:pt x="2205482" y="1801622"/>
                  </a:lnTo>
                  <a:lnTo>
                    <a:pt x="2205736" y="1778889"/>
                  </a:lnTo>
                  <a:close/>
                </a:path>
                <a:path w="3725545" h="2571750">
                  <a:moveTo>
                    <a:pt x="2213102" y="101854"/>
                  </a:moveTo>
                  <a:lnTo>
                    <a:pt x="2207260" y="79756"/>
                  </a:lnTo>
                  <a:lnTo>
                    <a:pt x="2149602" y="95123"/>
                  </a:lnTo>
                  <a:lnTo>
                    <a:pt x="2118868" y="104140"/>
                  </a:lnTo>
                  <a:lnTo>
                    <a:pt x="2125218" y="126111"/>
                  </a:lnTo>
                  <a:lnTo>
                    <a:pt x="2155571" y="117221"/>
                  </a:lnTo>
                  <a:lnTo>
                    <a:pt x="2213102" y="101854"/>
                  </a:lnTo>
                  <a:close/>
                </a:path>
                <a:path w="3725545" h="2571750">
                  <a:moveTo>
                    <a:pt x="2368677" y="67945"/>
                  </a:moveTo>
                  <a:lnTo>
                    <a:pt x="2364359" y="45466"/>
                  </a:lnTo>
                  <a:lnTo>
                    <a:pt x="2329307" y="52070"/>
                  </a:lnTo>
                  <a:lnTo>
                    <a:pt x="2274570" y="63754"/>
                  </a:lnTo>
                  <a:lnTo>
                    <a:pt x="2279269" y="86106"/>
                  </a:lnTo>
                  <a:lnTo>
                    <a:pt x="2333498" y="74549"/>
                  </a:lnTo>
                  <a:lnTo>
                    <a:pt x="2368677" y="67945"/>
                  </a:lnTo>
                  <a:close/>
                </a:path>
                <a:path w="3725545" h="2571750">
                  <a:moveTo>
                    <a:pt x="2379599" y="814959"/>
                  </a:moveTo>
                  <a:lnTo>
                    <a:pt x="2288159" y="813816"/>
                  </a:lnTo>
                  <a:lnTo>
                    <a:pt x="2287905" y="836676"/>
                  </a:lnTo>
                  <a:lnTo>
                    <a:pt x="2379345" y="837819"/>
                  </a:lnTo>
                  <a:lnTo>
                    <a:pt x="2379599" y="814959"/>
                  </a:lnTo>
                  <a:close/>
                </a:path>
                <a:path w="3725545" h="2571750">
                  <a:moveTo>
                    <a:pt x="2409164" y="1803781"/>
                  </a:moveTo>
                  <a:lnTo>
                    <a:pt x="2365502" y="1803781"/>
                  </a:lnTo>
                  <a:lnTo>
                    <a:pt x="2354796" y="1803781"/>
                  </a:lnTo>
                  <a:lnTo>
                    <a:pt x="2354453" y="1830324"/>
                  </a:lnTo>
                  <a:lnTo>
                    <a:pt x="2409164" y="1803781"/>
                  </a:lnTo>
                  <a:close/>
                </a:path>
                <a:path w="3725545" h="2571750">
                  <a:moveTo>
                    <a:pt x="2431161" y="1793113"/>
                  </a:moveTo>
                  <a:lnTo>
                    <a:pt x="2355469" y="1754124"/>
                  </a:lnTo>
                  <a:lnTo>
                    <a:pt x="2355126" y="1779651"/>
                  </a:lnTo>
                  <a:lnTo>
                    <a:pt x="2355113" y="1780781"/>
                  </a:lnTo>
                  <a:lnTo>
                    <a:pt x="2355100" y="1780921"/>
                  </a:lnTo>
                  <a:lnTo>
                    <a:pt x="2354948" y="1793113"/>
                  </a:lnTo>
                  <a:lnTo>
                    <a:pt x="2354846" y="1799729"/>
                  </a:lnTo>
                  <a:lnTo>
                    <a:pt x="2355100" y="1780921"/>
                  </a:lnTo>
                  <a:lnTo>
                    <a:pt x="2355100" y="1780781"/>
                  </a:lnTo>
                  <a:lnTo>
                    <a:pt x="2274316" y="1779651"/>
                  </a:lnTo>
                  <a:lnTo>
                    <a:pt x="2274163" y="1793113"/>
                  </a:lnTo>
                  <a:lnTo>
                    <a:pt x="2274062" y="1802511"/>
                  </a:lnTo>
                  <a:lnTo>
                    <a:pt x="2354808" y="1803641"/>
                  </a:lnTo>
                  <a:lnTo>
                    <a:pt x="2365502" y="1803641"/>
                  </a:lnTo>
                  <a:lnTo>
                    <a:pt x="2409469" y="1803641"/>
                  </a:lnTo>
                  <a:lnTo>
                    <a:pt x="2431161" y="1793113"/>
                  </a:lnTo>
                  <a:close/>
                </a:path>
                <a:path w="3725545" h="2571750">
                  <a:moveTo>
                    <a:pt x="2525903" y="43180"/>
                  </a:moveTo>
                  <a:lnTo>
                    <a:pt x="2523299" y="21082"/>
                  </a:lnTo>
                  <a:lnTo>
                    <a:pt x="2523236" y="20447"/>
                  </a:lnTo>
                  <a:lnTo>
                    <a:pt x="2518029" y="21082"/>
                  </a:lnTo>
                  <a:lnTo>
                    <a:pt x="2454275" y="29972"/>
                  </a:lnTo>
                  <a:lnTo>
                    <a:pt x="2432177" y="33528"/>
                  </a:lnTo>
                  <a:lnTo>
                    <a:pt x="2435860" y="56134"/>
                  </a:lnTo>
                  <a:lnTo>
                    <a:pt x="2457450" y="52578"/>
                  </a:lnTo>
                  <a:lnTo>
                    <a:pt x="2520569" y="43688"/>
                  </a:lnTo>
                  <a:lnTo>
                    <a:pt x="2525903" y="43180"/>
                  </a:lnTo>
                  <a:close/>
                </a:path>
                <a:path w="3725545" h="2571750">
                  <a:moveTo>
                    <a:pt x="2539619" y="816991"/>
                  </a:moveTo>
                  <a:lnTo>
                    <a:pt x="2448179" y="815848"/>
                  </a:lnTo>
                  <a:lnTo>
                    <a:pt x="2447925" y="838708"/>
                  </a:lnTo>
                  <a:lnTo>
                    <a:pt x="2539365" y="839851"/>
                  </a:lnTo>
                  <a:lnTo>
                    <a:pt x="2539619" y="816991"/>
                  </a:lnTo>
                  <a:close/>
                </a:path>
                <a:path w="3725545" h="2571750">
                  <a:moveTo>
                    <a:pt x="2684526" y="28194"/>
                  </a:moveTo>
                  <a:lnTo>
                    <a:pt x="2683129" y="5334"/>
                  </a:lnTo>
                  <a:lnTo>
                    <a:pt x="2647315" y="7747"/>
                  </a:lnTo>
                  <a:lnTo>
                    <a:pt x="2591689" y="12700"/>
                  </a:lnTo>
                  <a:lnTo>
                    <a:pt x="2593721" y="35560"/>
                  </a:lnTo>
                  <a:lnTo>
                    <a:pt x="2648839" y="30607"/>
                  </a:lnTo>
                  <a:lnTo>
                    <a:pt x="2684526" y="28194"/>
                  </a:lnTo>
                  <a:close/>
                </a:path>
                <a:path w="3725545" h="2571750">
                  <a:moveTo>
                    <a:pt x="2699639" y="819150"/>
                  </a:moveTo>
                  <a:lnTo>
                    <a:pt x="2608199" y="817880"/>
                  </a:lnTo>
                  <a:lnTo>
                    <a:pt x="2607945" y="840752"/>
                  </a:lnTo>
                  <a:lnTo>
                    <a:pt x="2699385" y="842010"/>
                  </a:lnTo>
                  <a:lnTo>
                    <a:pt x="2699639" y="819150"/>
                  </a:lnTo>
                  <a:close/>
                </a:path>
                <a:path w="3725545" h="2571750">
                  <a:moveTo>
                    <a:pt x="2843911" y="22860"/>
                  </a:moveTo>
                  <a:lnTo>
                    <a:pt x="2843555" y="1905"/>
                  </a:lnTo>
                  <a:lnTo>
                    <a:pt x="2843530" y="0"/>
                  </a:lnTo>
                  <a:lnTo>
                    <a:pt x="2778252" y="889"/>
                  </a:lnTo>
                  <a:lnTo>
                    <a:pt x="2751836" y="1905"/>
                  </a:lnTo>
                  <a:lnTo>
                    <a:pt x="2752648" y="22860"/>
                  </a:lnTo>
                  <a:lnTo>
                    <a:pt x="2752725" y="24765"/>
                  </a:lnTo>
                  <a:lnTo>
                    <a:pt x="2778506" y="23749"/>
                  </a:lnTo>
                  <a:lnTo>
                    <a:pt x="2843911" y="22860"/>
                  </a:lnTo>
                  <a:close/>
                </a:path>
                <a:path w="3725545" h="2571750">
                  <a:moveTo>
                    <a:pt x="2859659" y="821182"/>
                  </a:moveTo>
                  <a:lnTo>
                    <a:pt x="2768206" y="820039"/>
                  </a:lnTo>
                  <a:lnTo>
                    <a:pt x="2767965" y="842899"/>
                  </a:lnTo>
                  <a:lnTo>
                    <a:pt x="2859278" y="844054"/>
                  </a:lnTo>
                  <a:lnTo>
                    <a:pt x="2859659" y="821182"/>
                  </a:lnTo>
                  <a:close/>
                </a:path>
                <a:path w="3725545" h="2571750">
                  <a:moveTo>
                    <a:pt x="3019679" y="823214"/>
                  </a:moveTo>
                  <a:lnTo>
                    <a:pt x="2928239" y="822071"/>
                  </a:lnTo>
                  <a:lnTo>
                    <a:pt x="2927858" y="844931"/>
                  </a:lnTo>
                  <a:lnTo>
                    <a:pt x="3019298" y="846074"/>
                  </a:lnTo>
                  <a:lnTo>
                    <a:pt x="3019679" y="823214"/>
                  </a:lnTo>
                  <a:close/>
                </a:path>
                <a:path w="3725545" h="2571750">
                  <a:moveTo>
                    <a:pt x="3179699" y="825246"/>
                  </a:moveTo>
                  <a:lnTo>
                    <a:pt x="3088259" y="824103"/>
                  </a:lnTo>
                  <a:lnTo>
                    <a:pt x="3087878" y="846963"/>
                  </a:lnTo>
                  <a:lnTo>
                    <a:pt x="3179318" y="848106"/>
                  </a:lnTo>
                  <a:lnTo>
                    <a:pt x="3179699" y="825246"/>
                  </a:lnTo>
                  <a:close/>
                </a:path>
                <a:path w="3725545" h="2571750">
                  <a:moveTo>
                    <a:pt x="3339592" y="827278"/>
                  </a:moveTo>
                  <a:lnTo>
                    <a:pt x="3248279" y="826135"/>
                  </a:lnTo>
                  <a:lnTo>
                    <a:pt x="3247898" y="848995"/>
                  </a:lnTo>
                  <a:lnTo>
                    <a:pt x="3339338" y="850138"/>
                  </a:lnTo>
                  <a:lnTo>
                    <a:pt x="3339592" y="827278"/>
                  </a:lnTo>
                  <a:close/>
                </a:path>
                <a:path w="3725545" h="2571750">
                  <a:moveTo>
                    <a:pt x="3499612" y="829437"/>
                  </a:moveTo>
                  <a:lnTo>
                    <a:pt x="3408172" y="828167"/>
                  </a:lnTo>
                  <a:lnTo>
                    <a:pt x="3407918" y="851027"/>
                  </a:lnTo>
                  <a:lnTo>
                    <a:pt x="3499358" y="852170"/>
                  </a:lnTo>
                  <a:lnTo>
                    <a:pt x="3499612" y="829437"/>
                  </a:lnTo>
                  <a:close/>
                </a:path>
                <a:path w="3725545" h="2571750">
                  <a:moveTo>
                    <a:pt x="3703040" y="854341"/>
                  </a:moveTo>
                  <a:lnTo>
                    <a:pt x="3659378" y="854341"/>
                  </a:lnTo>
                  <a:lnTo>
                    <a:pt x="3648672" y="854341"/>
                  </a:lnTo>
                  <a:lnTo>
                    <a:pt x="3648329" y="880872"/>
                  </a:lnTo>
                  <a:lnTo>
                    <a:pt x="3703040" y="854341"/>
                  </a:lnTo>
                  <a:close/>
                </a:path>
                <a:path w="3725545" h="2571750">
                  <a:moveTo>
                    <a:pt x="3725037" y="843661"/>
                  </a:moveTo>
                  <a:lnTo>
                    <a:pt x="3649345" y="804672"/>
                  </a:lnTo>
                  <a:lnTo>
                    <a:pt x="3649002" y="830199"/>
                  </a:lnTo>
                  <a:lnTo>
                    <a:pt x="3648989" y="831329"/>
                  </a:lnTo>
                  <a:lnTo>
                    <a:pt x="3648976" y="831469"/>
                  </a:lnTo>
                  <a:lnTo>
                    <a:pt x="3648824" y="843661"/>
                  </a:lnTo>
                  <a:lnTo>
                    <a:pt x="3648722" y="850277"/>
                  </a:lnTo>
                  <a:lnTo>
                    <a:pt x="3648976" y="831469"/>
                  </a:lnTo>
                  <a:lnTo>
                    <a:pt x="3648976" y="831329"/>
                  </a:lnTo>
                  <a:lnTo>
                    <a:pt x="3568192" y="830199"/>
                  </a:lnTo>
                  <a:lnTo>
                    <a:pt x="3568039" y="843661"/>
                  </a:lnTo>
                  <a:lnTo>
                    <a:pt x="3567938" y="853059"/>
                  </a:lnTo>
                  <a:lnTo>
                    <a:pt x="3648684" y="854189"/>
                  </a:lnTo>
                  <a:lnTo>
                    <a:pt x="3659378" y="854189"/>
                  </a:lnTo>
                  <a:lnTo>
                    <a:pt x="3703345" y="854189"/>
                  </a:lnTo>
                  <a:lnTo>
                    <a:pt x="3725037" y="8436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06283" y="3278124"/>
              <a:ext cx="474345" cy="429895"/>
            </a:xfrm>
            <a:custGeom>
              <a:avLst/>
              <a:gdLst/>
              <a:ahLst/>
              <a:cxnLst/>
              <a:rect l="l" t="t" r="r" b="b"/>
              <a:pathLst>
                <a:path w="474345" h="429895">
                  <a:moveTo>
                    <a:pt x="473964" y="0"/>
                  </a:moveTo>
                  <a:lnTo>
                    <a:pt x="0" y="0"/>
                  </a:lnTo>
                  <a:lnTo>
                    <a:pt x="0" y="429768"/>
                  </a:lnTo>
                  <a:lnTo>
                    <a:pt x="473964" y="429768"/>
                  </a:lnTo>
                  <a:lnTo>
                    <a:pt x="473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665346" y="688975"/>
            <a:ext cx="148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rbel"/>
                <a:cs typeface="Corbel"/>
              </a:rPr>
              <a:t>real</a:t>
            </a:r>
            <a:r>
              <a:rPr sz="1800" b="1" spc="-20" dirty="0">
                <a:latin typeface="Corbel"/>
                <a:cs typeface="Corbel"/>
              </a:rPr>
              <a:t> </a:t>
            </a:r>
            <a:r>
              <a:rPr sz="1800" b="1" spc="-10" dirty="0">
                <a:latin typeface="Corbel"/>
                <a:cs typeface="Corbel"/>
              </a:rPr>
              <a:t>id1,id2,id3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92897" y="3297173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318503" y="4212335"/>
            <a:ext cx="513715" cy="429895"/>
          </a:xfrm>
          <a:custGeom>
            <a:avLst/>
            <a:gdLst/>
            <a:ahLst/>
            <a:cxnLst/>
            <a:rect l="l" t="t" r="r" b="b"/>
            <a:pathLst>
              <a:path w="513715" h="429895">
                <a:moveTo>
                  <a:pt x="513588" y="0"/>
                </a:moveTo>
                <a:lnTo>
                  <a:pt x="0" y="0"/>
                </a:lnTo>
                <a:lnTo>
                  <a:pt x="0" y="429768"/>
                </a:lnTo>
                <a:lnTo>
                  <a:pt x="513588" y="429768"/>
                </a:lnTo>
                <a:lnTo>
                  <a:pt x="5135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416802" y="4231894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id2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895344" y="4953000"/>
            <a:ext cx="523240" cy="437515"/>
            <a:chOff x="3895344" y="4953000"/>
            <a:chExt cx="523240" cy="437515"/>
          </a:xfrm>
        </p:grpSpPr>
        <p:sp>
          <p:nvSpPr>
            <p:cNvPr id="53" name="object 53"/>
            <p:cNvSpPr/>
            <p:nvPr/>
          </p:nvSpPr>
          <p:spPr>
            <a:xfrm>
              <a:off x="3899916" y="4957572"/>
              <a:ext cx="513715" cy="428625"/>
            </a:xfrm>
            <a:custGeom>
              <a:avLst/>
              <a:gdLst/>
              <a:ahLst/>
              <a:cxnLst/>
              <a:rect l="l" t="t" r="r" b="b"/>
              <a:pathLst>
                <a:path w="513714" h="428625">
                  <a:moveTo>
                    <a:pt x="513588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513588" y="428243"/>
                  </a:lnTo>
                  <a:lnTo>
                    <a:pt x="513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99916" y="4957572"/>
              <a:ext cx="513715" cy="428625"/>
            </a:xfrm>
            <a:custGeom>
              <a:avLst/>
              <a:gdLst/>
              <a:ahLst/>
              <a:cxnLst/>
              <a:rect l="l" t="t" r="r" b="b"/>
              <a:pathLst>
                <a:path w="513714" h="428625">
                  <a:moveTo>
                    <a:pt x="0" y="428243"/>
                  </a:moveTo>
                  <a:lnTo>
                    <a:pt x="513588" y="428243"/>
                  </a:lnTo>
                  <a:lnTo>
                    <a:pt x="513588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005198" y="4976241"/>
            <a:ext cx="303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id1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36109" y="5511190"/>
            <a:ext cx="1270635" cy="865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2545" marR="419100" indent="-5080">
              <a:lnSpc>
                <a:spcPct val="75300"/>
              </a:lnSpc>
              <a:spcBef>
                <a:spcPts val="745"/>
              </a:spcBef>
            </a:pPr>
            <a:r>
              <a:rPr sz="2200" dirty="0">
                <a:latin typeface="Corbel"/>
                <a:cs typeface="Corbel"/>
              </a:rPr>
              <a:t>L</a:t>
            </a:r>
            <a:r>
              <a:rPr sz="2200" spc="-15" dirty="0">
                <a:latin typeface="Corbel"/>
                <a:cs typeface="Corbe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→</a:t>
            </a:r>
            <a:r>
              <a:rPr sz="2200" spc="280" dirty="0">
                <a:latin typeface="Microsoft Sans Serif"/>
                <a:cs typeface="Microsoft Sans Serif"/>
              </a:rPr>
              <a:t> </a:t>
            </a:r>
            <a:r>
              <a:rPr sz="2200" spc="-35" dirty="0">
                <a:latin typeface="Corbel"/>
                <a:cs typeface="Corbel"/>
              </a:rPr>
              <a:t>id </a:t>
            </a:r>
            <a:r>
              <a:rPr sz="2200" spc="-20" dirty="0">
                <a:latin typeface="Corbel"/>
                <a:cs typeface="Corbel"/>
              </a:rPr>
              <a:t>D</a:t>
            </a:r>
            <a:r>
              <a:rPr sz="2200" spc="-20" dirty="0">
                <a:latin typeface="Wingdings"/>
                <a:cs typeface="Wingdings"/>
              </a:rPr>
              <a:t></a:t>
            </a:r>
            <a:r>
              <a:rPr sz="2200" spc="-20" dirty="0">
                <a:latin typeface="Corbel"/>
                <a:cs typeface="Corbel"/>
              </a:rPr>
              <a:t>TL</a:t>
            </a:r>
            <a:endParaRPr sz="2200">
              <a:latin typeface="Corbel"/>
              <a:cs typeface="Corbel"/>
            </a:endParaRPr>
          </a:p>
          <a:p>
            <a:pPr marL="67945">
              <a:lnSpc>
                <a:spcPts val="1989"/>
              </a:lnSpc>
            </a:pPr>
            <a:r>
              <a:rPr sz="2200" dirty="0">
                <a:latin typeface="Corbel"/>
                <a:cs typeface="Corbel"/>
              </a:rPr>
              <a:t>L</a:t>
            </a:r>
            <a:r>
              <a:rPr sz="2200" spc="-15" dirty="0">
                <a:latin typeface="Corbel"/>
                <a:cs typeface="Corbel"/>
              </a:rPr>
              <a:t> </a:t>
            </a:r>
            <a:r>
              <a:rPr sz="2200" spc="-30" dirty="0">
                <a:latin typeface="Microsoft Sans Serif"/>
                <a:cs typeface="Microsoft Sans Serif"/>
              </a:rPr>
              <a:t>→</a:t>
            </a:r>
            <a:r>
              <a:rPr sz="2200" spc="-1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Corbel"/>
                <a:cs typeface="Corbel"/>
              </a:rPr>
              <a:t>L</a:t>
            </a:r>
            <a:r>
              <a:rPr sz="2175" baseline="-21072" dirty="0">
                <a:latin typeface="Corbel"/>
                <a:cs typeface="Corbel"/>
              </a:rPr>
              <a:t>1</a:t>
            </a:r>
            <a:r>
              <a:rPr sz="2175" spc="225" baseline="-21072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,</a:t>
            </a:r>
            <a:r>
              <a:rPr sz="2200" spc="-10" dirty="0"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id</a:t>
            </a:r>
            <a:endParaRPr sz="2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  <a:spcBef>
                <a:spcPts val="5"/>
              </a:spcBef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Difference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03217" y="1014222"/>
          <a:ext cx="6863080" cy="3399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latin typeface="Cambria"/>
                          <a:cs typeface="Cambria"/>
                        </a:rPr>
                        <a:t>Synthesized</a:t>
                      </a:r>
                      <a:r>
                        <a:rPr sz="1800" b="1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latin typeface="Cambria"/>
                          <a:cs typeface="Cambria"/>
                        </a:rPr>
                        <a:t>attribute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Cambria"/>
                          <a:cs typeface="Cambria"/>
                        </a:rPr>
                        <a:t>Inherited</a:t>
                      </a:r>
                      <a:r>
                        <a:rPr sz="1800" b="1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latin typeface="Cambria"/>
                          <a:cs typeface="Cambria"/>
                        </a:rPr>
                        <a:t>attribute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340">
                <a:tc>
                  <a:txBody>
                    <a:bodyPr/>
                    <a:lstStyle/>
                    <a:p>
                      <a:pPr marL="91440" marR="812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synthesized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node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can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computed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children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that node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parse</a:t>
                      </a:r>
                      <a:r>
                        <a:rPr sz="18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tree.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73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Values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inherited</a:t>
                      </a:r>
                      <a:r>
                        <a:rPr sz="1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node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can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computed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parent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and/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siblings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node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844">
                <a:tc>
                  <a:txBody>
                    <a:bodyPr/>
                    <a:lstStyle/>
                    <a:p>
                      <a:pPr marL="90170" marR="3581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Pass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information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bottom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top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parse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tree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905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Pass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information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top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bottom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parse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tree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siblings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siblings.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84455" marR="2406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Synthesized</a:t>
                      </a:r>
                      <a:r>
                        <a:rPr sz="1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used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both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S-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attributed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SDT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L-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attributed</a:t>
                      </a:r>
                      <a:r>
                        <a:rPr sz="1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STD.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497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Inherited</a:t>
                      </a:r>
                      <a:r>
                        <a:rPr sz="1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attribute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used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L-attributed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SDT.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E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426084">
              <a:lnSpc>
                <a:spcPts val="3779"/>
              </a:lnSpc>
            </a:pPr>
            <a:r>
              <a:rPr sz="3600" b="1" spc="-100" dirty="0">
                <a:solidFill>
                  <a:srgbClr val="FFFFFF"/>
                </a:solidFill>
                <a:latin typeface="Cambria"/>
                <a:cs typeface="Cambria"/>
              </a:rPr>
              <a:t>Run</a:t>
            </a: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time </a:t>
            </a: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Environment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714" y="691641"/>
            <a:ext cx="775335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tabLst>
                <a:tab pos="512445" algn="l"/>
                <a:tab pos="1736089" algn="l"/>
                <a:tab pos="1800225" algn="l"/>
                <a:tab pos="2228850" algn="l"/>
                <a:tab pos="2581910" algn="l"/>
                <a:tab pos="2885440" algn="l"/>
                <a:tab pos="3987800" algn="l"/>
                <a:tab pos="5394325" algn="l"/>
                <a:tab pos="5589270" algn="l"/>
                <a:tab pos="6961505" algn="l"/>
              </a:tabLst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compiler</a:t>
            </a:r>
            <a:r>
              <a:rPr dirty="0"/>
              <a:t>		</a:t>
            </a:r>
            <a:r>
              <a:rPr spc="-20" dirty="0"/>
              <a:t>must</a:t>
            </a:r>
            <a:r>
              <a:rPr dirty="0"/>
              <a:t>	accurately</a:t>
            </a:r>
            <a:r>
              <a:rPr spc="265" dirty="0"/>
              <a:t> </a:t>
            </a:r>
            <a:r>
              <a:rPr spc="-10" dirty="0"/>
              <a:t>implement</a:t>
            </a:r>
            <a:r>
              <a:rPr dirty="0"/>
              <a:t>	the</a:t>
            </a:r>
            <a:r>
              <a:rPr spc="420" dirty="0"/>
              <a:t> </a:t>
            </a:r>
            <a:r>
              <a:rPr spc="-10" dirty="0"/>
              <a:t>abstractions embodied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source</a:t>
            </a:r>
            <a:r>
              <a:rPr dirty="0"/>
              <a:t>	</a:t>
            </a:r>
            <a:r>
              <a:rPr spc="-10" dirty="0"/>
              <a:t>language</a:t>
            </a:r>
            <a:r>
              <a:rPr dirty="0"/>
              <a:t>	</a:t>
            </a:r>
            <a:r>
              <a:rPr spc="-10" dirty="0"/>
              <a:t>definition.</a:t>
            </a:r>
            <a:r>
              <a:rPr dirty="0"/>
              <a:t>	</a:t>
            </a:r>
            <a:r>
              <a:rPr spc="-10" dirty="0"/>
              <a:t>These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6594" y="1350390"/>
            <a:ext cx="7574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9910" algn="l"/>
                <a:tab pos="3129280" algn="l"/>
                <a:tab pos="4290695" algn="l"/>
                <a:tab pos="4912360" algn="l"/>
                <a:tab pos="6470650" algn="l"/>
                <a:tab pos="7273925" algn="l"/>
              </a:tabLst>
            </a:pPr>
            <a:r>
              <a:rPr sz="2400" spc="-10" dirty="0">
                <a:latin typeface="Cambria"/>
                <a:cs typeface="Cambria"/>
              </a:rPr>
              <a:t>abstractions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typically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include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concepts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such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594" y="1679575"/>
            <a:ext cx="7572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  <a:tab pos="2600325" algn="l"/>
                <a:tab pos="4156710" algn="l"/>
                <a:tab pos="5092700" algn="l"/>
                <a:tab pos="6228080" algn="l"/>
              </a:tabLst>
            </a:pPr>
            <a:r>
              <a:rPr sz="2400" spc="-10" dirty="0">
                <a:latin typeface="Cambria"/>
                <a:cs typeface="Cambria"/>
              </a:rPr>
              <a:t>names,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scopes,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bindings,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data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types,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operators,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594" y="2008759"/>
            <a:ext cx="7272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procedures,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parameters,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flow-</a:t>
            </a:r>
            <a:r>
              <a:rPr sz="2400" spc="-10" dirty="0">
                <a:latin typeface="Cambria"/>
                <a:cs typeface="Cambria"/>
              </a:rPr>
              <a:t>of-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constructs.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3714" y="2490038"/>
            <a:ext cx="7755890" cy="21907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5580" marR="5715" indent="-182880" algn="just">
              <a:lnSpc>
                <a:spcPts val="2590"/>
              </a:lnSpc>
              <a:spcBef>
                <a:spcPts val="43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must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cooperate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with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operating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system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other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systems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software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support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these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abstractions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target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ct val="90100"/>
              </a:lnSpc>
              <a:spcBef>
                <a:spcPts val="116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do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so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creates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and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manages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i="1" spc="-15" dirty="0">
                <a:latin typeface="Cambria"/>
                <a:cs typeface="Cambria"/>
              </a:rPr>
              <a:t>run-</a:t>
            </a:r>
            <a:r>
              <a:rPr sz="2400" i="1" spc="-45" dirty="0">
                <a:latin typeface="Cambria"/>
                <a:cs typeface="Cambria"/>
              </a:rPr>
              <a:t>time</a:t>
            </a:r>
            <a:r>
              <a:rPr sz="2400" i="1" spc="-5" dirty="0">
                <a:latin typeface="Cambria"/>
                <a:cs typeface="Cambria"/>
              </a:rPr>
              <a:t> </a:t>
            </a:r>
            <a:r>
              <a:rPr sz="2400" i="1" spc="-15" dirty="0">
                <a:latin typeface="Cambria"/>
                <a:cs typeface="Cambria"/>
              </a:rPr>
              <a:t>environment</a:t>
            </a:r>
            <a:r>
              <a:rPr sz="2400" i="1" spc="2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assumes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its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target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programs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being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executed.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58571"/>
            <a:ext cx="240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1.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Procedure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Call:-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740155"/>
            <a:ext cx="77552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Procedure</a:t>
            </a:r>
            <a:r>
              <a:rPr spc="125" dirty="0"/>
              <a:t> </a:t>
            </a:r>
            <a:r>
              <a:rPr dirty="0"/>
              <a:t>definition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25" dirty="0"/>
              <a:t> </a:t>
            </a:r>
            <a:r>
              <a:rPr dirty="0"/>
              <a:t>a</a:t>
            </a:r>
            <a:r>
              <a:rPr spc="125" dirty="0"/>
              <a:t> </a:t>
            </a:r>
            <a:r>
              <a:rPr dirty="0"/>
              <a:t>declaration</a:t>
            </a:r>
            <a:r>
              <a:rPr spc="120" dirty="0"/>
              <a:t> </a:t>
            </a:r>
            <a:r>
              <a:rPr dirty="0"/>
              <a:t>that</a:t>
            </a:r>
            <a:r>
              <a:rPr spc="135" dirty="0"/>
              <a:t> </a:t>
            </a:r>
            <a:r>
              <a:rPr dirty="0"/>
              <a:t>associates</a:t>
            </a:r>
            <a:r>
              <a:rPr spc="130" dirty="0"/>
              <a:t> </a:t>
            </a:r>
            <a:r>
              <a:rPr spc="-25" dirty="0"/>
              <a:t>an </a:t>
            </a:r>
            <a:r>
              <a:rPr dirty="0"/>
              <a:t>identifier</a:t>
            </a:r>
            <a:r>
              <a:rPr spc="-4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a</a:t>
            </a:r>
            <a:r>
              <a:rPr spc="-10" dirty="0"/>
              <a:t> statement.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1551178"/>
            <a:ext cx="7753984" cy="4446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identifier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procedure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statement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procedure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body.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35"/>
              </a:lnSpc>
              <a:spcBef>
                <a:spcPts val="87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10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example,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following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definition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procedure</a:t>
            </a:r>
            <a:endParaRPr sz="2400">
              <a:latin typeface="Cambria"/>
              <a:cs typeface="Cambria"/>
            </a:endParaRPr>
          </a:p>
          <a:p>
            <a:pPr marL="195580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named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readarray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515620">
              <a:lnSpc>
                <a:spcPct val="100000"/>
              </a:lnSpc>
              <a:spcBef>
                <a:spcPts val="15"/>
              </a:spcBef>
            </a:pPr>
            <a:r>
              <a:rPr sz="2400" spc="-10" dirty="0">
                <a:latin typeface="Cambria"/>
                <a:cs typeface="Cambria"/>
              </a:rPr>
              <a:t>Procedure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readarray;</a:t>
            </a:r>
            <a:endParaRPr sz="2400">
              <a:latin typeface="Cambria"/>
              <a:cs typeface="Cambria"/>
            </a:endParaRPr>
          </a:p>
          <a:p>
            <a:pPr marL="515620" marR="5415280">
              <a:lnSpc>
                <a:spcPts val="3190"/>
              </a:lnSpc>
              <a:spcBef>
                <a:spcPts val="160"/>
              </a:spcBef>
            </a:pPr>
            <a:r>
              <a:rPr sz="2400" dirty="0">
                <a:latin typeface="Cambria"/>
                <a:cs typeface="Cambria"/>
              </a:rPr>
              <a:t>var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integer; begin</a:t>
            </a:r>
            <a:endParaRPr sz="2400">
              <a:latin typeface="Cambria"/>
              <a:cs typeface="Cambria"/>
            </a:endParaRPr>
          </a:p>
          <a:p>
            <a:pPr marL="972819">
              <a:lnSpc>
                <a:spcPct val="100000"/>
              </a:lnSpc>
              <a:spcBef>
                <a:spcPts val="160"/>
              </a:spcBef>
            </a:pPr>
            <a:r>
              <a:rPr sz="2400" dirty="0">
                <a:latin typeface="Cambria"/>
                <a:cs typeface="Cambria"/>
              </a:rPr>
              <a:t>For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:=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9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read(a[i])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  <a:spcBef>
                <a:spcPts val="1210"/>
              </a:spcBef>
            </a:pPr>
            <a:r>
              <a:rPr sz="2400" spc="-20" dirty="0">
                <a:latin typeface="Cambria"/>
                <a:cs typeface="Cambria"/>
              </a:rPr>
              <a:t>end;</a:t>
            </a:r>
            <a:endParaRPr sz="2400">
              <a:latin typeface="Cambria"/>
              <a:cs typeface="Cambria"/>
            </a:endParaRPr>
          </a:p>
          <a:p>
            <a:pPr marL="195580" marR="5080" indent="-182880">
              <a:lnSpc>
                <a:spcPts val="2590"/>
              </a:lnSpc>
              <a:spcBef>
                <a:spcPts val="1240"/>
              </a:spcBef>
              <a:tabLst>
                <a:tab pos="1149350" algn="l"/>
                <a:tab pos="2679700" algn="l"/>
                <a:tab pos="3586479" algn="l"/>
                <a:tab pos="4816475" algn="l"/>
                <a:tab pos="5848350" algn="l"/>
                <a:tab pos="6351905" algn="l"/>
              </a:tabLst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When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procedure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name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appears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within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executable </a:t>
            </a:r>
            <a:r>
              <a:rPr sz="2400" dirty="0">
                <a:latin typeface="Cambria"/>
                <a:cs typeface="Cambria"/>
              </a:rPr>
              <a:t>statement,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procedure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said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point.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58571"/>
            <a:ext cx="2233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2.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tree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740155"/>
            <a:ext cx="775335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Each</a:t>
            </a:r>
            <a:r>
              <a:rPr spc="229" dirty="0"/>
              <a:t> </a:t>
            </a:r>
            <a:r>
              <a:rPr dirty="0"/>
              <a:t>execution</a:t>
            </a:r>
            <a:r>
              <a:rPr spc="280" dirty="0"/>
              <a:t> </a:t>
            </a:r>
            <a:r>
              <a:rPr dirty="0"/>
              <a:t>of</a:t>
            </a:r>
            <a:r>
              <a:rPr spc="280" dirty="0"/>
              <a:t> </a:t>
            </a:r>
            <a:r>
              <a:rPr dirty="0"/>
              <a:t>a</a:t>
            </a:r>
            <a:r>
              <a:rPr spc="285" dirty="0"/>
              <a:t> </a:t>
            </a:r>
            <a:r>
              <a:rPr dirty="0"/>
              <a:t>procedure</a:t>
            </a:r>
            <a:r>
              <a:rPr spc="280" dirty="0"/>
              <a:t> </a:t>
            </a:r>
            <a:r>
              <a:rPr dirty="0"/>
              <a:t>body</a:t>
            </a:r>
            <a:r>
              <a:rPr spc="280" dirty="0"/>
              <a:t> </a:t>
            </a:r>
            <a:r>
              <a:rPr dirty="0"/>
              <a:t>is</a:t>
            </a:r>
            <a:r>
              <a:rPr spc="275" dirty="0"/>
              <a:t> </a:t>
            </a:r>
            <a:r>
              <a:rPr dirty="0"/>
              <a:t>referred</a:t>
            </a:r>
            <a:r>
              <a:rPr spc="285" dirty="0"/>
              <a:t> </a:t>
            </a:r>
            <a:r>
              <a:rPr dirty="0"/>
              <a:t>to</a:t>
            </a:r>
            <a:r>
              <a:rPr spc="280" dirty="0"/>
              <a:t> </a:t>
            </a:r>
            <a:r>
              <a:rPr dirty="0"/>
              <a:t>as</a:t>
            </a:r>
            <a:r>
              <a:rPr spc="275" dirty="0"/>
              <a:t> </a:t>
            </a:r>
            <a:r>
              <a:rPr spc="-25" dirty="0"/>
              <a:t>an </a:t>
            </a:r>
            <a:r>
              <a:rPr spc="-10" dirty="0"/>
              <a:t>activation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procedure.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1551178"/>
            <a:ext cx="7755890" cy="18611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lifetime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7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7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</a:t>
            </a:r>
            <a:r>
              <a:rPr sz="2400" spc="7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76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sequence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steps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between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firs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and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last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steps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execution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body.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tree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depict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way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control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enters</a:t>
            </a:r>
            <a:r>
              <a:rPr sz="2400" spc="-10" dirty="0">
                <a:latin typeface="Cambria"/>
                <a:cs typeface="Cambria"/>
              </a:rPr>
              <a:t> and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leaves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activations.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-10" dirty="0">
                <a:latin typeface="Cambria"/>
                <a:cs typeface="Cambria"/>
              </a:rPr>
              <a:t> tree,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3714" y="3386201"/>
            <a:ext cx="7755890" cy="26111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15"/>
              </a:spcBef>
              <a:buClr>
                <a:srgbClr val="40B9D2"/>
              </a:buClr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Each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procedure.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0"/>
              </a:spcBef>
              <a:buClr>
                <a:srgbClr val="40B9D2"/>
              </a:buClr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root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469900" marR="6350" indent="-457200">
              <a:lnSpc>
                <a:spcPts val="2590"/>
              </a:lnSpc>
              <a:spcBef>
                <a:spcPts val="1240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 parent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only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flows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b.</a:t>
            </a:r>
            <a:endParaRPr sz="2400">
              <a:latin typeface="Cambria"/>
              <a:cs typeface="Cambria"/>
            </a:endParaRPr>
          </a:p>
          <a:p>
            <a:pPr marL="469900" marR="5080" indent="-457200">
              <a:lnSpc>
                <a:spcPts val="2590"/>
              </a:lnSpc>
              <a:spcBef>
                <a:spcPts val="1210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left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only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lifetime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occurs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lifetime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4349" y="1362479"/>
            <a:ext cx="6950478" cy="46598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58571"/>
            <a:ext cx="2058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3.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Stack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740155"/>
            <a:ext cx="775652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000"/>
              </a:lnSpc>
              <a:spcBef>
                <a:spcPts val="38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The</a:t>
            </a:r>
            <a:r>
              <a:rPr spc="229" dirty="0"/>
              <a:t> </a:t>
            </a:r>
            <a:r>
              <a:rPr spc="-10" dirty="0"/>
              <a:t>flow</a:t>
            </a:r>
            <a:r>
              <a:rPr spc="229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220" dirty="0"/>
              <a:t> </a:t>
            </a:r>
            <a:r>
              <a:rPr dirty="0"/>
              <a:t>cont</a:t>
            </a:r>
            <a:r>
              <a:rPr spc="-30" dirty="0"/>
              <a:t>r</a:t>
            </a:r>
            <a:r>
              <a:rPr spc="-5" dirty="0"/>
              <a:t>o</a:t>
            </a:r>
            <a:r>
              <a:rPr dirty="0"/>
              <a:t>l</a:t>
            </a:r>
            <a:r>
              <a:rPr spc="204" dirty="0"/>
              <a:t> </a:t>
            </a:r>
            <a:r>
              <a:rPr dirty="0"/>
              <a:t>in</a:t>
            </a:r>
            <a:r>
              <a:rPr spc="220" dirty="0"/>
              <a:t> </a:t>
            </a:r>
            <a:r>
              <a:rPr spc="-15" dirty="0"/>
              <a:t>a</a:t>
            </a:r>
            <a:r>
              <a:rPr spc="229" dirty="0"/>
              <a:t> </a:t>
            </a:r>
            <a:r>
              <a:rPr spc="-20" dirty="0"/>
              <a:t>program</a:t>
            </a:r>
            <a:r>
              <a:rPr spc="225" dirty="0"/>
              <a:t> </a:t>
            </a:r>
            <a:r>
              <a:rPr spc="-15" dirty="0"/>
              <a:t>corresponds</a:t>
            </a:r>
            <a:r>
              <a:rPr spc="229" dirty="0"/>
              <a:t> </a:t>
            </a:r>
            <a:r>
              <a:rPr spc="-25" dirty="0"/>
              <a:t>to</a:t>
            </a:r>
            <a:r>
              <a:rPr spc="220" dirty="0"/>
              <a:t> </a:t>
            </a:r>
            <a:r>
              <a:rPr spc="-15" dirty="0"/>
              <a:t>a</a:t>
            </a:r>
            <a:r>
              <a:rPr spc="229" dirty="0"/>
              <a:t> </a:t>
            </a:r>
            <a:r>
              <a:rPr spc="-60" dirty="0"/>
              <a:t>depth</a:t>
            </a:r>
            <a:r>
              <a:rPr spc="-10" dirty="0"/>
              <a:t> </a:t>
            </a:r>
            <a:r>
              <a:rPr spc="-5" dirty="0"/>
              <a:t>firs</a:t>
            </a:r>
            <a:r>
              <a:rPr dirty="0"/>
              <a:t>t</a:t>
            </a:r>
            <a:r>
              <a:rPr spc="125" dirty="0"/>
              <a:t> </a:t>
            </a:r>
            <a:r>
              <a:rPr spc="-25" dirty="0"/>
              <a:t>traversal</a:t>
            </a:r>
            <a:r>
              <a:rPr spc="114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20" dirty="0"/>
              <a:t> </a:t>
            </a:r>
            <a:r>
              <a:rPr spc="-15" dirty="0"/>
              <a:t>the</a:t>
            </a:r>
            <a:r>
              <a:rPr spc="120" dirty="0"/>
              <a:t> </a:t>
            </a:r>
            <a:r>
              <a:rPr spc="-15" dirty="0"/>
              <a:t>activation</a:t>
            </a:r>
            <a:r>
              <a:rPr spc="120" dirty="0"/>
              <a:t> </a:t>
            </a:r>
            <a:r>
              <a:rPr spc="-20" dirty="0"/>
              <a:t>tree</a:t>
            </a:r>
            <a:r>
              <a:rPr spc="110" dirty="0"/>
              <a:t> </a:t>
            </a:r>
            <a:r>
              <a:rPr spc="-15" dirty="0"/>
              <a:t>that</a:t>
            </a:r>
            <a:r>
              <a:rPr spc="125" dirty="0"/>
              <a:t> </a:t>
            </a:r>
            <a:r>
              <a:rPr spc="-10" dirty="0"/>
              <a:t>starts</a:t>
            </a:r>
            <a:r>
              <a:rPr spc="110" dirty="0"/>
              <a:t> </a:t>
            </a:r>
            <a:r>
              <a:rPr spc="-10" dirty="0"/>
              <a:t>at</a:t>
            </a:r>
            <a:r>
              <a:rPr spc="120" dirty="0"/>
              <a:t> </a:t>
            </a:r>
            <a:r>
              <a:rPr spc="-15" dirty="0"/>
              <a:t>the</a:t>
            </a:r>
            <a:r>
              <a:rPr spc="120" dirty="0"/>
              <a:t> </a:t>
            </a:r>
            <a:r>
              <a:rPr spc="-5" dirty="0"/>
              <a:t>root,</a:t>
            </a:r>
            <a:r>
              <a:rPr spc="5" dirty="0"/>
              <a:t> </a:t>
            </a:r>
            <a:r>
              <a:rPr spc="-10" dirty="0"/>
              <a:t>visits</a:t>
            </a:r>
            <a:r>
              <a:rPr spc="600" dirty="0"/>
              <a:t> </a:t>
            </a:r>
            <a:r>
              <a:rPr spc="-15" dirty="0"/>
              <a:t>a</a:t>
            </a:r>
            <a:r>
              <a:rPr spc="590" dirty="0"/>
              <a:t> </a:t>
            </a:r>
            <a:r>
              <a:rPr spc="-10" dirty="0"/>
              <a:t>node</a:t>
            </a:r>
            <a:r>
              <a:rPr spc="600" dirty="0"/>
              <a:t> </a:t>
            </a:r>
            <a:r>
              <a:rPr spc="-20" dirty="0"/>
              <a:t>before</a:t>
            </a:r>
            <a:r>
              <a:rPr spc="585" dirty="0"/>
              <a:t> </a:t>
            </a:r>
            <a:r>
              <a:rPr spc="-10" dirty="0"/>
              <a:t>its</a:t>
            </a:r>
            <a:r>
              <a:rPr spc="590" dirty="0"/>
              <a:t> </a:t>
            </a:r>
            <a:r>
              <a:rPr spc="-5" dirty="0"/>
              <a:t>children,</a:t>
            </a:r>
            <a:r>
              <a:rPr spc="565" dirty="0"/>
              <a:t> </a:t>
            </a:r>
            <a:r>
              <a:rPr spc="-10" dirty="0"/>
              <a:t>and</a:t>
            </a:r>
            <a:r>
              <a:rPr spc="590" dirty="0"/>
              <a:t> </a:t>
            </a:r>
            <a:r>
              <a:rPr spc="-30" dirty="0"/>
              <a:t>recursively</a:t>
            </a:r>
            <a:r>
              <a:rPr spc="600" dirty="0"/>
              <a:t> </a:t>
            </a:r>
            <a:r>
              <a:rPr spc="-10" dirty="0"/>
              <a:t>visits </a:t>
            </a:r>
            <a:r>
              <a:rPr spc="-15" dirty="0"/>
              <a:t>children</a:t>
            </a:r>
            <a:r>
              <a:rPr spc="-5" dirty="0"/>
              <a:t> </a:t>
            </a:r>
            <a:r>
              <a:rPr spc="-10" dirty="0"/>
              <a:t>at</a:t>
            </a:r>
            <a:r>
              <a:rPr dirty="0"/>
              <a:t> </a:t>
            </a:r>
            <a:r>
              <a:rPr spc="-15" dirty="0"/>
              <a:t>each</a:t>
            </a:r>
            <a:r>
              <a:rPr spc="-5" dirty="0"/>
              <a:t> </a:t>
            </a:r>
            <a:r>
              <a:rPr spc="-15" dirty="0"/>
              <a:t>node</a:t>
            </a:r>
            <a:r>
              <a:rPr spc="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5" dirty="0"/>
              <a:t>a</a:t>
            </a:r>
            <a:r>
              <a:rPr dirty="0"/>
              <a:t> </a:t>
            </a:r>
            <a:r>
              <a:rPr spc="-5" dirty="0"/>
              <a:t>left </a:t>
            </a:r>
            <a:r>
              <a:rPr spc="-25" dirty="0"/>
              <a:t>to</a:t>
            </a:r>
            <a:r>
              <a:rPr spc="-5" dirty="0"/>
              <a:t> right</a:t>
            </a:r>
            <a:r>
              <a:rPr spc="-25" dirty="0"/>
              <a:t> </a:t>
            </a:r>
            <a:r>
              <a:rPr spc="-50" dirty="0"/>
              <a:t>order.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2209546"/>
            <a:ext cx="7754620" cy="3482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715" indent="-18288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l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stack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used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keep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track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live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procedure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activations.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idea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push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node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activation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onto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stack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begins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pop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node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when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activation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ends.</a:t>
            </a:r>
            <a:endParaRPr sz="2400">
              <a:latin typeface="Cambria"/>
              <a:cs typeface="Cambria"/>
            </a:endParaRPr>
          </a:p>
          <a:p>
            <a:pPr marL="195580" marR="6350" indent="-182880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contents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l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stack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related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paths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to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root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-10" dirty="0">
                <a:latin typeface="Cambria"/>
                <a:cs typeface="Cambria"/>
              </a:rPr>
              <a:t> tree.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87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When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5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5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5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5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top</a:t>
            </a:r>
            <a:r>
              <a:rPr sz="2400" spc="5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stack,</a:t>
            </a:r>
            <a:r>
              <a:rPr sz="2400" spc="5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stack</a:t>
            </a:r>
            <a:endParaRPr sz="2400">
              <a:latin typeface="Cambria"/>
              <a:cs typeface="Cambria"/>
            </a:endParaRPr>
          </a:p>
          <a:p>
            <a:pPr marL="195580" algn="just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contains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along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path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root.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9771" y="873251"/>
            <a:ext cx="8525256" cy="51023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58571"/>
            <a:ext cx="376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4.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Scope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Declaration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740155"/>
            <a:ext cx="7753984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A</a:t>
            </a:r>
            <a:r>
              <a:rPr spc="894" dirty="0"/>
              <a:t> </a:t>
            </a:r>
            <a:r>
              <a:rPr spc="-15" dirty="0"/>
              <a:t>declaration</a:t>
            </a:r>
            <a:r>
              <a:rPr spc="894" dirty="0"/>
              <a:t> </a:t>
            </a:r>
            <a:r>
              <a:rPr spc="-10" dirty="0"/>
              <a:t>is</a:t>
            </a:r>
            <a:r>
              <a:rPr spc="890" dirty="0"/>
              <a:t> </a:t>
            </a:r>
            <a:r>
              <a:rPr spc="-15" dirty="0"/>
              <a:t>a</a:t>
            </a:r>
            <a:r>
              <a:rPr spc="894" dirty="0"/>
              <a:t> </a:t>
            </a:r>
            <a:r>
              <a:rPr spc="-15" dirty="0"/>
              <a:t>syntactic</a:t>
            </a:r>
            <a:r>
              <a:rPr spc="900" dirty="0"/>
              <a:t> </a:t>
            </a:r>
            <a:r>
              <a:rPr spc="-20" dirty="0"/>
              <a:t>construct</a:t>
            </a:r>
            <a:r>
              <a:rPr spc="900" dirty="0"/>
              <a:t> </a:t>
            </a:r>
            <a:r>
              <a:rPr spc="-15" dirty="0"/>
              <a:t>that</a:t>
            </a:r>
            <a:r>
              <a:rPr spc="905" dirty="0"/>
              <a:t> </a:t>
            </a:r>
            <a:r>
              <a:rPr spc="-30" dirty="0"/>
              <a:t>associates</a:t>
            </a:r>
            <a:r>
              <a:rPr spc="-10" dirty="0"/>
              <a:t> </a:t>
            </a:r>
            <a:r>
              <a:rPr dirty="0"/>
              <a:t>in</a:t>
            </a:r>
            <a:r>
              <a:rPr spc="-25" dirty="0"/>
              <a:t>f</a:t>
            </a:r>
            <a:r>
              <a:rPr spc="-20" dirty="0"/>
              <a:t>o</a:t>
            </a:r>
            <a:r>
              <a:rPr dirty="0"/>
              <a:t>rmati</a:t>
            </a:r>
            <a:r>
              <a:rPr spc="-10" dirty="0"/>
              <a:t>o</a:t>
            </a:r>
            <a:r>
              <a:rPr dirty="0"/>
              <a:t>n</a:t>
            </a:r>
            <a:r>
              <a:rPr spc="405" dirty="0"/>
              <a:t> </a:t>
            </a:r>
            <a:r>
              <a:rPr dirty="0"/>
              <a:t>w</a:t>
            </a:r>
            <a:r>
              <a:rPr spc="-10" dirty="0"/>
              <a:t>i</a:t>
            </a:r>
            <a:r>
              <a:rPr dirty="0"/>
              <a:t>th</a:t>
            </a:r>
            <a:r>
              <a:rPr spc="409" dirty="0"/>
              <a:t> </a:t>
            </a:r>
            <a:r>
              <a:rPr spc="-15" dirty="0"/>
              <a:t>a</a:t>
            </a:r>
            <a:r>
              <a:rPr spc="405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spc="-15" dirty="0"/>
              <a:t>Declarations</a:t>
            </a:r>
            <a:r>
              <a:rPr spc="425" dirty="0"/>
              <a:t> </a:t>
            </a:r>
            <a:r>
              <a:rPr spc="-35" dirty="0"/>
              <a:t>may</a:t>
            </a:r>
            <a:r>
              <a:rPr spc="415" dirty="0"/>
              <a:t> </a:t>
            </a:r>
            <a:r>
              <a:rPr spc="-20" dirty="0"/>
              <a:t>be</a:t>
            </a:r>
            <a:r>
              <a:rPr spc="420" dirty="0"/>
              <a:t> </a:t>
            </a:r>
            <a:r>
              <a:rPr spc="-5" dirty="0"/>
              <a:t>explicit,</a:t>
            </a:r>
            <a:r>
              <a:rPr spc="405" dirty="0"/>
              <a:t> </a:t>
            </a:r>
            <a:r>
              <a:rPr spc="-15" dirty="0"/>
              <a:t>such</a:t>
            </a:r>
            <a:r>
              <a:rPr spc="-10" dirty="0"/>
              <a:t> as:</a:t>
            </a:r>
            <a:r>
              <a:rPr dirty="0"/>
              <a:t>  </a:t>
            </a:r>
            <a:r>
              <a:rPr spc="-25" dirty="0"/>
              <a:t>var</a:t>
            </a:r>
            <a:r>
              <a:rPr spc="-10" dirty="0"/>
              <a:t> </a:t>
            </a:r>
            <a:r>
              <a:rPr dirty="0"/>
              <a:t>i</a:t>
            </a:r>
            <a:r>
              <a:rPr spc="-5" dirty="0"/>
              <a:t> </a:t>
            </a:r>
            <a:r>
              <a:rPr spc="-10" dirty="0"/>
              <a:t>:</a:t>
            </a:r>
            <a:r>
              <a:rPr dirty="0"/>
              <a:t> </a:t>
            </a:r>
            <a:r>
              <a:rPr spc="-10" dirty="0"/>
              <a:t>integer</a:t>
            </a:r>
            <a:r>
              <a:rPr spc="-25" dirty="0"/>
              <a:t> </a:t>
            </a:r>
            <a:r>
              <a:rPr spc="-10" dirty="0"/>
              <a:t>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1764957"/>
            <a:ext cx="7754620" cy="392747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may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implicit.</a:t>
            </a:r>
            <a:endParaRPr sz="2400">
              <a:latin typeface="Cambria"/>
              <a:cs typeface="Cambria"/>
            </a:endParaRPr>
          </a:p>
          <a:p>
            <a:pPr marL="195580" marR="6985" indent="-182880" algn="just">
              <a:lnSpc>
                <a:spcPct val="90100"/>
              </a:lnSpc>
              <a:spcBef>
                <a:spcPts val="120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Example,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variable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name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starting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with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assumed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to</a:t>
            </a:r>
            <a:r>
              <a:rPr sz="2400" spc="-20" dirty="0">
                <a:latin typeface="Cambria"/>
                <a:cs typeface="Cambria"/>
              </a:rPr>
              <a:t> denote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integer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Fortran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unless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otherwise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declared.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42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9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porti</a:t>
            </a:r>
            <a:r>
              <a:rPr sz="2400" spc="-10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96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9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9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9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9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9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969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declaration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applies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 scope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declaration.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ct val="90000"/>
              </a:lnSpc>
              <a:spcBef>
                <a:spcPts val="116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occurrence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name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 </a:t>
            </a:r>
            <a:r>
              <a:rPr sz="2400" spc="-20" dirty="0">
                <a:latin typeface="Cambria"/>
                <a:cs typeface="Cambria"/>
              </a:rPr>
              <a:t>procedure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said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local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to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procedure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scope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declaration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within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;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otherwise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occurrence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said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no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local.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136650">
              <a:lnSpc>
                <a:spcPct val="888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Source 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Issue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73177"/>
            <a:ext cx="2578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5.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Binding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10" dirty="0">
                <a:latin typeface="Cambria"/>
                <a:cs typeface="Cambria"/>
              </a:rPr>
              <a:t> names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754456"/>
            <a:ext cx="77539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Even</a:t>
            </a:r>
            <a:r>
              <a:rPr spc="-90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each</a:t>
            </a:r>
            <a:r>
              <a:rPr spc="-45" dirty="0"/>
              <a:t> </a:t>
            </a:r>
            <a:r>
              <a:rPr dirty="0"/>
              <a:t>name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declared</a:t>
            </a:r>
            <a:r>
              <a:rPr spc="-35" dirty="0"/>
              <a:t> </a:t>
            </a:r>
            <a:r>
              <a:rPr dirty="0"/>
              <a:t>once</a:t>
            </a:r>
            <a:r>
              <a:rPr spc="-2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program,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same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968502"/>
            <a:ext cx="7755890" cy="42329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mbria"/>
                <a:cs typeface="Cambria"/>
              </a:rPr>
              <a:t>name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denote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different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time.</a:t>
            </a:r>
            <a:endParaRPr sz="2400">
              <a:latin typeface="Cambria"/>
              <a:cs typeface="Cambria"/>
            </a:endParaRPr>
          </a:p>
          <a:p>
            <a:pPr marL="195580" marR="6985" indent="-182880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“Data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object”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corresponds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storage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location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holds values.</a:t>
            </a:r>
            <a:endParaRPr sz="2400">
              <a:latin typeface="Cambria"/>
              <a:cs typeface="Cambria"/>
            </a:endParaRPr>
          </a:p>
          <a:p>
            <a:pPr marL="195580" marR="7620" indent="-182880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term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environment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refers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maps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storage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location.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35"/>
              </a:lnSpc>
              <a:spcBef>
                <a:spcPts val="87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term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refers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maps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storage</a:t>
            </a:r>
            <a:endParaRPr sz="2400">
              <a:latin typeface="Cambria"/>
              <a:cs typeface="Cambria"/>
            </a:endParaRPr>
          </a:p>
          <a:p>
            <a:pPr marL="195580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location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held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there.</a:t>
            </a:r>
            <a:endParaRPr sz="2400">
              <a:latin typeface="Cambria"/>
              <a:cs typeface="Cambria"/>
            </a:endParaRPr>
          </a:p>
          <a:p>
            <a:pPr marL="195580" marR="5080" indent="-182880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When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environment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associates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storage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location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say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bound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association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referred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binding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x.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8265" y="5195315"/>
            <a:ext cx="4643421" cy="13883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028700">
              <a:lnSpc>
                <a:spcPts val="3779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Record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The</a:t>
            </a:r>
            <a:r>
              <a:rPr spc="780" dirty="0"/>
              <a:t> </a:t>
            </a:r>
            <a:r>
              <a:rPr spc="-20" dirty="0"/>
              <a:t>activation</a:t>
            </a:r>
            <a:r>
              <a:rPr spc="770" dirty="0"/>
              <a:t> </a:t>
            </a:r>
            <a:r>
              <a:rPr spc="-25" dirty="0"/>
              <a:t>record</a:t>
            </a:r>
            <a:r>
              <a:rPr spc="760" dirty="0"/>
              <a:t> </a:t>
            </a:r>
            <a:r>
              <a:rPr spc="-10" dirty="0"/>
              <a:t>is</a:t>
            </a:r>
            <a:r>
              <a:rPr spc="775" dirty="0"/>
              <a:t> </a:t>
            </a:r>
            <a:r>
              <a:rPr spc="-15" dirty="0"/>
              <a:t>a</a:t>
            </a:r>
            <a:r>
              <a:rPr spc="765" dirty="0"/>
              <a:t> </a:t>
            </a:r>
            <a:r>
              <a:rPr spc="-10" dirty="0"/>
              <a:t>block</a:t>
            </a:r>
            <a:r>
              <a:rPr spc="77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780" dirty="0"/>
              <a:t> </a:t>
            </a:r>
            <a:r>
              <a:rPr spc="-15" dirty="0"/>
              <a:t>memory</a:t>
            </a:r>
            <a:r>
              <a:rPr spc="780" dirty="0"/>
              <a:t> </a:t>
            </a:r>
            <a:r>
              <a:rPr spc="-15" dirty="0"/>
              <a:t>used</a:t>
            </a:r>
            <a:r>
              <a:rPr spc="775" dirty="0"/>
              <a:t> </a:t>
            </a:r>
            <a:r>
              <a:rPr spc="-95" dirty="0"/>
              <a:t>f</a:t>
            </a:r>
            <a:r>
              <a:rPr spc="-60" dirty="0"/>
              <a:t>or</a:t>
            </a:r>
            <a:r>
              <a:rPr dirty="0"/>
              <a:t> </a:t>
            </a:r>
            <a:r>
              <a:rPr spc="-10" dirty="0"/>
              <a:t>managing</a:t>
            </a:r>
            <a:r>
              <a:rPr spc="320" dirty="0"/>
              <a:t> </a:t>
            </a:r>
            <a:r>
              <a:rPr spc="-15" dirty="0"/>
              <a:t>information</a:t>
            </a:r>
            <a:r>
              <a:rPr spc="320" dirty="0"/>
              <a:t> </a:t>
            </a:r>
            <a:r>
              <a:rPr spc="-15" dirty="0"/>
              <a:t>needed</a:t>
            </a:r>
            <a:r>
              <a:rPr spc="325" dirty="0"/>
              <a:t> </a:t>
            </a:r>
            <a:r>
              <a:rPr spc="-40" dirty="0"/>
              <a:t>by</a:t>
            </a:r>
            <a:r>
              <a:rPr spc="320" dirty="0"/>
              <a:t> </a:t>
            </a:r>
            <a:r>
              <a:rPr spc="-15" dirty="0"/>
              <a:t>a</a:t>
            </a:r>
            <a:r>
              <a:rPr spc="320" dirty="0"/>
              <a:t> </a:t>
            </a:r>
            <a:r>
              <a:rPr spc="-20" dirty="0"/>
              <a:t>single</a:t>
            </a:r>
            <a:r>
              <a:rPr spc="320" dirty="0"/>
              <a:t> </a:t>
            </a:r>
            <a:r>
              <a:rPr spc="-15" dirty="0"/>
              <a:t>execution</a:t>
            </a:r>
            <a:r>
              <a:rPr spc="310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310" dirty="0"/>
              <a:t> </a:t>
            </a:r>
            <a:r>
              <a:rPr spc="-15" dirty="0"/>
              <a:t>a</a:t>
            </a:r>
            <a:r>
              <a:rPr spc="-10" dirty="0"/>
              <a:t> </a:t>
            </a:r>
            <a:r>
              <a:rPr spc="-20" dirty="0"/>
              <a:t>procedure.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3714" y="4654296"/>
            <a:ext cx="7755255" cy="16478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754630" algn="just">
              <a:lnSpc>
                <a:spcPct val="100000"/>
              </a:lnSpc>
              <a:spcBef>
                <a:spcPts val="1015"/>
              </a:spcBef>
            </a:pP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record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Fortran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uses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static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data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area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store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the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activation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record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where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pascal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record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is situated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stack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area.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1126" y="1350427"/>
            <a:ext cx="1899975" cy="324313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028700">
              <a:lnSpc>
                <a:spcPts val="3779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Record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258571"/>
            <a:ext cx="7757159" cy="59397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7995" marR="5715" indent="-455295" algn="just">
              <a:lnSpc>
                <a:spcPts val="2590"/>
              </a:lnSpc>
              <a:spcBef>
                <a:spcPts val="425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spc="-20" dirty="0">
                <a:latin typeface="Cambria"/>
                <a:cs typeface="Cambria"/>
              </a:rPr>
              <a:t>Temporary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values: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temporary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needed 	</a:t>
            </a:r>
            <a:r>
              <a:rPr sz="2400" dirty="0">
                <a:latin typeface="Cambria"/>
                <a:cs typeface="Cambria"/>
              </a:rPr>
              <a:t>during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evaluation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expressions.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Such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are 	</a:t>
            </a:r>
            <a:r>
              <a:rPr sz="2400" dirty="0">
                <a:latin typeface="Cambria"/>
                <a:cs typeface="Cambria"/>
              </a:rPr>
              <a:t>stored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temporary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record.</a:t>
            </a:r>
            <a:endParaRPr sz="2400">
              <a:latin typeface="Cambria"/>
              <a:cs typeface="Cambria"/>
            </a:endParaRPr>
          </a:p>
          <a:p>
            <a:pPr marL="467995" marR="6350" indent="-455295" algn="just">
              <a:lnSpc>
                <a:spcPts val="2590"/>
              </a:lnSpc>
              <a:spcBef>
                <a:spcPts val="1210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Local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variable: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	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execution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procedure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stored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field 	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activation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record.</a:t>
            </a:r>
            <a:endParaRPr sz="2400">
              <a:latin typeface="Cambria"/>
              <a:cs typeface="Cambria"/>
            </a:endParaRPr>
          </a:p>
          <a:p>
            <a:pPr marL="467995" marR="5715" indent="-455295" algn="just">
              <a:lnSpc>
                <a:spcPct val="90000"/>
              </a:lnSpc>
              <a:spcBef>
                <a:spcPts val="1165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Saved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register: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information 	</a:t>
            </a:r>
            <a:r>
              <a:rPr sz="2400" dirty="0">
                <a:latin typeface="Cambria"/>
                <a:cs typeface="Cambria"/>
              </a:rPr>
              <a:t>regarding</a:t>
            </a:r>
            <a:r>
              <a:rPr sz="2400" spc="3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status</a:t>
            </a:r>
            <a:r>
              <a:rPr sz="2400" spc="3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just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	</a:t>
            </a:r>
            <a:r>
              <a:rPr sz="2400" dirty="0">
                <a:latin typeface="Cambria"/>
                <a:cs typeface="Cambria"/>
              </a:rPr>
              <a:t>procedure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called.</a:t>
            </a:r>
            <a:r>
              <a:rPr sz="2400" spc="5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contains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machine 	registers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counters.</a:t>
            </a:r>
            <a:endParaRPr sz="2400">
              <a:latin typeface="Cambria"/>
              <a:cs typeface="Cambria"/>
            </a:endParaRPr>
          </a:p>
          <a:p>
            <a:pPr marL="467995" marR="5080" indent="-455295" algn="just">
              <a:lnSpc>
                <a:spcPts val="2590"/>
              </a:lnSpc>
              <a:spcBef>
                <a:spcPts val="1245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link: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optional.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points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	</a:t>
            </a:r>
            <a:r>
              <a:rPr sz="2400" dirty="0">
                <a:latin typeface="Cambria"/>
                <a:cs typeface="Cambria"/>
              </a:rPr>
              <a:t>activation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record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calling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procedure.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	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dynamic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link.</a:t>
            </a:r>
            <a:endParaRPr sz="2400">
              <a:latin typeface="Cambria"/>
              <a:cs typeface="Cambria"/>
            </a:endParaRPr>
          </a:p>
          <a:p>
            <a:pPr marL="467995" marR="5080" indent="-455295" algn="just">
              <a:lnSpc>
                <a:spcPts val="2590"/>
              </a:lnSpc>
              <a:spcBef>
                <a:spcPts val="1205"/>
              </a:spcBef>
              <a:buClr>
                <a:srgbClr val="40B9D2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link: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optional.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refers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	</a:t>
            </a:r>
            <a:r>
              <a:rPr sz="2400" dirty="0">
                <a:latin typeface="Cambria"/>
                <a:cs typeface="Cambria"/>
              </a:rPr>
              <a:t>non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activation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record.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	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field.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1028700">
              <a:lnSpc>
                <a:spcPts val="3779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Record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dirty="0"/>
              <a:t>6.</a:t>
            </a:r>
            <a:r>
              <a:rPr spc="515" dirty="0"/>
              <a:t> </a:t>
            </a:r>
            <a:r>
              <a:rPr dirty="0"/>
              <a:t>Actual</a:t>
            </a:r>
            <a:r>
              <a:rPr spc="535" dirty="0"/>
              <a:t> </a:t>
            </a:r>
            <a:r>
              <a:rPr dirty="0"/>
              <a:t>parameter:</a:t>
            </a:r>
            <a:r>
              <a:rPr spc="520" dirty="0"/>
              <a:t> </a:t>
            </a:r>
            <a:r>
              <a:rPr dirty="0"/>
              <a:t>This</a:t>
            </a:r>
            <a:r>
              <a:rPr spc="535" dirty="0"/>
              <a:t> </a:t>
            </a:r>
            <a:r>
              <a:rPr dirty="0"/>
              <a:t>field</a:t>
            </a:r>
            <a:r>
              <a:rPr spc="520" dirty="0"/>
              <a:t> </a:t>
            </a:r>
            <a:r>
              <a:rPr dirty="0"/>
              <a:t>holds</a:t>
            </a:r>
            <a:r>
              <a:rPr spc="530" dirty="0"/>
              <a:t> </a:t>
            </a:r>
            <a:r>
              <a:rPr dirty="0"/>
              <a:t>the</a:t>
            </a:r>
            <a:r>
              <a:rPr spc="530" dirty="0"/>
              <a:t> </a:t>
            </a:r>
            <a:r>
              <a:rPr dirty="0"/>
              <a:t>information</a:t>
            </a:r>
            <a:r>
              <a:rPr spc="525" dirty="0"/>
              <a:t> </a:t>
            </a:r>
            <a:r>
              <a:rPr spc="-25" dirty="0"/>
              <a:t>of </a:t>
            </a:r>
            <a:r>
              <a:rPr dirty="0"/>
              <a:t>actual</a:t>
            </a:r>
            <a:r>
              <a:rPr spc="15" dirty="0"/>
              <a:t> </a:t>
            </a:r>
            <a:r>
              <a:rPr spc="-25" dirty="0"/>
              <a:t>parameter.</a:t>
            </a:r>
            <a:r>
              <a:rPr spc="20" dirty="0"/>
              <a:t> </a:t>
            </a:r>
            <a:r>
              <a:rPr dirty="0"/>
              <a:t>These</a:t>
            </a:r>
            <a:r>
              <a:rPr spc="25" dirty="0"/>
              <a:t> </a:t>
            </a:r>
            <a:r>
              <a:rPr dirty="0"/>
              <a:t>actual</a:t>
            </a:r>
            <a:r>
              <a:rPr spc="20" dirty="0"/>
              <a:t> </a:t>
            </a:r>
            <a:r>
              <a:rPr dirty="0"/>
              <a:t>parameter</a:t>
            </a:r>
            <a:r>
              <a:rPr spc="2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passes</a:t>
            </a:r>
            <a:r>
              <a:rPr spc="2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5" dirty="0"/>
              <a:t>the </a:t>
            </a:r>
            <a:r>
              <a:rPr dirty="0"/>
              <a:t>called</a:t>
            </a:r>
            <a:r>
              <a:rPr spc="-60" dirty="0"/>
              <a:t> </a:t>
            </a:r>
            <a:r>
              <a:rPr spc="-10" dirty="0"/>
              <a:t>procedure.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3714" y="1398778"/>
            <a:ext cx="77546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ambria"/>
                <a:cs typeface="Cambria"/>
              </a:rPr>
              <a:t>7.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Return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values: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field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result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function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call.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95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495934">
              <a:lnSpc>
                <a:spcPct val="90000"/>
              </a:lnSpc>
            </a:pP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Static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sz="3600" b="1" spc="-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Dynamic memory Allocation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87928" y="85089"/>
          <a:ext cx="8152130" cy="6430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b="1" dirty="0">
                          <a:latin typeface="Cambria"/>
                          <a:cs typeface="Cambria"/>
                        </a:rPr>
                        <a:t>Static</a:t>
                      </a:r>
                      <a:r>
                        <a:rPr sz="2200" b="1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b="1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b="1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b="1" spc="-10" dirty="0">
                          <a:latin typeface="Cambria"/>
                          <a:cs typeface="Cambria"/>
                        </a:rPr>
                        <a:t>allocation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b="1" dirty="0">
                          <a:latin typeface="Cambria"/>
                          <a:cs typeface="Cambria"/>
                        </a:rPr>
                        <a:t>Dynamic</a:t>
                      </a:r>
                      <a:r>
                        <a:rPr sz="2200" b="1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b="1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b="1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b="1" spc="-10" dirty="0">
                          <a:latin typeface="Cambria"/>
                          <a:cs typeface="Cambria"/>
                        </a:rPr>
                        <a:t>allocation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spc="3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allocated</a:t>
                      </a:r>
                      <a:r>
                        <a:rPr sz="22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before</a:t>
                      </a:r>
                      <a:r>
                        <a:rPr sz="220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2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program</a:t>
                      </a:r>
                      <a:r>
                        <a:rPr sz="2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begins.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2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spc="2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allocated</a:t>
                      </a:r>
                      <a:r>
                        <a:rPr sz="22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2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program.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645">
                <a:tc>
                  <a:txBody>
                    <a:bodyPr/>
                    <a:lstStyle/>
                    <a:p>
                      <a:pPr marL="91440" marR="83820" algn="just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2200" spc="20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2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allocation</a:t>
                      </a:r>
                      <a:r>
                        <a:rPr sz="2200" spc="21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2200" spc="2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de-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allocation</a:t>
                      </a:r>
                      <a:r>
                        <a:rPr sz="2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actions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performed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execution.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algn="just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1828164" algn="l"/>
                          <a:tab pos="3597910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bindings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30" dirty="0">
                          <a:latin typeface="Cambria"/>
                          <a:cs typeface="Cambria"/>
                        </a:rPr>
                        <a:t>are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established</a:t>
                      </a:r>
                      <a:r>
                        <a:rPr sz="2200" spc="38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200" spc="38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destroyed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execution.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645920" algn="l"/>
                          <a:tab pos="2725420" algn="l"/>
                          <a:tab pos="3300095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speed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faster</a:t>
                      </a:r>
                      <a:endParaRPr sz="22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compared</a:t>
                      </a:r>
                      <a:r>
                        <a:rPr sz="2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2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dynamic</a:t>
                      </a:r>
                      <a:r>
                        <a:rPr sz="2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allocation.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605280" algn="l"/>
                          <a:tab pos="2643505" algn="l"/>
                          <a:tab pos="3175635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speed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slower</a:t>
                      </a:r>
                      <a:endParaRPr sz="22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compared</a:t>
                      </a:r>
                      <a:r>
                        <a:rPr sz="2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static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allocation.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2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access</a:t>
                      </a:r>
                      <a:r>
                        <a:rPr sz="22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2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variable</a:t>
                      </a:r>
                      <a:r>
                        <a:rPr sz="22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pointer</a:t>
                      </a:r>
                      <a:r>
                        <a:rPr sz="22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is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needed.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185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861694" algn="l"/>
                          <a:tab pos="1878330" algn="l"/>
                          <a:tab pos="2543175" algn="l"/>
                        </a:tabLst>
                      </a:pPr>
                      <a:r>
                        <a:rPr sz="2200" spc="-25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need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dynamically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allocated</a:t>
                      </a:r>
                      <a:r>
                        <a:rPr sz="22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pointers.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91440" marR="83185" algn="just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More</a:t>
                      </a:r>
                      <a:r>
                        <a:rPr sz="22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space</a:t>
                      </a:r>
                      <a:r>
                        <a:rPr sz="22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required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2200" spc="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we</a:t>
                      </a:r>
                      <a:r>
                        <a:rPr sz="2200" spc="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allocate</a:t>
                      </a:r>
                      <a:r>
                        <a:rPr sz="2200" spc="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before execution.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Less</a:t>
                      </a:r>
                      <a:r>
                        <a:rPr sz="2200" spc="2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space</a:t>
                      </a:r>
                      <a:r>
                        <a:rPr sz="22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required</a:t>
                      </a:r>
                      <a:r>
                        <a:rPr sz="22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in</a:t>
                      </a:r>
                      <a:endParaRPr sz="22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dynamic</a:t>
                      </a:r>
                      <a:r>
                        <a:rPr sz="22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220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allocation.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276985" algn="l"/>
                          <a:tab pos="2452370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Variable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remains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permanently</a:t>
                      </a:r>
                      <a:endParaRPr sz="22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allocated.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399540" algn="l"/>
                          <a:tab pos="2102485" algn="l"/>
                          <a:tab pos="2950210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Allocated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when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program</a:t>
                      </a:r>
                      <a:endParaRPr sz="22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200" dirty="0">
                          <a:latin typeface="Cambria"/>
                          <a:cs typeface="Cambria"/>
                        </a:rPr>
                        <a:t>unit</a:t>
                      </a:r>
                      <a:r>
                        <a:rPr sz="2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active.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882139" algn="l"/>
                          <a:tab pos="2720975" algn="l"/>
                          <a:tab pos="3536315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Implemented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using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stack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heaps.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2251710" algn="l"/>
                          <a:tab pos="3460750" algn="l"/>
                        </a:tabLst>
                      </a:pPr>
                      <a:r>
                        <a:rPr sz="2200" spc="-10" dirty="0">
                          <a:latin typeface="Cambria"/>
                          <a:cs typeface="Cambria"/>
                        </a:rPr>
                        <a:t>Implemented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using</a:t>
                      </a:r>
                      <a:r>
                        <a:rPr sz="22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200" spc="-20" dirty="0">
                          <a:latin typeface="Cambria"/>
                          <a:cs typeface="Cambria"/>
                        </a:rPr>
                        <a:t>data </a:t>
                      </a:r>
                      <a:r>
                        <a:rPr sz="2200" spc="-10" dirty="0">
                          <a:latin typeface="Cambria"/>
                          <a:cs typeface="Cambria"/>
                        </a:rPr>
                        <a:t>segment.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714" y="691641"/>
            <a:ext cx="7756525" cy="17087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000"/>
              </a:lnSpc>
              <a:spcBef>
                <a:spcPts val="38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All</a:t>
            </a:r>
            <a:r>
              <a:rPr spc="140" dirty="0"/>
              <a:t> </a:t>
            </a:r>
            <a:r>
              <a:rPr spc="-15" dirty="0"/>
              <a:t>programming</a:t>
            </a:r>
            <a:r>
              <a:rPr spc="145" dirty="0"/>
              <a:t> </a:t>
            </a:r>
            <a:r>
              <a:rPr spc="-20" dirty="0"/>
              <a:t>languages</a:t>
            </a:r>
            <a:r>
              <a:rPr spc="150" dirty="0"/>
              <a:t> </a:t>
            </a:r>
            <a:r>
              <a:rPr spc="-40" dirty="0"/>
              <a:t>have</a:t>
            </a:r>
            <a:r>
              <a:rPr spc="160" dirty="0"/>
              <a:t> </a:t>
            </a:r>
            <a:r>
              <a:rPr spc="-15" dirty="0"/>
              <a:t>a</a:t>
            </a:r>
            <a:r>
              <a:rPr spc="145" dirty="0"/>
              <a:t> </a:t>
            </a:r>
            <a:r>
              <a:rPr spc="-5" dirty="0"/>
              <a:t>notion</a:t>
            </a:r>
            <a:r>
              <a:rPr spc="14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35" dirty="0"/>
              <a:t> </a:t>
            </a:r>
            <a:r>
              <a:rPr spc="-15" dirty="0"/>
              <a:t>a</a:t>
            </a:r>
            <a:r>
              <a:rPr spc="145" dirty="0"/>
              <a:t> </a:t>
            </a:r>
            <a:r>
              <a:rPr spc="-35" dirty="0"/>
              <a:t>procedure,</a:t>
            </a:r>
            <a:r>
              <a:rPr spc="-5" dirty="0"/>
              <a:t> </a:t>
            </a:r>
            <a:r>
              <a:rPr spc="-10" dirty="0"/>
              <a:t>bu</a:t>
            </a:r>
            <a:r>
              <a:rPr dirty="0"/>
              <a:t>t</a:t>
            </a:r>
            <a:r>
              <a:rPr spc="645" dirty="0"/>
              <a:t> </a:t>
            </a:r>
            <a:r>
              <a:rPr spc="-20" dirty="0"/>
              <a:t>they</a:t>
            </a:r>
            <a:r>
              <a:rPr spc="645" dirty="0"/>
              <a:t> </a:t>
            </a:r>
            <a:r>
              <a:rPr spc="-5" dirty="0"/>
              <a:t>can</a:t>
            </a:r>
            <a:r>
              <a:rPr spc="650" dirty="0"/>
              <a:t> </a:t>
            </a:r>
            <a:r>
              <a:rPr spc="-15" dirty="0"/>
              <a:t>differ</a:t>
            </a:r>
            <a:r>
              <a:rPr spc="630" dirty="0"/>
              <a:t> </a:t>
            </a:r>
            <a:r>
              <a:rPr spc="-10" dirty="0"/>
              <a:t>i</a:t>
            </a:r>
            <a:r>
              <a:rPr dirty="0"/>
              <a:t>n</a:t>
            </a:r>
            <a:r>
              <a:rPr spc="645" dirty="0"/>
              <a:t> </a:t>
            </a:r>
            <a:r>
              <a:rPr spc="-15" dirty="0"/>
              <a:t>how</a:t>
            </a:r>
            <a:r>
              <a:rPr spc="645" dirty="0"/>
              <a:t> </a:t>
            </a:r>
            <a:r>
              <a:rPr spc="-15" dirty="0"/>
              <a:t>these</a:t>
            </a:r>
            <a:r>
              <a:rPr spc="645" dirty="0"/>
              <a:t> </a:t>
            </a:r>
            <a:r>
              <a:rPr spc="-20" dirty="0"/>
              <a:t>procedures</a:t>
            </a:r>
            <a:r>
              <a:rPr spc="655" dirty="0"/>
              <a:t> </a:t>
            </a:r>
            <a:r>
              <a:rPr spc="-15" dirty="0"/>
              <a:t>get</a:t>
            </a:r>
            <a:r>
              <a:rPr spc="650" dirty="0"/>
              <a:t> </a:t>
            </a:r>
            <a:r>
              <a:rPr spc="-15" dirty="0"/>
              <a:t>their</a:t>
            </a:r>
            <a:r>
              <a:rPr dirty="0"/>
              <a:t> </a:t>
            </a:r>
            <a:r>
              <a:rPr spc="-10" dirty="0"/>
              <a:t>arguments.</a:t>
            </a:r>
            <a:r>
              <a:rPr spc="655" dirty="0"/>
              <a:t> </a:t>
            </a:r>
            <a:r>
              <a:rPr dirty="0"/>
              <a:t>In</a:t>
            </a:r>
            <a:r>
              <a:rPr spc="670" dirty="0"/>
              <a:t> </a:t>
            </a:r>
            <a:r>
              <a:rPr spc="-10" dirty="0"/>
              <a:t>this</a:t>
            </a:r>
            <a:r>
              <a:rPr spc="670" dirty="0"/>
              <a:t> </a:t>
            </a:r>
            <a:r>
              <a:rPr spc="-10" dirty="0"/>
              <a:t>section,</a:t>
            </a:r>
            <a:r>
              <a:rPr spc="670" dirty="0"/>
              <a:t> </a:t>
            </a:r>
            <a:r>
              <a:rPr spc="-35" dirty="0"/>
              <a:t>we</a:t>
            </a:r>
            <a:r>
              <a:rPr spc="670" dirty="0"/>
              <a:t> </a:t>
            </a:r>
            <a:r>
              <a:rPr spc="-15" dirty="0"/>
              <a:t>shall</a:t>
            </a:r>
            <a:r>
              <a:rPr spc="665" dirty="0"/>
              <a:t> </a:t>
            </a:r>
            <a:r>
              <a:rPr spc="-10" dirty="0"/>
              <a:t>consider</a:t>
            </a:r>
            <a:r>
              <a:rPr spc="675" dirty="0"/>
              <a:t> </a:t>
            </a:r>
            <a:r>
              <a:rPr spc="-25" dirty="0"/>
              <a:t>how</a:t>
            </a:r>
            <a:r>
              <a:rPr spc="665" dirty="0"/>
              <a:t> </a:t>
            </a:r>
            <a:r>
              <a:rPr spc="-10" dirty="0"/>
              <a:t>the </a:t>
            </a:r>
            <a:r>
              <a:rPr spc="-15" dirty="0"/>
              <a:t>actual</a:t>
            </a:r>
            <a:r>
              <a:rPr dirty="0"/>
              <a:t>    </a:t>
            </a:r>
            <a:r>
              <a:rPr spc="-20" dirty="0"/>
              <a:t>parameters</a:t>
            </a:r>
            <a:r>
              <a:rPr spc="1580" dirty="0"/>
              <a:t> </a:t>
            </a:r>
            <a:r>
              <a:rPr spc="-25" dirty="0"/>
              <a:t>are</a:t>
            </a:r>
            <a:r>
              <a:rPr spc="1565" dirty="0"/>
              <a:t> </a:t>
            </a:r>
            <a:r>
              <a:rPr spc="-20" dirty="0"/>
              <a:t>associated</a:t>
            </a:r>
            <a:r>
              <a:rPr spc="1585" dirty="0"/>
              <a:t> </a:t>
            </a:r>
            <a:r>
              <a:rPr spc="-5" dirty="0"/>
              <a:t>with</a:t>
            </a:r>
            <a:r>
              <a:rPr spc="1550" dirty="0"/>
              <a:t> </a:t>
            </a:r>
            <a:r>
              <a:rPr spc="-15" dirty="0"/>
              <a:t>the</a:t>
            </a:r>
            <a:r>
              <a:rPr spc="1560" dirty="0"/>
              <a:t> </a:t>
            </a:r>
            <a:r>
              <a:rPr spc="-20" dirty="0"/>
              <a:t>formal</a:t>
            </a:r>
            <a:r>
              <a:rPr spc="-15" dirty="0"/>
              <a:t> </a:t>
            </a:r>
            <a:r>
              <a:rPr spc="-20" dirty="0"/>
              <a:t>parameters.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3714" y="2373905"/>
            <a:ext cx="2712085" cy="195326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15"/>
              </a:spcBef>
              <a:buClr>
                <a:srgbClr val="40B9D2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mbria"/>
                <a:cs typeface="Cambria"/>
              </a:rPr>
              <a:t>Call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value</a:t>
            </a:r>
            <a:endParaRPr sz="2400">
              <a:latin typeface="Cambria"/>
              <a:cs typeface="Cambria"/>
            </a:endParaRPr>
          </a:p>
          <a:p>
            <a:pPr marL="527685" indent="-514984">
              <a:lnSpc>
                <a:spcPct val="100000"/>
              </a:lnSpc>
              <a:spcBef>
                <a:spcPts val="915"/>
              </a:spcBef>
              <a:buClr>
                <a:srgbClr val="40B9D2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mbria"/>
                <a:cs typeface="Cambria"/>
              </a:rPr>
              <a:t>Call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reference</a:t>
            </a:r>
            <a:endParaRPr sz="2400">
              <a:latin typeface="Cambria"/>
              <a:cs typeface="Cambria"/>
            </a:endParaRPr>
          </a:p>
          <a:p>
            <a:pPr marL="527685" indent="-514984">
              <a:lnSpc>
                <a:spcPct val="100000"/>
              </a:lnSpc>
              <a:spcBef>
                <a:spcPts val="910"/>
              </a:spcBef>
              <a:buClr>
                <a:srgbClr val="40B9D2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mbria"/>
                <a:cs typeface="Cambria"/>
              </a:rPr>
              <a:t>Copy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restore</a:t>
            </a:r>
            <a:endParaRPr sz="2400">
              <a:latin typeface="Cambria"/>
              <a:cs typeface="Cambria"/>
            </a:endParaRPr>
          </a:p>
          <a:p>
            <a:pPr marL="527685" indent="-514984">
              <a:lnSpc>
                <a:spcPct val="100000"/>
              </a:lnSpc>
              <a:spcBef>
                <a:spcPts val="915"/>
              </a:spcBef>
              <a:buClr>
                <a:srgbClr val="40B9D2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mbria"/>
                <a:cs typeface="Cambria"/>
              </a:rPr>
              <a:t>Call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name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3304" y="776681"/>
            <a:ext cx="2338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b="1" spc="-25" dirty="0">
                <a:solidFill>
                  <a:srgbClr val="40B9D2"/>
                </a:solidFill>
                <a:latin typeface="Cambria"/>
                <a:cs typeface="Cambria"/>
              </a:rPr>
              <a:t>1.</a:t>
            </a:r>
            <a:r>
              <a:rPr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b="1" dirty="0">
                <a:latin typeface="Cambria"/>
                <a:cs typeface="Cambria"/>
              </a:rPr>
              <a:t>Call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by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Value: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83304" y="1258951"/>
            <a:ext cx="7757159" cy="30010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c</a:t>
            </a:r>
            <a:r>
              <a:rPr sz="2400" i="1" dirty="0">
                <a:latin typeface="Cambria"/>
                <a:cs typeface="Cambria"/>
              </a:rPr>
              <a:t>a</a:t>
            </a:r>
            <a:r>
              <a:rPr sz="2400" i="1" spc="-10" dirty="0">
                <a:latin typeface="Cambria"/>
                <a:cs typeface="Cambria"/>
              </a:rPr>
              <a:t>l</a:t>
            </a:r>
            <a:r>
              <a:rPr sz="2400" i="1" spc="-5" dirty="0">
                <a:latin typeface="Cambria"/>
                <a:cs typeface="Cambria"/>
              </a:rPr>
              <a:t>l</a:t>
            </a:r>
            <a:r>
              <a:rPr sz="2400" i="1" dirty="0">
                <a:latin typeface="Cambria"/>
                <a:cs typeface="Cambria"/>
              </a:rPr>
              <a:t>-</a:t>
            </a:r>
            <a:r>
              <a:rPr sz="2400" i="1" spc="-30" dirty="0">
                <a:latin typeface="Cambria"/>
                <a:cs typeface="Cambria"/>
              </a:rPr>
              <a:t>b</a:t>
            </a:r>
            <a:r>
              <a:rPr sz="2400" i="1" spc="-15" dirty="0">
                <a:latin typeface="Cambria"/>
                <a:cs typeface="Cambria"/>
              </a:rPr>
              <a:t>y</a:t>
            </a:r>
            <a:r>
              <a:rPr sz="2400" i="1" dirty="0">
                <a:latin typeface="Cambria"/>
                <a:cs typeface="Cambria"/>
              </a:rPr>
              <a:t>-</a:t>
            </a:r>
            <a:r>
              <a:rPr sz="2400" i="1" spc="-15" dirty="0">
                <a:latin typeface="Cambria"/>
                <a:cs typeface="Cambria"/>
              </a:rPr>
              <a:t>value,</a:t>
            </a:r>
            <a:r>
              <a:rPr sz="2400" i="1" spc="2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evaluated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(if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expression)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copied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(if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variable).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is </a:t>
            </a:r>
            <a:r>
              <a:rPr sz="2400" spc="-15" dirty="0">
                <a:latin typeface="Cambria"/>
                <a:cs typeface="Cambria"/>
              </a:rPr>
              <a:t>placed</a:t>
            </a:r>
            <a:r>
              <a:rPr sz="2400" spc="7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location</a:t>
            </a:r>
            <a:r>
              <a:rPr sz="2400" spc="7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belong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spc="-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g</a:t>
            </a:r>
            <a:r>
              <a:rPr sz="2400" spc="69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7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corresponding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-10" dirty="0">
                <a:latin typeface="Cambria"/>
                <a:cs typeface="Cambria"/>
              </a:rPr>
              <a:t>m</a:t>
            </a:r>
            <a:r>
              <a:rPr sz="2400" spc="-5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l</a:t>
            </a:r>
            <a:r>
              <a:rPr sz="2400" spc="-15" dirty="0">
                <a:latin typeface="Cambria"/>
                <a:cs typeface="Cambria"/>
              </a:rPr>
              <a:t> parameter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procedure.</a:t>
            </a:r>
            <a:endParaRPr sz="2400">
              <a:latin typeface="Cambria"/>
              <a:cs typeface="Cambria"/>
            </a:endParaRPr>
          </a:p>
          <a:p>
            <a:pPr marL="195580" marR="7620" indent="-182880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operation</a:t>
            </a:r>
            <a:r>
              <a:rPr sz="2400" spc="7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7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formal</a:t>
            </a:r>
            <a:r>
              <a:rPr sz="2400" spc="7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7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do</a:t>
            </a:r>
            <a:r>
              <a:rPr sz="2400" spc="7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not</a:t>
            </a:r>
            <a:r>
              <a:rPr sz="2400" spc="7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change</a:t>
            </a:r>
            <a:r>
              <a:rPr sz="2400" spc="73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its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87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method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Java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common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option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in</a:t>
            </a:r>
            <a:endParaRPr sz="2400">
              <a:latin typeface="Cambria"/>
              <a:cs typeface="Cambria"/>
            </a:endParaRPr>
          </a:p>
          <a:p>
            <a:pPr marL="195580" algn="just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C++,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well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8446" y="747776"/>
            <a:ext cx="2338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b="1" spc="-25" dirty="0">
                <a:solidFill>
                  <a:srgbClr val="40B9D2"/>
                </a:solidFill>
                <a:latin typeface="Cambria"/>
                <a:cs typeface="Cambria"/>
              </a:rPr>
              <a:t>1.</a:t>
            </a:r>
            <a:r>
              <a:rPr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b="1" dirty="0">
                <a:latin typeface="Cambria"/>
                <a:cs typeface="Cambria"/>
              </a:rPr>
              <a:t>Call</a:t>
            </a:r>
            <a:r>
              <a:rPr b="1" spc="-7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by</a:t>
            </a:r>
            <a:r>
              <a:rPr b="1" spc="-6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Value: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8328" y="1287780"/>
            <a:ext cx="6233160" cy="48630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691641"/>
            <a:ext cx="296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solidFill>
                  <a:srgbClr val="40B9D2"/>
                </a:solidFill>
                <a:latin typeface="Cambria"/>
                <a:cs typeface="Cambria"/>
              </a:rPr>
              <a:t>2.</a:t>
            </a:r>
            <a:r>
              <a:rPr sz="2400"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sz="2400" b="1" dirty="0">
                <a:latin typeface="Cambria"/>
                <a:cs typeface="Cambria"/>
              </a:rPr>
              <a:t>Call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by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Reference: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1172921"/>
            <a:ext cx="77495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  <a:tab pos="2091689" algn="l"/>
                <a:tab pos="2470785" algn="l"/>
                <a:tab pos="3158490" algn="l"/>
                <a:tab pos="4088129" algn="l"/>
                <a:tab pos="4700905" algn="l"/>
                <a:tab pos="5179060" algn="l"/>
                <a:tab pos="6363970" algn="l"/>
                <a:tab pos="6814820" algn="l"/>
                <a:tab pos="7426325" algn="l"/>
              </a:tabLst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20" dirty="0"/>
              <a:t>This</a:t>
            </a:r>
            <a:r>
              <a:rPr dirty="0"/>
              <a:t>	</a:t>
            </a:r>
            <a:r>
              <a:rPr spc="-10" dirty="0"/>
              <a:t>method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0" dirty="0"/>
              <a:t>also</a:t>
            </a:r>
            <a:r>
              <a:rPr dirty="0"/>
              <a:t>	</a:t>
            </a:r>
            <a:r>
              <a:rPr spc="-10" dirty="0"/>
              <a:t>called</a:t>
            </a:r>
            <a:r>
              <a:rPr dirty="0"/>
              <a:t>	</a:t>
            </a:r>
            <a:r>
              <a:rPr spc="-20" dirty="0"/>
              <a:t>call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10" dirty="0"/>
              <a:t>address</a:t>
            </a:r>
            <a:r>
              <a:rPr dirty="0"/>
              <a:t>	</a:t>
            </a:r>
            <a:r>
              <a:rPr spc="-25" dirty="0"/>
              <a:t>or</a:t>
            </a:r>
            <a:r>
              <a:rPr dirty="0"/>
              <a:t>	</a:t>
            </a:r>
            <a:r>
              <a:rPr spc="-20" dirty="0"/>
              <a:t>call</a:t>
            </a:r>
            <a:r>
              <a:rPr dirty="0"/>
              <a:t>	</a:t>
            </a:r>
            <a:r>
              <a:rPr spc="-25" dirty="0"/>
              <a:t>by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1386966"/>
            <a:ext cx="7755890" cy="359854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400" spc="-10" dirty="0">
                <a:latin typeface="Cambria"/>
                <a:cs typeface="Cambria"/>
              </a:rPr>
              <a:t>location.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c</a:t>
            </a:r>
            <a:r>
              <a:rPr sz="2400" i="1" dirty="0">
                <a:latin typeface="Cambria"/>
                <a:cs typeface="Cambria"/>
              </a:rPr>
              <a:t>a</a:t>
            </a:r>
            <a:r>
              <a:rPr sz="2400" i="1" spc="-10" dirty="0">
                <a:latin typeface="Cambria"/>
                <a:cs typeface="Cambria"/>
              </a:rPr>
              <a:t>l</a:t>
            </a:r>
            <a:r>
              <a:rPr sz="2400" i="1" spc="-5" dirty="0">
                <a:latin typeface="Cambria"/>
                <a:cs typeface="Cambria"/>
              </a:rPr>
              <a:t>l</a:t>
            </a:r>
            <a:r>
              <a:rPr sz="2400" i="1" dirty="0">
                <a:latin typeface="Cambria"/>
                <a:cs typeface="Cambria"/>
              </a:rPr>
              <a:t>-</a:t>
            </a:r>
            <a:r>
              <a:rPr sz="2400" i="1" spc="-25" dirty="0">
                <a:latin typeface="Cambria"/>
                <a:cs typeface="Cambria"/>
              </a:rPr>
              <a:t>b</a:t>
            </a:r>
            <a:r>
              <a:rPr sz="2400" i="1" dirty="0">
                <a:latin typeface="Cambria"/>
                <a:cs typeface="Cambria"/>
              </a:rPr>
              <a:t>y-</a:t>
            </a:r>
            <a:r>
              <a:rPr sz="2400" i="1" spc="-25" dirty="0">
                <a:latin typeface="Cambria"/>
                <a:cs typeface="Cambria"/>
              </a:rPr>
              <a:t>reference,</a:t>
            </a:r>
            <a:r>
              <a:rPr sz="2400" i="1" spc="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address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passed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5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5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callee</a:t>
            </a:r>
            <a:r>
              <a:rPr sz="2400" spc="5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as</a:t>
            </a:r>
            <a:r>
              <a:rPr sz="2400" spc="5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55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corresponding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formal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ct val="90100"/>
              </a:lnSpc>
              <a:spcBef>
                <a:spcPts val="116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Uses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formal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callee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are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implemented</a:t>
            </a:r>
            <a:r>
              <a:rPr sz="2400" spc="71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following</a:t>
            </a:r>
            <a:r>
              <a:rPr sz="2400" spc="7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this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poin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er</a:t>
            </a:r>
            <a:r>
              <a:rPr sz="2400" spc="7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6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location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indicated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caller.</a:t>
            </a:r>
            <a:endParaRPr sz="2400">
              <a:latin typeface="Cambria"/>
              <a:cs typeface="Cambria"/>
            </a:endParaRPr>
          </a:p>
          <a:p>
            <a:pPr marL="195580" marR="7620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Changes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formal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thus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appear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changes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714" y="691641"/>
            <a:ext cx="296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b="1" spc="-25" dirty="0">
                <a:solidFill>
                  <a:srgbClr val="40B9D2"/>
                </a:solidFill>
                <a:latin typeface="Cambria"/>
                <a:cs typeface="Cambria"/>
              </a:rPr>
              <a:t>2.</a:t>
            </a:r>
            <a:r>
              <a:rPr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b="1" dirty="0">
                <a:latin typeface="Cambria"/>
                <a:cs typeface="Cambria"/>
              </a:rPr>
              <a:t>Call</a:t>
            </a:r>
            <a:r>
              <a:rPr b="1" spc="-7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by</a:t>
            </a:r>
            <a:r>
              <a:rPr b="1" spc="-6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Reference: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6571" y="1350263"/>
            <a:ext cx="5707380" cy="501243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6744" y="769619"/>
            <a:ext cx="77678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1724" y="2604338"/>
            <a:ext cx="2192020" cy="15627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68751" y="696976"/>
            <a:ext cx="7924800" cy="5548630"/>
            <a:chOff x="3468751" y="696976"/>
            <a:chExt cx="7924800" cy="5548630"/>
          </a:xfrm>
        </p:grpSpPr>
        <p:sp>
          <p:nvSpPr>
            <p:cNvPr id="6" name="object 6"/>
            <p:cNvSpPr/>
            <p:nvPr/>
          </p:nvSpPr>
          <p:spPr>
            <a:xfrm>
              <a:off x="3475101" y="703249"/>
              <a:ext cx="7912100" cy="708025"/>
            </a:xfrm>
            <a:custGeom>
              <a:avLst/>
              <a:gdLst/>
              <a:ahLst/>
              <a:cxnLst/>
              <a:rect l="l" t="t" r="r" b="b"/>
              <a:pathLst>
                <a:path w="7912100" h="708025">
                  <a:moveTo>
                    <a:pt x="7912100" y="0"/>
                  </a:moveTo>
                  <a:lnTo>
                    <a:pt x="5274691" y="0"/>
                  </a:lnTo>
                  <a:lnTo>
                    <a:pt x="2637396" y="0"/>
                  </a:lnTo>
                  <a:lnTo>
                    <a:pt x="0" y="0"/>
                  </a:lnTo>
                  <a:lnTo>
                    <a:pt x="0" y="707720"/>
                  </a:lnTo>
                  <a:lnTo>
                    <a:pt x="2637282" y="707720"/>
                  </a:lnTo>
                  <a:lnTo>
                    <a:pt x="5274691" y="707720"/>
                  </a:lnTo>
                  <a:lnTo>
                    <a:pt x="7912100" y="707720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75101" y="1410969"/>
              <a:ext cx="7912100" cy="881380"/>
            </a:xfrm>
            <a:custGeom>
              <a:avLst/>
              <a:gdLst/>
              <a:ahLst/>
              <a:cxnLst/>
              <a:rect l="l" t="t" r="r" b="b"/>
              <a:pathLst>
                <a:path w="7912100" h="881380">
                  <a:moveTo>
                    <a:pt x="7912100" y="0"/>
                  </a:moveTo>
                  <a:lnTo>
                    <a:pt x="5274691" y="0"/>
                  </a:lnTo>
                  <a:lnTo>
                    <a:pt x="2637396" y="0"/>
                  </a:lnTo>
                  <a:lnTo>
                    <a:pt x="0" y="0"/>
                  </a:lnTo>
                  <a:lnTo>
                    <a:pt x="0" y="880872"/>
                  </a:lnTo>
                  <a:lnTo>
                    <a:pt x="2637282" y="880872"/>
                  </a:lnTo>
                  <a:lnTo>
                    <a:pt x="5274691" y="880872"/>
                  </a:lnTo>
                  <a:lnTo>
                    <a:pt x="7912100" y="880872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CEE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5101" y="2291854"/>
              <a:ext cx="7912100" cy="1533525"/>
            </a:xfrm>
            <a:custGeom>
              <a:avLst/>
              <a:gdLst/>
              <a:ahLst/>
              <a:cxnLst/>
              <a:rect l="l" t="t" r="r" b="b"/>
              <a:pathLst>
                <a:path w="7912100" h="1533525">
                  <a:moveTo>
                    <a:pt x="7912100" y="0"/>
                  </a:moveTo>
                  <a:lnTo>
                    <a:pt x="5274691" y="0"/>
                  </a:lnTo>
                  <a:lnTo>
                    <a:pt x="2637396" y="0"/>
                  </a:lnTo>
                  <a:lnTo>
                    <a:pt x="0" y="0"/>
                  </a:lnTo>
                  <a:lnTo>
                    <a:pt x="0" y="1533131"/>
                  </a:lnTo>
                  <a:lnTo>
                    <a:pt x="2637282" y="1533131"/>
                  </a:lnTo>
                  <a:lnTo>
                    <a:pt x="5274691" y="1533131"/>
                  </a:lnTo>
                  <a:lnTo>
                    <a:pt x="7912100" y="1533131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E8F3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75101" y="3824985"/>
              <a:ext cx="7912100" cy="1207135"/>
            </a:xfrm>
            <a:custGeom>
              <a:avLst/>
              <a:gdLst/>
              <a:ahLst/>
              <a:cxnLst/>
              <a:rect l="l" t="t" r="r" b="b"/>
              <a:pathLst>
                <a:path w="7912100" h="1207135">
                  <a:moveTo>
                    <a:pt x="7912100" y="0"/>
                  </a:moveTo>
                  <a:lnTo>
                    <a:pt x="5274691" y="0"/>
                  </a:lnTo>
                  <a:lnTo>
                    <a:pt x="2637396" y="0"/>
                  </a:lnTo>
                  <a:lnTo>
                    <a:pt x="0" y="0"/>
                  </a:lnTo>
                  <a:lnTo>
                    <a:pt x="0" y="1207008"/>
                  </a:lnTo>
                  <a:lnTo>
                    <a:pt x="2637282" y="1207008"/>
                  </a:lnTo>
                  <a:lnTo>
                    <a:pt x="5274691" y="1207008"/>
                  </a:lnTo>
                  <a:lnTo>
                    <a:pt x="7912100" y="1207008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CEE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5101" y="5032019"/>
              <a:ext cx="7912100" cy="1207135"/>
            </a:xfrm>
            <a:custGeom>
              <a:avLst/>
              <a:gdLst/>
              <a:ahLst/>
              <a:cxnLst/>
              <a:rect l="l" t="t" r="r" b="b"/>
              <a:pathLst>
                <a:path w="7912100" h="1207135">
                  <a:moveTo>
                    <a:pt x="7912100" y="0"/>
                  </a:moveTo>
                  <a:lnTo>
                    <a:pt x="5274691" y="0"/>
                  </a:lnTo>
                  <a:lnTo>
                    <a:pt x="2637396" y="0"/>
                  </a:lnTo>
                  <a:lnTo>
                    <a:pt x="0" y="0"/>
                  </a:lnTo>
                  <a:lnTo>
                    <a:pt x="0" y="1207008"/>
                  </a:lnTo>
                  <a:lnTo>
                    <a:pt x="2637282" y="1207008"/>
                  </a:lnTo>
                  <a:lnTo>
                    <a:pt x="5274691" y="1207008"/>
                  </a:lnTo>
                  <a:lnTo>
                    <a:pt x="7912100" y="1207008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E8F3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12383" y="696976"/>
              <a:ext cx="2637790" cy="5548630"/>
            </a:xfrm>
            <a:custGeom>
              <a:avLst/>
              <a:gdLst/>
              <a:ahLst/>
              <a:cxnLst/>
              <a:rect l="l" t="t" r="r" b="b"/>
              <a:pathLst>
                <a:path w="2637790" h="5548630">
                  <a:moveTo>
                    <a:pt x="0" y="0"/>
                  </a:moveTo>
                  <a:lnTo>
                    <a:pt x="0" y="5548401"/>
                  </a:lnTo>
                </a:path>
                <a:path w="2637790" h="5548630">
                  <a:moveTo>
                    <a:pt x="2637409" y="0"/>
                  </a:moveTo>
                  <a:lnTo>
                    <a:pt x="2637409" y="554840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68751" y="1410970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68751" y="696976"/>
              <a:ext cx="7924800" cy="5548630"/>
            </a:xfrm>
            <a:custGeom>
              <a:avLst/>
              <a:gdLst/>
              <a:ahLst/>
              <a:cxnLst/>
              <a:rect l="l" t="t" r="r" b="b"/>
              <a:pathLst>
                <a:path w="7924800" h="5548630">
                  <a:moveTo>
                    <a:pt x="0" y="1594865"/>
                  </a:moveTo>
                  <a:lnTo>
                    <a:pt x="7924800" y="1594865"/>
                  </a:lnTo>
                </a:path>
                <a:path w="7924800" h="5548630">
                  <a:moveTo>
                    <a:pt x="0" y="3128010"/>
                  </a:moveTo>
                  <a:lnTo>
                    <a:pt x="7924800" y="3128010"/>
                  </a:lnTo>
                </a:path>
                <a:path w="7924800" h="5548630">
                  <a:moveTo>
                    <a:pt x="0" y="4335018"/>
                  </a:moveTo>
                  <a:lnTo>
                    <a:pt x="7924800" y="4335018"/>
                  </a:lnTo>
                </a:path>
                <a:path w="7924800" h="5548630">
                  <a:moveTo>
                    <a:pt x="6350" y="0"/>
                  </a:moveTo>
                  <a:lnTo>
                    <a:pt x="6350" y="5548401"/>
                  </a:lnTo>
                </a:path>
                <a:path w="7924800" h="5548630">
                  <a:moveTo>
                    <a:pt x="7918450" y="0"/>
                  </a:moveTo>
                  <a:lnTo>
                    <a:pt x="7918450" y="5548401"/>
                  </a:lnTo>
                </a:path>
                <a:path w="7924800" h="5548630">
                  <a:moveTo>
                    <a:pt x="0" y="6350"/>
                  </a:moveTo>
                  <a:lnTo>
                    <a:pt x="7924800" y="6350"/>
                  </a:lnTo>
                </a:path>
                <a:path w="7924800" h="5548630">
                  <a:moveTo>
                    <a:pt x="0" y="5542051"/>
                  </a:moveTo>
                  <a:lnTo>
                    <a:pt x="7924800" y="554205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39109" y="872489"/>
            <a:ext cx="13804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Parameters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6517" y="872489"/>
            <a:ext cx="1499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Call</a:t>
            </a:r>
            <a:r>
              <a:rPr sz="2000" b="1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sz="200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14307" y="872489"/>
            <a:ext cx="20269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Call</a:t>
            </a:r>
            <a:r>
              <a:rPr sz="2000" b="1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sz="2000" b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Reference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39109" y="1667001"/>
            <a:ext cx="5988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mbria"/>
                <a:cs typeface="Cambria"/>
              </a:rPr>
              <a:t>Basic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6517" y="1483207"/>
            <a:ext cx="2358390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copy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variable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passed.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4307" y="1483207"/>
            <a:ext cx="1941195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2000" dirty="0">
                <a:latin typeface="Cambria"/>
                <a:cs typeface="Cambria"/>
              </a:rPr>
              <a:t>A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variable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itself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is </a:t>
            </a:r>
            <a:r>
              <a:rPr sz="2000" spc="-10" dirty="0">
                <a:latin typeface="Cambria"/>
                <a:cs typeface="Cambria"/>
              </a:rPr>
              <a:t>passed.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39109" y="2874391"/>
            <a:ext cx="623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mbria"/>
                <a:cs typeface="Cambria"/>
              </a:rPr>
              <a:t>effect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6517" y="2363429"/>
            <a:ext cx="2106930" cy="1331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Change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copy</a:t>
            </a:r>
            <a:r>
              <a:rPr sz="2000" spc="-25" dirty="0">
                <a:latin typeface="Cambria"/>
                <a:cs typeface="Cambria"/>
              </a:rPr>
              <a:t> of </a:t>
            </a:r>
            <a:r>
              <a:rPr sz="2000" dirty="0">
                <a:latin typeface="Cambria"/>
                <a:cs typeface="Cambria"/>
              </a:rPr>
              <a:t>variable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doesn’t </a:t>
            </a:r>
            <a:r>
              <a:rPr sz="2000" dirty="0">
                <a:latin typeface="Cambria"/>
                <a:cs typeface="Cambria"/>
              </a:rPr>
              <a:t>modify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original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14307" y="2363429"/>
            <a:ext cx="2127250" cy="1331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Change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copy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of </a:t>
            </a:r>
            <a:r>
              <a:rPr sz="2000" dirty="0">
                <a:latin typeface="Cambria"/>
                <a:cs typeface="Cambria"/>
              </a:rPr>
              <a:t>variable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modify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original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of </a:t>
            </a:r>
            <a:r>
              <a:rPr sz="2000" spc="-10" dirty="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9109" y="4244721"/>
            <a:ext cx="751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Syntax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76517" y="3897858"/>
            <a:ext cx="2486660" cy="1003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function_name(variabl e_name1,variable_nam </a:t>
            </a:r>
            <a:r>
              <a:rPr sz="2000" spc="-20" dirty="0">
                <a:latin typeface="Cambria"/>
                <a:cs typeface="Cambria"/>
              </a:rPr>
              <a:t>e2…)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14307" y="3897858"/>
            <a:ext cx="2443480" cy="1003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function_name(&amp;varia ble_name1,&amp;variable_ name2…)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39109" y="5452059"/>
            <a:ext cx="1606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"/>
                <a:cs typeface="Cambria"/>
              </a:rPr>
              <a:t>Default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Calling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76517" y="5105298"/>
            <a:ext cx="2466340" cy="10039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spc="-10" dirty="0">
                <a:latin typeface="Cambria"/>
                <a:cs typeface="Cambria"/>
              </a:rPr>
              <a:t>Primitive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107000"/>
              </a:lnSpc>
            </a:pPr>
            <a:r>
              <a:rPr sz="2000" dirty="0">
                <a:latin typeface="Cambria"/>
                <a:cs typeface="Cambria"/>
              </a:rPr>
              <a:t>types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passed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using “call_by_value”.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14307" y="5105298"/>
            <a:ext cx="2316480" cy="1003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5"/>
              </a:spcBef>
            </a:pPr>
            <a:r>
              <a:rPr sz="2000" dirty="0">
                <a:latin typeface="Cambria"/>
                <a:cs typeface="Cambria"/>
              </a:rPr>
              <a:t>Objects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implicitly </a:t>
            </a:r>
            <a:r>
              <a:rPr sz="2000" dirty="0">
                <a:latin typeface="Cambria"/>
                <a:cs typeface="Cambria"/>
              </a:rPr>
              <a:t>passed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using </a:t>
            </a:r>
            <a:r>
              <a:rPr sz="2000" spc="-10" dirty="0">
                <a:latin typeface="Cambria"/>
                <a:cs typeface="Cambria"/>
              </a:rPr>
              <a:t>“call_by_reference”.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691641"/>
            <a:ext cx="362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451100" algn="l"/>
              </a:tabLst>
            </a:pPr>
            <a:r>
              <a:rPr sz="2400" b="1" spc="-25" dirty="0">
                <a:solidFill>
                  <a:srgbClr val="40B9D2"/>
                </a:solidFill>
                <a:latin typeface="Cambria"/>
                <a:cs typeface="Cambria"/>
              </a:rPr>
              <a:t>3.</a:t>
            </a:r>
            <a:r>
              <a:rPr sz="2400"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sz="2400" b="1" dirty="0">
                <a:latin typeface="Cambria"/>
                <a:cs typeface="Cambria"/>
              </a:rPr>
              <a:t>Call</a:t>
            </a:r>
            <a:r>
              <a:rPr sz="2400" b="1" spc="-9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by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Copy</a:t>
            </a:r>
            <a:r>
              <a:rPr sz="2400" b="1" spc="-9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-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Restore: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1172921"/>
            <a:ext cx="775462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100"/>
              </a:lnSpc>
              <a:spcBef>
                <a:spcPts val="38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This</a:t>
            </a:r>
            <a:r>
              <a:rPr spc="250" dirty="0"/>
              <a:t> </a:t>
            </a:r>
            <a:r>
              <a:rPr spc="-15" dirty="0"/>
              <a:t>method</a:t>
            </a:r>
            <a:r>
              <a:rPr spc="250" dirty="0"/>
              <a:t> </a:t>
            </a:r>
            <a:r>
              <a:rPr spc="-10" dirty="0"/>
              <a:t>is</a:t>
            </a:r>
            <a:r>
              <a:rPr spc="250" dirty="0"/>
              <a:t> </a:t>
            </a:r>
            <a:r>
              <a:rPr b="1" spc="-30" dirty="0">
                <a:latin typeface="Cambria"/>
                <a:cs typeface="Cambria"/>
              </a:rPr>
              <a:t>hybrid</a:t>
            </a:r>
            <a:r>
              <a:rPr b="1" spc="260" dirty="0">
                <a:latin typeface="Cambria"/>
                <a:cs typeface="Cambria"/>
              </a:rPr>
              <a:t> </a:t>
            </a:r>
            <a:r>
              <a:rPr spc="-20" dirty="0"/>
              <a:t>between</a:t>
            </a:r>
            <a:r>
              <a:rPr spc="254" dirty="0"/>
              <a:t> </a:t>
            </a:r>
            <a:r>
              <a:rPr spc="-15" dirty="0"/>
              <a:t>call</a:t>
            </a:r>
            <a:r>
              <a:rPr spc="245" dirty="0"/>
              <a:t> </a:t>
            </a:r>
            <a:r>
              <a:rPr spc="-45" dirty="0"/>
              <a:t>b</a:t>
            </a:r>
            <a:r>
              <a:rPr dirty="0"/>
              <a:t>y</a:t>
            </a:r>
            <a:r>
              <a:rPr spc="250" dirty="0"/>
              <a:t> </a:t>
            </a:r>
            <a:r>
              <a:rPr spc="-25" dirty="0"/>
              <a:t>value</a:t>
            </a:r>
            <a:r>
              <a:rPr spc="260" dirty="0"/>
              <a:t> </a:t>
            </a:r>
            <a:r>
              <a:rPr spc="-15" dirty="0"/>
              <a:t>and</a:t>
            </a:r>
            <a:r>
              <a:rPr spc="245" dirty="0"/>
              <a:t> </a:t>
            </a:r>
            <a:r>
              <a:rPr spc="-15" dirty="0"/>
              <a:t>call</a:t>
            </a:r>
            <a:r>
              <a:rPr spc="245" dirty="0"/>
              <a:t> </a:t>
            </a:r>
            <a:r>
              <a:rPr spc="-120" dirty="0"/>
              <a:t>by</a:t>
            </a:r>
            <a:r>
              <a:rPr spc="-45" dirty="0"/>
              <a:t> </a:t>
            </a:r>
            <a:r>
              <a:rPr spc="-20" dirty="0"/>
              <a:t>reference.</a:t>
            </a:r>
            <a:r>
              <a:rPr spc="55" dirty="0"/>
              <a:t> </a:t>
            </a:r>
            <a:r>
              <a:rPr spc="-15" dirty="0"/>
              <a:t>This</a:t>
            </a:r>
            <a:r>
              <a:rPr spc="60" dirty="0"/>
              <a:t> </a:t>
            </a:r>
            <a:r>
              <a:rPr spc="-15" dirty="0"/>
              <a:t>method</a:t>
            </a:r>
            <a:r>
              <a:rPr spc="65" dirty="0"/>
              <a:t> </a:t>
            </a:r>
            <a:r>
              <a:rPr spc="-10" dirty="0"/>
              <a:t>is</a:t>
            </a:r>
            <a:r>
              <a:rPr spc="55" dirty="0"/>
              <a:t> </a:t>
            </a:r>
            <a:r>
              <a:rPr spc="-15" dirty="0"/>
              <a:t>also</a:t>
            </a:r>
            <a:r>
              <a:rPr spc="55" dirty="0"/>
              <a:t> </a:t>
            </a:r>
            <a:r>
              <a:rPr spc="-10" dirty="0"/>
              <a:t>called</a:t>
            </a:r>
            <a:r>
              <a:rPr spc="55" dirty="0"/>
              <a:t> </a:t>
            </a:r>
            <a:r>
              <a:rPr b="1" spc="-30" dirty="0">
                <a:latin typeface="Cambria"/>
                <a:cs typeface="Cambria"/>
              </a:rPr>
              <a:t>copy-</a:t>
            </a:r>
            <a:r>
              <a:rPr b="1" spc="-5" dirty="0">
                <a:latin typeface="Cambria"/>
                <a:cs typeface="Cambria"/>
              </a:rPr>
              <a:t>in-</a:t>
            </a:r>
            <a:r>
              <a:rPr b="1" spc="-30" dirty="0">
                <a:latin typeface="Cambria"/>
                <a:cs typeface="Cambria"/>
              </a:rPr>
              <a:t>copy-</a:t>
            </a:r>
            <a:r>
              <a:rPr b="1" spc="-5" dirty="0">
                <a:latin typeface="Cambria"/>
                <a:cs typeface="Cambria"/>
              </a:rPr>
              <a:t>ou</a:t>
            </a:r>
            <a:r>
              <a:rPr b="1" dirty="0">
                <a:latin typeface="Cambria"/>
                <a:cs typeface="Cambria"/>
              </a:rPr>
              <a:t>t</a:t>
            </a:r>
            <a:r>
              <a:rPr b="1" spc="65" dirty="0">
                <a:latin typeface="Cambria"/>
                <a:cs typeface="Cambria"/>
              </a:rPr>
              <a:t> </a:t>
            </a:r>
            <a:r>
              <a:rPr spc="-5" dirty="0"/>
              <a:t>or </a:t>
            </a:r>
            <a:r>
              <a:rPr b="1" spc="-25" dirty="0">
                <a:latin typeface="Cambria"/>
                <a:cs typeface="Cambria"/>
              </a:rPr>
              <a:t>values</a:t>
            </a:r>
            <a:r>
              <a:rPr b="1" spc="-5" dirty="0">
                <a:latin typeface="Cambria"/>
                <a:cs typeface="Cambria"/>
              </a:rPr>
              <a:t> </a:t>
            </a:r>
            <a:r>
              <a:rPr b="1" spc="-20" dirty="0">
                <a:latin typeface="Cambria"/>
                <a:cs typeface="Cambria"/>
              </a:rPr>
              <a:t>result</a:t>
            </a:r>
            <a:r>
              <a:rPr spc="-20" dirty="0"/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3714" y="2313254"/>
            <a:ext cx="7754620" cy="26720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3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  </a:t>
            </a:r>
            <a:r>
              <a:rPr sz="2400" spc="-5" dirty="0">
                <a:latin typeface="Cambria"/>
                <a:cs typeface="Cambria"/>
              </a:rPr>
              <a:t>callin</a:t>
            </a:r>
            <a:r>
              <a:rPr sz="2400" dirty="0">
                <a:latin typeface="Cambria"/>
                <a:cs typeface="Cambria"/>
              </a:rPr>
              <a:t>g</a:t>
            </a:r>
            <a:r>
              <a:rPr sz="2400" spc="10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procedure</a:t>
            </a:r>
            <a:r>
              <a:rPr sz="2400" spc="10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calculates</a:t>
            </a:r>
            <a:r>
              <a:rPr sz="2400" spc="10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04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10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   </a:t>
            </a:r>
            <a:r>
              <a:rPr sz="2400" spc="-40" dirty="0">
                <a:latin typeface="Cambria"/>
                <a:cs typeface="Cambria"/>
              </a:rPr>
              <a:t>actual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then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copies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activation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record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procedure.</a:t>
            </a:r>
            <a:endParaRPr sz="2400">
              <a:latin typeface="Cambria"/>
              <a:cs typeface="Cambria"/>
            </a:endParaRPr>
          </a:p>
          <a:p>
            <a:pPr marL="195580" marR="6350" indent="-182880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During</a:t>
            </a:r>
            <a:r>
              <a:rPr sz="2400" spc="17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execution</a:t>
            </a:r>
            <a:r>
              <a:rPr sz="2400" spc="176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7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spc="17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procedure,</a:t>
            </a:r>
            <a:r>
              <a:rPr sz="2400" spc="17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764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actual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no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affected.</a:t>
            </a:r>
            <a:endParaRPr sz="2400">
              <a:latin typeface="Cambria"/>
              <a:cs typeface="Cambri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has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X-values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then,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at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return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value</a:t>
            </a:r>
            <a:r>
              <a:rPr sz="2400" spc="-5" dirty="0">
                <a:latin typeface="Cambria"/>
                <a:cs typeface="Cambria"/>
              </a:rPr>
              <a:t> 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formal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parameter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copied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actual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714" y="691641"/>
            <a:ext cx="3558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b="1" spc="-25" dirty="0">
                <a:solidFill>
                  <a:srgbClr val="40B9D2"/>
                </a:solidFill>
                <a:latin typeface="Cambria"/>
                <a:cs typeface="Cambria"/>
              </a:rPr>
              <a:t>3.</a:t>
            </a:r>
            <a:r>
              <a:rPr b="1" dirty="0">
                <a:solidFill>
                  <a:srgbClr val="40B9D2"/>
                </a:solidFill>
                <a:latin typeface="Cambria"/>
                <a:cs typeface="Cambria"/>
              </a:rPr>
              <a:t>	</a:t>
            </a:r>
            <a:r>
              <a:rPr b="1" dirty="0">
                <a:latin typeface="Cambria"/>
                <a:cs typeface="Cambria"/>
              </a:rPr>
              <a:t>Call</a:t>
            </a:r>
            <a:r>
              <a:rPr b="1" spc="-7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by</a:t>
            </a:r>
            <a:r>
              <a:rPr b="1" spc="-6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Copy</a:t>
            </a:r>
            <a:r>
              <a:rPr b="1" spc="-7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-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Restore: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679" y="1484375"/>
            <a:ext cx="6608064" cy="453999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3714" y="691641"/>
            <a:ext cx="236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820" algn="l"/>
              </a:tabLst>
            </a:pPr>
            <a:r>
              <a:rPr sz="2400" b="1" spc="-25" dirty="0">
                <a:latin typeface="Cambria"/>
                <a:cs typeface="Cambria"/>
              </a:rPr>
              <a:t>4.</a:t>
            </a:r>
            <a:r>
              <a:rPr sz="2400" b="1" dirty="0">
                <a:latin typeface="Cambria"/>
                <a:cs typeface="Cambria"/>
              </a:rPr>
              <a:t>	Call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by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Name: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714" y="1172921"/>
            <a:ext cx="6657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This</a:t>
            </a:r>
            <a:r>
              <a:rPr spc="-8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less</a:t>
            </a:r>
            <a:r>
              <a:rPr spc="-25" dirty="0"/>
              <a:t> </a:t>
            </a:r>
            <a:r>
              <a:rPr dirty="0"/>
              <a:t>popular</a:t>
            </a:r>
            <a:r>
              <a:rPr spc="-40" dirty="0"/>
              <a:t> </a:t>
            </a:r>
            <a:r>
              <a:rPr dirty="0"/>
              <a:t>method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parameter</a:t>
            </a:r>
            <a:r>
              <a:rPr spc="-45" dirty="0"/>
              <a:t> </a:t>
            </a:r>
            <a:r>
              <a:rPr spc="-10" dirty="0"/>
              <a:t>passing.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20" dirty="0"/>
              <a:t>Procedure</a:t>
            </a:r>
            <a:r>
              <a:rPr spc="430" dirty="0"/>
              <a:t> </a:t>
            </a:r>
            <a:r>
              <a:rPr spc="-15" dirty="0"/>
              <a:t>is</a:t>
            </a:r>
            <a:r>
              <a:rPr spc="425" dirty="0"/>
              <a:t> </a:t>
            </a:r>
            <a:r>
              <a:rPr spc="-20" dirty="0"/>
              <a:t>treated</a:t>
            </a:r>
            <a:r>
              <a:rPr spc="430" dirty="0"/>
              <a:t> </a:t>
            </a:r>
            <a:r>
              <a:rPr spc="-15" dirty="0"/>
              <a:t>like</a:t>
            </a:r>
            <a:r>
              <a:rPr spc="434" dirty="0"/>
              <a:t> </a:t>
            </a:r>
            <a:r>
              <a:rPr spc="-20" dirty="0"/>
              <a:t>macro.</a:t>
            </a:r>
            <a:r>
              <a:rPr spc="434" dirty="0"/>
              <a:t> </a:t>
            </a:r>
            <a:r>
              <a:rPr spc="-15" dirty="0"/>
              <a:t>The</a:t>
            </a:r>
            <a:r>
              <a:rPr spc="430" dirty="0"/>
              <a:t> </a:t>
            </a:r>
            <a:r>
              <a:rPr spc="-15" dirty="0"/>
              <a:t>procedure</a:t>
            </a:r>
            <a:r>
              <a:rPr spc="445" dirty="0"/>
              <a:t> </a:t>
            </a:r>
            <a:r>
              <a:rPr spc="-25" dirty="0"/>
              <a:t>body</a:t>
            </a:r>
            <a:r>
              <a:rPr spc="440" dirty="0"/>
              <a:t> </a:t>
            </a:r>
            <a:r>
              <a:rPr spc="-100" dirty="0"/>
              <a:t>is</a:t>
            </a:r>
            <a:r>
              <a:rPr spc="-5" dirty="0"/>
              <a:t> </a:t>
            </a:r>
            <a:r>
              <a:rPr spc="-15" dirty="0"/>
              <a:t>substituted</a:t>
            </a:r>
            <a:r>
              <a:rPr spc="1030" dirty="0"/>
              <a:t> </a:t>
            </a:r>
            <a:r>
              <a:rPr spc="-20" dirty="0"/>
              <a:t>f</a:t>
            </a:r>
            <a:r>
              <a:rPr dirty="0"/>
              <a:t>or</a:t>
            </a:r>
            <a:r>
              <a:rPr spc="1025" dirty="0"/>
              <a:t> </a:t>
            </a:r>
            <a:r>
              <a:rPr spc="-15" dirty="0"/>
              <a:t>call</a:t>
            </a:r>
            <a:r>
              <a:rPr spc="1019" dirty="0"/>
              <a:t> </a:t>
            </a:r>
            <a:r>
              <a:rPr spc="-10" dirty="0"/>
              <a:t>i</a:t>
            </a:r>
            <a:r>
              <a:rPr dirty="0"/>
              <a:t>n</a:t>
            </a:r>
            <a:r>
              <a:rPr spc="1025" dirty="0"/>
              <a:t> </a:t>
            </a:r>
            <a:r>
              <a:rPr spc="-10" dirty="0"/>
              <a:t>caller</a:t>
            </a:r>
            <a:r>
              <a:rPr spc="1019" dirty="0"/>
              <a:t> </a:t>
            </a:r>
            <a:r>
              <a:rPr spc="-5" dirty="0"/>
              <a:t>with</a:t>
            </a:r>
            <a:r>
              <a:rPr spc="1019" dirty="0"/>
              <a:t> </a:t>
            </a:r>
            <a:r>
              <a:rPr spc="-15" dirty="0"/>
              <a:t>actual</a:t>
            </a:r>
            <a:r>
              <a:rPr spc="1025" dirty="0"/>
              <a:t> </a:t>
            </a:r>
            <a:r>
              <a:rPr spc="-20" dirty="0"/>
              <a:t>parameters</a:t>
            </a:r>
            <a:r>
              <a:rPr spc="-10" dirty="0"/>
              <a:t> </a:t>
            </a:r>
            <a:r>
              <a:rPr spc="-15" dirty="0"/>
              <a:t>substituted</a:t>
            </a:r>
            <a:r>
              <a:rPr spc="25" dirty="0"/>
              <a:t> </a:t>
            </a:r>
            <a:r>
              <a:rPr spc="-20" dirty="0"/>
              <a:t>f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formulas.</a:t>
            </a:r>
          </a:p>
          <a:p>
            <a:pPr marL="195580" marR="8890" indent="-182880" algn="just">
              <a:lnSpc>
                <a:spcPts val="2590"/>
              </a:lnSpc>
              <a:spcBef>
                <a:spcPts val="1210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spc="-15" dirty="0"/>
              <a:t>The</a:t>
            </a:r>
            <a:r>
              <a:rPr spc="170" dirty="0"/>
              <a:t> </a:t>
            </a:r>
            <a:r>
              <a:rPr spc="-15" dirty="0"/>
              <a:t>actual</a:t>
            </a:r>
            <a:r>
              <a:rPr spc="155" dirty="0"/>
              <a:t> </a:t>
            </a:r>
            <a:r>
              <a:rPr spc="-20" dirty="0"/>
              <a:t>parameters</a:t>
            </a:r>
            <a:r>
              <a:rPr spc="160" dirty="0"/>
              <a:t> </a:t>
            </a:r>
            <a:r>
              <a:rPr spc="-20" dirty="0"/>
              <a:t>can</a:t>
            </a:r>
            <a:r>
              <a:rPr spc="175" dirty="0"/>
              <a:t> </a:t>
            </a:r>
            <a:r>
              <a:rPr spc="-15" dirty="0"/>
              <a:t>be</a:t>
            </a:r>
            <a:r>
              <a:rPr spc="155" dirty="0"/>
              <a:t> </a:t>
            </a:r>
            <a:r>
              <a:rPr spc="-20" dirty="0"/>
              <a:t>surrounded</a:t>
            </a:r>
            <a:r>
              <a:rPr spc="165" dirty="0"/>
              <a:t> </a:t>
            </a:r>
            <a:r>
              <a:rPr spc="-40" dirty="0"/>
              <a:t>by</a:t>
            </a:r>
            <a:r>
              <a:rPr spc="170" dirty="0"/>
              <a:t> </a:t>
            </a:r>
            <a:r>
              <a:rPr spc="-35" dirty="0"/>
              <a:t>parenthesis</a:t>
            </a:r>
            <a:r>
              <a:rPr spc="-10" dirty="0"/>
              <a:t> </a:t>
            </a:r>
            <a:r>
              <a:rPr spc="-25" dirty="0"/>
              <a:t>to</a:t>
            </a:r>
            <a:r>
              <a:rPr spc="-5" dirty="0"/>
              <a:t> </a:t>
            </a:r>
            <a:r>
              <a:rPr spc="-20" dirty="0"/>
              <a:t>preserve</a:t>
            </a:r>
            <a:r>
              <a:rPr spc="-5" dirty="0"/>
              <a:t> </a:t>
            </a:r>
            <a:r>
              <a:rPr spc="-10" dirty="0"/>
              <a:t>their</a:t>
            </a:r>
            <a:r>
              <a:rPr spc="-20" dirty="0"/>
              <a:t> </a:t>
            </a:r>
            <a:r>
              <a:rPr spc="-30" dirty="0"/>
              <a:t>integrity.</a:t>
            </a:r>
          </a:p>
          <a:p>
            <a:pPr marL="12700" algn="just">
              <a:lnSpc>
                <a:spcPts val="2735"/>
              </a:lnSpc>
              <a:spcBef>
                <a:spcPts val="875"/>
              </a:spcBef>
            </a:pPr>
            <a:r>
              <a:rPr spc="-1250" dirty="0">
                <a:solidFill>
                  <a:srgbClr val="40B9D2"/>
                </a:solidFill>
                <a:latin typeface="Arial MT"/>
                <a:cs typeface="Arial MT"/>
              </a:rPr>
              <a:t>🞄</a:t>
            </a:r>
            <a:r>
              <a:rPr spc="-95" dirty="0">
                <a:solidFill>
                  <a:srgbClr val="40B9D2"/>
                </a:solidFill>
                <a:latin typeface="Arial MT"/>
                <a:cs typeface="Arial MT"/>
              </a:rPr>
              <a:t> </a:t>
            </a:r>
            <a:r>
              <a:rPr dirty="0"/>
              <a:t>The</a:t>
            </a:r>
            <a:r>
              <a:rPr spc="545" dirty="0"/>
              <a:t> </a:t>
            </a:r>
            <a:r>
              <a:rPr dirty="0"/>
              <a:t>local</a:t>
            </a:r>
            <a:r>
              <a:rPr spc="30" dirty="0"/>
              <a:t> </a:t>
            </a:r>
            <a:r>
              <a:rPr dirty="0"/>
              <a:t>names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called</a:t>
            </a:r>
            <a:r>
              <a:rPr spc="30" dirty="0"/>
              <a:t> </a:t>
            </a:r>
            <a:r>
              <a:rPr dirty="0"/>
              <a:t>procedure</a:t>
            </a:r>
            <a:r>
              <a:rPr spc="4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names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calling</a:t>
            </a:r>
          </a:p>
          <a:p>
            <a:pPr marL="195580" algn="just">
              <a:lnSpc>
                <a:spcPts val="2735"/>
              </a:lnSpc>
            </a:pPr>
            <a:r>
              <a:rPr spc="-10" dirty="0"/>
              <a:t>procedure</a:t>
            </a:r>
            <a:r>
              <a:rPr spc="-6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spc="-10" dirty="0"/>
              <a:t>distinct.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58951"/>
            <a:ext cx="3444240" cy="533146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3600">
              <a:latin typeface="Times New Roman"/>
              <a:cs typeface="Times New Roman"/>
            </a:endParaRPr>
          </a:p>
          <a:p>
            <a:pPr marL="344170" marR="925194">
              <a:lnSpc>
                <a:spcPts val="3890"/>
              </a:lnSpc>
            </a:pPr>
            <a:r>
              <a:rPr sz="3600" b="1" spc="-85" dirty="0">
                <a:solidFill>
                  <a:srgbClr val="FFFFFF"/>
                </a:solidFill>
                <a:latin typeface="Cambria"/>
                <a:cs typeface="Cambria"/>
              </a:rPr>
              <a:t>Parameter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Passing Methods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714" y="691641"/>
            <a:ext cx="2339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820" algn="l"/>
              </a:tabLst>
            </a:pPr>
            <a:r>
              <a:rPr b="1" spc="-25" dirty="0">
                <a:latin typeface="Cambria"/>
                <a:cs typeface="Cambria"/>
              </a:rPr>
              <a:t>4.</a:t>
            </a:r>
            <a:r>
              <a:rPr b="1" dirty="0">
                <a:latin typeface="Cambria"/>
                <a:cs typeface="Cambria"/>
              </a:rPr>
              <a:t>	Call</a:t>
            </a:r>
            <a:r>
              <a:rPr b="1" spc="-8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by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name: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1479" y="1178052"/>
            <a:ext cx="5326379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62000" y="1831594"/>
            <a:ext cx="7467600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600" b="1" spc="-75" dirty="0">
                <a:latin typeface="Corbel"/>
                <a:cs typeface="Corbel"/>
              </a:rPr>
              <a:t>Thanks</a:t>
            </a:r>
            <a:endParaRPr sz="166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4028</Words>
  <Application>Microsoft Office PowerPoint</Application>
  <PresentationFormat>Widescreen</PresentationFormat>
  <Paragraphs>743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Arial MT</vt:lpstr>
      <vt:lpstr>Calibri</vt:lpstr>
      <vt:lpstr>Cambria</vt:lpstr>
      <vt:lpstr>Candara</vt:lpstr>
      <vt:lpstr>Corbel</vt:lpstr>
      <vt:lpstr>Microsoft Sans Serif</vt:lpstr>
      <vt:lpstr>Times New Roman</vt:lpstr>
      <vt:lpstr>Wingdings</vt:lpstr>
      <vt:lpstr>Office Theme</vt:lpstr>
      <vt:lpstr>PowerPoint Presentation</vt:lpstr>
      <vt:lpstr>Outline :</vt:lpstr>
      <vt:lpstr>code.</vt:lpstr>
      <vt:lpstr>Abstract Syntax Tree</vt:lpstr>
      <vt:lpstr>PowerPoint Presentation</vt:lpstr>
      <vt:lpstr>PowerPoint Presentation</vt:lpstr>
      <vt:lpstr>🞄 Three address code is a sequence of statements of the general form</vt:lpstr>
      <vt:lpstr>t1 := uminus c</vt:lpstr>
      <vt:lpstr>🞄 It does not contain any cycles in it, hence called Acyclic.</vt:lpstr>
      <vt:lpstr>1) ( a + b ) * ( a + b + c )</vt:lpstr>
      <vt:lpstr>  Directed Acyclic Graph Examples (Self Practice)</vt:lpstr>
      <vt:lpstr>   Representation of Syntax Tree a := b * -c + b * -c</vt:lpstr>
      <vt:lpstr>🞄  A three address statement is an abstract form of intermediate code.</vt:lpstr>
      <vt:lpstr>PowerPoint Presentation</vt:lpstr>
      <vt:lpstr>Example</vt:lpstr>
      <vt:lpstr>🞄  To  avoid  creating  temporary  names  into  the  symbol table, we might refer to a temporary value by the position of the statement that computes it.</vt:lpstr>
      <vt:lpstr>Example</vt:lpstr>
      <vt:lpstr>🞄  Another implementation of three address code that has been  considered  is  that  of  listing  pointers  to  triples, rather than listing the triples themselves. 🞄  This implementation is naturally called indirect triples.</vt:lpstr>
      <vt:lpstr>Practice Examples :</vt:lpstr>
      <vt:lpstr>values  of with the</vt:lpstr>
      <vt:lpstr>🞄 Value of synthesized attribute at a node can be computed from the value of attributes at the children of that node in the parse tree.</vt:lpstr>
      <vt:lpstr>🞄 Example: Simple desk calculator</vt:lpstr>
      <vt:lpstr>🞄 String: 3*5+4n; L</vt:lpstr>
      <vt:lpstr>🞄 An inherited attribute at a node in a parse tree is defined in terms of attributes at the parent and/or siblings of the node.</vt:lpstr>
      <vt:lpstr>    Inherited Attribute</vt:lpstr>
      <vt:lpstr>PowerPoint Presentation</vt:lpstr>
      <vt:lpstr>PowerPoint Presentation</vt:lpstr>
      <vt:lpstr>🞄 A compiler  must accurately implement the abstractions embodied in the source language definition. These</vt:lpstr>
      <vt:lpstr>🞄 A Procedure definition is a declaration that associates an identifier with a statement.</vt:lpstr>
      <vt:lpstr>🞄 Each execution of a procedure body is referred to as an activation of the procedure.</vt:lpstr>
      <vt:lpstr>   Source Language Issue</vt:lpstr>
      <vt:lpstr>🞄 The flow of control in a program corresponds to a depth first traversal of the activation tree that starts at the root, visits a node before its children, and recursively visits children at each node in a left to right order.</vt:lpstr>
      <vt:lpstr>   Source Language Issue</vt:lpstr>
      <vt:lpstr>🞄 A declaration is a syntactic construct that associates information with a n Declarations may be explicit, such as:  var i : integer ;</vt:lpstr>
      <vt:lpstr>🞄 Even if each name is declared once in a program, the same</vt:lpstr>
      <vt:lpstr>🞄 The activation record is a block of memory used for managing information needed by a single execution of a procedure.</vt:lpstr>
      <vt:lpstr>PowerPoint Presentation</vt:lpstr>
      <vt:lpstr>6. Actual parameter: This field holds the information of actual parameter. These actual parameter are passes to the called procedure.</vt:lpstr>
      <vt:lpstr>  Static memory and Dynamic memory Allocation</vt:lpstr>
      <vt:lpstr>🞄 All programming languages have a notion of a procedure, but they can differ in how these procedures get their arguments. In this section, we shall consider how the actual    parameters are associated with the formal parameters.</vt:lpstr>
      <vt:lpstr>1. Call by Value:</vt:lpstr>
      <vt:lpstr>1. Call by Value:</vt:lpstr>
      <vt:lpstr>🞄 This method is also called call by address or call by</vt:lpstr>
      <vt:lpstr>2. Call by Reference:</vt:lpstr>
      <vt:lpstr>   Parameter Passing Methods</vt:lpstr>
      <vt:lpstr>PowerPoint Presentation</vt:lpstr>
      <vt:lpstr>🞄 This method is hybrid between call by value and call by reference. This method is also called copy-in-copy-out or values result.</vt:lpstr>
      <vt:lpstr>3. Call by Copy - Restore:</vt:lpstr>
      <vt:lpstr>🞄 This is less popular method of parameter passing.</vt:lpstr>
      <vt:lpstr>4. Call by name: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Dhara Joshi</dc:creator>
  <cp:lastModifiedBy>2515012_ Vidyasree</cp:lastModifiedBy>
  <cp:revision>1</cp:revision>
  <dcterms:created xsi:type="dcterms:W3CDTF">2026-02-22T18:58:26Z</dcterms:created>
  <dcterms:modified xsi:type="dcterms:W3CDTF">2026-03-16T17:22:25Z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2026-02-22T00:00:00Z</vt:filetime>
  </property>
  <property fmtid="{D5CDD505-2E9C-101B-9397-08002B2CF9AE}" pid="5" name="Producer">
    <vt:lpwstr>Microsoft® PowerPoint® 2016</vt:lpwstr>
  </property>
</Properties>
</file>