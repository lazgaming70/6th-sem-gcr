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Helvetica Neue" panose="020B0604020202020204" charset="0"/>
      <p:regular r:id="rId29"/>
      <p:bold r:id="rId30"/>
      <p:italic r:id="rId31"/>
      <p:boldItalic r:id="rId32"/>
    </p:embeddedFont>
    <p:embeddedFont>
      <p:font typeface="Lucida Sans" panose="020B060203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1B43E4-CAE0-4E39-902C-3B0A6780E547}">
  <a:tblStyle styleId="{241B43E4-CAE0-4E39-902C-3B0A6780E547}" styleName="Table_0">
    <a:wholeTbl>
      <a:tcTxStyle b="off" i="off">
        <a:font>
          <a:latin typeface="Lucida Sans Unicode"/>
          <a:ea typeface="Lucida Sans Unicode"/>
          <a:cs typeface="Lucida Sans Unicod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F4"/>
          </a:solidFill>
        </a:fill>
      </a:tcStyle>
    </a:wholeTbl>
    <a:band1H>
      <a:tcTxStyle/>
      <a:tcStyle>
        <a:tcBdr/>
        <a:fill>
          <a:solidFill>
            <a:srgbClr val="CCDF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F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ucida Sans Unicode"/>
          <a:ea typeface="Lucida Sans Unicode"/>
          <a:cs typeface="Lucida Sans Unicod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13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15012_ Vidyasree" userId="2633e80093b3d421" providerId="LiveId" clId="{12EBA23A-46CD-4FA7-9690-46E67EF4679B}"/>
    <pc:docChg chg="addSld delSld modSld">
      <pc:chgData name="2515012_ Vidyasree" userId="2633e80093b3d421" providerId="LiveId" clId="{12EBA23A-46CD-4FA7-9690-46E67EF4679B}" dt="2026-02-22T18:41:24.600" v="57" actId="20577"/>
      <pc:docMkLst>
        <pc:docMk/>
      </pc:docMkLst>
      <pc:sldChg chg="modSp mod">
        <pc:chgData name="2515012_ Vidyasree" userId="2633e80093b3d421" providerId="LiveId" clId="{12EBA23A-46CD-4FA7-9690-46E67EF4679B}" dt="2026-02-22T18:41:24.600" v="57" actId="20577"/>
        <pc:sldMkLst>
          <pc:docMk/>
          <pc:sldMk cId="0" sldId="256"/>
        </pc:sldMkLst>
        <pc:spChg chg="mod">
          <ac:chgData name="2515012_ Vidyasree" userId="2633e80093b3d421" providerId="LiveId" clId="{12EBA23A-46CD-4FA7-9690-46E67EF4679B}" dt="2026-02-22T18:41:24.600" v="57" actId="20577"/>
          <ac:spMkLst>
            <pc:docMk/>
            <pc:sldMk cId="0" sldId="256"/>
            <ac:spMk id="62" creationId="{00000000-0000-0000-0000-000000000000}"/>
          </ac:spMkLst>
        </pc:spChg>
      </pc:sldChg>
      <pc:sldMasterChg chg="delSldLayout">
        <pc:chgData name="2515012_ Vidyasree" userId="2633e80093b3d421" providerId="LiveId" clId="{12EBA23A-46CD-4FA7-9690-46E67EF4679B}" dt="2026-02-13T14:46:50.363" v="49" actId="2696"/>
        <pc:sldMasterMkLst>
          <pc:docMk/>
          <pc:sldMasterMk cId="0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90b4dce26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990b4dce2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cfa0a0f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fcfa0a0f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fcfa0a0f6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fcfa0a0f6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cfa0a0f6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cfa0a0f6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cfa0a0f6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cfa0a0f6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90b4dce2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90b4dce26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90b4dce26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90b4dce26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90b4dce2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90b4dce2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90b4dce26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90b4dce26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90b4dce26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90b4dce26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90b4dce26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90b4dce26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90b4dce26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90b4dce26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90b4dce2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90b4dce26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90b4dce26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90b4dce26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990b4dce26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990b4dce26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990b4dce26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990b4dce26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90b4dce26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90b4dce26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90b4dce26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90b4dce26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990b4dce26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990b4dce26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90b4dce26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90b4dce26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90b4dce26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990b4dce2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90b4dce26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90b4dce26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90b4dce26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990b4dce26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90b4dce26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90b4dce26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0b4dce2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90b4dce2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92758"/>
          <a:stretch/>
        </p:blipFill>
        <p:spPr>
          <a:xfrm>
            <a:off x="0" y="4780359"/>
            <a:ext cx="9144001" cy="36314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0" y="0"/>
            <a:ext cx="91440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00" tIns="46725" rIns="93500" bIns="46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i="0" u="none">
              <a:solidFill>
                <a:srgbClr val="0440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6223" y="1547044"/>
            <a:ext cx="8991600" cy="214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3500" tIns="46725" rIns="93500" bIns="467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</a:t>
            </a:r>
            <a:r>
              <a:rPr lang="en" sz="25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5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25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lang="en" sz="200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CSC04 </a:t>
            </a:r>
            <a:r>
              <a:rPr lang="en" sz="200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Principles of Compiler Design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r>
              <a:rPr lang="en" sz="25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5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</a:t>
            </a:r>
            <a:r>
              <a:rPr lang="e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2 - Semantic Analysis and Intermediate Code Generation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r>
              <a:rPr lang="en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en" sz="25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2500" b="1" dirty="0">
                <a:solidFill>
                  <a:schemeClr val="dk1"/>
                </a:solidFill>
              </a:rPr>
              <a:t> </a:t>
            </a:r>
            <a:r>
              <a:rPr lang="en" sz="25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Checking: Type system; Type checker; Type expression; Type conversion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Faculty:</a:t>
            </a:r>
            <a:r>
              <a:rPr lang="e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G.Vidyasree</a:t>
            </a:r>
            <a:r>
              <a:rPr lang="en" sz="200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8205" y="4401758"/>
            <a:ext cx="9067500" cy="3786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spcFirstLastPara="1" wrap="square" lIns="93500" tIns="46725" rIns="93500" bIns="46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www.skcet.ac.in</a:t>
            </a:r>
            <a:endParaRPr sz="1400"/>
          </a:p>
        </p:txBody>
      </p:sp>
      <p:sp>
        <p:nvSpPr>
          <p:cNvPr id="64" name="Google Shape;64;p14"/>
          <p:cNvSpPr txBox="1"/>
          <p:nvPr/>
        </p:nvSpPr>
        <p:spPr>
          <a:xfrm>
            <a:off x="2019300" y="1085850"/>
            <a:ext cx="5105400" cy="461100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txBody>
          <a:bodyPr spcFirstLastPara="1" wrap="square" lIns="93500" tIns="46725" rIns="93500" bIns="467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lang="en" sz="29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 MATERIAL</a:t>
            </a:r>
            <a:endParaRPr sz="14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325" y="135875"/>
            <a:ext cx="8921376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169800" y="1115575"/>
            <a:ext cx="8974200" cy="3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25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945" marR="59055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II Semantics analysis and Intermediate Code Generation	15 Hours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Semantics Analysis - Type Checking. </a:t>
            </a: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 Code Generation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Intermediate Languages- Declarations - Assignment Statements - Boolean Expressions - Case Statements - Back patching - Procedure Calls. </a:t>
            </a: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Time Environments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Source Language Issues - Storage Organization- Storage Allocation strategies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ctrTitle"/>
          </p:nvPr>
        </p:nvSpPr>
        <p:spPr>
          <a:xfrm>
            <a:off x="194250" y="897100"/>
            <a:ext cx="8520600" cy="67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050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Semantic Analysis </a:t>
            </a:r>
            <a:endParaRPr sz="2500" b="1">
              <a:solidFill>
                <a:srgbClr val="C050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/>
          </a:p>
        </p:txBody>
      </p:sp>
      <p:sp>
        <p:nvSpPr>
          <p:cNvPr id="76" name="Google Shape;76;p16"/>
          <p:cNvSpPr txBox="1"/>
          <p:nvPr/>
        </p:nvSpPr>
        <p:spPr>
          <a:xfrm>
            <a:off x="114300" y="897100"/>
            <a:ext cx="8915400" cy="28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phase checks the source program for semantic errors and gathers type information for subsequent code generation phase.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important component of semantic analysis is type checking.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10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▪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checks that each operator has operands that are permitted by the source language specification.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10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32100" y="3969175"/>
            <a:ext cx="9079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analysis inserts a conversion from integer to real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1575" cy="323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50" y="399000"/>
            <a:ext cx="544830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40175" y="50225"/>
            <a:ext cx="9061500" cy="5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Type checking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an important part of semantic analysis where compiler makes sure that each operator has matching operands.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91846" algn="l" rtl="0">
              <a:spcBef>
                <a:spcPts val="0"/>
              </a:spcBef>
              <a:spcAft>
                <a:spcPts val="0"/>
              </a:spcAft>
              <a:buClr>
                <a:srgbClr val="2DA2BF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must check that the source program follows both the syntactic and semantic conventions of the source language.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91846" algn="l" rtl="0">
              <a:spcBef>
                <a:spcPts val="400"/>
              </a:spcBef>
              <a:spcAft>
                <a:spcPts val="0"/>
              </a:spcAft>
              <a:buClr>
                <a:srgbClr val="2DA2BF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checks - reported during the compilation phase.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91846" algn="l" rtl="0">
              <a:spcBef>
                <a:spcPts val="400"/>
              </a:spcBef>
              <a:spcAft>
                <a:spcPts val="0"/>
              </a:spcAft>
              <a:buClr>
                <a:srgbClr val="2DA2BF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checks - occur during the execution of the program.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0" y="0"/>
            <a:ext cx="9144000" cy="22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Semantic Errors</a:t>
            </a:r>
            <a:endParaRPr sz="2400" b="1">
              <a:solidFill>
                <a:srgbClr val="99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Errors recognized by semantic analyzer are as follows: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9900FF"/>
              </a:buClr>
              <a:buSzPts val="2400"/>
              <a:buFont typeface="Times New Roman"/>
              <a:buChar char="❏"/>
            </a:pPr>
            <a:r>
              <a:rPr lang="en" sz="2400" b="1">
                <a:solidFill>
                  <a:srgbClr val="99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Type mismatch</a:t>
            </a:r>
            <a:endParaRPr sz="2400" b="1">
              <a:solidFill>
                <a:srgbClr val="9900F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2400"/>
              <a:buFont typeface="Times New Roman"/>
              <a:buChar char="❏"/>
            </a:pPr>
            <a:r>
              <a:rPr lang="en" sz="2400" b="1">
                <a:solidFill>
                  <a:srgbClr val="99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Undeclared variables</a:t>
            </a:r>
            <a:endParaRPr sz="2400" b="1">
              <a:solidFill>
                <a:srgbClr val="9900F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2400"/>
              <a:buFont typeface="Times New Roman"/>
              <a:buChar char="❏"/>
            </a:pPr>
            <a:r>
              <a:rPr lang="en" sz="2400" b="1">
                <a:solidFill>
                  <a:srgbClr val="99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Reserved identifier misuse</a:t>
            </a:r>
            <a:endParaRPr sz="2400" b="1">
              <a:solidFill>
                <a:srgbClr val="9900F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F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30600" y="2049350"/>
            <a:ext cx="8890500" cy="18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Checks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checks:</a:t>
            </a:r>
            <a:r>
              <a:rPr lang="en" sz="24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compiler should report an error if an operator is applied to an incompatible operand.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control checks: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Places for transfer of control should be specified.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Uniqueness checks: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object must be defined exactly (like the type of an identifier, statements inside a case/switch statement.)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Name Related checks: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Same name must appear two or more times.</a:t>
            </a: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60275" y="30150"/>
            <a:ext cx="9083700" cy="51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 of Type Checker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50" y="1428275"/>
            <a:ext cx="8870552" cy="17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20100" y="50225"/>
            <a:ext cx="9123900" cy="5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Systems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of a type checker for a language is based on the information about the syntactic constructs in the language.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expression has a type associated with 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are either basic or constructed.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types are atomic with no internal structure as far as the program is constructed.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Pointers, arrays, functions, structures can be treated as constructor types.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70325" y="80375"/>
            <a:ext cx="900120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Type Expressions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expression is either a basic type or is formed by applying an operator called type constructor to other expressions.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basic type is a type expression.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types are boolean, char, integer, real.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expressions may be named, type name is a type expression.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constructor applied to a type expression is a type expression.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Constructors include: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361950" algn="just" rtl="0">
              <a:spcBef>
                <a:spcPts val="0"/>
              </a:spcBef>
              <a:spcAft>
                <a:spcPts val="0"/>
              </a:spcAft>
              <a:buClr>
                <a:srgbClr val="E69138"/>
              </a:buClr>
              <a:buSzPts val="2400"/>
              <a:buFont typeface="Times New Roman"/>
              <a:buChar char="★"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</a:t>
            </a:r>
            <a:endParaRPr sz="2400" b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990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 is a type expression, then array(I, T) is a type expression denoting the type of an array with elements of type T and index set I.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0" y="0"/>
            <a:ext cx="90312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A :array[1...10] of integer;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Associates the type expression array(1..10,integer) with 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</a:t>
            </a:r>
            <a:endParaRPr sz="2400" b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type expressions, then their cartesian product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type expression 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Records</a:t>
            </a:r>
            <a:endParaRPr sz="2400" b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type constructor will be applied to a tuple formed from field names and field types.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/>
        </p:nvSpPr>
        <p:spPr>
          <a:xfrm>
            <a:off x="0" y="0"/>
            <a:ext cx="90414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row=record 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address: integer;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end;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table: array [1..10] of row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declares the type name row representing the type expression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record((address x integer) x(lexeme x array(1...15,char)))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variable table to be an array of record of this type.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Pointers: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 is a type expression, then pointer(T) is a type expression.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p:       row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declares variable p to to have type pointer (row)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5" name="Google Shape;125;p25"/>
          <p:cNvCxnSpPr/>
          <p:nvPr/>
        </p:nvCxnSpPr>
        <p:spPr>
          <a:xfrm rot="10800000" flipH="1">
            <a:off x="1074900" y="3445625"/>
            <a:ext cx="10200" cy="30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0" y="0"/>
            <a:ext cx="9101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-17145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Functions in a programming language map a domain type  D to a range type R. Often, for implementation reasons, there are limitations on the types a function can return.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Systems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system is a collection of rules for assigning type expressions to the various parts of a program.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checker implements a type system.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an array includes the index set of an array, so a function with an array argument can only be applied to arrays with that index set.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4100"/>
              <a:buFont typeface="Lucida Sans"/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/>
        </p:nvSpPr>
        <p:spPr>
          <a:xfrm>
            <a:off x="0" y="0"/>
            <a:ext cx="91440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and Dynamic Checking of Types</a:t>
            </a:r>
            <a:endParaRPr sz="240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117450" y="584375"/>
            <a:ext cx="8909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type system eliminates the need for dynamic checking for type errors.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language is strongly typed if its compiler can guarantee that the programs it accepts will execute without type errors.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array bound checking.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Recovery</a:t>
            </a: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 has the potential for catching errors in programs, it is important to do something when an error is discovered.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Inclusion of error handling may result in a type system that goes beyond the one needed to specify correct programs.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0" y="0"/>
            <a:ext cx="90915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Specification of a simple type checker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Type checker can handle arrays,pointers, statements and functions.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Language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each identifier must be declared before the identifier is used.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checker is a translation scheme that synthesizes the type of each expression from the type of its sub-expressions.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--&gt; D; 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D--&gt; D; D | id: 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T--&gt; char | integer | array[num] of T | * 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literal | num | id | E mod E | E[E] | E*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Types: char, integer, type-error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98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/>
        </p:nvSpPr>
        <p:spPr>
          <a:xfrm>
            <a:off x="0" y="0"/>
            <a:ext cx="90414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Scheme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--&gt; D; 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D--&gt; D;D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D--&gt; id :T             { addtype(id.entry,T.type);}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T--&gt; char             {T.type= char;}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T--&gt; integer         {T.type=integer;}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T🡪T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                   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{T.type=pointer(T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.type);}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T--&gt; array[num] of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{ T.type =array(1..num.val,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type); 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/>
        </p:nvSpPr>
        <p:spPr>
          <a:xfrm>
            <a:off x="0" y="0"/>
            <a:ext cx="9081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 of Expressions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rules</a:t>
            </a:r>
            <a:endParaRPr sz="2400" b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literal { E.type=char;}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num { E.type =integer;}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id { E.type =lookup(id.entry);}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E.type =If 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 ==integer)  if 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Type ==integer) integer; else type-error;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{ E.type=if ((E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.type==integer)&amp;&amp; 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.type==array(s,t)) t; else type-error;}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* 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E.type = if 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 ==pointer(t)) t else type-error;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Literal and num have type char and integer respectively.</a:t>
            </a:r>
            <a:endParaRPr sz="2400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/>
        </p:nvSpPr>
        <p:spPr>
          <a:xfrm>
            <a:off x="0" y="0"/>
            <a:ext cx="9144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 of Statements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S--&gt; id=E { if (id.type==E.type) void; else type-error;}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S--&gt; if E then S { if (E.type==boolean) S_1.type; else type-error;}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S--&gt; While E do S { if (E.type==boolean) S_1.type; else type-error; 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S--&gt; S; S; { if (S_1.type==void) if (S_2.type ==void) void; else type-error;}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Checking of Functions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E(E)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T--&gt;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 -&gt; ‘T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 T.type =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 -&gt; T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E--&gt; 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{E.type = I f ((E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 ==s) &amp;&amp; (E</a:t>
            </a:r>
            <a:r>
              <a:rPr lang="en" sz="2400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.type == s--&gt; t)) t; else type-error;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6890150" y="3171825"/>
            <a:ext cx="6172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E1=5=E2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E1(E2)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/>
        </p:nvSpPr>
        <p:spPr>
          <a:xfrm>
            <a:off x="0" y="0"/>
            <a:ext cx="9081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Equivalence of type expressions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the structural equivalence of two type exp s and t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sequiv(s,t): boolean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s and t are of the same basic type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return true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else if s=array(s1,s2) and t = array(t1,t2)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sequiv(s1,t1) and sequiv(s2,t2)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else if s=s1Xs2 and t = t1Xt2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sequiv(s1,t1) and sequiv(s2,t2)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/>
        </p:nvSpPr>
        <p:spPr>
          <a:xfrm>
            <a:off x="0" y="0"/>
            <a:ext cx="90615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5603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if s=pointer(s1) and t = pointer(t1)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sequiv(s1,t1)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else if s=s1🡪s2 and t = t1🡪t2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sequiv(s1,t1) and sequiv(s2,t2)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false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type checking can be reformulated as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else if s=array(s1,s2) and t = array(t1,t2) then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sequiv(s2,t2)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/>
        </p:nvSpPr>
        <p:spPr>
          <a:xfrm>
            <a:off x="0" y="0"/>
            <a:ext cx="90714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of Type Expressions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6"/>
              <a:buFont typeface="Arial"/>
              <a:buNone/>
            </a:pPr>
            <a:r>
              <a:rPr lang="en" sz="2400" b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</a:t>
            </a:r>
            <a:endParaRPr sz="2400" b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freturns(char)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pointer(freturns(char)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array(pointer(freturns(char)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73" name="Google Shape;1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25" y="2720450"/>
            <a:ext cx="5161900" cy="1619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34"/>
          <p:cNvGraphicFramePr/>
          <p:nvPr/>
        </p:nvGraphicFramePr>
        <p:xfrm>
          <a:off x="4159100" y="111085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{241B43E4-CAE0-4E39-902C-3B0A6780E547}</a:tableStyleId>
              </a:tblPr>
              <a:tblGrid>
                <a:gridCol w="226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BASIC TYPE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ENCODING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Boolean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0000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Char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0001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Integer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0010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Real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0011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" name="Google Shape;175;p34"/>
          <p:cNvSpPr txBox="1"/>
          <p:nvPr/>
        </p:nvSpPr>
        <p:spPr>
          <a:xfrm>
            <a:off x="707225" y="996550"/>
            <a:ext cx="617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4"/>
          <p:cNvSpPr txBox="1"/>
          <p:nvPr/>
        </p:nvSpPr>
        <p:spPr>
          <a:xfrm>
            <a:off x="5464975" y="3128975"/>
            <a:ext cx="617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35"/>
          <p:cNvGraphicFramePr/>
          <p:nvPr/>
        </p:nvGraphicFramePr>
        <p:xfrm>
          <a:off x="935348" y="15671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{241B43E4-CAE0-4E39-902C-3B0A6780E547}</a:tableStyleId>
              </a:tblPr>
              <a:tblGrid>
                <a:gridCol w="371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TYPE EXPRESSION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ENCODING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Char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000000 0001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Freturns(char)</a:t>
                      </a: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000011 0001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cida Sans"/>
                        <a:buNone/>
                      </a:pPr>
                      <a:r>
                        <a:rPr lang="en" sz="1400"/>
                        <a:t>Pointer(Freturns(char)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000111 0001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cida Sans"/>
                        <a:buNone/>
                      </a:pPr>
                      <a:r>
                        <a:rPr lang="en" sz="1400"/>
                        <a:t>Array(Pointer(Freturns(char)</a:t>
                      </a:r>
                      <a:endParaRPr sz="14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100111 0001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/>
        </p:nvSpPr>
        <p:spPr>
          <a:xfrm>
            <a:off x="0" y="0"/>
            <a:ext cx="9144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646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for type expression</a:t>
            </a:r>
            <a:endParaRPr sz="2400" b="1">
              <a:solidFill>
                <a:srgbClr val="46464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link =* cell;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next: link;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Last: link;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P: *cell;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Q,r= *cell;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b="1">
              <a:solidFill>
                <a:srgbClr val="464646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87" name="Google Shape;1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50" y="2670200"/>
            <a:ext cx="6041443" cy="1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/>
        </p:nvSpPr>
        <p:spPr>
          <a:xfrm>
            <a:off x="0" y="0"/>
            <a:ext cx="9212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Conversions</a:t>
            </a:r>
            <a:endParaRPr sz="2400" b="1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Type Conversions can be:</a:t>
            </a:r>
            <a:endParaRPr sz="2400">
              <a:solidFill>
                <a:schemeClr val="dk1"/>
              </a:solidFill>
              <a:highlight>
                <a:srgbClr val="F0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(casts) if the programmer must write something to cause these conversions.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(coercions) if done automatically by the compiler.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475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675" y="485400"/>
            <a:ext cx="4388325" cy="31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Office PowerPoint</Application>
  <PresentationFormat>On-screen Show (16:9)</PresentationFormat>
  <Paragraphs>206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Lucida Sans</vt:lpstr>
      <vt:lpstr>Helvetica Neue</vt:lpstr>
      <vt:lpstr>Noto Sans Symbols</vt:lpstr>
      <vt:lpstr>Times New Roman</vt:lpstr>
      <vt:lpstr>Arial</vt:lpstr>
      <vt:lpstr>Simple Light</vt:lpstr>
      <vt:lpstr>PowerPoint Presentation</vt:lpstr>
      <vt:lpstr>PowerPoint Presentation</vt:lpstr>
      <vt:lpstr>Introduction to Semantic Analysis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2515012_ Vidyasree</cp:lastModifiedBy>
  <cp:revision>1</cp:revision>
  <dcterms:modified xsi:type="dcterms:W3CDTF">2026-02-22T18:41:29Z</dcterms:modified>
</cp:coreProperties>
</file>