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embeddedFontLst>
    <p:embeddedFont>
      <p:font typeface="Gill Sans" panose="020B0604020202020204" charset="0"/>
      <p:regular r:id="rId27"/>
      <p:bold r:id="rId28"/>
    </p:embeddedFont>
    <p:embeddedFont>
      <p:font typeface="Helvetica Neue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gfPYILiJhVC/wHWhI/+yHyEDQV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8C1BCC4-6C63-47B1-85C5-F1310EA87163}">
  <a:tblStyle styleId="{F8C1BCC4-6C63-47B1-85C5-F1310EA8716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3.fntdata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36" Type="http://customschemas.google.com/relationships/presentationmetadata" Target="meta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515012_ Vidyasree" userId="2633e80093b3d421" providerId="LiveId" clId="{12EBA23A-46CD-4FA7-9690-46E67EF4679B}"/>
    <pc:docChg chg="undo custSel modSld">
      <pc:chgData name="2515012_ Vidyasree" userId="2633e80093b3d421" providerId="LiveId" clId="{12EBA23A-46CD-4FA7-9690-46E67EF4679B}" dt="2026-02-28T16:42:48.526" v="39" actId="20577"/>
      <pc:docMkLst>
        <pc:docMk/>
      </pc:docMkLst>
      <pc:sldChg chg="modSp mod">
        <pc:chgData name="2515012_ Vidyasree" userId="2633e80093b3d421" providerId="LiveId" clId="{12EBA23A-46CD-4FA7-9690-46E67EF4679B}" dt="2026-02-28T16:42:48.526" v="39" actId="20577"/>
        <pc:sldMkLst>
          <pc:docMk/>
          <pc:sldMk cId="0" sldId="256"/>
        </pc:sldMkLst>
        <pc:spChg chg="mod">
          <ac:chgData name="2515012_ Vidyasree" userId="2633e80093b3d421" providerId="LiveId" clId="{12EBA23A-46CD-4FA7-9690-46E67EF4679B}" dt="2026-02-28T16:42:48.526" v="39" actId="20577"/>
          <ac:spMkLst>
            <pc:docMk/>
            <pc:sldMk cId="0" sldId="256"/>
            <ac:spMk id="14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b65c5f1e5a_2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37" name="Google Shape;137;g1b65c5f1e5a_2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" name="Google Shape;15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946c4074d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946c4074d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946c4074d2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946c4074d2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946c4074d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946c4074d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94c121ed6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94c121ed6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946c4074d2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946c4074d2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946c4074d2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g946c4074d2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94b24a3a22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g94b24a3a22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946c4074d2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g946c4074d2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94b24a3a2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g94b24a3a2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94b24a3a2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94b24a3a2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94b24a3a22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94b24a3a22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94b24a3a22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94b24a3a22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94b24a3a22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g94b24a3a22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9320d411d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g9320d411d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9320d411d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9320d411d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9320d411d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9320d411d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9320d411d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g9320d411df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b65c5f1e5a_2_69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1" name="Google Shape;11;g1b65c5f1e5a_2_69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2" name="Google Shape;12;g1b65c5f1e5a_2_6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b65c5f1e5a_2_7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g1b65c5f1e5a_2_7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1b65c5f1e5a_2_7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g1b65c5f1e5a_2_7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g1b65c5f1e5a_2_7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1b65c5f1e5a_2_8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1b65c5f1e5a_2_8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g1b65c5f1e5a_2_80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g1b65c5f1e5a_2_8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1b65c5f1e5a_2_8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1b65c5f1e5a_2_8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b65c5f1e5a_2_88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g1b65c5f1e5a_2_88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g1b65c5f1e5a_2_8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1b65c5f1e5a_2_92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g1b65c5f1e5a_2_9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1b65c5f1e5a_2_95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g1b65c5f1e5a_2_95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g1b65c5f1e5a_2_95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g1b65c5f1e5a_2_95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g1b65c5f1e5a_2_9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b65c5f1e5a_2_101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g1b65c5f1e5a_2_10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1b65c5f1e5a_2_104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g1b65c5f1e5a_2_104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g1b65c5f1e5a_2_10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1b65c5f1e5a_2_10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1"/>
          </p:nvPr>
        </p:nvSpPr>
        <p:spPr>
          <a:xfrm>
            <a:off x="581192" y="2340864"/>
            <a:ext cx="11029615" cy="3634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0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Gill Sans"/>
              <a:buNone/>
              <a:defRPr sz="3600"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Gill Sans"/>
              <a:buNone/>
              <a:defRPr sz="3600" b="0" cap="none"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194767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2"/>
          </p:nvPr>
        </p:nvSpPr>
        <p:spPr>
          <a:xfrm>
            <a:off x="6416039" y="2228003"/>
            <a:ext cx="5194769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None/>
              <a:defRPr sz="2000" b="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194766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body" idx="3"/>
          </p:nvPr>
        </p:nvSpPr>
        <p:spPr>
          <a:xfrm>
            <a:off x="6416039" y="2250892"/>
            <a:ext cx="5194770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Noto Sans Symbols"/>
              <a:buNone/>
              <a:defRPr sz="2000" b="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4"/>
          </p:nvPr>
        </p:nvSpPr>
        <p:spPr>
          <a:xfrm>
            <a:off x="6416037" y="2926052"/>
            <a:ext cx="5194771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/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7"/>
          <p:cNvSpPr txBox="1"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ill Sans"/>
              <a:buNone/>
              <a:defRPr sz="24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body" idx="1"/>
          </p:nvPr>
        </p:nvSpPr>
        <p:spPr>
          <a:xfrm>
            <a:off x="4900928" y="1179829"/>
            <a:ext cx="6650991" cy="4658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body" idx="2"/>
          </p:nvPr>
        </p:nvSpPr>
        <p:spPr>
          <a:xfrm>
            <a:off x="767857" y="2836654"/>
            <a:ext cx="3031852" cy="3001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dt" idx="10"/>
          </p:nvPr>
        </p:nvSpPr>
        <p:spPr>
          <a:xfrm>
            <a:off x="7605951" y="6456916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ft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ldNum" idx="12"/>
          </p:nvPr>
        </p:nvSpPr>
        <p:spPr>
          <a:xfrm>
            <a:off x="10558300" y="6456916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Gill Sans"/>
              <a:buNone/>
              <a:defRPr sz="2400" b="0"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>
            <a:spLocks noGrp="1"/>
          </p:cNvSpPr>
          <p:nvPr>
            <p:ph type="pic" idx="2"/>
          </p:nvPr>
        </p:nvSpPr>
        <p:spPr>
          <a:xfrm>
            <a:off x="447817" y="641350"/>
            <a:ext cx="11290859" cy="3651249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99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 rot="5400000">
            <a:off x="4269976" y="-1352783"/>
            <a:ext cx="3652047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/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 rot="5400000">
            <a:off x="7362637" y="1705163"/>
            <a:ext cx="4807326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ill Sans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 rot="5400000">
            <a:off x="1952072" y="-313549"/>
            <a:ext cx="4807326" cy="716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129" name="Google Shape;129;p20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0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b65c5f1e5a_2_6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b65c5f1e5a_2_6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g1b65c5f1e5a_2_6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ill Sans"/>
              <a:buNone/>
              <a:defRPr sz="28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9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9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1b65c5f1e5a_2_55"/>
          <p:cNvPicPr preferRelativeResize="0"/>
          <p:nvPr/>
        </p:nvPicPr>
        <p:blipFill rotWithShape="1">
          <a:blip r:embed="rId3">
            <a:alphaModFix/>
          </a:blip>
          <a:srcRect t="92758"/>
          <a:stretch/>
        </p:blipFill>
        <p:spPr>
          <a:xfrm>
            <a:off x="0" y="6373812"/>
            <a:ext cx="12192001" cy="48418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1b65c5f1e5a_2_55"/>
          <p:cNvSpPr txBox="1"/>
          <p:nvPr/>
        </p:nvSpPr>
        <p:spPr>
          <a:xfrm>
            <a:off x="0" y="0"/>
            <a:ext cx="12192000" cy="9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1" i="0" u="none" strike="noStrike" cap="none">
              <a:solidFill>
                <a:srgbClr val="04406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g1b65c5f1e5a_2_55"/>
          <p:cNvSpPr txBox="1"/>
          <p:nvPr/>
        </p:nvSpPr>
        <p:spPr>
          <a:xfrm>
            <a:off x="50900" y="2243108"/>
            <a:ext cx="12090300" cy="286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 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: </a:t>
            </a:r>
            <a:r>
              <a:rPr lang="en-US" sz="25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23CSC04 – Principles of Compiler Design </a:t>
            </a:r>
            <a:endParaRPr sz="25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: </a:t>
            </a:r>
            <a:r>
              <a:rPr lang="en-US" sz="25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2 - </a:t>
            </a:r>
            <a:r>
              <a:rPr lang="en-US" sz="2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Analysis and Intermediate Code Generation </a:t>
            </a:r>
            <a:endParaRPr sz="2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  : </a:t>
            </a:r>
            <a:r>
              <a:rPr lang="en-US" sz="25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Intermedia</a:t>
            </a:r>
            <a:r>
              <a:rPr lang="en-US" sz="2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 Code Generator:</a:t>
            </a:r>
            <a:r>
              <a:rPr lang="en-US" sz="3200" b="1" dirty="0">
                <a:solidFill>
                  <a:schemeClr val="dk1"/>
                </a:solidFill>
              </a:rPr>
              <a:t> </a:t>
            </a:r>
            <a:r>
              <a:rPr lang="en-US" sz="25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Intermediate Languages, Three Address Code</a:t>
            </a:r>
            <a:endParaRPr sz="32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: </a:t>
            </a:r>
            <a:r>
              <a:rPr lang="en-US" sz="25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 </a:t>
            </a:r>
            <a:r>
              <a:rPr lang="en-US" sz="2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G. 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Vidyasree</a:t>
            </a:r>
            <a:endParaRPr lang="en-US" sz="2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25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g1b65c5f1e5a_2_55"/>
          <p:cNvSpPr txBox="1"/>
          <p:nvPr/>
        </p:nvSpPr>
        <p:spPr>
          <a:xfrm>
            <a:off x="214300" y="5869000"/>
            <a:ext cx="11650800" cy="50490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www.skcet.ac.in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1b65c5f1e5a_2_55"/>
          <p:cNvSpPr txBox="1"/>
          <p:nvPr/>
        </p:nvSpPr>
        <p:spPr>
          <a:xfrm>
            <a:off x="2692400" y="1447800"/>
            <a:ext cx="6807300" cy="614700"/>
          </a:xfrm>
          <a:prstGeom prst="rect">
            <a:avLst/>
          </a:prstGeom>
          <a:solidFill>
            <a:srgbClr val="376092"/>
          </a:solid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lang="en-US" sz="3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COURSE MATERIAL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g1b65c5f1e5a_2_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500" y="292500"/>
            <a:ext cx="11836401" cy="97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"/>
          <p:cNvSpPr txBox="1"/>
          <p:nvPr/>
        </p:nvSpPr>
        <p:spPr>
          <a:xfrm>
            <a:off x="109616" y="687750"/>
            <a:ext cx="11878500" cy="20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Intermediate Code Generation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 between front-end and back-end in compiler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Intermediate Languages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kinds of Intermediate representation:</a:t>
            </a:r>
            <a:endParaRPr sz="24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❏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 Tree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❏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Postfix notation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Graphical Representations</a:t>
            </a:r>
            <a:endParaRPr sz="2800" b="1" i="0" u="none" strike="noStrike" cap="none">
              <a:solidFill>
                <a:srgbClr val="FF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 Tree</a:t>
            </a: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❏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Hierarchical structure of source program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❏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DAG : Identify common subexpressions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/>
          <p:cNvSpPr txBox="1"/>
          <p:nvPr/>
        </p:nvSpPr>
        <p:spPr>
          <a:xfrm>
            <a:off x="241100" y="736700"/>
            <a:ext cx="11840700" cy="60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Graphical representation of H:= I *-  J + I  *  -  J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 Tree</a:t>
            </a:r>
            <a:endParaRPr sz="2400" b="1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5" name="Google Shape;15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41000" y="1225525"/>
            <a:ext cx="6496050" cy="506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1125" y="755150"/>
            <a:ext cx="5759650" cy="578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5"/>
          <p:cNvSpPr txBox="1"/>
          <p:nvPr/>
        </p:nvSpPr>
        <p:spPr>
          <a:xfrm>
            <a:off x="0" y="2565000"/>
            <a:ext cx="7166100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DAG: Directed Acyclic Graph</a:t>
            </a:r>
            <a:endParaRPr sz="2800" b="1" i="0" u="none" strike="noStrike" cap="none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❏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Postfix notation is linearized representation of syntax tree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❏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It’s a list of the nodes of the tree in which a  node appears immediately after it’s children.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❏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Postfix notation of syntax tree: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00" b="1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I J uminus  * I J uminus * + assign  </a:t>
            </a:r>
            <a:endParaRPr sz="2900" b="1" i="0" u="none" strike="noStrike" cap="non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/>
          <p:nvPr/>
        </p:nvSpPr>
        <p:spPr>
          <a:xfrm>
            <a:off x="147350" y="696525"/>
            <a:ext cx="11880900" cy="59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representations of Syntax Tree</a:t>
            </a:r>
            <a:endParaRPr sz="3000" b="1" i="0" u="none" strike="noStrike" cap="non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❏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node is represented as a record with a field for its operator and additional fields for pointers to its children .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❏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are allocated from an array of records.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❏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Index or position of the node serves as the pointer to the node.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❏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the nodes in the syntax tree can be visited by following pointers starting from the root at position 10.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825" y="323850"/>
            <a:ext cx="7644402" cy="5667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15425" y="0"/>
            <a:ext cx="5465725" cy="329284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 txBox="1"/>
          <p:nvPr/>
        </p:nvSpPr>
        <p:spPr>
          <a:xfrm>
            <a:off x="8938150" y="3867775"/>
            <a:ext cx="2925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A+B</a:t>
            </a:r>
            <a:endParaRPr sz="1400" b="0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946c4074d2_0_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0650" y="0"/>
            <a:ext cx="6022475" cy="655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946c4074d2_0_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4225" y="828825"/>
            <a:ext cx="5465725" cy="3292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946c4074d2_0_18"/>
          <p:cNvSpPr txBox="1"/>
          <p:nvPr/>
        </p:nvSpPr>
        <p:spPr>
          <a:xfrm>
            <a:off x="66975" y="589375"/>
            <a:ext cx="11251500" cy="60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-Address Code</a:t>
            </a:r>
            <a:endParaRPr sz="3300" b="1" i="0" u="none" strike="noStrike" cap="non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Form</a:t>
            </a: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X:=Y op Z</a:t>
            </a:r>
            <a:endParaRPr sz="2400" b="1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X,Y,Z   =&gt; Names,constants,compiler-generated temporaries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 =&gt; Any operator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❖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Fixed or floating- point arithmetic operator, logical operator or boolean operator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t1:=Y*Z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t2:= X+t1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946c4074d2_0_21"/>
          <p:cNvSpPr txBox="1"/>
          <p:nvPr/>
        </p:nvSpPr>
        <p:spPr>
          <a:xfrm>
            <a:off x="1412300" y="857250"/>
            <a:ext cx="10656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for syntax tree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t1:=-J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t2:=I*t1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t3:=-J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t4:=I*t3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H:=t2+t4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g946c4074d2_0_21"/>
          <p:cNvSpPr txBox="1"/>
          <p:nvPr/>
        </p:nvSpPr>
        <p:spPr>
          <a:xfrm>
            <a:off x="5987350" y="1540375"/>
            <a:ext cx="5277300" cy="27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1" name="Google Shape;191;g946c4074d2_0_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57800" y="1204938"/>
            <a:ext cx="7383350" cy="44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94c121ed63_0_1"/>
          <p:cNvSpPr txBox="1"/>
          <p:nvPr/>
        </p:nvSpPr>
        <p:spPr>
          <a:xfrm>
            <a:off x="1460000" y="200917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for DAG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t1:=-J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t2:=I*t1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t5:=t2+t2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H:=t5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7" name="Google Shape;197;g94c121ed63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1125" y="755150"/>
            <a:ext cx="5759650" cy="578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946c4074d2_0_24"/>
          <p:cNvSpPr txBox="1"/>
          <p:nvPr/>
        </p:nvSpPr>
        <p:spPr>
          <a:xfrm>
            <a:off x="361650" y="991225"/>
            <a:ext cx="112647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Three-Address Statement</a:t>
            </a:r>
            <a:endParaRPr sz="2400" b="1" i="0" u="none" strike="noStrike" cap="none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4000"/>
              <a:buFont typeface="Times New Roman"/>
              <a:buChar char="★"/>
            </a:pPr>
            <a:r>
              <a:rPr lang="en-US" sz="2400" b="1" i="0" u="none" strike="noStrike" cap="non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 Statement</a:t>
            </a:r>
            <a:endParaRPr sz="2400" b="1" i="0" u="none" strike="noStrike" cap="non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Form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x:=y op z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 is binary arithmetic or logical operation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4000"/>
              <a:buFont typeface="Times New Roman"/>
              <a:buChar char="★"/>
            </a:pPr>
            <a:r>
              <a:rPr lang="en-US" sz="2400" b="1" i="0" u="none" strike="noStrike" cap="non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 instruction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form</a:t>
            </a:r>
            <a:r>
              <a:rPr lang="en-US" sz="2400" b="1" i="0" u="none" strike="noStrike" cap="non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x:=op y where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 is a binary operation</a:t>
            </a:r>
            <a:endParaRPr sz="2400" b="0" i="0" u="none" strike="noStrike" cap="none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operation =&gt; Unary minus,logical negation, shift operator, conversion operation( int to float)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4000"/>
              <a:buFont typeface="Times New Roman"/>
              <a:buChar char="★"/>
            </a:pPr>
            <a:r>
              <a:rPr lang="en-US" sz="2400" b="1" i="0" u="none" strike="noStrike" cap="non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 statement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form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x:=y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the value of y is assigned to x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g946c4074d2_0_24"/>
          <p:cNvSpPr txBox="1"/>
          <p:nvPr/>
        </p:nvSpPr>
        <p:spPr>
          <a:xfrm>
            <a:off x="6451700" y="3656525"/>
            <a:ext cx="9360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X:=+Y</a:t>
            </a:r>
            <a:endParaRPr sz="1400" b="0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X:=+1</a:t>
            </a:r>
            <a:endParaRPr sz="1400" b="0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946c4074d2_0_27"/>
          <p:cNvSpPr txBox="1"/>
          <p:nvPr/>
        </p:nvSpPr>
        <p:spPr>
          <a:xfrm>
            <a:off x="160800" y="1058175"/>
            <a:ext cx="11947800" cy="57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Unconditional jump</a:t>
            </a:r>
            <a:r>
              <a:rPr lang="en-US" sz="2400" b="0" i="0" u="none" strike="noStrike" cap="non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strike="noStrike" cap="non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goto L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❏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Three- address statement with label L is the next statement to be executed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4000"/>
              <a:buFont typeface="Times New Roman"/>
              <a:buChar char="★"/>
            </a:pPr>
            <a:r>
              <a:rPr lang="en-US" sz="2400" b="1" i="0" u="none" strike="noStrike" cap="non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Conditional jumps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such as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x relop y goto L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❏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Applies relational operator (&lt;,&gt;,&lt;=,&gt;=,=) to x and y and executes the statement with label L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x stands in relation relop to y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x relop y goto L is executed next as in the usual sequence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94b24a3a22_0_43"/>
          <p:cNvSpPr txBox="1"/>
          <p:nvPr/>
        </p:nvSpPr>
        <p:spPr>
          <a:xfrm>
            <a:off x="683100" y="1714500"/>
            <a:ext cx="11304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4000"/>
              <a:buFont typeface="Times New Roman"/>
              <a:buChar char="★"/>
            </a:pPr>
            <a:r>
              <a:rPr lang="en-US" sz="2400" b="1" i="0" u="none" strike="noStrike" cap="non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 x and call p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 n for procedure calls and return y representing a returned value is optional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 x1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 x2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……………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 xn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 p,n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p(x1,x2,..xn)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=&gt; No. of actual parameters in call p,n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946c4074d2_0_30"/>
          <p:cNvSpPr txBox="1"/>
          <p:nvPr/>
        </p:nvSpPr>
        <p:spPr>
          <a:xfrm>
            <a:off x="133950" y="683125"/>
            <a:ext cx="12001500" cy="60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4000"/>
              <a:buFont typeface="Times New Roman"/>
              <a:buChar char="★"/>
            </a:pPr>
            <a:r>
              <a:rPr lang="en-US" sz="2400" b="1" i="0" u="none" strike="noStrike" cap="non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Indexed Assignments of the form</a:t>
            </a:r>
            <a:endParaRPr sz="2400" b="1" i="0" u="none" strike="noStrike" cap="non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x:=y[i]  and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x[i]:=y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❏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Sets the contents of the location i units beyond x to the value of y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❏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x,y,i =&gt; Data objects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4000"/>
              <a:buFont typeface="Times New Roman"/>
              <a:buChar char="★"/>
            </a:pPr>
            <a:r>
              <a:rPr lang="en-US" sz="2400" b="1" i="0" u="none" strike="noStrike" cap="non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 and pointer assignments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form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x:=&amp; y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x:=*y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*x:=y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x:=&amp; y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❏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Set value of x to location of y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x:=*y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❏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is a pointer or temporary whose r-value is a location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❏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r- value of x is made equal to contents of that location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94b24a3a22_0_7"/>
          <p:cNvSpPr txBox="1"/>
          <p:nvPr/>
        </p:nvSpPr>
        <p:spPr>
          <a:xfrm>
            <a:off x="107150" y="629550"/>
            <a:ext cx="11840700" cy="6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*x:=y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❏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Sets the r- value of the object pointed to by x to the r-value of y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A64D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Implementations of Three- Address Statement</a:t>
            </a:r>
            <a:endParaRPr sz="2400" b="1" i="0" u="none" strike="noStrike" cap="none">
              <a:solidFill>
                <a:srgbClr val="A64D7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Three- Address Statements can be implemented as records with fields for the operator and operand.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Char char="❖"/>
            </a:pP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Quadruple</a:t>
            </a:r>
            <a:endParaRPr sz="2400" b="1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Char char="❖"/>
            </a:pP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Triple</a:t>
            </a:r>
            <a:endParaRPr sz="2400" b="1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Char char="❖"/>
            </a:pP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Indirect Triples</a:t>
            </a:r>
            <a:endParaRPr sz="2400" b="1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94b24a3a22_0_13"/>
          <p:cNvSpPr txBox="1"/>
          <p:nvPr/>
        </p:nvSpPr>
        <p:spPr>
          <a:xfrm>
            <a:off x="0" y="0"/>
            <a:ext cx="12122100" cy="58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Quadruple</a:t>
            </a:r>
            <a:endParaRPr sz="2400" b="1" i="0" u="none" strike="noStrike" cap="non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❏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 structure with four fields - op ,arg1,arg2 and result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Form</a:t>
            </a: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x:=y op z is represented by placing y in arg1, z in arg2 and x in result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g94b24a3a22_0_13"/>
          <p:cNvSpPr txBox="1"/>
          <p:nvPr/>
        </p:nvSpPr>
        <p:spPr>
          <a:xfrm>
            <a:off x="1146125" y="2022600"/>
            <a:ext cx="19743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t1:=-J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t2:=I*t1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t3:=-J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t4:=I*t3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t5:=t2+t4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H:=t5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0" name="Google Shape;230;g94b24a3a22_0_13"/>
          <p:cNvGraphicFramePr/>
          <p:nvPr/>
        </p:nvGraphicFramePr>
        <p:xfrm>
          <a:off x="2759175" y="237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{F8C1BCC4-6C63-47B1-85C5-F1310EA87163}</a:tableStyleId>
              </a:tblPr>
              <a:tblGrid>
                <a:gridCol w="75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2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arg1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arg2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uminus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t1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*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t1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t2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uminus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t3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*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t3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t4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t2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t4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t5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:=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t5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1" name="Google Shape;231;g94b24a3a22_0_13"/>
          <p:cNvSpPr txBox="1"/>
          <p:nvPr/>
        </p:nvSpPr>
        <p:spPr>
          <a:xfrm>
            <a:off x="0" y="4566425"/>
            <a:ext cx="30000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H:= I *-  J + I  *  -  J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94b24a3a22_0_13"/>
          <p:cNvSpPr txBox="1"/>
          <p:nvPr/>
        </p:nvSpPr>
        <p:spPr>
          <a:xfrm rot="10800000" flipH="1">
            <a:off x="2397098" y="4383214"/>
            <a:ext cx="37815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F3F3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94b24a3a22_0_18"/>
          <p:cNvSpPr txBox="1"/>
          <p:nvPr/>
        </p:nvSpPr>
        <p:spPr>
          <a:xfrm>
            <a:off x="227700" y="616150"/>
            <a:ext cx="11854200" cy="60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Triples</a:t>
            </a:r>
            <a:endParaRPr sz="2400" b="1" i="0" u="none" strike="noStrike" cap="non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8" name="Google Shape;238;g94b24a3a22_0_18"/>
          <p:cNvGraphicFramePr/>
          <p:nvPr/>
        </p:nvGraphicFramePr>
        <p:xfrm>
          <a:off x="1325950" y="1750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{F8C1BCC4-6C63-47B1-85C5-F1310EA87163}</a:tableStyleId>
              </a:tblPr>
              <a:tblGrid>
                <a:gridCol w="75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arg1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arg2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uminus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*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uminus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*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t2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:=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9" name="Google Shape;239;g94b24a3a22_0_18"/>
          <p:cNvSpPr txBox="1"/>
          <p:nvPr/>
        </p:nvSpPr>
        <p:spPr>
          <a:xfrm>
            <a:off x="8612700" y="61615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t1:=-J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t2:=I*t1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t3:=-J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t4:=I*t3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t5:=t2+t4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H:=t5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g94b24a3a22_0_18"/>
          <p:cNvSpPr txBox="1"/>
          <p:nvPr/>
        </p:nvSpPr>
        <p:spPr>
          <a:xfrm>
            <a:off x="8907350" y="3817425"/>
            <a:ext cx="3000000" cy="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H:= I *-  J + I  *  -  J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94b24a3a22_0_27"/>
          <p:cNvSpPr txBox="1"/>
          <p:nvPr/>
        </p:nvSpPr>
        <p:spPr>
          <a:xfrm>
            <a:off x="227725" y="0"/>
            <a:ext cx="11867400" cy="61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forms of Triples</a:t>
            </a:r>
            <a:endParaRPr sz="2400" b="1" i="0" u="none" strike="noStrike" cap="non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6" name="Google Shape;246;g94b24a3a22_0_27"/>
          <p:cNvGraphicFramePr/>
          <p:nvPr/>
        </p:nvGraphicFramePr>
        <p:xfrm>
          <a:off x="805125" y="76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{F8C1BCC4-6C63-47B1-85C5-F1310EA87163}</a:tableStyleId>
              </a:tblPr>
              <a:tblGrid>
                <a:gridCol w="155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9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arg1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arg2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[]=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assign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7" name="Google Shape;247;g94b24a3a22_0_27"/>
          <p:cNvSpPr txBox="1"/>
          <p:nvPr/>
        </p:nvSpPr>
        <p:spPr>
          <a:xfrm>
            <a:off x="442000" y="2598550"/>
            <a:ext cx="60543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x[i]=y</a:t>
            </a: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8" name="Google Shape;248;g94b24a3a22_0_27"/>
          <p:cNvGraphicFramePr/>
          <p:nvPr/>
        </p:nvGraphicFramePr>
        <p:xfrm>
          <a:off x="1212025" y="362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{F8C1BCC4-6C63-47B1-85C5-F1310EA87163}</a:tableStyleId>
              </a:tblPr>
              <a:tblGrid>
                <a:gridCol w="155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9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arg1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arg2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=[]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assign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9" name="Google Shape;249;g94b24a3a22_0_27"/>
          <p:cNvSpPr txBox="1"/>
          <p:nvPr/>
        </p:nvSpPr>
        <p:spPr>
          <a:xfrm>
            <a:off x="1205500" y="5639100"/>
            <a:ext cx="58803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x:=y[i]</a:t>
            </a: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94b24a3a22_0_32"/>
          <p:cNvSpPr txBox="1"/>
          <p:nvPr/>
        </p:nvSpPr>
        <p:spPr>
          <a:xfrm>
            <a:off x="-66975" y="535775"/>
            <a:ext cx="11747100" cy="6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Indirect Triples</a:t>
            </a:r>
            <a:endParaRPr sz="2400" b="1" i="0" u="none" strike="noStrike" cap="non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55" name="Google Shape;255;g94b24a3a22_0_32"/>
          <p:cNvGraphicFramePr/>
          <p:nvPr/>
        </p:nvGraphicFramePr>
        <p:xfrm>
          <a:off x="214325" y="116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{F8C1BCC4-6C63-47B1-85C5-F1310EA87163}</a:tableStyleId>
              </a:tblPr>
              <a:tblGrid>
                <a:gridCol w="87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Statement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(14)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(15)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(16)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(17)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(18)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(19)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56" name="Google Shape;256;g94b24a3a22_0_32"/>
          <p:cNvGraphicFramePr/>
          <p:nvPr/>
        </p:nvGraphicFramePr>
        <p:xfrm>
          <a:off x="3254775" y="11017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{F8C1BCC4-6C63-47B1-85C5-F1310EA87163}</a:tableStyleId>
              </a:tblPr>
              <a:tblGrid>
                <a:gridCol w="64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2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3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arg1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arg2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uminus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*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(14)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uminus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*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(16)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t2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(17)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:=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(18)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7" name="Google Shape;257;g94b24a3a22_0_32"/>
          <p:cNvSpPr txBox="1"/>
          <p:nvPr/>
        </p:nvSpPr>
        <p:spPr>
          <a:xfrm>
            <a:off x="8947550" y="15002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t1:=-J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t2:=I*t1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t3:=-J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t4:=I*t3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t5:=t2+t4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H:=t5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9320d411df_0_9"/>
          <p:cNvSpPr txBox="1"/>
          <p:nvPr/>
        </p:nvSpPr>
        <p:spPr>
          <a:xfrm>
            <a:off x="227700" y="736700"/>
            <a:ext cx="11693400" cy="59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(x+y)*(y+z)+(x+y+z)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t1=x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t2=y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t3=t1+t2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t4=z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t5=t2+t4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t6=t3*t5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t7=t3+t4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t8:=t6+t7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7" name="Google Shape;267;g9320d411df_0_15"/>
          <p:cNvGraphicFramePr/>
          <p:nvPr/>
        </p:nvGraphicFramePr>
        <p:xfrm>
          <a:off x="709800" y="839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{F8C1BCC4-6C63-47B1-85C5-F1310EA87163}</a:tableStyleId>
              </a:tblPr>
              <a:tblGrid>
                <a:gridCol w="71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3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0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arg1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arg2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:=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t1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:=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t2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t1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t2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t3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:=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t4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t2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t4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t5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*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t3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t5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t6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(6)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t3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t4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t7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t6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t7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t8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68" name="Google Shape;268;g9320d411df_0_15"/>
          <p:cNvSpPr txBox="1"/>
          <p:nvPr/>
        </p:nvSpPr>
        <p:spPr>
          <a:xfrm>
            <a:off x="2397625" y="1607350"/>
            <a:ext cx="77154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9" name="Google Shape;269;g9320d411df_0_15"/>
          <p:cNvSpPr txBox="1"/>
          <p:nvPr/>
        </p:nvSpPr>
        <p:spPr>
          <a:xfrm>
            <a:off x="9362675" y="111565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t1:=x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t2:=y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t3:=t1+t2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t4:=z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t5:=t2+t4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t6:=t3*t5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t7:=t3+t4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t8:=t6+t7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9320d411df_0_15"/>
          <p:cNvSpPr txBox="1"/>
          <p:nvPr/>
        </p:nvSpPr>
        <p:spPr>
          <a:xfrm>
            <a:off x="147350" y="40175"/>
            <a:ext cx="32148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Quadraple</a:t>
            </a: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5" name="Google Shape;275;g9320d411df_0_25"/>
          <p:cNvGraphicFramePr/>
          <p:nvPr/>
        </p:nvGraphicFramePr>
        <p:xfrm>
          <a:off x="709800" y="1284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{F8C1BCC4-6C63-47B1-85C5-F1310EA87163}</a:tableStyleId>
              </a:tblPr>
              <a:tblGrid>
                <a:gridCol w="71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3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arg1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arg2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:=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:=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t1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810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Times New Roman"/>
                        <a:buAutoNum type="arabicParenBoth"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:=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t2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(3) 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*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t3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(4)  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(6)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t3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(3) 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t6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(6)   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76" name="Google Shape;276;g9320d411df_0_25"/>
          <p:cNvSpPr txBox="1"/>
          <p:nvPr/>
        </p:nvSpPr>
        <p:spPr>
          <a:xfrm>
            <a:off x="2397625" y="1607350"/>
            <a:ext cx="77154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7" name="Google Shape;277;g9320d411df_0_25"/>
          <p:cNvSpPr txBox="1"/>
          <p:nvPr/>
        </p:nvSpPr>
        <p:spPr>
          <a:xfrm>
            <a:off x="9362675" y="111565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t1:=x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t2:=y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t3:=t1+t2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t4:=z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t5:=t2+t4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t6:=t3*t5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t7:=t3+t4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t8:=t6+t7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9320d411df_0_25"/>
          <p:cNvSpPr txBox="1"/>
          <p:nvPr/>
        </p:nvSpPr>
        <p:spPr>
          <a:xfrm>
            <a:off x="147350" y="40175"/>
            <a:ext cx="32148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Triple</a:t>
            </a: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g9320d411df_0_25"/>
          <p:cNvSpPr txBox="1"/>
          <p:nvPr/>
        </p:nvSpPr>
        <p:spPr>
          <a:xfrm>
            <a:off x="7872425" y="3871925"/>
            <a:ext cx="3343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(0)             (20)</a:t>
            </a:r>
            <a:endParaRPr sz="1400" b="0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0" name="Google Shape;280;g9320d411df_0_25"/>
          <p:cNvSpPr txBox="1"/>
          <p:nvPr/>
        </p:nvSpPr>
        <p:spPr>
          <a:xfrm>
            <a:off x="147350" y="1754498"/>
            <a:ext cx="56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5" name="Google Shape;285;g9320d411df_0_32"/>
          <p:cNvGraphicFramePr/>
          <p:nvPr/>
        </p:nvGraphicFramePr>
        <p:xfrm>
          <a:off x="709800" y="1284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{F8C1BCC4-6C63-47B1-85C5-F1310EA87163}</a:tableStyleId>
              </a:tblPr>
              <a:tblGrid>
                <a:gridCol w="71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3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arg1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arg2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:=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:=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t1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(15)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:=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t2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(17)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*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t3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(18)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(6)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t3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(17)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t6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(20)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6" name="Google Shape;286;g9320d411df_0_32"/>
          <p:cNvSpPr txBox="1"/>
          <p:nvPr/>
        </p:nvSpPr>
        <p:spPr>
          <a:xfrm>
            <a:off x="2397625" y="1607350"/>
            <a:ext cx="77154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7" name="Google Shape;287;g9320d411df_0_32"/>
          <p:cNvSpPr txBox="1"/>
          <p:nvPr/>
        </p:nvSpPr>
        <p:spPr>
          <a:xfrm>
            <a:off x="10662050" y="1149900"/>
            <a:ext cx="20355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t1:=x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t2:=y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t3:=t1+t2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t4:=z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t5:=t2+t4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t6:=t3*t5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t7:=t3+t4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t8:=t6+t7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9320d411df_0_32"/>
          <p:cNvSpPr txBox="1"/>
          <p:nvPr/>
        </p:nvSpPr>
        <p:spPr>
          <a:xfrm>
            <a:off x="147350" y="40175"/>
            <a:ext cx="32148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Indirect Triple</a:t>
            </a: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89" name="Google Shape;289;g9320d411df_0_32"/>
          <p:cNvGraphicFramePr/>
          <p:nvPr/>
        </p:nvGraphicFramePr>
        <p:xfrm>
          <a:off x="7768850" y="133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{F8C1BCC4-6C63-47B1-85C5-F1310EA87163}</a:tableStyleId>
              </a:tblPr>
              <a:tblGrid>
                <a:gridCol w="87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Statement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(14)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(15)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(16)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(17)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(18)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(19)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(6)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(20)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(21)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videndVTI">
  <a:themeElements>
    <a:clrScheme name="AnalogousFromRegularSeed_2SEEDS">
      <a:dk1>
        <a:srgbClr val="000000"/>
      </a:dk1>
      <a:lt1>
        <a:srgbClr val="FFFFFF"/>
      </a:lt1>
      <a:dk2>
        <a:srgbClr val="243D41"/>
      </a:dk2>
      <a:lt2>
        <a:srgbClr val="E6E8EB"/>
      </a:lt2>
      <a:accent1>
        <a:srgbClr val="B1833B"/>
      </a:accent1>
      <a:accent2>
        <a:srgbClr val="C3644D"/>
      </a:accent2>
      <a:accent3>
        <a:srgbClr val="A3A541"/>
      </a:accent3>
      <a:accent4>
        <a:srgbClr val="3BB1AB"/>
      </a:accent4>
      <a:accent5>
        <a:srgbClr val="4D98C3"/>
      </a:accent5>
      <a:accent6>
        <a:srgbClr val="4A62B7"/>
      </a:accent6>
      <a:hlink>
        <a:srgbClr val="5883C7"/>
      </a:hlink>
      <a:folHlink>
        <a:srgbClr val="8484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1393</Words>
  <Application>Microsoft Office PowerPoint</Application>
  <PresentationFormat>Widescreen</PresentationFormat>
  <Paragraphs>437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Noto Sans Symbols</vt:lpstr>
      <vt:lpstr>Arial</vt:lpstr>
      <vt:lpstr>Gill Sans</vt:lpstr>
      <vt:lpstr>Times New Roman</vt:lpstr>
      <vt:lpstr>Helvetica Neue</vt:lpstr>
      <vt:lpstr>Simple Light</vt:lpstr>
      <vt:lpstr>DividendVTI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Janani R</dc:creator>
  <cp:lastModifiedBy>2515012_ Vidyasree</cp:lastModifiedBy>
  <cp:revision>1</cp:revision>
  <dcterms:created xsi:type="dcterms:W3CDTF">2020-08-23T12:45:31Z</dcterms:created>
  <dcterms:modified xsi:type="dcterms:W3CDTF">2026-02-28T16:42:54Z</dcterms:modified>
</cp:coreProperties>
</file>