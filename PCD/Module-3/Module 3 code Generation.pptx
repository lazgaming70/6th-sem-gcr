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5.xml" ContentType="application/inkml+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19" r:id="rId5"/>
    <p:sldId id="259" r:id="rId6"/>
    <p:sldId id="260" r:id="rId7"/>
    <p:sldId id="261" r:id="rId8"/>
    <p:sldId id="262" r:id="rId9"/>
    <p:sldId id="263" r:id="rId10"/>
    <p:sldId id="264" r:id="rId11"/>
    <p:sldId id="265" r:id="rId12"/>
    <p:sldId id="266" r:id="rId13"/>
    <p:sldId id="267" r:id="rId14"/>
    <p:sldId id="268" r:id="rId15"/>
    <p:sldId id="269" r:id="rId16"/>
    <p:sldId id="311" r:id="rId17"/>
    <p:sldId id="312" r:id="rId18"/>
    <p:sldId id="313" r:id="rId19"/>
    <p:sldId id="270" r:id="rId20"/>
    <p:sldId id="271" r:id="rId21"/>
    <p:sldId id="272" r:id="rId22"/>
    <p:sldId id="273" r:id="rId23"/>
    <p:sldId id="274" r:id="rId24"/>
    <p:sldId id="310" r:id="rId25"/>
    <p:sldId id="275" r:id="rId26"/>
    <p:sldId id="276" r:id="rId27"/>
    <p:sldId id="324"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314" r:id="rId47"/>
    <p:sldId id="295" r:id="rId48"/>
    <p:sldId id="296" r:id="rId49"/>
    <p:sldId id="297" r:id="rId50"/>
    <p:sldId id="298" r:id="rId51"/>
    <p:sldId id="320" r:id="rId52"/>
    <p:sldId id="321" r:id="rId53"/>
    <p:sldId id="322" r:id="rId54"/>
    <p:sldId id="323" r:id="rId55"/>
    <p:sldId id="299" r:id="rId56"/>
    <p:sldId id="300" r:id="rId57"/>
    <p:sldId id="301" r:id="rId58"/>
    <p:sldId id="302" r:id="rId59"/>
    <p:sldId id="303" r:id="rId60"/>
    <p:sldId id="304" r:id="rId61"/>
    <p:sldId id="305" r:id="rId62"/>
    <p:sldId id="315" r:id="rId63"/>
    <p:sldId id="316" r:id="rId64"/>
    <p:sldId id="317" r:id="rId65"/>
    <p:sldId id="306" r:id="rId66"/>
    <p:sldId id="318" r:id="rId67"/>
    <p:sldId id="307" r:id="rId68"/>
    <p:sldId id="308" r:id="rId69"/>
    <p:sldId id="309" r:id="rId7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14F57-08D3-4196-9419-D0E5CF01AEB2}" v="55" dt="2026-03-25T05:34:47.59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44" autoAdjust="0"/>
  </p:normalViewPr>
  <p:slideViewPr>
    <p:cSldViewPr>
      <p:cViewPr varScale="1">
        <p:scale>
          <a:sx n="71" d="100"/>
          <a:sy n="71" d="100"/>
        </p:scale>
        <p:origin x="1109"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15012_ Vidyasree" userId="2633e80093b3d421" providerId="LiveId" clId="{12EBA23A-46CD-4FA7-9690-46E67EF4679B}"/>
    <pc:docChg chg="undo custSel addSld delSld modSld sldOrd">
      <pc:chgData name="2515012_ Vidyasree" userId="2633e80093b3d421" providerId="LiveId" clId="{12EBA23A-46CD-4FA7-9690-46E67EF4679B}" dt="2026-03-25T06:25:01.186" v="499" actId="9405"/>
      <pc:docMkLst>
        <pc:docMk/>
      </pc:docMkLst>
      <pc:sldChg chg="delSp modSp mod">
        <pc:chgData name="2515012_ Vidyasree" userId="2633e80093b3d421" providerId="LiveId" clId="{12EBA23A-46CD-4FA7-9690-46E67EF4679B}" dt="2026-03-23T05:32:27.934" v="93" actId="20577"/>
        <pc:sldMkLst>
          <pc:docMk/>
          <pc:sldMk cId="0" sldId="256"/>
        </pc:sldMkLst>
        <pc:spChg chg="mod">
          <ac:chgData name="2515012_ Vidyasree" userId="2633e80093b3d421" providerId="LiveId" clId="{12EBA23A-46CD-4FA7-9690-46E67EF4679B}" dt="2026-03-23T05:29:05.309" v="54" actId="20577"/>
          <ac:spMkLst>
            <pc:docMk/>
            <pc:sldMk cId="0" sldId="256"/>
            <ac:spMk id="4" creationId="{00000000-0000-0000-0000-000000000000}"/>
          </ac:spMkLst>
        </pc:spChg>
        <pc:spChg chg="mod">
          <ac:chgData name="2515012_ Vidyasree" userId="2633e80093b3d421" providerId="LiveId" clId="{12EBA23A-46CD-4FA7-9690-46E67EF4679B}" dt="2026-03-23T05:32:27.934" v="93" actId="20577"/>
          <ac:spMkLst>
            <pc:docMk/>
            <pc:sldMk cId="0" sldId="256"/>
            <ac:spMk id="5" creationId="{00000000-0000-0000-0000-000000000000}"/>
          </ac:spMkLst>
        </pc:spChg>
      </pc:sldChg>
      <pc:sldChg chg="addSp delSp mod">
        <pc:chgData name="2515012_ Vidyasree" userId="2633e80093b3d421" providerId="LiveId" clId="{12EBA23A-46CD-4FA7-9690-46E67EF4679B}" dt="2026-03-25T03:27:57.854" v="471" actId="9405"/>
        <pc:sldMkLst>
          <pc:docMk/>
          <pc:sldMk cId="0" sldId="257"/>
        </pc:sldMkLst>
        <pc:inkChg chg="add">
          <ac:chgData name="2515012_ Vidyasree" userId="2633e80093b3d421" providerId="LiveId" clId="{12EBA23A-46CD-4FA7-9690-46E67EF4679B}" dt="2026-03-25T03:27:46.071" v="469" actId="9405"/>
          <ac:inkMkLst>
            <pc:docMk/>
            <pc:sldMk cId="0" sldId="257"/>
            <ac:inkMk id="3" creationId="{4B080CF0-0AC6-C8CD-72A6-CD53245EA422}"/>
          </ac:inkMkLst>
        </pc:inkChg>
        <pc:inkChg chg="add">
          <ac:chgData name="2515012_ Vidyasree" userId="2633e80093b3d421" providerId="LiveId" clId="{12EBA23A-46CD-4FA7-9690-46E67EF4679B}" dt="2026-03-25T03:27:57.024" v="470" actId="9405"/>
          <ac:inkMkLst>
            <pc:docMk/>
            <pc:sldMk cId="0" sldId="257"/>
            <ac:inkMk id="7" creationId="{3EBC5927-BA03-194C-5C7A-0F233D545FB6}"/>
          </ac:inkMkLst>
        </pc:inkChg>
        <pc:inkChg chg="add">
          <ac:chgData name="2515012_ Vidyasree" userId="2633e80093b3d421" providerId="LiveId" clId="{12EBA23A-46CD-4FA7-9690-46E67EF4679B}" dt="2026-03-25T03:27:57.854" v="471" actId="9405"/>
          <ac:inkMkLst>
            <pc:docMk/>
            <pc:sldMk cId="0" sldId="257"/>
            <ac:inkMk id="8" creationId="{807FB5EA-252A-31A9-D790-CEE050C6FA39}"/>
          </ac:inkMkLst>
        </pc:inkChg>
      </pc:sldChg>
      <pc:sldChg chg="addSp delSp modSp mod">
        <pc:chgData name="2515012_ Vidyasree" userId="2633e80093b3d421" providerId="LiveId" clId="{12EBA23A-46CD-4FA7-9690-46E67EF4679B}" dt="2026-03-24T17:27:28.814" v="376" actId="1076"/>
        <pc:sldMkLst>
          <pc:docMk/>
          <pc:sldMk cId="0" sldId="258"/>
        </pc:sldMkLst>
        <pc:spChg chg="mod">
          <ac:chgData name="2515012_ Vidyasree" userId="2633e80093b3d421" providerId="LiveId" clId="{12EBA23A-46CD-4FA7-9690-46E67EF4679B}" dt="2026-03-24T17:27:28.814" v="376" actId="1076"/>
          <ac:spMkLst>
            <pc:docMk/>
            <pc:sldMk cId="0" sldId="258"/>
            <ac:spMk id="4" creationId="{00000000-0000-0000-0000-000000000000}"/>
          </ac:spMkLst>
        </pc:spChg>
        <pc:spChg chg="mod">
          <ac:chgData name="2515012_ Vidyasree" userId="2633e80093b3d421" providerId="LiveId" clId="{12EBA23A-46CD-4FA7-9690-46E67EF4679B}" dt="2026-03-24T17:27:24.999" v="375" actId="1076"/>
          <ac:spMkLst>
            <pc:docMk/>
            <pc:sldMk cId="0" sldId="258"/>
            <ac:spMk id="5" creationId="{00000000-0000-0000-0000-000000000000}"/>
          </ac:spMkLst>
        </pc:spChg>
        <pc:spChg chg="add del mod">
          <ac:chgData name="2515012_ Vidyasree" userId="2633e80093b3d421" providerId="LiveId" clId="{12EBA23A-46CD-4FA7-9690-46E67EF4679B}" dt="2026-03-24T17:27:17.040" v="374" actId="21"/>
          <ac:spMkLst>
            <pc:docMk/>
            <pc:sldMk cId="0" sldId="258"/>
            <ac:spMk id="6" creationId="{766F7613-ADA8-0F91-9A60-4C5CEDEDC19E}"/>
          </ac:spMkLst>
        </pc:spChg>
      </pc:sldChg>
      <pc:sldChg chg="addSp modSp mod">
        <pc:chgData name="2515012_ Vidyasree" userId="2633e80093b3d421" providerId="LiveId" clId="{12EBA23A-46CD-4FA7-9690-46E67EF4679B}" dt="2026-03-24T17:26:32.683" v="372" actId="1076"/>
        <pc:sldMkLst>
          <pc:docMk/>
          <pc:sldMk cId="0" sldId="260"/>
        </pc:sldMkLst>
        <pc:spChg chg="mod">
          <ac:chgData name="2515012_ Vidyasree" userId="2633e80093b3d421" providerId="LiveId" clId="{12EBA23A-46CD-4FA7-9690-46E67EF4679B}" dt="2026-03-24T17:26:25.329" v="371" actId="1076"/>
          <ac:spMkLst>
            <pc:docMk/>
            <pc:sldMk cId="0" sldId="260"/>
            <ac:spMk id="3" creationId="{00000000-0000-0000-0000-000000000000}"/>
          </ac:spMkLst>
        </pc:spChg>
        <pc:spChg chg="mod">
          <ac:chgData name="2515012_ Vidyasree" userId="2633e80093b3d421" providerId="LiveId" clId="{12EBA23A-46CD-4FA7-9690-46E67EF4679B}" dt="2026-03-24T17:26:13.649" v="369" actId="1076"/>
          <ac:spMkLst>
            <pc:docMk/>
            <pc:sldMk cId="0" sldId="260"/>
            <ac:spMk id="4" creationId="{00000000-0000-0000-0000-000000000000}"/>
          </ac:spMkLst>
        </pc:spChg>
        <pc:spChg chg="add mod">
          <ac:chgData name="2515012_ Vidyasree" userId="2633e80093b3d421" providerId="LiveId" clId="{12EBA23A-46CD-4FA7-9690-46E67EF4679B}" dt="2026-03-24T17:26:32.683" v="372" actId="1076"/>
          <ac:spMkLst>
            <pc:docMk/>
            <pc:sldMk cId="0" sldId="260"/>
            <ac:spMk id="5" creationId="{00000000-0000-0000-0000-000000000000}"/>
          </ac:spMkLst>
        </pc:spChg>
      </pc:sldChg>
      <pc:sldChg chg="modSp mod">
        <pc:chgData name="2515012_ Vidyasree" userId="2633e80093b3d421" providerId="LiveId" clId="{12EBA23A-46CD-4FA7-9690-46E67EF4679B}" dt="2026-03-24T09:09:12.959" v="156" actId="2711"/>
        <pc:sldMkLst>
          <pc:docMk/>
          <pc:sldMk cId="0" sldId="268"/>
        </pc:sldMkLst>
        <pc:spChg chg="mod">
          <ac:chgData name="2515012_ Vidyasree" userId="2633e80093b3d421" providerId="LiveId" clId="{12EBA23A-46CD-4FA7-9690-46E67EF4679B}" dt="2026-03-23T16:42:43.154" v="110" actId="1076"/>
          <ac:spMkLst>
            <pc:docMk/>
            <pc:sldMk cId="0" sldId="268"/>
            <ac:spMk id="3" creationId="{00000000-0000-0000-0000-000000000000}"/>
          </ac:spMkLst>
        </pc:spChg>
        <pc:spChg chg="mod">
          <ac:chgData name="2515012_ Vidyasree" userId="2633e80093b3d421" providerId="LiveId" clId="{12EBA23A-46CD-4FA7-9690-46E67EF4679B}" dt="2026-03-24T09:09:12.959" v="156" actId="2711"/>
          <ac:spMkLst>
            <pc:docMk/>
            <pc:sldMk cId="0" sldId="268"/>
            <ac:spMk id="4" creationId="{00000000-0000-0000-0000-000000000000}"/>
          </ac:spMkLst>
        </pc:spChg>
      </pc:sldChg>
      <pc:sldChg chg="addSp modSp mod">
        <pc:chgData name="2515012_ Vidyasree" userId="2633e80093b3d421" providerId="LiveId" clId="{12EBA23A-46CD-4FA7-9690-46E67EF4679B}" dt="2026-03-24T09:27:15.012" v="207" actId="255"/>
        <pc:sldMkLst>
          <pc:docMk/>
          <pc:sldMk cId="0" sldId="271"/>
        </pc:sldMkLst>
        <pc:spChg chg="add mod">
          <ac:chgData name="2515012_ Vidyasree" userId="2633e80093b3d421" providerId="LiveId" clId="{12EBA23A-46CD-4FA7-9690-46E67EF4679B}" dt="2026-03-24T09:27:15.012" v="207" actId="255"/>
          <ac:spMkLst>
            <pc:docMk/>
            <pc:sldMk cId="0" sldId="271"/>
            <ac:spMk id="5" creationId="{1DFDEB27-738A-2841-91F0-8917C708EB77}"/>
          </ac:spMkLst>
        </pc:spChg>
      </pc:sldChg>
      <pc:sldChg chg="addSp modSp mod">
        <pc:chgData name="2515012_ Vidyasree" userId="2633e80093b3d421" providerId="LiveId" clId="{12EBA23A-46CD-4FA7-9690-46E67EF4679B}" dt="2026-03-24T06:37:54.898" v="124" actId="14100"/>
        <pc:sldMkLst>
          <pc:docMk/>
          <pc:sldMk cId="0" sldId="272"/>
        </pc:sldMkLst>
        <pc:spChg chg="add mod">
          <ac:chgData name="2515012_ Vidyasree" userId="2633e80093b3d421" providerId="LiveId" clId="{12EBA23A-46CD-4FA7-9690-46E67EF4679B}" dt="2026-03-24T06:37:02.427" v="118" actId="14100"/>
          <ac:spMkLst>
            <pc:docMk/>
            <pc:sldMk cId="0" sldId="272"/>
            <ac:spMk id="8" creationId="{B67C0386-DADB-C246-E2F5-04EFD538D4FB}"/>
          </ac:spMkLst>
        </pc:spChg>
        <pc:spChg chg="add mod">
          <ac:chgData name="2515012_ Vidyasree" userId="2633e80093b3d421" providerId="LiveId" clId="{12EBA23A-46CD-4FA7-9690-46E67EF4679B}" dt="2026-03-24T06:37:54.898" v="124" actId="14100"/>
          <ac:spMkLst>
            <pc:docMk/>
            <pc:sldMk cId="0" sldId="272"/>
            <ac:spMk id="10" creationId="{C45F01FE-67DC-CA75-A90F-ABD96C6878FC}"/>
          </ac:spMkLst>
        </pc:spChg>
      </pc:sldChg>
      <pc:sldChg chg="addSp modSp mod">
        <pc:chgData name="2515012_ Vidyasree" userId="2633e80093b3d421" providerId="LiveId" clId="{12EBA23A-46CD-4FA7-9690-46E67EF4679B}" dt="2026-03-25T06:25:01.186" v="499" actId="9405"/>
        <pc:sldMkLst>
          <pc:docMk/>
          <pc:sldMk cId="0" sldId="273"/>
        </pc:sldMkLst>
        <pc:spChg chg="add mod">
          <ac:chgData name="2515012_ Vidyasree" userId="2633e80093b3d421" providerId="LiveId" clId="{12EBA23A-46CD-4FA7-9690-46E67EF4679B}" dt="2026-03-24T09:18:28.744" v="176" actId="1076"/>
          <ac:spMkLst>
            <pc:docMk/>
            <pc:sldMk cId="0" sldId="273"/>
            <ac:spMk id="5" creationId="{71C77893-24C2-53F1-F451-5D0EA75B5F30}"/>
          </ac:spMkLst>
        </pc:spChg>
        <pc:inkChg chg="add">
          <ac:chgData name="2515012_ Vidyasree" userId="2633e80093b3d421" providerId="LiveId" clId="{12EBA23A-46CD-4FA7-9690-46E67EF4679B}" dt="2026-03-25T06:25:01.186" v="499" actId="9405"/>
          <ac:inkMkLst>
            <pc:docMk/>
            <pc:sldMk cId="0" sldId="273"/>
            <ac:inkMk id="6" creationId="{2C1C9EB5-3E19-59FF-460C-E4CB8CA1C6E4}"/>
          </ac:inkMkLst>
        </pc:inkChg>
      </pc:sldChg>
      <pc:sldChg chg="addSp modSp mod">
        <pc:chgData name="2515012_ Vidyasree" userId="2633e80093b3d421" providerId="LiveId" clId="{12EBA23A-46CD-4FA7-9690-46E67EF4679B}" dt="2026-03-24T17:51:16.051" v="468" actId="255"/>
        <pc:sldMkLst>
          <pc:docMk/>
          <pc:sldMk cId="0" sldId="276"/>
        </pc:sldMkLst>
        <pc:spChg chg="mod">
          <ac:chgData name="2515012_ Vidyasree" userId="2633e80093b3d421" providerId="LiveId" clId="{12EBA23A-46CD-4FA7-9690-46E67EF4679B}" dt="2026-03-24T17:50:22.542" v="461" actId="1076"/>
          <ac:spMkLst>
            <pc:docMk/>
            <pc:sldMk cId="0" sldId="276"/>
            <ac:spMk id="4" creationId="{00000000-0000-0000-0000-000000000000}"/>
          </ac:spMkLst>
        </pc:spChg>
        <pc:spChg chg="mod">
          <ac:chgData name="2515012_ Vidyasree" userId="2633e80093b3d421" providerId="LiveId" clId="{12EBA23A-46CD-4FA7-9690-46E67EF4679B}" dt="2026-03-24T17:50:19.189" v="460" actId="1076"/>
          <ac:spMkLst>
            <pc:docMk/>
            <pc:sldMk cId="0" sldId="276"/>
            <ac:spMk id="5" creationId="{00000000-0000-0000-0000-000000000000}"/>
          </ac:spMkLst>
        </pc:spChg>
        <pc:spChg chg="add mod">
          <ac:chgData name="2515012_ Vidyasree" userId="2633e80093b3d421" providerId="LiveId" clId="{12EBA23A-46CD-4FA7-9690-46E67EF4679B}" dt="2026-03-24T17:51:16.051" v="468" actId="255"/>
          <ac:spMkLst>
            <pc:docMk/>
            <pc:sldMk cId="0" sldId="276"/>
            <ac:spMk id="7" creationId="{7ED91CEB-7109-D6EE-0DFF-36B177726CF7}"/>
          </ac:spMkLst>
        </pc:spChg>
      </pc:sldChg>
      <pc:sldChg chg="addSp modSp mod">
        <pc:chgData name="2515012_ Vidyasree" userId="2633e80093b3d421" providerId="LiveId" clId="{12EBA23A-46CD-4FA7-9690-46E67EF4679B}" dt="2026-03-25T05:32:59.312" v="492" actId="1076"/>
        <pc:sldMkLst>
          <pc:docMk/>
          <pc:sldMk cId="0" sldId="279"/>
        </pc:sldMkLst>
        <pc:spChg chg="add mod">
          <ac:chgData name="2515012_ Vidyasree" userId="2633e80093b3d421" providerId="LiveId" clId="{12EBA23A-46CD-4FA7-9690-46E67EF4679B}" dt="2026-03-25T05:32:59.312" v="492" actId="1076"/>
          <ac:spMkLst>
            <pc:docMk/>
            <pc:sldMk cId="0" sldId="279"/>
            <ac:spMk id="9" creationId="{CC24E1E9-26BB-458B-CF77-B3617C5FC357}"/>
          </ac:spMkLst>
        </pc:spChg>
      </pc:sldChg>
      <pc:sldChg chg="addSp delSp modSp mod">
        <pc:chgData name="2515012_ Vidyasree" userId="2633e80093b3d421" providerId="LiveId" clId="{12EBA23A-46CD-4FA7-9690-46E67EF4679B}" dt="2026-03-25T05:34:25.258" v="496" actId="22"/>
        <pc:sldMkLst>
          <pc:docMk/>
          <pc:sldMk cId="0" sldId="280"/>
        </pc:sldMkLst>
        <pc:spChg chg="add del mod">
          <ac:chgData name="2515012_ Vidyasree" userId="2633e80093b3d421" providerId="LiveId" clId="{12EBA23A-46CD-4FA7-9690-46E67EF4679B}" dt="2026-03-25T05:34:25.258" v="496" actId="22"/>
          <ac:spMkLst>
            <pc:docMk/>
            <pc:sldMk cId="0" sldId="280"/>
            <ac:spMk id="7" creationId="{22B549AB-E2E5-6011-E926-DE63CD73215B}"/>
          </ac:spMkLst>
        </pc:spChg>
      </pc:sldChg>
      <pc:sldChg chg="addSp modSp mod">
        <pc:chgData name="2515012_ Vidyasree" userId="2633e80093b3d421" providerId="LiveId" clId="{12EBA23A-46CD-4FA7-9690-46E67EF4679B}" dt="2026-03-24T09:46:16.714" v="216" actId="14100"/>
        <pc:sldMkLst>
          <pc:docMk/>
          <pc:sldMk cId="0" sldId="288"/>
        </pc:sldMkLst>
        <pc:spChg chg="add mod">
          <ac:chgData name="2515012_ Vidyasree" userId="2633e80093b3d421" providerId="LiveId" clId="{12EBA23A-46CD-4FA7-9690-46E67EF4679B}" dt="2026-03-24T09:46:10.549" v="215" actId="14100"/>
          <ac:spMkLst>
            <pc:docMk/>
            <pc:sldMk cId="0" sldId="288"/>
            <ac:spMk id="7" creationId="{6EB9F6BB-7A6F-F9BA-38BF-F820CADD4B5C}"/>
          </ac:spMkLst>
        </pc:spChg>
        <pc:spChg chg="add mod">
          <ac:chgData name="2515012_ Vidyasree" userId="2633e80093b3d421" providerId="LiveId" clId="{12EBA23A-46CD-4FA7-9690-46E67EF4679B}" dt="2026-03-24T09:46:16.714" v="216" actId="14100"/>
          <ac:spMkLst>
            <pc:docMk/>
            <pc:sldMk cId="0" sldId="288"/>
            <ac:spMk id="9" creationId="{828936C2-1831-AF38-C55A-FBD09000D054}"/>
          </ac:spMkLst>
        </pc:spChg>
      </pc:sldChg>
      <pc:sldChg chg="addSp modSp mod">
        <pc:chgData name="2515012_ Vidyasree" userId="2633e80093b3d421" providerId="LiveId" clId="{12EBA23A-46CD-4FA7-9690-46E67EF4679B}" dt="2026-03-24T05:44:41.574" v="115" actId="14100"/>
        <pc:sldMkLst>
          <pc:docMk/>
          <pc:sldMk cId="0" sldId="290"/>
        </pc:sldMkLst>
        <pc:spChg chg="add mod">
          <ac:chgData name="2515012_ Vidyasree" userId="2633e80093b3d421" providerId="LiveId" clId="{12EBA23A-46CD-4FA7-9690-46E67EF4679B}" dt="2026-03-24T05:44:41.574" v="115" actId="14100"/>
          <ac:spMkLst>
            <pc:docMk/>
            <pc:sldMk cId="0" sldId="290"/>
            <ac:spMk id="6" creationId="{4AAD5EC5-64DD-00C2-3599-5E269778128A}"/>
          </ac:spMkLst>
        </pc:spChg>
      </pc:sldChg>
      <pc:sldChg chg="addSp modSp mod">
        <pc:chgData name="2515012_ Vidyasree" userId="2633e80093b3d421" providerId="LiveId" clId="{12EBA23A-46CD-4FA7-9690-46E67EF4679B}" dt="2026-03-24T10:00:30.197" v="220" actId="1076"/>
        <pc:sldMkLst>
          <pc:docMk/>
          <pc:sldMk cId="0" sldId="295"/>
        </pc:sldMkLst>
        <pc:spChg chg="mod">
          <ac:chgData name="2515012_ Vidyasree" userId="2633e80093b3d421" providerId="LiveId" clId="{12EBA23A-46CD-4FA7-9690-46E67EF4679B}" dt="2026-03-24T10:00:21.645" v="219" actId="1076"/>
          <ac:spMkLst>
            <pc:docMk/>
            <pc:sldMk cId="0" sldId="295"/>
            <ac:spMk id="4" creationId="{00000000-0000-0000-0000-000000000000}"/>
          </ac:spMkLst>
        </pc:spChg>
        <pc:spChg chg="add mod">
          <ac:chgData name="2515012_ Vidyasree" userId="2633e80093b3d421" providerId="LiveId" clId="{12EBA23A-46CD-4FA7-9690-46E67EF4679B}" dt="2026-03-24T10:00:30.197" v="220" actId="1076"/>
          <ac:spMkLst>
            <pc:docMk/>
            <pc:sldMk cId="0" sldId="295"/>
            <ac:spMk id="10" creationId="{A05575F2-6AC5-2E8C-9654-B6CED1C1275B}"/>
          </ac:spMkLst>
        </pc:spChg>
      </pc:sldChg>
      <pc:sldChg chg="addSp mod">
        <pc:chgData name="2515012_ Vidyasree" userId="2633e80093b3d421" providerId="LiveId" clId="{12EBA23A-46CD-4FA7-9690-46E67EF4679B}" dt="2026-03-25T03:44:14.458" v="472" actId="9405"/>
        <pc:sldMkLst>
          <pc:docMk/>
          <pc:sldMk cId="0" sldId="297"/>
        </pc:sldMkLst>
        <pc:inkChg chg="add">
          <ac:chgData name="2515012_ Vidyasree" userId="2633e80093b3d421" providerId="LiveId" clId="{12EBA23A-46CD-4FA7-9690-46E67EF4679B}" dt="2026-03-25T03:44:14.458" v="472" actId="9405"/>
          <ac:inkMkLst>
            <pc:docMk/>
            <pc:sldMk cId="0" sldId="297"/>
            <ac:inkMk id="24" creationId="{331E6045-EFBE-DE9C-0973-77F149949FBD}"/>
          </ac:inkMkLst>
        </pc:inkChg>
      </pc:sldChg>
      <pc:sldChg chg="addSp delSp modSp mod">
        <pc:chgData name="2515012_ Vidyasree" userId="2633e80093b3d421" providerId="LiveId" clId="{12EBA23A-46CD-4FA7-9690-46E67EF4679B}" dt="2026-03-24T10:52:51.165" v="326" actId="1076"/>
        <pc:sldMkLst>
          <pc:docMk/>
          <pc:sldMk cId="0" sldId="298"/>
        </pc:sldMkLst>
        <pc:spChg chg="mod">
          <ac:chgData name="2515012_ Vidyasree" userId="2633e80093b3d421" providerId="LiveId" clId="{12EBA23A-46CD-4FA7-9690-46E67EF4679B}" dt="2026-03-24T10:42:40.812" v="261" actId="1076"/>
          <ac:spMkLst>
            <pc:docMk/>
            <pc:sldMk cId="0" sldId="298"/>
            <ac:spMk id="3" creationId="{00000000-0000-0000-0000-000000000000}"/>
          </ac:spMkLst>
        </pc:spChg>
        <pc:spChg chg="mod">
          <ac:chgData name="2515012_ Vidyasree" userId="2633e80093b3d421" providerId="LiveId" clId="{12EBA23A-46CD-4FA7-9690-46E67EF4679B}" dt="2026-03-24T10:52:51.165" v="326" actId="1076"/>
          <ac:spMkLst>
            <pc:docMk/>
            <pc:sldMk cId="0" sldId="298"/>
            <ac:spMk id="4" creationId="{00000000-0000-0000-0000-000000000000}"/>
          </ac:spMkLst>
        </pc:spChg>
        <pc:spChg chg="add del mod">
          <ac:chgData name="2515012_ Vidyasree" userId="2633e80093b3d421" providerId="LiveId" clId="{12EBA23A-46CD-4FA7-9690-46E67EF4679B}" dt="2026-03-24T10:48:52.943" v="279" actId="21"/>
          <ac:spMkLst>
            <pc:docMk/>
            <pc:sldMk cId="0" sldId="298"/>
            <ac:spMk id="7" creationId="{287239A2-4C73-3892-CCE4-BE0F7ADD9FCB}"/>
          </ac:spMkLst>
        </pc:spChg>
        <pc:spChg chg="add">
          <ac:chgData name="2515012_ Vidyasree" userId="2633e80093b3d421" providerId="LiveId" clId="{12EBA23A-46CD-4FA7-9690-46E67EF4679B}" dt="2026-03-24T10:50:06.889" v="282"/>
          <ac:spMkLst>
            <pc:docMk/>
            <pc:sldMk cId="0" sldId="298"/>
            <ac:spMk id="8" creationId="{66E8E72E-3F40-DDF7-4391-0891C0F68BF1}"/>
          </ac:spMkLst>
        </pc:spChg>
        <pc:spChg chg="add mod">
          <ac:chgData name="2515012_ Vidyasree" userId="2633e80093b3d421" providerId="LiveId" clId="{12EBA23A-46CD-4FA7-9690-46E67EF4679B}" dt="2026-03-24T10:52:19.674" v="317" actId="1076"/>
          <ac:spMkLst>
            <pc:docMk/>
            <pc:sldMk cId="0" sldId="298"/>
            <ac:spMk id="10" creationId="{74552C6F-75EF-F731-8CCD-B0205070FA04}"/>
          </ac:spMkLst>
        </pc:spChg>
        <pc:spChg chg="add mod">
          <ac:chgData name="2515012_ Vidyasree" userId="2633e80093b3d421" providerId="LiveId" clId="{12EBA23A-46CD-4FA7-9690-46E67EF4679B}" dt="2026-03-24T10:52:34.351" v="324" actId="20577"/>
          <ac:spMkLst>
            <pc:docMk/>
            <pc:sldMk cId="0" sldId="298"/>
            <ac:spMk id="12" creationId="{9DD20C6B-675A-D746-C79A-39C2AD7125A0}"/>
          </ac:spMkLst>
        </pc:spChg>
        <pc:picChg chg="add mod">
          <ac:chgData name="2515012_ Vidyasree" userId="2633e80093b3d421" providerId="LiveId" clId="{12EBA23A-46CD-4FA7-9690-46E67EF4679B}" dt="2026-03-24T10:42:53.152" v="263" actId="1076"/>
          <ac:picMkLst>
            <pc:docMk/>
            <pc:sldMk cId="0" sldId="298"/>
            <ac:picMk id="5" creationId="{9D402A43-1157-61F9-7824-304AAD09A699}"/>
          </ac:picMkLst>
        </pc:picChg>
        <pc:picChg chg="add del">
          <ac:chgData name="2515012_ Vidyasree" userId="2633e80093b3d421" providerId="LiveId" clId="{12EBA23A-46CD-4FA7-9690-46E67EF4679B}" dt="2026-03-24T10:48:52.943" v="279" actId="21"/>
          <ac:picMkLst>
            <pc:docMk/>
            <pc:sldMk cId="0" sldId="298"/>
            <ac:picMk id="1026" creationId="{F21E0C8D-3D8A-E370-9103-1F0C35DD41BB}"/>
          </ac:picMkLst>
        </pc:picChg>
        <pc:picChg chg="add del mod">
          <ac:chgData name="2515012_ Vidyasree" userId="2633e80093b3d421" providerId="LiveId" clId="{12EBA23A-46CD-4FA7-9690-46E67EF4679B}" dt="2026-03-24T10:51:38.618" v="307" actId="21"/>
          <ac:picMkLst>
            <pc:docMk/>
            <pc:sldMk cId="0" sldId="298"/>
            <ac:picMk id="1028" creationId="{EC5C2D92-0CF2-3D8C-CC28-28A71B6906BD}"/>
          </ac:picMkLst>
        </pc:picChg>
      </pc:sldChg>
      <pc:sldChg chg="modSp mod">
        <pc:chgData name="2515012_ Vidyasree" userId="2633e80093b3d421" providerId="LiveId" clId="{12EBA23A-46CD-4FA7-9690-46E67EF4679B}" dt="2026-03-24T10:56:49.203" v="333"/>
        <pc:sldMkLst>
          <pc:docMk/>
          <pc:sldMk cId="0" sldId="308"/>
        </pc:sldMkLst>
        <pc:spChg chg="mod">
          <ac:chgData name="2515012_ Vidyasree" userId="2633e80093b3d421" providerId="LiveId" clId="{12EBA23A-46CD-4FA7-9690-46E67EF4679B}" dt="2026-03-24T10:56:49.203" v="333"/>
          <ac:spMkLst>
            <pc:docMk/>
            <pc:sldMk cId="0" sldId="308"/>
            <ac:spMk id="3" creationId="{00000000-0000-0000-0000-000000000000}"/>
          </ac:spMkLst>
        </pc:spChg>
      </pc:sldChg>
      <pc:sldChg chg="delSp mod">
        <pc:chgData name="2515012_ Vidyasree" userId="2633e80093b3d421" providerId="LiveId" clId="{12EBA23A-46CD-4FA7-9690-46E67EF4679B}" dt="2026-03-23T05:29:46.426" v="59" actId="478"/>
        <pc:sldMkLst>
          <pc:docMk/>
          <pc:sldMk cId="0" sldId="309"/>
        </pc:sldMkLst>
      </pc:sldChg>
      <pc:sldChg chg="add">
        <pc:chgData name="2515012_ Vidyasree" userId="2633e80093b3d421" providerId="LiveId" clId="{12EBA23A-46CD-4FA7-9690-46E67EF4679B}" dt="2026-03-24T09:05:08.577" v="147"/>
        <pc:sldMkLst>
          <pc:docMk/>
          <pc:sldMk cId="1805204586" sldId="310"/>
        </pc:sldMkLst>
      </pc:sldChg>
      <pc:sldChg chg="add del">
        <pc:chgData name="2515012_ Vidyasree" userId="2633e80093b3d421" providerId="LiveId" clId="{12EBA23A-46CD-4FA7-9690-46E67EF4679B}" dt="2026-03-24T09:04:58.452" v="146" actId="2696"/>
        <pc:sldMkLst>
          <pc:docMk/>
          <pc:sldMk cId="1899044896" sldId="310"/>
        </pc:sldMkLst>
      </pc:sldChg>
      <pc:sldChg chg="addSp delSp modSp new mod">
        <pc:chgData name="2515012_ Vidyasree" userId="2633e80093b3d421" providerId="LiveId" clId="{12EBA23A-46CD-4FA7-9690-46E67EF4679B}" dt="2026-03-24T09:11:03.528" v="159" actId="1076"/>
        <pc:sldMkLst>
          <pc:docMk/>
          <pc:sldMk cId="3661348818" sldId="311"/>
        </pc:sldMkLst>
        <pc:spChg chg="mod">
          <ac:chgData name="2515012_ Vidyasree" userId="2633e80093b3d421" providerId="LiveId" clId="{12EBA23A-46CD-4FA7-9690-46E67EF4679B}" dt="2026-03-24T06:47:01.288" v="133" actId="1076"/>
          <ac:spMkLst>
            <pc:docMk/>
            <pc:sldMk cId="3661348818" sldId="311"/>
            <ac:spMk id="2" creationId="{B2184313-979A-1756-A6BB-359811241263}"/>
          </ac:spMkLst>
        </pc:spChg>
        <pc:spChg chg="mod">
          <ac:chgData name="2515012_ Vidyasree" userId="2633e80093b3d421" providerId="LiveId" clId="{12EBA23A-46CD-4FA7-9690-46E67EF4679B}" dt="2026-03-24T09:11:03.528" v="159" actId="1076"/>
          <ac:spMkLst>
            <pc:docMk/>
            <pc:sldMk cId="3661348818" sldId="311"/>
            <ac:spMk id="3" creationId="{8E31D861-E0FE-C5B6-5565-310EF3B43EBF}"/>
          </ac:spMkLst>
        </pc:spChg>
        <pc:spChg chg="add del">
          <ac:chgData name="2515012_ Vidyasree" userId="2633e80093b3d421" providerId="LiveId" clId="{12EBA23A-46CD-4FA7-9690-46E67EF4679B}" dt="2026-03-24T06:46:32.426" v="128" actId="22"/>
          <ac:spMkLst>
            <pc:docMk/>
            <pc:sldMk cId="3661348818" sldId="311"/>
            <ac:spMk id="5" creationId="{F0CA2326-C34F-EB92-058D-6D631CA7573A}"/>
          </ac:spMkLst>
        </pc:spChg>
        <pc:spChg chg="add mod">
          <ac:chgData name="2515012_ Vidyasree" userId="2633e80093b3d421" providerId="LiveId" clId="{12EBA23A-46CD-4FA7-9690-46E67EF4679B}" dt="2026-03-24T06:47:58.740" v="138" actId="1076"/>
          <ac:spMkLst>
            <pc:docMk/>
            <pc:sldMk cId="3661348818" sldId="311"/>
            <ac:spMk id="6" creationId="{EAF35015-ABA3-716B-CC39-7B6FC9671DB2}"/>
          </ac:spMkLst>
        </pc:spChg>
      </pc:sldChg>
      <pc:sldChg chg="addSp delSp modSp new mod">
        <pc:chgData name="2515012_ Vidyasree" userId="2633e80093b3d421" providerId="LiveId" clId="{12EBA23A-46CD-4FA7-9690-46E67EF4679B}" dt="2026-03-24T09:19:54.666" v="179" actId="22"/>
        <pc:sldMkLst>
          <pc:docMk/>
          <pc:sldMk cId="85731816" sldId="312"/>
        </pc:sldMkLst>
        <pc:spChg chg="mod">
          <ac:chgData name="2515012_ Vidyasree" userId="2633e80093b3d421" providerId="LiveId" clId="{12EBA23A-46CD-4FA7-9690-46E67EF4679B}" dt="2026-03-24T06:49:33.111" v="142"/>
          <ac:spMkLst>
            <pc:docMk/>
            <pc:sldMk cId="85731816" sldId="312"/>
            <ac:spMk id="2" creationId="{D0BE227B-B648-C1FE-E3AB-A7FB5D713FE6}"/>
          </ac:spMkLst>
        </pc:spChg>
        <pc:spChg chg="mod">
          <ac:chgData name="2515012_ Vidyasree" userId="2633e80093b3d421" providerId="LiveId" clId="{12EBA23A-46CD-4FA7-9690-46E67EF4679B}" dt="2026-03-24T09:11:15.520" v="160" actId="20577"/>
          <ac:spMkLst>
            <pc:docMk/>
            <pc:sldMk cId="85731816" sldId="312"/>
            <ac:spMk id="3" creationId="{8DDB2405-F3FC-FFBD-1DEA-20ABD119A890}"/>
          </ac:spMkLst>
        </pc:spChg>
        <pc:spChg chg="add mod">
          <ac:chgData name="2515012_ Vidyasree" userId="2633e80093b3d421" providerId="LiveId" clId="{12EBA23A-46CD-4FA7-9690-46E67EF4679B}" dt="2026-03-24T06:50:34.054" v="145"/>
          <ac:spMkLst>
            <pc:docMk/>
            <pc:sldMk cId="85731816" sldId="312"/>
            <ac:spMk id="4" creationId="{FB3221DD-238B-D1D5-D4E9-5F73528C884F}"/>
          </ac:spMkLst>
        </pc:spChg>
        <pc:spChg chg="add del">
          <ac:chgData name="2515012_ Vidyasree" userId="2633e80093b3d421" providerId="LiveId" clId="{12EBA23A-46CD-4FA7-9690-46E67EF4679B}" dt="2026-03-24T09:19:54.666" v="179" actId="22"/>
          <ac:spMkLst>
            <pc:docMk/>
            <pc:sldMk cId="85731816" sldId="312"/>
            <ac:spMk id="6" creationId="{FD0EDFC7-7418-2EAF-86D5-D4C425B780A4}"/>
          </ac:spMkLst>
        </pc:spChg>
      </pc:sldChg>
      <pc:sldChg chg="modSp new del">
        <pc:chgData name="2515012_ Vidyasree" userId="2633e80093b3d421" providerId="LiveId" clId="{12EBA23A-46CD-4FA7-9690-46E67EF4679B}" dt="2026-03-24T09:14:58.953" v="169" actId="2696"/>
        <pc:sldMkLst>
          <pc:docMk/>
          <pc:sldMk cId="472354446" sldId="313"/>
        </pc:sldMkLst>
        <pc:spChg chg="mod">
          <ac:chgData name="2515012_ Vidyasree" userId="2633e80093b3d421" providerId="LiveId" clId="{12EBA23A-46CD-4FA7-9690-46E67EF4679B}" dt="2026-03-24T09:12:36.841" v="162"/>
          <ac:spMkLst>
            <pc:docMk/>
            <pc:sldMk cId="472354446" sldId="313"/>
            <ac:spMk id="2" creationId="{85232404-41EC-1F76-A583-D122EE8182D5}"/>
          </ac:spMkLst>
        </pc:spChg>
      </pc:sldChg>
      <pc:sldChg chg="addSp delSp modSp new mod">
        <pc:chgData name="2515012_ Vidyasree" userId="2633e80093b3d421" providerId="LiveId" clId="{12EBA23A-46CD-4FA7-9690-46E67EF4679B}" dt="2026-03-24T09:23:16.654" v="203" actId="120"/>
        <pc:sldMkLst>
          <pc:docMk/>
          <pc:sldMk cId="1809550626" sldId="313"/>
        </pc:sldMkLst>
        <pc:spChg chg="mod">
          <ac:chgData name="2515012_ Vidyasree" userId="2633e80093b3d421" providerId="LiveId" clId="{12EBA23A-46CD-4FA7-9690-46E67EF4679B}" dt="2026-03-24T09:23:16.654" v="203" actId="120"/>
          <ac:spMkLst>
            <pc:docMk/>
            <pc:sldMk cId="1809550626" sldId="313"/>
            <ac:spMk id="2" creationId="{EB6CDDE5-C837-9A6C-AE1B-34830670B14F}"/>
          </ac:spMkLst>
        </pc:spChg>
        <pc:spChg chg="mod">
          <ac:chgData name="2515012_ Vidyasree" userId="2633e80093b3d421" providerId="LiveId" clId="{12EBA23A-46CD-4FA7-9690-46E67EF4679B}" dt="2026-03-24T09:22:58.302" v="194" actId="113"/>
          <ac:spMkLst>
            <pc:docMk/>
            <pc:sldMk cId="1809550626" sldId="313"/>
            <ac:spMk id="3" creationId="{E19C2005-F83C-DE33-580B-0C5E24D7ED4A}"/>
          </ac:spMkLst>
        </pc:spChg>
        <pc:spChg chg="add mod">
          <ac:chgData name="2515012_ Vidyasree" userId="2633e80093b3d421" providerId="LiveId" clId="{12EBA23A-46CD-4FA7-9690-46E67EF4679B}" dt="2026-03-24T09:20:43.736" v="185"/>
          <ac:spMkLst>
            <pc:docMk/>
            <pc:sldMk cId="1809550626" sldId="313"/>
            <ac:spMk id="4" creationId="{601344CB-858C-F100-7797-D14CC30A1F4D}"/>
          </ac:spMkLst>
        </pc:spChg>
        <pc:picChg chg="add del">
          <ac:chgData name="2515012_ Vidyasree" userId="2633e80093b3d421" providerId="LiveId" clId="{12EBA23A-46CD-4FA7-9690-46E67EF4679B}" dt="2026-03-24T09:20:29.349" v="184" actId="22"/>
          <ac:picMkLst>
            <pc:docMk/>
            <pc:sldMk cId="1809550626" sldId="313"/>
            <ac:picMk id="6" creationId="{E3EDA36A-6507-7DE5-2393-AB1BEF0A02EB}"/>
          </ac:picMkLst>
        </pc:picChg>
      </pc:sldChg>
      <pc:sldChg chg="addSp delSp modSp add mod ord">
        <pc:chgData name="2515012_ Vidyasree" userId="2633e80093b3d421" providerId="LiveId" clId="{12EBA23A-46CD-4FA7-9690-46E67EF4679B}" dt="2026-03-24T10:40:11.662" v="257" actId="21"/>
        <pc:sldMkLst>
          <pc:docMk/>
          <pc:sldMk cId="1171301819" sldId="314"/>
        </pc:sldMkLst>
        <pc:spChg chg="add mod">
          <ac:chgData name="2515012_ Vidyasree" userId="2633e80093b3d421" providerId="LiveId" clId="{12EBA23A-46CD-4FA7-9690-46E67EF4679B}" dt="2026-03-24T10:03:43.308" v="230"/>
          <ac:spMkLst>
            <pc:docMk/>
            <pc:sldMk cId="1171301819" sldId="314"/>
            <ac:spMk id="2" creationId="{ECB25F49-0618-22F2-151E-9848C0C635C0}"/>
          </ac:spMkLst>
        </pc:spChg>
        <pc:spChg chg="mod">
          <ac:chgData name="2515012_ Vidyasree" userId="2633e80093b3d421" providerId="LiveId" clId="{12EBA23A-46CD-4FA7-9690-46E67EF4679B}" dt="2026-03-24T10:04:00.513" v="233" actId="1076"/>
          <ac:spMkLst>
            <pc:docMk/>
            <pc:sldMk cId="1171301819" sldId="314"/>
            <ac:spMk id="4" creationId="{00000000-0000-0000-0000-000000000000}"/>
          </ac:spMkLst>
        </pc:spChg>
        <pc:spChg chg="mod">
          <ac:chgData name="2515012_ Vidyasree" userId="2633e80093b3d421" providerId="LiveId" clId="{12EBA23A-46CD-4FA7-9690-46E67EF4679B}" dt="2026-03-24T10:03:49.390" v="231" actId="1076"/>
          <ac:spMkLst>
            <pc:docMk/>
            <pc:sldMk cId="1171301819" sldId="314"/>
            <ac:spMk id="5" creationId="{00000000-0000-0000-0000-000000000000}"/>
          </ac:spMkLst>
        </pc:spChg>
        <pc:spChg chg="mod">
          <ac:chgData name="2515012_ Vidyasree" userId="2633e80093b3d421" providerId="LiveId" clId="{12EBA23A-46CD-4FA7-9690-46E67EF4679B}" dt="2026-03-24T10:03:09.831" v="227" actId="2711"/>
          <ac:spMkLst>
            <pc:docMk/>
            <pc:sldMk cId="1171301819" sldId="314"/>
            <ac:spMk id="6" creationId="{00000000-0000-0000-0000-000000000000}"/>
          </ac:spMkLst>
        </pc:spChg>
        <pc:spChg chg="add mod">
          <ac:chgData name="2515012_ Vidyasree" userId="2633e80093b3d421" providerId="LiveId" clId="{12EBA23A-46CD-4FA7-9690-46E67EF4679B}" dt="2026-03-24T10:39:38.301" v="256" actId="1076"/>
          <ac:spMkLst>
            <pc:docMk/>
            <pc:sldMk cId="1171301819" sldId="314"/>
            <ac:spMk id="8" creationId="{BF6AA217-000A-9F2F-F94A-B6FE5F62E7E4}"/>
          </ac:spMkLst>
        </pc:spChg>
        <pc:spChg chg="add del mod">
          <ac:chgData name="2515012_ Vidyasree" userId="2633e80093b3d421" providerId="LiveId" clId="{12EBA23A-46CD-4FA7-9690-46E67EF4679B}" dt="2026-03-24T10:40:11.662" v="257" actId="21"/>
          <ac:spMkLst>
            <pc:docMk/>
            <pc:sldMk cId="1171301819" sldId="314"/>
            <ac:spMk id="10" creationId="{2BC14186-A81A-99F1-3B8D-6C24E4808BE0}"/>
          </ac:spMkLst>
        </pc:spChg>
        <pc:picChg chg="add mod">
          <ac:chgData name="2515012_ Vidyasree" userId="2633e80093b3d421" providerId="LiveId" clId="{12EBA23A-46CD-4FA7-9690-46E67EF4679B}" dt="2026-03-24T10:39:28.653" v="255" actId="14100"/>
          <ac:picMkLst>
            <pc:docMk/>
            <pc:sldMk cId="1171301819" sldId="314"/>
            <ac:picMk id="3" creationId="{2F85CCE9-8298-56CC-B8DF-A3005B9ED92F}"/>
          </ac:picMkLst>
        </pc:picChg>
      </pc:sldChg>
      <pc:sldChg chg="addSp modSp add del mod">
        <pc:chgData name="2515012_ Vidyasree" userId="2633e80093b3d421" providerId="LiveId" clId="{12EBA23A-46CD-4FA7-9690-46E67EF4679B}" dt="2026-03-24T09:18:43.040" v="177" actId="2696"/>
        <pc:sldMkLst>
          <pc:docMk/>
          <pc:sldMk cId="4096705134" sldId="314"/>
        </pc:sldMkLst>
        <pc:spChg chg="add mod">
          <ac:chgData name="2515012_ Vidyasree" userId="2633e80093b3d421" providerId="LiveId" clId="{12EBA23A-46CD-4FA7-9690-46E67EF4679B}" dt="2026-03-24T09:14:46.189" v="168" actId="123"/>
          <ac:spMkLst>
            <pc:docMk/>
            <pc:sldMk cId="4096705134" sldId="314"/>
            <ac:spMk id="9" creationId="{21BDA08D-97CB-9A5D-E596-F327BE698B6C}"/>
          </ac:spMkLst>
        </pc:spChg>
      </pc:sldChg>
      <pc:sldChg chg="addSp modSp add mod">
        <pc:chgData name="2515012_ Vidyasree" userId="2633e80093b3d421" providerId="LiveId" clId="{12EBA23A-46CD-4FA7-9690-46E67EF4679B}" dt="2026-03-24T11:01:56.081" v="356" actId="207"/>
        <pc:sldMkLst>
          <pc:docMk/>
          <pc:sldMk cId="763397199" sldId="315"/>
        </pc:sldMkLst>
        <pc:spChg chg="mod">
          <ac:chgData name="2515012_ Vidyasree" userId="2633e80093b3d421" providerId="LiveId" clId="{12EBA23A-46CD-4FA7-9690-46E67EF4679B}" dt="2026-03-24T11:01:56.081" v="356" actId="207"/>
          <ac:spMkLst>
            <pc:docMk/>
            <pc:sldMk cId="763397199" sldId="315"/>
            <ac:spMk id="2" creationId="{00000000-0000-0000-0000-000000000000}"/>
          </ac:spMkLst>
        </pc:spChg>
        <pc:spChg chg="mod">
          <ac:chgData name="2515012_ Vidyasree" userId="2633e80093b3d421" providerId="LiveId" clId="{12EBA23A-46CD-4FA7-9690-46E67EF4679B}" dt="2026-03-24T10:59:27.681" v="338" actId="2711"/>
          <ac:spMkLst>
            <pc:docMk/>
            <pc:sldMk cId="763397199" sldId="315"/>
            <ac:spMk id="3" creationId="{00000000-0000-0000-0000-000000000000}"/>
          </ac:spMkLst>
        </pc:spChg>
        <pc:spChg chg="mod">
          <ac:chgData name="2515012_ Vidyasree" userId="2633e80093b3d421" providerId="LiveId" clId="{12EBA23A-46CD-4FA7-9690-46E67EF4679B}" dt="2026-03-24T10:59:19.620" v="337" actId="1076"/>
          <ac:spMkLst>
            <pc:docMk/>
            <pc:sldMk cId="763397199" sldId="315"/>
            <ac:spMk id="4" creationId="{00000000-0000-0000-0000-000000000000}"/>
          </ac:spMkLst>
        </pc:spChg>
        <pc:spChg chg="add mod">
          <ac:chgData name="2515012_ Vidyasree" userId="2633e80093b3d421" providerId="LiveId" clId="{12EBA23A-46CD-4FA7-9690-46E67EF4679B}" dt="2026-03-24T11:01:26.228" v="354" actId="20577"/>
          <ac:spMkLst>
            <pc:docMk/>
            <pc:sldMk cId="763397199" sldId="315"/>
            <ac:spMk id="5" creationId="{2E6A4B48-BA5B-8D5D-8A5B-F5511E4B0D79}"/>
          </ac:spMkLst>
        </pc:spChg>
      </pc:sldChg>
      <pc:sldChg chg="add">
        <pc:chgData name="2515012_ Vidyasree" userId="2633e80093b3d421" providerId="LiveId" clId="{12EBA23A-46CD-4FA7-9690-46E67EF4679B}" dt="2026-03-24T10:54:32.190" v="328"/>
        <pc:sldMkLst>
          <pc:docMk/>
          <pc:sldMk cId="468842223" sldId="316"/>
        </pc:sldMkLst>
      </pc:sldChg>
      <pc:sldChg chg="add">
        <pc:chgData name="2515012_ Vidyasree" userId="2633e80093b3d421" providerId="LiveId" clId="{12EBA23A-46CD-4FA7-9690-46E67EF4679B}" dt="2026-03-24T10:54:50.591" v="329"/>
        <pc:sldMkLst>
          <pc:docMk/>
          <pc:sldMk cId="902167551" sldId="317"/>
        </pc:sldMkLst>
      </pc:sldChg>
      <pc:sldChg chg="add">
        <pc:chgData name="2515012_ Vidyasree" userId="2633e80093b3d421" providerId="LiveId" clId="{12EBA23A-46CD-4FA7-9690-46E67EF4679B}" dt="2026-03-24T10:55:22.521" v="330"/>
        <pc:sldMkLst>
          <pc:docMk/>
          <pc:sldMk cId="2859721626" sldId="318"/>
        </pc:sldMkLst>
      </pc:sldChg>
      <pc:sldChg chg="addSp delSp modSp add mod">
        <pc:chgData name="2515012_ Vidyasree" userId="2633e80093b3d421" providerId="LiveId" clId="{12EBA23A-46CD-4FA7-9690-46E67EF4679B}" dt="2026-03-24T17:30:08.270" v="396" actId="14100"/>
        <pc:sldMkLst>
          <pc:docMk/>
          <pc:sldMk cId="3426657844" sldId="319"/>
        </pc:sldMkLst>
        <pc:spChg chg="mod">
          <ac:chgData name="2515012_ Vidyasree" userId="2633e80093b3d421" providerId="LiveId" clId="{12EBA23A-46CD-4FA7-9690-46E67EF4679B}" dt="2026-03-24T17:29:37.771" v="388" actId="1076"/>
          <ac:spMkLst>
            <pc:docMk/>
            <pc:sldMk cId="3426657844" sldId="319"/>
            <ac:spMk id="2" creationId="{00000000-0000-0000-0000-000000000000}"/>
          </ac:spMkLst>
        </pc:spChg>
        <pc:spChg chg="del">
          <ac:chgData name="2515012_ Vidyasree" userId="2633e80093b3d421" providerId="LiveId" clId="{12EBA23A-46CD-4FA7-9690-46E67EF4679B}" dt="2026-03-24T17:25:59.915" v="366" actId="21"/>
          <ac:spMkLst>
            <pc:docMk/>
            <pc:sldMk cId="3426657844" sldId="319"/>
            <ac:spMk id="3" creationId="{00000000-0000-0000-0000-000000000000}"/>
          </ac:spMkLst>
        </pc:spChg>
        <pc:spChg chg="add mod">
          <ac:chgData name="2515012_ Vidyasree" userId="2633e80093b3d421" providerId="LiveId" clId="{12EBA23A-46CD-4FA7-9690-46E67EF4679B}" dt="2026-03-24T17:30:08.270" v="396" actId="14100"/>
          <ac:spMkLst>
            <pc:docMk/>
            <pc:sldMk cId="3426657844" sldId="319"/>
            <ac:spMk id="4" creationId="{1E26D07F-3BA9-B522-ED91-F3F58B82F06A}"/>
          </ac:spMkLst>
        </pc:spChg>
      </pc:sldChg>
      <pc:sldChg chg="add del">
        <pc:chgData name="2515012_ Vidyasree" userId="2633e80093b3d421" providerId="LiveId" clId="{12EBA23A-46CD-4FA7-9690-46E67EF4679B}" dt="2026-03-24T17:28:38.424" v="381"/>
        <pc:sldMkLst>
          <pc:docMk/>
          <pc:sldMk cId="1601073168" sldId="320"/>
        </pc:sldMkLst>
      </pc:sldChg>
      <pc:sldChg chg="addSp modSp add mod">
        <pc:chgData name="2515012_ Vidyasree" userId="2633e80093b3d421" providerId="LiveId" clId="{12EBA23A-46CD-4FA7-9690-46E67EF4679B}" dt="2026-03-24T17:34:23.913" v="456" actId="1076"/>
        <pc:sldMkLst>
          <pc:docMk/>
          <pc:sldMk cId="2572992779" sldId="320"/>
        </pc:sldMkLst>
        <pc:spChg chg="mod">
          <ac:chgData name="2515012_ Vidyasree" userId="2633e80093b3d421" providerId="LiveId" clId="{12EBA23A-46CD-4FA7-9690-46E67EF4679B}" dt="2026-03-24T17:32:51.116" v="405" actId="6549"/>
          <ac:spMkLst>
            <pc:docMk/>
            <pc:sldMk cId="2572992779" sldId="320"/>
            <ac:spMk id="2" creationId="{00000000-0000-0000-0000-000000000000}"/>
          </ac:spMkLst>
        </pc:spChg>
        <pc:spChg chg="mod">
          <ac:chgData name="2515012_ Vidyasree" userId="2633e80093b3d421" providerId="LiveId" clId="{12EBA23A-46CD-4FA7-9690-46E67EF4679B}" dt="2026-03-24T17:34:23.913" v="456" actId="1076"/>
          <ac:spMkLst>
            <pc:docMk/>
            <pc:sldMk cId="2572992779" sldId="320"/>
            <ac:spMk id="3" creationId="{00000000-0000-0000-0000-000000000000}"/>
          </ac:spMkLst>
        </pc:spChg>
        <pc:spChg chg="add mod">
          <ac:chgData name="2515012_ Vidyasree" userId="2633e80093b3d421" providerId="LiveId" clId="{12EBA23A-46CD-4FA7-9690-46E67EF4679B}" dt="2026-03-24T17:34:14.017" v="455" actId="20577"/>
          <ac:spMkLst>
            <pc:docMk/>
            <pc:sldMk cId="2572992779" sldId="320"/>
            <ac:spMk id="4" creationId="{A7CBA4CE-8F0A-A128-0EAB-79593FD7D9C0}"/>
          </ac:spMkLst>
        </pc:spChg>
      </pc:sldChg>
      <pc:sldChg chg="add">
        <pc:chgData name="2515012_ Vidyasree" userId="2633e80093b3d421" providerId="LiveId" clId="{12EBA23A-46CD-4FA7-9690-46E67EF4679B}" dt="2026-03-24T17:35:12.361" v="457"/>
        <pc:sldMkLst>
          <pc:docMk/>
          <pc:sldMk cId="143400954" sldId="321"/>
        </pc:sldMkLst>
      </pc:sldChg>
      <pc:sldChg chg="add">
        <pc:chgData name="2515012_ Vidyasree" userId="2633e80093b3d421" providerId="LiveId" clId="{12EBA23A-46CD-4FA7-9690-46E67EF4679B}" dt="2026-03-24T17:35:35.768" v="458"/>
        <pc:sldMkLst>
          <pc:docMk/>
          <pc:sldMk cId="3242503481" sldId="322"/>
        </pc:sldMkLst>
      </pc:sldChg>
      <pc:sldChg chg="add">
        <pc:chgData name="2515012_ Vidyasree" userId="2633e80093b3d421" providerId="LiveId" clId="{12EBA23A-46CD-4FA7-9690-46E67EF4679B}" dt="2026-03-24T17:37:42.687" v="459"/>
        <pc:sldMkLst>
          <pc:docMk/>
          <pc:sldMk cId="3824652320" sldId="323"/>
        </pc:sldMkLst>
      </pc:sldChg>
      <pc:sldChg chg="addSp modSp new mod">
        <pc:chgData name="2515012_ Vidyasree" userId="2633e80093b3d421" providerId="LiveId" clId="{12EBA23A-46CD-4FA7-9690-46E67EF4679B}" dt="2026-03-25T05:34:51.749" v="498" actId="1076"/>
        <pc:sldMkLst>
          <pc:docMk/>
          <pc:sldMk cId="936545020" sldId="324"/>
        </pc:sldMkLst>
        <pc:spChg chg="mod">
          <ac:chgData name="2515012_ Vidyasree" userId="2633e80093b3d421" providerId="LiveId" clId="{12EBA23A-46CD-4FA7-9690-46E67EF4679B}" dt="2026-03-25T05:19:42.169" v="474"/>
          <ac:spMkLst>
            <pc:docMk/>
            <pc:sldMk cId="936545020" sldId="324"/>
            <ac:spMk id="2" creationId="{AFA88632-4D5E-DF10-9FA9-6E4AF700C4BB}"/>
          </ac:spMkLst>
        </pc:spChg>
        <pc:spChg chg="mod">
          <ac:chgData name="2515012_ Vidyasree" userId="2633e80093b3d421" providerId="LiveId" clId="{12EBA23A-46CD-4FA7-9690-46E67EF4679B}" dt="2026-03-25T05:34:51.749" v="498" actId="1076"/>
          <ac:spMkLst>
            <pc:docMk/>
            <pc:sldMk cId="936545020" sldId="324"/>
            <ac:spMk id="3" creationId="{7AE8385B-E573-7EA7-81F6-B33CDE19B51A}"/>
          </ac:spMkLst>
        </pc:spChg>
        <pc:spChg chg="add mod">
          <ac:chgData name="2515012_ Vidyasree" userId="2633e80093b3d421" providerId="LiveId" clId="{12EBA23A-46CD-4FA7-9690-46E67EF4679B}" dt="2026-03-25T05:20:19.585" v="475"/>
          <ac:spMkLst>
            <pc:docMk/>
            <pc:sldMk cId="936545020" sldId="324"/>
            <ac:spMk id="6" creationId="{F1849D2C-6927-98BE-441C-B3C22F8D02A0}"/>
          </ac:spMkLst>
        </pc:spChg>
        <pc:spChg chg="add mod">
          <ac:chgData name="2515012_ Vidyasree" userId="2633e80093b3d421" providerId="LiveId" clId="{12EBA23A-46CD-4FA7-9690-46E67EF4679B}" dt="2026-03-25T05:20:19.585" v="475"/>
          <ac:spMkLst>
            <pc:docMk/>
            <pc:sldMk cId="936545020" sldId="324"/>
            <ac:spMk id="7" creationId="{9C4BE52B-3FE9-54E3-4447-C75BD54B5465}"/>
          </ac:spMkLst>
        </pc:spChg>
        <pc:spChg chg="add mod">
          <ac:chgData name="2515012_ Vidyasree" userId="2633e80093b3d421" providerId="LiveId" clId="{12EBA23A-46CD-4FA7-9690-46E67EF4679B}" dt="2026-03-25T05:20:19.585" v="475"/>
          <ac:spMkLst>
            <pc:docMk/>
            <pc:sldMk cId="936545020" sldId="324"/>
            <ac:spMk id="9" creationId="{F055FF53-0DFA-764F-B5B9-44538F9EBAC1}"/>
          </ac:spMkLst>
        </pc:spChg>
        <pc:spChg chg="add mod">
          <ac:chgData name="2515012_ Vidyasree" userId="2633e80093b3d421" providerId="LiveId" clId="{12EBA23A-46CD-4FA7-9690-46E67EF4679B}" dt="2026-03-25T05:20:19.585" v="475"/>
          <ac:spMkLst>
            <pc:docMk/>
            <pc:sldMk cId="936545020" sldId="324"/>
            <ac:spMk id="10" creationId="{69857EC0-1382-954E-3337-BEBCB21F17D9}"/>
          </ac:spMkLst>
        </pc:spChg>
        <pc:spChg chg="add mod">
          <ac:chgData name="2515012_ Vidyasree" userId="2633e80093b3d421" providerId="LiveId" clId="{12EBA23A-46CD-4FA7-9690-46E67EF4679B}" dt="2026-03-25T05:20:56.668" v="480"/>
          <ac:spMkLst>
            <pc:docMk/>
            <pc:sldMk cId="936545020" sldId="324"/>
            <ac:spMk id="14" creationId="{5D31F04D-6D5A-8761-40CD-BC577ABB83DE}"/>
          </ac:spMkLst>
        </pc:spChg>
        <pc:spChg chg="add mod">
          <ac:chgData name="2515012_ Vidyasree" userId="2633e80093b3d421" providerId="LiveId" clId="{12EBA23A-46CD-4FA7-9690-46E67EF4679B}" dt="2026-03-25T05:20:56.668" v="480"/>
          <ac:spMkLst>
            <pc:docMk/>
            <pc:sldMk cId="936545020" sldId="324"/>
            <ac:spMk id="15" creationId="{0A7D9059-84D2-17B3-ADF4-F3C5548A9C18}"/>
          </ac:spMkLst>
        </pc:spChg>
        <pc:spChg chg="add mod">
          <ac:chgData name="2515012_ Vidyasree" userId="2633e80093b3d421" providerId="LiveId" clId="{12EBA23A-46CD-4FA7-9690-46E67EF4679B}" dt="2026-03-25T05:22:55.260" v="490" actId="14100"/>
          <ac:spMkLst>
            <pc:docMk/>
            <pc:sldMk cId="936545020" sldId="324"/>
            <ac:spMk id="16" creationId="{E732E23C-CA54-DF65-9581-375A8D35E93B}"/>
          </ac:spMkLst>
        </pc:spChg>
        <pc:spChg chg="add mod">
          <ac:chgData name="2515012_ Vidyasree" userId="2633e80093b3d421" providerId="LiveId" clId="{12EBA23A-46CD-4FA7-9690-46E67EF4679B}" dt="2026-03-25T05:34:47.593" v="497"/>
          <ac:spMkLst>
            <pc:docMk/>
            <pc:sldMk cId="936545020" sldId="324"/>
            <ac:spMk id="17" creationId="{0C171602-AC28-6B67-28AF-695999499A86}"/>
          </ac:spMkLst>
        </pc:spChg>
        <pc:grpChg chg="add mod">
          <ac:chgData name="2515012_ Vidyasree" userId="2633e80093b3d421" providerId="LiveId" clId="{12EBA23A-46CD-4FA7-9690-46E67EF4679B}" dt="2026-03-25T05:22:51.061" v="489" actId="14100"/>
          <ac:grpSpMkLst>
            <pc:docMk/>
            <pc:sldMk cId="936545020" sldId="324"/>
            <ac:grpSpMk id="4" creationId="{4EE3AF9B-A8A6-FE22-C5CC-AEF40D55F943}"/>
          </ac:grpSpMkLst>
        </pc:grpChg>
        <pc:grpChg chg="add mod">
          <ac:chgData name="2515012_ Vidyasree" userId="2633e80093b3d421" providerId="LiveId" clId="{12EBA23A-46CD-4FA7-9690-46E67EF4679B}" dt="2026-03-25T05:22:43.709" v="488" actId="14100"/>
          <ac:grpSpMkLst>
            <pc:docMk/>
            <pc:sldMk cId="936545020" sldId="324"/>
            <ac:grpSpMk id="11" creationId="{D316E1CD-5917-BEBF-23C9-2BB49610F17F}"/>
          </ac:grpSpMkLst>
        </pc:grpChg>
        <pc:picChg chg="add mod">
          <ac:chgData name="2515012_ Vidyasree" userId="2633e80093b3d421" providerId="LiveId" clId="{12EBA23A-46CD-4FA7-9690-46E67EF4679B}" dt="2026-03-25T05:20:19.585" v="475"/>
          <ac:picMkLst>
            <pc:docMk/>
            <pc:sldMk cId="936545020" sldId="324"/>
            <ac:picMk id="5" creationId="{073189C2-2E0C-D152-D569-4067AF8B7EED}"/>
          </ac:picMkLst>
        </pc:picChg>
        <pc:picChg chg="add mod">
          <ac:chgData name="2515012_ Vidyasree" userId="2633e80093b3d421" providerId="LiveId" clId="{12EBA23A-46CD-4FA7-9690-46E67EF4679B}" dt="2026-03-25T05:20:19.585" v="475"/>
          <ac:picMkLst>
            <pc:docMk/>
            <pc:sldMk cId="936545020" sldId="324"/>
            <ac:picMk id="8" creationId="{2C7E8F98-F8A4-E244-A366-DBCE089FC66B}"/>
          </ac:picMkLst>
        </pc:picChg>
        <pc:picChg chg="add mod">
          <ac:chgData name="2515012_ Vidyasree" userId="2633e80093b3d421" providerId="LiveId" clId="{12EBA23A-46CD-4FA7-9690-46E67EF4679B}" dt="2026-03-25T05:20:56.668" v="480"/>
          <ac:picMkLst>
            <pc:docMk/>
            <pc:sldMk cId="936545020" sldId="324"/>
            <ac:picMk id="12" creationId="{59034C2C-1637-8780-6494-D47019A9CFD0}"/>
          </ac:picMkLst>
        </pc:picChg>
        <pc:picChg chg="add mod">
          <ac:chgData name="2515012_ Vidyasree" userId="2633e80093b3d421" providerId="LiveId" clId="{12EBA23A-46CD-4FA7-9690-46E67EF4679B}" dt="2026-03-25T05:20:56.668" v="480"/>
          <ac:picMkLst>
            <pc:docMk/>
            <pc:sldMk cId="936545020" sldId="324"/>
            <ac:picMk id="13" creationId="{2C5F35DF-6753-ECCB-EB62-3CA085BF04DA}"/>
          </ac:picMkLst>
        </pc:picChg>
      </pc:sldChg>
      <pc:sldChg chg="modSp add del mod">
        <pc:chgData name="2515012_ Vidyasree" userId="2633e80093b3d421" providerId="LiveId" clId="{12EBA23A-46CD-4FA7-9690-46E67EF4679B}" dt="2026-03-24T10:57:04.781" v="334" actId="2696"/>
        <pc:sldMkLst>
          <pc:docMk/>
          <pc:sldMk cId="3220231572" sldId="336"/>
        </pc:sldMkLst>
        <pc:spChg chg="mod">
          <ac:chgData name="2515012_ Vidyasree" userId="2633e80093b3d421" providerId="LiveId" clId="{12EBA23A-46CD-4FA7-9690-46E67EF4679B}" dt="2026-03-24T10:56:21.073" v="332" actId="1076"/>
          <ac:spMkLst>
            <pc:docMk/>
            <pc:sldMk cId="3220231572" sldId="336"/>
            <ac:spMk id="5"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03:27:46.023"/>
    </inkml:context>
    <inkml:brush xml:id="br0">
      <inkml:brushProperty name="width" value="0.035" units="cm"/>
      <inkml:brushProperty name="height" value="0.035" units="cm"/>
      <inkml:brushProperty name="ignorePressure" value="1"/>
    </inkml:brush>
  </inkml:definitions>
  <inkml:trace contextRef="#ctx0" brushRef="#br0">26 8,'-11'0,"-4"-8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03:27:57.024"/>
    </inkml:context>
    <inkml:brush xml:id="br0">
      <inkml:brushProperty name="width" value="0.035" units="cm"/>
      <inkml:brushProperty name="height" value="0.035" units="cm"/>
      <inkml:brushProperty name="ignorePressure" value="1"/>
    </inkml:brush>
  </inkml:definitions>
  <inkml:trace contextRef="#ctx0" brushRef="#br0">113 152,'0'0,"13"18,-4-2,-6-2,-28-44,-22-45,-19-20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03:27:57.852"/>
    </inkml:context>
    <inkml:brush xml:id="br0">
      <inkml:brushProperty name="width" value="0.035" units="cm"/>
      <inkml:brushProperty name="height" value="0.035" units="cm"/>
      <inkml:brushProperty name="ignorePressure" value="1"/>
    </inkml:brush>
  </inkml:definitions>
  <inkml:trace contextRef="#ctx0" brushRef="#br0">101 65,'-32'-3,"-7"6,10 10,50-21,2-10,-20-8,-29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06:25:01.183"/>
    </inkml:context>
    <inkml:brush xml:id="br0">
      <inkml:brushProperty name="width" value="0.035" units="cm"/>
      <inkml:brushProperty name="height" value="0.035" units="cm"/>
      <inkml:brushProperty name="ignorePressure" value="1"/>
    </inkml:brush>
  </inkml:definitions>
  <inkml:trace contextRef="#ctx0" brushRef="#br0">56 160,'0'0,"-21"-60,7 17,2 8,3 13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03:44:14.458"/>
    </inkml:context>
    <inkml:brush xml:id="br0">
      <inkml:brushProperty name="width" value="0.035" units="cm"/>
      <inkml:brushProperty name="height" value="0.035" units="cm"/>
      <inkml:brushProperty name="ignorePressure" value="1"/>
    </inkml:brush>
  </inkml:definitions>
  <inkml:trace contextRef="#ctx0" brushRef="#br0">1 0,'3'5,"12"3,0 7,-1 1,-5-3,4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4537EBF-E81E-494A-B641-48387089F57D}" type="datetimeFigureOut">
              <a:rPr lang="en-IN" smtClean="0"/>
              <a:t>25-03-2026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AC02665-95A7-4285-B60E-8C28338787A5}" type="slidenum">
              <a:rPr lang="en-IN" smtClean="0"/>
              <a:t>‹#›</a:t>
            </a:fld>
            <a:endParaRPr lang="en-IN"/>
          </a:p>
        </p:txBody>
      </p:sp>
    </p:spTree>
    <p:extLst>
      <p:ext uri="{BB962C8B-B14F-4D97-AF65-F5344CB8AC3E}">
        <p14:creationId xmlns:p14="http://schemas.microsoft.com/office/powerpoint/2010/main" val="264322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C02665-95A7-4285-B60E-8C28338787A5}" type="slidenum">
              <a:rPr lang="en-IN" smtClean="0"/>
              <a:t>13</a:t>
            </a:fld>
            <a:endParaRPr lang="en-IN"/>
          </a:p>
        </p:txBody>
      </p:sp>
    </p:spTree>
    <p:extLst>
      <p:ext uri="{BB962C8B-B14F-4D97-AF65-F5344CB8AC3E}">
        <p14:creationId xmlns:p14="http://schemas.microsoft.com/office/powerpoint/2010/main" val="2427327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C7681-5413-4681-D0DA-FD82675C8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4C420-CEB5-BD25-9CAA-4AED008D7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6CD00-C656-277D-9162-482F053247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5E2530-1D2E-4D2B-2C3C-4FEFB6A399BF}"/>
              </a:ext>
            </a:extLst>
          </p:cNvPr>
          <p:cNvSpPr>
            <a:spLocks noGrp="1"/>
          </p:cNvSpPr>
          <p:nvPr>
            <p:ph type="sldNum" sz="quarter" idx="5"/>
          </p:nvPr>
        </p:nvSpPr>
        <p:spPr/>
        <p:txBody>
          <a:bodyPr/>
          <a:lstStyle/>
          <a:p>
            <a:fld id="{5AC02665-95A7-4285-B60E-8C28338787A5}" type="slidenum">
              <a:rPr lang="en-IN" smtClean="0"/>
              <a:t>24</a:t>
            </a:fld>
            <a:endParaRPr lang="en-IN"/>
          </a:p>
        </p:txBody>
      </p:sp>
    </p:spTree>
    <p:extLst>
      <p:ext uri="{BB962C8B-B14F-4D97-AF65-F5344CB8AC3E}">
        <p14:creationId xmlns:p14="http://schemas.microsoft.com/office/powerpoint/2010/main" val="752586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C02665-95A7-4285-B60E-8C28338787A5}" type="slidenum">
              <a:rPr lang="en-IN" smtClean="0"/>
              <a:t>27</a:t>
            </a:fld>
            <a:endParaRPr lang="en-IN"/>
          </a:p>
        </p:txBody>
      </p:sp>
    </p:spTree>
    <p:extLst>
      <p:ext uri="{BB962C8B-B14F-4D97-AF65-F5344CB8AC3E}">
        <p14:creationId xmlns:p14="http://schemas.microsoft.com/office/powerpoint/2010/main" val="1088637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C02665-95A7-4285-B60E-8C28338787A5}" type="slidenum">
              <a:rPr lang="en-IN" smtClean="0"/>
              <a:t>41</a:t>
            </a:fld>
            <a:endParaRPr lang="en-IN"/>
          </a:p>
        </p:txBody>
      </p:sp>
    </p:spTree>
    <p:extLst>
      <p:ext uri="{BB962C8B-B14F-4D97-AF65-F5344CB8AC3E}">
        <p14:creationId xmlns:p14="http://schemas.microsoft.com/office/powerpoint/2010/main" val="557891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C02665-95A7-4285-B60E-8C28338787A5}" type="slidenum">
              <a:rPr lang="en-IN" smtClean="0"/>
              <a:t>54</a:t>
            </a:fld>
            <a:endParaRPr lang="en-IN"/>
          </a:p>
        </p:txBody>
      </p:sp>
    </p:spTree>
    <p:extLst>
      <p:ext uri="{BB962C8B-B14F-4D97-AF65-F5344CB8AC3E}">
        <p14:creationId xmlns:p14="http://schemas.microsoft.com/office/powerpoint/2010/main" val="1190079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sp>
        <p:nvSpPr>
          <p:cNvPr id="17" name="bg object 17"/>
          <p:cNvSpPr/>
          <p:nvPr/>
        </p:nvSpPr>
        <p:spPr>
          <a:xfrm>
            <a:off x="9270492" y="762000"/>
            <a:ext cx="2921635" cy="5334000"/>
          </a:xfrm>
          <a:custGeom>
            <a:avLst/>
            <a:gdLst/>
            <a:ahLst/>
            <a:cxnLst/>
            <a:rect l="l" t="t" r="r" b="b"/>
            <a:pathLst>
              <a:path w="2921634" h="5334000">
                <a:moveTo>
                  <a:pt x="2921507" y="0"/>
                </a:moveTo>
                <a:lnTo>
                  <a:pt x="0" y="0"/>
                </a:lnTo>
                <a:lnTo>
                  <a:pt x="0" y="5334000"/>
                </a:lnTo>
                <a:lnTo>
                  <a:pt x="2921507" y="5334000"/>
                </a:lnTo>
                <a:lnTo>
                  <a:pt x="2921507" y="0"/>
                </a:lnTo>
                <a:close/>
              </a:path>
            </a:pathLst>
          </a:custGeom>
          <a:solidFill>
            <a:srgbClr val="C7C7C7">
              <a:alpha val="49803"/>
            </a:srgbClr>
          </a:solidFill>
        </p:spPr>
        <p:txBody>
          <a:bodyPr wrap="square" lIns="0" tIns="0" rIns="0" bIns="0" rtlCol="0"/>
          <a:lstStyle/>
          <a:p>
            <a:endParaRPr/>
          </a:p>
        </p:txBody>
      </p:sp>
      <p:sp>
        <p:nvSpPr>
          <p:cNvPr id="2" name="Holder 2"/>
          <p:cNvSpPr>
            <a:spLocks noGrp="1"/>
          </p:cNvSpPr>
          <p:nvPr>
            <p:ph type="ctrTitle"/>
          </p:nvPr>
        </p:nvSpPr>
        <p:spPr>
          <a:xfrm>
            <a:off x="1148892" y="1831594"/>
            <a:ext cx="6584315" cy="2555875"/>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2" name="Holder 2"/>
          <p:cNvSpPr>
            <a:spLocks noGrp="1"/>
          </p:cNvSpPr>
          <p:nvPr>
            <p:ph type="title"/>
          </p:nvPr>
        </p:nvSpPr>
        <p:spPr>
          <a:xfrm>
            <a:off x="3583304" y="753821"/>
            <a:ext cx="7037070" cy="391794"/>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3" name="Holder 3"/>
          <p:cNvSpPr>
            <a:spLocks noGrp="1"/>
          </p:cNvSpPr>
          <p:nvPr>
            <p:ph type="body" idx="1"/>
          </p:nvPr>
        </p:nvSpPr>
        <p:spPr>
          <a:xfrm>
            <a:off x="3517900" y="3181603"/>
            <a:ext cx="8046084" cy="2386965"/>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sp>
        <p:nvSpPr>
          <p:cNvPr id="3" name="object 3"/>
          <p:cNvSpPr/>
          <p:nvPr/>
        </p:nvSpPr>
        <p:spPr>
          <a:xfrm>
            <a:off x="9270492" y="762000"/>
            <a:ext cx="2921635" cy="5334000"/>
          </a:xfrm>
          <a:custGeom>
            <a:avLst/>
            <a:gdLst/>
            <a:ahLst/>
            <a:cxnLst/>
            <a:rect l="l" t="t" r="r" b="b"/>
            <a:pathLst>
              <a:path w="2921634" h="5334000">
                <a:moveTo>
                  <a:pt x="2921507" y="0"/>
                </a:moveTo>
                <a:lnTo>
                  <a:pt x="0" y="0"/>
                </a:lnTo>
                <a:lnTo>
                  <a:pt x="0" y="5334000"/>
                </a:lnTo>
                <a:lnTo>
                  <a:pt x="2921507" y="5334000"/>
                </a:lnTo>
                <a:lnTo>
                  <a:pt x="292150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9270492" y="762000"/>
            <a:ext cx="2921635" cy="4293611"/>
          </a:xfrm>
          <a:prstGeom prst="rect">
            <a:avLst/>
          </a:prstGeom>
        </p:spPr>
        <p:txBody>
          <a:bodyPr vert="horz" wrap="square" lIns="0" tIns="255270" rIns="0" bIns="0" rtlCol="0">
            <a:spAutoFit/>
          </a:bodyPr>
          <a:lstStyle/>
          <a:p>
            <a:pPr marL="270510" marR="663575" indent="-103505">
              <a:lnSpc>
                <a:spcPct val="328600"/>
              </a:lnSpc>
              <a:spcBef>
                <a:spcPts val="2010"/>
              </a:spcBef>
            </a:pPr>
            <a:r>
              <a:rPr sz="2200" spc="-20" dirty="0">
                <a:solidFill>
                  <a:srgbClr val="0097A2"/>
                </a:solidFill>
                <a:latin typeface="Candara"/>
                <a:cs typeface="Candara"/>
              </a:rPr>
              <a:t>Department</a:t>
            </a:r>
            <a:r>
              <a:rPr sz="2200" spc="-40" dirty="0">
                <a:solidFill>
                  <a:srgbClr val="0097A2"/>
                </a:solidFill>
                <a:latin typeface="Candara"/>
                <a:cs typeface="Candara"/>
              </a:rPr>
              <a:t> </a:t>
            </a:r>
            <a:r>
              <a:rPr sz="2200" dirty="0">
                <a:solidFill>
                  <a:srgbClr val="0097A2"/>
                </a:solidFill>
                <a:latin typeface="Candara"/>
                <a:cs typeface="Candara"/>
              </a:rPr>
              <a:t>of</a:t>
            </a:r>
            <a:r>
              <a:rPr sz="2200" spc="-35" dirty="0">
                <a:solidFill>
                  <a:srgbClr val="0097A2"/>
                </a:solidFill>
                <a:latin typeface="Candara"/>
                <a:cs typeface="Candara"/>
              </a:rPr>
              <a:t> </a:t>
            </a:r>
            <a:r>
              <a:rPr lang="en-IN" sz="2200" spc="-25" dirty="0">
                <a:solidFill>
                  <a:srgbClr val="0097A2"/>
                </a:solidFill>
                <a:latin typeface="Candara"/>
                <a:cs typeface="Candara"/>
              </a:rPr>
              <a:t>IT</a:t>
            </a:r>
            <a:r>
              <a:rPr sz="2200" spc="-25" dirty="0">
                <a:solidFill>
                  <a:srgbClr val="0097A2"/>
                </a:solidFill>
                <a:latin typeface="Candara"/>
                <a:cs typeface="Candara"/>
              </a:rPr>
              <a:t> </a:t>
            </a:r>
            <a:r>
              <a:rPr lang="en-IN" sz="2200" spc="-25" dirty="0">
                <a:solidFill>
                  <a:srgbClr val="0097A2"/>
                </a:solidFill>
                <a:latin typeface="Candara"/>
                <a:cs typeface="Candara"/>
              </a:rPr>
              <a:t>Module </a:t>
            </a:r>
            <a:r>
              <a:rPr sz="2200" spc="-35" dirty="0">
                <a:solidFill>
                  <a:srgbClr val="0097A2"/>
                </a:solidFill>
                <a:latin typeface="Candara"/>
                <a:cs typeface="Candara"/>
              </a:rPr>
              <a:t> </a:t>
            </a:r>
            <a:r>
              <a:rPr sz="2200" dirty="0">
                <a:solidFill>
                  <a:srgbClr val="0097A2"/>
                </a:solidFill>
                <a:latin typeface="Candara"/>
                <a:cs typeface="Candara"/>
              </a:rPr>
              <a:t>:</a:t>
            </a:r>
            <a:r>
              <a:rPr sz="2200" spc="-20" dirty="0">
                <a:solidFill>
                  <a:srgbClr val="0097A2"/>
                </a:solidFill>
                <a:latin typeface="Candara"/>
                <a:cs typeface="Candara"/>
              </a:rPr>
              <a:t> </a:t>
            </a:r>
            <a:r>
              <a:rPr lang="en-IN" sz="2200" spc="-50" dirty="0">
                <a:solidFill>
                  <a:srgbClr val="0097A2"/>
                </a:solidFill>
                <a:latin typeface="Candara"/>
                <a:cs typeface="Candara"/>
              </a:rPr>
              <a:t>III</a:t>
            </a:r>
            <a:endParaRPr sz="2200" dirty="0">
              <a:latin typeface="Candara"/>
              <a:cs typeface="Candara"/>
            </a:endParaRPr>
          </a:p>
          <a:p>
            <a:pPr marL="270510" marR="476250">
              <a:lnSpc>
                <a:spcPct val="100000"/>
              </a:lnSpc>
            </a:pPr>
            <a:r>
              <a:rPr sz="2200" dirty="0">
                <a:solidFill>
                  <a:srgbClr val="0097A2"/>
                </a:solidFill>
                <a:latin typeface="Candara"/>
                <a:cs typeface="Candara"/>
              </a:rPr>
              <a:t>Code</a:t>
            </a:r>
            <a:r>
              <a:rPr sz="2200" spc="-75" dirty="0">
                <a:solidFill>
                  <a:srgbClr val="0097A2"/>
                </a:solidFill>
                <a:latin typeface="Candara"/>
                <a:cs typeface="Candara"/>
              </a:rPr>
              <a:t> </a:t>
            </a:r>
            <a:r>
              <a:rPr sz="2200" spc="-25" dirty="0">
                <a:solidFill>
                  <a:srgbClr val="0097A2"/>
                </a:solidFill>
                <a:latin typeface="Candara"/>
                <a:cs typeface="Candara"/>
              </a:rPr>
              <a:t>Optimization </a:t>
            </a:r>
            <a:r>
              <a:rPr sz="2200" dirty="0">
                <a:solidFill>
                  <a:srgbClr val="0097A2"/>
                </a:solidFill>
                <a:latin typeface="Candara"/>
                <a:cs typeface="Candara"/>
              </a:rPr>
              <a:t>and</a:t>
            </a:r>
            <a:r>
              <a:rPr sz="2200" spc="-40" dirty="0">
                <a:solidFill>
                  <a:srgbClr val="0097A2"/>
                </a:solidFill>
                <a:latin typeface="Candara"/>
                <a:cs typeface="Candara"/>
              </a:rPr>
              <a:t> </a:t>
            </a:r>
            <a:r>
              <a:rPr sz="2200" spc="-10" dirty="0">
                <a:solidFill>
                  <a:srgbClr val="0097A2"/>
                </a:solidFill>
                <a:latin typeface="Candara"/>
                <a:cs typeface="Candara"/>
              </a:rPr>
              <a:t>Generation</a:t>
            </a: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spcBef>
                <a:spcPts val="880"/>
              </a:spcBef>
            </a:pPr>
            <a:r>
              <a:rPr lang="en-IN" sz="2200" dirty="0">
                <a:solidFill>
                  <a:schemeClr val="accent5"/>
                </a:solidFill>
                <a:latin typeface="Candara"/>
                <a:cs typeface="Candara"/>
              </a:rPr>
              <a:t>          G. VIDYASREE</a:t>
            </a:r>
            <a:endParaRPr sz="2200" dirty="0">
              <a:solidFill>
                <a:schemeClr val="accent5"/>
              </a:solidFill>
              <a:latin typeface="Candara"/>
              <a:cs typeface="Candara"/>
            </a:endParaRPr>
          </a:p>
        </p:txBody>
      </p:sp>
      <p:sp>
        <p:nvSpPr>
          <p:cNvPr id="5" name="object 5"/>
          <p:cNvSpPr txBox="1">
            <a:spLocks noGrp="1"/>
          </p:cNvSpPr>
          <p:nvPr>
            <p:ph type="title"/>
          </p:nvPr>
        </p:nvSpPr>
        <p:spPr>
          <a:xfrm>
            <a:off x="2272664" y="2296675"/>
            <a:ext cx="6718936" cy="1929374"/>
          </a:xfrm>
          <a:prstGeom prst="rect">
            <a:avLst/>
          </a:prstGeom>
        </p:spPr>
        <p:txBody>
          <a:bodyPr vert="horz" wrap="square" lIns="0" tIns="36195" rIns="0" bIns="0" rtlCol="0">
            <a:spAutoFit/>
          </a:bodyPr>
          <a:lstStyle/>
          <a:p>
            <a:pPr marL="54610" algn="l">
              <a:lnSpc>
                <a:spcPct val="100000"/>
              </a:lnSpc>
              <a:spcBef>
                <a:spcPts val="285"/>
              </a:spcBef>
              <a:tabLst>
                <a:tab pos="2451735" algn="l"/>
              </a:tabLst>
            </a:pPr>
            <a:r>
              <a:rPr lang="en-IN" sz="2800" b="1" spc="-65" dirty="0">
                <a:solidFill>
                  <a:srgbClr val="FFFFFF"/>
                </a:solidFill>
                <a:latin typeface="Corbel"/>
                <a:cs typeface="Corbel"/>
              </a:rPr>
              <a:t>      P</a:t>
            </a:r>
            <a:r>
              <a:rPr sz="2800" b="1" spc="-65" dirty="0">
                <a:solidFill>
                  <a:srgbClr val="FFFFFF"/>
                </a:solidFill>
                <a:latin typeface="Corbel"/>
                <a:cs typeface="Corbel"/>
              </a:rPr>
              <a:t>CD</a:t>
            </a:r>
            <a:r>
              <a:rPr sz="2800" b="1" spc="-195" dirty="0">
                <a:solidFill>
                  <a:srgbClr val="FFFFFF"/>
                </a:solidFill>
                <a:latin typeface="Corbel"/>
                <a:cs typeface="Corbel"/>
              </a:rPr>
              <a:t> </a:t>
            </a:r>
            <a:r>
              <a:rPr sz="2800" b="1" spc="-10" dirty="0">
                <a:solidFill>
                  <a:srgbClr val="FFFFFF"/>
                </a:solidFill>
                <a:latin typeface="Corbel"/>
                <a:cs typeface="Corbel"/>
              </a:rPr>
              <a:t>:</a:t>
            </a:r>
            <a:r>
              <a:rPr sz="2800" b="1" spc="-295" dirty="0">
                <a:solidFill>
                  <a:srgbClr val="FFFFFF"/>
                </a:solidFill>
                <a:latin typeface="Corbel"/>
                <a:cs typeface="Corbel"/>
              </a:rPr>
              <a:t> </a:t>
            </a:r>
            <a:r>
              <a:rPr lang="en-IN" sz="2800" b="1" spc="-295" dirty="0">
                <a:solidFill>
                  <a:srgbClr val="FFFFFF"/>
                </a:solidFill>
                <a:latin typeface="Corbel"/>
                <a:cs typeface="Corbel"/>
              </a:rPr>
              <a:t>PRINCIPLES  OF </a:t>
            </a:r>
            <a:r>
              <a:rPr sz="2800" b="1" spc="-10" dirty="0">
                <a:solidFill>
                  <a:srgbClr val="FFFFFF"/>
                </a:solidFill>
                <a:latin typeface="Corbel"/>
                <a:cs typeface="Corbel"/>
              </a:rPr>
              <a:t>COMPILE</a:t>
            </a:r>
            <a:r>
              <a:rPr lang="en-IN" sz="2800" b="1" spc="-10" dirty="0">
                <a:solidFill>
                  <a:srgbClr val="FFFFFF"/>
                </a:solidFill>
                <a:latin typeface="Corbel"/>
                <a:cs typeface="Corbel"/>
              </a:rPr>
              <a:t> </a:t>
            </a:r>
            <a:r>
              <a:rPr sz="2800" b="1" spc="-10" dirty="0">
                <a:solidFill>
                  <a:srgbClr val="FFFFFF"/>
                </a:solidFill>
                <a:latin typeface="Corbel"/>
                <a:cs typeface="Corbel"/>
              </a:rPr>
              <a:t>DESIGN</a:t>
            </a:r>
            <a:endParaRPr sz="2800" dirty="0">
              <a:latin typeface="Corbel"/>
              <a:cs typeface="Corbel"/>
            </a:endParaRPr>
          </a:p>
          <a:p>
            <a:pPr marL="12700" marR="5080" algn="ctr">
              <a:lnSpc>
                <a:spcPts val="5190"/>
              </a:lnSpc>
              <a:spcBef>
                <a:spcPts val="985"/>
              </a:spcBef>
            </a:pPr>
            <a:r>
              <a:rPr sz="4800" b="1" spc="-95" dirty="0">
                <a:solidFill>
                  <a:srgbClr val="FFFFFF"/>
                </a:solidFill>
                <a:latin typeface="Corbel"/>
                <a:cs typeface="Corbel"/>
              </a:rPr>
              <a:t>Code</a:t>
            </a:r>
            <a:r>
              <a:rPr sz="4800" b="1" spc="-360" dirty="0">
                <a:solidFill>
                  <a:srgbClr val="FFFFFF"/>
                </a:solidFill>
                <a:latin typeface="Corbel"/>
                <a:cs typeface="Corbel"/>
              </a:rPr>
              <a:t> </a:t>
            </a:r>
            <a:r>
              <a:rPr sz="4800" b="1" spc="-105" dirty="0">
                <a:solidFill>
                  <a:srgbClr val="FFFFFF"/>
                </a:solidFill>
                <a:latin typeface="Corbel"/>
                <a:cs typeface="Corbel"/>
              </a:rPr>
              <a:t>Optimization</a:t>
            </a:r>
            <a:r>
              <a:rPr sz="4800" b="1" spc="-170" dirty="0">
                <a:solidFill>
                  <a:srgbClr val="FFFFFF"/>
                </a:solidFill>
                <a:latin typeface="Corbel"/>
                <a:cs typeface="Corbel"/>
              </a:rPr>
              <a:t> </a:t>
            </a:r>
            <a:r>
              <a:rPr sz="4800" b="1" spc="-25" dirty="0">
                <a:solidFill>
                  <a:srgbClr val="FFFFFF"/>
                </a:solidFill>
                <a:latin typeface="Corbel"/>
                <a:cs typeface="Corbel"/>
              </a:rPr>
              <a:t>and </a:t>
            </a:r>
            <a:r>
              <a:rPr sz="4800" b="1" spc="-10" dirty="0">
                <a:solidFill>
                  <a:srgbClr val="FFFFFF"/>
                </a:solidFill>
                <a:latin typeface="Corbel"/>
                <a:cs typeface="Corbel"/>
              </a:rPr>
              <a:t>Generation</a:t>
            </a:r>
            <a:endParaRPr sz="4800" dirty="0">
              <a:latin typeface="Corbel"/>
              <a:cs typeface="Corbel"/>
            </a:endParaRPr>
          </a:p>
        </p:txBody>
      </p:sp>
      <p:pic>
        <p:nvPicPr>
          <p:cNvPr id="6" name="object 6"/>
          <p:cNvPicPr/>
          <p:nvPr/>
        </p:nvPicPr>
        <p:blipFill>
          <a:blip r:embed="rId2" cstate="print"/>
          <a:stretch>
            <a:fillRect/>
          </a:stretch>
        </p:blipFill>
        <p:spPr>
          <a:xfrm>
            <a:off x="594359" y="2273807"/>
            <a:ext cx="1496567" cy="14980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pic>
        <p:nvPicPr>
          <p:cNvPr id="4" name="object 4"/>
          <p:cNvPicPr/>
          <p:nvPr/>
        </p:nvPicPr>
        <p:blipFill>
          <a:blip r:embed="rId2" cstate="print"/>
          <a:stretch>
            <a:fillRect/>
          </a:stretch>
        </p:blipFill>
        <p:spPr>
          <a:xfrm>
            <a:off x="213359" y="996696"/>
            <a:ext cx="1498092" cy="1496567"/>
          </a:xfrm>
          <a:prstGeom prst="rect">
            <a:avLst/>
          </a:prstGeom>
        </p:spPr>
      </p:pic>
      <p:sp>
        <p:nvSpPr>
          <p:cNvPr id="5" name="object 5"/>
          <p:cNvSpPr txBox="1">
            <a:spLocks noGrp="1"/>
          </p:cNvSpPr>
          <p:nvPr>
            <p:ph type="title"/>
          </p:nvPr>
        </p:nvSpPr>
        <p:spPr>
          <a:xfrm>
            <a:off x="1877695" y="970229"/>
            <a:ext cx="1818005" cy="574675"/>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FFFF"/>
                </a:solidFill>
                <a:latin typeface="Cambria"/>
                <a:cs typeface="Cambria"/>
              </a:rPr>
              <a:t>Outline</a:t>
            </a:r>
            <a:r>
              <a:rPr sz="3600" b="1" spc="-65" dirty="0">
                <a:solidFill>
                  <a:srgbClr val="FFFFFF"/>
                </a:solidFill>
                <a:latin typeface="Cambria"/>
                <a:cs typeface="Cambria"/>
              </a:rPr>
              <a:t> </a:t>
            </a:r>
            <a:r>
              <a:rPr sz="3600" b="1" spc="-50" dirty="0">
                <a:solidFill>
                  <a:srgbClr val="FFFFFF"/>
                </a:solidFill>
                <a:latin typeface="Cambria"/>
                <a:cs typeface="Cambria"/>
              </a:rPr>
              <a:t>:</a:t>
            </a:r>
            <a:endParaRPr sz="3600">
              <a:latin typeface="Cambria"/>
              <a:cs typeface="Cambria"/>
            </a:endParaRPr>
          </a:p>
        </p:txBody>
      </p:sp>
      <p:sp>
        <p:nvSpPr>
          <p:cNvPr id="6" name="object 6"/>
          <p:cNvSpPr txBox="1"/>
          <p:nvPr/>
        </p:nvSpPr>
        <p:spPr>
          <a:xfrm>
            <a:off x="1877695" y="1524127"/>
            <a:ext cx="4782185" cy="3397250"/>
          </a:xfrm>
          <a:prstGeom prst="rect">
            <a:avLst/>
          </a:prstGeom>
        </p:spPr>
        <p:txBody>
          <a:bodyPr vert="horz" wrap="square" lIns="0" tIns="12700" rIns="0" bIns="0" rtlCol="0">
            <a:spAutoFit/>
          </a:bodyPr>
          <a:lstStyle/>
          <a:p>
            <a:pPr marL="12700" marR="1400810">
              <a:lnSpc>
                <a:spcPct val="131700"/>
              </a:lnSpc>
              <a:spcBef>
                <a:spcPts val="100"/>
              </a:spcBef>
            </a:pPr>
            <a:r>
              <a:rPr sz="2400" dirty="0">
                <a:solidFill>
                  <a:srgbClr val="FFFFFF"/>
                </a:solidFill>
                <a:latin typeface="Cambria"/>
                <a:cs typeface="Cambria"/>
              </a:rPr>
              <a:t>Optimization</a:t>
            </a:r>
            <a:r>
              <a:rPr sz="2400" spc="-35" dirty="0">
                <a:solidFill>
                  <a:srgbClr val="FFFFFF"/>
                </a:solidFill>
                <a:latin typeface="Cambria"/>
                <a:cs typeface="Cambria"/>
              </a:rPr>
              <a:t> </a:t>
            </a:r>
            <a:r>
              <a:rPr sz="2400" spc="-10" dirty="0">
                <a:solidFill>
                  <a:srgbClr val="FFFFFF"/>
                </a:solidFill>
                <a:latin typeface="Cambria"/>
                <a:cs typeface="Cambria"/>
              </a:rPr>
              <a:t>Techniques </a:t>
            </a:r>
            <a:r>
              <a:rPr sz="2400" dirty="0">
                <a:solidFill>
                  <a:srgbClr val="FFFFFF"/>
                </a:solidFill>
                <a:latin typeface="Cambria"/>
                <a:cs typeface="Cambria"/>
              </a:rPr>
              <a:t>Peephole</a:t>
            </a:r>
            <a:r>
              <a:rPr sz="2400" spc="-110" dirty="0">
                <a:solidFill>
                  <a:srgbClr val="FFFFFF"/>
                </a:solidFill>
                <a:latin typeface="Cambria"/>
                <a:cs typeface="Cambria"/>
              </a:rPr>
              <a:t> </a:t>
            </a:r>
            <a:r>
              <a:rPr sz="2400" spc="-10" dirty="0">
                <a:solidFill>
                  <a:srgbClr val="FFFFFF"/>
                </a:solidFill>
                <a:latin typeface="Cambria"/>
                <a:cs typeface="Cambria"/>
              </a:rPr>
              <a:t>Optimization </a:t>
            </a:r>
            <a:r>
              <a:rPr sz="2400" dirty="0">
                <a:solidFill>
                  <a:srgbClr val="FFFFFF"/>
                </a:solidFill>
                <a:latin typeface="Cambria"/>
                <a:cs typeface="Cambria"/>
              </a:rPr>
              <a:t>Global</a:t>
            </a:r>
            <a:r>
              <a:rPr sz="2400" spc="-60" dirty="0">
                <a:solidFill>
                  <a:srgbClr val="FFFFFF"/>
                </a:solidFill>
                <a:latin typeface="Cambria"/>
                <a:cs typeface="Cambria"/>
              </a:rPr>
              <a:t> </a:t>
            </a:r>
            <a:r>
              <a:rPr sz="2400" dirty="0">
                <a:solidFill>
                  <a:srgbClr val="FFFFFF"/>
                </a:solidFill>
                <a:latin typeface="Cambria"/>
                <a:cs typeface="Cambria"/>
              </a:rPr>
              <a:t>Data</a:t>
            </a:r>
            <a:r>
              <a:rPr sz="2400" spc="-50" dirty="0">
                <a:solidFill>
                  <a:srgbClr val="FFFFFF"/>
                </a:solidFill>
                <a:latin typeface="Cambria"/>
                <a:cs typeface="Cambria"/>
              </a:rPr>
              <a:t> </a:t>
            </a:r>
            <a:r>
              <a:rPr sz="2400" dirty="0">
                <a:solidFill>
                  <a:srgbClr val="FFFFFF"/>
                </a:solidFill>
                <a:latin typeface="Cambria"/>
                <a:cs typeface="Cambria"/>
              </a:rPr>
              <a:t>Flow</a:t>
            </a:r>
            <a:r>
              <a:rPr sz="2400" spc="-35" dirty="0">
                <a:solidFill>
                  <a:srgbClr val="FFFFFF"/>
                </a:solidFill>
                <a:latin typeface="Cambria"/>
                <a:cs typeface="Cambria"/>
              </a:rPr>
              <a:t> </a:t>
            </a:r>
            <a:r>
              <a:rPr sz="2400" spc="-10" dirty="0">
                <a:solidFill>
                  <a:srgbClr val="FFFFFF"/>
                </a:solidFill>
                <a:latin typeface="Cambria"/>
                <a:cs typeface="Cambria"/>
              </a:rPr>
              <a:t>Analysis</a:t>
            </a:r>
            <a:endParaRPr sz="2400">
              <a:latin typeface="Cambria"/>
              <a:cs typeface="Cambria"/>
            </a:endParaRPr>
          </a:p>
          <a:p>
            <a:pPr marL="12700" marR="5080">
              <a:lnSpc>
                <a:spcPct val="131700"/>
              </a:lnSpc>
            </a:pPr>
            <a:r>
              <a:rPr sz="2400" dirty="0">
                <a:solidFill>
                  <a:srgbClr val="FFFFFF"/>
                </a:solidFill>
                <a:latin typeface="Cambria"/>
                <a:cs typeface="Cambria"/>
              </a:rPr>
              <a:t>Issues</a:t>
            </a:r>
            <a:r>
              <a:rPr sz="2400" spc="-25" dirty="0">
                <a:solidFill>
                  <a:srgbClr val="FFFFFF"/>
                </a:solidFill>
                <a:latin typeface="Cambria"/>
                <a:cs typeface="Cambria"/>
              </a:rPr>
              <a:t> </a:t>
            </a:r>
            <a:r>
              <a:rPr sz="2400" dirty="0">
                <a:solidFill>
                  <a:srgbClr val="FFFFFF"/>
                </a:solidFill>
                <a:latin typeface="Cambria"/>
                <a:cs typeface="Cambria"/>
              </a:rPr>
              <a:t>in</a:t>
            </a:r>
            <a:r>
              <a:rPr sz="2400" spc="-45" dirty="0">
                <a:solidFill>
                  <a:srgbClr val="FFFFFF"/>
                </a:solidFill>
                <a:latin typeface="Cambria"/>
                <a:cs typeface="Cambria"/>
              </a:rPr>
              <a:t> </a:t>
            </a:r>
            <a:r>
              <a:rPr sz="2400" dirty="0">
                <a:solidFill>
                  <a:srgbClr val="FFFFFF"/>
                </a:solidFill>
                <a:latin typeface="Cambria"/>
                <a:cs typeface="Cambria"/>
              </a:rPr>
              <a:t>design</a:t>
            </a:r>
            <a:r>
              <a:rPr sz="2400" spc="-25" dirty="0">
                <a:solidFill>
                  <a:srgbClr val="FFFFFF"/>
                </a:solidFill>
                <a:latin typeface="Cambria"/>
                <a:cs typeface="Cambria"/>
              </a:rPr>
              <a:t> </a:t>
            </a:r>
            <a:r>
              <a:rPr sz="2400" dirty="0">
                <a:solidFill>
                  <a:srgbClr val="FFFFFF"/>
                </a:solidFill>
                <a:latin typeface="Cambria"/>
                <a:cs typeface="Cambria"/>
              </a:rPr>
              <a:t>of</a:t>
            </a:r>
            <a:r>
              <a:rPr sz="2400" spc="-30" dirty="0">
                <a:solidFill>
                  <a:srgbClr val="FFFFFF"/>
                </a:solidFill>
                <a:latin typeface="Cambria"/>
                <a:cs typeface="Cambria"/>
              </a:rPr>
              <a:t> </a:t>
            </a:r>
            <a:r>
              <a:rPr sz="2400" dirty="0">
                <a:solidFill>
                  <a:srgbClr val="FFFFFF"/>
                </a:solidFill>
                <a:latin typeface="Cambria"/>
                <a:cs typeface="Cambria"/>
              </a:rPr>
              <a:t>Code</a:t>
            </a:r>
            <a:r>
              <a:rPr sz="2400" spc="-25" dirty="0">
                <a:solidFill>
                  <a:srgbClr val="FFFFFF"/>
                </a:solidFill>
                <a:latin typeface="Cambria"/>
                <a:cs typeface="Cambria"/>
              </a:rPr>
              <a:t> </a:t>
            </a:r>
            <a:r>
              <a:rPr sz="2400" spc="-10" dirty="0">
                <a:solidFill>
                  <a:srgbClr val="FFFFFF"/>
                </a:solidFill>
                <a:latin typeface="Cambria"/>
                <a:cs typeface="Cambria"/>
              </a:rPr>
              <a:t>generators </a:t>
            </a:r>
            <a:r>
              <a:rPr sz="2400" dirty="0">
                <a:solidFill>
                  <a:srgbClr val="FFFFFF"/>
                </a:solidFill>
                <a:latin typeface="Cambria"/>
                <a:cs typeface="Cambria"/>
              </a:rPr>
              <a:t>Basic</a:t>
            </a:r>
            <a:r>
              <a:rPr sz="2400" spc="-50" dirty="0">
                <a:solidFill>
                  <a:srgbClr val="FFFFFF"/>
                </a:solidFill>
                <a:latin typeface="Cambria"/>
                <a:cs typeface="Cambria"/>
              </a:rPr>
              <a:t> </a:t>
            </a:r>
            <a:r>
              <a:rPr sz="2400" dirty="0">
                <a:solidFill>
                  <a:srgbClr val="FFFFFF"/>
                </a:solidFill>
                <a:latin typeface="Cambria"/>
                <a:cs typeface="Cambria"/>
              </a:rPr>
              <a:t>Block</a:t>
            </a:r>
            <a:r>
              <a:rPr sz="2400" spc="-30" dirty="0">
                <a:solidFill>
                  <a:srgbClr val="FFFFFF"/>
                </a:solidFill>
                <a:latin typeface="Cambria"/>
                <a:cs typeface="Cambria"/>
              </a:rPr>
              <a:t> </a:t>
            </a:r>
            <a:r>
              <a:rPr sz="2400" dirty="0">
                <a:solidFill>
                  <a:srgbClr val="FFFFFF"/>
                </a:solidFill>
                <a:latin typeface="Cambria"/>
                <a:cs typeface="Cambria"/>
              </a:rPr>
              <a:t>and</a:t>
            </a:r>
            <a:r>
              <a:rPr sz="2400" spc="-50" dirty="0">
                <a:solidFill>
                  <a:srgbClr val="FFFFFF"/>
                </a:solidFill>
                <a:latin typeface="Cambria"/>
                <a:cs typeface="Cambria"/>
              </a:rPr>
              <a:t> </a:t>
            </a:r>
            <a:r>
              <a:rPr sz="2400" dirty="0">
                <a:solidFill>
                  <a:srgbClr val="FFFFFF"/>
                </a:solidFill>
                <a:latin typeface="Cambria"/>
                <a:cs typeface="Cambria"/>
              </a:rPr>
              <a:t>Flow</a:t>
            </a:r>
            <a:r>
              <a:rPr sz="2400" spc="-30" dirty="0">
                <a:solidFill>
                  <a:srgbClr val="FFFFFF"/>
                </a:solidFill>
                <a:latin typeface="Cambria"/>
                <a:cs typeface="Cambria"/>
              </a:rPr>
              <a:t> </a:t>
            </a:r>
            <a:r>
              <a:rPr sz="2400" spc="-10" dirty="0">
                <a:solidFill>
                  <a:srgbClr val="FFFFFF"/>
                </a:solidFill>
                <a:latin typeface="Cambria"/>
                <a:cs typeface="Cambria"/>
              </a:rPr>
              <a:t>Graphs </a:t>
            </a:r>
            <a:r>
              <a:rPr sz="2400" dirty="0">
                <a:solidFill>
                  <a:srgbClr val="FFFFFF"/>
                </a:solidFill>
                <a:latin typeface="Cambria"/>
                <a:cs typeface="Cambria"/>
              </a:rPr>
              <a:t>Register</a:t>
            </a:r>
            <a:r>
              <a:rPr sz="2400" spc="-75" dirty="0">
                <a:solidFill>
                  <a:srgbClr val="FFFFFF"/>
                </a:solidFill>
                <a:latin typeface="Cambria"/>
                <a:cs typeface="Cambria"/>
              </a:rPr>
              <a:t> </a:t>
            </a:r>
            <a:r>
              <a:rPr sz="2400" dirty="0">
                <a:solidFill>
                  <a:srgbClr val="FFFFFF"/>
                </a:solidFill>
                <a:latin typeface="Cambria"/>
                <a:cs typeface="Cambria"/>
              </a:rPr>
              <a:t>Allocation</a:t>
            </a:r>
            <a:r>
              <a:rPr sz="2400" spc="-75" dirty="0">
                <a:solidFill>
                  <a:srgbClr val="FFFFFF"/>
                </a:solidFill>
                <a:latin typeface="Cambria"/>
                <a:cs typeface="Cambria"/>
              </a:rPr>
              <a:t> </a:t>
            </a:r>
            <a:r>
              <a:rPr sz="2400" dirty="0">
                <a:solidFill>
                  <a:srgbClr val="FFFFFF"/>
                </a:solidFill>
                <a:latin typeface="Cambria"/>
                <a:cs typeface="Cambria"/>
              </a:rPr>
              <a:t>and</a:t>
            </a:r>
            <a:r>
              <a:rPr sz="2400" spc="-70" dirty="0">
                <a:solidFill>
                  <a:srgbClr val="FFFFFF"/>
                </a:solidFill>
                <a:latin typeface="Cambria"/>
                <a:cs typeface="Cambria"/>
              </a:rPr>
              <a:t> </a:t>
            </a:r>
            <a:r>
              <a:rPr sz="2400" spc="-10" dirty="0">
                <a:solidFill>
                  <a:srgbClr val="FFFFFF"/>
                </a:solidFill>
                <a:latin typeface="Cambria"/>
                <a:cs typeface="Cambria"/>
              </a:rPr>
              <a:t>Assignments </a:t>
            </a:r>
            <a:r>
              <a:rPr sz="2400" dirty="0">
                <a:solidFill>
                  <a:srgbClr val="FFFFFF"/>
                </a:solidFill>
                <a:latin typeface="Cambria"/>
                <a:cs typeface="Cambria"/>
              </a:rPr>
              <a:t>DAG</a:t>
            </a:r>
            <a:r>
              <a:rPr sz="2400" spc="-40" dirty="0">
                <a:solidFill>
                  <a:srgbClr val="FFFFFF"/>
                </a:solidFill>
                <a:latin typeface="Cambria"/>
                <a:cs typeface="Cambria"/>
              </a:rPr>
              <a:t> </a:t>
            </a:r>
            <a:r>
              <a:rPr sz="2400" spc="-10" dirty="0">
                <a:solidFill>
                  <a:srgbClr val="FFFFFF"/>
                </a:solidFill>
                <a:latin typeface="Cambria"/>
                <a:cs typeface="Cambria"/>
              </a:rPr>
              <a:t>Representation</a:t>
            </a:r>
            <a:r>
              <a:rPr sz="2400" spc="-55" dirty="0">
                <a:solidFill>
                  <a:srgbClr val="FFFFFF"/>
                </a:solidFill>
                <a:latin typeface="Cambria"/>
                <a:cs typeface="Cambria"/>
              </a:rPr>
              <a:t> </a:t>
            </a:r>
            <a:r>
              <a:rPr sz="2400" dirty="0">
                <a:solidFill>
                  <a:srgbClr val="FFFFFF"/>
                </a:solidFill>
                <a:latin typeface="Cambria"/>
                <a:cs typeface="Cambria"/>
              </a:rPr>
              <a:t>of</a:t>
            </a:r>
            <a:r>
              <a:rPr sz="2400" spc="-40" dirty="0">
                <a:solidFill>
                  <a:srgbClr val="FFFFFF"/>
                </a:solidFill>
                <a:latin typeface="Cambria"/>
                <a:cs typeface="Cambria"/>
              </a:rPr>
              <a:t> </a:t>
            </a:r>
            <a:r>
              <a:rPr sz="2400" dirty="0">
                <a:solidFill>
                  <a:srgbClr val="FFFFFF"/>
                </a:solidFill>
                <a:latin typeface="Cambria"/>
                <a:cs typeface="Cambria"/>
              </a:rPr>
              <a:t>Basic</a:t>
            </a:r>
            <a:r>
              <a:rPr sz="2400" spc="-40" dirty="0">
                <a:solidFill>
                  <a:srgbClr val="FFFFFF"/>
                </a:solidFill>
                <a:latin typeface="Cambria"/>
                <a:cs typeface="Cambria"/>
              </a:rPr>
              <a:t> </a:t>
            </a:r>
            <a:r>
              <a:rPr sz="2400" spc="-10" dirty="0">
                <a:solidFill>
                  <a:srgbClr val="FFFFFF"/>
                </a:solidFill>
                <a:latin typeface="Cambria"/>
                <a:cs typeface="Cambria"/>
              </a:rPr>
              <a:t>Block</a:t>
            </a:r>
            <a:endParaRPr sz="2400">
              <a:latin typeface="Cambria"/>
              <a:cs typeface="Cambria"/>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B080CF0-0AC6-C8CD-72A6-CD53245EA422}"/>
                  </a:ext>
                </a:extLst>
              </p14:cNvPr>
              <p14:cNvContentPartPr/>
              <p14:nvPr/>
            </p14:nvContentPartPr>
            <p14:xfrm>
              <a:off x="-2201696" y="2238226"/>
              <a:ext cx="9720" cy="3240"/>
            </p14:xfrm>
          </p:contentPart>
        </mc:Choice>
        <mc:Fallback xmlns="">
          <p:pic>
            <p:nvPicPr>
              <p:cNvPr id="3" name="Ink 2">
                <a:extLst>
                  <a:ext uri="{FF2B5EF4-FFF2-40B4-BE49-F238E27FC236}">
                    <a16:creationId xmlns:a16="http://schemas.microsoft.com/office/drawing/2014/main" id="{4B080CF0-0AC6-C8CD-72A6-CD53245EA422}"/>
                  </a:ext>
                </a:extLst>
              </p:cNvPr>
              <p:cNvPicPr/>
              <p:nvPr/>
            </p:nvPicPr>
            <p:blipFill>
              <a:blip r:embed="rId4"/>
              <a:stretch>
                <a:fillRect/>
              </a:stretch>
            </p:blipFill>
            <p:spPr>
              <a:xfrm>
                <a:off x="-2207816" y="2232106"/>
                <a:ext cx="219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EBC5927-BA03-194C-5C7A-0F233D545FB6}"/>
                  </a:ext>
                </a:extLst>
              </p14:cNvPr>
              <p14:cNvContentPartPr/>
              <p14:nvPr/>
            </p14:nvContentPartPr>
            <p14:xfrm>
              <a:off x="-2084336" y="3868306"/>
              <a:ext cx="50040" cy="72360"/>
            </p14:xfrm>
          </p:contentPart>
        </mc:Choice>
        <mc:Fallback xmlns="">
          <p:pic>
            <p:nvPicPr>
              <p:cNvPr id="7" name="Ink 6">
                <a:extLst>
                  <a:ext uri="{FF2B5EF4-FFF2-40B4-BE49-F238E27FC236}">
                    <a16:creationId xmlns:a16="http://schemas.microsoft.com/office/drawing/2014/main" id="{3EBC5927-BA03-194C-5C7A-0F233D545FB6}"/>
                  </a:ext>
                </a:extLst>
              </p:cNvPr>
              <p:cNvPicPr/>
              <p:nvPr/>
            </p:nvPicPr>
            <p:blipFill>
              <a:blip r:embed="rId6"/>
              <a:stretch>
                <a:fillRect/>
              </a:stretch>
            </p:blipFill>
            <p:spPr>
              <a:xfrm>
                <a:off x="-2090456" y="3862186"/>
                <a:ext cx="622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07FB5EA-252A-31A9-D790-CEE050C6FA39}"/>
                  </a:ext>
                </a:extLst>
              </p14:cNvPr>
              <p14:cNvContentPartPr/>
              <p14:nvPr/>
            </p14:nvContentPartPr>
            <p14:xfrm>
              <a:off x="-2212496" y="4052986"/>
              <a:ext cx="36360" cy="28080"/>
            </p14:xfrm>
          </p:contentPart>
        </mc:Choice>
        <mc:Fallback xmlns="">
          <p:pic>
            <p:nvPicPr>
              <p:cNvPr id="8" name="Ink 7">
                <a:extLst>
                  <a:ext uri="{FF2B5EF4-FFF2-40B4-BE49-F238E27FC236}">
                    <a16:creationId xmlns:a16="http://schemas.microsoft.com/office/drawing/2014/main" id="{807FB5EA-252A-31A9-D790-CEE050C6FA39}"/>
                  </a:ext>
                </a:extLst>
              </p:cNvPr>
              <p:cNvPicPr/>
              <p:nvPr/>
            </p:nvPicPr>
            <p:blipFill>
              <a:blip r:embed="rId8"/>
              <a:stretch>
                <a:fillRect/>
              </a:stretch>
            </p:blipFill>
            <p:spPr>
              <a:xfrm>
                <a:off x="-2218616" y="4046866"/>
                <a:ext cx="48600" cy="403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410845">
              <a:lnSpc>
                <a:spcPts val="3890"/>
              </a:lnSpc>
            </a:pPr>
            <a:r>
              <a:rPr sz="3600" b="1" spc="-60" dirty="0">
                <a:solidFill>
                  <a:srgbClr val="FFFFFF"/>
                </a:solidFill>
                <a:latin typeface="Cambria"/>
                <a:cs typeface="Cambria"/>
              </a:rPr>
              <a:t>What</a:t>
            </a:r>
            <a:r>
              <a:rPr sz="3600" b="1" spc="-135" dirty="0">
                <a:solidFill>
                  <a:srgbClr val="FFFFFF"/>
                </a:solidFill>
                <a:latin typeface="Cambria"/>
                <a:cs typeface="Cambria"/>
              </a:rPr>
              <a:t> </a:t>
            </a:r>
            <a:r>
              <a:rPr sz="3600" b="1" spc="-25" dirty="0">
                <a:solidFill>
                  <a:srgbClr val="FFFFFF"/>
                </a:solidFill>
                <a:latin typeface="Cambria"/>
                <a:cs typeface="Cambria"/>
              </a:rPr>
              <a:t>is </a:t>
            </a:r>
            <a:r>
              <a:rPr sz="3600" b="1" spc="-65" dirty="0">
                <a:solidFill>
                  <a:srgbClr val="FFFFFF"/>
                </a:solidFill>
                <a:latin typeface="Cambria"/>
                <a:cs typeface="Cambria"/>
              </a:rPr>
              <a:t>Optimization</a:t>
            </a:r>
            <a:endParaRPr sz="3600">
              <a:latin typeface="Cambria"/>
              <a:cs typeface="Cambria"/>
            </a:endParaRPr>
          </a:p>
        </p:txBody>
      </p:sp>
      <p:sp>
        <p:nvSpPr>
          <p:cNvPr id="3" name="object 3"/>
          <p:cNvSpPr txBox="1">
            <a:spLocks noGrp="1"/>
          </p:cNvSpPr>
          <p:nvPr>
            <p:ph type="title"/>
          </p:nvPr>
        </p:nvSpPr>
        <p:spPr>
          <a:xfrm>
            <a:off x="3553714" y="691641"/>
            <a:ext cx="7800340" cy="1050290"/>
          </a:xfrm>
          <a:prstGeom prst="rect">
            <a:avLst/>
          </a:prstGeom>
        </p:spPr>
        <p:txBody>
          <a:bodyPr vert="horz" wrap="square" lIns="0" tIns="48895" rIns="0" bIns="0" rtlCol="0">
            <a:spAutoFit/>
          </a:bodyPr>
          <a:lstStyle/>
          <a:p>
            <a:pPr marL="195580" marR="5080" indent="-182880" algn="just">
              <a:lnSpc>
                <a:spcPct val="90100"/>
              </a:lnSpc>
              <a:spcBef>
                <a:spcPts val="385"/>
              </a:spcBef>
            </a:pPr>
            <a:r>
              <a:rPr spc="-1250" dirty="0">
                <a:solidFill>
                  <a:srgbClr val="40B9D2"/>
                </a:solidFill>
                <a:latin typeface="Arial MT"/>
                <a:cs typeface="Arial MT"/>
              </a:rPr>
              <a:t>🞄</a:t>
            </a:r>
            <a:r>
              <a:rPr spc="-95" dirty="0">
                <a:solidFill>
                  <a:srgbClr val="40B9D2"/>
                </a:solidFill>
                <a:latin typeface="Arial MT"/>
                <a:cs typeface="Arial MT"/>
              </a:rPr>
              <a:t> </a:t>
            </a:r>
            <a:r>
              <a:rPr spc="-5" dirty="0"/>
              <a:t>Op</a:t>
            </a:r>
            <a:r>
              <a:rPr dirty="0"/>
              <a:t>t</a:t>
            </a:r>
            <a:r>
              <a:rPr spc="-5" dirty="0"/>
              <a:t>i</a:t>
            </a:r>
            <a:r>
              <a:rPr spc="-15" dirty="0"/>
              <a:t>m</a:t>
            </a:r>
            <a:r>
              <a:rPr spc="-5" dirty="0"/>
              <a:t>iz</a:t>
            </a:r>
            <a:r>
              <a:rPr spc="5" dirty="0"/>
              <a:t>a</a:t>
            </a:r>
            <a:r>
              <a:rPr dirty="0"/>
              <a:t>ti</a:t>
            </a:r>
            <a:r>
              <a:rPr spc="-20" dirty="0"/>
              <a:t>o</a:t>
            </a:r>
            <a:r>
              <a:rPr dirty="0"/>
              <a:t>n</a:t>
            </a:r>
            <a:r>
              <a:rPr spc="655" dirty="0"/>
              <a:t> </a:t>
            </a:r>
            <a:r>
              <a:rPr spc="-10" dirty="0"/>
              <a:t>is</a:t>
            </a:r>
            <a:r>
              <a:rPr spc="640" dirty="0"/>
              <a:t> </a:t>
            </a:r>
            <a:r>
              <a:rPr spc="-15" dirty="0"/>
              <a:t>the</a:t>
            </a:r>
            <a:r>
              <a:rPr spc="655" dirty="0"/>
              <a:t> </a:t>
            </a:r>
            <a:r>
              <a:rPr spc="-15" dirty="0"/>
              <a:t>process</a:t>
            </a:r>
            <a:r>
              <a:rPr spc="655" dirty="0"/>
              <a:t> </a:t>
            </a:r>
            <a:r>
              <a:rPr spc="-5" dirty="0"/>
              <a:t>o</a:t>
            </a:r>
            <a:r>
              <a:rPr dirty="0"/>
              <a:t>f</a:t>
            </a:r>
            <a:r>
              <a:rPr spc="660" dirty="0"/>
              <a:t> </a:t>
            </a:r>
            <a:r>
              <a:rPr spc="-15" dirty="0"/>
              <a:t>transforming</a:t>
            </a:r>
            <a:r>
              <a:rPr spc="650" dirty="0"/>
              <a:t> </a:t>
            </a:r>
            <a:r>
              <a:rPr spc="-15" dirty="0"/>
              <a:t>a</a:t>
            </a:r>
            <a:r>
              <a:rPr spc="660" dirty="0"/>
              <a:t> </a:t>
            </a:r>
            <a:r>
              <a:rPr spc="-10" dirty="0"/>
              <a:t>piece</a:t>
            </a:r>
            <a:r>
              <a:rPr spc="660" dirty="0"/>
              <a:t> </a:t>
            </a:r>
            <a:r>
              <a:rPr spc="-90" dirty="0"/>
              <a:t>of</a:t>
            </a:r>
            <a:r>
              <a:rPr spc="-15" dirty="0"/>
              <a:t> code</a:t>
            </a:r>
            <a:r>
              <a:rPr spc="300" dirty="0"/>
              <a:t> </a:t>
            </a:r>
            <a:r>
              <a:rPr spc="-20" dirty="0"/>
              <a:t>t</a:t>
            </a:r>
            <a:r>
              <a:rPr dirty="0"/>
              <a:t>o</a:t>
            </a:r>
            <a:r>
              <a:rPr spc="290" dirty="0"/>
              <a:t> </a:t>
            </a:r>
            <a:r>
              <a:rPr spc="-25" dirty="0"/>
              <a:t>make</a:t>
            </a:r>
            <a:r>
              <a:rPr spc="300" dirty="0"/>
              <a:t> </a:t>
            </a:r>
            <a:r>
              <a:rPr spc="-25" dirty="0"/>
              <a:t>more</a:t>
            </a:r>
            <a:r>
              <a:rPr spc="285" dirty="0"/>
              <a:t> </a:t>
            </a:r>
            <a:r>
              <a:rPr dirty="0"/>
              <a:t>ef</a:t>
            </a:r>
            <a:r>
              <a:rPr spc="-15" dirty="0"/>
              <a:t>f</a:t>
            </a:r>
            <a:r>
              <a:rPr spc="-5" dirty="0"/>
              <a:t>icien</a:t>
            </a:r>
            <a:r>
              <a:rPr dirty="0"/>
              <a:t>t</a:t>
            </a:r>
            <a:r>
              <a:rPr spc="1115" dirty="0"/>
              <a:t> </a:t>
            </a:r>
            <a:r>
              <a:rPr spc="-20" dirty="0"/>
              <a:t>(</a:t>
            </a:r>
            <a:r>
              <a:rPr spc="-10" dirty="0"/>
              <a:t>i</a:t>
            </a:r>
            <a:r>
              <a:rPr dirty="0"/>
              <a:t>n</a:t>
            </a:r>
            <a:r>
              <a:rPr spc="295" dirty="0"/>
              <a:t> </a:t>
            </a:r>
            <a:r>
              <a:rPr spc="-20" dirty="0"/>
              <a:t>terms</a:t>
            </a:r>
            <a:r>
              <a:rPr spc="290" dirty="0"/>
              <a:t> </a:t>
            </a:r>
            <a:r>
              <a:rPr spc="-5" dirty="0"/>
              <a:t>o</a:t>
            </a:r>
            <a:r>
              <a:rPr dirty="0"/>
              <a:t>f</a:t>
            </a:r>
            <a:r>
              <a:rPr spc="285" dirty="0"/>
              <a:t> </a:t>
            </a:r>
            <a:r>
              <a:rPr spc="-15" dirty="0"/>
              <a:t>time</a:t>
            </a:r>
            <a:r>
              <a:rPr spc="290" dirty="0"/>
              <a:t> </a:t>
            </a:r>
            <a:r>
              <a:rPr spc="-5" dirty="0"/>
              <a:t>o</a:t>
            </a:r>
            <a:r>
              <a:rPr dirty="0"/>
              <a:t>r</a:t>
            </a:r>
            <a:r>
              <a:rPr spc="295" dirty="0"/>
              <a:t> </a:t>
            </a:r>
            <a:r>
              <a:rPr spc="-15" dirty="0"/>
              <a:t>space)</a:t>
            </a:r>
            <a:r>
              <a:rPr spc="-10" dirty="0"/>
              <a:t> without</a:t>
            </a:r>
            <a:r>
              <a:rPr spc="5" dirty="0"/>
              <a:t> </a:t>
            </a:r>
            <a:r>
              <a:rPr spc="-10" dirty="0"/>
              <a:t>changing</a:t>
            </a:r>
            <a:r>
              <a:rPr spc="-15" dirty="0"/>
              <a:t> </a:t>
            </a:r>
            <a:r>
              <a:rPr spc="-5" dirty="0"/>
              <a:t>its</a:t>
            </a:r>
            <a:r>
              <a:rPr spc="-15" dirty="0"/>
              <a:t> </a:t>
            </a:r>
            <a:r>
              <a:rPr spc="-20" dirty="0"/>
              <a:t>output</a:t>
            </a:r>
            <a:r>
              <a:rPr spc="15" dirty="0"/>
              <a:t> </a:t>
            </a:r>
            <a:r>
              <a:rPr spc="-5" dirty="0"/>
              <a:t>o</a:t>
            </a:r>
            <a:r>
              <a:rPr dirty="0"/>
              <a:t>r</a:t>
            </a:r>
            <a:r>
              <a:rPr spc="-10" dirty="0"/>
              <a:t> side-effects.</a:t>
            </a:r>
          </a:p>
        </p:txBody>
      </p:sp>
      <p:sp>
        <p:nvSpPr>
          <p:cNvPr id="4" name="object 4"/>
          <p:cNvSpPr txBox="1"/>
          <p:nvPr/>
        </p:nvSpPr>
        <p:spPr>
          <a:xfrm>
            <a:off x="3657600" y="2301303"/>
            <a:ext cx="7800340" cy="720725"/>
          </a:xfrm>
          <a:prstGeom prst="rect">
            <a:avLst/>
          </a:prstGeom>
        </p:spPr>
        <p:txBody>
          <a:bodyPr vert="horz" wrap="square" lIns="0" tIns="53975" rIns="0" bIns="0" rtlCol="0">
            <a:spAutoFit/>
          </a:bodyPr>
          <a:lstStyle/>
          <a:p>
            <a:pPr marL="195580" marR="5080" indent="-182880">
              <a:lnSpc>
                <a:spcPts val="2590"/>
              </a:lnSpc>
              <a:spcBef>
                <a:spcPts val="425"/>
              </a:spcBef>
              <a:tabLst>
                <a:tab pos="1009015" algn="l"/>
                <a:tab pos="1672589" algn="l"/>
                <a:tab pos="2429510" algn="l"/>
                <a:tab pos="2901950" algn="l"/>
                <a:tab pos="3542029" algn="l"/>
                <a:tab pos="4277360" algn="l"/>
                <a:tab pos="5101590" algn="l"/>
                <a:tab pos="5906135" algn="l"/>
                <a:tab pos="686244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0" dirty="0">
                <a:latin typeface="Cambria"/>
                <a:cs typeface="Cambria"/>
              </a:rPr>
              <a:t>User</a:t>
            </a:r>
            <a:r>
              <a:rPr sz="2400" dirty="0">
                <a:latin typeface="Cambria"/>
                <a:cs typeface="Cambria"/>
              </a:rPr>
              <a:t>	</a:t>
            </a:r>
            <a:r>
              <a:rPr sz="2400" spc="-25" dirty="0">
                <a:latin typeface="Cambria"/>
                <a:cs typeface="Cambria"/>
              </a:rPr>
              <a:t>can</a:t>
            </a:r>
            <a:r>
              <a:rPr sz="2400" dirty="0">
                <a:latin typeface="Cambria"/>
                <a:cs typeface="Cambria"/>
              </a:rPr>
              <a:t>	</a:t>
            </a:r>
            <a:r>
              <a:rPr sz="2400" spc="-20" dirty="0">
                <a:latin typeface="Cambria"/>
                <a:cs typeface="Cambria"/>
              </a:rPr>
              <a:t>able</a:t>
            </a:r>
            <a:r>
              <a:rPr sz="2400" dirty="0">
                <a:latin typeface="Cambria"/>
                <a:cs typeface="Cambria"/>
              </a:rPr>
              <a:t>	</a:t>
            </a:r>
            <a:r>
              <a:rPr sz="2400" spc="-25" dirty="0">
                <a:latin typeface="Cambria"/>
                <a:cs typeface="Cambria"/>
              </a:rPr>
              <a:t>to</a:t>
            </a:r>
            <a:r>
              <a:rPr sz="2400" dirty="0">
                <a:latin typeface="Cambria"/>
                <a:cs typeface="Cambria"/>
              </a:rPr>
              <a:t>	</a:t>
            </a:r>
            <a:r>
              <a:rPr sz="2400" spc="-25" dirty="0">
                <a:latin typeface="Cambria"/>
                <a:cs typeface="Cambria"/>
              </a:rPr>
              <a:t>see</a:t>
            </a:r>
            <a:r>
              <a:rPr sz="2400" dirty="0">
                <a:latin typeface="Cambria"/>
                <a:cs typeface="Cambria"/>
              </a:rPr>
              <a:t>	</a:t>
            </a:r>
            <a:r>
              <a:rPr sz="2400" spc="-20" dirty="0">
                <a:latin typeface="Cambria"/>
                <a:cs typeface="Cambria"/>
              </a:rPr>
              <a:t>that</a:t>
            </a:r>
            <a:r>
              <a:rPr sz="2400" dirty="0">
                <a:latin typeface="Cambria"/>
                <a:cs typeface="Cambria"/>
              </a:rPr>
              <a:t>	</a:t>
            </a:r>
            <a:r>
              <a:rPr sz="2400" spc="-20" dirty="0">
                <a:latin typeface="Cambria"/>
                <a:cs typeface="Cambria"/>
              </a:rPr>
              <a:t>code</a:t>
            </a:r>
            <a:r>
              <a:rPr sz="2400" dirty="0">
                <a:latin typeface="Cambria"/>
                <a:cs typeface="Cambria"/>
              </a:rPr>
              <a:t>	</a:t>
            </a:r>
            <a:r>
              <a:rPr sz="2400" spc="-20" dirty="0">
                <a:latin typeface="Cambria"/>
                <a:cs typeface="Cambria"/>
              </a:rPr>
              <a:t>runs</a:t>
            </a:r>
            <a:r>
              <a:rPr sz="2400" dirty="0">
                <a:latin typeface="Cambria"/>
                <a:cs typeface="Cambria"/>
              </a:rPr>
              <a:t>	</a:t>
            </a:r>
            <a:r>
              <a:rPr sz="2400" spc="-10" dirty="0">
                <a:latin typeface="Cambria"/>
                <a:cs typeface="Cambria"/>
              </a:rPr>
              <a:t>faster</a:t>
            </a:r>
            <a:r>
              <a:rPr sz="2400" dirty="0">
                <a:latin typeface="Cambria"/>
                <a:cs typeface="Cambria"/>
              </a:rPr>
              <a:t>	</a:t>
            </a:r>
            <a:r>
              <a:rPr sz="2400" spc="-10" dirty="0">
                <a:latin typeface="Cambria"/>
                <a:cs typeface="Cambria"/>
              </a:rPr>
              <a:t>and/or </a:t>
            </a:r>
            <a:r>
              <a:rPr sz="2400" dirty="0">
                <a:latin typeface="Cambria"/>
                <a:cs typeface="Cambria"/>
              </a:rPr>
              <a:t>consumes</a:t>
            </a:r>
            <a:r>
              <a:rPr sz="2400" spc="-60" dirty="0">
                <a:latin typeface="Cambria"/>
                <a:cs typeface="Cambria"/>
              </a:rPr>
              <a:t> </a:t>
            </a:r>
            <a:r>
              <a:rPr sz="2400" dirty="0">
                <a:latin typeface="Cambria"/>
                <a:cs typeface="Cambria"/>
              </a:rPr>
              <a:t>less</a:t>
            </a:r>
            <a:r>
              <a:rPr sz="2400" spc="-80" dirty="0">
                <a:latin typeface="Cambria"/>
                <a:cs typeface="Cambria"/>
              </a:rPr>
              <a:t> </a:t>
            </a:r>
            <a:r>
              <a:rPr sz="2400" spc="-10" dirty="0">
                <a:latin typeface="Cambria"/>
                <a:cs typeface="Cambria"/>
              </a:rPr>
              <a:t>memory.</a:t>
            </a:r>
            <a:endParaRPr sz="2400" dirty="0">
              <a:latin typeface="Cambria"/>
              <a:cs typeface="Cambria"/>
            </a:endParaRPr>
          </a:p>
        </p:txBody>
      </p:sp>
      <p:sp>
        <p:nvSpPr>
          <p:cNvPr id="5" name="object 5"/>
          <p:cNvSpPr txBox="1"/>
          <p:nvPr/>
        </p:nvSpPr>
        <p:spPr>
          <a:xfrm>
            <a:off x="4114800" y="3581400"/>
            <a:ext cx="6261735" cy="1951989"/>
          </a:xfrm>
          <a:prstGeom prst="rect">
            <a:avLst/>
          </a:prstGeom>
        </p:spPr>
        <p:txBody>
          <a:bodyPr vert="horz" wrap="square" lIns="0" tIns="127635" rIns="0" bIns="0" rtlCol="0">
            <a:spAutoFit/>
          </a:bodyPr>
          <a:lstStyle/>
          <a:p>
            <a:pPr marL="12700">
              <a:lnSpc>
                <a:spcPct val="100000"/>
              </a:lnSpc>
              <a:spcBef>
                <a:spcPts val="1005"/>
              </a:spcBef>
            </a:pPr>
            <a:r>
              <a:rPr sz="2400" spc="-10" dirty="0">
                <a:latin typeface="Cambria"/>
                <a:cs typeface="Cambria"/>
              </a:rPr>
              <a:t>Advantages</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Optimized</a:t>
            </a:r>
            <a:r>
              <a:rPr sz="2400" spc="-100" dirty="0">
                <a:latin typeface="Cambria"/>
                <a:cs typeface="Cambria"/>
              </a:rPr>
              <a:t> </a:t>
            </a:r>
            <a:r>
              <a:rPr sz="2400" dirty="0">
                <a:latin typeface="Cambria"/>
                <a:cs typeface="Cambria"/>
              </a:rPr>
              <a:t>code</a:t>
            </a:r>
            <a:r>
              <a:rPr sz="2400" spc="-20" dirty="0">
                <a:latin typeface="Cambria"/>
                <a:cs typeface="Cambria"/>
              </a:rPr>
              <a:t> </a:t>
            </a:r>
            <a:r>
              <a:rPr sz="2400" dirty="0">
                <a:latin typeface="Cambria"/>
                <a:cs typeface="Cambria"/>
              </a:rPr>
              <a:t>has</a:t>
            </a:r>
            <a:r>
              <a:rPr sz="2400" spc="-30" dirty="0">
                <a:latin typeface="Cambria"/>
                <a:cs typeface="Cambria"/>
              </a:rPr>
              <a:t> </a:t>
            </a:r>
            <a:r>
              <a:rPr sz="2400" dirty="0">
                <a:latin typeface="Cambria"/>
                <a:cs typeface="Cambria"/>
              </a:rPr>
              <a:t>faster</a:t>
            </a:r>
            <a:r>
              <a:rPr sz="2400" spc="-50" dirty="0">
                <a:latin typeface="Cambria"/>
                <a:cs typeface="Cambria"/>
              </a:rPr>
              <a:t> </a:t>
            </a:r>
            <a:r>
              <a:rPr sz="2400" spc="-10" dirty="0">
                <a:latin typeface="Cambria"/>
                <a:cs typeface="Cambria"/>
              </a:rPr>
              <a:t>execution</a:t>
            </a:r>
            <a:r>
              <a:rPr sz="2400" spc="-60" dirty="0">
                <a:latin typeface="Cambria"/>
                <a:cs typeface="Cambria"/>
              </a:rPr>
              <a:t> </a:t>
            </a:r>
            <a:r>
              <a:rPr sz="2400" spc="-10" dirty="0">
                <a:latin typeface="Cambria"/>
                <a:cs typeface="Cambria"/>
              </a:rPr>
              <a:t>speed</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Optimized</a:t>
            </a:r>
            <a:r>
              <a:rPr sz="2400" spc="-90" dirty="0">
                <a:latin typeface="Cambria"/>
                <a:cs typeface="Cambria"/>
              </a:rPr>
              <a:t> </a:t>
            </a:r>
            <a:r>
              <a:rPr sz="2400" dirty="0">
                <a:latin typeface="Cambria"/>
                <a:cs typeface="Cambria"/>
              </a:rPr>
              <a:t>code</a:t>
            </a:r>
            <a:r>
              <a:rPr sz="2400" spc="-30" dirty="0">
                <a:latin typeface="Cambria"/>
                <a:cs typeface="Cambria"/>
              </a:rPr>
              <a:t> </a:t>
            </a:r>
            <a:r>
              <a:rPr sz="2400" dirty="0">
                <a:latin typeface="Cambria"/>
                <a:cs typeface="Cambria"/>
              </a:rPr>
              <a:t>utilizes</a:t>
            </a:r>
            <a:r>
              <a:rPr sz="2400" spc="-40"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memory</a:t>
            </a:r>
            <a:r>
              <a:rPr sz="2400" spc="-20" dirty="0">
                <a:latin typeface="Cambria"/>
                <a:cs typeface="Cambria"/>
              </a:rPr>
              <a:t> </a:t>
            </a:r>
            <a:r>
              <a:rPr sz="2400" spc="-10" dirty="0">
                <a:latin typeface="Cambria"/>
                <a:cs typeface="Cambria"/>
              </a:rPr>
              <a:t>efficiently</a:t>
            </a:r>
            <a:endParaRPr sz="2400" dirty="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Optimized</a:t>
            </a:r>
            <a:r>
              <a:rPr sz="2400" spc="-135" dirty="0">
                <a:latin typeface="Cambria"/>
                <a:cs typeface="Cambria"/>
              </a:rPr>
              <a:t> </a:t>
            </a:r>
            <a:r>
              <a:rPr sz="2400" dirty="0">
                <a:latin typeface="Cambria"/>
                <a:cs typeface="Cambria"/>
              </a:rPr>
              <a:t>code</a:t>
            </a:r>
            <a:r>
              <a:rPr sz="2400" spc="-50" dirty="0">
                <a:latin typeface="Cambria"/>
                <a:cs typeface="Cambria"/>
              </a:rPr>
              <a:t> </a:t>
            </a:r>
            <a:r>
              <a:rPr sz="2400" dirty="0">
                <a:latin typeface="Cambria"/>
                <a:cs typeface="Cambria"/>
              </a:rPr>
              <a:t>gives</a:t>
            </a:r>
            <a:r>
              <a:rPr sz="2400" spc="-50" dirty="0">
                <a:latin typeface="Cambria"/>
                <a:cs typeface="Cambria"/>
              </a:rPr>
              <a:t> </a:t>
            </a:r>
            <a:r>
              <a:rPr sz="2400" dirty="0">
                <a:latin typeface="Cambria"/>
                <a:cs typeface="Cambria"/>
              </a:rPr>
              <a:t>better</a:t>
            </a:r>
            <a:r>
              <a:rPr sz="2400" spc="-75" dirty="0">
                <a:latin typeface="Cambria"/>
                <a:cs typeface="Cambria"/>
              </a:rPr>
              <a:t> </a:t>
            </a:r>
            <a:r>
              <a:rPr sz="2400" spc="-10" dirty="0">
                <a:latin typeface="Cambria"/>
                <a:cs typeface="Cambria"/>
              </a:rPr>
              <a:t>performance</a:t>
            </a:r>
            <a:endParaRPr sz="2400" dirty="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2800" y="381000"/>
            <a:ext cx="8640960" cy="4401205"/>
          </a:xfrm>
          <a:prstGeom prst="rect">
            <a:avLst/>
          </a:prstGeom>
        </p:spPr>
        <p:txBody>
          <a:bodyPr wrap="square">
            <a:spAutoFit/>
          </a:bodyPr>
          <a:lstStyle/>
          <a:p>
            <a:r>
              <a:rPr lang="en-IN" sz="2800" b="1" u="sng" dirty="0">
                <a:latin typeface="Cambria" panose="02040503050406030204" pitchFamily="18" charset="0"/>
                <a:ea typeface="Cambria" panose="02040503050406030204" pitchFamily="18" charset="0"/>
              </a:rPr>
              <a:t>PRINCIPAL SOURCES OF OPTIMISATION</a:t>
            </a:r>
            <a:endParaRPr lang="en-IN" sz="2800" u="sng"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 </a:t>
            </a:r>
          </a:p>
          <a:p>
            <a:pPr algn="just"/>
            <a:r>
              <a:rPr lang="en-IN" sz="2800" dirty="0">
                <a:latin typeface="Cambria" panose="02040503050406030204" pitchFamily="18" charset="0"/>
                <a:ea typeface="Cambria" panose="02040503050406030204" pitchFamily="18" charset="0"/>
              </a:rPr>
              <a:t>A transformation of a program is called local if it can be performed by looking only at the statements in a basic block; otherwise, it is called global. </a:t>
            </a:r>
          </a:p>
          <a:p>
            <a:pPr algn="just"/>
            <a:endParaRPr lang="en-IN" sz="2800" dirty="0">
              <a:latin typeface="Cambria" panose="02040503050406030204" pitchFamily="18" charset="0"/>
              <a:ea typeface="Cambria" panose="02040503050406030204" pitchFamily="18" charset="0"/>
            </a:endParaRPr>
          </a:p>
          <a:p>
            <a:pPr algn="just"/>
            <a:r>
              <a:rPr lang="en-IN" sz="2800" dirty="0">
                <a:latin typeface="Cambria" panose="02040503050406030204" pitchFamily="18" charset="0"/>
                <a:ea typeface="Cambria" panose="02040503050406030204" pitchFamily="18" charset="0"/>
              </a:rPr>
              <a:t>Many transformations can be performed at both the local and global levels. </a:t>
            </a:r>
          </a:p>
          <a:p>
            <a:pPr algn="just"/>
            <a:endParaRPr lang="en-IN" sz="2800" dirty="0">
              <a:latin typeface="Cambria" panose="02040503050406030204" pitchFamily="18" charset="0"/>
              <a:ea typeface="Cambria" panose="02040503050406030204" pitchFamily="18" charset="0"/>
            </a:endParaRPr>
          </a:p>
          <a:p>
            <a:pPr algn="just"/>
            <a:r>
              <a:rPr lang="en-IN" sz="2800" dirty="0">
                <a:latin typeface="Cambria" panose="02040503050406030204" pitchFamily="18" charset="0"/>
                <a:ea typeface="Cambria" panose="02040503050406030204" pitchFamily="18" charset="0"/>
              </a:rPr>
              <a:t>Local transformations are usually performed first.</a:t>
            </a:r>
          </a:p>
        </p:txBody>
      </p:sp>
      <p:sp>
        <p:nvSpPr>
          <p:cNvPr id="4" name="object 2">
            <a:extLst>
              <a:ext uri="{FF2B5EF4-FFF2-40B4-BE49-F238E27FC236}">
                <a16:creationId xmlns:a16="http://schemas.microsoft.com/office/drawing/2014/main" id="{1E26D07F-3BA9-B522-ED91-F3F58B82F06A}"/>
              </a:ext>
            </a:extLst>
          </p:cNvPr>
          <p:cNvSpPr txBox="1">
            <a:spLocks noGrp="1"/>
          </p:cNvSpPr>
          <p:nvPr>
            <p:ph type="title"/>
          </p:nvPr>
        </p:nvSpPr>
        <p:spPr>
          <a:xfrm>
            <a:off x="0" y="758951"/>
            <a:ext cx="3429000" cy="5216813"/>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95"/>
              </a:spcBef>
            </a:pPr>
            <a:endParaRPr sz="3600" dirty="0">
              <a:latin typeface="Times New Roman"/>
              <a:cs typeface="Times New Roman"/>
            </a:endParaRPr>
          </a:p>
          <a:p>
            <a:pPr marL="344170" marR="410845">
              <a:lnSpc>
                <a:spcPts val="3779"/>
              </a:lnSpc>
            </a:pPr>
            <a:r>
              <a:rPr sz="3600" b="1" spc="-65" dirty="0">
                <a:solidFill>
                  <a:srgbClr val="FFFFFF"/>
                </a:solidFill>
                <a:latin typeface="Cambria"/>
                <a:cs typeface="Cambria"/>
              </a:rPr>
              <a:t>Optimization </a:t>
            </a:r>
            <a:r>
              <a:rPr sz="3600" b="1" spc="-10" dirty="0">
                <a:solidFill>
                  <a:srgbClr val="FFFFFF"/>
                </a:solidFill>
                <a:latin typeface="Cambria"/>
                <a:cs typeface="Cambria"/>
              </a:rPr>
              <a:t>Technique</a:t>
            </a:r>
            <a:br>
              <a:rPr lang="en-IN" sz="3600" b="1" spc="-10" dirty="0">
                <a:solidFill>
                  <a:srgbClr val="FFFFFF"/>
                </a:solidFill>
                <a:latin typeface="Cambria"/>
                <a:cs typeface="Cambria"/>
              </a:rPr>
            </a:br>
            <a:br>
              <a:rPr lang="en-IN" sz="3600" b="1" spc="-10" dirty="0">
                <a:solidFill>
                  <a:srgbClr val="FFFFFF"/>
                </a:solidFill>
                <a:latin typeface="Cambria"/>
                <a:cs typeface="Cambria"/>
              </a:rPr>
            </a:br>
            <a:br>
              <a:rPr lang="en-IN" sz="3600" b="1" spc="-10" dirty="0">
                <a:solidFill>
                  <a:srgbClr val="FFFFFF"/>
                </a:solidFill>
                <a:latin typeface="Cambria"/>
                <a:cs typeface="Cambria"/>
              </a:rPr>
            </a:br>
            <a:br>
              <a:rPr lang="en-IN" sz="3600" b="1" spc="-10" dirty="0">
                <a:solidFill>
                  <a:srgbClr val="FFFFFF"/>
                </a:solidFill>
                <a:latin typeface="Cambria"/>
                <a:cs typeface="Cambria"/>
              </a:rPr>
            </a:br>
            <a:endParaRPr sz="3600" dirty="0">
              <a:latin typeface="Cambria"/>
              <a:cs typeface="Cambria"/>
            </a:endParaRPr>
          </a:p>
        </p:txBody>
      </p:sp>
    </p:spTree>
    <p:extLst>
      <p:ext uri="{BB962C8B-B14F-4D97-AF65-F5344CB8AC3E}">
        <p14:creationId xmlns:p14="http://schemas.microsoft.com/office/powerpoint/2010/main" val="342665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410845">
              <a:lnSpc>
                <a:spcPts val="3779"/>
              </a:lnSpc>
            </a:pPr>
            <a:r>
              <a:rPr sz="3600" b="1" spc="-65" dirty="0">
                <a:solidFill>
                  <a:srgbClr val="FFFFFF"/>
                </a:solidFill>
                <a:latin typeface="Cambria"/>
                <a:cs typeface="Cambria"/>
              </a:rPr>
              <a:t>Optimization </a:t>
            </a:r>
            <a:r>
              <a:rPr sz="3600" b="1" spc="-10" dirty="0">
                <a:solidFill>
                  <a:srgbClr val="FFFFFF"/>
                </a:solidFill>
                <a:latin typeface="Cambria"/>
                <a:cs typeface="Cambria"/>
              </a:rPr>
              <a:t>Technique</a:t>
            </a:r>
            <a:endParaRPr sz="3600">
              <a:latin typeface="Cambria"/>
              <a:cs typeface="Cambria"/>
            </a:endParaRPr>
          </a:p>
        </p:txBody>
      </p:sp>
      <p:pic>
        <p:nvPicPr>
          <p:cNvPr id="3" name="object 3"/>
          <p:cNvPicPr/>
          <p:nvPr/>
        </p:nvPicPr>
        <p:blipFill>
          <a:blip r:embed="rId2" cstate="print"/>
          <a:stretch>
            <a:fillRect/>
          </a:stretch>
        </p:blipFill>
        <p:spPr>
          <a:xfrm>
            <a:off x="3810934" y="1812902"/>
            <a:ext cx="7591259" cy="25060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410845">
              <a:lnSpc>
                <a:spcPts val="3779"/>
              </a:lnSpc>
            </a:pPr>
            <a:r>
              <a:rPr sz="3600" b="1" spc="-65" dirty="0">
                <a:solidFill>
                  <a:srgbClr val="FFFFFF"/>
                </a:solidFill>
                <a:latin typeface="Cambria"/>
                <a:cs typeface="Cambria"/>
              </a:rPr>
              <a:t>Optimization </a:t>
            </a:r>
            <a:r>
              <a:rPr sz="3600" b="1" spc="-10" dirty="0">
                <a:solidFill>
                  <a:srgbClr val="FFFFFF"/>
                </a:solidFill>
                <a:latin typeface="Cambria"/>
                <a:cs typeface="Cambria"/>
              </a:rPr>
              <a:t>Technique</a:t>
            </a:r>
            <a:endParaRPr sz="3600">
              <a:latin typeface="Cambria"/>
              <a:cs typeface="Cambria"/>
            </a:endParaRPr>
          </a:p>
        </p:txBody>
      </p:sp>
      <p:sp>
        <p:nvSpPr>
          <p:cNvPr id="3" name="object 3"/>
          <p:cNvSpPr txBox="1"/>
          <p:nvPr/>
        </p:nvSpPr>
        <p:spPr>
          <a:xfrm>
            <a:off x="3714117" y="1680845"/>
            <a:ext cx="5033645" cy="2433955"/>
          </a:xfrm>
          <a:prstGeom prst="rect">
            <a:avLst/>
          </a:prstGeom>
        </p:spPr>
        <p:txBody>
          <a:bodyPr vert="horz" wrap="square" lIns="0" tIns="128270" rIns="0" bIns="0" rtlCol="0">
            <a:spAutoFit/>
          </a:bodyPr>
          <a:lstStyle/>
          <a:p>
            <a:pPr marL="12700">
              <a:lnSpc>
                <a:spcPct val="100000"/>
              </a:lnSpc>
              <a:spcBef>
                <a:spcPts val="1010"/>
              </a:spcBef>
            </a:pPr>
            <a:r>
              <a:rPr sz="2400" b="1" dirty="0">
                <a:latin typeface="Cambria"/>
                <a:cs typeface="Cambria"/>
              </a:rPr>
              <a:t>Function</a:t>
            </a:r>
            <a:r>
              <a:rPr sz="2400" b="1" spc="-65" dirty="0">
                <a:latin typeface="Cambria"/>
                <a:cs typeface="Cambria"/>
              </a:rPr>
              <a:t> </a:t>
            </a:r>
            <a:r>
              <a:rPr sz="2400" b="1" spc="-10" dirty="0">
                <a:latin typeface="Cambria"/>
                <a:cs typeface="Cambria"/>
              </a:rPr>
              <a:t>Preserving</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Common</a:t>
            </a:r>
            <a:r>
              <a:rPr sz="2400" spc="-80" dirty="0">
                <a:latin typeface="Cambria"/>
                <a:cs typeface="Cambria"/>
              </a:rPr>
              <a:t> </a:t>
            </a:r>
            <a:r>
              <a:rPr sz="2400" dirty="0">
                <a:latin typeface="Cambria"/>
                <a:cs typeface="Cambria"/>
              </a:rPr>
              <a:t>Sub</a:t>
            </a:r>
            <a:r>
              <a:rPr sz="2400" spc="-60" dirty="0">
                <a:latin typeface="Cambria"/>
                <a:cs typeface="Cambria"/>
              </a:rPr>
              <a:t> </a:t>
            </a:r>
            <a:r>
              <a:rPr sz="2400" dirty="0">
                <a:latin typeface="Cambria"/>
                <a:cs typeface="Cambria"/>
              </a:rPr>
              <a:t>Expression</a:t>
            </a:r>
            <a:r>
              <a:rPr sz="2400" spc="-55" dirty="0">
                <a:latin typeface="Cambria"/>
                <a:cs typeface="Cambria"/>
              </a:rPr>
              <a:t> </a:t>
            </a:r>
            <a:r>
              <a:rPr sz="2400" spc="-10" dirty="0">
                <a:latin typeface="Cambria"/>
                <a:cs typeface="Cambria"/>
              </a:rPr>
              <a:t>Elimination</a:t>
            </a:r>
            <a:endParaRPr sz="2400" dirty="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Constant</a:t>
            </a:r>
            <a:r>
              <a:rPr sz="2400" spc="-105" dirty="0">
                <a:latin typeface="Cambria"/>
                <a:cs typeface="Cambria"/>
              </a:rPr>
              <a:t> </a:t>
            </a:r>
            <a:r>
              <a:rPr sz="2400" spc="-10" dirty="0">
                <a:latin typeface="Cambria"/>
                <a:cs typeface="Cambria"/>
              </a:rPr>
              <a:t>Folding</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Copy</a:t>
            </a:r>
            <a:r>
              <a:rPr sz="2400" spc="-100" dirty="0">
                <a:latin typeface="Cambria"/>
                <a:cs typeface="Cambria"/>
              </a:rPr>
              <a:t> </a:t>
            </a:r>
            <a:r>
              <a:rPr sz="2400" spc="-10" dirty="0">
                <a:latin typeface="Cambria"/>
                <a:cs typeface="Cambria"/>
              </a:rPr>
              <a:t>Propagation</a:t>
            </a:r>
            <a:endParaRPr sz="2400" dirty="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Dead</a:t>
            </a:r>
            <a:r>
              <a:rPr sz="2400" spc="-70" dirty="0">
                <a:latin typeface="Cambria"/>
                <a:cs typeface="Cambria"/>
              </a:rPr>
              <a:t> </a:t>
            </a:r>
            <a:r>
              <a:rPr sz="2400" dirty="0">
                <a:latin typeface="Cambria"/>
                <a:cs typeface="Cambria"/>
              </a:rPr>
              <a:t>Code</a:t>
            </a:r>
            <a:r>
              <a:rPr sz="2400" spc="-25" dirty="0">
                <a:latin typeface="Cambria"/>
                <a:cs typeface="Cambria"/>
              </a:rPr>
              <a:t> </a:t>
            </a:r>
            <a:r>
              <a:rPr sz="2400" spc="-10" dirty="0">
                <a:latin typeface="Cambria"/>
                <a:cs typeface="Cambria"/>
              </a:rPr>
              <a:t>Elimination</a:t>
            </a:r>
            <a:endParaRPr sz="2400" dirty="0">
              <a:latin typeface="Cambria"/>
              <a:cs typeface="Cambria"/>
            </a:endParaRPr>
          </a:p>
        </p:txBody>
      </p:sp>
      <p:sp>
        <p:nvSpPr>
          <p:cNvPr id="4" name="object 4"/>
          <p:cNvSpPr txBox="1"/>
          <p:nvPr/>
        </p:nvSpPr>
        <p:spPr>
          <a:xfrm>
            <a:off x="3810000" y="4114800"/>
            <a:ext cx="2715260" cy="1470025"/>
          </a:xfrm>
          <a:prstGeom prst="rect">
            <a:avLst/>
          </a:prstGeom>
        </p:spPr>
        <p:txBody>
          <a:bodyPr vert="horz" wrap="square" lIns="0" tIns="127635" rIns="0" bIns="0" rtlCol="0">
            <a:spAutoFit/>
          </a:bodyPr>
          <a:lstStyle/>
          <a:p>
            <a:pPr marL="12700">
              <a:lnSpc>
                <a:spcPct val="100000"/>
              </a:lnSpc>
              <a:spcBef>
                <a:spcPts val="1005"/>
              </a:spcBef>
            </a:pPr>
            <a:r>
              <a:rPr sz="2400" b="1" dirty="0">
                <a:latin typeface="Cambria"/>
                <a:cs typeface="Cambria"/>
              </a:rPr>
              <a:t>Loop</a:t>
            </a:r>
            <a:r>
              <a:rPr sz="2400" b="1" spc="-20" dirty="0">
                <a:latin typeface="Cambria"/>
                <a:cs typeface="Cambria"/>
              </a:rPr>
              <a:t> </a:t>
            </a:r>
            <a:r>
              <a:rPr sz="2400" b="1" spc="-10" dirty="0">
                <a:latin typeface="Cambria"/>
                <a:cs typeface="Cambria"/>
              </a:rPr>
              <a:t>Optimization</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Code</a:t>
            </a:r>
            <a:r>
              <a:rPr sz="2400" spc="-50" dirty="0">
                <a:latin typeface="Cambria"/>
                <a:cs typeface="Cambria"/>
              </a:rPr>
              <a:t> </a:t>
            </a:r>
            <a:r>
              <a:rPr sz="2400" spc="-10" dirty="0">
                <a:latin typeface="Cambria"/>
                <a:cs typeface="Cambria"/>
              </a:rPr>
              <a:t>Motion</a:t>
            </a:r>
            <a:endParaRPr sz="2400" dirty="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Strength</a:t>
            </a:r>
            <a:r>
              <a:rPr sz="2400" spc="-125" dirty="0">
                <a:latin typeface="Cambria"/>
                <a:cs typeface="Cambria"/>
              </a:rPr>
              <a:t> </a:t>
            </a:r>
            <a:r>
              <a:rPr sz="2400" spc="-30" dirty="0">
                <a:latin typeface="Cambria"/>
                <a:cs typeface="Cambria"/>
              </a:rPr>
              <a:t>Reduction</a:t>
            </a:r>
            <a:endParaRPr sz="2400" dirty="0">
              <a:latin typeface="Cambria"/>
              <a:cs typeface="Cambria"/>
            </a:endParaRPr>
          </a:p>
        </p:txBody>
      </p:sp>
      <p:sp>
        <p:nvSpPr>
          <p:cNvPr id="5" name="Rectangle 4"/>
          <p:cNvSpPr/>
          <p:nvPr/>
        </p:nvSpPr>
        <p:spPr>
          <a:xfrm>
            <a:off x="3458584" y="381000"/>
            <a:ext cx="8568952" cy="1200329"/>
          </a:xfrm>
          <a:prstGeom prst="rect">
            <a:avLst/>
          </a:prstGeom>
        </p:spPr>
        <p:txBody>
          <a:bodyPr wrap="square">
            <a:spAutoFit/>
          </a:bodyPr>
          <a:lstStyle/>
          <a:p>
            <a:r>
              <a:rPr lang="en-IN" sz="2400" b="1" dirty="0"/>
              <a:t>Function-Preserving Transformations</a:t>
            </a:r>
            <a:endParaRPr lang="en-IN" sz="2400" dirty="0"/>
          </a:p>
          <a:p>
            <a:pPr algn="just"/>
            <a:r>
              <a:rPr lang="en-IN" sz="2400" dirty="0"/>
              <a:t>There are a number of ways in which a compiler can improve a program without changing the function it computes.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93008" y="1744979"/>
            <a:ext cx="8586216" cy="3799332"/>
          </a:xfrm>
          <a:prstGeom prst="rect">
            <a:avLst/>
          </a:prstGeom>
        </p:spPr>
      </p:pic>
      <p:sp>
        <p:nvSpPr>
          <p:cNvPr id="3" name="object 3"/>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410845">
              <a:lnSpc>
                <a:spcPts val="3779"/>
              </a:lnSpc>
            </a:pPr>
            <a:r>
              <a:rPr sz="3600" b="1" spc="-65" dirty="0">
                <a:solidFill>
                  <a:srgbClr val="FFFFFF"/>
                </a:solidFill>
                <a:latin typeface="Cambria"/>
                <a:cs typeface="Cambria"/>
              </a:rPr>
              <a:t>Optimization </a:t>
            </a:r>
            <a:r>
              <a:rPr sz="3600" b="1" spc="-10" dirty="0">
                <a:solidFill>
                  <a:srgbClr val="FFFFFF"/>
                </a:solidFill>
                <a:latin typeface="Cambria"/>
                <a:cs typeface="Cambria"/>
              </a:rPr>
              <a:t>Technique</a:t>
            </a:r>
            <a:endParaRPr sz="3600">
              <a:latin typeface="Cambria"/>
              <a:cs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920750">
              <a:lnSpc>
                <a:spcPct val="88800"/>
              </a:lnSpc>
            </a:pPr>
            <a:r>
              <a:rPr sz="3600" b="1" spc="-10" dirty="0">
                <a:solidFill>
                  <a:srgbClr val="FFFFFF"/>
                </a:solidFill>
                <a:latin typeface="Cambria"/>
                <a:cs typeface="Cambria"/>
              </a:rPr>
              <a:t>Compile </a:t>
            </a:r>
            <a:r>
              <a:rPr sz="3600" b="1" spc="-20" dirty="0">
                <a:solidFill>
                  <a:srgbClr val="FFFFFF"/>
                </a:solidFill>
                <a:latin typeface="Cambria"/>
                <a:cs typeface="Cambria"/>
              </a:rPr>
              <a:t>Time </a:t>
            </a:r>
            <a:r>
              <a:rPr sz="3600" b="1" spc="-80" dirty="0">
                <a:solidFill>
                  <a:srgbClr val="FFFFFF"/>
                </a:solidFill>
                <a:latin typeface="Cambria"/>
                <a:cs typeface="Cambria"/>
              </a:rPr>
              <a:t>Evaluation</a:t>
            </a:r>
            <a:endParaRPr sz="3600">
              <a:latin typeface="Cambria"/>
              <a:cs typeface="Cambria"/>
            </a:endParaRPr>
          </a:p>
        </p:txBody>
      </p:sp>
      <p:sp>
        <p:nvSpPr>
          <p:cNvPr id="3" name="object 3"/>
          <p:cNvSpPr txBox="1">
            <a:spLocks noGrp="1"/>
          </p:cNvSpPr>
          <p:nvPr>
            <p:ph type="title"/>
          </p:nvPr>
        </p:nvSpPr>
        <p:spPr>
          <a:xfrm>
            <a:off x="3553714" y="753821"/>
            <a:ext cx="7751445" cy="391795"/>
          </a:xfrm>
          <a:prstGeom prst="rect">
            <a:avLst/>
          </a:prstGeom>
        </p:spPr>
        <p:txBody>
          <a:bodyPr vert="horz" wrap="square" lIns="0" tIns="12700" rIns="0" bIns="0" rtlCol="0">
            <a:spAutoFit/>
          </a:bodyPr>
          <a:lstStyle/>
          <a:p>
            <a:pPr marL="12700">
              <a:lnSpc>
                <a:spcPct val="100000"/>
              </a:lnSpc>
              <a:spcBef>
                <a:spcPts val="100"/>
              </a:spcBef>
              <a:tabLst>
                <a:tab pos="601980" algn="l"/>
                <a:tab pos="1657350" algn="l"/>
                <a:tab pos="2865755" algn="l"/>
                <a:tab pos="3321050" algn="l"/>
                <a:tab pos="5184140" algn="l"/>
                <a:tab pos="6016625" algn="l"/>
                <a:tab pos="6684009" algn="l"/>
                <a:tab pos="7477759" algn="l"/>
              </a:tabLst>
            </a:pPr>
            <a:r>
              <a:rPr spc="-1250" dirty="0">
                <a:solidFill>
                  <a:srgbClr val="40B9D2"/>
                </a:solidFill>
                <a:latin typeface="Arial MT"/>
                <a:cs typeface="Arial MT"/>
              </a:rPr>
              <a:t>🞄</a:t>
            </a:r>
            <a:r>
              <a:rPr spc="-95" dirty="0">
                <a:solidFill>
                  <a:srgbClr val="40B9D2"/>
                </a:solidFill>
                <a:latin typeface="Arial MT"/>
                <a:cs typeface="Arial MT"/>
              </a:rPr>
              <a:t> </a:t>
            </a:r>
            <a:r>
              <a:rPr spc="-25" dirty="0"/>
              <a:t>It</a:t>
            </a:r>
            <a:r>
              <a:rPr dirty="0"/>
              <a:t>	</a:t>
            </a:r>
            <a:r>
              <a:rPr spc="-20" dirty="0"/>
              <a:t>means</a:t>
            </a:r>
            <a:r>
              <a:rPr dirty="0"/>
              <a:t>	</a:t>
            </a:r>
            <a:r>
              <a:rPr spc="-10" dirty="0"/>
              <a:t>Shifting</a:t>
            </a:r>
            <a:r>
              <a:rPr dirty="0"/>
              <a:t>	</a:t>
            </a:r>
            <a:r>
              <a:rPr spc="-25" dirty="0"/>
              <a:t>of</a:t>
            </a:r>
            <a:r>
              <a:rPr dirty="0"/>
              <a:t>	</a:t>
            </a:r>
            <a:r>
              <a:rPr spc="-10" dirty="0"/>
              <a:t>computation</a:t>
            </a:r>
            <a:r>
              <a:rPr dirty="0"/>
              <a:t>	</a:t>
            </a:r>
            <a:r>
              <a:rPr spc="-20" dirty="0"/>
              <a:t>from</a:t>
            </a:r>
            <a:r>
              <a:rPr dirty="0"/>
              <a:t>	</a:t>
            </a:r>
            <a:r>
              <a:rPr spc="-25" dirty="0"/>
              <a:t>run</a:t>
            </a:r>
            <a:r>
              <a:rPr dirty="0"/>
              <a:t>	</a:t>
            </a:r>
            <a:r>
              <a:rPr spc="-20" dirty="0"/>
              <a:t>time</a:t>
            </a:r>
            <a:r>
              <a:rPr dirty="0"/>
              <a:t>	</a:t>
            </a:r>
            <a:r>
              <a:rPr spc="-25" dirty="0"/>
              <a:t>to</a:t>
            </a:r>
          </a:p>
        </p:txBody>
      </p:sp>
      <p:sp>
        <p:nvSpPr>
          <p:cNvPr id="4" name="object 4"/>
          <p:cNvSpPr txBox="1"/>
          <p:nvPr/>
        </p:nvSpPr>
        <p:spPr>
          <a:xfrm>
            <a:off x="3553714" y="967866"/>
            <a:ext cx="7757159" cy="4561840"/>
          </a:xfrm>
          <a:prstGeom prst="rect">
            <a:avLst/>
          </a:prstGeom>
        </p:spPr>
        <p:txBody>
          <a:bodyPr vert="horz" wrap="square" lIns="0" tIns="128270" rIns="0" bIns="0" rtlCol="0">
            <a:spAutoFit/>
          </a:bodyPr>
          <a:lstStyle/>
          <a:p>
            <a:pPr marL="195580" algn="just">
              <a:lnSpc>
                <a:spcPct val="100000"/>
              </a:lnSpc>
              <a:spcBef>
                <a:spcPts val="1010"/>
              </a:spcBef>
            </a:pPr>
            <a:r>
              <a:rPr sz="2400" dirty="0">
                <a:latin typeface="Cambria"/>
                <a:cs typeface="Cambria"/>
              </a:rPr>
              <a:t>compile</a:t>
            </a:r>
            <a:r>
              <a:rPr sz="2400" spc="-90" dirty="0">
                <a:latin typeface="Cambria"/>
                <a:cs typeface="Cambria"/>
              </a:rPr>
              <a:t> </a:t>
            </a:r>
            <a:r>
              <a:rPr sz="2400" spc="-10" dirty="0">
                <a:latin typeface="Cambria"/>
                <a:cs typeface="Cambria"/>
              </a:rPr>
              <a:t>time.</a:t>
            </a:r>
            <a:endParaRPr sz="2400">
              <a:latin typeface="Cambria"/>
              <a:cs typeface="Cambria"/>
            </a:endParaRPr>
          </a:p>
          <a:p>
            <a:pPr marL="12700" algn="just">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There</a:t>
            </a:r>
            <a:r>
              <a:rPr sz="2400" spc="-114" dirty="0">
                <a:latin typeface="Cambria"/>
                <a:cs typeface="Cambria"/>
              </a:rPr>
              <a:t> </a:t>
            </a:r>
            <a:r>
              <a:rPr sz="2400" dirty="0">
                <a:latin typeface="Cambria"/>
                <a:cs typeface="Cambria"/>
              </a:rPr>
              <a:t>are</a:t>
            </a:r>
            <a:r>
              <a:rPr sz="2400" spc="-60" dirty="0">
                <a:latin typeface="Cambria"/>
                <a:cs typeface="Cambria"/>
              </a:rPr>
              <a:t> </a:t>
            </a:r>
            <a:r>
              <a:rPr sz="2400" dirty="0">
                <a:latin typeface="Cambria"/>
                <a:cs typeface="Cambria"/>
              </a:rPr>
              <a:t>two</a:t>
            </a:r>
            <a:r>
              <a:rPr sz="2400" spc="-60" dirty="0">
                <a:latin typeface="Cambria"/>
                <a:cs typeface="Cambria"/>
              </a:rPr>
              <a:t> </a:t>
            </a:r>
            <a:r>
              <a:rPr sz="2400" spc="-10" dirty="0">
                <a:latin typeface="Cambria"/>
                <a:cs typeface="Cambria"/>
              </a:rPr>
              <a:t>methods</a:t>
            </a:r>
            <a:endParaRPr sz="2400">
              <a:latin typeface="Cambria"/>
              <a:cs typeface="Cambria"/>
            </a:endParaRPr>
          </a:p>
          <a:p>
            <a:pPr marL="467995" marR="6985" indent="-455295" algn="just">
              <a:lnSpc>
                <a:spcPts val="2590"/>
              </a:lnSpc>
              <a:spcBef>
                <a:spcPts val="1240"/>
              </a:spcBef>
              <a:buClr>
                <a:srgbClr val="40B9D2"/>
              </a:buClr>
              <a:buAutoNum type="arabicPeriod"/>
              <a:tabLst>
                <a:tab pos="469900" algn="l"/>
              </a:tabLst>
            </a:pPr>
            <a:r>
              <a:rPr sz="2400" b="1" dirty="0">
                <a:latin typeface="Cambria"/>
                <a:cs typeface="Cambria"/>
              </a:rPr>
              <a:t>Folding</a:t>
            </a:r>
            <a:r>
              <a:rPr sz="2400" b="1"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in</a:t>
            </a:r>
            <a:r>
              <a:rPr sz="2400" spc="5" dirty="0">
                <a:latin typeface="Cambria"/>
                <a:cs typeface="Cambria"/>
              </a:rPr>
              <a:t> </a:t>
            </a:r>
            <a:r>
              <a:rPr sz="2400" dirty="0">
                <a:latin typeface="Cambria"/>
                <a:cs typeface="Cambria"/>
              </a:rPr>
              <a:t>this</a:t>
            </a:r>
            <a:r>
              <a:rPr sz="2400" spc="5" dirty="0">
                <a:latin typeface="Cambria"/>
                <a:cs typeface="Cambria"/>
              </a:rPr>
              <a:t> </a:t>
            </a:r>
            <a:r>
              <a:rPr sz="2400" dirty="0">
                <a:latin typeface="Cambria"/>
                <a:cs typeface="Cambria"/>
              </a:rPr>
              <a:t>technique,</a:t>
            </a:r>
            <a:r>
              <a:rPr sz="2400" spc="15" dirty="0">
                <a:latin typeface="Cambria"/>
                <a:cs typeface="Cambria"/>
              </a:rPr>
              <a:t> </a:t>
            </a:r>
            <a:r>
              <a:rPr sz="2400" dirty="0">
                <a:latin typeface="Cambria"/>
                <a:cs typeface="Cambria"/>
              </a:rPr>
              <a:t>the</a:t>
            </a:r>
            <a:r>
              <a:rPr sz="2400" spc="15" dirty="0">
                <a:latin typeface="Cambria"/>
                <a:cs typeface="Cambria"/>
              </a:rPr>
              <a:t> </a:t>
            </a:r>
            <a:r>
              <a:rPr sz="2400" dirty="0">
                <a:latin typeface="Cambria"/>
                <a:cs typeface="Cambria"/>
              </a:rPr>
              <a:t>computation</a:t>
            </a:r>
            <a:r>
              <a:rPr sz="2400" spc="5" dirty="0">
                <a:latin typeface="Cambria"/>
                <a:cs typeface="Cambria"/>
              </a:rPr>
              <a:t> </a:t>
            </a:r>
            <a:r>
              <a:rPr sz="2400" dirty="0">
                <a:latin typeface="Cambria"/>
                <a:cs typeface="Cambria"/>
              </a:rPr>
              <a:t>of</a:t>
            </a:r>
            <a:r>
              <a:rPr sz="2400" spc="15" dirty="0">
                <a:latin typeface="Cambria"/>
                <a:cs typeface="Cambria"/>
              </a:rPr>
              <a:t> </a:t>
            </a:r>
            <a:r>
              <a:rPr sz="2400" spc="-10" dirty="0">
                <a:latin typeface="Cambria"/>
                <a:cs typeface="Cambria"/>
              </a:rPr>
              <a:t>constant 	</a:t>
            </a:r>
            <a:r>
              <a:rPr sz="2400" dirty="0">
                <a:latin typeface="Cambria"/>
                <a:cs typeface="Cambria"/>
              </a:rPr>
              <a:t>is</a:t>
            </a:r>
            <a:r>
              <a:rPr sz="2400" spc="530" dirty="0">
                <a:latin typeface="Cambria"/>
                <a:cs typeface="Cambria"/>
              </a:rPr>
              <a:t>  </a:t>
            </a:r>
            <a:r>
              <a:rPr sz="2400" dirty="0">
                <a:latin typeface="Cambria"/>
                <a:cs typeface="Cambria"/>
              </a:rPr>
              <a:t>done</a:t>
            </a:r>
            <a:r>
              <a:rPr sz="2400" spc="530" dirty="0">
                <a:latin typeface="Cambria"/>
                <a:cs typeface="Cambria"/>
              </a:rPr>
              <a:t>  </a:t>
            </a:r>
            <a:r>
              <a:rPr sz="2400" dirty="0">
                <a:latin typeface="Cambria"/>
                <a:cs typeface="Cambria"/>
              </a:rPr>
              <a:t>at</a:t>
            </a:r>
            <a:r>
              <a:rPr sz="2400" spc="530" dirty="0">
                <a:latin typeface="Cambria"/>
                <a:cs typeface="Cambria"/>
              </a:rPr>
              <a:t>  </a:t>
            </a:r>
            <a:r>
              <a:rPr sz="2400" dirty="0">
                <a:latin typeface="Cambria"/>
                <a:cs typeface="Cambria"/>
              </a:rPr>
              <a:t>compile</a:t>
            </a:r>
            <a:r>
              <a:rPr sz="2400" spc="535" dirty="0">
                <a:latin typeface="Cambria"/>
                <a:cs typeface="Cambria"/>
              </a:rPr>
              <a:t>  </a:t>
            </a:r>
            <a:r>
              <a:rPr sz="2400" dirty="0">
                <a:latin typeface="Cambria"/>
                <a:cs typeface="Cambria"/>
              </a:rPr>
              <a:t>time</a:t>
            </a:r>
            <a:r>
              <a:rPr sz="2400" spc="530" dirty="0">
                <a:latin typeface="Cambria"/>
                <a:cs typeface="Cambria"/>
              </a:rPr>
              <a:t>  </a:t>
            </a:r>
            <a:r>
              <a:rPr sz="2400" dirty="0">
                <a:latin typeface="Cambria"/>
                <a:cs typeface="Cambria"/>
              </a:rPr>
              <a:t>instead</a:t>
            </a:r>
            <a:r>
              <a:rPr sz="2400" spc="535" dirty="0">
                <a:latin typeface="Cambria"/>
                <a:cs typeface="Cambria"/>
              </a:rPr>
              <a:t>  </a:t>
            </a:r>
            <a:r>
              <a:rPr sz="2400" dirty="0">
                <a:latin typeface="Cambria"/>
                <a:cs typeface="Cambria"/>
              </a:rPr>
              <a:t>of</a:t>
            </a:r>
            <a:r>
              <a:rPr sz="2400" spc="530" dirty="0">
                <a:latin typeface="Cambria"/>
                <a:cs typeface="Cambria"/>
              </a:rPr>
              <a:t>  </a:t>
            </a:r>
            <a:r>
              <a:rPr sz="2400" dirty="0">
                <a:latin typeface="Cambria"/>
                <a:cs typeface="Cambria"/>
              </a:rPr>
              <a:t>run</a:t>
            </a:r>
            <a:r>
              <a:rPr sz="2400" spc="525" dirty="0">
                <a:latin typeface="Cambria"/>
                <a:cs typeface="Cambria"/>
              </a:rPr>
              <a:t>  </a:t>
            </a:r>
            <a:r>
              <a:rPr sz="2400" spc="-10" dirty="0">
                <a:latin typeface="Cambria"/>
                <a:cs typeface="Cambria"/>
              </a:rPr>
              <a:t>time. 	</a:t>
            </a:r>
            <a:r>
              <a:rPr sz="2400" dirty="0">
                <a:latin typeface="Cambria"/>
                <a:cs typeface="Cambria"/>
              </a:rPr>
              <a:t>Example</a:t>
            </a:r>
            <a:r>
              <a:rPr sz="2400" spc="-2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length</a:t>
            </a:r>
            <a:r>
              <a:rPr sz="2400" spc="-3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(22/7)</a:t>
            </a:r>
            <a:r>
              <a:rPr sz="2400" spc="-60" dirty="0">
                <a:latin typeface="Cambria"/>
                <a:cs typeface="Cambria"/>
              </a:rPr>
              <a:t> </a:t>
            </a:r>
            <a:r>
              <a:rPr sz="2400" dirty="0">
                <a:latin typeface="Cambria"/>
                <a:cs typeface="Cambria"/>
              </a:rPr>
              <a:t>*</a:t>
            </a:r>
            <a:r>
              <a:rPr sz="2400" spc="-40" dirty="0">
                <a:latin typeface="Cambria"/>
                <a:cs typeface="Cambria"/>
              </a:rPr>
              <a:t> </a:t>
            </a:r>
            <a:r>
              <a:rPr sz="2400" spc="-50" dirty="0">
                <a:latin typeface="Cambria"/>
                <a:cs typeface="Cambria"/>
              </a:rPr>
              <a:t>d</a:t>
            </a:r>
            <a:endParaRPr sz="2400">
              <a:latin typeface="Cambria"/>
              <a:cs typeface="Cambria"/>
            </a:endParaRPr>
          </a:p>
          <a:p>
            <a:pPr marL="467995" marR="5080" indent="-455295" algn="just">
              <a:lnSpc>
                <a:spcPct val="90100"/>
              </a:lnSpc>
              <a:spcBef>
                <a:spcPts val="1165"/>
              </a:spcBef>
              <a:buClr>
                <a:srgbClr val="40B9D2"/>
              </a:buClr>
              <a:buAutoNum type="arabicPeriod"/>
              <a:tabLst>
                <a:tab pos="469900" algn="l"/>
              </a:tabLst>
            </a:pPr>
            <a:r>
              <a:rPr sz="2400" b="1" dirty="0">
                <a:latin typeface="Cambria"/>
                <a:cs typeface="Cambria"/>
              </a:rPr>
              <a:t>Constant</a:t>
            </a:r>
            <a:r>
              <a:rPr sz="2400" b="1" spc="145" dirty="0">
                <a:latin typeface="Cambria"/>
                <a:cs typeface="Cambria"/>
              </a:rPr>
              <a:t> </a:t>
            </a:r>
            <a:r>
              <a:rPr sz="2400" b="1" dirty="0">
                <a:latin typeface="Cambria"/>
                <a:cs typeface="Cambria"/>
              </a:rPr>
              <a:t>Propagation</a:t>
            </a:r>
            <a:r>
              <a:rPr sz="2400" b="1" spc="140" dirty="0">
                <a:latin typeface="Cambria"/>
                <a:cs typeface="Cambria"/>
              </a:rPr>
              <a:t> </a:t>
            </a:r>
            <a:r>
              <a:rPr sz="2400" dirty="0">
                <a:latin typeface="Cambria"/>
                <a:cs typeface="Cambria"/>
              </a:rPr>
              <a:t>:</a:t>
            </a:r>
            <a:r>
              <a:rPr sz="2400" spc="150" dirty="0">
                <a:latin typeface="Cambria"/>
                <a:cs typeface="Cambria"/>
              </a:rPr>
              <a:t> </a:t>
            </a:r>
            <a:r>
              <a:rPr sz="2400" dirty="0">
                <a:latin typeface="Cambria"/>
                <a:cs typeface="Cambria"/>
              </a:rPr>
              <a:t>In</a:t>
            </a:r>
            <a:r>
              <a:rPr sz="2400" spc="145" dirty="0">
                <a:latin typeface="Cambria"/>
                <a:cs typeface="Cambria"/>
              </a:rPr>
              <a:t> </a:t>
            </a:r>
            <a:r>
              <a:rPr sz="2400" dirty="0">
                <a:latin typeface="Cambria"/>
                <a:cs typeface="Cambria"/>
              </a:rPr>
              <a:t>this</a:t>
            </a:r>
            <a:r>
              <a:rPr sz="2400" spc="150" dirty="0">
                <a:latin typeface="Cambria"/>
                <a:cs typeface="Cambria"/>
              </a:rPr>
              <a:t> </a:t>
            </a:r>
            <a:r>
              <a:rPr sz="2400" dirty="0">
                <a:latin typeface="Cambria"/>
                <a:cs typeface="Cambria"/>
              </a:rPr>
              <a:t>technique,</a:t>
            </a:r>
            <a:r>
              <a:rPr sz="2400" spc="155" dirty="0">
                <a:latin typeface="Cambria"/>
                <a:cs typeface="Cambria"/>
              </a:rPr>
              <a:t> </a:t>
            </a:r>
            <a:r>
              <a:rPr sz="2400" dirty="0">
                <a:latin typeface="Cambria"/>
                <a:cs typeface="Cambria"/>
              </a:rPr>
              <a:t>the</a:t>
            </a:r>
            <a:r>
              <a:rPr sz="2400" spc="140" dirty="0">
                <a:latin typeface="Cambria"/>
                <a:cs typeface="Cambria"/>
              </a:rPr>
              <a:t> </a:t>
            </a:r>
            <a:r>
              <a:rPr sz="2400" dirty="0">
                <a:latin typeface="Cambria"/>
                <a:cs typeface="Cambria"/>
              </a:rPr>
              <a:t>value</a:t>
            </a:r>
            <a:r>
              <a:rPr sz="2400" spc="140" dirty="0">
                <a:latin typeface="Cambria"/>
                <a:cs typeface="Cambria"/>
              </a:rPr>
              <a:t> </a:t>
            </a:r>
            <a:r>
              <a:rPr sz="2400" spc="-25" dirty="0">
                <a:latin typeface="Cambria"/>
                <a:cs typeface="Cambria"/>
              </a:rPr>
              <a:t>of 	</a:t>
            </a:r>
            <a:r>
              <a:rPr sz="2400" dirty="0">
                <a:latin typeface="Cambria"/>
                <a:cs typeface="Cambria"/>
              </a:rPr>
              <a:t>variable</a:t>
            </a:r>
            <a:r>
              <a:rPr sz="2400" spc="345" dirty="0">
                <a:latin typeface="Cambria"/>
                <a:cs typeface="Cambria"/>
              </a:rPr>
              <a:t> </a:t>
            </a:r>
            <a:r>
              <a:rPr sz="2400" dirty="0">
                <a:latin typeface="Cambria"/>
                <a:cs typeface="Cambria"/>
              </a:rPr>
              <a:t>is</a:t>
            </a:r>
            <a:r>
              <a:rPr sz="2400" spc="340" dirty="0">
                <a:latin typeface="Cambria"/>
                <a:cs typeface="Cambria"/>
              </a:rPr>
              <a:t> </a:t>
            </a:r>
            <a:r>
              <a:rPr sz="2400" dirty="0">
                <a:latin typeface="Cambria"/>
                <a:cs typeface="Cambria"/>
              </a:rPr>
              <a:t>replaced</a:t>
            </a:r>
            <a:r>
              <a:rPr sz="2400" spc="350" dirty="0">
                <a:latin typeface="Cambria"/>
                <a:cs typeface="Cambria"/>
              </a:rPr>
              <a:t> </a:t>
            </a:r>
            <a:r>
              <a:rPr sz="2400" dirty="0">
                <a:latin typeface="Cambria"/>
                <a:cs typeface="Cambria"/>
              </a:rPr>
              <a:t>and</a:t>
            </a:r>
            <a:r>
              <a:rPr sz="2400" spc="355" dirty="0">
                <a:latin typeface="Cambria"/>
                <a:cs typeface="Cambria"/>
              </a:rPr>
              <a:t> </a:t>
            </a:r>
            <a:r>
              <a:rPr sz="2400" dirty="0">
                <a:latin typeface="Cambria"/>
                <a:cs typeface="Cambria"/>
              </a:rPr>
              <a:t>computation</a:t>
            </a:r>
            <a:r>
              <a:rPr sz="2400" spc="360" dirty="0">
                <a:latin typeface="Cambria"/>
                <a:cs typeface="Cambria"/>
              </a:rPr>
              <a:t> </a:t>
            </a:r>
            <a:r>
              <a:rPr sz="2400" dirty="0">
                <a:latin typeface="Cambria"/>
                <a:cs typeface="Cambria"/>
              </a:rPr>
              <a:t>of</a:t>
            </a:r>
            <a:r>
              <a:rPr sz="2400" spc="355" dirty="0">
                <a:latin typeface="Cambria"/>
                <a:cs typeface="Cambria"/>
              </a:rPr>
              <a:t> </a:t>
            </a:r>
            <a:r>
              <a:rPr sz="2400" dirty="0">
                <a:latin typeface="Cambria"/>
                <a:cs typeface="Cambria"/>
              </a:rPr>
              <a:t>expression</a:t>
            </a:r>
            <a:r>
              <a:rPr sz="2400" spc="335" dirty="0">
                <a:latin typeface="Cambria"/>
                <a:cs typeface="Cambria"/>
              </a:rPr>
              <a:t> </a:t>
            </a:r>
            <a:r>
              <a:rPr sz="2400" spc="-25" dirty="0">
                <a:latin typeface="Cambria"/>
                <a:cs typeface="Cambria"/>
              </a:rPr>
              <a:t>is 	</a:t>
            </a:r>
            <a:r>
              <a:rPr sz="2400" dirty="0">
                <a:latin typeface="Cambria"/>
                <a:cs typeface="Cambria"/>
              </a:rPr>
              <a:t>done</a:t>
            </a:r>
            <a:r>
              <a:rPr sz="2400" spc="-65" dirty="0">
                <a:latin typeface="Cambria"/>
                <a:cs typeface="Cambria"/>
              </a:rPr>
              <a:t> </a:t>
            </a:r>
            <a:r>
              <a:rPr sz="2400" dirty="0">
                <a:latin typeface="Cambria"/>
                <a:cs typeface="Cambria"/>
              </a:rPr>
              <a:t>at</a:t>
            </a:r>
            <a:r>
              <a:rPr sz="2400" spc="-75" dirty="0">
                <a:latin typeface="Cambria"/>
                <a:cs typeface="Cambria"/>
              </a:rPr>
              <a:t> </a:t>
            </a:r>
            <a:r>
              <a:rPr sz="2400" dirty="0">
                <a:latin typeface="Cambria"/>
                <a:cs typeface="Cambria"/>
              </a:rPr>
              <a:t>compilation</a:t>
            </a:r>
            <a:r>
              <a:rPr sz="2400" spc="-60" dirty="0">
                <a:latin typeface="Cambria"/>
                <a:cs typeface="Cambria"/>
              </a:rPr>
              <a:t> </a:t>
            </a:r>
            <a:r>
              <a:rPr sz="2400" spc="-10" dirty="0">
                <a:latin typeface="Cambria"/>
                <a:cs typeface="Cambria"/>
              </a:rPr>
              <a:t>time.</a:t>
            </a:r>
            <a:endParaRPr sz="2400">
              <a:latin typeface="Cambria"/>
              <a:cs typeface="Cambria"/>
            </a:endParaRPr>
          </a:p>
          <a:p>
            <a:pPr marL="478790" algn="just">
              <a:lnSpc>
                <a:spcPct val="100000"/>
              </a:lnSpc>
              <a:spcBef>
                <a:spcPts val="910"/>
              </a:spcBef>
            </a:pPr>
            <a:r>
              <a:rPr sz="2400" dirty="0">
                <a:latin typeface="Cambria"/>
                <a:cs typeface="Cambria"/>
              </a:rPr>
              <a:t>Example</a:t>
            </a:r>
            <a:r>
              <a:rPr sz="2400" spc="-30"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pi=3.14,</a:t>
            </a:r>
            <a:r>
              <a:rPr sz="2400" spc="-85" dirty="0">
                <a:latin typeface="Cambria"/>
                <a:cs typeface="Cambria"/>
              </a:rPr>
              <a:t> </a:t>
            </a:r>
            <a:r>
              <a:rPr sz="2400" spc="-25" dirty="0">
                <a:latin typeface="Cambria"/>
                <a:cs typeface="Cambria"/>
              </a:rPr>
              <a:t>r=2</a:t>
            </a:r>
            <a:endParaRPr sz="2400">
              <a:latin typeface="Cambria"/>
              <a:cs typeface="Cambria"/>
            </a:endParaRPr>
          </a:p>
          <a:p>
            <a:pPr marL="12700" marR="6350" algn="just">
              <a:lnSpc>
                <a:spcPts val="2600"/>
              </a:lnSpc>
              <a:spcBef>
                <a:spcPts val="1220"/>
              </a:spcBef>
            </a:pPr>
            <a:r>
              <a:rPr sz="2400" dirty="0">
                <a:latin typeface="Cambria"/>
                <a:cs typeface="Cambria"/>
              </a:rPr>
              <a:t>Area</a:t>
            </a:r>
            <a:r>
              <a:rPr sz="2400" spc="45" dirty="0">
                <a:latin typeface="Cambria"/>
                <a:cs typeface="Cambria"/>
              </a:rPr>
              <a:t>  </a:t>
            </a:r>
            <a:r>
              <a:rPr sz="2400" dirty="0">
                <a:latin typeface="Cambria"/>
                <a:cs typeface="Cambria"/>
              </a:rPr>
              <a:t>=</a:t>
            </a:r>
            <a:r>
              <a:rPr sz="2400" spc="50" dirty="0">
                <a:latin typeface="Cambria"/>
                <a:cs typeface="Cambria"/>
              </a:rPr>
              <a:t>  </a:t>
            </a:r>
            <a:r>
              <a:rPr sz="2400" dirty="0">
                <a:latin typeface="Cambria"/>
                <a:cs typeface="Cambria"/>
              </a:rPr>
              <a:t>pi*r*r</a:t>
            </a:r>
            <a:r>
              <a:rPr sz="2400" spc="40" dirty="0">
                <a:latin typeface="Cambria"/>
                <a:cs typeface="Cambria"/>
              </a:rPr>
              <a:t>  </a:t>
            </a:r>
            <a:r>
              <a:rPr sz="2400" dirty="0">
                <a:latin typeface="Wingdings"/>
                <a:cs typeface="Wingdings"/>
              </a:rPr>
              <a:t></a:t>
            </a:r>
            <a:r>
              <a:rPr sz="2400" spc="545" dirty="0">
                <a:latin typeface="Times New Roman"/>
                <a:cs typeface="Times New Roman"/>
              </a:rPr>
              <a:t> </a:t>
            </a:r>
            <a:r>
              <a:rPr sz="2400" dirty="0">
                <a:latin typeface="Cambria"/>
                <a:cs typeface="Cambria"/>
              </a:rPr>
              <a:t>3.14*2*2</a:t>
            </a:r>
            <a:r>
              <a:rPr sz="2400" spc="45" dirty="0">
                <a:latin typeface="Cambria"/>
                <a:cs typeface="Cambria"/>
              </a:rPr>
              <a:t>  </a:t>
            </a:r>
            <a:r>
              <a:rPr sz="2400" dirty="0">
                <a:latin typeface="Cambria"/>
                <a:cs typeface="Cambria"/>
              </a:rPr>
              <a:t>(computation</a:t>
            </a:r>
            <a:r>
              <a:rPr sz="2400" spc="45" dirty="0">
                <a:latin typeface="Cambria"/>
                <a:cs typeface="Cambria"/>
              </a:rPr>
              <a:t>  </a:t>
            </a:r>
            <a:r>
              <a:rPr sz="2400" dirty="0">
                <a:latin typeface="Cambria"/>
                <a:cs typeface="Cambria"/>
              </a:rPr>
              <a:t>is</a:t>
            </a:r>
            <a:r>
              <a:rPr sz="2400" spc="50" dirty="0">
                <a:latin typeface="Cambria"/>
                <a:cs typeface="Cambria"/>
              </a:rPr>
              <a:t>  </a:t>
            </a:r>
            <a:r>
              <a:rPr sz="2400" dirty="0">
                <a:latin typeface="Cambria"/>
                <a:cs typeface="Cambria"/>
              </a:rPr>
              <a:t>done</a:t>
            </a:r>
            <a:r>
              <a:rPr sz="2400" spc="50" dirty="0">
                <a:latin typeface="Cambria"/>
                <a:cs typeface="Cambria"/>
              </a:rPr>
              <a:t>  </a:t>
            </a:r>
            <a:r>
              <a:rPr sz="2400" spc="-10" dirty="0">
                <a:latin typeface="Cambria"/>
                <a:cs typeface="Cambria"/>
              </a:rPr>
              <a:t>during compilation)</a:t>
            </a:r>
            <a:endParaRPr sz="2400">
              <a:latin typeface="Cambria"/>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412750">
              <a:lnSpc>
                <a:spcPct val="88800"/>
              </a:lnSpc>
            </a:pPr>
            <a:r>
              <a:rPr sz="3600" b="1" spc="-60" dirty="0">
                <a:solidFill>
                  <a:srgbClr val="FFFFFF"/>
                </a:solidFill>
                <a:latin typeface="Cambria"/>
                <a:cs typeface="Cambria"/>
              </a:rPr>
              <a:t>Common</a:t>
            </a:r>
            <a:r>
              <a:rPr sz="3600" b="1" spc="-140" dirty="0">
                <a:solidFill>
                  <a:srgbClr val="FFFFFF"/>
                </a:solidFill>
                <a:latin typeface="Cambria"/>
                <a:cs typeface="Cambria"/>
              </a:rPr>
              <a:t> </a:t>
            </a:r>
            <a:r>
              <a:rPr sz="3600" b="1" spc="-40" dirty="0">
                <a:solidFill>
                  <a:srgbClr val="FFFFFF"/>
                </a:solidFill>
                <a:latin typeface="Cambria"/>
                <a:cs typeface="Cambria"/>
              </a:rPr>
              <a:t>Sub </a:t>
            </a:r>
            <a:r>
              <a:rPr sz="3600" b="1" spc="-10" dirty="0">
                <a:solidFill>
                  <a:srgbClr val="FFFFFF"/>
                </a:solidFill>
                <a:latin typeface="Cambria"/>
                <a:cs typeface="Cambria"/>
              </a:rPr>
              <a:t>Expression Elimination</a:t>
            </a:r>
            <a:endParaRPr sz="3600">
              <a:latin typeface="Cambria"/>
              <a:cs typeface="Cambria"/>
            </a:endParaRPr>
          </a:p>
        </p:txBody>
      </p:sp>
      <p:sp>
        <p:nvSpPr>
          <p:cNvPr id="3" name="object 3"/>
          <p:cNvSpPr txBox="1"/>
          <p:nvPr/>
        </p:nvSpPr>
        <p:spPr>
          <a:xfrm>
            <a:off x="3648202" y="1058036"/>
            <a:ext cx="7633334" cy="1861185"/>
          </a:xfrm>
          <a:prstGeom prst="rect">
            <a:avLst/>
          </a:prstGeom>
        </p:spPr>
        <p:txBody>
          <a:bodyPr vert="horz" wrap="square" lIns="0" tIns="53975" rIns="0" bIns="0" rtlCol="0">
            <a:spAutoFit/>
          </a:bodyPr>
          <a:lstStyle/>
          <a:p>
            <a:pPr marL="195580" marR="56515"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The</a:t>
            </a:r>
            <a:r>
              <a:rPr sz="2400" dirty="0">
                <a:latin typeface="Cambria"/>
                <a:cs typeface="Cambria"/>
              </a:rPr>
              <a:t> </a:t>
            </a:r>
            <a:r>
              <a:rPr sz="2400" spc="-20" dirty="0">
                <a:latin typeface="Cambria"/>
                <a:cs typeface="Cambria"/>
              </a:rPr>
              <a:t>common</a:t>
            </a:r>
            <a:r>
              <a:rPr sz="2400" spc="10" dirty="0">
                <a:latin typeface="Cambria"/>
                <a:cs typeface="Cambria"/>
              </a:rPr>
              <a:t> </a:t>
            </a:r>
            <a:r>
              <a:rPr sz="2400" spc="-15" dirty="0">
                <a:latin typeface="Cambria"/>
                <a:cs typeface="Cambria"/>
              </a:rPr>
              <a:t>subexpression</a:t>
            </a:r>
            <a:r>
              <a:rPr sz="2400" spc="-5" dirty="0">
                <a:latin typeface="Cambria"/>
                <a:cs typeface="Cambria"/>
              </a:rPr>
              <a:t> </a:t>
            </a:r>
            <a:r>
              <a:rPr sz="2400" spc="-10" dirty="0">
                <a:latin typeface="Cambria"/>
                <a:cs typeface="Cambria"/>
              </a:rPr>
              <a:t>is</a:t>
            </a:r>
            <a:r>
              <a:rPr sz="2400" spc="5" dirty="0">
                <a:latin typeface="Cambria"/>
                <a:cs typeface="Cambria"/>
              </a:rPr>
              <a:t> </a:t>
            </a:r>
            <a:r>
              <a:rPr sz="2400" spc="-20" dirty="0">
                <a:latin typeface="Cambria"/>
                <a:cs typeface="Cambria"/>
              </a:rPr>
              <a:t>an</a:t>
            </a:r>
            <a:r>
              <a:rPr sz="2400" spc="-10" dirty="0">
                <a:latin typeface="Cambria"/>
                <a:cs typeface="Cambria"/>
              </a:rPr>
              <a:t> </a:t>
            </a:r>
            <a:r>
              <a:rPr sz="2400" spc="-15" dirty="0">
                <a:latin typeface="Cambria"/>
                <a:cs typeface="Cambria"/>
              </a:rPr>
              <a:t>expression appearing</a:t>
            </a:r>
            <a:r>
              <a:rPr sz="2400" spc="-10" dirty="0">
                <a:latin typeface="Cambria"/>
                <a:cs typeface="Cambria"/>
              </a:rPr>
              <a:t> </a:t>
            </a:r>
            <a:r>
              <a:rPr sz="2400" spc="-25" dirty="0">
                <a:latin typeface="Cambria"/>
                <a:cs typeface="Cambria"/>
              </a:rPr>
              <a:t>repeatedly</a:t>
            </a:r>
            <a:r>
              <a:rPr sz="2400" spc="-5" dirty="0">
                <a:latin typeface="Cambria"/>
                <a:cs typeface="Cambria"/>
              </a:rPr>
              <a:t> </a:t>
            </a:r>
            <a:r>
              <a:rPr sz="2400" spc="5" dirty="0">
                <a:latin typeface="Cambria"/>
                <a:cs typeface="Cambria"/>
              </a:rPr>
              <a:t>i</a:t>
            </a:r>
            <a:r>
              <a:rPr sz="2400" dirty="0">
                <a:latin typeface="Cambria"/>
                <a:cs typeface="Cambria"/>
              </a:rPr>
              <a:t>n</a:t>
            </a:r>
            <a:r>
              <a:rPr sz="2400" spc="-20" dirty="0">
                <a:latin typeface="Cambria"/>
                <a:cs typeface="Cambria"/>
              </a:rPr>
              <a:t> </a:t>
            </a:r>
            <a:r>
              <a:rPr sz="2400" spc="-15" dirty="0">
                <a:latin typeface="Cambria"/>
                <a:cs typeface="Cambria"/>
              </a:rPr>
              <a:t>the</a:t>
            </a:r>
            <a:r>
              <a:rPr sz="2400" dirty="0">
                <a:latin typeface="Cambria"/>
                <a:cs typeface="Cambria"/>
              </a:rPr>
              <a:t> </a:t>
            </a:r>
            <a:r>
              <a:rPr sz="2400" spc="-20" dirty="0">
                <a:latin typeface="Cambria"/>
                <a:cs typeface="Cambria"/>
              </a:rPr>
              <a:t>program</a:t>
            </a:r>
            <a:r>
              <a:rPr sz="2400" spc="-15" dirty="0">
                <a:latin typeface="Cambria"/>
                <a:cs typeface="Cambria"/>
              </a:rPr>
              <a:t> </a:t>
            </a:r>
            <a:r>
              <a:rPr sz="2400" spc="-20" dirty="0">
                <a:latin typeface="Cambria"/>
                <a:cs typeface="Cambria"/>
              </a:rPr>
              <a:t>which</a:t>
            </a:r>
            <a:r>
              <a:rPr sz="2400" dirty="0">
                <a:latin typeface="Cambria"/>
                <a:cs typeface="Cambria"/>
              </a:rPr>
              <a:t> </a:t>
            </a:r>
            <a:r>
              <a:rPr sz="2400" spc="-10" dirty="0">
                <a:latin typeface="Cambria"/>
                <a:cs typeface="Cambria"/>
              </a:rPr>
              <a:t>is </a:t>
            </a:r>
            <a:r>
              <a:rPr sz="2400" spc="-25" dirty="0">
                <a:latin typeface="Cambria"/>
                <a:cs typeface="Cambria"/>
              </a:rPr>
              <a:t>computed</a:t>
            </a:r>
            <a:r>
              <a:rPr sz="2400" spc="35" dirty="0">
                <a:latin typeface="Cambria"/>
                <a:cs typeface="Cambria"/>
              </a:rPr>
              <a:t> </a:t>
            </a:r>
            <a:r>
              <a:rPr sz="2400" spc="-40" dirty="0">
                <a:latin typeface="Cambria"/>
                <a:cs typeface="Cambria"/>
              </a:rPr>
              <a:t>previously.</a:t>
            </a:r>
            <a:endParaRPr sz="2400">
              <a:latin typeface="Cambria"/>
              <a:cs typeface="Cambria"/>
            </a:endParaRPr>
          </a:p>
          <a:p>
            <a:pPr marL="195580" marR="5080" indent="-182880" algn="just">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If</a:t>
            </a:r>
            <a:r>
              <a:rPr sz="2400" spc="-10" dirty="0">
                <a:latin typeface="Cambria"/>
                <a:cs typeface="Cambria"/>
              </a:rPr>
              <a:t> </a:t>
            </a:r>
            <a:r>
              <a:rPr sz="2400" spc="-15" dirty="0">
                <a:latin typeface="Cambria"/>
                <a:cs typeface="Cambria"/>
              </a:rPr>
              <a:t>the</a:t>
            </a:r>
            <a:r>
              <a:rPr sz="2400" dirty="0">
                <a:latin typeface="Cambria"/>
                <a:cs typeface="Cambria"/>
              </a:rPr>
              <a:t> </a:t>
            </a:r>
            <a:r>
              <a:rPr sz="2400" spc="-20" dirty="0">
                <a:latin typeface="Cambria"/>
                <a:cs typeface="Cambria"/>
              </a:rPr>
              <a:t>operands</a:t>
            </a:r>
            <a:r>
              <a:rPr sz="2400" spc="-15" dirty="0">
                <a:latin typeface="Cambria"/>
                <a:cs typeface="Cambria"/>
              </a:rPr>
              <a:t> </a:t>
            </a:r>
            <a:r>
              <a:rPr sz="2400" dirty="0">
                <a:latin typeface="Cambria"/>
                <a:cs typeface="Cambria"/>
              </a:rPr>
              <a:t>of </a:t>
            </a:r>
            <a:r>
              <a:rPr sz="2400" spc="-10" dirty="0">
                <a:latin typeface="Cambria"/>
                <a:cs typeface="Cambria"/>
              </a:rPr>
              <a:t>this</a:t>
            </a:r>
            <a:r>
              <a:rPr sz="2400" spc="-15" dirty="0">
                <a:latin typeface="Cambria"/>
                <a:cs typeface="Cambria"/>
              </a:rPr>
              <a:t> </a:t>
            </a:r>
            <a:r>
              <a:rPr sz="2400" spc="-20" dirty="0">
                <a:latin typeface="Cambria"/>
                <a:cs typeface="Cambria"/>
              </a:rPr>
              <a:t>sub</a:t>
            </a:r>
            <a:r>
              <a:rPr sz="2400" spc="-5" dirty="0">
                <a:latin typeface="Cambria"/>
                <a:cs typeface="Cambria"/>
              </a:rPr>
              <a:t> </a:t>
            </a:r>
            <a:r>
              <a:rPr sz="2400" spc="-15" dirty="0">
                <a:latin typeface="Cambria"/>
                <a:cs typeface="Cambria"/>
              </a:rPr>
              <a:t>expression do</a:t>
            </a:r>
            <a:r>
              <a:rPr sz="2400" dirty="0">
                <a:latin typeface="Cambria"/>
                <a:cs typeface="Cambria"/>
              </a:rPr>
              <a:t> </a:t>
            </a:r>
            <a:r>
              <a:rPr sz="2400" spc="-5" dirty="0">
                <a:latin typeface="Cambria"/>
                <a:cs typeface="Cambria"/>
              </a:rPr>
              <a:t>no</a:t>
            </a:r>
            <a:r>
              <a:rPr sz="2400" dirty="0">
                <a:latin typeface="Cambria"/>
                <a:cs typeface="Cambria"/>
              </a:rPr>
              <a:t>t</a:t>
            </a:r>
            <a:r>
              <a:rPr sz="2400" spc="-10" dirty="0">
                <a:latin typeface="Cambria"/>
                <a:cs typeface="Cambria"/>
              </a:rPr>
              <a:t> get</a:t>
            </a:r>
            <a:r>
              <a:rPr sz="2400" spc="-5" dirty="0">
                <a:latin typeface="Cambria"/>
                <a:cs typeface="Cambria"/>
              </a:rPr>
              <a:t> </a:t>
            </a:r>
            <a:r>
              <a:rPr sz="2400" spc="-15" dirty="0">
                <a:latin typeface="Cambria"/>
                <a:cs typeface="Cambria"/>
              </a:rPr>
              <a:t>changed</a:t>
            </a:r>
            <a:r>
              <a:rPr sz="2400" spc="-10" dirty="0">
                <a:latin typeface="Cambria"/>
                <a:cs typeface="Cambria"/>
              </a:rPr>
              <a:t> </a:t>
            </a:r>
            <a:r>
              <a:rPr sz="2400" spc="-15" dirty="0">
                <a:latin typeface="Cambria"/>
                <a:cs typeface="Cambria"/>
              </a:rPr>
              <a:t>at</a:t>
            </a:r>
            <a:r>
              <a:rPr sz="2400" spc="-10" dirty="0">
                <a:latin typeface="Cambria"/>
                <a:cs typeface="Cambria"/>
              </a:rPr>
              <a:t> </a:t>
            </a:r>
            <a:r>
              <a:rPr sz="2400" spc="-5" dirty="0">
                <a:latin typeface="Cambria"/>
                <a:cs typeface="Cambria"/>
              </a:rPr>
              <a:t>al</a:t>
            </a:r>
            <a:r>
              <a:rPr sz="2400" dirty="0">
                <a:latin typeface="Cambria"/>
                <a:cs typeface="Cambria"/>
              </a:rPr>
              <a:t>l</a:t>
            </a:r>
            <a:r>
              <a:rPr sz="2400" spc="-5" dirty="0">
                <a:latin typeface="Cambria"/>
                <a:cs typeface="Cambria"/>
              </a:rPr>
              <a:t> </a:t>
            </a:r>
            <a:r>
              <a:rPr sz="2400" spc="-20" dirty="0">
                <a:latin typeface="Cambria"/>
                <a:cs typeface="Cambria"/>
              </a:rPr>
              <a:t>then</a:t>
            </a:r>
            <a:r>
              <a:rPr sz="2400" spc="5" dirty="0">
                <a:latin typeface="Cambria"/>
                <a:cs typeface="Cambria"/>
              </a:rPr>
              <a:t> </a:t>
            </a:r>
            <a:r>
              <a:rPr sz="2400" spc="-20" dirty="0">
                <a:latin typeface="Cambria"/>
                <a:cs typeface="Cambria"/>
              </a:rPr>
              <a:t>result</a:t>
            </a:r>
            <a:r>
              <a:rPr sz="2400" spc="-15" dirty="0">
                <a:latin typeface="Cambria"/>
                <a:cs typeface="Cambria"/>
              </a:rPr>
              <a:t> </a:t>
            </a:r>
            <a:r>
              <a:rPr sz="2400" dirty="0">
                <a:latin typeface="Cambria"/>
                <a:cs typeface="Cambria"/>
              </a:rPr>
              <a:t>of </a:t>
            </a:r>
            <a:r>
              <a:rPr sz="2400" spc="-15" dirty="0">
                <a:latin typeface="Cambria"/>
                <a:cs typeface="Cambria"/>
              </a:rPr>
              <a:t>such</a:t>
            </a:r>
            <a:r>
              <a:rPr sz="2400" dirty="0">
                <a:latin typeface="Cambria"/>
                <a:cs typeface="Cambria"/>
              </a:rPr>
              <a:t> </a:t>
            </a:r>
            <a:r>
              <a:rPr sz="2400" spc="-20" dirty="0">
                <a:latin typeface="Cambria"/>
                <a:cs typeface="Cambria"/>
              </a:rPr>
              <a:t>sub</a:t>
            </a:r>
            <a:r>
              <a:rPr sz="2400" spc="-5" dirty="0">
                <a:latin typeface="Cambria"/>
                <a:cs typeface="Cambria"/>
              </a:rPr>
              <a:t> </a:t>
            </a:r>
            <a:r>
              <a:rPr sz="2400" spc="-15" dirty="0">
                <a:latin typeface="Cambria"/>
                <a:cs typeface="Cambria"/>
              </a:rPr>
              <a:t>expression </a:t>
            </a:r>
            <a:r>
              <a:rPr sz="2400" spc="-10" dirty="0">
                <a:latin typeface="Cambria"/>
                <a:cs typeface="Cambria"/>
              </a:rPr>
              <a:t>is</a:t>
            </a:r>
            <a:r>
              <a:rPr sz="2400" dirty="0">
                <a:latin typeface="Cambria"/>
                <a:cs typeface="Cambria"/>
              </a:rPr>
              <a:t> </a:t>
            </a:r>
            <a:r>
              <a:rPr sz="2400" spc="-15" dirty="0">
                <a:latin typeface="Cambria"/>
                <a:cs typeface="Cambria"/>
              </a:rPr>
              <a:t>used</a:t>
            </a:r>
            <a:r>
              <a:rPr sz="2400" spc="10" dirty="0">
                <a:latin typeface="Cambria"/>
                <a:cs typeface="Cambria"/>
              </a:rPr>
              <a:t> </a:t>
            </a:r>
            <a:r>
              <a:rPr sz="2400" spc="-15" dirty="0">
                <a:latin typeface="Cambria"/>
                <a:cs typeface="Cambria"/>
              </a:rPr>
              <a:t>instead </a:t>
            </a:r>
            <a:r>
              <a:rPr sz="2400" dirty="0">
                <a:latin typeface="Cambria"/>
                <a:cs typeface="Cambria"/>
              </a:rPr>
              <a:t>of </a:t>
            </a:r>
            <a:r>
              <a:rPr sz="2400" spc="-15" dirty="0">
                <a:latin typeface="Cambria"/>
                <a:cs typeface="Cambria"/>
              </a:rPr>
              <a:t>re-computing</a:t>
            </a:r>
            <a:r>
              <a:rPr sz="2400" spc="-5" dirty="0">
                <a:latin typeface="Cambria"/>
                <a:cs typeface="Cambria"/>
              </a:rPr>
              <a:t> </a:t>
            </a:r>
            <a:r>
              <a:rPr sz="2400" dirty="0">
                <a:latin typeface="Cambria"/>
                <a:cs typeface="Cambria"/>
              </a:rPr>
              <a:t>it</a:t>
            </a:r>
            <a:r>
              <a:rPr sz="2400" spc="-5" dirty="0">
                <a:latin typeface="Cambria"/>
                <a:cs typeface="Cambria"/>
              </a:rPr>
              <a:t> </a:t>
            </a:r>
            <a:r>
              <a:rPr sz="2400" spc="-15" dirty="0">
                <a:latin typeface="Cambria"/>
                <a:cs typeface="Cambria"/>
              </a:rPr>
              <a:t>each</a:t>
            </a:r>
            <a:r>
              <a:rPr sz="2400" spc="5" dirty="0">
                <a:latin typeface="Cambria"/>
                <a:cs typeface="Cambria"/>
              </a:rPr>
              <a:t> </a:t>
            </a:r>
            <a:r>
              <a:rPr sz="2400" spc="-10" dirty="0">
                <a:latin typeface="Cambria"/>
                <a:cs typeface="Cambria"/>
              </a:rPr>
              <a:t>time.</a:t>
            </a:r>
            <a:endParaRPr sz="2400">
              <a:latin typeface="Cambria"/>
              <a:cs typeface="Cambria"/>
            </a:endParaRPr>
          </a:p>
        </p:txBody>
      </p:sp>
      <p:sp>
        <p:nvSpPr>
          <p:cNvPr id="4" name="object 4"/>
          <p:cNvSpPr txBox="1"/>
          <p:nvPr/>
        </p:nvSpPr>
        <p:spPr>
          <a:xfrm>
            <a:off x="3648202" y="2892700"/>
            <a:ext cx="1652905" cy="2434590"/>
          </a:xfrm>
          <a:prstGeom prst="rect">
            <a:avLst/>
          </a:prstGeom>
        </p:spPr>
        <p:txBody>
          <a:bodyPr vert="horz" wrap="square" lIns="0" tIns="12700" rIns="0" bIns="0" rtlCol="0">
            <a:spAutoFit/>
          </a:bodyPr>
          <a:lstStyle/>
          <a:p>
            <a:pPr marL="12700" marR="356870">
              <a:lnSpc>
                <a:spcPct val="131700"/>
              </a:lnSpc>
              <a:spcBef>
                <a:spcPts val="100"/>
              </a:spcBef>
              <a:tabLst>
                <a:tab pos="418465" algn="l"/>
              </a:tabLst>
            </a:pPr>
            <a:r>
              <a:rPr sz="2400" dirty="0">
                <a:latin typeface="Cambria"/>
                <a:cs typeface="Cambria"/>
              </a:rPr>
              <a:t>t1</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4*i</a:t>
            </a:r>
            <a:r>
              <a:rPr sz="2400" spc="600" dirty="0">
                <a:latin typeface="Cambria"/>
                <a:cs typeface="Cambria"/>
              </a:rPr>
              <a:t> </a:t>
            </a:r>
            <a:r>
              <a:rPr sz="2400" spc="-25" dirty="0">
                <a:latin typeface="Cambria"/>
                <a:cs typeface="Cambria"/>
              </a:rPr>
              <a:t>t2</a:t>
            </a:r>
            <a:r>
              <a:rPr sz="2400" dirty="0">
                <a:latin typeface="Cambria"/>
                <a:cs typeface="Cambria"/>
              </a:rPr>
              <a:t>	=</a:t>
            </a:r>
            <a:r>
              <a:rPr sz="2400" spc="-15" dirty="0">
                <a:latin typeface="Cambria"/>
                <a:cs typeface="Cambria"/>
              </a:rPr>
              <a:t> </a:t>
            </a:r>
            <a:r>
              <a:rPr sz="2400" spc="-10" dirty="0">
                <a:latin typeface="Cambria"/>
                <a:cs typeface="Cambria"/>
              </a:rPr>
              <a:t>a[t1] </a:t>
            </a:r>
            <a:r>
              <a:rPr sz="2400" dirty="0">
                <a:latin typeface="Cambria"/>
                <a:cs typeface="Cambria"/>
              </a:rPr>
              <a:t>t3 =</a:t>
            </a:r>
            <a:r>
              <a:rPr sz="2400" spc="-15" dirty="0">
                <a:latin typeface="Cambria"/>
                <a:cs typeface="Cambria"/>
              </a:rPr>
              <a:t> </a:t>
            </a:r>
            <a:r>
              <a:rPr sz="2400" spc="-25" dirty="0">
                <a:latin typeface="Cambria"/>
                <a:cs typeface="Cambria"/>
              </a:rPr>
              <a:t>4*j</a:t>
            </a:r>
            <a:r>
              <a:rPr sz="2400" spc="600" dirty="0">
                <a:latin typeface="Cambria"/>
                <a:cs typeface="Cambria"/>
              </a:rPr>
              <a:t> </a:t>
            </a:r>
            <a:r>
              <a:rPr sz="2400" dirty="0">
                <a:latin typeface="Cambria"/>
                <a:cs typeface="Cambria"/>
              </a:rPr>
              <a:t>t4 =</a:t>
            </a:r>
            <a:r>
              <a:rPr sz="2400" spc="-15" dirty="0">
                <a:latin typeface="Cambria"/>
                <a:cs typeface="Cambria"/>
              </a:rPr>
              <a:t> </a:t>
            </a:r>
            <a:r>
              <a:rPr sz="2400" spc="-25" dirty="0">
                <a:latin typeface="Cambria"/>
                <a:cs typeface="Cambria"/>
              </a:rPr>
              <a:t>4*i</a:t>
            </a:r>
            <a:endParaRPr sz="2400">
              <a:latin typeface="Cambria"/>
              <a:cs typeface="Cambria"/>
            </a:endParaRPr>
          </a:p>
          <a:p>
            <a:pPr marL="12700">
              <a:lnSpc>
                <a:spcPct val="100000"/>
              </a:lnSpc>
              <a:spcBef>
                <a:spcPts val="915"/>
              </a:spcBef>
            </a:pPr>
            <a:r>
              <a:rPr sz="2400" dirty="0">
                <a:latin typeface="Cambria"/>
                <a:cs typeface="Cambria"/>
              </a:rPr>
              <a:t>t5=</a:t>
            </a:r>
            <a:r>
              <a:rPr sz="2400" spc="-30" dirty="0">
                <a:latin typeface="Cambria"/>
                <a:cs typeface="Cambria"/>
              </a:rPr>
              <a:t> </a:t>
            </a:r>
            <a:r>
              <a:rPr sz="2400" dirty="0">
                <a:latin typeface="Cambria"/>
                <a:cs typeface="Cambria"/>
              </a:rPr>
              <a:t>b[t4]</a:t>
            </a:r>
            <a:r>
              <a:rPr sz="2400" spc="-20"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1</a:t>
            </a:r>
            <a:endParaRPr sz="2400">
              <a:latin typeface="Cambria"/>
              <a:cs typeface="Cambria"/>
            </a:endParaRPr>
          </a:p>
        </p:txBody>
      </p:sp>
      <p:sp>
        <p:nvSpPr>
          <p:cNvPr id="5" name="object 5"/>
          <p:cNvSpPr txBox="1"/>
          <p:nvPr/>
        </p:nvSpPr>
        <p:spPr>
          <a:xfrm>
            <a:off x="7306436" y="2892700"/>
            <a:ext cx="1720214" cy="2434590"/>
          </a:xfrm>
          <a:prstGeom prst="rect">
            <a:avLst/>
          </a:prstGeom>
        </p:spPr>
        <p:txBody>
          <a:bodyPr vert="horz" wrap="square" lIns="0" tIns="12700" rIns="0" bIns="0" rtlCol="0">
            <a:spAutoFit/>
          </a:bodyPr>
          <a:lstStyle/>
          <a:p>
            <a:pPr marL="12700" marR="491490">
              <a:lnSpc>
                <a:spcPct val="131700"/>
              </a:lnSpc>
              <a:spcBef>
                <a:spcPts val="100"/>
              </a:spcBef>
            </a:pPr>
            <a:r>
              <a:rPr sz="2400" dirty="0">
                <a:latin typeface="Cambria"/>
                <a:cs typeface="Cambria"/>
              </a:rPr>
              <a:t>t1</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4*i </a:t>
            </a:r>
            <a:r>
              <a:rPr sz="2400" dirty="0">
                <a:latin typeface="Cambria"/>
                <a:cs typeface="Cambria"/>
              </a:rPr>
              <a:t>t2 =</a:t>
            </a:r>
            <a:r>
              <a:rPr sz="2400" spc="-15" dirty="0">
                <a:latin typeface="Cambria"/>
                <a:cs typeface="Cambria"/>
              </a:rPr>
              <a:t> </a:t>
            </a:r>
            <a:r>
              <a:rPr sz="2400" spc="-10" dirty="0">
                <a:latin typeface="Cambria"/>
                <a:cs typeface="Cambria"/>
              </a:rPr>
              <a:t>a[t1] </a:t>
            </a:r>
            <a:r>
              <a:rPr sz="2400" dirty="0">
                <a:latin typeface="Cambria"/>
                <a:cs typeface="Cambria"/>
              </a:rPr>
              <a:t>t3 =</a:t>
            </a:r>
            <a:r>
              <a:rPr sz="2400" spc="-15" dirty="0">
                <a:latin typeface="Cambria"/>
                <a:cs typeface="Cambria"/>
              </a:rPr>
              <a:t> </a:t>
            </a:r>
            <a:r>
              <a:rPr sz="2400" spc="-25" dirty="0">
                <a:latin typeface="Cambria"/>
                <a:cs typeface="Cambria"/>
              </a:rPr>
              <a:t>4*j </a:t>
            </a:r>
            <a:r>
              <a:rPr sz="2400" dirty="0">
                <a:latin typeface="Cambria"/>
                <a:cs typeface="Cambria"/>
              </a:rPr>
              <a:t>t4 =</a:t>
            </a:r>
            <a:r>
              <a:rPr sz="2400" spc="-15" dirty="0">
                <a:latin typeface="Cambria"/>
                <a:cs typeface="Cambria"/>
              </a:rPr>
              <a:t> </a:t>
            </a:r>
            <a:r>
              <a:rPr sz="2400" spc="-25" dirty="0">
                <a:latin typeface="Cambria"/>
                <a:cs typeface="Cambria"/>
              </a:rPr>
              <a:t>4*i</a:t>
            </a:r>
            <a:endParaRPr sz="2400">
              <a:latin typeface="Cambria"/>
              <a:cs typeface="Cambria"/>
            </a:endParaRPr>
          </a:p>
          <a:p>
            <a:pPr marL="12700">
              <a:lnSpc>
                <a:spcPct val="100000"/>
              </a:lnSpc>
              <a:spcBef>
                <a:spcPts val="915"/>
              </a:spcBef>
            </a:pPr>
            <a:r>
              <a:rPr sz="2400" dirty="0">
                <a:latin typeface="Cambria"/>
                <a:cs typeface="Cambria"/>
              </a:rPr>
              <a:t>t5</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b[t1]</a:t>
            </a:r>
            <a:r>
              <a:rPr sz="2400" spc="-20"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1</a:t>
            </a:r>
            <a:endParaRPr sz="2400">
              <a:latin typeface="Cambria"/>
              <a:cs typeface="Cambria"/>
            </a:endParaRPr>
          </a:p>
        </p:txBody>
      </p:sp>
      <p:grpSp>
        <p:nvGrpSpPr>
          <p:cNvPr id="6" name="object 6"/>
          <p:cNvGrpSpPr/>
          <p:nvPr/>
        </p:nvGrpSpPr>
        <p:grpSpPr>
          <a:xfrm>
            <a:off x="5131308" y="3887723"/>
            <a:ext cx="1813560" cy="429895"/>
            <a:chOff x="5131308" y="3887723"/>
            <a:chExt cx="1813560" cy="429895"/>
          </a:xfrm>
        </p:grpSpPr>
        <p:sp>
          <p:nvSpPr>
            <p:cNvPr id="7" name="object 7"/>
            <p:cNvSpPr/>
            <p:nvPr/>
          </p:nvSpPr>
          <p:spPr>
            <a:xfrm>
              <a:off x="5136642" y="3893057"/>
              <a:ext cx="1803400" cy="419100"/>
            </a:xfrm>
            <a:custGeom>
              <a:avLst/>
              <a:gdLst/>
              <a:ahLst/>
              <a:cxnLst/>
              <a:rect l="l" t="t" r="r" b="b"/>
              <a:pathLst>
                <a:path w="1803400" h="419100">
                  <a:moveTo>
                    <a:pt x="1593341" y="0"/>
                  </a:moveTo>
                  <a:lnTo>
                    <a:pt x="1593341" y="104775"/>
                  </a:lnTo>
                  <a:lnTo>
                    <a:pt x="0" y="104775"/>
                  </a:lnTo>
                  <a:lnTo>
                    <a:pt x="0" y="314325"/>
                  </a:lnTo>
                  <a:lnTo>
                    <a:pt x="1593341" y="314325"/>
                  </a:lnTo>
                  <a:lnTo>
                    <a:pt x="1593341" y="419100"/>
                  </a:lnTo>
                  <a:lnTo>
                    <a:pt x="1802891" y="209550"/>
                  </a:lnTo>
                  <a:lnTo>
                    <a:pt x="1593341" y="0"/>
                  </a:lnTo>
                  <a:close/>
                </a:path>
              </a:pathLst>
            </a:custGeom>
            <a:solidFill>
              <a:srgbClr val="40B9D2"/>
            </a:solidFill>
          </p:spPr>
          <p:txBody>
            <a:bodyPr wrap="square" lIns="0" tIns="0" rIns="0" bIns="0" rtlCol="0"/>
            <a:lstStyle/>
            <a:p>
              <a:endParaRPr/>
            </a:p>
          </p:txBody>
        </p:sp>
        <p:sp>
          <p:nvSpPr>
            <p:cNvPr id="8" name="object 8"/>
            <p:cNvSpPr/>
            <p:nvPr/>
          </p:nvSpPr>
          <p:spPr>
            <a:xfrm>
              <a:off x="5136642" y="3893057"/>
              <a:ext cx="1803400" cy="419100"/>
            </a:xfrm>
            <a:custGeom>
              <a:avLst/>
              <a:gdLst/>
              <a:ahLst/>
              <a:cxnLst/>
              <a:rect l="l" t="t" r="r" b="b"/>
              <a:pathLst>
                <a:path w="1803400" h="419100">
                  <a:moveTo>
                    <a:pt x="0" y="104775"/>
                  </a:moveTo>
                  <a:lnTo>
                    <a:pt x="1593341" y="104775"/>
                  </a:lnTo>
                  <a:lnTo>
                    <a:pt x="1593341" y="0"/>
                  </a:lnTo>
                  <a:lnTo>
                    <a:pt x="1802891" y="209550"/>
                  </a:lnTo>
                  <a:lnTo>
                    <a:pt x="1593341" y="419100"/>
                  </a:lnTo>
                  <a:lnTo>
                    <a:pt x="1593341" y="314325"/>
                  </a:lnTo>
                  <a:lnTo>
                    <a:pt x="0" y="314325"/>
                  </a:lnTo>
                  <a:lnTo>
                    <a:pt x="0" y="104775"/>
                  </a:lnTo>
                  <a:close/>
                </a:path>
              </a:pathLst>
            </a:custGeom>
            <a:ln w="10668">
              <a:solidFill>
                <a:srgbClr val="2C879A"/>
              </a:solidFill>
            </a:ln>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84835">
              <a:lnSpc>
                <a:spcPts val="3779"/>
              </a:lnSpc>
            </a:pPr>
            <a:r>
              <a:rPr sz="3600" b="1" spc="-20" dirty="0">
                <a:solidFill>
                  <a:srgbClr val="FFFFFF"/>
                </a:solidFill>
                <a:latin typeface="Cambria"/>
                <a:cs typeface="Cambria"/>
              </a:rPr>
              <a:t>Copy </a:t>
            </a:r>
            <a:r>
              <a:rPr sz="3600" b="1" spc="-70" dirty="0">
                <a:solidFill>
                  <a:srgbClr val="FFFFFF"/>
                </a:solidFill>
                <a:latin typeface="Cambria"/>
                <a:cs typeface="Cambria"/>
              </a:rPr>
              <a:t>propagation</a:t>
            </a:r>
            <a:endParaRPr sz="3600">
              <a:latin typeface="Cambria"/>
              <a:cs typeface="Cambria"/>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dirty="0"/>
              <a:t>It</a:t>
            </a:r>
            <a:r>
              <a:rPr spc="-40" dirty="0"/>
              <a:t> </a:t>
            </a:r>
            <a:r>
              <a:rPr dirty="0"/>
              <a:t>means</a:t>
            </a:r>
            <a:r>
              <a:rPr spc="-30" dirty="0"/>
              <a:t> </a:t>
            </a:r>
            <a:r>
              <a:rPr dirty="0"/>
              <a:t>used</a:t>
            </a:r>
            <a:r>
              <a:rPr spc="-25" dirty="0"/>
              <a:t> </a:t>
            </a:r>
            <a:r>
              <a:rPr dirty="0"/>
              <a:t>of</a:t>
            </a:r>
            <a:r>
              <a:rPr spc="-30" dirty="0"/>
              <a:t> </a:t>
            </a:r>
            <a:r>
              <a:rPr dirty="0"/>
              <a:t>one</a:t>
            </a:r>
            <a:r>
              <a:rPr spc="-40" dirty="0"/>
              <a:t> </a:t>
            </a:r>
            <a:r>
              <a:rPr spc="-10" dirty="0"/>
              <a:t>variable</a:t>
            </a:r>
            <a:r>
              <a:rPr spc="-70" dirty="0"/>
              <a:t> </a:t>
            </a:r>
            <a:r>
              <a:rPr dirty="0"/>
              <a:t>instead</a:t>
            </a:r>
            <a:r>
              <a:rPr spc="-35" dirty="0"/>
              <a:t> </a:t>
            </a:r>
            <a:r>
              <a:rPr dirty="0"/>
              <a:t>of</a:t>
            </a:r>
            <a:r>
              <a:rPr spc="-30" dirty="0"/>
              <a:t> </a:t>
            </a:r>
            <a:r>
              <a:rPr spc="-10" dirty="0"/>
              <a:t>another.</a:t>
            </a:r>
          </a:p>
        </p:txBody>
      </p:sp>
      <p:sp>
        <p:nvSpPr>
          <p:cNvPr id="4" name="object 4"/>
          <p:cNvSpPr txBox="1"/>
          <p:nvPr/>
        </p:nvSpPr>
        <p:spPr>
          <a:xfrm>
            <a:off x="3553714" y="1236090"/>
            <a:ext cx="114808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mbria"/>
                <a:cs typeface="Cambria"/>
              </a:rPr>
              <a:t>Example</a:t>
            </a:r>
            <a:endParaRPr sz="2400">
              <a:latin typeface="Cambria"/>
              <a:cs typeface="Cambria"/>
            </a:endParaRPr>
          </a:p>
        </p:txBody>
      </p:sp>
      <p:sp>
        <p:nvSpPr>
          <p:cNvPr id="5" name="object 5"/>
          <p:cNvSpPr txBox="1"/>
          <p:nvPr/>
        </p:nvSpPr>
        <p:spPr>
          <a:xfrm>
            <a:off x="3553714" y="2199513"/>
            <a:ext cx="79121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A</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PI</a:t>
            </a:r>
            <a:endParaRPr sz="2400">
              <a:latin typeface="Cambria"/>
              <a:cs typeface="Cambria"/>
            </a:endParaRPr>
          </a:p>
        </p:txBody>
      </p:sp>
      <p:sp>
        <p:nvSpPr>
          <p:cNvPr id="6" name="object 6"/>
          <p:cNvSpPr txBox="1"/>
          <p:nvPr/>
        </p:nvSpPr>
        <p:spPr>
          <a:xfrm>
            <a:off x="3553714" y="3162376"/>
            <a:ext cx="1913889"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Area</a:t>
            </a:r>
            <a:r>
              <a:rPr sz="2400" spc="-25" dirty="0">
                <a:latin typeface="Cambria"/>
                <a:cs typeface="Cambria"/>
              </a:rPr>
              <a:t> </a:t>
            </a:r>
            <a:r>
              <a:rPr sz="2400" dirty="0">
                <a:latin typeface="Cambria"/>
                <a:cs typeface="Cambria"/>
              </a:rPr>
              <a:t>=</a:t>
            </a:r>
            <a:r>
              <a:rPr sz="2400" spc="-25" dirty="0">
                <a:latin typeface="Cambria"/>
                <a:cs typeface="Cambria"/>
              </a:rPr>
              <a:t> </a:t>
            </a:r>
            <a:r>
              <a:rPr sz="2400" b="1" dirty="0">
                <a:latin typeface="Cambria"/>
                <a:cs typeface="Cambria"/>
              </a:rPr>
              <a:t>A</a:t>
            </a:r>
            <a:r>
              <a:rPr sz="2400" b="1" spc="-2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r</a:t>
            </a:r>
            <a:r>
              <a:rPr sz="2400" spc="-25" dirty="0">
                <a:latin typeface="Cambria"/>
                <a:cs typeface="Cambria"/>
              </a:rPr>
              <a:t> </a:t>
            </a:r>
            <a:r>
              <a:rPr sz="2400" dirty="0">
                <a:latin typeface="Cambria"/>
                <a:cs typeface="Cambria"/>
              </a:rPr>
              <a:t>*</a:t>
            </a:r>
            <a:r>
              <a:rPr sz="2400" spc="-20" dirty="0">
                <a:latin typeface="Cambria"/>
                <a:cs typeface="Cambria"/>
              </a:rPr>
              <a:t> </a:t>
            </a:r>
            <a:r>
              <a:rPr sz="2400" spc="-50" dirty="0">
                <a:latin typeface="Cambria"/>
                <a:cs typeface="Cambria"/>
              </a:rPr>
              <a:t>r</a:t>
            </a:r>
            <a:endParaRPr sz="2400">
              <a:latin typeface="Cambria"/>
              <a:cs typeface="Cambria"/>
            </a:endParaRPr>
          </a:p>
        </p:txBody>
      </p:sp>
      <p:sp>
        <p:nvSpPr>
          <p:cNvPr id="7" name="object 7"/>
          <p:cNvSpPr txBox="1"/>
          <p:nvPr/>
        </p:nvSpPr>
        <p:spPr>
          <a:xfrm>
            <a:off x="7175372" y="3162376"/>
            <a:ext cx="187515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Area</a:t>
            </a:r>
            <a:r>
              <a:rPr sz="2400" spc="-30" dirty="0">
                <a:latin typeface="Cambria"/>
                <a:cs typeface="Cambria"/>
              </a:rPr>
              <a:t> </a:t>
            </a:r>
            <a:r>
              <a:rPr sz="2400" dirty="0">
                <a:latin typeface="Cambria"/>
                <a:cs typeface="Cambria"/>
              </a:rPr>
              <a:t>=</a:t>
            </a:r>
            <a:r>
              <a:rPr sz="2400" spc="-30" dirty="0">
                <a:latin typeface="Cambria"/>
                <a:cs typeface="Cambria"/>
              </a:rPr>
              <a:t> </a:t>
            </a:r>
            <a:r>
              <a:rPr sz="2400" b="1" dirty="0">
                <a:latin typeface="Cambria"/>
                <a:cs typeface="Cambria"/>
              </a:rPr>
              <a:t>PI</a:t>
            </a:r>
            <a:r>
              <a:rPr sz="2400" b="1" spc="-25" dirty="0">
                <a:latin typeface="Cambria"/>
                <a:cs typeface="Cambria"/>
              </a:rPr>
              <a:t> </a:t>
            </a:r>
            <a:r>
              <a:rPr sz="2400" dirty="0">
                <a:latin typeface="Cambria"/>
                <a:cs typeface="Cambria"/>
              </a:rPr>
              <a:t>*r</a:t>
            </a:r>
            <a:r>
              <a:rPr sz="2400" spc="-30" dirty="0">
                <a:latin typeface="Cambria"/>
                <a:cs typeface="Cambria"/>
              </a:rPr>
              <a:t> </a:t>
            </a:r>
            <a:r>
              <a:rPr sz="2400" spc="-25" dirty="0">
                <a:latin typeface="Cambria"/>
                <a:cs typeface="Cambria"/>
              </a:rPr>
              <a:t>*r</a:t>
            </a:r>
            <a:endParaRPr sz="2400">
              <a:latin typeface="Cambria"/>
              <a:cs typeface="Cambria"/>
            </a:endParaRPr>
          </a:p>
        </p:txBody>
      </p:sp>
      <p:grpSp>
        <p:nvGrpSpPr>
          <p:cNvPr id="8" name="object 8"/>
          <p:cNvGrpSpPr/>
          <p:nvPr/>
        </p:nvGrpSpPr>
        <p:grpSpPr>
          <a:xfrm>
            <a:off x="5762244" y="3243072"/>
            <a:ext cx="1186180" cy="364490"/>
            <a:chOff x="5762244" y="3243072"/>
            <a:chExt cx="1186180" cy="364490"/>
          </a:xfrm>
        </p:grpSpPr>
        <p:sp>
          <p:nvSpPr>
            <p:cNvPr id="9" name="object 9"/>
            <p:cNvSpPr/>
            <p:nvPr/>
          </p:nvSpPr>
          <p:spPr>
            <a:xfrm>
              <a:off x="5767578" y="3248406"/>
              <a:ext cx="1175385" cy="353695"/>
            </a:xfrm>
            <a:custGeom>
              <a:avLst/>
              <a:gdLst/>
              <a:ahLst/>
              <a:cxnLst/>
              <a:rect l="l" t="t" r="r" b="b"/>
              <a:pathLst>
                <a:path w="1175384" h="353695">
                  <a:moveTo>
                    <a:pt x="998220" y="0"/>
                  </a:moveTo>
                  <a:lnTo>
                    <a:pt x="998220" y="88392"/>
                  </a:lnTo>
                  <a:lnTo>
                    <a:pt x="0" y="88392"/>
                  </a:lnTo>
                  <a:lnTo>
                    <a:pt x="0" y="265176"/>
                  </a:lnTo>
                  <a:lnTo>
                    <a:pt x="998220" y="265176"/>
                  </a:lnTo>
                  <a:lnTo>
                    <a:pt x="998220" y="353568"/>
                  </a:lnTo>
                  <a:lnTo>
                    <a:pt x="1175003" y="176784"/>
                  </a:lnTo>
                  <a:lnTo>
                    <a:pt x="998220" y="0"/>
                  </a:lnTo>
                  <a:close/>
                </a:path>
              </a:pathLst>
            </a:custGeom>
            <a:solidFill>
              <a:srgbClr val="40B9D2"/>
            </a:solidFill>
          </p:spPr>
          <p:txBody>
            <a:bodyPr wrap="square" lIns="0" tIns="0" rIns="0" bIns="0" rtlCol="0"/>
            <a:lstStyle/>
            <a:p>
              <a:endParaRPr/>
            </a:p>
          </p:txBody>
        </p:sp>
        <p:sp>
          <p:nvSpPr>
            <p:cNvPr id="10" name="object 10"/>
            <p:cNvSpPr/>
            <p:nvPr/>
          </p:nvSpPr>
          <p:spPr>
            <a:xfrm>
              <a:off x="5767578" y="3248406"/>
              <a:ext cx="1175385" cy="353695"/>
            </a:xfrm>
            <a:custGeom>
              <a:avLst/>
              <a:gdLst/>
              <a:ahLst/>
              <a:cxnLst/>
              <a:rect l="l" t="t" r="r" b="b"/>
              <a:pathLst>
                <a:path w="1175384" h="353695">
                  <a:moveTo>
                    <a:pt x="0" y="88392"/>
                  </a:moveTo>
                  <a:lnTo>
                    <a:pt x="998220" y="88392"/>
                  </a:lnTo>
                  <a:lnTo>
                    <a:pt x="998220" y="0"/>
                  </a:lnTo>
                  <a:lnTo>
                    <a:pt x="1175003" y="176784"/>
                  </a:lnTo>
                  <a:lnTo>
                    <a:pt x="998220" y="353568"/>
                  </a:lnTo>
                  <a:lnTo>
                    <a:pt x="998220" y="265176"/>
                  </a:lnTo>
                  <a:lnTo>
                    <a:pt x="0" y="265176"/>
                  </a:lnTo>
                  <a:lnTo>
                    <a:pt x="0" y="88392"/>
                  </a:lnTo>
                  <a:close/>
                </a:path>
              </a:pathLst>
            </a:custGeom>
            <a:ln w="10668">
              <a:solidFill>
                <a:srgbClr val="2C879A"/>
              </a:solidFill>
            </a:ln>
          </p:spPr>
          <p:txBody>
            <a:bodyPr wrap="square" lIns="0" tIns="0" rIns="0" bIns="0" rtlCol="0"/>
            <a:lstStyle/>
            <a:p>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70" dirty="0">
                <a:solidFill>
                  <a:srgbClr val="FFFFFF"/>
                </a:solidFill>
                <a:latin typeface="Cambria"/>
                <a:cs typeface="Cambria"/>
              </a:rPr>
              <a:t>Code</a:t>
            </a:r>
            <a:r>
              <a:rPr sz="3600" b="1" spc="-125" dirty="0">
                <a:solidFill>
                  <a:srgbClr val="FFFFFF"/>
                </a:solidFill>
                <a:latin typeface="Cambria"/>
                <a:cs typeface="Cambria"/>
              </a:rPr>
              <a:t> </a:t>
            </a:r>
            <a:r>
              <a:rPr sz="3600" b="1" spc="-10" dirty="0">
                <a:solidFill>
                  <a:srgbClr val="FFFFFF"/>
                </a:solidFill>
                <a:latin typeface="Cambria"/>
                <a:cs typeface="Cambria"/>
              </a:rPr>
              <a:t>Motion</a:t>
            </a:r>
            <a:endParaRPr sz="3600">
              <a:latin typeface="Cambria"/>
              <a:cs typeface="Cambria"/>
            </a:endParaRPr>
          </a:p>
        </p:txBody>
      </p:sp>
      <p:sp>
        <p:nvSpPr>
          <p:cNvPr id="3" name="object 3"/>
          <p:cNvSpPr txBox="1">
            <a:spLocks noGrp="1"/>
          </p:cNvSpPr>
          <p:nvPr>
            <p:ph type="title"/>
          </p:nvPr>
        </p:nvSpPr>
        <p:spPr>
          <a:xfrm>
            <a:off x="3553714" y="753821"/>
            <a:ext cx="7754620" cy="1050290"/>
          </a:xfrm>
          <a:prstGeom prst="rect">
            <a:avLst/>
          </a:prstGeom>
        </p:spPr>
        <p:txBody>
          <a:bodyPr vert="horz" wrap="square" lIns="0" tIns="48895" rIns="0" bIns="0" rtlCol="0">
            <a:spAutoFit/>
          </a:bodyPr>
          <a:lstStyle/>
          <a:p>
            <a:pPr marL="195580" marR="5080" indent="-182880" algn="just">
              <a:lnSpc>
                <a:spcPct val="90100"/>
              </a:lnSpc>
              <a:spcBef>
                <a:spcPts val="385"/>
              </a:spcBef>
            </a:pPr>
            <a:r>
              <a:rPr spc="-1250" dirty="0">
                <a:solidFill>
                  <a:srgbClr val="40B9D2"/>
                </a:solidFill>
                <a:latin typeface="Arial MT"/>
                <a:cs typeface="Arial MT"/>
              </a:rPr>
              <a:t>🞄</a:t>
            </a:r>
            <a:r>
              <a:rPr spc="-95" dirty="0">
                <a:solidFill>
                  <a:srgbClr val="40B9D2"/>
                </a:solidFill>
                <a:latin typeface="Arial MT"/>
                <a:cs typeface="Arial MT"/>
              </a:rPr>
              <a:t> </a:t>
            </a:r>
            <a:r>
              <a:rPr dirty="0"/>
              <a:t>If</a:t>
            </a:r>
            <a:r>
              <a:rPr spc="295" dirty="0"/>
              <a:t> </a:t>
            </a:r>
            <a:r>
              <a:rPr spc="-15" dirty="0"/>
              <a:t>variables</a:t>
            </a:r>
            <a:r>
              <a:rPr spc="315" dirty="0"/>
              <a:t> </a:t>
            </a:r>
            <a:r>
              <a:rPr spc="-15" dirty="0"/>
              <a:t>used</a:t>
            </a:r>
            <a:r>
              <a:rPr spc="300" dirty="0"/>
              <a:t> </a:t>
            </a:r>
            <a:r>
              <a:rPr dirty="0"/>
              <a:t>in</a:t>
            </a:r>
            <a:r>
              <a:rPr spc="295" dirty="0"/>
              <a:t> </a:t>
            </a:r>
            <a:r>
              <a:rPr spc="-15" dirty="0"/>
              <a:t>a</a:t>
            </a:r>
            <a:r>
              <a:rPr spc="295" dirty="0"/>
              <a:t> </a:t>
            </a:r>
            <a:r>
              <a:rPr spc="-15" dirty="0"/>
              <a:t>computation</a:t>
            </a:r>
            <a:r>
              <a:rPr spc="315" dirty="0"/>
              <a:t> </a:t>
            </a:r>
            <a:r>
              <a:rPr spc="-10" dirty="0"/>
              <a:t>within</a:t>
            </a:r>
            <a:r>
              <a:rPr spc="315" dirty="0"/>
              <a:t> </a:t>
            </a:r>
            <a:r>
              <a:rPr spc="-15" dirty="0"/>
              <a:t>a</a:t>
            </a:r>
            <a:r>
              <a:rPr spc="285" dirty="0"/>
              <a:t> </a:t>
            </a:r>
            <a:r>
              <a:rPr spc="-5" dirty="0"/>
              <a:t>loo</a:t>
            </a:r>
            <a:r>
              <a:rPr dirty="0"/>
              <a:t>p</a:t>
            </a:r>
            <a:r>
              <a:rPr spc="300" dirty="0"/>
              <a:t> </a:t>
            </a:r>
            <a:r>
              <a:rPr spc="-20" dirty="0"/>
              <a:t>are</a:t>
            </a:r>
            <a:r>
              <a:rPr spc="310" dirty="0"/>
              <a:t> </a:t>
            </a:r>
            <a:r>
              <a:rPr spc="-45" dirty="0"/>
              <a:t>n</a:t>
            </a:r>
            <a:r>
              <a:rPr spc="-60" dirty="0"/>
              <a:t>o</a:t>
            </a:r>
            <a:r>
              <a:rPr spc="-45" dirty="0"/>
              <a:t>t</a:t>
            </a:r>
            <a:r>
              <a:rPr dirty="0"/>
              <a:t> </a:t>
            </a:r>
            <a:r>
              <a:rPr spc="-20" dirty="0"/>
              <a:t>altered</a:t>
            </a:r>
            <a:r>
              <a:rPr spc="185" dirty="0"/>
              <a:t> </a:t>
            </a:r>
            <a:r>
              <a:rPr spc="-5" dirty="0"/>
              <a:t>wi</a:t>
            </a:r>
            <a:r>
              <a:rPr spc="-15" dirty="0"/>
              <a:t>t</a:t>
            </a:r>
            <a:r>
              <a:rPr spc="-5" dirty="0"/>
              <a:t>hi</a:t>
            </a:r>
            <a:r>
              <a:rPr dirty="0"/>
              <a:t>n</a:t>
            </a:r>
            <a:r>
              <a:rPr spc="170" dirty="0"/>
              <a:t> </a:t>
            </a:r>
            <a:r>
              <a:rPr spc="-15" dirty="0"/>
              <a:t>the</a:t>
            </a:r>
            <a:r>
              <a:rPr spc="180" dirty="0"/>
              <a:t> </a:t>
            </a:r>
            <a:r>
              <a:rPr spc="-5" dirty="0"/>
              <a:t>loop</a:t>
            </a:r>
            <a:r>
              <a:rPr dirty="0"/>
              <a:t>,</a:t>
            </a:r>
            <a:r>
              <a:rPr spc="175" dirty="0"/>
              <a:t> </a:t>
            </a:r>
            <a:r>
              <a:rPr spc="-15" dirty="0"/>
              <a:t>the</a:t>
            </a:r>
            <a:r>
              <a:rPr spc="185" dirty="0"/>
              <a:t> </a:t>
            </a:r>
            <a:r>
              <a:rPr spc="-10" dirty="0"/>
              <a:t>calculation</a:t>
            </a:r>
            <a:r>
              <a:rPr spc="170" dirty="0"/>
              <a:t> </a:t>
            </a:r>
            <a:r>
              <a:rPr spc="-20" dirty="0"/>
              <a:t>can</a:t>
            </a:r>
            <a:r>
              <a:rPr spc="185" dirty="0"/>
              <a:t> </a:t>
            </a:r>
            <a:r>
              <a:rPr spc="-20" dirty="0"/>
              <a:t>be</a:t>
            </a:r>
            <a:r>
              <a:rPr spc="180" dirty="0"/>
              <a:t> </a:t>
            </a:r>
            <a:r>
              <a:rPr spc="-20" dirty="0"/>
              <a:t>performed</a:t>
            </a:r>
            <a:r>
              <a:rPr spc="-10" dirty="0"/>
              <a:t> </a:t>
            </a:r>
            <a:r>
              <a:rPr spc="-15" dirty="0"/>
              <a:t>outside</a:t>
            </a:r>
            <a:r>
              <a:rPr spc="10" dirty="0"/>
              <a:t> </a:t>
            </a:r>
            <a:r>
              <a:rPr spc="-5" dirty="0"/>
              <a:t>o</a:t>
            </a:r>
            <a:r>
              <a:rPr dirty="0"/>
              <a:t>f </a:t>
            </a:r>
            <a:r>
              <a:rPr spc="-15" dirty="0"/>
              <a:t>the</a:t>
            </a:r>
            <a:r>
              <a:rPr spc="-10" dirty="0"/>
              <a:t> </a:t>
            </a:r>
            <a:r>
              <a:rPr spc="-20" dirty="0"/>
              <a:t>loop</a:t>
            </a:r>
            <a:r>
              <a:rPr spc="5" dirty="0"/>
              <a:t> </a:t>
            </a:r>
            <a:r>
              <a:rPr spc="-10" dirty="0"/>
              <a:t>and</a:t>
            </a:r>
            <a:r>
              <a:rPr spc="-5" dirty="0"/>
              <a:t> </a:t>
            </a:r>
            <a:r>
              <a:rPr spc="-15" dirty="0"/>
              <a:t>the</a:t>
            </a:r>
            <a:r>
              <a:rPr spc="5" dirty="0"/>
              <a:t> </a:t>
            </a:r>
            <a:r>
              <a:rPr spc="-15" dirty="0"/>
              <a:t>results</a:t>
            </a:r>
            <a:r>
              <a:rPr spc="-5" dirty="0"/>
              <a:t> </a:t>
            </a:r>
            <a:r>
              <a:rPr spc="-15" dirty="0"/>
              <a:t>used</a:t>
            </a:r>
            <a:r>
              <a:rPr spc="10" dirty="0"/>
              <a:t> </a:t>
            </a:r>
            <a:r>
              <a:rPr spc="-5" dirty="0"/>
              <a:t>wi</a:t>
            </a:r>
            <a:r>
              <a:rPr spc="5" dirty="0"/>
              <a:t>t</a:t>
            </a:r>
            <a:r>
              <a:rPr spc="-5" dirty="0"/>
              <a:t>hi</a:t>
            </a:r>
            <a:r>
              <a:rPr dirty="0"/>
              <a:t>n</a:t>
            </a:r>
            <a:r>
              <a:rPr spc="-15" dirty="0"/>
              <a:t> the</a:t>
            </a:r>
            <a:r>
              <a:rPr dirty="0"/>
              <a:t> </a:t>
            </a:r>
            <a:r>
              <a:rPr spc="-15" dirty="0"/>
              <a:t>loop.</a:t>
            </a:r>
          </a:p>
        </p:txBody>
      </p:sp>
      <p:sp>
        <p:nvSpPr>
          <p:cNvPr id="4" name="object 4"/>
          <p:cNvSpPr txBox="1"/>
          <p:nvPr/>
        </p:nvSpPr>
        <p:spPr>
          <a:xfrm>
            <a:off x="3553714" y="1778021"/>
            <a:ext cx="2522855" cy="2434590"/>
          </a:xfrm>
          <a:prstGeom prst="rect">
            <a:avLst/>
          </a:prstGeom>
        </p:spPr>
        <p:txBody>
          <a:bodyPr vert="horz" wrap="square" lIns="0" tIns="128905" rIns="0" bIns="0" rtlCol="0">
            <a:spAutoFit/>
          </a:bodyPr>
          <a:lstStyle/>
          <a:p>
            <a:pPr marL="12700">
              <a:lnSpc>
                <a:spcPct val="100000"/>
              </a:lnSpc>
              <a:spcBef>
                <a:spcPts val="1015"/>
              </a:spcBef>
            </a:pPr>
            <a:r>
              <a:rPr sz="2400" dirty="0">
                <a:latin typeface="Cambria"/>
                <a:cs typeface="Cambria"/>
              </a:rPr>
              <a:t>While (i</a:t>
            </a:r>
            <a:r>
              <a:rPr sz="2400" spc="-10" dirty="0">
                <a:latin typeface="Cambria"/>
                <a:cs typeface="Cambria"/>
              </a:rPr>
              <a:t> </a:t>
            </a:r>
            <a:r>
              <a:rPr sz="2400" dirty="0">
                <a:latin typeface="Cambria"/>
                <a:cs typeface="Cambria"/>
              </a:rPr>
              <a:t>&lt;=</a:t>
            </a:r>
            <a:r>
              <a:rPr sz="2400" spc="-25" dirty="0">
                <a:latin typeface="Cambria"/>
                <a:cs typeface="Cambria"/>
              </a:rPr>
              <a:t> </a:t>
            </a:r>
            <a:r>
              <a:rPr sz="2400" spc="-10" dirty="0">
                <a:latin typeface="Cambria"/>
                <a:cs typeface="Cambria"/>
              </a:rPr>
              <a:t>limit-</a:t>
            </a:r>
            <a:r>
              <a:rPr sz="2400" spc="-25" dirty="0">
                <a:latin typeface="Cambria"/>
                <a:cs typeface="Cambria"/>
              </a:rPr>
              <a:t>2)</a:t>
            </a:r>
            <a:endParaRPr sz="2400">
              <a:latin typeface="Cambria"/>
              <a:cs typeface="Cambria"/>
            </a:endParaRPr>
          </a:p>
          <a:p>
            <a:pPr marL="12700">
              <a:lnSpc>
                <a:spcPct val="100000"/>
              </a:lnSpc>
              <a:spcBef>
                <a:spcPts val="915"/>
              </a:spcBef>
            </a:pPr>
            <a:r>
              <a:rPr sz="2400" spc="-50" dirty="0">
                <a:latin typeface="Cambria"/>
                <a:cs typeface="Cambria"/>
              </a:rPr>
              <a:t>{</a:t>
            </a:r>
            <a:endParaRPr sz="2400">
              <a:latin typeface="Cambria"/>
              <a:cs typeface="Cambria"/>
            </a:endParaRPr>
          </a:p>
          <a:p>
            <a:pPr marL="546100">
              <a:lnSpc>
                <a:spcPct val="100000"/>
              </a:lnSpc>
              <a:spcBef>
                <a:spcPts val="910"/>
              </a:spcBef>
            </a:pPr>
            <a:r>
              <a:rPr sz="2400" spc="-20" dirty="0">
                <a:latin typeface="Cambria"/>
                <a:cs typeface="Cambria"/>
              </a:rPr>
              <a:t>-------</a:t>
            </a:r>
            <a:r>
              <a:rPr sz="2400" spc="-50" dirty="0">
                <a:latin typeface="Cambria"/>
                <a:cs typeface="Cambria"/>
              </a:rPr>
              <a:t>-</a:t>
            </a:r>
            <a:endParaRPr sz="2400">
              <a:latin typeface="Cambria"/>
              <a:cs typeface="Cambria"/>
            </a:endParaRPr>
          </a:p>
          <a:p>
            <a:pPr marL="546100">
              <a:lnSpc>
                <a:spcPct val="100000"/>
              </a:lnSpc>
              <a:spcBef>
                <a:spcPts val="915"/>
              </a:spcBef>
            </a:pPr>
            <a:r>
              <a:rPr sz="2400" spc="-25"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5"/>
              </a:spcBef>
            </a:pPr>
            <a:r>
              <a:rPr sz="2400" spc="-50" dirty="0">
                <a:latin typeface="Cambria"/>
                <a:cs typeface="Cambria"/>
              </a:rPr>
              <a:t>}</a:t>
            </a:r>
            <a:endParaRPr sz="2400">
              <a:latin typeface="Cambria"/>
              <a:cs typeface="Cambria"/>
            </a:endParaRPr>
          </a:p>
        </p:txBody>
      </p:sp>
      <p:sp>
        <p:nvSpPr>
          <p:cNvPr id="5" name="object 5"/>
          <p:cNvSpPr txBox="1"/>
          <p:nvPr/>
        </p:nvSpPr>
        <p:spPr>
          <a:xfrm>
            <a:off x="9040748" y="1778021"/>
            <a:ext cx="1814830" cy="2916555"/>
          </a:xfrm>
          <a:prstGeom prst="rect">
            <a:avLst/>
          </a:prstGeom>
        </p:spPr>
        <p:txBody>
          <a:bodyPr vert="horz" wrap="square" lIns="0" tIns="128905" rIns="0" bIns="0" rtlCol="0">
            <a:spAutoFit/>
          </a:bodyPr>
          <a:lstStyle/>
          <a:p>
            <a:pPr marL="12700">
              <a:lnSpc>
                <a:spcPct val="100000"/>
              </a:lnSpc>
              <a:spcBef>
                <a:spcPts val="1015"/>
              </a:spcBef>
            </a:pPr>
            <a:r>
              <a:rPr sz="2400" dirty="0">
                <a:latin typeface="Cambria"/>
                <a:cs typeface="Cambria"/>
              </a:rPr>
              <a:t>n</a:t>
            </a:r>
            <a:r>
              <a:rPr sz="2400" spc="10" dirty="0">
                <a:latin typeface="Cambria"/>
                <a:cs typeface="Cambria"/>
              </a:rPr>
              <a:t> </a:t>
            </a:r>
            <a:r>
              <a:rPr sz="2400" dirty="0">
                <a:latin typeface="Cambria"/>
                <a:cs typeface="Cambria"/>
              </a:rPr>
              <a:t>=</a:t>
            </a:r>
            <a:r>
              <a:rPr sz="2400" spc="5" dirty="0">
                <a:latin typeface="Cambria"/>
                <a:cs typeface="Cambria"/>
              </a:rPr>
              <a:t> </a:t>
            </a:r>
            <a:r>
              <a:rPr sz="2400" spc="-10" dirty="0">
                <a:latin typeface="Cambria"/>
                <a:cs typeface="Cambria"/>
              </a:rPr>
              <a:t>limit-</a:t>
            </a:r>
            <a:r>
              <a:rPr sz="2400" spc="-50" dirty="0">
                <a:latin typeface="Cambria"/>
                <a:cs typeface="Cambria"/>
              </a:rPr>
              <a:t>2</a:t>
            </a:r>
            <a:endParaRPr sz="2400">
              <a:latin typeface="Cambria"/>
              <a:cs typeface="Cambria"/>
            </a:endParaRPr>
          </a:p>
          <a:p>
            <a:pPr marL="12700">
              <a:lnSpc>
                <a:spcPct val="100000"/>
              </a:lnSpc>
              <a:spcBef>
                <a:spcPts val="915"/>
              </a:spcBef>
            </a:pPr>
            <a:r>
              <a:rPr sz="2400" dirty="0">
                <a:latin typeface="Cambria"/>
                <a:cs typeface="Cambria"/>
              </a:rPr>
              <a:t>While</a:t>
            </a:r>
            <a:r>
              <a:rPr sz="2400" spc="-15" dirty="0">
                <a:latin typeface="Cambria"/>
                <a:cs typeface="Cambria"/>
              </a:rPr>
              <a:t> </a:t>
            </a:r>
            <a:r>
              <a:rPr sz="2400" dirty="0">
                <a:latin typeface="Cambria"/>
                <a:cs typeface="Cambria"/>
              </a:rPr>
              <a:t>(i</a:t>
            </a:r>
            <a:r>
              <a:rPr sz="2400" spc="-25" dirty="0">
                <a:latin typeface="Cambria"/>
                <a:cs typeface="Cambria"/>
              </a:rPr>
              <a:t> </a:t>
            </a:r>
            <a:r>
              <a:rPr sz="2400" dirty="0">
                <a:latin typeface="Cambria"/>
                <a:cs typeface="Cambria"/>
              </a:rPr>
              <a:t>&lt;=</a:t>
            </a:r>
            <a:r>
              <a:rPr sz="2400" spc="-45" dirty="0">
                <a:latin typeface="Cambria"/>
                <a:cs typeface="Cambria"/>
              </a:rPr>
              <a:t> </a:t>
            </a:r>
            <a:r>
              <a:rPr sz="2400" spc="-25" dirty="0">
                <a:latin typeface="Cambria"/>
                <a:cs typeface="Cambria"/>
              </a:rPr>
              <a:t>n)</a:t>
            </a:r>
            <a:endParaRPr sz="2400">
              <a:latin typeface="Cambria"/>
              <a:cs typeface="Cambria"/>
            </a:endParaRPr>
          </a:p>
          <a:p>
            <a:pPr marL="12700">
              <a:lnSpc>
                <a:spcPct val="100000"/>
              </a:lnSpc>
              <a:spcBef>
                <a:spcPts val="910"/>
              </a:spcBef>
            </a:pPr>
            <a:r>
              <a:rPr sz="2400" spc="-50" dirty="0">
                <a:latin typeface="Cambria"/>
                <a:cs typeface="Cambria"/>
              </a:rPr>
              <a:t>{</a:t>
            </a:r>
            <a:endParaRPr sz="2400">
              <a:latin typeface="Cambria"/>
              <a:cs typeface="Cambria"/>
            </a:endParaRPr>
          </a:p>
          <a:p>
            <a:pPr marL="927100">
              <a:lnSpc>
                <a:spcPct val="100000"/>
              </a:lnSpc>
              <a:spcBef>
                <a:spcPts val="915"/>
              </a:spcBef>
            </a:pPr>
            <a:r>
              <a:rPr sz="2400" spc="-25" dirty="0">
                <a:latin typeface="Cambria"/>
                <a:cs typeface="Cambria"/>
              </a:rPr>
              <a:t>-------</a:t>
            </a:r>
            <a:r>
              <a:rPr sz="2400" spc="-50" dirty="0">
                <a:latin typeface="Cambria"/>
                <a:cs typeface="Cambria"/>
              </a:rPr>
              <a:t>-</a:t>
            </a:r>
            <a:endParaRPr sz="2400">
              <a:latin typeface="Cambria"/>
              <a:cs typeface="Cambria"/>
            </a:endParaRPr>
          </a:p>
          <a:p>
            <a:pPr marL="927100">
              <a:lnSpc>
                <a:spcPct val="100000"/>
              </a:lnSpc>
              <a:spcBef>
                <a:spcPts val="915"/>
              </a:spcBef>
            </a:pPr>
            <a:r>
              <a:rPr sz="2400" spc="-20"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0"/>
              </a:spcBef>
            </a:pPr>
            <a:r>
              <a:rPr sz="2400" spc="-50" dirty="0">
                <a:latin typeface="Cambria"/>
                <a:cs typeface="Cambria"/>
              </a:rPr>
              <a:t>}</a:t>
            </a:r>
            <a:endParaRPr sz="2400">
              <a:latin typeface="Cambria"/>
              <a:cs typeface="Cambria"/>
            </a:endParaRPr>
          </a:p>
        </p:txBody>
      </p:sp>
      <p:grpSp>
        <p:nvGrpSpPr>
          <p:cNvPr id="6" name="object 6"/>
          <p:cNvGrpSpPr/>
          <p:nvPr/>
        </p:nvGrpSpPr>
        <p:grpSpPr>
          <a:xfrm>
            <a:off x="6263640" y="3136392"/>
            <a:ext cx="1769745" cy="577850"/>
            <a:chOff x="6263640" y="3136392"/>
            <a:chExt cx="1769745" cy="577850"/>
          </a:xfrm>
        </p:grpSpPr>
        <p:sp>
          <p:nvSpPr>
            <p:cNvPr id="7" name="object 7"/>
            <p:cNvSpPr/>
            <p:nvPr/>
          </p:nvSpPr>
          <p:spPr>
            <a:xfrm>
              <a:off x="6268974" y="3141726"/>
              <a:ext cx="1758950" cy="567055"/>
            </a:xfrm>
            <a:custGeom>
              <a:avLst/>
              <a:gdLst/>
              <a:ahLst/>
              <a:cxnLst/>
              <a:rect l="l" t="t" r="r" b="b"/>
              <a:pathLst>
                <a:path w="1758950" h="567054">
                  <a:moveTo>
                    <a:pt x="1475231" y="0"/>
                  </a:moveTo>
                  <a:lnTo>
                    <a:pt x="1475231" y="141732"/>
                  </a:lnTo>
                  <a:lnTo>
                    <a:pt x="0" y="141732"/>
                  </a:lnTo>
                  <a:lnTo>
                    <a:pt x="0" y="425196"/>
                  </a:lnTo>
                  <a:lnTo>
                    <a:pt x="1475231" y="425196"/>
                  </a:lnTo>
                  <a:lnTo>
                    <a:pt x="1475231" y="566928"/>
                  </a:lnTo>
                  <a:lnTo>
                    <a:pt x="1758696" y="283463"/>
                  </a:lnTo>
                  <a:lnTo>
                    <a:pt x="1475231" y="0"/>
                  </a:lnTo>
                  <a:close/>
                </a:path>
              </a:pathLst>
            </a:custGeom>
            <a:solidFill>
              <a:srgbClr val="40B9D2"/>
            </a:solidFill>
          </p:spPr>
          <p:txBody>
            <a:bodyPr wrap="square" lIns="0" tIns="0" rIns="0" bIns="0" rtlCol="0"/>
            <a:lstStyle/>
            <a:p>
              <a:endParaRPr/>
            </a:p>
          </p:txBody>
        </p:sp>
        <p:sp>
          <p:nvSpPr>
            <p:cNvPr id="8" name="object 8"/>
            <p:cNvSpPr/>
            <p:nvPr/>
          </p:nvSpPr>
          <p:spPr>
            <a:xfrm>
              <a:off x="6268974" y="3141726"/>
              <a:ext cx="1758950" cy="567055"/>
            </a:xfrm>
            <a:custGeom>
              <a:avLst/>
              <a:gdLst/>
              <a:ahLst/>
              <a:cxnLst/>
              <a:rect l="l" t="t" r="r" b="b"/>
              <a:pathLst>
                <a:path w="1758950" h="567054">
                  <a:moveTo>
                    <a:pt x="0" y="141732"/>
                  </a:moveTo>
                  <a:lnTo>
                    <a:pt x="1475231" y="141732"/>
                  </a:lnTo>
                  <a:lnTo>
                    <a:pt x="1475231" y="0"/>
                  </a:lnTo>
                  <a:lnTo>
                    <a:pt x="1758696" y="283463"/>
                  </a:lnTo>
                  <a:lnTo>
                    <a:pt x="1475231" y="566928"/>
                  </a:lnTo>
                  <a:lnTo>
                    <a:pt x="1475231" y="425196"/>
                  </a:lnTo>
                  <a:lnTo>
                    <a:pt x="0" y="425196"/>
                  </a:lnTo>
                  <a:lnTo>
                    <a:pt x="0" y="141732"/>
                  </a:lnTo>
                  <a:close/>
                </a:path>
              </a:pathLst>
            </a:custGeom>
            <a:ln w="10667">
              <a:solidFill>
                <a:srgbClr val="2C879A"/>
              </a:solidFill>
            </a:ln>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09905">
              <a:lnSpc>
                <a:spcPts val="3779"/>
              </a:lnSpc>
            </a:pPr>
            <a:r>
              <a:rPr sz="3600" b="1" spc="-80" dirty="0">
                <a:solidFill>
                  <a:srgbClr val="FFFFFF"/>
                </a:solidFill>
                <a:latin typeface="Cambria"/>
                <a:cs typeface="Cambria"/>
              </a:rPr>
              <a:t>Reduction</a:t>
            </a:r>
            <a:r>
              <a:rPr sz="3600" b="1" spc="-110" dirty="0">
                <a:solidFill>
                  <a:srgbClr val="FFFFFF"/>
                </a:solidFill>
                <a:latin typeface="Cambria"/>
                <a:cs typeface="Cambria"/>
              </a:rPr>
              <a:t> </a:t>
            </a:r>
            <a:r>
              <a:rPr sz="3600" b="1" spc="-25" dirty="0">
                <a:solidFill>
                  <a:srgbClr val="FFFFFF"/>
                </a:solidFill>
                <a:latin typeface="Cambria"/>
                <a:cs typeface="Cambria"/>
              </a:rPr>
              <a:t>in </a:t>
            </a:r>
            <a:r>
              <a:rPr sz="3600" b="1" spc="-10" dirty="0">
                <a:solidFill>
                  <a:srgbClr val="FFFFFF"/>
                </a:solidFill>
                <a:latin typeface="Cambria"/>
                <a:cs typeface="Cambria"/>
              </a:rPr>
              <a:t>Strength</a:t>
            </a:r>
            <a:endParaRPr sz="3600">
              <a:latin typeface="Cambria"/>
              <a:cs typeface="Cambria"/>
            </a:endParaRPr>
          </a:p>
        </p:txBody>
      </p:sp>
      <p:sp>
        <p:nvSpPr>
          <p:cNvPr id="3" name="object 3"/>
          <p:cNvSpPr txBox="1"/>
          <p:nvPr/>
        </p:nvSpPr>
        <p:spPr>
          <a:xfrm>
            <a:off x="3553714" y="774953"/>
            <a:ext cx="6988175"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Strength</a:t>
            </a:r>
            <a:r>
              <a:rPr sz="2400" spc="-114" dirty="0">
                <a:latin typeface="Cambria"/>
                <a:cs typeface="Cambria"/>
              </a:rPr>
              <a:t> </a:t>
            </a:r>
            <a:r>
              <a:rPr sz="2400" dirty="0">
                <a:latin typeface="Cambria"/>
                <a:cs typeface="Cambria"/>
              </a:rPr>
              <a:t>of</a:t>
            </a:r>
            <a:r>
              <a:rPr sz="2400" spc="-45" dirty="0">
                <a:latin typeface="Cambria"/>
                <a:cs typeface="Cambria"/>
              </a:rPr>
              <a:t> </a:t>
            </a:r>
            <a:r>
              <a:rPr sz="2400" dirty="0">
                <a:latin typeface="Cambria"/>
                <a:cs typeface="Cambria"/>
              </a:rPr>
              <a:t>certain</a:t>
            </a:r>
            <a:r>
              <a:rPr sz="2400" spc="-65" dirty="0">
                <a:latin typeface="Cambria"/>
                <a:cs typeface="Cambria"/>
              </a:rPr>
              <a:t> </a:t>
            </a:r>
            <a:r>
              <a:rPr sz="2400" spc="-10" dirty="0">
                <a:latin typeface="Cambria"/>
                <a:cs typeface="Cambria"/>
              </a:rPr>
              <a:t>operators</a:t>
            </a:r>
            <a:r>
              <a:rPr sz="2400" spc="-40" dirty="0">
                <a:latin typeface="Cambria"/>
                <a:cs typeface="Cambria"/>
              </a:rPr>
              <a:t> </a:t>
            </a:r>
            <a:r>
              <a:rPr sz="2400" dirty="0">
                <a:latin typeface="Cambria"/>
                <a:cs typeface="Cambria"/>
              </a:rPr>
              <a:t>are</a:t>
            </a:r>
            <a:r>
              <a:rPr sz="2400" spc="-55" dirty="0">
                <a:latin typeface="Cambria"/>
                <a:cs typeface="Cambria"/>
              </a:rPr>
              <a:t> </a:t>
            </a:r>
            <a:r>
              <a:rPr sz="2400" dirty="0">
                <a:latin typeface="Cambria"/>
                <a:cs typeface="Cambria"/>
              </a:rPr>
              <a:t>higher</a:t>
            </a:r>
            <a:r>
              <a:rPr sz="2400" spc="-65" dirty="0">
                <a:latin typeface="Cambria"/>
                <a:cs typeface="Cambria"/>
              </a:rPr>
              <a:t> </a:t>
            </a:r>
            <a:r>
              <a:rPr sz="2400" dirty="0">
                <a:latin typeface="Cambria"/>
                <a:cs typeface="Cambria"/>
              </a:rPr>
              <a:t>than</a:t>
            </a:r>
            <a:r>
              <a:rPr sz="2400" spc="-50" dirty="0">
                <a:latin typeface="Cambria"/>
                <a:cs typeface="Cambria"/>
              </a:rPr>
              <a:t> </a:t>
            </a:r>
            <a:r>
              <a:rPr sz="2400" spc="-10" dirty="0">
                <a:latin typeface="Cambria"/>
                <a:cs typeface="Cambria"/>
              </a:rPr>
              <a:t>others.</a:t>
            </a:r>
            <a:endParaRPr sz="2400">
              <a:latin typeface="Cambria"/>
              <a:cs typeface="Cambria"/>
            </a:endParaRPr>
          </a:p>
        </p:txBody>
      </p:sp>
      <p:sp>
        <p:nvSpPr>
          <p:cNvPr id="4" name="object 4"/>
          <p:cNvSpPr txBox="1">
            <a:spLocks noGrp="1"/>
          </p:cNvSpPr>
          <p:nvPr>
            <p:ph type="title"/>
          </p:nvPr>
        </p:nvSpPr>
        <p:spPr>
          <a:xfrm>
            <a:off x="3553714" y="1256538"/>
            <a:ext cx="8183245" cy="1050290"/>
          </a:xfrm>
          <a:prstGeom prst="rect">
            <a:avLst/>
          </a:prstGeom>
        </p:spPr>
        <p:txBody>
          <a:bodyPr vert="horz" wrap="square" lIns="0" tIns="48895" rIns="0" bIns="0" rtlCol="0">
            <a:spAutoFit/>
          </a:bodyPr>
          <a:lstStyle/>
          <a:p>
            <a:pPr marL="195580" marR="5080" indent="-182880" algn="just">
              <a:lnSpc>
                <a:spcPct val="90000"/>
              </a:lnSpc>
              <a:spcBef>
                <a:spcPts val="385"/>
              </a:spcBef>
            </a:pPr>
            <a:r>
              <a:rPr spc="-1250" dirty="0">
                <a:solidFill>
                  <a:srgbClr val="40B9D2"/>
                </a:solidFill>
                <a:latin typeface="Arial MT"/>
                <a:cs typeface="Arial MT"/>
              </a:rPr>
              <a:t>🞄</a:t>
            </a:r>
            <a:r>
              <a:rPr spc="-95" dirty="0">
                <a:solidFill>
                  <a:srgbClr val="40B9D2"/>
                </a:solidFill>
                <a:latin typeface="Arial MT"/>
                <a:cs typeface="Arial MT"/>
              </a:rPr>
              <a:t> </a:t>
            </a:r>
            <a:r>
              <a:rPr spc="-15" dirty="0"/>
              <a:t>Replaces</a:t>
            </a:r>
            <a:r>
              <a:rPr spc="250" dirty="0"/>
              <a:t> </a:t>
            </a:r>
            <a:r>
              <a:rPr spc="-10" dirty="0"/>
              <a:t>less</a:t>
            </a:r>
            <a:r>
              <a:rPr spc="250" dirty="0"/>
              <a:t> </a:t>
            </a:r>
            <a:r>
              <a:rPr spc="-5" dirty="0"/>
              <a:t>efficient</a:t>
            </a:r>
            <a:r>
              <a:rPr spc="250" dirty="0"/>
              <a:t> </a:t>
            </a:r>
            <a:r>
              <a:rPr spc="-10" dirty="0"/>
              <a:t>instructions</a:t>
            </a:r>
            <a:r>
              <a:rPr spc="235" dirty="0"/>
              <a:t> </a:t>
            </a:r>
            <a:r>
              <a:rPr spc="-15" dirty="0"/>
              <a:t>with</a:t>
            </a:r>
            <a:r>
              <a:rPr spc="250" dirty="0"/>
              <a:t> </a:t>
            </a:r>
            <a:r>
              <a:rPr spc="-25" dirty="0"/>
              <a:t>more</a:t>
            </a:r>
            <a:r>
              <a:rPr spc="254" dirty="0"/>
              <a:t> </a:t>
            </a:r>
            <a:r>
              <a:rPr spc="-10" dirty="0"/>
              <a:t>efficient</a:t>
            </a:r>
            <a:r>
              <a:rPr spc="250" dirty="0"/>
              <a:t> </a:t>
            </a:r>
            <a:r>
              <a:rPr spc="-55" dirty="0"/>
              <a:t>ones.</a:t>
            </a:r>
            <a:r>
              <a:rPr dirty="0"/>
              <a:t> </a:t>
            </a:r>
            <a:r>
              <a:rPr spc="-100" dirty="0"/>
              <a:t>F</a:t>
            </a:r>
            <a:r>
              <a:rPr dirty="0"/>
              <a:t>or</a:t>
            </a:r>
            <a:r>
              <a:rPr spc="1150" dirty="0"/>
              <a:t> </a:t>
            </a:r>
            <a:r>
              <a:rPr spc="-25" dirty="0"/>
              <a:t>example,</a:t>
            </a:r>
            <a:r>
              <a:rPr spc="1135" dirty="0"/>
              <a:t> </a:t>
            </a:r>
            <a:r>
              <a:rPr spc="-10" dirty="0"/>
              <a:t>i</a:t>
            </a:r>
            <a:r>
              <a:rPr dirty="0"/>
              <a:t>n</a:t>
            </a:r>
            <a:r>
              <a:rPr spc="1160" dirty="0"/>
              <a:t> </a:t>
            </a:r>
            <a:r>
              <a:rPr spc="-35" dirty="0"/>
              <a:t>array</a:t>
            </a:r>
            <a:r>
              <a:rPr spc="1150" dirty="0"/>
              <a:t> </a:t>
            </a:r>
            <a:r>
              <a:rPr spc="-5" dirty="0"/>
              <a:t>subscripting,</a:t>
            </a:r>
            <a:r>
              <a:rPr spc="1130" dirty="0"/>
              <a:t> </a:t>
            </a:r>
            <a:r>
              <a:rPr spc="-10" dirty="0"/>
              <a:t>a</a:t>
            </a:r>
            <a:r>
              <a:rPr dirty="0"/>
              <a:t>n</a:t>
            </a:r>
            <a:r>
              <a:rPr spc="1160" dirty="0"/>
              <a:t> </a:t>
            </a:r>
            <a:r>
              <a:rPr spc="-20" dirty="0"/>
              <a:t>add</a:t>
            </a:r>
            <a:r>
              <a:rPr spc="1150" dirty="0"/>
              <a:t> </a:t>
            </a:r>
            <a:r>
              <a:rPr spc="-5" dirty="0"/>
              <a:t>i</a:t>
            </a:r>
            <a:r>
              <a:rPr dirty="0"/>
              <a:t>n</a:t>
            </a:r>
            <a:r>
              <a:rPr spc="-5" dirty="0"/>
              <a:t>struction </a:t>
            </a:r>
            <a:r>
              <a:rPr spc="-15" dirty="0"/>
              <a:t>replaces</a:t>
            </a:r>
            <a:r>
              <a:rPr dirty="0"/>
              <a:t> </a:t>
            </a:r>
            <a:r>
              <a:rPr spc="-15" dirty="0"/>
              <a:t>a</a:t>
            </a:r>
            <a:r>
              <a:rPr dirty="0"/>
              <a:t> </a:t>
            </a:r>
            <a:r>
              <a:rPr spc="-20" dirty="0"/>
              <a:t>multiply</a:t>
            </a:r>
            <a:r>
              <a:rPr spc="10" dirty="0"/>
              <a:t> </a:t>
            </a:r>
            <a:r>
              <a:rPr spc="-10" dirty="0"/>
              <a:t>instruction.</a:t>
            </a:r>
          </a:p>
        </p:txBody>
      </p:sp>
      <p:sp>
        <p:nvSpPr>
          <p:cNvPr id="5" name="object 5"/>
          <p:cNvSpPr txBox="1"/>
          <p:nvPr/>
        </p:nvSpPr>
        <p:spPr>
          <a:xfrm>
            <a:off x="3553714" y="2396744"/>
            <a:ext cx="1330960"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45" dirty="0">
                <a:latin typeface="Cambria"/>
                <a:cs typeface="Cambria"/>
              </a:rPr>
              <a:t>Example</a:t>
            </a:r>
            <a:endParaRPr sz="2400">
              <a:latin typeface="Cambria"/>
              <a:cs typeface="Cambria"/>
            </a:endParaRPr>
          </a:p>
        </p:txBody>
      </p:sp>
      <p:sp>
        <p:nvSpPr>
          <p:cNvPr id="6" name="object 6"/>
          <p:cNvSpPr txBox="1"/>
          <p:nvPr/>
        </p:nvSpPr>
        <p:spPr>
          <a:xfrm>
            <a:off x="3553714" y="2761890"/>
            <a:ext cx="2444115" cy="1953260"/>
          </a:xfrm>
          <a:prstGeom prst="rect">
            <a:avLst/>
          </a:prstGeom>
        </p:spPr>
        <p:txBody>
          <a:bodyPr vert="horz" wrap="square" lIns="0" tIns="128905" rIns="0" bIns="0" rtlCol="0">
            <a:spAutoFit/>
          </a:bodyPr>
          <a:lstStyle/>
          <a:p>
            <a:pPr marL="12700">
              <a:lnSpc>
                <a:spcPct val="100000"/>
              </a:lnSpc>
              <a:spcBef>
                <a:spcPts val="1015"/>
              </a:spcBef>
            </a:pPr>
            <a:r>
              <a:rPr sz="2400" spc="-10" dirty="0">
                <a:latin typeface="Cambria"/>
                <a:cs typeface="Cambria"/>
              </a:rPr>
              <a:t>for(i=1;i&lt;=50;i++)</a:t>
            </a:r>
            <a:endParaRPr sz="2400">
              <a:latin typeface="Cambria"/>
              <a:cs typeface="Cambria"/>
            </a:endParaRPr>
          </a:p>
          <a:p>
            <a:pPr marL="12700">
              <a:lnSpc>
                <a:spcPct val="100000"/>
              </a:lnSpc>
              <a:spcBef>
                <a:spcPts val="915"/>
              </a:spcBef>
            </a:pPr>
            <a:r>
              <a:rPr sz="2400" spc="-50" dirty="0">
                <a:latin typeface="Cambria"/>
                <a:cs typeface="Cambria"/>
              </a:rPr>
              <a:t>{</a:t>
            </a:r>
            <a:endParaRPr sz="2400">
              <a:latin typeface="Cambria"/>
              <a:cs typeface="Cambria"/>
            </a:endParaRPr>
          </a:p>
          <a:p>
            <a:pPr marL="927100">
              <a:lnSpc>
                <a:spcPct val="100000"/>
              </a:lnSpc>
              <a:spcBef>
                <a:spcPts val="910"/>
              </a:spcBef>
            </a:pPr>
            <a:r>
              <a:rPr sz="2400" dirty="0">
                <a:latin typeface="Cambria"/>
                <a:cs typeface="Cambria"/>
              </a:rPr>
              <a:t>count</a:t>
            </a:r>
            <a:r>
              <a:rPr sz="2400" spc="-25" dirty="0">
                <a:latin typeface="Cambria"/>
                <a:cs typeface="Cambria"/>
              </a:rPr>
              <a:t> </a:t>
            </a:r>
            <a:r>
              <a:rPr sz="2400" dirty="0">
                <a:latin typeface="Cambria"/>
                <a:cs typeface="Cambria"/>
              </a:rPr>
              <a:t>=</a:t>
            </a:r>
            <a:r>
              <a:rPr sz="2400" spc="-45" dirty="0">
                <a:latin typeface="Cambria"/>
                <a:cs typeface="Cambria"/>
              </a:rPr>
              <a:t> </a:t>
            </a:r>
            <a:r>
              <a:rPr sz="2400" spc="-20" dirty="0">
                <a:latin typeface="Cambria"/>
                <a:cs typeface="Cambria"/>
              </a:rPr>
              <a:t>i*7;</a:t>
            </a:r>
            <a:endParaRPr sz="2400">
              <a:latin typeface="Cambria"/>
              <a:cs typeface="Cambria"/>
            </a:endParaRPr>
          </a:p>
          <a:p>
            <a:pPr marL="12700">
              <a:lnSpc>
                <a:spcPct val="100000"/>
              </a:lnSpc>
              <a:spcBef>
                <a:spcPts val="915"/>
              </a:spcBef>
            </a:pPr>
            <a:r>
              <a:rPr sz="2400" spc="-50" dirty="0">
                <a:latin typeface="Cambria"/>
                <a:cs typeface="Cambria"/>
              </a:rPr>
              <a:t>}</a:t>
            </a:r>
            <a:endParaRPr sz="2400">
              <a:latin typeface="Cambria"/>
              <a:cs typeface="Cambria"/>
            </a:endParaRPr>
          </a:p>
        </p:txBody>
      </p:sp>
      <p:sp>
        <p:nvSpPr>
          <p:cNvPr id="7" name="object 7"/>
          <p:cNvSpPr txBox="1"/>
          <p:nvPr/>
        </p:nvSpPr>
        <p:spPr>
          <a:xfrm>
            <a:off x="8126348" y="2761890"/>
            <a:ext cx="3140710" cy="2916555"/>
          </a:xfrm>
          <a:prstGeom prst="rect">
            <a:avLst/>
          </a:prstGeom>
        </p:spPr>
        <p:txBody>
          <a:bodyPr vert="horz" wrap="square" lIns="0" tIns="128905" rIns="0" bIns="0" rtlCol="0">
            <a:spAutoFit/>
          </a:bodyPr>
          <a:lstStyle/>
          <a:p>
            <a:pPr marL="12700">
              <a:lnSpc>
                <a:spcPct val="100000"/>
              </a:lnSpc>
              <a:spcBef>
                <a:spcPts val="1015"/>
              </a:spcBef>
            </a:pPr>
            <a:r>
              <a:rPr sz="2400" spc="-10" dirty="0">
                <a:latin typeface="Cambria"/>
                <a:cs typeface="Cambria"/>
              </a:rPr>
              <a:t>temp=7</a:t>
            </a:r>
            <a:endParaRPr sz="2400">
              <a:latin typeface="Cambria"/>
              <a:cs typeface="Cambria"/>
            </a:endParaRPr>
          </a:p>
          <a:p>
            <a:pPr marL="12700">
              <a:lnSpc>
                <a:spcPct val="100000"/>
              </a:lnSpc>
              <a:spcBef>
                <a:spcPts val="915"/>
              </a:spcBef>
            </a:pPr>
            <a:r>
              <a:rPr sz="2400" spc="-10" dirty="0">
                <a:latin typeface="Cambria"/>
                <a:cs typeface="Cambria"/>
              </a:rPr>
              <a:t>for(i=1;i&lt;=50;i++)</a:t>
            </a:r>
            <a:endParaRPr sz="2400">
              <a:latin typeface="Cambria"/>
              <a:cs typeface="Cambria"/>
            </a:endParaRPr>
          </a:p>
          <a:p>
            <a:pPr marL="12700">
              <a:lnSpc>
                <a:spcPct val="100000"/>
              </a:lnSpc>
              <a:spcBef>
                <a:spcPts val="910"/>
              </a:spcBef>
            </a:pPr>
            <a:r>
              <a:rPr sz="2400" spc="-50" dirty="0">
                <a:latin typeface="Cambria"/>
                <a:cs typeface="Cambria"/>
              </a:rPr>
              <a:t>{</a:t>
            </a:r>
            <a:endParaRPr sz="2400">
              <a:latin typeface="Cambria"/>
              <a:cs typeface="Cambria"/>
            </a:endParaRPr>
          </a:p>
          <a:p>
            <a:pPr marL="927100">
              <a:lnSpc>
                <a:spcPct val="100000"/>
              </a:lnSpc>
              <a:spcBef>
                <a:spcPts val="915"/>
              </a:spcBef>
            </a:pPr>
            <a:r>
              <a:rPr sz="2400" dirty="0">
                <a:latin typeface="Cambria"/>
                <a:cs typeface="Cambria"/>
              </a:rPr>
              <a:t>count=</a:t>
            </a:r>
            <a:r>
              <a:rPr sz="2400" spc="-60" dirty="0">
                <a:latin typeface="Cambria"/>
                <a:cs typeface="Cambria"/>
              </a:rPr>
              <a:t> </a:t>
            </a:r>
            <a:r>
              <a:rPr sz="2400" spc="-10" dirty="0">
                <a:latin typeface="Cambria"/>
                <a:cs typeface="Cambria"/>
              </a:rPr>
              <a:t>temp;</a:t>
            </a:r>
            <a:endParaRPr sz="2400">
              <a:latin typeface="Cambria"/>
              <a:cs typeface="Cambria"/>
            </a:endParaRPr>
          </a:p>
          <a:p>
            <a:pPr marL="927100">
              <a:lnSpc>
                <a:spcPct val="100000"/>
              </a:lnSpc>
              <a:spcBef>
                <a:spcPts val="915"/>
              </a:spcBef>
            </a:pPr>
            <a:r>
              <a:rPr sz="2400" dirty="0">
                <a:latin typeface="Cambria"/>
                <a:cs typeface="Cambria"/>
              </a:rPr>
              <a:t>temp</a:t>
            </a:r>
            <a:r>
              <a:rPr sz="2400" spc="-40" dirty="0">
                <a:latin typeface="Cambria"/>
                <a:cs typeface="Cambria"/>
              </a:rPr>
              <a:t> </a:t>
            </a:r>
            <a:r>
              <a:rPr sz="2400" dirty="0">
                <a:latin typeface="Cambria"/>
                <a:cs typeface="Cambria"/>
              </a:rPr>
              <a:t>=</a:t>
            </a:r>
            <a:r>
              <a:rPr sz="2400" spc="-50" dirty="0">
                <a:latin typeface="Cambria"/>
                <a:cs typeface="Cambria"/>
              </a:rPr>
              <a:t> </a:t>
            </a:r>
            <a:r>
              <a:rPr sz="2400" dirty="0">
                <a:latin typeface="Cambria"/>
                <a:cs typeface="Cambria"/>
              </a:rPr>
              <a:t>temp</a:t>
            </a:r>
            <a:r>
              <a:rPr sz="2400" spc="-40" dirty="0">
                <a:latin typeface="Cambria"/>
                <a:cs typeface="Cambria"/>
              </a:rPr>
              <a:t> </a:t>
            </a:r>
            <a:r>
              <a:rPr sz="2400" dirty="0">
                <a:latin typeface="Cambria"/>
                <a:cs typeface="Cambria"/>
              </a:rPr>
              <a:t>+</a:t>
            </a:r>
            <a:r>
              <a:rPr sz="2400" spc="-55" dirty="0">
                <a:latin typeface="Cambria"/>
                <a:cs typeface="Cambria"/>
              </a:rPr>
              <a:t> </a:t>
            </a:r>
            <a:r>
              <a:rPr sz="2400" spc="-25" dirty="0">
                <a:latin typeface="Cambria"/>
                <a:cs typeface="Cambria"/>
              </a:rPr>
              <a:t>7;</a:t>
            </a:r>
            <a:endParaRPr sz="2400">
              <a:latin typeface="Cambria"/>
              <a:cs typeface="Cambria"/>
            </a:endParaRPr>
          </a:p>
          <a:p>
            <a:pPr marL="12700">
              <a:lnSpc>
                <a:spcPct val="100000"/>
              </a:lnSpc>
              <a:spcBef>
                <a:spcPts val="910"/>
              </a:spcBef>
            </a:pPr>
            <a:r>
              <a:rPr sz="2400" spc="-50" dirty="0">
                <a:latin typeface="Cambria"/>
                <a:cs typeface="Cambria"/>
              </a:rPr>
              <a:t>}</a:t>
            </a:r>
            <a:endParaRPr sz="2400">
              <a:latin typeface="Cambria"/>
              <a:cs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701675">
              <a:lnSpc>
                <a:spcPts val="3779"/>
              </a:lnSpc>
            </a:pPr>
            <a:r>
              <a:rPr sz="3600" b="1" spc="-65" dirty="0">
                <a:solidFill>
                  <a:srgbClr val="FFFFFF"/>
                </a:solidFill>
                <a:latin typeface="Cambria"/>
                <a:cs typeface="Cambria"/>
              </a:rPr>
              <a:t>Dead</a:t>
            </a:r>
            <a:r>
              <a:rPr sz="3600" b="1" spc="-125" dirty="0">
                <a:solidFill>
                  <a:srgbClr val="FFFFFF"/>
                </a:solidFill>
                <a:latin typeface="Cambria"/>
                <a:cs typeface="Cambria"/>
              </a:rPr>
              <a:t> </a:t>
            </a:r>
            <a:r>
              <a:rPr sz="3600" b="1" spc="-20" dirty="0">
                <a:solidFill>
                  <a:srgbClr val="FFFFFF"/>
                </a:solidFill>
                <a:latin typeface="Cambria"/>
                <a:cs typeface="Cambria"/>
              </a:rPr>
              <a:t>Code </a:t>
            </a:r>
            <a:r>
              <a:rPr sz="3600" b="1" spc="-65" dirty="0">
                <a:solidFill>
                  <a:srgbClr val="FFFFFF"/>
                </a:solidFill>
                <a:latin typeface="Cambria"/>
                <a:cs typeface="Cambria"/>
              </a:rPr>
              <a:t>Elimination</a:t>
            </a:r>
            <a:endParaRPr sz="3600">
              <a:latin typeface="Cambria"/>
              <a:cs typeface="Cambria"/>
            </a:endParaRPr>
          </a:p>
        </p:txBody>
      </p:sp>
      <p:sp>
        <p:nvSpPr>
          <p:cNvPr id="3" name="object 3"/>
          <p:cNvSpPr txBox="1">
            <a:spLocks noGrp="1"/>
          </p:cNvSpPr>
          <p:nvPr>
            <p:ph type="title"/>
          </p:nvPr>
        </p:nvSpPr>
        <p:spPr>
          <a:xfrm>
            <a:off x="3553714" y="753821"/>
            <a:ext cx="7753350"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The</a:t>
            </a:r>
            <a:r>
              <a:rPr spc="80" dirty="0"/>
              <a:t> </a:t>
            </a:r>
            <a:r>
              <a:rPr dirty="0"/>
              <a:t>variable</a:t>
            </a:r>
            <a:r>
              <a:rPr spc="125" dirty="0"/>
              <a:t> </a:t>
            </a:r>
            <a:r>
              <a:rPr dirty="0"/>
              <a:t>is</a:t>
            </a:r>
            <a:r>
              <a:rPr spc="114" dirty="0"/>
              <a:t> </a:t>
            </a:r>
            <a:r>
              <a:rPr dirty="0"/>
              <a:t>said</a:t>
            </a:r>
            <a:r>
              <a:rPr spc="114" dirty="0"/>
              <a:t> </a:t>
            </a:r>
            <a:r>
              <a:rPr dirty="0"/>
              <a:t>to</a:t>
            </a:r>
            <a:r>
              <a:rPr spc="120" dirty="0"/>
              <a:t> </a:t>
            </a:r>
            <a:r>
              <a:rPr dirty="0"/>
              <a:t>be</a:t>
            </a:r>
            <a:r>
              <a:rPr spc="120" dirty="0"/>
              <a:t> </a:t>
            </a:r>
            <a:r>
              <a:rPr dirty="0"/>
              <a:t>Dead</a:t>
            </a:r>
            <a:r>
              <a:rPr spc="110" dirty="0"/>
              <a:t> </a:t>
            </a:r>
            <a:r>
              <a:rPr dirty="0"/>
              <a:t>at</a:t>
            </a:r>
            <a:r>
              <a:rPr spc="130" dirty="0"/>
              <a:t> </a:t>
            </a:r>
            <a:r>
              <a:rPr dirty="0"/>
              <a:t>a</a:t>
            </a:r>
            <a:r>
              <a:rPr spc="130" dirty="0"/>
              <a:t> </a:t>
            </a:r>
            <a:r>
              <a:rPr dirty="0"/>
              <a:t>point</a:t>
            </a:r>
            <a:r>
              <a:rPr spc="114" dirty="0"/>
              <a:t> </a:t>
            </a:r>
            <a:r>
              <a:rPr dirty="0"/>
              <a:t>in</a:t>
            </a:r>
            <a:r>
              <a:rPr spc="125" dirty="0"/>
              <a:t> </a:t>
            </a:r>
            <a:r>
              <a:rPr dirty="0"/>
              <a:t>a</a:t>
            </a:r>
            <a:r>
              <a:rPr spc="114" dirty="0"/>
              <a:t> </a:t>
            </a:r>
            <a:r>
              <a:rPr dirty="0"/>
              <a:t>program,</a:t>
            </a:r>
            <a:r>
              <a:rPr spc="105" dirty="0"/>
              <a:t> </a:t>
            </a:r>
            <a:r>
              <a:rPr spc="-25" dirty="0"/>
              <a:t>if</a:t>
            </a:r>
          </a:p>
        </p:txBody>
      </p:sp>
      <p:sp>
        <p:nvSpPr>
          <p:cNvPr id="4" name="object 4"/>
          <p:cNvSpPr txBox="1"/>
          <p:nvPr/>
        </p:nvSpPr>
        <p:spPr>
          <a:xfrm>
            <a:off x="3553714" y="967866"/>
            <a:ext cx="7754620" cy="4208145"/>
          </a:xfrm>
          <a:prstGeom prst="rect">
            <a:avLst/>
          </a:prstGeom>
        </p:spPr>
        <p:txBody>
          <a:bodyPr vert="horz" wrap="square" lIns="0" tIns="128270" rIns="0" bIns="0" rtlCol="0">
            <a:spAutoFit/>
          </a:bodyPr>
          <a:lstStyle/>
          <a:p>
            <a:pPr marL="195580">
              <a:lnSpc>
                <a:spcPct val="100000"/>
              </a:lnSpc>
              <a:spcBef>
                <a:spcPts val="1010"/>
              </a:spcBef>
            </a:pPr>
            <a:r>
              <a:rPr sz="2400" dirty="0">
                <a:latin typeface="Cambria"/>
                <a:cs typeface="Cambria"/>
              </a:rPr>
              <a:t>the</a:t>
            </a:r>
            <a:r>
              <a:rPr sz="2400" spc="-60" dirty="0">
                <a:latin typeface="Cambria"/>
                <a:cs typeface="Cambria"/>
              </a:rPr>
              <a:t> </a:t>
            </a:r>
            <a:r>
              <a:rPr sz="2400" dirty="0">
                <a:latin typeface="Cambria"/>
                <a:cs typeface="Cambria"/>
              </a:rPr>
              <a:t>value</a:t>
            </a:r>
            <a:r>
              <a:rPr sz="2400" spc="-60" dirty="0">
                <a:latin typeface="Cambria"/>
                <a:cs typeface="Cambria"/>
              </a:rPr>
              <a:t> </a:t>
            </a:r>
            <a:r>
              <a:rPr sz="2400" dirty="0">
                <a:latin typeface="Cambria"/>
                <a:cs typeface="Cambria"/>
              </a:rPr>
              <a:t>contained</a:t>
            </a:r>
            <a:r>
              <a:rPr sz="2400" spc="-70" dirty="0">
                <a:latin typeface="Cambria"/>
                <a:cs typeface="Cambria"/>
              </a:rPr>
              <a:t> </a:t>
            </a:r>
            <a:r>
              <a:rPr sz="2400" dirty="0">
                <a:latin typeface="Cambria"/>
                <a:cs typeface="Cambria"/>
              </a:rPr>
              <a:t>into</a:t>
            </a:r>
            <a:r>
              <a:rPr sz="2400" spc="-75" dirty="0">
                <a:latin typeface="Cambria"/>
                <a:cs typeface="Cambria"/>
              </a:rPr>
              <a:t> </a:t>
            </a:r>
            <a:r>
              <a:rPr sz="2400" dirty="0">
                <a:latin typeface="Cambria"/>
                <a:cs typeface="Cambria"/>
              </a:rPr>
              <a:t>it</a:t>
            </a:r>
            <a:r>
              <a:rPr sz="2400" spc="-65" dirty="0">
                <a:latin typeface="Cambria"/>
                <a:cs typeface="Cambria"/>
              </a:rPr>
              <a:t> </a:t>
            </a:r>
            <a:r>
              <a:rPr sz="2400" dirty="0">
                <a:latin typeface="Cambria"/>
                <a:cs typeface="Cambria"/>
              </a:rPr>
              <a:t>is</a:t>
            </a:r>
            <a:r>
              <a:rPr sz="2400" spc="-70" dirty="0">
                <a:latin typeface="Cambria"/>
                <a:cs typeface="Cambria"/>
              </a:rPr>
              <a:t> </a:t>
            </a:r>
            <a:r>
              <a:rPr sz="2400" dirty="0">
                <a:latin typeface="Cambria"/>
                <a:cs typeface="Cambria"/>
              </a:rPr>
              <a:t>never</a:t>
            </a:r>
            <a:r>
              <a:rPr sz="2400" spc="-70" dirty="0">
                <a:latin typeface="Cambria"/>
                <a:cs typeface="Cambria"/>
              </a:rPr>
              <a:t> </a:t>
            </a:r>
            <a:r>
              <a:rPr sz="2400" dirty="0">
                <a:latin typeface="Cambria"/>
                <a:cs typeface="Cambria"/>
              </a:rPr>
              <a:t>been</a:t>
            </a:r>
            <a:r>
              <a:rPr sz="2400" spc="-65" dirty="0">
                <a:latin typeface="Cambria"/>
                <a:cs typeface="Cambria"/>
              </a:rPr>
              <a:t> </a:t>
            </a:r>
            <a:r>
              <a:rPr sz="2400" spc="-10" dirty="0">
                <a:latin typeface="Cambria"/>
                <a:cs typeface="Cambria"/>
              </a:rPr>
              <a:t>used.</a:t>
            </a:r>
            <a:endParaRPr sz="2400" dirty="0">
              <a:latin typeface="Cambria"/>
              <a:cs typeface="Cambria"/>
            </a:endParaRPr>
          </a:p>
          <a:p>
            <a:pPr marL="195580" marR="5080" indent="-182880">
              <a:lnSpc>
                <a:spcPts val="2590"/>
              </a:lnSpc>
              <a:spcBef>
                <a:spcPts val="1240"/>
              </a:spcBef>
              <a:tabLst>
                <a:tab pos="1748789" algn="l"/>
                <a:tab pos="2498090" algn="l"/>
                <a:tab pos="3158490" algn="l"/>
                <a:tab pos="3746500" algn="l"/>
                <a:tab pos="4316730" algn="l"/>
                <a:tab pos="4766310" algn="l"/>
                <a:tab pos="5942965" algn="l"/>
                <a:tab pos="6365240" algn="l"/>
                <a:tab pos="732091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Eliminated</a:t>
            </a:r>
            <a:r>
              <a:rPr sz="2400" dirty="0">
                <a:latin typeface="Cambria"/>
                <a:cs typeface="Cambria"/>
              </a:rPr>
              <a:t>	</a:t>
            </a:r>
            <a:r>
              <a:rPr sz="2400" spc="-20" dirty="0">
                <a:latin typeface="Cambria"/>
                <a:cs typeface="Cambria"/>
              </a:rPr>
              <a:t>code</a:t>
            </a:r>
            <a:r>
              <a:rPr sz="2400" dirty="0">
                <a:latin typeface="Cambria"/>
                <a:cs typeface="Cambria"/>
              </a:rPr>
              <a:t>	</a:t>
            </a:r>
            <a:r>
              <a:rPr sz="2400" spc="-20" dirty="0">
                <a:latin typeface="Cambria"/>
                <a:cs typeface="Cambria"/>
              </a:rPr>
              <a:t>that</a:t>
            </a:r>
            <a:r>
              <a:rPr sz="2400" dirty="0">
                <a:latin typeface="Cambria"/>
                <a:cs typeface="Cambria"/>
              </a:rPr>
              <a:t>	</a:t>
            </a:r>
            <a:r>
              <a:rPr sz="2400" spc="-25" dirty="0">
                <a:latin typeface="Cambria"/>
                <a:cs typeface="Cambria"/>
              </a:rPr>
              <a:t>can</a:t>
            </a:r>
            <a:r>
              <a:rPr sz="2400" dirty="0">
                <a:latin typeface="Cambria"/>
                <a:cs typeface="Cambria"/>
              </a:rPr>
              <a:t>	</a:t>
            </a:r>
            <a:r>
              <a:rPr sz="2400" spc="-25" dirty="0">
                <a:latin typeface="Cambria"/>
                <a:cs typeface="Cambria"/>
              </a:rPr>
              <a:t>not</a:t>
            </a:r>
            <a:r>
              <a:rPr sz="2400" dirty="0">
                <a:latin typeface="Cambria"/>
                <a:cs typeface="Cambria"/>
              </a:rPr>
              <a:t>	</a:t>
            </a:r>
            <a:r>
              <a:rPr sz="2400" spc="-25" dirty="0">
                <a:latin typeface="Cambria"/>
                <a:cs typeface="Cambria"/>
              </a:rPr>
              <a:t>be</a:t>
            </a:r>
            <a:r>
              <a:rPr sz="2400" dirty="0">
                <a:latin typeface="Cambria"/>
                <a:cs typeface="Cambria"/>
              </a:rPr>
              <a:t>	</a:t>
            </a:r>
            <a:r>
              <a:rPr sz="2400" spc="-10" dirty="0">
                <a:latin typeface="Cambria"/>
                <a:cs typeface="Cambria"/>
              </a:rPr>
              <a:t>reached</a:t>
            </a:r>
            <a:r>
              <a:rPr sz="2400" dirty="0">
                <a:latin typeface="Cambria"/>
                <a:cs typeface="Cambria"/>
              </a:rPr>
              <a:t>	</a:t>
            </a:r>
            <a:r>
              <a:rPr sz="2400" spc="-25" dirty="0">
                <a:latin typeface="Cambria"/>
                <a:cs typeface="Cambria"/>
              </a:rPr>
              <a:t>or</a:t>
            </a:r>
            <a:r>
              <a:rPr sz="2400" dirty="0">
                <a:latin typeface="Cambria"/>
                <a:cs typeface="Cambria"/>
              </a:rPr>
              <a:t>	</a:t>
            </a:r>
            <a:r>
              <a:rPr sz="2400" spc="-10" dirty="0">
                <a:latin typeface="Cambria"/>
                <a:cs typeface="Cambria"/>
              </a:rPr>
              <a:t>where</a:t>
            </a:r>
            <a:r>
              <a:rPr sz="2400" dirty="0">
                <a:latin typeface="Cambria"/>
                <a:cs typeface="Cambria"/>
              </a:rPr>
              <a:t>	</a:t>
            </a:r>
            <a:r>
              <a:rPr sz="2400" spc="-25" dirty="0">
                <a:latin typeface="Cambria"/>
                <a:cs typeface="Cambria"/>
              </a:rPr>
              <a:t>the </a:t>
            </a:r>
            <a:r>
              <a:rPr sz="2400" dirty="0">
                <a:latin typeface="Cambria"/>
                <a:cs typeface="Cambria"/>
              </a:rPr>
              <a:t>results</a:t>
            </a:r>
            <a:r>
              <a:rPr sz="2400" spc="-70" dirty="0">
                <a:latin typeface="Cambria"/>
                <a:cs typeface="Cambria"/>
              </a:rPr>
              <a:t> </a:t>
            </a:r>
            <a:r>
              <a:rPr sz="2400" dirty="0">
                <a:latin typeface="Cambria"/>
                <a:cs typeface="Cambria"/>
              </a:rPr>
              <a:t>are</a:t>
            </a:r>
            <a:r>
              <a:rPr sz="2400" spc="-75" dirty="0">
                <a:latin typeface="Cambria"/>
                <a:cs typeface="Cambria"/>
              </a:rPr>
              <a:t> </a:t>
            </a:r>
            <a:r>
              <a:rPr sz="2400" dirty="0">
                <a:latin typeface="Cambria"/>
                <a:cs typeface="Cambria"/>
              </a:rPr>
              <a:t>not</a:t>
            </a:r>
            <a:r>
              <a:rPr sz="2400" spc="-70" dirty="0">
                <a:latin typeface="Cambria"/>
                <a:cs typeface="Cambria"/>
              </a:rPr>
              <a:t> </a:t>
            </a:r>
            <a:r>
              <a:rPr sz="2400" spc="-10" dirty="0">
                <a:latin typeface="Cambria"/>
                <a:cs typeface="Cambria"/>
              </a:rPr>
              <a:t>subsequently</a:t>
            </a:r>
            <a:r>
              <a:rPr sz="2400" spc="-30" dirty="0">
                <a:latin typeface="Cambria"/>
                <a:cs typeface="Cambria"/>
              </a:rPr>
              <a:t> </a:t>
            </a:r>
            <a:r>
              <a:rPr sz="2400" spc="-10" dirty="0">
                <a:latin typeface="Cambria"/>
                <a:cs typeface="Cambria"/>
              </a:rPr>
              <a:t>used.</a:t>
            </a:r>
            <a:endParaRPr sz="2400" dirty="0">
              <a:latin typeface="Cambria"/>
              <a:cs typeface="Cambria"/>
            </a:endParaRPr>
          </a:p>
          <a:p>
            <a:pPr marL="12700" marR="6279515">
              <a:lnSpc>
                <a:spcPts val="3790"/>
              </a:lnSpc>
              <a:spcBef>
                <a:spcPts val="24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Example</a:t>
            </a:r>
            <a:r>
              <a:rPr sz="2400" spc="-95" dirty="0">
                <a:latin typeface="Cambria"/>
                <a:cs typeface="Cambria"/>
              </a:rPr>
              <a:t> </a:t>
            </a:r>
            <a:r>
              <a:rPr sz="2400" spc="-370" dirty="0">
                <a:latin typeface="Cambria"/>
                <a:cs typeface="Cambria"/>
              </a:rPr>
              <a:t>:</a:t>
            </a:r>
            <a:r>
              <a:rPr sz="2400" dirty="0">
                <a:latin typeface="Cambria"/>
                <a:cs typeface="Cambria"/>
              </a:rPr>
              <a:t> int</a:t>
            </a:r>
            <a:r>
              <a:rPr sz="2400" spc="-20" dirty="0">
                <a:latin typeface="Cambria"/>
                <a:cs typeface="Cambria"/>
              </a:rPr>
              <a:t> </a:t>
            </a:r>
            <a:r>
              <a:rPr sz="2400" spc="-10" dirty="0">
                <a:latin typeface="Cambria"/>
                <a:cs typeface="Cambria"/>
              </a:rPr>
              <a:t>i=0,x;</a:t>
            </a:r>
            <a:endParaRPr sz="2400" dirty="0">
              <a:latin typeface="Cambria"/>
              <a:cs typeface="Cambria"/>
            </a:endParaRPr>
          </a:p>
          <a:p>
            <a:pPr marL="12700">
              <a:lnSpc>
                <a:spcPct val="100000"/>
              </a:lnSpc>
              <a:spcBef>
                <a:spcPts val="640"/>
              </a:spcBef>
            </a:pPr>
            <a:r>
              <a:rPr sz="2400" dirty="0">
                <a:latin typeface="Cambria"/>
                <a:cs typeface="Cambria"/>
              </a:rPr>
              <a:t>If</a:t>
            </a:r>
            <a:r>
              <a:rPr sz="2400" spc="-10" dirty="0">
                <a:latin typeface="Cambria"/>
                <a:cs typeface="Cambria"/>
              </a:rPr>
              <a:t> (i==1)</a:t>
            </a:r>
            <a:endParaRPr sz="2400" dirty="0">
              <a:latin typeface="Cambria"/>
              <a:cs typeface="Cambria"/>
            </a:endParaRPr>
          </a:p>
          <a:p>
            <a:pPr marL="12700">
              <a:lnSpc>
                <a:spcPct val="100000"/>
              </a:lnSpc>
              <a:spcBef>
                <a:spcPts val="915"/>
              </a:spcBef>
            </a:pPr>
            <a:r>
              <a:rPr sz="2400" spc="-50" dirty="0">
                <a:latin typeface="Cambria"/>
                <a:cs typeface="Cambria"/>
              </a:rPr>
              <a:t>{</a:t>
            </a:r>
            <a:endParaRPr sz="2400" dirty="0">
              <a:latin typeface="Cambria"/>
              <a:cs typeface="Cambria"/>
            </a:endParaRPr>
          </a:p>
          <a:p>
            <a:pPr marL="927100">
              <a:lnSpc>
                <a:spcPct val="100000"/>
              </a:lnSpc>
              <a:spcBef>
                <a:spcPts val="910"/>
              </a:spcBef>
            </a:pPr>
            <a:r>
              <a:rPr sz="2400" spc="-10" dirty="0">
                <a:latin typeface="Cambria"/>
                <a:cs typeface="Cambria"/>
              </a:rPr>
              <a:t>x=x+i;</a:t>
            </a:r>
            <a:endParaRPr sz="2400" dirty="0">
              <a:latin typeface="Cambria"/>
              <a:cs typeface="Cambria"/>
            </a:endParaRPr>
          </a:p>
          <a:p>
            <a:pPr marL="12700">
              <a:lnSpc>
                <a:spcPct val="100000"/>
              </a:lnSpc>
              <a:spcBef>
                <a:spcPts val="915"/>
              </a:spcBef>
            </a:pPr>
            <a:r>
              <a:rPr sz="2400" spc="-50" dirty="0">
                <a:latin typeface="Cambria"/>
                <a:cs typeface="Cambria"/>
              </a:rPr>
              <a:t>}</a:t>
            </a:r>
            <a:endParaRPr sz="2400" dirty="0">
              <a:latin typeface="Cambria"/>
              <a:cs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95"/>
              </a:spcBef>
            </a:pPr>
            <a:endParaRPr sz="3600" dirty="0">
              <a:latin typeface="Times New Roman"/>
              <a:cs typeface="Times New Roman"/>
            </a:endParaRPr>
          </a:p>
          <a:p>
            <a:pPr marL="344170" marR="410845">
              <a:lnSpc>
                <a:spcPts val="3779"/>
              </a:lnSpc>
            </a:pPr>
            <a:r>
              <a:rPr sz="3600" b="1" spc="-10" dirty="0">
                <a:solidFill>
                  <a:srgbClr val="FFFFFF"/>
                </a:solidFill>
                <a:latin typeface="Cambria"/>
                <a:cs typeface="Cambria"/>
              </a:rPr>
              <a:t>Peephole </a:t>
            </a:r>
            <a:r>
              <a:rPr sz="3600" b="1" spc="-65" dirty="0">
                <a:solidFill>
                  <a:srgbClr val="FFFFFF"/>
                </a:solidFill>
                <a:latin typeface="Cambria"/>
                <a:cs typeface="Cambria"/>
              </a:rPr>
              <a:t>Optimization</a:t>
            </a:r>
            <a:endParaRPr sz="3600" dirty="0">
              <a:latin typeface="Cambria"/>
              <a:cs typeface="Cambria"/>
            </a:endParaRPr>
          </a:p>
        </p:txBody>
      </p:sp>
      <p:sp>
        <p:nvSpPr>
          <p:cNvPr id="3" name="object 3"/>
          <p:cNvSpPr txBox="1">
            <a:spLocks noGrp="1"/>
          </p:cNvSpPr>
          <p:nvPr>
            <p:ph type="title"/>
          </p:nvPr>
        </p:nvSpPr>
        <p:spPr>
          <a:xfrm>
            <a:off x="3508150" y="563053"/>
            <a:ext cx="7755255"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It</a:t>
            </a:r>
            <a:r>
              <a:rPr spc="-60" dirty="0"/>
              <a:t> </a:t>
            </a:r>
            <a:r>
              <a:rPr dirty="0"/>
              <a:t>is</a:t>
            </a:r>
            <a:r>
              <a:rPr spc="5" dirty="0"/>
              <a:t> </a:t>
            </a:r>
            <a:r>
              <a:rPr dirty="0"/>
              <a:t>a</a:t>
            </a:r>
            <a:r>
              <a:rPr spc="5" dirty="0"/>
              <a:t> </a:t>
            </a:r>
            <a:r>
              <a:rPr dirty="0"/>
              <a:t>simple</a:t>
            </a:r>
            <a:r>
              <a:rPr spc="10" dirty="0"/>
              <a:t> </a:t>
            </a:r>
            <a:r>
              <a:rPr dirty="0"/>
              <a:t>and effective</a:t>
            </a:r>
            <a:r>
              <a:rPr spc="15" dirty="0"/>
              <a:t> </a:t>
            </a:r>
            <a:r>
              <a:rPr dirty="0"/>
              <a:t>technique for locally</a:t>
            </a:r>
            <a:r>
              <a:rPr spc="5" dirty="0"/>
              <a:t> </a:t>
            </a:r>
            <a:r>
              <a:rPr spc="-10" dirty="0"/>
              <a:t>improving</a:t>
            </a:r>
          </a:p>
        </p:txBody>
      </p:sp>
      <p:sp>
        <p:nvSpPr>
          <p:cNvPr id="4" name="object 4"/>
          <p:cNvSpPr txBox="1"/>
          <p:nvPr/>
        </p:nvSpPr>
        <p:spPr>
          <a:xfrm>
            <a:off x="3508150" y="1088848"/>
            <a:ext cx="7755255" cy="5103192"/>
          </a:xfrm>
          <a:prstGeom prst="rect">
            <a:avLst/>
          </a:prstGeom>
        </p:spPr>
        <p:txBody>
          <a:bodyPr vert="horz" wrap="square" lIns="0" tIns="128270" rIns="0" bIns="0" rtlCol="0">
            <a:spAutoFit/>
          </a:bodyPr>
          <a:lstStyle/>
          <a:p>
            <a:pPr marL="195580" algn="just">
              <a:lnSpc>
                <a:spcPct val="100000"/>
              </a:lnSpc>
              <a:spcBef>
                <a:spcPts val="1010"/>
              </a:spcBef>
            </a:pPr>
            <a:r>
              <a:rPr sz="2400" dirty="0">
                <a:latin typeface="Cambria"/>
                <a:cs typeface="Cambria"/>
              </a:rPr>
              <a:t>target</a:t>
            </a:r>
            <a:r>
              <a:rPr sz="2400" spc="-80" dirty="0">
                <a:latin typeface="Cambria"/>
                <a:cs typeface="Cambria"/>
              </a:rPr>
              <a:t> </a:t>
            </a:r>
            <a:r>
              <a:rPr sz="2400" spc="-10" dirty="0">
                <a:latin typeface="Cambria"/>
                <a:cs typeface="Cambria"/>
              </a:rPr>
              <a:t>code.</a:t>
            </a:r>
            <a:r>
              <a:rPr lang="en-US" sz="2400" spc="-10" dirty="0">
                <a:latin typeface="Cambria"/>
                <a:cs typeface="Cambria"/>
              </a:rPr>
              <a:t> Peephole optimization is a machine-dependent optimization technique in compiler design (PCD) where the compiler looks at a small set of consecutive instructions (called a peephole or window) and replaces them with faster or shorter equivalent instructions.</a:t>
            </a:r>
            <a:endParaRPr sz="2400" dirty="0">
              <a:latin typeface="Cambria"/>
              <a:cs typeface="Cambria"/>
            </a:endParaRPr>
          </a:p>
          <a:p>
            <a:pPr marL="195580" marR="5080" indent="-182880" algn="just">
              <a:lnSpc>
                <a:spcPct val="90000"/>
              </a:lnSpc>
              <a:spcBef>
                <a:spcPts val="12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Peephole</a:t>
            </a:r>
            <a:r>
              <a:rPr sz="2400" spc="250" dirty="0">
                <a:latin typeface="Cambria"/>
                <a:cs typeface="Cambria"/>
              </a:rPr>
              <a:t>  </a:t>
            </a:r>
            <a:r>
              <a:rPr sz="2400" dirty="0">
                <a:latin typeface="Cambria"/>
                <a:cs typeface="Cambria"/>
              </a:rPr>
              <a:t>is</a:t>
            </a:r>
            <a:r>
              <a:rPr sz="2400" spc="260" dirty="0">
                <a:latin typeface="Cambria"/>
                <a:cs typeface="Cambria"/>
              </a:rPr>
              <a:t>  </a:t>
            </a:r>
            <a:r>
              <a:rPr sz="2400" dirty="0">
                <a:latin typeface="Cambria"/>
                <a:cs typeface="Cambria"/>
              </a:rPr>
              <a:t>a</a:t>
            </a:r>
            <a:r>
              <a:rPr sz="2400" spc="265" dirty="0">
                <a:latin typeface="Cambria"/>
                <a:cs typeface="Cambria"/>
              </a:rPr>
              <a:t>  </a:t>
            </a:r>
            <a:r>
              <a:rPr sz="2400" dirty="0">
                <a:latin typeface="Cambria"/>
                <a:cs typeface="Cambria"/>
              </a:rPr>
              <a:t>small,</a:t>
            </a:r>
            <a:r>
              <a:rPr sz="2400" spc="265" dirty="0">
                <a:latin typeface="Cambria"/>
                <a:cs typeface="Cambria"/>
              </a:rPr>
              <a:t>  </a:t>
            </a:r>
            <a:r>
              <a:rPr sz="2400" dirty="0">
                <a:latin typeface="Cambria"/>
                <a:cs typeface="Cambria"/>
              </a:rPr>
              <a:t>moving</a:t>
            </a:r>
            <a:r>
              <a:rPr sz="2400" spc="265" dirty="0">
                <a:latin typeface="Cambria"/>
                <a:cs typeface="Cambria"/>
              </a:rPr>
              <a:t>  </a:t>
            </a:r>
            <a:r>
              <a:rPr sz="2400" dirty="0">
                <a:latin typeface="Cambria"/>
                <a:cs typeface="Cambria"/>
              </a:rPr>
              <a:t>window</a:t>
            </a:r>
            <a:r>
              <a:rPr sz="2400" spc="260" dirty="0">
                <a:latin typeface="Cambria"/>
                <a:cs typeface="Cambria"/>
              </a:rPr>
              <a:t>  </a:t>
            </a:r>
            <a:r>
              <a:rPr sz="2400" dirty="0">
                <a:latin typeface="Cambria"/>
                <a:cs typeface="Cambria"/>
              </a:rPr>
              <a:t>on</a:t>
            </a:r>
            <a:r>
              <a:rPr sz="2400" spc="265" dirty="0">
                <a:latin typeface="Cambria"/>
                <a:cs typeface="Cambria"/>
              </a:rPr>
              <a:t>  </a:t>
            </a:r>
            <a:r>
              <a:rPr sz="2400" dirty="0">
                <a:latin typeface="Cambria"/>
                <a:cs typeface="Cambria"/>
              </a:rPr>
              <a:t>the</a:t>
            </a:r>
            <a:r>
              <a:rPr sz="2400" spc="260" dirty="0">
                <a:latin typeface="Cambria"/>
                <a:cs typeface="Cambria"/>
              </a:rPr>
              <a:t>  </a:t>
            </a:r>
            <a:r>
              <a:rPr sz="2400" spc="-10" dirty="0">
                <a:latin typeface="Cambria"/>
                <a:cs typeface="Cambria"/>
              </a:rPr>
              <a:t>target</a:t>
            </a:r>
            <a:r>
              <a:rPr lang="en-IN" sz="2400" spc="-10" dirty="0">
                <a:latin typeface="Cambria"/>
                <a:cs typeface="Cambria"/>
              </a:rPr>
              <a:t> </a:t>
            </a:r>
            <a:r>
              <a:rPr sz="2400" spc="-10" dirty="0">
                <a:latin typeface="Cambria"/>
                <a:cs typeface="Cambria"/>
              </a:rPr>
              <a:t>program.</a:t>
            </a:r>
            <a:endParaRPr sz="2400" dirty="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Goals</a:t>
            </a:r>
            <a:r>
              <a:rPr sz="2400" spc="-65" dirty="0">
                <a:latin typeface="Cambria"/>
                <a:cs typeface="Cambria"/>
              </a:rPr>
              <a:t> </a:t>
            </a:r>
            <a:r>
              <a:rPr sz="2400" spc="-50" dirty="0">
                <a:latin typeface="Cambria"/>
                <a:cs typeface="Cambria"/>
              </a:rPr>
              <a:t>:</a:t>
            </a:r>
            <a:endParaRPr sz="2400" dirty="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Improve</a:t>
            </a:r>
            <a:r>
              <a:rPr sz="2400" spc="-100" dirty="0">
                <a:latin typeface="Cambria"/>
                <a:cs typeface="Cambria"/>
              </a:rPr>
              <a:t> </a:t>
            </a:r>
            <a:r>
              <a:rPr sz="2400" spc="-10" dirty="0">
                <a:latin typeface="Cambria"/>
                <a:cs typeface="Cambria"/>
              </a:rPr>
              <a:t>Performance</a:t>
            </a:r>
            <a:endParaRPr lang="en-IN" sz="2400" spc="-10" dirty="0">
              <a:latin typeface="Cambria"/>
              <a:cs typeface="Cambria"/>
            </a:endParaRPr>
          </a:p>
          <a:p>
            <a:pPr marL="12700">
              <a:spcBef>
                <a:spcPts val="910"/>
              </a:spcBef>
            </a:pPr>
            <a:r>
              <a:rPr lang="en-IN" sz="2400" spc="-1250" dirty="0">
                <a:solidFill>
                  <a:srgbClr val="40B9D2"/>
                </a:solidFill>
                <a:latin typeface="Arial MT"/>
                <a:cs typeface="Arial MT"/>
              </a:rPr>
              <a:t>🞄</a:t>
            </a:r>
            <a:r>
              <a:rPr lang="en-IN" sz="2400" spc="-95" dirty="0">
                <a:solidFill>
                  <a:srgbClr val="40B9D2"/>
                </a:solidFill>
                <a:latin typeface="Arial MT"/>
                <a:cs typeface="Arial MT"/>
              </a:rPr>
              <a:t> </a:t>
            </a:r>
            <a:r>
              <a:rPr lang="en-IN" sz="2400" dirty="0">
                <a:latin typeface="Cambria" panose="02040503050406030204" pitchFamily="18" charset="0"/>
                <a:ea typeface="Cambria" panose="02040503050406030204" pitchFamily="18" charset="0"/>
              </a:rPr>
              <a:t>To reduce memory footprint</a:t>
            </a: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Reduce</a:t>
            </a:r>
            <a:r>
              <a:rPr sz="2400" spc="-95" dirty="0">
                <a:latin typeface="Cambria"/>
                <a:cs typeface="Cambria"/>
              </a:rPr>
              <a:t> </a:t>
            </a:r>
            <a:r>
              <a:rPr sz="2400" dirty="0">
                <a:latin typeface="Cambria"/>
                <a:cs typeface="Cambria"/>
              </a:rPr>
              <a:t>code</a:t>
            </a:r>
            <a:r>
              <a:rPr sz="2400" spc="-45" dirty="0">
                <a:latin typeface="Cambria"/>
                <a:cs typeface="Cambria"/>
              </a:rPr>
              <a:t> </a:t>
            </a:r>
            <a:r>
              <a:rPr sz="2400" spc="-20" dirty="0">
                <a:latin typeface="Cambria"/>
                <a:cs typeface="Cambria"/>
              </a:rPr>
              <a:t>size</a:t>
            </a:r>
            <a:endParaRPr sz="2400" dirty="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695"/>
              </a:spcBef>
            </a:pPr>
            <a:endParaRPr sz="3600" dirty="0">
              <a:latin typeface="Times New Roman"/>
              <a:cs typeface="Times New Roman"/>
            </a:endParaRPr>
          </a:p>
          <a:p>
            <a:pPr marL="344170" marR="702310" algn="just">
              <a:lnSpc>
                <a:spcPct val="88800"/>
              </a:lnSpc>
            </a:pPr>
            <a:r>
              <a:rPr sz="3600" b="1" spc="-10" dirty="0">
                <a:solidFill>
                  <a:srgbClr val="FFFFFF"/>
                </a:solidFill>
                <a:latin typeface="Cambria"/>
                <a:cs typeface="Cambria"/>
              </a:rPr>
              <a:t>Redundant Instruction </a:t>
            </a:r>
            <a:r>
              <a:rPr sz="3600" b="1" spc="-65" dirty="0">
                <a:solidFill>
                  <a:srgbClr val="FFFFFF"/>
                </a:solidFill>
                <a:latin typeface="Cambria"/>
                <a:cs typeface="Cambria"/>
              </a:rPr>
              <a:t>Elimination</a:t>
            </a:r>
            <a:endParaRPr sz="3600" dirty="0">
              <a:latin typeface="Cambria"/>
              <a:cs typeface="Cambria"/>
            </a:endParaRPr>
          </a:p>
        </p:txBody>
      </p:sp>
      <p:sp>
        <p:nvSpPr>
          <p:cNvPr id="3" name="object 3"/>
          <p:cNvSpPr txBox="1">
            <a:spLocks noGrp="1"/>
          </p:cNvSpPr>
          <p:nvPr>
            <p:ph type="title"/>
          </p:nvPr>
        </p:nvSpPr>
        <p:spPr>
          <a:xfrm>
            <a:off x="3553714" y="753821"/>
            <a:ext cx="6086475"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spc="-10" dirty="0"/>
              <a:t>Redundant</a:t>
            </a:r>
            <a:r>
              <a:rPr spc="-85" dirty="0"/>
              <a:t> </a:t>
            </a:r>
            <a:r>
              <a:rPr dirty="0"/>
              <a:t>Load</a:t>
            </a:r>
            <a:r>
              <a:rPr spc="-40" dirty="0"/>
              <a:t> </a:t>
            </a:r>
            <a:r>
              <a:rPr dirty="0"/>
              <a:t>and</a:t>
            </a:r>
            <a:r>
              <a:rPr spc="-65" dirty="0"/>
              <a:t> </a:t>
            </a:r>
            <a:r>
              <a:rPr dirty="0"/>
              <a:t>Store</a:t>
            </a:r>
            <a:r>
              <a:rPr spc="-55" dirty="0"/>
              <a:t> </a:t>
            </a:r>
            <a:r>
              <a:rPr dirty="0"/>
              <a:t>can</a:t>
            </a:r>
            <a:r>
              <a:rPr spc="-50" dirty="0"/>
              <a:t> </a:t>
            </a:r>
            <a:r>
              <a:rPr dirty="0"/>
              <a:t>be</a:t>
            </a:r>
            <a:r>
              <a:rPr spc="-45" dirty="0"/>
              <a:t> </a:t>
            </a:r>
            <a:r>
              <a:rPr spc="-10" dirty="0"/>
              <a:t>eliminated.</a:t>
            </a:r>
          </a:p>
        </p:txBody>
      </p:sp>
      <p:sp>
        <p:nvSpPr>
          <p:cNvPr id="4" name="object 4"/>
          <p:cNvSpPr txBox="1"/>
          <p:nvPr/>
        </p:nvSpPr>
        <p:spPr>
          <a:xfrm>
            <a:off x="3553714" y="1120266"/>
            <a:ext cx="2334260" cy="1470660"/>
          </a:xfrm>
          <a:prstGeom prst="rect">
            <a:avLst/>
          </a:prstGeom>
        </p:spPr>
        <p:txBody>
          <a:bodyPr vert="horz" wrap="square" lIns="0" tIns="128270" rIns="0" bIns="0" rtlCol="0">
            <a:spAutoFit/>
          </a:bodyPr>
          <a:lstStyle/>
          <a:p>
            <a:pPr marL="12700">
              <a:lnSpc>
                <a:spcPct val="100000"/>
              </a:lnSpc>
              <a:spcBef>
                <a:spcPts val="10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Example</a:t>
            </a:r>
            <a:endParaRPr sz="2400">
              <a:latin typeface="Cambria"/>
              <a:cs typeface="Cambria"/>
            </a:endParaRPr>
          </a:p>
          <a:p>
            <a:pPr marL="927100" marR="5080">
              <a:lnSpc>
                <a:spcPct val="131700"/>
              </a:lnSpc>
            </a:pPr>
            <a:r>
              <a:rPr sz="2400" dirty="0">
                <a:latin typeface="Cambria"/>
                <a:cs typeface="Cambria"/>
              </a:rPr>
              <a:t>MOV</a:t>
            </a:r>
            <a:r>
              <a:rPr sz="2400" spc="-30" dirty="0">
                <a:latin typeface="Cambria"/>
                <a:cs typeface="Cambria"/>
              </a:rPr>
              <a:t> </a:t>
            </a:r>
            <a:r>
              <a:rPr sz="2400" dirty="0">
                <a:latin typeface="Cambria"/>
                <a:cs typeface="Cambria"/>
              </a:rPr>
              <a:t>R0</a:t>
            </a:r>
            <a:r>
              <a:rPr sz="2400" spc="-30" dirty="0">
                <a:latin typeface="Cambria"/>
                <a:cs typeface="Cambria"/>
              </a:rPr>
              <a:t> </a:t>
            </a:r>
            <a:r>
              <a:rPr sz="2400" dirty="0">
                <a:latin typeface="Cambria"/>
                <a:cs typeface="Cambria"/>
              </a:rPr>
              <a:t>,</a:t>
            </a:r>
            <a:r>
              <a:rPr sz="2400" spc="-20" dirty="0">
                <a:latin typeface="Cambria"/>
                <a:cs typeface="Cambria"/>
              </a:rPr>
              <a:t> </a:t>
            </a:r>
            <a:r>
              <a:rPr sz="2400" spc="-50" dirty="0">
                <a:latin typeface="Cambria"/>
                <a:cs typeface="Cambria"/>
              </a:rPr>
              <a:t>x </a:t>
            </a:r>
            <a:r>
              <a:rPr sz="2400" dirty="0">
                <a:latin typeface="Cambria"/>
                <a:cs typeface="Cambria"/>
              </a:rPr>
              <a:t>MOV</a:t>
            </a:r>
            <a:r>
              <a:rPr sz="2400" spc="-35" dirty="0">
                <a:latin typeface="Cambria"/>
                <a:cs typeface="Cambria"/>
              </a:rPr>
              <a:t> </a:t>
            </a:r>
            <a:r>
              <a:rPr sz="2400" dirty="0">
                <a:latin typeface="Cambria"/>
                <a:cs typeface="Cambria"/>
              </a:rPr>
              <a:t>x</a:t>
            </a:r>
            <a:r>
              <a:rPr sz="2400" spc="-20" dirty="0">
                <a:latin typeface="Cambria"/>
                <a:cs typeface="Cambria"/>
              </a:rPr>
              <a:t> </a:t>
            </a:r>
            <a:r>
              <a:rPr sz="2400" dirty="0">
                <a:latin typeface="Cambria"/>
                <a:cs typeface="Cambria"/>
              </a:rPr>
              <a:t>,</a:t>
            </a:r>
            <a:r>
              <a:rPr sz="2400" spc="-35" dirty="0">
                <a:latin typeface="Cambria"/>
                <a:cs typeface="Cambria"/>
              </a:rPr>
              <a:t> </a:t>
            </a:r>
            <a:r>
              <a:rPr sz="2400" spc="-25" dirty="0">
                <a:latin typeface="Cambria"/>
                <a:cs typeface="Cambria"/>
              </a:rPr>
              <a:t>R0</a:t>
            </a:r>
            <a:endParaRPr sz="2400">
              <a:latin typeface="Cambria"/>
              <a:cs typeface="Cambria"/>
            </a:endParaRPr>
          </a:p>
        </p:txBody>
      </p:sp>
      <p:sp>
        <p:nvSpPr>
          <p:cNvPr id="5" name="object 5"/>
          <p:cNvSpPr txBox="1"/>
          <p:nvPr/>
        </p:nvSpPr>
        <p:spPr>
          <a:xfrm>
            <a:off x="3553714" y="3162376"/>
            <a:ext cx="4985385" cy="391795"/>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5" dirty="0">
                <a:latin typeface="Cambria"/>
                <a:cs typeface="Cambria"/>
              </a:rPr>
              <a:t>We</a:t>
            </a:r>
            <a:r>
              <a:rPr sz="2400" spc="-80" dirty="0">
                <a:latin typeface="Cambria"/>
                <a:cs typeface="Cambria"/>
              </a:rPr>
              <a:t> </a:t>
            </a:r>
            <a:r>
              <a:rPr sz="2400" dirty="0">
                <a:latin typeface="Cambria"/>
                <a:cs typeface="Cambria"/>
              </a:rPr>
              <a:t>can</a:t>
            </a:r>
            <a:r>
              <a:rPr sz="2400" spc="-70" dirty="0">
                <a:latin typeface="Cambria"/>
                <a:cs typeface="Cambria"/>
              </a:rPr>
              <a:t> </a:t>
            </a:r>
            <a:r>
              <a:rPr sz="2400" dirty="0">
                <a:latin typeface="Cambria"/>
                <a:cs typeface="Cambria"/>
              </a:rPr>
              <a:t>eliminate</a:t>
            </a:r>
            <a:r>
              <a:rPr sz="2400" spc="-80" dirty="0">
                <a:latin typeface="Cambria"/>
                <a:cs typeface="Cambria"/>
              </a:rPr>
              <a:t> </a:t>
            </a:r>
            <a:r>
              <a:rPr sz="2400" dirty="0">
                <a:latin typeface="Cambria"/>
                <a:cs typeface="Cambria"/>
              </a:rPr>
              <a:t>second</a:t>
            </a:r>
            <a:r>
              <a:rPr sz="2400" spc="-45" dirty="0">
                <a:latin typeface="Cambria"/>
                <a:cs typeface="Cambria"/>
              </a:rPr>
              <a:t> </a:t>
            </a:r>
            <a:r>
              <a:rPr sz="2400" spc="-10" dirty="0">
                <a:latin typeface="Cambria"/>
                <a:cs typeface="Cambria"/>
              </a:rPr>
              <a:t>instruction.</a:t>
            </a:r>
            <a:endParaRPr sz="2400">
              <a:latin typeface="Cambria"/>
              <a:cs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84313-979A-1756-A6BB-359811241263}"/>
              </a:ext>
            </a:extLst>
          </p:cNvPr>
          <p:cNvSpPr>
            <a:spLocks noGrp="1"/>
          </p:cNvSpPr>
          <p:nvPr>
            <p:ph type="title"/>
          </p:nvPr>
        </p:nvSpPr>
        <p:spPr>
          <a:xfrm>
            <a:off x="3500694" y="685800"/>
            <a:ext cx="7037070" cy="1477328"/>
          </a:xfrm>
        </p:spPr>
        <p:txBody>
          <a:bodyPr/>
          <a:lstStyle/>
          <a:p>
            <a:r>
              <a:rPr lang="en-US" b="1" dirty="0"/>
              <a:t>Constant folding:</a:t>
            </a:r>
            <a:r>
              <a:rPr lang="en-US" dirty="0"/>
              <a:t> The code that can be simplified by the user itself, is simplified. Here simplification to be done at runtime are replaced with simplified code to avoid additional computation</a:t>
            </a:r>
            <a:endParaRPr lang="en-IN" dirty="0"/>
          </a:p>
        </p:txBody>
      </p:sp>
      <p:sp>
        <p:nvSpPr>
          <p:cNvPr id="3" name="Text Placeholder 2">
            <a:extLst>
              <a:ext uri="{FF2B5EF4-FFF2-40B4-BE49-F238E27FC236}">
                <a16:creationId xmlns:a16="http://schemas.microsoft.com/office/drawing/2014/main" id="{8E31D861-E0FE-C5B6-5565-310EF3B43EBF}"/>
              </a:ext>
            </a:extLst>
          </p:cNvPr>
          <p:cNvSpPr>
            <a:spLocks noGrp="1"/>
          </p:cNvSpPr>
          <p:nvPr>
            <p:ph type="body" idx="1"/>
          </p:nvPr>
        </p:nvSpPr>
        <p:spPr>
          <a:xfrm>
            <a:off x="4191000" y="2365462"/>
            <a:ext cx="4406900" cy="2585323"/>
          </a:xfrm>
        </p:spPr>
        <p:txBody>
          <a:bodyPr/>
          <a:lstStyle/>
          <a:p>
            <a:pPr rtl="0" fontAlgn="base"/>
            <a:endParaRPr lang="en-US" dirty="0"/>
          </a:p>
          <a:p>
            <a:pPr fontAlgn="base"/>
            <a:r>
              <a:rPr lang="en-US" b="1" dirty="0"/>
              <a:t>Initial code:</a:t>
            </a:r>
            <a:br>
              <a:rPr lang="en-US" dirty="0"/>
            </a:br>
            <a:r>
              <a:rPr lang="en-US" dirty="0"/>
              <a:t>x = 2 * 3;</a:t>
            </a:r>
            <a:br>
              <a:rPr lang="en-US" dirty="0"/>
            </a:br>
            <a:br>
              <a:rPr lang="en-US" dirty="0"/>
            </a:br>
            <a:r>
              <a:rPr lang="en-US" b="1" dirty="0"/>
              <a:t>Optimized code:</a:t>
            </a:r>
            <a:br>
              <a:rPr lang="en-US" dirty="0"/>
            </a:br>
            <a:r>
              <a:rPr lang="en-US" dirty="0"/>
              <a:t>x = 6; </a:t>
            </a:r>
          </a:p>
          <a:p>
            <a:endParaRPr lang="en-IN" dirty="0"/>
          </a:p>
        </p:txBody>
      </p:sp>
      <p:sp>
        <p:nvSpPr>
          <p:cNvPr id="6" name="object 2">
            <a:extLst>
              <a:ext uri="{FF2B5EF4-FFF2-40B4-BE49-F238E27FC236}">
                <a16:creationId xmlns:a16="http://schemas.microsoft.com/office/drawing/2014/main" id="{EAF35015-ABA3-716B-CC39-7B6FC9671DB2}"/>
              </a:ext>
            </a:extLst>
          </p:cNvPr>
          <p:cNvSpPr txBox="1"/>
          <p:nvPr/>
        </p:nvSpPr>
        <p:spPr>
          <a:xfrm>
            <a:off x="-67884" y="1931795"/>
            <a:ext cx="3444240" cy="2994409"/>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695"/>
              </a:spcBef>
            </a:pPr>
            <a:endParaRPr lang="en-IN" sz="3600" dirty="0">
              <a:latin typeface="Times New Roman"/>
              <a:cs typeface="Times New Roman"/>
            </a:endParaRPr>
          </a:p>
          <a:p>
            <a:pPr marL="344170" marR="702310" algn="just">
              <a:lnSpc>
                <a:spcPct val="88800"/>
              </a:lnSpc>
            </a:pPr>
            <a:r>
              <a:rPr lang="en-IN" sz="3600" b="1" spc="-10" dirty="0">
                <a:solidFill>
                  <a:srgbClr val="FFFFFF"/>
                </a:solidFill>
                <a:latin typeface="Cambria"/>
                <a:cs typeface="Cambria"/>
              </a:rPr>
              <a:t>Constant folding</a:t>
            </a:r>
            <a:endParaRPr lang="en-IN" sz="3600" dirty="0">
              <a:latin typeface="Cambria"/>
              <a:cs typeface="Cambria"/>
            </a:endParaRPr>
          </a:p>
        </p:txBody>
      </p:sp>
    </p:spTree>
    <p:extLst>
      <p:ext uri="{BB962C8B-B14F-4D97-AF65-F5344CB8AC3E}">
        <p14:creationId xmlns:p14="http://schemas.microsoft.com/office/powerpoint/2010/main" val="3661348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E227B-B648-C1FE-E3AB-A7FB5D713FE6}"/>
              </a:ext>
            </a:extLst>
          </p:cNvPr>
          <p:cNvSpPr>
            <a:spLocks noGrp="1"/>
          </p:cNvSpPr>
          <p:nvPr>
            <p:ph type="title"/>
          </p:nvPr>
        </p:nvSpPr>
        <p:spPr>
          <a:xfrm>
            <a:off x="3583304" y="753821"/>
            <a:ext cx="7037070" cy="738664"/>
          </a:xfrm>
        </p:spPr>
        <p:txBody>
          <a:bodyPr/>
          <a:lstStyle/>
          <a:p>
            <a:r>
              <a:rPr lang="en-US" b="1" dirty="0"/>
              <a:t>Null sequences/ Simplify Algebraic Expressions :</a:t>
            </a:r>
            <a:r>
              <a:rPr lang="en-US" dirty="0"/>
              <a:t> Useless operations are deleted</a:t>
            </a:r>
            <a:endParaRPr lang="en-IN" dirty="0"/>
          </a:p>
        </p:txBody>
      </p:sp>
      <p:sp>
        <p:nvSpPr>
          <p:cNvPr id="3" name="Text Placeholder 2">
            <a:extLst>
              <a:ext uri="{FF2B5EF4-FFF2-40B4-BE49-F238E27FC236}">
                <a16:creationId xmlns:a16="http://schemas.microsoft.com/office/drawing/2014/main" id="{8DDB2405-F3FC-FFBD-1DEA-20ABD119A890}"/>
              </a:ext>
            </a:extLst>
          </p:cNvPr>
          <p:cNvSpPr>
            <a:spLocks noGrp="1"/>
          </p:cNvSpPr>
          <p:nvPr>
            <p:ph type="body" idx="1"/>
          </p:nvPr>
        </p:nvSpPr>
        <p:spPr>
          <a:xfrm>
            <a:off x="3657600" y="1752600"/>
            <a:ext cx="8046084" cy="2215991"/>
          </a:xfrm>
        </p:spPr>
        <p:txBody>
          <a:bodyPr/>
          <a:lstStyle/>
          <a:p>
            <a:pPr rtl="0" fontAlgn="base"/>
            <a:r>
              <a:rPr lang="en-US" b="1" dirty="0"/>
              <a:t> </a:t>
            </a:r>
            <a:endParaRPr lang="en-US" dirty="0"/>
          </a:p>
          <a:p>
            <a:pPr fontAlgn="base"/>
            <a:r>
              <a:rPr lang="en-US" dirty="0"/>
              <a:t>a := a + 0;</a:t>
            </a:r>
            <a:br>
              <a:rPr lang="en-US" dirty="0"/>
            </a:br>
            <a:r>
              <a:rPr lang="en-US" dirty="0"/>
              <a:t>a := a * 1;</a:t>
            </a:r>
            <a:br>
              <a:rPr lang="en-US" dirty="0"/>
            </a:br>
            <a:r>
              <a:rPr lang="en-US" dirty="0"/>
              <a:t>a := a/1;</a:t>
            </a:r>
            <a:br>
              <a:rPr lang="en-US" dirty="0"/>
            </a:br>
            <a:r>
              <a:rPr lang="en-US" dirty="0"/>
              <a:t>a := a - 0;</a:t>
            </a:r>
          </a:p>
          <a:p>
            <a:endParaRPr lang="en-IN" dirty="0"/>
          </a:p>
        </p:txBody>
      </p:sp>
      <p:sp>
        <p:nvSpPr>
          <p:cNvPr id="4" name="object 2">
            <a:extLst>
              <a:ext uri="{FF2B5EF4-FFF2-40B4-BE49-F238E27FC236}">
                <a16:creationId xmlns:a16="http://schemas.microsoft.com/office/drawing/2014/main" id="{FB3221DD-238B-D1D5-D4E9-5F73528C884F}"/>
              </a:ext>
            </a:extLst>
          </p:cNvPr>
          <p:cNvSpPr txBox="1"/>
          <p:nvPr/>
        </p:nvSpPr>
        <p:spPr>
          <a:xfrm>
            <a:off x="-67884" y="1931795"/>
            <a:ext cx="3444240" cy="2994409"/>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695"/>
              </a:spcBef>
            </a:pPr>
            <a:endParaRPr lang="en-IN" sz="3600" dirty="0">
              <a:latin typeface="Times New Roman"/>
              <a:cs typeface="Times New Roman"/>
            </a:endParaRPr>
          </a:p>
          <a:p>
            <a:pPr marL="344170" marR="702310" algn="just">
              <a:lnSpc>
                <a:spcPct val="88800"/>
              </a:lnSpc>
            </a:pPr>
            <a:r>
              <a:rPr lang="en-IN" sz="3600" b="1" spc="-10" dirty="0">
                <a:solidFill>
                  <a:srgbClr val="FFFFFF"/>
                </a:solidFill>
                <a:latin typeface="Cambria"/>
                <a:cs typeface="Cambria"/>
              </a:rPr>
              <a:t>Null sequences</a:t>
            </a:r>
            <a:endParaRPr lang="en-IN" sz="3600" dirty="0">
              <a:latin typeface="Cambria"/>
              <a:cs typeface="Cambria"/>
            </a:endParaRPr>
          </a:p>
        </p:txBody>
      </p:sp>
    </p:spTree>
    <p:extLst>
      <p:ext uri="{BB962C8B-B14F-4D97-AF65-F5344CB8AC3E}">
        <p14:creationId xmlns:p14="http://schemas.microsoft.com/office/powerpoint/2010/main" val="85731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DDE5-C837-9A6C-AE1B-34830670B14F}"/>
              </a:ext>
            </a:extLst>
          </p:cNvPr>
          <p:cNvSpPr>
            <a:spLocks noGrp="1"/>
          </p:cNvSpPr>
          <p:nvPr>
            <p:ph type="title"/>
          </p:nvPr>
        </p:nvSpPr>
        <p:spPr>
          <a:xfrm>
            <a:off x="3583304" y="753821"/>
            <a:ext cx="7037070" cy="738664"/>
          </a:xfrm>
        </p:spPr>
        <p:txBody>
          <a:bodyPr/>
          <a:lstStyle/>
          <a:p>
            <a:pPr algn="l"/>
            <a:r>
              <a:rPr lang="en-US" b="1" dirty="0"/>
              <a:t>Combine operations:</a:t>
            </a:r>
            <a:r>
              <a:rPr lang="en-US" dirty="0"/>
              <a:t> Several operations are replaced by a single equivalent operation.</a:t>
            </a:r>
            <a:endParaRPr lang="en-IN" dirty="0"/>
          </a:p>
        </p:txBody>
      </p:sp>
      <p:sp>
        <p:nvSpPr>
          <p:cNvPr id="3" name="Text Placeholder 2">
            <a:extLst>
              <a:ext uri="{FF2B5EF4-FFF2-40B4-BE49-F238E27FC236}">
                <a16:creationId xmlns:a16="http://schemas.microsoft.com/office/drawing/2014/main" id="{E19C2005-F83C-DE33-580B-0C5E24D7ED4A}"/>
              </a:ext>
            </a:extLst>
          </p:cNvPr>
          <p:cNvSpPr>
            <a:spLocks noGrp="1"/>
          </p:cNvSpPr>
          <p:nvPr>
            <p:ph type="body" idx="1"/>
          </p:nvPr>
        </p:nvSpPr>
        <p:spPr>
          <a:xfrm>
            <a:off x="3517900" y="3181603"/>
            <a:ext cx="8046084" cy="2585323"/>
          </a:xfrm>
        </p:spPr>
        <p:txBody>
          <a:bodyPr/>
          <a:lstStyle/>
          <a:p>
            <a:r>
              <a:rPr lang="pt-BR" dirty="0"/>
              <a:t>ADD R1, #2</a:t>
            </a:r>
            <a:br>
              <a:rPr lang="pt-BR" dirty="0"/>
            </a:br>
            <a:r>
              <a:rPr lang="pt-BR" dirty="0"/>
              <a:t>ADD R1, #3</a:t>
            </a:r>
          </a:p>
          <a:p>
            <a:endParaRPr lang="pt-BR" dirty="0"/>
          </a:p>
          <a:p>
            <a:endParaRPr lang="pt-BR" dirty="0"/>
          </a:p>
          <a:p>
            <a:endParaRPr lang="pt-BR" dirty="0"/>
          </a:p>
          <a:p>
            <a:r>
              <a:rPr lang="en-IN" dirty="0"/>
              <a:t>ADD R1, #5</a:t>
            </a:r>
            <a:endParaRPr lang="pt-BR" dirty="0"/>
          </a:p>
          <a:p>
            <a:endParaRPr lang="en-IN" dirty="0"/>
          </a:p>
        </p:txBody>
      </p:sp>
      <p:sp>
        <p:nvSpPr>
          <p:cNvPr id="4" name="object 2">
            <a:extLst>
              <a:ext uri="{FF2B5EF4-FFF2-40B4-BE49-F238E27FC236}">
                <a16:creationId xmlns:a16="http://schemas.microsoft.com/office/drawing/2014/main" id="{601344CB-858C-F100-7797-D14CC30A1F4D}"/>
              </a:ext>
            </a:extLst>
          </p:cNvPr>
          <p:cNvSpPr txBox="1"/>
          <p:nvPr/>
        </p:nvSpPr>
        <p:spPr>
          <a:xfrm>
            <a:off x="-67884" y="1931795"/>
            <a:ext cx="3444240" cy="2994409"/>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695"/>
              </a:spcBef>
            </a:pPr>
            <a:endParaRPr lang="en-IN" sz="3600" dirty="0">
              <a:latin typeface="Times New Roman"/>
              <a:cs typeface="Times New Roman"/>
            </a:endParaRPr>
          </a:p>
          <a:p>
            <a:pPr marL="344170" marR="702310" algn="just">
              <a:lnSpc>
                <a:spcPct val="88800"/>
              </a:lnSpc>
            </a:pPr>
            <a:r>
              <a:rPr lang="en-IN" sz="3600" b="1" spc="-10" dirty="0">
                <a:solidFill>
                  <a:srgbClr val="FFFFFF"/>
                </a:solidFill>
                <a:latin typeface="Cambria"/>
                <a:cs typeface="Cambria"/>
              </a:rPr>
              <a:t>Combine operations</a:t>
            </a:r>
            <a:endParaRPr lang="en-IN" sz="3600" dirty="0">
              <a:latin typeface="Cambria"/>
              <a:cs typeface="Cambria"/>
            </a:endParaRPr>
          </a:p>
        </p:txBody>
      </p:sp>
    </p:spTree>
    <p:extLst>
      <p:ext uri="{BB962C8B-B14F-4D97-AF65-F5344CB8AC3E}">
        <p14:creationId xmlns:p14="http://schemas.microsoft.com/office/powerpoint/2010/main" val="1809550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410845">
              <a:lnSpc>
                <a:spcPct val="88800"/>
              </a:lnSpc>
            </a:pPr>
            <a:r>
              <a:rPr sz="3600" b="1" spc="-80" dirty="0">
                <a:solidFill>
                  <a:srgbClr val="FFFFFF"/>
                </a:solidFill>
                <a:latin typeface="Cambria"/>
                <a:cs typeface="Cambria"/>
              </a:rPr>
              <a:t>Flow</a:t>
            </a:r>
            <a:r>
              <a:rPr sz="3600" b="1" spc="-110" dirty="0">
                <a:solidFill>
                  <a:srgbClr val="FFFFFF"/>
                </a:solidFill>
                <a:latin typeface="Cambria"/>
                <a:cs typeface="Cambria"/>
              </a:rPr>
              <a:t> </a:t>
            </a:r>
            <a:r>
              <a:rPr sz="3600" b="1" spc="-25" dirty="0">
                <a:solidFill>
                  <a:srgbClr val="FFFFFF"/>
                </a:solidFill>
                <a:latin typeface="Cambria"/>
                <a:cs typeface="Cambria"/>
              </a:rPr>
              <a:t>of </a:t>
            </a:r>
            <a:r>
              <a:rPr sz="3600" b="1" spc="-10" dirty="0">
                <a:solidFill>
                  <a:srgbClr val="FFFFFF"/>
                </a:solidFill>
                <a:latin typeface="Cambria"/>
                <a:cs typeface="Cambria"/>
              </a:rPr>
              <a:t>Control </a:t>
            </a:r>
            <a:r>
              <a:rPr sz="3600" b="1" spc="-65" dirty="0">
                <a:solidFill>
                  <a:srgbClr val="FFFFFF"/>
                </a:solidFill>
                <a:latin typeface="Cambria"/>
                <a:cs typeface="Cambria"/>
              </a:rPr>
              <a:t>Optimization</a:t>
            </a:r>
            <a:endParaRPr sz="3600">
              <a:latin typeface="Cambria"/>
              <a:cs typeface="Cambria"/>
            </a:endParaRPr>
          </a:p>
        </p:txBody>
      </p:sp>
      <p:sp>
        <p:nvSpPr>
          <p:cNvPr id="3" name="object 3"/>
          <p:cNvSpPr txBox="1">
            <a:spLocks noGrp="1"/>
          </p:cNvSpPr>
          <p:nvPr>
            <p:ph type="title"/>
          </p:nvPr>
        </p:nvSpPr>
        <p:spPr>
          <a:xfrm>
            <a:off x="3553714" y="474090"/>
            <a:ext cx="7755890"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pc="-1250" dirty="0">
                <a:solidFill>
                  <a:srgbClr val="40B9D2"/>
                </a:solidFill>
                <a:latin typeface="Arial MT"/>
                <a:cs typeface="Arial MT"/>
              </a:rPr>
              <a:t>🞄</a:t>
            </a:r>
            <a:r>
              <a:rPr spc="-95" dirty="0">
                <a:solidFill>
                  <a:srgbClr val="40B9D2"/>
                </a:solidFill>
                <a:latin typeface="Arial MT"/>
                <a:cs typeface="Arial MT"/>
              </a:rPr>
              <a:t> </a:t>
            </a:r>
            <a:r>
              <a:rPr spc="-10" dirty="0"/>
              <a:t>Unnecessary</a:t>
            </a:r>
            <a:r>
              <a:rPr spc="1110" dirty="0"/>
              <a:t> </a:t>
            </a:r>
            <a:r>
              <a:rPr spc="-15" dirty="0"/>
              <a:t>jumps</a:t>
            </a:r>
            <a:r>
              <a:rPr spc="1110" dirty="0"/>
              <a:t> </a:t>
            </a:r>
            <a:r>
              <a:rPr spc="-15" dirty="0"/>
              <a:t>can</a:t>
            </a:r>
            <a:r>
              <a:rPr spc="1120" dirty="0"/>
              <a:t> </a:t>
            </a:r>
            <a:r>
              <a:rPr spc="-15" dirty="0"/>
              <a:t>be</a:t>
            </a:r>
            <a:r>
              <a:rPr spc="1110" dirty="0"/>
              <a:t> </a:t>
            </a:r>
            <a:r>
              <a:rPr spc="-15" dirty="0"/>
              <a:t>eliminated</a:t>
            </a:r>
            <a:r>
              <a:rPr spc="1115" dirty="0"/>
              <a:t> </a:t>
            </a:r>
            <a:r>
              <a:rPr spc="-10" dirty="0"/>
              <a:t>i</a:t>
            </a:r>
            <a:r>
              <a:rPr dirty="0"/>
              <a:t>n</a:t>
            </a:r>
            <a:r>
              <a:rPr spc="1100" dirty="0"/>
              <a:t> </a:t>
            </a:r>
            <a:r>
              <a:rPr spc="-10" dirty="0"/>
              <a:t>either</a:t>
            </a:r>
            <a:r>
              <a:rPr spc="1110" dirty="0"/>
              <a:t> </a:t>
            </a:r>
            <a:r>
              <a:rPr spc="-75" dirty="0"/>
              <a:t>the</a:t>
            </a:r>
            <a:r>
              <a:rPr spc="-10" dirty="0"/>
              <a:t> </a:t>
            </a:r>
            <a:r>
              <a:rPr spc="-15" dirty="0"/>
              <a:t>intermediate</a:t>
            </a:r>
            <a:r>
              <a:rPr spc="655" dirty="0"/>
              <a:t> </a:t>
            </a:r>
            <a:r>
              <a:rPr spc="-15" dirty="0"/>
              <a:t>code</a:t>
            </a:r>
            <a:r>
              <a:rPr spc="640" dirty="0"/>
              <a:t> </a:t>
            </a:r>
            <a:r>
              <a:rPr spc="-5" dirty="0"/>
              <a:t>o</a:t>
            </a:r>
            <a:r>
              <a:rPr dirty="0"/>
              <a:t>r</a:t>
            </a:r>
            <a:r>
              <a:rPr spc="630" dirty="0"/>
              <a:t> </a:t>
            </a:r>
            <a:r>
              <a:rPr spc="-15" dirty="0"/>
              <a:t>the</a:t>
            </a:r>
            <a:r>
              <a:rPr spc="645" dirty="0"/>
              <a:t> </a:t>
            </a:r>
            <a:r>
              <a:rPr spc="-10" dirty="0"/>
              <a:t>target</a:t>
            </a:r>
            <a:r>
              <a:rPr spc="625" dirty="0"/>
              <a:t> </a:t>
            </a:r>
            <a:r>
              <a:rPr spc="-15" dirty="0"/>
              <a:t>code</a:t>
            </a:r>
            <a:r>
              <a:rPr spc="640" dirty="0"/>
              <a:t> </a:t>
            </a:r>
            <a:r>
              <a:rPr spc="-40" dirty="0"/>
              <a:t>by</a:t>
            </a:r>
            <a:r>
              <a:rPr spc="645" dirty="0"/>
              <a:t> </a:t>
            </a:r>
            <a:r>
              <a:rPr spc="-15" dirty="0"/>
              <a:t>the</a:t>
            </a:r>
            <a:r>
              <a:rPr spc="635" dirty="0"/>
              <a:t> </a:t>
            </a:r>
            <a:r>
              <a:rPr spc="-10" dirty="0"/>
              <a:t>following </a:t>
            </a:r>
            <a:r>
              <a:rPr spc="-15" dirty="0"/>
              <a:t>types</a:t>
            </a:r>
            <a:r>
              <a:rPr dirty="0"/>
              <a:t> </a:t>
            </a:r>
            <a:r>
              <a:rPr spc="-5" dirty="0"/>
              <a:t>o</a:t>
            </a:r>
            <a:r>
              <a:rPr dirty="0"/>
              <a:t>f</a:t>
            </a:r>
            <a:r>
              <a:rPr spc="5" dirty="0"/>
              <a:t> </a:t>
            </a:r>
            <a:r>
              <a:rPr spc="-15" dirty="0"/>
              <a:t>peephole</a:t>
            </a:r>
            <a:r>
              <a:rPr spc="5" dirty="0"/>
              <a:t> </a:t>
            </a:r>
            <a:r>
              <a:rPr spc="-5" dirty="0"/>
              <a:t>optimization.</a:t>
            </a:r>
          </a:p>
        </p:txBody>
      </p:sp>
      <p:sp>
        <p:nvSpPr>
          <p:cNvPr id="4" name="object 4"/>
          <p:cNvSpPr txBox="1"/>
          <p:nvPr/>
        </p:nvSpPr>
        <p:spPr>
          <a:xfrm>
            <a:off x="3553714" y="1498472"/>
            <a:ext cx="1580515"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Goto</a:t>
            </a:r>
            <a:r>
              <a:rPr sz="2400" spc="-50" dirty="0">
                <a:latin typeface="Cambria"/>
                <a:cs typeface="Cambria"/>
              </a:rPr>
              <a:t> </a:t>
            </a:r>
            <a:r>
              <a:rPr sz="2400" spc="-25" dirty="0">
                <a:latin typeface="Cambria"/>
                <a:cs typeface="Cambria"/>
              </a:rPr>
              <a:t>L1</a:t>
            </a:r>
            <a:endParaRPr sz="2400">
              <a:latin typeface="Cambria"/>
              <a:cs typeface="Cambria"/>
            </a:endParaRPr>
          </a:p>
          <a:p>
            <a:pPr marL="12700">
              <a:lnSpc>
                <a:spcPct val="100000"/>
              </a:lnSpc>
              <a:spcBef>
                <a:spcPts val="915"/>
              </a:spcBef>
            </a:pPr>
            <a:r>
              <a:rPr sz="2400" spc="-20"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0"/>
              </a:spcBef>
            </a:pPr>
            <a:r>
              <a:rPr sz="2400" dirty="0">
                <a:latin typeface="Cambria"/>
                <a:cs typeface="Cambria"/>
              </a:rPr>
              <a:t>L1</a:t>
            </a:r>
            <a:r>
              <a:rPr sz="2400" spc="-3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Goto</a:t>
            </a:r>
            <a:r>
              <a:rPr sz="2400" spc="-25" dirty="0">
                <a:latin typeface="Cambria"/>
                <a:cs typeface="Cambria"/>
              </a:rPr>
              <a:t> L2</a:t>
            </a:r>
            <a:endParaRPr sz="2400">
              <a:latin typeface="Cambria"/>
              <a:cs typeface="Cambria"/>
            </a:endParaRPr>
          </a:p>
        </p:txBody>
      </p:sp>
      <p:sp>
        <p:nvSpPr>
          <p:cNvPr id="5" name="object 5"/>
          <p:cNvSpPr txBox="1"/>
          <p:nvPr/>
        </p:nvSpPr>
        <p:spPr>
          <a:xfrm>
            <a:off x="7211948" y="1498472"/>
            <a:ext cx="1579880"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Goto</a:t>
            </a:r>
            <a:r>
              <a:rPr sz="2400" spc="-50" dirty="0">
                <a:latin typeface="Cambria"/>
                <a:cs typeface="Cambria"/>
              </a:rPr>
              <a:t> </a:t>
            </a:r>
            <a:r>
              <a:rPr sz="2400" spc="-25" dirty="0">
                <a:latin typeface="Cambria"/>
                <a:cs typeface="Cambria"/>
              </a:rPr>
              <a:t>L2</a:t>
            </a:r>
            <a:endParaRPr sz="2400">
              <a:latin typeface="Cambria"/>
              <a:cs typeface="Cambria"/>
            </a:endParaRPr>
          </a:p>
          <a:p>
            <a:pPr marL="12700">
              <a:lnSpc>
                <a:spcPct val="100000"/>
              </a:lnSpc>
              <a:spcBef>
                <a:spcPts val="915"/>
              </a:spcBef>
            </a:pPr>
            <a:r>
              <a:rPr sz="2400" spc="-20"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0"/>
              </a:spcBef>
            </a:pPr>
            <a:r>
              <a:rPr sz="2400" dirty="0">
                <a:latin typeface="Cambria"/>
                <a:cs typeface="Cambria"/>
              </a:rPr>
              <a:t>L1</a:t>
            </a:r>
            <a:r>
              <a:rPr sz="2400" spc="-3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Goto</a:t>
            </a:r>
            <a:r>
              <a:rPr sz="2400" spc="-25" dirty="0">
                <a:latin typeface="Cambria"/>
                <a:cs typeface="Cambria"/>
              </a:rPr>
              <a:t> L2</a:t>
            </a:r>
            <a:endParaRPr sz="2400">
              <a:latin typeface="Cambria"/>
              <a:cs typeface="Cambria"/>
            </a:endParaRPr>
          </a:p>
        </p:txBody>
      </p:sp>
      <p:sp>
        <p:nvSpPr>
          <p:cNvPr id="6" name="object 6"/>
          <p:cNvSpPr txBox="1"/>
          <p:nvPr/>
        </p:nvSpPr>
        <p:spPr>
          <a:xfrm>
            <a:off x="3553714" y="3541014"/>
            <a:ext cx="7754620" cy="720725"/>
          </a:xfrm>
          <a:prstGeom prst="rect">
            <a:avLst/>
          </a:prstGeom>
        </p:spPr>
        <p:txBody>
          <a:bodyPr vert="horz" wrap="square" lIns="0" tIns="53975" rIns="0" bIns="0" rtlCol="0">
            <a:spAutoFit/>
          </a:bodyPr>
          <a:lstStyle/>
          <a:p>
            <a:pPr marL="195580"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If</a:t>
            </a:r>
            <a:r>
              <a:rPr sz="2400" spc="90" dirty="0">
                <a:latin typeface="Cambria"/>
                <a:cs typeface="Cambria"/>
              </a:rPr>
              <a:t> </a:t>
            </a:r>
            <a:r>
              <a:rPr sz="2400" dirty="0">
                <a:latin typeface="Cambria"/>
                <a:cs typeface="Cambria"/>
              </a:rPr>
              <a:t>there</a:t>
            </a:r>
            <a:r>
              <a:rPr sz="2400" spc="130" dirty="0">
                <a:latin typeface="Cambria"/>
                <a:cs typeface="Cambria"/>
              </a:rPr>
              <a:t> </a:t>
            </a:r>
            <a:r>
              <a:rPr sz="2400" dirty="0">
                <a:latin typeface="Cambria"/>
                <a:cs typeface="Cambria"/>
              </a:rPr>
              <a:t>are</a:t>
            </a:r>
            <a:r>
              <a:rPr sz="2400" spc="114" dirty="0">
                <a:latin typeface="Cambria"/>
                <a:cs typeface="Cambria"/>
              </a:rPr>
              <a:t> </a:t>
            </a:r>
            <a:r>
              <a:rPr sz="2400" dirty="0">
                <a:latin typeface="Cambria"/>
                <a:cs typeface="Cambria"/>
              </a:rPr>
              <a:t>no</a:t>
            </a:r>
            <a:r>
              <a:rPr sz="2400" spc="120" dirty="0">
                <a:latin typeface="Cambria"/>
                <a:cs typeface="Cambria"/>
              </a:rPr>
              <a:t> </a:t>
            </a:r>
            <a:r>
              <a:rPr sz="2400" dirty="0">
                <a:latin typeface="Cambria"/>
                <a:cs typeface="Cambria"/>
              </a:rPr>
              <a:t>jump</a:t>
            </a:r>
            <a:r>
              <a:rPr sz="2400" spc="114" dirty="0">
                <a:latin typeface="Cambria"/>
                <a:cs typeface="Cambria"/>
              </a:rPr>
              <a:t> </a:t>
            </a:r>
            <a:r>
              <a:rPr sz="2400" dirty="0">
                <a:latin typeface="Cambria"/>
                <a:cs typeface="Cambria"/>
              </a:rPr>
              <a:t>to</a:t>
            </a:r>
            <a:r>
              <a:rPr sz="2400" spc="135" dirty="0">
                <a:latin typeface="Cambria"/>
                <a:cs typeface="Cambria"/>
              </a:rPr>
              <a:t> </a:t>
            </a:r>
            <a:r>
              <a:rPr sz="2400" dirty="0">
                <a:latin typeface="Cambria"/>
                <a:cs typeface="Cambria"/>
              </a:rPr>
              <a:t>L1</a:t>
            </a:r>
            <a:r>
              <a:rPr sz="2400" spc="130" dirty="0">
                <a:latin typeface="Cambria"/>
                <a:cs typeface="Cambria"/>
              </a:rPr>
              <a:t> </a:t>
            </a:r>
            <a:r>
              <a:rPr sz="2400" dirty="0">
                <a:latin typeface="Cambria"/>
                <a:cs typeface="Cambria"/>
              </a:rPr>
              <a:t>then</a:t>
            </a:r>
            <a:r>
              <a:rPr sz="2400" spc="130" dirty="0">
                <a:latin typeface="Cambria"/>
                <a:cs typeface="Cambria"/>
              </a:rPr>
              <a:t> </a:t>
            </a:r>
            <a:r>
              <a:rPr sz="2400" dirty="0">
                <a:latin typeface="Cambria"/>
                <a:cs typeface="Cambria"/>
              </a:rPr>
              <a:t>we</a:t>
            </a:r>
            <a:r>
              <a:rPr sz="2400" spc="130" dirty="0">
                <a:latin typeface="Cambria"/>
                <a:cs typeface="Cambria"/>
              </a:rPr>
              <a:t> </a:t>
            </a:r>
            <a:r>
              <a:rPr sz="2400" dirty="0">
                <a:latin typeface="Cambria"/>
                <a:cs typeface="Cambria"/>
              </a:rPr>
              <a:t>can</a:t>
            </a:r>
            <a:r>
              <a:rPr sz="2400" spc="130" dirty="0">
                <a:latin typeface="Cambria"/>
                <a:cs typeface="Cambria"/>
              </a:rPr>
              <a:t> </a:t>
            </a:r>
            <a:r>
              <a:rPr sz="2400" dirty="0">
                <a:latin typeface="Cambria"/>
                <a:cs typeface="Cambria"/>
              </a:rPr>
              <a:t>eliminate</a:t>
            </a:r>
            <a:r>
              <a:rPr sz="2400" spc="130" dirty="0">
                <a:latin typeface="Cambria"/>
                <a:cs typeface="Cambria"/>
              </a:rPr>
              <a:t> </a:t>
            </a:r>
            <a:r>
              <a:rPr sz="2400" spc="-10" dirty="0">
                <a:latin typeface="Cambria"/>
                <a:cs typeface="Cambria"/>
              </a:rPr>
              <a:t>L1:Goto </a:t>
            </a:r>
            <a:r>
              <a:rPr sz="2400" spc="-25" dirty="0">
                <a:latin typeface="Cambria"/>
                <a:cs typeface="Cambria"/>
              </a:rPr>
              <a:t>L2</a:t>
            </a:r>
            <a:endParaRPr sz="2400">
              <a:latin typeface="Cambria"/>
              <a:cs typeface="Cambria"/>
            </a:endParaRPr>
          </a:p>
        </p:txBody>
      </p:sp>
      <p:sp>
        <p:nvSpPr>
          <p:cNvPr id="7" name="object 7"/>
          <p:cNvSpPr txBox="1"/>
          <p:nvPr/>
        </p:nvSpPr>
        <p:spPr>
          <a:xfrm>
            <a:off x="3553714" y="4717491"/>
            <a:ext cx="1874520" cy="1471295"/>
          </a:xfrm>
          <a:prstGeom prst="rect">
            <a:avLst/>
          </a:prstGeom>
        </p:spPr>
        <p:txBody>
          <a:bodyPr vert="horz" wrap="square" lIns="0" tIns="128905" rIns="0" bIns="0" rtlCol="0">
            <a:spAutoFit/>
          </a:bodyPr>
          <a:lstStyle/>
          <a:p>
            <a:pPr marL="12700">
              <a:lnSpc>
                <a:spcPct val="100000"/>
              </a:lnSpc>
              <a:spcBef>
                <a:spcPts val="1015"/>
              </a:spcBef>
              <a:tabLst>
                <a:tab pos="1529080" algn="l"/>
              </a:tabLst>
            </a:pPr>
            <a:r>
              <a:rPr sz="2400" dirty="0">
                <a:latin typeface="Cambria"/>
                <a:cs typeface="Cambria"/>
              </a:rPr>
              <a:t>If</a:t>
            </a:r>
            <a:r>
              <a:rPr sz="2400" spc="-25" dirty="0">
                <a:latin typeface="Cambria"/>
                <a:cs typeface="Cambria"/>
              </a:rPr>
              <a:t> </a:t>
            </a:r>
            <a:r>
              <a:rPr sz="2400" dirty="0">
                <a:latin typeface="Cambria"/>
                <a:cs typeface="Cambria"/>
              </a:rPr>
              <a:t>a&lt;b</a:t>
            </a:r>
            <a:r>
              <a:rPr sz="2400" spc="-15" dirty="0">
                <a:latin typeface="Cambria"/>
                <a:cs typeface="Cambria"/>
              </a:rPr>
              <a:t> </a:t>
            </a:r>
            <a:r>
              <a:rPr sz="2400" spc="-20" dirty="0">
                <a:latin typeface="Cambria"/>
                <a:cs typeface="Cambria"/>
              </a:rPr>
              <a:t>goto</a:t>
            </a:r>
            <a:r>
              <a:rPr sz="2400" dirty="0">
                <a:latin typeface="Cambria"/>
                <a:cs typeface="Cambria"/>
              </a:rPr>
              <a:t>	</a:t>
            </a:r>
            <a:r>
              <a:rPr sz="2400" spc="-25" dirty="0">
                <a:latin typeface="Cambria"/>
                <a:cs typeface="Cambria"/>
              </a:rPr>
              <a:t>L1</a:t>
            </a:r>
            <a:endParaRPr sz="2400">
              <a:latin typeface="Cambria"/>
              <a:cs typeface="Cambria"/>
            </a:endParaRPr>
          </a:p>
          <a:p>
            <a:pPr marL="12700">
              <a:lnSpc>
                <a:spcPct val="100000"/>
              </a:lnSpc>
              <a:spcBef>
                <a:spcPts val="910"/>
              </a:spcBef>
            </a:pPr>
            <a:r>
              <a:rPr sz="2400" spc="-20"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5"/>
              </a:spcBef>
            </a:pPr>
            <a:r>
              <a:rPr sz="2400" dirty="0">
                <a:latin typeface="Cambria"/>
                <a:cs typeface="Cambria"/>
              </a:rPr>
              <a:t>L1</a:t>
            </a:r>
            <a:r>
              <a:rPr sz="2400" spc="-4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goto</a:t>
            </a:r>
            <a:r>
              <a:rPr sz="2400" spc="-30" dirty="0">
                <a:latin typeface="Cambria"/>
                <a:cs typeface="Cambria"/>
              </a:rPr>
              <a:t> </a:t>
            </a:r>
            <a:r>
              <a:rPr sz="2400" spc="-25" dirty="0">
                <a:latin typeface="Cambria"/>
                <a:cs typeface="Cambria"/>
              </a:rPr>
              <a:t>L2</a:t>
            </a:r>
            <a:endParaRPr sz="2400">
              <a:latin typeface="Cambria"/>
              <a:cs typeface="Cambria"/>
            </a:endParaRPr>
          </a:p>
        </p:txBody>
      </p:sp>
      <p:sp>
        <p:nvSpPr>
          <p:cNvPr id="8" name="object 8"/>
          <p:cNvSpPr txBox="1"/>
          <p:nvPr/>
        </p:nvSpPr>
        <p:spPr>
          <a:xfrm>
            <a:off x="8126348" y="4717491"/>
            <a:ext cx="1807210" cy="1471295"/>
          </a:xfrm>
          <a:prstGeom prst="rect">
            <a:avLst/>
          </a:prstGeom>
        </p:spPr>
        <p:txBody>
          <a:bodyPr vert="horz" wrap="square" lIns="0" tIns="128905" rIns="0" bIns="0" rtlCol="0">
            <a:spAutoFit/>
          </a:bodyPr>
          <a:lstStyle/>
          <a:p>
            <a:pPr marL="12700">
              <a:lnSpc>
                <a:spcPct val="100000"/>
              </a:lnSpc>
              <a:spcBef>
                <a:spcPts val="1015"/>
              </a:spcBef>
            </a:pPr>
            <a:r>
              <a:rPr sz="2400" dirty="0">
                <a:latin typeface="Cambria"/>
                <a:cs typeface="Cambria"/>
              </a:rPr>
              <a:t>If</a:t>
            </a:r>
            <a:r>
              <a:rPr sz="2400" spc="-40" dirty="0">
                <a:latin typeface="Cambria"/>
                <a:cs typeface="Cambria"/>
              </a:rPr>
              <a:t> </a:t>
            </a:r>
            <a:r>
              <a:rPr sz="2400" dirty="0">
                <a:latin typeface="Cambria"/>
                <a:cs typeface="Cambria"/>
              </a:rPr>
              <a:t>a&lt;b</a:t>
            </a:r>
            <a:r>
              <a:rPr sz="2400" spc="-40" dirty="0">
                <a:latin typeface="Cambria"/>
                <a:cs typeface="Cambria"/>
              </a:rPr>
              <a:t> </a:t>
            </a:r>
            <a:r>
              <a:rPr sz="2400" dirty="0">
                <a:latin typeface="Cambria"/>
                <a:cs typeface="Cambria"/>
              </a:rPr>
              <a:t>goto</a:t>
            </a:r>
            <a:r>
              <a:rPr sz="2400" spc="-35" dirty="0">
                <a:latin typeface="Cambria"/>
                <a:cs typeface="Cambria"/>
              </a:rPr>
              <a:t> </a:t>
            </a:r>
            <a:r>
              <a:rPr sz="2400" spc="-25" dirty="0">
                <a:latin typeface="Cambria"/>
                <a:cs typeface="Cambria"/>
              </a:rPr>
              <a:t>L2</a:t>
            </a:r>
            <a:endParaRPr sz="2400">
              <a:latin typeface="Cambria"/>
              <a:cs typeface="Cambria"/>
            </a:endParaRPr>
          </a:p>
          <a:p>
            <a:pPr marL="12700">
              <a:lnSpc>
                <a:spcPct val="100000"/>
              </a:lnSpc>
              <a:spcBef>
                <a:spcPts val="910"/>
              </a:spcBef>
            </a:pPr>
            <a:r>
              <a:rPr sz="2400" spc="-20" dirty="0">
                <a:latin typeface="Cambria"/>
                <a:cs typeface="Cambria"/>
              </a:rPr>
              <a:t>-----</a:t>
            </a:r>
            <a:r>
              <a:rPr sz="2400" spc="-50" dirty="0">
                <a:latin typeface="Cambria"/>
                <a:cs typeface="Cambria"/>
              </a:rPr>
              <a:t>-</a:t>
            </a:r>
            <a:endParaRPr sz="2400">
              <a:latin typeface="Cambria"/>
              <a:cs typeface="Cambria"/>
            </a:endParaRPr>
          </a:p>
          <a:p>
            <a:pPr marL="12700">
              <a:lnSpc>
                <a:spcPct val="100000"/>
              </a:lnSpc>
              <a:spcBef>
                <a:spcPts val="915"/>
              </a:spcBef>
            </a:pPr>
            <a:r>
              <a:rPr sz="2400" dirty="0">
                <a:latin typeface="Cambria"/>
                <a:cs typeface="Cambria"/>
              </a:rPr>
              <a:t>L1</a:t>
            </a:r>
            <a:r>
              <a:rPr sz="2400" spc="-4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goto</a:t>
            </a:r>
            <a:r>
              <a:rPr sz="2400" spc="-35" dirty="0">
                <a:latin typeface="Cambria"/>
                <a:cs typeface="Cambria"/>
              </a:rPr>
              <a:t> </a:t>
            </a:r>
            <a:r>
              <a:rPr sz="2400" spc="-25" dirty="0">
                <a:latin typeface="Cambria"/>
                <a:cs typeface="Cambria"/>
              </a:rPr>
              <a:t>L2</a:t>
            </a:r>
            <a:endParaRPr sz="2400">
              <a:latin typeface="Cambria"/>
              <a:cs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05459">
              <a:lnSpc>
                <a:spcPts val="3779"/>
              </a:lnSpc>
            </a:pPr>
            <a:r>
              <a:rPr sz="3600" b="1" spc="-70" dirty="0">
                <a:solidFill>
                  <a:srgbClr val="FFFFFF"/>
                </a:solidFill>
                <a:latin typeface="Cambria"/>
                <a:cs typeface="Cambria"/>
              </a:rPr>
              <a:t>Unreachable </a:t>
            </a:r>
            <a:r>
              <a:rPr sz="3600" b="1" spc="-20" dirty="0">
                <a:solidFill>
                  <a:srgbClr val="FFFFFF"/>
                </a:solidFill>
                <a:latin typeface="Cambria"/>
                <a:cs typeface="Cambria"/>
              </a:rPr>
              <a:t>Code</a:t>
            </a:r>
            <a:endParaRPr sz="3600">
              <a:latin typeface="Cambria"/>
              <a:cs typeface="Cambria"/>
            </a:endParaRPr>
          </a:p>
        </p:txBody>
      </p:sp>
      <p:sp>
        <p:nvSpPr>
          <p:cNvPr id="3" name="object 3"/>
          <p:cNvSpPr txBox="1"/>
          <p:nvPr/>
        </p:nvSpPr>
        <p:spPr>
          <a:xfrm>
            <a:off x="3553714" y="358266"/>
            <a:ext cx="7752080" cy="4690110"/>
          </a:xfrm>
          <a:prstGeom prst="rect">
            <a:avLst/>
          </a:prstGeom>
        </p:spPr>
        <p:txBody>
          <a:bodyPr vert="horz" wrap="square" lIns="0" tIns="12700" rIns="0" bIns="0" rtlCol="0">
            <a:spAutoFit/>
          </a:bodyPr>
          <a:lstStyle/>
          <a:p>
            <a:pPr marL="12700" marR="5620385">
              <a:lnSpc>
                <a:spcPct val="131700"/>
              </a:lnSpc>
              <a:spcBef>
                <a:spcPts val="100"/>
              </a:spcBef>
            </a:pPr>
            <a:r>
              <a:rPr sz="2400" dirty="0">
                <a:latin typeface="Cambria"/>
                <a:cs typeface="Cambria"/>
              </a:rPr>
              <a:t>#define</a:t>
            </a:r>
            <a:r>
              <a:rPr sz="2400" spc="-55" dirty="0">
                <a:latin typeface="Cambria"/>
                <a:cs typeface="Cambria"/>
              </a:rPr>
              <a:t> </a:t>
            </a:r>
            <a:r>
              <a:rPr sz="2400" dirty="0">
                <a:latin typeface="Cambria"/>
                <a:cs typeface="Cambria"/>
              </a:rPr>
              <a:t>debug</a:t>
            </a:r>
            <a:r>
              <a:rPr sz="2400" spc="-40" dirty="0">
                <a:latin typeface="Cambria"/>
                <a:cs typeface="Cambria"/>
              </a:rPr>
              <a:t> </a:t>
            </a:r>
            <a:r>
              <a:rPr sz="2400" spc="-50" dirty="0">
                <a:latin typeface="Cambria"/>
                <a:cs typeface="Cambria"/>
              </a:rPr>
              <a:t>0 </a:t>
            </a:r>
            <a:r>
              <a:rPr sz="2400" dirty="0">
                <a:latin typeface="Cambria"/>
                <a:cs typeface="Cambria"/>
              </a:rPr>
              <a:t>If(debug)</a:t>
            </a:r>
            <a:r>
              <a:rPr sz="2400" spc="-95" dirty="0">
                <a:latin typeface="Cambria"/>
                <a:cs typeface="Cambria"/>
              </a:rPr>
              <a:t> </a:t>
            </a:r>
            <a:r>
              <a:rPr sz="2400" spc="-50" dirty="0">
                <a:latin typeface="Cambria"/>
                <a:cs typeface="Cambria"/>
              </a:rPr>
              <a:t>{</a:t>
            </a:r>
            <a:endParaRPr sz="2400" dirty="0">
              <a:latin typeface="Cambria"/>
              <a:cs typeface="Cambria"/>
            </a:endParaRPr>
          </a:p>
          <a:p>
            <a:pPr marL="12700">
              <a:lnSpc>
                <a:spcPct val="100000"/>
              </a:lnSpc>
              <a:spcBef>
                <a:spcPts val="910"/>
              </a:spcBef>
            </a:pPr>
            <a:r>
              <a:rPr sz="2400" dirty="0">
                <a:latin typeface="Cambria"/>
                <a:cs typeface="Cambria"/>
              </a:rPr>
              <a:t>Print</a:t>
            </a:r>
            <a:r>
              <a:rPr sz="2400" spc="-55" dirty="0">
                <a:latin typeface="Cambria"/>
                <a:cs typeface="Cambria"/>
              </a:rPr>
              <a:t> </a:t>
            </a:r>
            <a:r>
              <a:rPr sz="2400" spc="-10" dirty="0">
                <a:latin typeface="Cambria"/>
                <a:cs typeface="Cambria"/>
              </a:rPr>
              <a:t>debugging</a:t>
            </a:r>
            <a:r>
              <a:rPr sz="2400" spc="-35" dirty="0">
                <a:latin typeface="Cambria"/>
                <a:cs typeface="Cambria"/>
              </a:rPr>
              <a:t> </a:t>
            </a:r>
            <a:r>
              <a:rPr sz="2400" spc="-10" dirty="0">
                <a:latin typeface="Cambria"/>
                <a:cs typeface="Cambria"/>
              </a:rPr>
              <a:t>information</a:t>
            </a:r>
            <a:endParaRPr sz="2400" dirty="0">
              <a:latin typeface="Cambria"/>
              <a:cs typeface="Cambria"/>
            </a:endParaRPr>
          </a:p>
          <a:p>
            <a:pPr marL="12700">
              <a:lnSpc>
                <a:spcPct val="100000"/>
              </a:lnSpc>
              <a:spcBef>
                <a:spcPts val="915"/>
              </a:spcBef>
            </a:pPr>
            <a:r>
              <a:rPr sz="2400" spc="-50" dirty="0">
                <a:latin typeface="Cambria"/>
                <a:cs typeface="Cambria"/>
              </a:rPr>
              <a:t>}</a:t>
            </a:r>
            <a:endParaRPr sz="2400" dirty="0">
              <a:latin typeface="Cambria"/>
              <a:cs typeface="Cambria"/>
            </a:endParaRPr>
          </a:p>
          <a:p>
            <a:pPr marL="12700">
              <a:lnSpc>
                <a:spcPts val="2740"/>
              </a:lnSpc>
              <a:spcBef>
                <a:spcPts val="910"/>
              </a:spcBef>
            </a:pPr>
            <a:r>
              <a:rPr sz="2400" dirty="0">
                <a:latin typeface="Cambria"/>
                <a:cs typeface="Cambria"/>
              </a:rPr>
              <a:t>In</a:t>
            </a:r>
            <a:r>
              <a:rPr sz="2400" spc="-20" dirty="0">
                <a:latin typeface="Cambria"/>
                <a:cs typeface="Cambria"/>
              </a:rPr>
              <a:t> </a:t>
            </a:r>
            <a:r>
              <a:rPr sz="2400" dirty="0">
                <a:latin typeface="Cambria"/>
                <a:cs typeface="Cambria"/>
              </a:rPr>
              <a:t>the</a:t>
            </a:r>
            <a:r>
              <a:rPr sz="2400" spc="-30" dirty="0">
                <a:latin typeface="Cambria"/>
                <a:cs typeface="Cambria"/>
              </a:rPr>
              <a:t> </a:t>
            </a:r>
            <a:r>
              <a:rPr sz="2400" dirty="0">
                <a:latin typeface="Cambria"/>
                <a:cs typeface="Cambria"/>
              </a:rPr>
              <a:t>intermediate</a:t>
            </a:r>
            <a:r>
              <a:rPr sz="2400" spc="-10" dirty="0">
                <a:latin typeface="Cambria"/>
                <a:cs typeface="Cambria"/>
              </a:rPr>
              <a:t> </a:t>
            </a:r>
            <a:r>
              <a:rPr sz="2400" dirty="0">
                <a:latin typeface="Cambria"/>
                <a:cs typeface="Cambria"/>
              </a:rPr>
              <a:t>representation</a:t>
            </a:r>
            <a:r>
              <a:rPr sz="2400" spc="-10" dirty="0">
                <a:latin typeface="Cambria"/>
                <a:cs typeface="Cambria"/>
              </a:rPr>
              <a:t> </a:t>
            </a:r>
            <a:r>
              <a:rPr sz="2400" dirty="0">
                <a:latin typeface="Cambria"/>
                <a:cs typeface="Cambria"/>
              </a:rPr>
              <a:t>the</a:t>
            </a:r>
            <a:r>
              <a:rPr sz="2400" spc="-25" dirty="0">
                <a:latin typeface="Cambria"/>
                <a:cs typeface="Cambria"/>
              </a:rPr>
              <a:t> </a:t>
            </a:r>
            <a:r>
              <a:rPr sz="2400" spc="-10" dirty="0">
                <a:latin typeface="Cambria"/>
                <a:cs typeface="Cambria"/>
              </a:rPr>
              <a:t>if-</a:t>
            </a:r>
            <a:r>
              <a:rPr sz="2400" dirty="0">
                <a:latin typeface="Cambria"/>
                <a:cs typeface="Cambria"/>
              </a:rPr>
              <a:t>statement</a:t>
            </a:r>
            <a:r>
              <a:rPr sz="2400" spc="-5" dirty="0">
                <a:latin typeface="Cambria"/>
                <a:cs typeface="Cambria"/>
              </a:rPr>
              <a:t> </a:t>
            </a:r>
            <a:r>
              <a:rPr sz="2400" dirty="0">
                <a:latin typeface="Cambria"/>
                <a:cs typeface="Cambria"/>
              </a:rPr>
              <a:t>may</a:t>
            </a:r>
            <a:r>
              <a:rPr sz="2400" spc="-10" dirty="0">
                <a:latin typeface="Cambria"/>
                <a:cs typeface="Cambria"/>
              </a:rPr>
              <a:t> </a:t>
            </a:r>
            <a:r>
              <a:rPr sz="2400" spc="-25" dirty="0">
                <a:latin typeface="Cambria"/>
                <a:cs typeface="Cambria"/>
              </a:rPr>
              <a:t>be</a:t>
            </a:r>
            <a:endParaRPr sz="2400" dirty="0">
              <a:latin typeface="Cambria"/>
              <a:cs typeface="Cambria"/>
            </a:endParaRPr>
          </a:p>
          <a:p>
            <a:pPr marL="12700">
              <a:lnSpc>
                <a:spcPts val="2740"/>
              </a:lnSpc>
            </a:pPr>
            <a:r>
              <a:rPr sz="2400" spc="-10" dirty="0">
                <a:latin typeface="Cambria"/>
                <a:cs typeface="Cambria"/>
              </a:rPr>
              <a:t>translated</a:t>
            </a:r>
            <a:r>
              <a:rPr sz="2400" spc="-60" dirty="0">
                <a:latin typeface="Cambria"/>
                <a:cs typeface="Cambria"/>
              </a:rPr>
              <a:t> </a:t>
            </a:r>
            <a:r>
              <a:rPr sz="2400" spc="-25" dirty="0">
                <a:latin typeface="Cambria"/>
                <a:cs typeface="Cambria"/>
              </a:rPr>
              <a:t>as:</a:t>
            </a:r>
            <a:endParaRPr sz="2400" dirty="0">
              <a:latin typeface="Cambria"/>
              <a:cs typeface="Cambria"/>
            </a:endParaRPr>
          </a:p>
          <a:p>
            <a:pPr marL="12700" marR="5291455">
              <a:lnSpc>
                <a:spcPct val="131700"/>
              </a:lnSpc>
            </a:pPr>
            <a:r>
              <a:rPr sz="2400" dirty="0">
                <a:latin typeface="Cambria"/>
                <a:cs typeface="Cambria"/>
              </a:rPr>
              <a:t>If</a:t>
            </a:r>
            <a:r>
              <a:rPr sz="2400" spc="-65" dirty="0">
                <a:latin typeface="Cambria"/>
                <a:cs typeface="Cambria"/>
              </a:rPr>
              <a:t> </a:t>
            </a:r>
            <a:r>
              <a:rPr sz="2400" dirty="0">
                <a:latin typeface="Cambria"/>
                <a:cs typeface="Cambria"/>
              </a:rPr>
              <a:t>debug=1</a:t>
            </a:r>
            <a:r>
              <a:rPr sz="2400" spc="-65" dirty="0">
                <a:latin typeface="Cambria"/>
                <a:cs typeface="Cambria"/>
              </a:rPr>
              <a:t> </a:t>
            </a:r>
            <a:r>
              <a:rPr sz="2400" dirty="0">
                <a:latin typeface="Cambria"/>
                <a:cs typeface="Cambria"/>
              </a:rPr>
              <a:t>goto</a:t>
            </a:r>
            <a:r>
              <a:rPr sz="2400" spc="-45" dirty="0">
                <a:latin typeface="Cambria"/>
                <a:cs typeface="Cambria"/>
              </a:rPr>
              <a:t> </a:t>
            </a:r>
            <a:r>
              <a:rPr sz="2400" spc="-25" dirty="0">
                <a:latin typeface="Cambria"/>
                <a:cs typeface="Cambria"/>
              </a:rPr>
              <a:t>L1 </a:t>
            </a:r>
            <a:r>
              <a:rPr sz="2400" dirty="0">
                <a:latin typeface="Cambria"/>
                <a:cs typeface="Cambria"/>
              </a:rPr>
              <a:t>Goto</a:t>
            </a:r>
            <a:r>
              <a:rPr sz="2400" spc="-40" dirty="0">
                <a:latin typeface="Cambria"/>
                <a:cs typeface="Cambria"/>
              </a:rPr>
              <a:t> </a:t>
            </a:r>
            <a:r>
              <a:rPr sz="2400" spc="-25" dirty="0">
                <a:latin typeface="Cambria"/>
                <a:cs typeface="Cambria"/>
              </a:rPr>
              <a:t>L2</a:t>
            </a:r>
            <a:endParaRPr sz="2400" dirty="0">
              <a:latin typeface="Cambria"/>
              <a:cs typeface="Cambria"/>
            </a:endParaRPr>
          </a:p>
          <a:p>
            <a:pPr marL="12700" marR="3548379">
              <a:lnSpc>
                <a:spcPct val="131700"/>
              </a:lnSpc>
            </a:pPr>
            <a:r>
              <a:rPr sz="2400" dirty="0">
                <a:latin typeface="Cambria"/>
                <a:cs typeface="Cambria"/>
              </a:rPr>
              <a:t>L1:</a:t>
            </a:r>
            <a:r>
              <a:rPr sz="2400" spc="-30" dirty="0">
                <a:latin typeface="Cambria"/>
                <a:cs typeface="Cambria"/>
              </a:rPr>
              <a:t> </a:t>
            </a:r>
            <a:r>
              <a:rPr sz="2400" dirty="0">
                <a:latin typeface="Cambria"/>
                <a:cs typeface="Cambria"/>
              </a:rPr>
              <a:t>print</a:t>
            </a:r>
            <a:r>
              <a:rPr sz="2400" spc="-55" dirty="0">
                <a:latin typeface="Cambria"/>
                <a:cs typeface="Cambria"/>
              </a:rPr>
              <a:t> </a:t>
            </a:r>
            <a:r>
              <a:rPr sz="2400" spc="-10" dirty="0">
                <a:latin typeface="Cambria"/>
                <a:cs typeface="Cambria"/>
              </a:rPr>
              <a:t>debugging</a:t>
            </a:r>
            <a:r>
              <a:rPr sz="2400" spc="-20" dirty="0">
                <a:latin typeface="Cambria"/>
                <a:cs typeface="Cambria"/>
              </a:rPr>
              <a:t> </a:t>
            </a:r>
            <a:r>
              <a:rPr sz="2400" spc="-10" dirty="0">
                <a:latin typeface="Cambria"/>
                <a:cs typeface="Cambria"/>
              </a:rPr>
              <a:t>information </a:t>
            </a:r>
            <a:r>
              <a:rPr sz="2400" dirty="0">
                <a:latin typeface="Cambria"/>
                <a:cs typeface="Cambria"/>
              </a:rPr>
              <a:t>L2</a:t>
            </a:r>
            <a:r>
              <a:rPr sz="2400" spc="-15" dirty="0">
                <a:latin typeface="Cambria"/>
                <a:cs typeface="Cambria"/>
              </a:rPr>
              <a:t> </a:t>
            </a:r>
            <a:r>
              <a:rPr sz="2400" spc="-50" dirty="0">
                <a:latin typeface="Cambria"/>
                <a:cs typeface="Cambria"/>
              </a:rPr>
              <a:t>:</a:t>
            </a:r>
            <a:endParaRPr sz="2400" dirty="0">
              <a:latin typeface="Cambria"/>
              <a:cs typeface="Cambria"/>
            </a:endParaRPr>
          </a:p>
        </p:txBody>
      </p:sp>
      <p:sp>
        <p:nvSpPr>
          <p:cNvPr id="5" name="TextBox 4">
            <a:extLst>
              <a:ext uri="{FF2B5EF4-FFF2-40B4-BE49-F238E27FC236}">
                <a16:creationId xmlns:a16="http://schemas.microsoft.com/office/drawing/2014/main" id="{1DFDEB27-738A-2841-91F0-8917C708EB77}"/>
              </a:ext>
            </a:extLst>
          </p:cNvPr>
          <p:cNvSpPr txBox="1"/>
          <p:nvPr/>
        </p:nvSpPr>
        <p:spPr>
          <a:xfrm>
            <a:off x="4381754" y="5257800"/>
            <a:ext cx="6096000" cy="1015663"/>
          </a:xfrm>
          <a:prstGeom prst="rect">
            <a:avLst/>
          </a:prstGeom>
          <a:noFill/>
        </p:spPr>
        <p:txBody>
          <a:bodyPr wrap="square">
            <a:spAutoFit/>
          </a:bodyPr>
          <a:lstStyle/>
          <a:p>
            <a:r>
              <a:rPr lang="en-US" sz="2000" b="1" dirty="0">
                <a:latin typeface="Cambria" panose="02040503050406030204" pitchFamily="18" charset="0"/>
                <a:ea typeface="Cambria" panose="02040503050406030204" pitchFamily="18" charset="0"/>
              </a:rPr>
              <a:t>Unreachable code</a:t>
            </a:r>
            <a:r>
              <a:rPr lang="en-US" sz="2000" dirty="0">
                <a:latin typeface="Cambria" panose="02040503050406030204" pitchFamily="18" charset="0"/>
                <a:ea typeface="Cambria" panose="02040503050406030204" pitchFamily="18" charset="0"/>
              </a:rPr>
              <a:t> is code that can </a:t>
            </a:r>
            <a:r>
              <a:rPr lang="en-US" sz="2000" b="1" dirty="0">
                <a:latin typeface="Cambria" panose="02040503050406030204" pitchFamily="18" charset="0"/>
                <a:ea typeface="Cambria" panose="02040503050406030204" pitchFamily="18" charset="0"/>
              </a:rPr>
              <a:t>never be executed</a:t>
            </a:r>
            <a:r>
              <a:rPr lang="en-US" sz="2000" dirty="0">
                <a:latin typeface="Cambria" panose="02040503050406030204" pitchFamily="18" charset="0"/>
                <a:ea typeface="Cambria" panose="02040503050406030204" pitchFamily="18" charset="0"/>
              </a:rPr>
              <a:t> during program execution because the control flow can never reach it.</a:t>
            </a:r>
            <a:endParaRPr lang="en-IN" sz="2000" dirty="0">
              <a:latin typeface="Cambria" panose="02040503050406030204" pitchFamily="18" charset="0"/>
              <a:ea typeface="Cambria" panose="020405030504060302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474980">
              <a:lnSpc>
                <a:spcPts val="3779"/>
              </a:lnSpc>
            </a:pPr>
            <a:r>
              <a:rPr sz="3600" b="1" spc="-10" dirty="0">
                <a:solidFill>
                  <a:srgbClr val="FFFFFF"/>
                </a:solidFill>
                <a:latin typeface="Cambria"/>
                <a:cs typeface="Cambria"/>
              </a:rPr>
              <a:t>Algebraic </a:t>
            </a:r>
            <a:r>
              <a:rPr sz="3600" b="1" spc="-65" dirty="0">
                <a:solidFill>
                  <a:srgbClr val="FFFFFF"/>
                </a:solidFill>
                <a:latin typeface="Cambria"/>
                <a:cs typeface="Cambria"/>
              </a:rPr>
              <a:t>Specification</a:t>
            </a:r>
            <a:endParaRPr sz="3600">
              <a:latin typeface="Cambria"/>
              <a:cs typeface="Cambria"/>
            </a:endParaRPr>
          </a:p>
        </p:txBody>
      </p:sp>
      <p:sp>
        <p:nvSpPr>
          <p:cNvPr id="3" name="object 3"/>
          <p:cNvSpPr txBox="1"/>
          <p:nvPr/>
        </p:nvSpPr>
        <p:spPr>
          <a:xfrm>
            <a:off x="3553714" y="474090"/>
            <a:ext cx="3683635" cy="1684020"/>
          </a:xfrm>
          <a:prstGeom prst="rect">
            <a:avLst/>
          </a:prstGeom>
        </p:spPr>
        <p:txBody>
          <a:bodyPr vert="horz" wrap="square" lIns="0" tIns="53975" rIns="0" bIns="0" rtlCol="0">
            <a:spAutoFit/>
          </a:bodyPr>
          <a:lstStyle/>
          <a:p>
            <a:pPr marL="195580" marR="5080" indent="-182880">
              <a:lnSpc>
                <a:spcPts val="2590"/>
              </a:lnSpc>
              <a:spcBef>
                <a:spcPts val="425"/>
              </a:spcBef>
              <a:tabLst>
                <a:tab pos="1591310" algn="l"/>
                <a:tab pos="345249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Peephole</a:t>
            </a:r>
            <a:r>
              <a:rPr sz="2400" dirty="0">
                <a:latin typeface="Cambria"/>
                <a:cs typeface="Cambria"/>
              </a:rPr>
              <a:t>	</a:t>
            </a:r>
            <a:r>
              <a:rPr sz="2400" spc="-10" dirty="0">
                <a:latin typeface="Cambria"/>
                <a:cs typeface="Cambria"/>
              </a:rPr>
              <a:t>optimization</a:t>
            </a:r>
            <a:r>
              <a:rPr sz="2400" dirty="0">
                <a:latin typeface="Cambria"/>
                <a:cs typeface="Cambria"/>
              </a:rPr>
              <a:t>	</a:t>
            </a:r>
            <a:r>
              <a:rPr sz="2400" spc="-25" dirty="0">
                <a:latin typeface="Cambria"/>
                <a:cs typeface="Cambria"/>
              </a:rPr>
              <a:t>is </a:t>
            </a:r>
            <a:r>
              <a:rPr sz="2400" dirty="0">
                <a:latin typeface="Cambria"/>
                <a:cs typeface="Cambria"/>
              </a:rPr>
              <a:t>algebraic</a:t>
            </a:r>
            <a:r>
              <a:rPr sz="2400" spc="-100" dirty="0">
                <a:latin typeface="Cambria"/>
                <a:cs typeface="Cambria"/>
              </a:rPr>
              <a:t> </a:t>
            </a:r>
            <a:r>
              <a:rPr sz="2400" spc="-10" dirty="0">
                <a:latin typeface="Cambria"/>
                <a:cs typeface="Cambria"/>
              </a:rPr>
              <a:t>specification.</a:t>
            </a:r>
            <a:endParaRPr sz="2400" dirty="0">
              <a:latin typeface="Cambria"/>
              <a:cs typeface="Cambria"/>
            </a:endParaRPr>
          </a:p>
          <a:p>
            <a:pPr marL="12700">
              <a:lnSpc>
                <a:spcPct val="100000"/>
              </a:lnSpc>
              <a:spcBef>
                <a:spcPts val="88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0" dirty="0">
                <a:latin typeface="Cambria"/>
                <a:cs typeface="Cambria"/>
              </a:rPr>
              <a:t> </a:t>
            </a:r>
            <a:r>
              <a:rPr sz="2400" spc="-10" dirty="0">
                <a:latin typeface="Cambria"/>
                <a:cs typeface="Cambria"/>
              </a:rPr>
              <a:t>statements</a:t>
            </a:r>
            <a:r>
              <a:rPr sz="2400" spc="-25" dirty="0">
                <a:latin typeface="Cambria"/>
                <a:cs typeface="Cambria"/>
              </a:rPr>
              <a:t> </a:t>
            </a:r>
            <a:r>
              <a:rPr sz="2400" dirty="0">
                <a:latin typeface="Cambria"/>
                <a:cs typeface="Cambria"/>
              </a:rPr>
              <a:t>such</a:t>
            </a:r>
            <a:r>
              <a:rPr sz="2400" spc="-40" dirty="0">
                <a:latin typeface="Cambria"/>
                <a:cs typeface="Cambria"/>
              </a:rPr>
              <a:t> </a:t>
            </a:r>
            <a:r>
              <a:rPr sz="2400" spc="-25" dirty="0">
                <a:latin typeface="Cambria"/>
                <a:cs typeface="Cambria"/>
              </a:rPr>
              <a:t>as</a:t>
            </a:r>
            <a:endParaRPr sz="2400" dirty="0">
              <a:latin typeface="Cambria"/>
              <a:cs typeface="Cambria"/>
            </a:endParaRPr>
          </a:p>
          <a:p>
            <a:pPr marL="1841500">
              <a:lnSpc>
                <a:spcPct val="100000"/>
              </a:lnSpc>
              <a:spcBef>
                <a:spcPts val="910"/>
              </a:spcBef>
              <a:tabLst>
                <a:tab pos="3175000" algn="l"/>
              </a:tabLst>
            </a:pPr>
            <a:r>
              <a:rPr sz="2400" dirty="0">
                <a:latin typeface="Cambria"/>
                <a:cs typeface="Cambria"/>
              </a:rPr>
              <a:t>x</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x</a:t>
            </a:r>
            <a:r>
              <a:rPr sz="2400" spc="-15" dirty="0">
                <a:latin typeface="Cambria"/>
                <a:cs typeface="Cambria"/>
              </a:rPr>
              <a:t> </a:t>
            </a:r>
            <a:r>
              <a:rPr sz="2400" dirty="0">
                <a:latin typeface="Cambria"/>
                <a:cs typeface="Cambria"/>
              </a:rPr>
              <a:t>+</a:t>
            </a:r>
            <a:r>
              <a:rPr sz="2400" spc="-5" dirty="0">
                <a:latin typeface="Cambria"/>
                <a:cs typeface="Cambria"/>
              </a:rPr>
              <a:t> </a:t>
            </a:r>
            <a:r>
              <a:rPr sz="2400" spc="-50" dirty="0">
                <a:latin typeface="Cambria"/>
                <a:cs typeface="Cambria"/>
              </a:rPr>
              <a:t>0</a:t>
            </a:r>
            <a:r>
              <a:rPr sz="2400" dirty="0">
                <a:latin typeface="Cambria"/>
                <a:cs typeface="Cambria"/>
              </a:rPr>
              <a:t>	</a:t>
            </a:r>
            <a:r>
              <a:rPr sz="2400" spc="-25" dirty="0">
                <a:latin typeface="Cambria"/>
                <a:cs typeface="Cambria"/>
              </a:rPr>
              <a:t>or</a:t>
            </a:r>
            <a:endParaRPr sz="2400" dirty="0">
              <a:latin typeface="Cambria"/>
              <a:cs typeface="Cambria"/>
            </a:endParaRPr>
          </a:p>
        </p:txBody>
      </p:sp>
      <p:sp>
        <p:nvSpPr>
          <p:cNvPr id="4" name="object 4"/>
          <p:cNvSpPr txBox="1"/>
          <p:nvPr/>
        </p:nvSpPr>
        <p:spPr>
          <a:xfrm>
            <a:off x="7606665" y="474090"/>
            <a:ext cx="3702050" cy="391160"/>
          </a:xfrm>
          <a:prstGeom prst="rect">
            <a:avLst/>
          </a:prstGeom>
        </p:spPr>
        <p:txBody>
          <a:bodyPr vert="horz" wrap="square" lIns="0" tIns="12700" rIns="0" bIns="0" rtlCol="0">
            <a:spAutoFit/>
          </a:bodyPr>
          <a:lstStyle/>
          <a:p>
            <a:pPr marL="12700">
              <a:lnSpc>
                <a:spcPct val="100000"/>
              </a:lnSpc>
              <a:spcBef>
                <a:spcPts val="100"/>
              </a:spcBef>
              <a:tabLst>
                <a:tab pos="530225" algn="l"/>
                <a:tab pos="1823085" algn="l"/>
                <a:tab pos="3310890" algn="l"/>
              </a:tabLst>
            </a:pPr>
            <a:r>
              <a:rPr sz="2400" spc="-25" dirty="0">
                <a:latin typeface="Cambria"/>
                <a:cs typeface="Cambria"/>
              </a:rPr>
              <a:t>an</a:t>
            </a:r>
            <a:r>
              <a:rPr sz="2400" dirty="0">
                <a:latin typeface="Cambria"/>
                <a:cs typeface="Cambria"/>
              </a:rPr>
              <a:t>	</a:t>
            </a:r>
            <a:r>
              <a:rPr sz="2400" spc="-10" dirty="0">
                <a:latin typeface="Cambria"/>
                <a:cs typeface="Cambria"/>
              </a:rPr>
              <a:t>effective</a:t>
            </a:r>
            <a:r>
              <a:rPr sz="2400" dirty="0">
                <a:latin typeface="Cambria"/>
                <a:cs typeface="Cambria"/>
              </a:rPr>
              <a:t>	</a:t>
            </a:r>
            <a:r>
              <a:rPr sz="2400" spc="-10" dirty="0">
                <a:latin typeface="Cambria"/>
                <a:cs typeface="Cambria"/>
              </a:rPr>
              <a:t>technique</a:t>
            </a:r>
            <a:r>
              <a:rPr sz="2400" dirty="0">
                <a:latin typeface="Cambria"/>
                <a:cs typeface="Cambria"/>
              </a:rPr>
              <a:t>	</a:t>
            </a:r>
            <a:r>
              <a:rPr sz="2400" spc="-25" dirty="0">
                <a:latin typeface="Cambria"/>
                <a:cs typeface="Cambria"/>
              </a:rPr>
              <a:t>for</a:t>
            </a:r>
            <a:endParaRPr sz="2400">
              <a:latin typeface="Cambria"/>
              <a:cs typeface="Cambria"/>
            </a:endParaRPr>
          </a:p>
        </p:txBody>
      </p:sp>
      <p:sp>
        <p:nvSpPr>
          <p:cNvPr id="5" name="object 5"/>
          <p:cNvSpPr txBox="1"/>
          <p:nvPr/>
        </p:nvSpPr>
        <p:spPr>
          <a:xfrm>
            <a:off x="7336917" y="1766696"/>
            <a:ext cx="105537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x</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x</a:t>
            </a:r>
            <a:r>
              <a:rPr sz="2400" spc="-5"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1</a:t>
            </a:r>
            <a:endParaRPr sz="2400" dirty="0">
              <a:latin typeface="Cambria"/>
              <a:cs typeface="Cambria"/>
            </a:endParaRPr>
          </a:p>
        </p:txBody>
      </p:sp>
      <p:sp>
        <p:nvSpPr>
          <p:cNvPr id="6" name="object 6"/>
          <p:cNvSpPr txBox="1"/>
          <p:nvPr/>
        </p:nvSpPr>
        <p:spPr>
          <a:xfrm>
            <a:off x="3753358" y="2248280"/>
            <a:ext cx="5835650" cy="391160"/>
          </a:xfrm>
          <a:prstGeom prst="rect">
            <a:avLst/>
          </a:prstGeom>
        </p:spPr>
        <p:txBody>
          <a:bodyPr vert="horz" wrap="square" lIns="0" tIns="12700" rIns="0" bIns="0" rtlCol="0">
            <a:spAutoFit/>
          </a:bodyPr>
          <a:lstStyle/>
          <a:p>
            <a:pPr marL="12700">
              <a:lnSpc>
                <a:spcPct val="100000"/>
              </a:lnSpc>
              <a:spcBef>
                <a:spcPts val="100"/>
              </a:spcBef>
              <a:tabLst>
                <a:tab pos="2443480" algn="l"/>
              </a:tabLst>
            </a:pPr>
            <a:r>
              <a:rPr sz="2400" dirty="0">
                <a:latin typeface="Cambria"/>
                <a:cs typeface="Cambria"/>
              </a:rPr>
              <a:t>can</a:t>
            </a:r>
            <a:r>
              <a:rPr sz="2400" spc="-35" dirty="0">
                <a:latin typeface="Cambria"/>
                <a:cs typeface="Cambria"/>
              </a:rPr>
              <a:t> </a:t>
            </a:r>
            <a:r>
              <a:rPr sz="2400" dirty="0">
                <a:latin typeface="Cambria"/>
                <a:cs typeface="Cambria"/>
              </a:rPr>
              <a:t>be</a:t>
            </a:r>
            <a:r>
              <a:rPr sz="2400" spc="-40" dirty="0">
                <a:latin typeface="Cambria"/>
                <a:cs typeface="Cambria"/>
              </a:rPr>
              <a:t> </a:t>
            </a:r>
            <a:r>
              <a:rPr sz="2400" spc="-10" dirty="0">
                <a:latin typeface="Cambria"/>
                <a:cs typeface="Cambria"/>
              </a:rPr>
              <a:t>eliminated</a:t>
            </a:r>
            <a:r>
              <a:rPr sz="2400" dirty="0">
                <a:latin typeface="Cambria"/>
                <a:cs typeface="Cambria"/>
              </a:rPr>
              <a:t>	by</a:t>
            </a:r>
            <a:r>
              <a:rPr sz="2400" spc="-85" dirty="0">
                <a:latin typeface="Cambria"/>
                <a:cs typeface="Cambria"/>
              </a:rPr>
              <a:t> </a:t>
            </a:r>
            <a:r>
              <a:rPr sz="2400" dirty="0">
                <a:latin typeface="Cambria"/>
                <a:cs typeface="Cambria"/>
              </a:rPr>
              <a:t>peephole</a:t>
            </a:r>
            <a:r>
              <a:rPr sz="2400" spc="-70" dirty="0">
                <a:latin typeface="Cambria"/>
                <a:cs typeface="Cambria"/>
              </a:rPr>
              <a:t> </a:t>
            </a:r>
            <a:r>
              <a:rPr sz="2400" spc="-10" dirty="0">
                <a:latin typeface="Cambria"/>
                <a:cs typeface="Cambria"/>
              </a:rPr>
              <a:t>optimization.</a:t>
            </a:r>
            <a:endParaRPr sz="2400">
              <a:latin typeface="Cambria"/>
              <a:cs typeface="Cambria"/>
            </a:endParaRPr>
          </a:p>
        </p:txBody>
      </p:sp>
      <p:sp>
        <p:nvSpPr>
          <p:cNvPr id="8" name="TextBox 7">
            <a:extLst>
              <a:ext uri="{FF2B5EF4-FFF2-40B4-BE49-F238E27FC236}">
                <a16:creationId xmlns:a16="http://schemas.microsoft.com/office/drawing/2014/main" id="{B67C0386-DADB-C246-E2F5-04EFD538D4FB}"/>
              </a:ext>
            </a:extLst>
          </p:cNvPr>
          <p:cNvSpPr txBox="1"/>
          <p:nvPr/>
        </p:nvSpPr>
        <p:spPr>
          <a:xfrm>
            <a:off x="3962400" y="2969793"/>
            <a:ext cx="7467600" cy="646331"/>
          </a:xfrm>
          <a:prstGeom prst="rect">
            <a:avLst/>
          </a:prstGeom>
          <a:noFill/>
        </p:spPr>
        <p:txBody>
          <a:bodyPr wrap="square">
            <a:spAutoFit/>
          </a:bodyPr>
          <a:lstStyle/>
          <a:p>
            <a:r>
              <a:rPr lang="en-US" dirty="0"/>
              <a:t>A compiler looks at a </a:t>
            </a:r>
            <a:r>
              <a:rPr lang="en-US" i="1" dirty="0"/>
              <a:t>small sequence of instructions</a:t>
            </a:r>
            <a:r>
              <a:rPr lang="en-US" dirty="0"/>
              <a:t> (“peephole”) and replaces it with an equivalent but simpler/faster form.</a:t>
            </a:r>
            <a:endParaRPr lang="en-IN" dirty="0"/>
          </a:p>
        </p:txBody>
      </p:sp>
      <p:sp>
        <p:nvSpPr>
          <p:cNvPr id="10" name="TextBox 9">
            <a:extLst>
              <a:ext uri="{FF2B5EF4-FFF2-40B4-BE49-F238E27FC236}">
                <a16:creationId xmlns:a16="http://schemas.microsoft.com/office/drawing/2014/main" id="{C45F01FE-67DC-CA75-A90F-ABD96C6878FC}"/>
              </a:ext>
            </a:extLst>
          </p:cNvPr>
          <p:cNvSpPr txBox="1"/>
          <p:nvPr/>
        </p:nvSpPr>
        <p:spPr>
          <a:xfrm>
            <a:off x="4953000" y="3689342"/>
            <a:ext cx="6355715" cy="2031325"/>
          </a:xfrm>
          <a:prstGeom prst="rect">
            <a:avLst/>
          </a:prstGeom>
          <a:noFill/>
        </p:spPr>
        <p:txBody>
          <a:bodyPr wrap="square">
            <a:spAutoFit/>
          </a:bodyPr>
          <a:lstStyle/>
          <a:p>
            <a:pPr>
              <a:buNone/>
            </a:pPr>
            <a:r>
              <a:rPr lang="en-US" dirty="0"/>
              <a:t> statements like:</a:t>
            </a:r>
          </a:p>
          <a:p>
            <a:pPr>
              <a:buFont typeface="Arial" panose="020B0604020202020204" pitchFamily="34" charset="0"/>
              <a:buChar char="•"/>
            </a:pPr>
            <a:r>
              <a:rPr lang="en-US" dirty="0">
                <a:latin typeface="Courier New" panose="02070309020205020404" pitchFamily="49" charset="0"/>
              </a:rPr>
              <a:t>x = x + 0</a:t>
            </a:r>
            <a:r>
              <a:rPr lang="en-US" dirty="0"/>
              <a:t> </a:t>
            </a:r>
          </a:p>
          <a:p>
            <a:pPr>
              <a:buFont typeface="Arial" panose="020B0604020202020204" pitchFamily="34" charset="0"/>
              <a:buChar char="•"/>
            </a:pPr>
            <a:r>
              <a:rPr lang="en-US" dirty="0">
                <a:latin typeface="Courier New" panose="02070309020205020404" pitchFamily="49" charset="0"/>
              </a:rPr>
              <a:t>x = x * 1</a:t>
            </a:r>
            <a:r>
              <a:rPr lang="en-US" dirty="0"/>
              <a:t> </a:t>
            </a:r>
          </a:p>
          <a:p>
            <a:pPr>
              <a:buFont typeface="Arial" panose="020B0604020202020204" pitchFamily="34" charset="0"/>
              <a:buChar char="•"/>
            </a:pPr>
            <a:r>
              <a:rPr lang="en-US" dirty="0">
                <a:latin typeface="Courier New" panose="02070309020205020404" pitchFamily="49" charset="0"/>
              </a:rPr>
              <a:t>x = x - 0</a:t>
            </a:r>
            <a:r>
              <a:rPr lang="en-US" dirty="0"/>
              <a:t> </a:t>
            </a:r>
          </a:p>
          <a:p>
            <a:pPr>
              <a:buFont typeface="Arial" panose="020B0604020202020204" pitchFamily="34" charset="0"/>
              <a:buChar char="•"/>
            </a:pPr>
            <a:r>
              <a:rPr lang="en-US" dirty="0">
                <a:latin typeface="Courier New" panose="02070309020205020404" pitchFamily="49" charset="0"/>
              </a:rPr>
              <a:t>x = x / 1</a:t>
            </a:r>
            <a:r>
              <a:rPr lang="en-US" dirty="0"/>
              <a:t> </a:t>
            </a:r>
          </a:p>
          <a:p>
            <a:pPr>
              <a:buNone/>
            </a:pPr>
            <a:r>
              <a:rPr lang="en-US" dirty="0"/>
              <a:t>can be simplified because they </a:t>
            </a:r>
            <a:r>
              <a:rPr lang="en-US" b="1" dirty="0"/>
              <a:t>do not change the value of </a:t>
            </a:r>
            <a:r>
              <a:rPr lang="en-US" b="1" dirty="0">
                <a:latin typeface="Courier New" panose="02070309020205020404" pitchFamily="49" charset="0"/>
              </a:rPr>
              <a:t>x</a:t>
            </a:r>
            <a:r>
              <a:rPr lang="en-US"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09905">
              <a:lnSpc>
                <a:spcPts val="3779"/>
              </a:lnSpc>
            </a:pPr>
            <a:r>
              <a:rPr sz="3600" b="1" spc="-80" dirty="0">
                <a:solidFill>
                  <a:srgbClr val="FFFFFF"/>
                </a:solidFill>
                <a:latin typeface="Cambria"/>
                <a:cs typeface="Cambria"/>
              </a:rPr>
              <a:t>Reduction</a:t>
            </a:r>
            <a:r>
              <a:rPr sz="3600" b="1" spc="-110" dirty="0">
                <a:solidFill>
                  <a:srgbClr val="FFFFFF"/>
                </a:solidFill>
                <a:latin typeface="Cambria"/>
                <a:cs typeface="Cambria"/>
              </a:rPr>
              <a:t> </a:t>
            </a:r>
            <a:r>
              <a:rPr sz="3600" b="1" spc="-25" dirty="0">
                <a:solidFill>
                  <a:srgbClr val="FFFFFF"/>
                </a:solidFill>
                <a:latin typeface="Cambria"/>
                <a:cs typeface="Cambria"/>
              </a:rPr>
              <a:t>in </a:t>
            </a:r>
            <a:r>
              <a:rPr sz="3600" b="1" spc="-10" dirty="0">
                <a:solidFill>
                  <a:srgbClr val="FFFFFF"/>
                </a:solidFill>
                <a:latin typeface="Cambria"/>
                <a:cs typeface="Cambria"/>
              </a:rPr>
              <a:t>Strength</a:t>
            </a:r>
            <a:endParaRPr sz="3600">
              <a:latin typeface="Cambria"/>
              <a:cs typeface="Cambria"/>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Certain</a:t>
            </a:r>
            <a:r>
              <a:rPr spc="-95" dirty="0"/>
              <a:t> </a:t>
            </a:r>
            <a:r>
              <a:rPr dirty="0"/>
              <a:t>machine</a:t>
            </a:r>
            <a:r>
              <a:rPr spc="-30" dirty="0"/>
              <a:t> </a:t>
            </a:r>
            <a:r>
              <a:rPr dirty="0"/>
              <a:t>instructions</a:t>
            </a:r>
            <a:r>
              <a:rPr spc="-60" dirty="0"/>
              <a:t> </a:t>
            </a:r>
            <a:r>
              <a:rPr dirty="0"/>
              <a:t>are</a:t>
            </a:r>
            <a:r>
              <a:rPr spc="-50" dirty="0"/>
              <a:t> </a:t>
            </a:r>
            <a:r>
              <a:rPr dirty="0"/>
              <a:t>cheaper</a:t>
            </a:r>
            <a:r>
              <a:rPr spc="-35" dirty="0"/>
              <a:t> </a:t>
            </a:r>
            <a:r>
              <a:rPr dirty="0"/>
              <a:t>than</a:t>
            </a:r>
            <a:r>
              <a:rPr spc="-40" dirty="0"/>
              <a:t> </a:t>
            </a:r>
            <a:r>
              <a:rPr spc="-35" dirty="0"/>
              <a:t>other.</a:t>
            </a:r>
          </a:p>
        </p:txBody>
      </p:sp>
      <p:sp>
        <p:nvSpPr>
          <p:cNvPr id="4" name="object 4"/>
          <p:cNvSpPr txBox="1"/>
          <p:nvPr/>
        </p:nvSpPr>
        <p:spPr>
          <a:xfrm>
            <a:off x="3583304" y="1236090"/>
            <a:ext cx="7757159" cy="1860550"/>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a:t>
            </a:r>
            <a:r>
              <a:rPr sz="2400" spc="204" dirty="0">
                <a:latin typeface="Cambria"/>
                <a:cs typeface="Cambria"/>
              </a:rPr>
              <a:t> </a:t>
            </a:r>
            <a:r>
              <a:rPr sz="2400" spc="-15" dirty="0">
                <a:latin typeface="Cambria"/>
                <a:cs typeface="Cambria"/>
              </a:rPr>
              <a:t>order</a:t>
            </a:r>
            <a:r>
              <a:rPr sz="2400" spc="204" dirty="0">
                <a:latin typeface="Cambria"/>
                <a:cs typeface="Cambria"/>
              </a:rPr>
              <a:t> </a:t>
            </a:r>
            <a:r>
              <a:rPr sz="2400" spc="-25" dirty="0">
                <a:latin typeface="Cambria"/>
                <a:cs typeface="Cambria"/>
              </a:rPr>
              <a:t>to</a:t>
            </a:r>
            <a:r>
              <a:rPr sz="2400" spc="200" dirty="0">
                <a:latin typeface="Cambria"/>
                <a:cs typeface="Cambria"/>
              </a:rPr>
              <a:t> </a:t>
            </a:r>
            <a:r>
              <a:rPr sz="2400" spc="-25" dirty="0">
                <a:latin typeface="Cambria"/>
                <a:cs typeface="Cambria"/>
              </a:rPr>
              <a:t>improve</a:t>
            </a:r>
            <a:r>
              <a:rPr sz="2400" spc="204" dirty="0">
                <a:latin typeface="Cambria"/>
                <a:cs typeface="Cambria"/>
              </a:rPr>
              <a:t> </a:t>
            </a:r>
            <a:r>
              <a:rPr sz="2400" spc="-15" dirty="0">
                <a:latin typeface="Cambria"/>
                <a:cs typeface="Cambria"/>
              </a:rPr>
              <a:t>the</a:t>
            </a:r>
            <a:r>
              <a:rPr sz="2400" spc="204" dirty="0">
                <a:latin typeface="Cambria"/>
                <a:cs typeface="Cambria"/>
              </a:rPr>
              <a:t> </a:t>
            </a:r>
            <a:r>
              <a:rPr sz="2400" spc="-10" dirty="0">
                <a:latin typeface="Cambria"/>
                <a:cs typeface="Cambria"/>
              </a:rPr>
              <a:t>performance</a:t>
            </a:r>
            <a:r>
              <a:rPr sz="2400" spc="210" dirty="0">
                <a:latin typeface="Cambria"/>
                <a:cs typeface="Cambria"/>
              </a:rPr>
              <a:t> </a:t>
            </a:r>
            <a:r>
              <a:rPr sz="2400" spc="-5" dirty="0">
                <a:latin typeface="Cambria"/>
                <a:cs typeface="Cambria"/>
              </a:rPr>
              <a:t>o</a:t>
            </a:r>
            <a:r>
              <a:rPr sz="2400" dirty="0">
                <a:latin typeface="Cambria"/>
                <a:cs typeface="Cambria"/>
              </a:rPr>
              <a:t>f</a:t>
            </a:r>
            <a:r>
              <a:rPr sz="2400" spc="204" dirty="0">
                <a:latin typeface="Cambria"/>
                <a:cs typeface="Cambria"/>
              </a:rPr>
              <a:t> </a:t>
            </a:r>
            <a:r>
              <a:rPr sz="2400" spc="-15" dirty="0">
                <a:latin typeface="Cambria"/>
                <a:cs typeface="Cambria"/>
              </a:rPr>
              <a:t>the</a:t>
            </a:r>
            <a:r>
              <a:rPr sz="2400" spc="204" dirty="0">
                <a:latin typeface="Cambria"/>
                <a:cs typeface="Cambria"/>
              </a:rPr>
              <a:t> </a:t>
            </a:r>
            <a:r>
              <a:rPr sz="2400" spc="-30" dirty="0">
                <a:latin typeface="Cambria"/>
                <a:cs typeface="Cambria"/>
              </a:rPr>
              <a:t>intermediate</a:t>
            </a:r>
            <a:r>
              <a:rPr sz="2400" spc="-10" dirty="0">
                <a:latin typeface="Cambria"/>
                <a:cs typeface="Cambria"/>
              </a:rPr>
              <a:t> </a:t>
            </a:r>
            <a:r>
              <a:rPr sz="2400" spc="-15" dirty="0">
                <a:latin typeface="Cambria"/>
                <a:cs typeface="Cambria"/>
              </a:rPr>
              <a:t>code</a:t>
            </a:r>
            <a:r>
              <a:rPr sz="2400" spc="805" dirty="0">
                <a:latin typeface="Cambria"/>
                <a:cs typeface="Cambria"/>
              </a:rPr>
              <a:t> </a:t>
            </a:r>
            <a:r>
              <a:rPr sz="2400" spc="-35" dirty="0">
                <a:latin typeface="Cambria"/>
                <a:cs typeface="Cambria"/>
              </a:rPr>
              <a:t>we</a:t>
            </a:r>
            <a:r>
              <a:rPr sz="2400" spc="810" dirty="0">
                <a:latin typeface="Cambria"/>
                <a:cs typeface="Cambria"/>
              </a:rPr>
              <a:t> </a:t>
            </a:r>
            <a:r>
              <a:rPr sz="2400" spc="-15" dirty="0">
                <a:latin typeface="Cambria"/>
                <a:cs typeface="Cambria"/>
              </a:rPr>
              <a:t>can</a:t>
            </a:r>
            <a:r>
              <a:rPr sz="2400" spc="810" dirty="0">
                <a:latin typeface="Cambria"/>
                <a:cs typeface="Cambria"/>
              </a:rPr>
              <a:t> </a:t>
            </a:r>
            <a:r>
              <a:rPr sz="2400" spc="-15" dirty="0">
                <a:latin typeface="Cambria"/>
                <a:cs typeface="Cambria"/>
              </a:rPr>
              <a:t>replace</a:t>
            </a:r>
            <a:r>
              <a:rPr sz="2400" spc="810" dirty="0">
                <a:latin typeface="Cambria"/>
                <a:cs typeface="Cambria"/>
              </a:rPr>
              <a:t> </a:t>
            </a:r>
            <a:r>
              <a:rPr sz="2400" spc="-15" dirty="0">
                <a:latin typeface="Cambria"/>
                <a:cs typeface="Cambria"/>
              </a:rPr>
              <a:t>these</a:t>
            </a:r>
            <a:r>
              <a:rPr sz="2400" spc="805" dirty="0">
                <a:latin typeface="Cambria"/>
                <a:cs typeface="Cambria"/>
              </a:rPr>
              <a:t> </a:t>
            </a:r>
            <a:r>
              <a:rPr sz="2400" spc="-10" dirty="0">
                <a:latin typeface="Cambria"/>
                <a:cs typeface="Cambria"/>
              </a:rPr>
              <a:t>instructions</a:t>
            </a:r>
            <a:r>
              <a:rPr sz="2400" spc="805" dirty="0">
                <a:latin typeface="Cambria"/>
                <a:cs typeface="Cambria"/>
              </a:rPr>
              <a:t> </a:t>
            </a:r>
            <a:r>
              <a:rPr sz="2400" spc="-40" dirty="0">
                <a:latin typeface="Cambria"/>
                <a:cs typeface="Cambria"/>
              </a:rPr>
              <a:t>by</a:t>
            </a:r>
            <a:r>
              <a:rPr sz="2400" spc="795" dirty="0">
                <a:latin typeface="Cambria"/>
                <a:cs typeface="Cambria"/>
              </a:rPr>
              <a:t> </a:t>
            </a:r>
            <a:r>
              <a:rPr sz="2400" spc="-15" dirty="0">
                <a:latin typeface="Cambria"/>
                <a:cs typeface="Cambria"/>
              </a:rPr>
              <a:t>equivalent</a:t>
            </a:r>
            <a:r>
              <a:rPr sz="2400" spc="-10" dirty="0">
                <a:latin typeface="Cambria"/>
                <a:cs typeface="Cambria"/>
              </a:rPr>
              <a:t> cheaper</a:t>
            </a:r>
            <a:r>
              <a:rPr sz="2400" dirty="0">
                <a:latin typeface="Cambria"/>
                <a:cs typeface="Cambria"/>
              </a:rPr>
              <a:t> instructions.</a:t>
            </a:r>
            <a:endParaRPr sz="2400">
              <a:latin typeface="Cambria"/>
              <a:cs typeface="Cambria"/>
            </a:endParaRPr>
          </a:p>
          <a:p>
            <a:pPr marL="195580" marR="8255" indent="-182880" algn="just">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0" dirty="0">
                <a:latin typeface="Cambria"/>
                <a:cs typeface="Cambria"/>
              </a:rPr>
              <a:t>F</a:t>
            </a:r>
            <a:r>
              <a:rPr sz="2400" dirty="0">
                <a:latin typeface="Cambria"/>
                <a:cs typeface="Cambria"/>
              </a:rPr>
              <a:t>or</a:t>
            </a:r>
            <a:r>
              <a:rPr sz="2400" spc="250" dirty="0">
                <a:latin typeface="Cambria"/>
                <a:cs typeface="Cambria"/>
              </a:rPr>
              <a:t> </a:t>
            </a:r>
            <a:r>
              <a:rPr sz="2400" spc="-25" dirty="0">
                <a:latin typeface="Cambria"/>
                <a:cs typeface="Cambria"/>
              </a:rPr>
              <a:t>example,</a:t>
            </a:r>
            <a:r>
              <a:rPr sz="2400" spc="250" dirty="0">
                <a:latin typeface="Cambria"/>
                <a:cs typeface="Cambria"/>
              </a:rPr>
              <a:t> </a:t>
            </a:r>
            <a:r>
              <a:rPr sz="2400" spc="-10" dirty="0">
                <a:latin typeface="Cambria"/>
                <a:cs typeface="Cambria"/>
              </a:rPr>
              <a:t>x</a:t>
            </a:r>
            <a:r>
              <a:rPr sz="2400" dirty="0">
                <a:latin typeface="Cambria"/>
                <a:cs typeface="Cambria"/>
              </a:rPr>
              <a:t>^2</a:t>
            </a:r>
            <a:r>
              <a:rPr sz="2400" spc="240" dirty="0">
                <a:latin typeface="Cambria"/>
                <a:cs typeface="Cambria"/>
              </a:rPr>
              <a:t> </a:t>
            </a:r>
            <a:r>
              <a:rPr sz="2400" spc="-20" dirty="0">
                <a:latin typeface="Cambria"/>
                <a:cs typeface="Cambria"/>
              </a:rPr>
              <a:t>can</a:t>
            </a:r>
            <a:r>
              <a:rPr sz="2400" spc="245" dirty="0">
                <a:latin typeface="Cambria"/>
                <a:cs typeface="Cambria"/>
              </a:rPr>
              <a:t> </a:t>
            </a:r>
            <a:r>
              <a:rPr sz="2400" spc="-15" dirty="0">
                <a:latin typeface="Cambria"/>
                <a:cs typeface="Cambria"/>
              </a:rPr>
              <a:t>be</a:t>
            </a:r>
            <a:r>
              <a:rPr sz="2400" spc="254" dirty="0">
                <a:latin typeface="Cambria"/>
                <a:cs typeface="Cambria"/>
              </a:rPr>
              <a:t> </a:t>
            </a:r>
            <a:r>
              <a:rPr sz="2400" spc="-20" dirty="0">
                <a:latin typeface="Cambria"/>
                <a:cs typeface="Cambria"/>
              </a:rPr>
              <a:t>computed</a:t>
            </a:r>
            <a:r>
              <a:rPr sz="2400" spc="260" dirty="0">
                <a:latin typeface="Cambria"/>
                <a:cs typeface="Cambria"/>
              </a:rPr>
              <a:t> </a:t>
            </a:r>
            <a:r>
              <a:rPr sz="2400" spc="-20" dirty="0">
                <a:latin typeface="Cambria"/>
                <a:cs typeface="Cambria"/>
              </a:rPr>
              <a:t>easily</a:t>
            </a:r>
            <a:r>
              <a:rPr sz="2400" spc="260" dirty="0">
                <a:latin typeface="Cambria"/>
                <a:cs typeface="Cambria"/>
              </a:rPr>
              <a:t> </a:t>
            </a:r>
            <a:r>
              <a:rPr sz="2400" spc="-40" dirty="0">
                <a:latin typeface="Cambria"/>
                <a:cs typeface="Cambria"/>
              </a:rPr>
              <a:t>by</a:t>
            </a:r>
            <a:r>
              <a:rPr sz="2400" spc="240" dirty="0">
                <a:latin typeface="Cambria"/>
                <a:cs typeface="Cambria"/>
              </a:rPr>
              <a:t> </a:t>
            </a:r>
            <a:r>
              <a:rPr sz="2400" spc="-5" dirty="0">
                <a:latin typeface="Cambria"/>
                <a:cs typeface="Cambria"/>
              </a:rPr>
              <a:t>x*x</a:t>
            </a:r>
            <a:r>
              <a:rPr sz="2400" dirty="0">
                <a:latin typeface="Cambria"/>
                <a:cs typeface="Cambria"/>
              </a:rPr>
              <a:t>,</a:t>
            </a:r>
            <a:r>
              <a:rPr sz="2400" spc="240" dirty="0">
                <a:latin typeface="Cambria"/>
                <a:cs typeface="Cambria"/>
              </a:rPr>
              <a:t> </a:t>
            </a:r>
            <a:r>
              <a:rPr sz="2400" spc="-40" dirty="0">
                <a:latin typeface="Cambria"/>
                <a:cs typeface="Cambria"/>
              </a:rPr>
              <a:t>instead</a:t>
            </a:r>
            <a:r>
              <a:rPr sz="2400" spc="-10" dirty="0">
                <a:latin typeface="Cambria"/>
                <a:cs typeface="Cambria"/>
              </a:rPr>
              <a:t> </a:t>
            </a:r>
            <a:r>
              <a:rPr sz="2400" spc="-5" dirty="0">
                <a:latin typeface="Cambria"/>
                <a:cs typeface="Cambria"/>
              </a:rPr>
              <a:t>o</a:t>
            </a:r>
            <a:r>
              <a:rPr sz="2400" dirty="0">
                <a:latin typeface="Cambria"/>
                <a:cs typeface="Cambria"/>
              </a:rPr>
              <a:t>f</a:t>
            </a:r>
            <a:r>
              <a:rPr sz="2400" spc="-10" dirty="0">
                <a:latin typeface="Cambria"/>
                <a:cs typeface="Cambria"/>
              </a:rPr>
              <a:t> </a:t>
            </a:r>
            <a:r>
              <a:rPr sz="2400" spc="-20" dirty="0">
                <a:latin typeface="Cambria"/>
                <a:cs typeface="Cambria"/>
              </a:rPr>
              <a:t>using</a:t>
            </a:r>
            <a:r>
              <a:rPr sz="2400" spc="5" dirty="0">
                <a:latin typeface="Cambria"/>
                <a:cs typeface="Cambria"/>
              </a:rPr>
              <a:t> </a:t>
            </a:r>
            <a:r>
              <a:rPr sz="2400" spc="-10" dirty="0">
                <a:latin typeface="Cambria"/>
                <a:cs typeface="Cambria"/>
              </a:rPr>
              <a:t>exponential</a:t>
            </a:r>
            <a:r>
              <a:rPr sz="2400" spc="-35" dirty="0">
                <a:latin typeface="Cambria"/>
                <a:cs typeface="Cambria"/>
              </a:rPr>
              <a:t> </a:t>
            </a:r>
            <a:r>
              <a:rPr sz="2400" dirty="0">
                <a:latin typeface="Cambria"/>
                <a:cs typeface="Cambria"/>
              </a:rPr>
              <a:t>funct</a:t>
            </a:r>
            <a:r>
              <a:rPr sz="2400" spc="10" dirty="0">
                <a:latin typeface="Cambria"/>
                <a:cs typeface="Cambria"/>
              </a:rPr>
              <a:t>i</a:t>
            </a:r>
            <a:r>
              <a:rPr sz="2400" spc="-5" dirty="0">
                <a:latin typeface="Cambria"/>
                <a:cs typeface="Cambria"/>
              </a:rPr>
              <a:t>o</a:t>
            </a:r>
            <a:r>
              <a:rPr sz="2400" dirty="0">
                <a:latin typeface="Cambria"/>
                <a:cs typeface="Cambria"/>
              </a:rPr>
              <a:t>n.</a:t>
            </a:r>
            <a:endParaRPr sz="2400">
              <a:latin typeface="Cambria"/>
              <a:cs typeface="Cambria"/>
            </a:endParaRPr>
          </a:p>
        </p:txBody>
      </p:sp>
      <p:sp>
        <p:nvSpPr>
          <p:cNvPr id="5" name="TextBox 4">
            <a:extLst>
              <a:ext uri="{FF2B5EF4-FFF2-40B4-BE49-F238E27FC236}">
                <a16:creationId xmlns:a16="http://schemas.microsoft.com/office/drawing/2014/main" id="{71C77893-24C2-53F1-F451-5D0EA75B5F30}"/>
              </a:ext>
            </a:extLst>
          </p:cNvPr>
          <p:cNvSpPr txBox="1"/>
          <p:nvPr/>
        </p:nvSpPr>
        <p:spPr>
          <a:xfrm>
            <a:off x="3612801" y="3657600"/>
            <a:ext cx="7452361" cy="1200329"/>
          </a:xfrm>
          <a:prstGeom prst="rect">
            <a:avLst/>
          </a:prstGeom>
          <a:noFill/>
        </p:spPr>
        <p:txBody>
          <a:bodyPr wrap="square">
            <a:spAutoFit/>
          </a:bodyPr>
          <a:lstStyle/>
          <a:p>
            <a:pPr algn="just"/>
            <a:r>
              <a:rPr lang="en-US" sz="2400" b="1" dirty="0">
                <a:latin typeface="Cambria" panose="02040503050406030204" pitchFamily="18" charset="0"/>
                <a:ea typeface="Cambria" panose="02040503050406030204" pitchFamily="18" charset="0"/>
              </a:rPr>
              <a:t>Strength Reduction:</a:t>
            </a:r>
            <a:r>
              <a:rPr lang="en-US" sz="2400" dirty="0">
                <a:latin typeface="Cambria" panose="02040503050406030204" pitchFamily="18" charset="0"/>
                <a:ea typeface="Cambria" panose="02040503050406030204" pitchFamily="18" charset="0"/>
              </a:rPr>
              <a:t> The operators that consume higher execution time are replaced by the operators consuming less execution time.</a:t>
            </a:r>
            <a:endParaRPr lang="en-IN" sz="2400" dirty="0">
              <a:latin typeface="Cambria" panose="02040503050406030204" pitchFamily="18" charset="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2C1C9EB5-3E19-59FF-460C-E4CB8CA1C6E4}"/>
                  </a:ext>
                </a:extLst>
              </p14:cNvPr>
              <p14:cNvContentPartPr/>
              <p14:nvPr/>
            </p14:nvContentPartPr>
            <p14:xfrm>
              <a:off x="-2115296" y="2306986"/>
              <a:ext cx="20520" cy="57960"/>
            </p14:xfrm>
          </p:contentPart>
        </mc:Choice>
        <mc:Fallback>
          <p:pic>
            <p:nvPicPr>
              <p:cNvPr id="6" name="Ink 5">
                <a:extLst>
                  <a:ext uri="{FF2B5EF4-FFF2-40B4-BE49-F238E27FC236}">
                    <a16:creationId xmlns:a16="http://schemas.microsoft.com/office/drawing/2014/main" id="{2C1C9EB5-3E19-59FF-460C-E4CB8CA1C6E4}"/>
                  </a:ext>
                </a:extLst>
              </p:cNvPr>
              <p:cNvPicPr/>
              <p:nvPr/>
            </p:nvPicPr>
            <p:blipFill>
              <a:blip r:embed="rId3"/>
              <a:stretch>
                <a:fillRect/>
              </a:stretch>
            </p:blipFill>
            <p:spPr>
              <a:xfrm>
                <a:off x="-2121416" y="2300866"/>
                <a:ext cx="32760" cy="702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355725">
              <a:lnSpc>
                <a:spcPts val="3779"/>
              </a:lnSpc>
            </a:pPr>
            <a:r>
              <a:rPr sz="3600" b="1" spc="-65" dirty="0">
                <a:solidFill>
                  <a:srgbClr val="FFFFFF"/>
                </a:solidFill>
                <a:latin typeface="Cambria"/>
                <a:cs typeface="Cambria"/>
              </a:rPr>
              <a:t>Machine </a:t>
            </a:r>
            <a:r>
              <a:rPr sz="3600" b="1" spc="-10" dirty="0">
                <a:solidFill>
                  <a:srgbClr val="FFFFFF"/>
                </a:solidFill>
                <a:latin typeface="Cambria"/>
                <a:cs typeface="Cambria"/>
              </a:rPr>
              <a:t>Idioms</a:t>
            </a:r>
            <a:endParaRPr sz="3600">
              <a:latin typeface="Cambria"/>
              <a:cs typeface="Cambria"/>
            </a:endParaRPr>
          </a:p>
        </p:txBody>
      </p:sp>
      <p:sp>
        <p:nvSpPr>
          <p:cNvPr id="3" name="object 3"/>
          <p:cNvSpPr txBox="1">
            <a:spLocks noGrp="1"/>
          </p:cNvSpPr>
          <p:nvPr>
            <p:ph type="title"/>
          </p:nvPr>
        </p:nvSpPr>
        <p:spPr>
          <a:xfrm>
            <a:off x="3583304" y="753821"/>
            <a:ext cx="1810385" cy="391795"/>
          </a:xfrm>
          <a:prstGeom prst="rect">
            <a:avLst/>
          </a:prstGeom>
        </p:spPr>
        <p:txBody>
          <a:bodyPr vert="horz" wrap="square" lIns="0" tIns="12700" rIns="0" bIns="0" rtlCol="0">
            <a:spAutoFit/>
          </a:bodyPr>
          <a:lstStyle/>
          <a:p>
            <a:pPr marL="12700">
              <a:lnSpc>
                <a:spcPct val="100000"/>
              </a:lnSpc>
              <a:spcBef>
                <a:spcPts val="100"/>
              </a:spcBef>
              <a:tabLst>
                <a:tab pos="1016635" algn="l"/>
              </a:tabLst>
            </a:pPr>
            <a:r>
              <a:rPr spc="-1250" dirty="0">
                <a:solidFill>
                  <a:srgbClr val="40B9D2"/>
                </a:solidFill>
                <a:latin typeface="Arial MT"/>
                <a:cs typeface="Arial MT"/>
              </a:rPr>
              <a:t>🞄</a:t>
            </a:r>
            <a:r>
              <a:rPr spc="-95" dirty="0">
                <a:solidFill>
                  <a:srgbClr val="40B9D2"/>
                </a:solidFill>
                <a:latin typeface="Arial MT"/>
                <a:cs typeface="Arial MT"/>
              </a:rPr>
              <a:t> </a:t>
            </a:r>
            <a:r>
              <a:rPr spc="-25" dirty="0"/>
              <a:t>The</a:t>
            </a:r>
            <a:r>
              <a:rPr dirty="0"/>
              <a:t>	</a:t>
            </a:r>
            <a:r>
              <a:rPr spc="-10" dirty="0"/>
              <a:t>target</a:t>
            </a:r>
          </a:p>
        </p:txBody>
      </p:sp>
      <p:sp>
        <p:nvSpPr>
          <p:cNvPr id="4" name="object 4"/>
          <p:cNvSpPr txBox="1"/>
          <p:nvPr/>
        </p:nvSpPr>
        <p:spPr>
          <a:xfrm>
            <a:off x="5691378" y="753821"/>
            <a:ext cx="5647690" cy="391795"/>
          </a:xfrm>
          <a:prstGeom prst="rect">
            <a:avLst/>
          </a:prstGeom>
        </p:spPr>
        <p:txBody>
          <a:bodyPr vert="horz" wrap="square" lIns="0" tIns="12700" rIns="0" bIns="0" rtlCol="0">
            <a:spAutoFit/>
          </a:bodyPr>
          <a:lstStyle/>
          <a:p>
            <a:pPr marL="12700">
              <a:lnSpc>
                <a:spcPct val="100000"/>
              </a:lnSpc>
              <a:spcBef>
                <a:spcPts val="100"/>
              </a:spcBef>
              <a:tabLst>
                <a:tab pos="1903730" algn="l"/>
                <a:tab pos="2836545" algn="l"/>
                <a:tab pos="4525645" algn="l"/>
              </a:tabLst>
            </a:pPr>
            <a:r>
              <a:rPr sz="2400" spc="-10" dirty="0">
                <a:latin typeface="Cambria"/>
                <a:cs typeface="Cambria"/>
              </a:rPr>
              <a:t>instructions</a:t>
            </a:r>
            <a:r>
              <a:rPr sz="2400" dirty="0">
                <a:latin typeface="Cambria"/>
                <a:cs typeface="Cambria"/>
              </a:rPr>
              <a:t>	</a:t>
            </a:r>
            <a:r>
              <a:rPr sz="2400" spc="-20" dirty="0">
                <a:latin typeface="Cambria"/>
                <a:cs typeface="Cambria"/>
              </a:rPr>
              <a:t>have</a:t>
            </a:r>
            <a:r>
              <a:rPr sz="2400" dirty="0">
                <a:latin typeface="Cambria"/>
                <a:cs typeface="Cambria"/>
              </a:rPr>
              <a:t>	</a:t>
            </a:r>
            <a:r>
              <a:rPr sz="2400" spc="-10" dirty="0">
                <a:latin typeface="Cambria"/>
                <a:cs typeface="Cambria"/>
              </a:rPr>
              <a:t>equivalent</a:t>
            </a:r>
            <a:r>
              <a:rPr sz="2400" dirty="0">
                <a:latin typeface="Cambria"/>
                <a:cs typeface="Cambria"/>
              </a:rPr>
              <a:t>	</a:t>
            </a:r>
            <a:r>
              <a:rPr sz="2400" spc="-10" dirty="0">
                <a:latin typeface="Cambria"/>
                <a:cs typeface="Cambria"/>
              </a:rPr>
              <a:t>machine</a:t>
            </a:r>
            <a:endParaRPr sz="2400">
              <a:latin typeface="Cambria"/>
              <a:cs typeface="Cambria"/>
            </a:endParaRPr>
          </a:p>
        </p:txBody>
      </p:sp>
      <p:sp>
        <p:nvSpPr>
          <p:cNvPr id="5" name="object 5"/>
          <p:cNvSpPr txBox="1"/>
          <p:nvPr/>
        </p:nvSpPr>
        <p:spPr>
          <a:xfrm>
            <a:off x="3766184" y="1083690"/>
            <a:ext cx="58788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instructions</a:t>
            </a:r>
            <a:r>
              <a:rPr sz="2400" spc="-75" dirty="0">
                <a:latin typeface="Cambria"/>
                <a:cs typeface="Cambria"/>
              </a:rPr>
              <a:t> </a:t>
            </a:r>
            <a:r>
              <a:rPr sz="2400" dirty="0">
                <a:latin typeface="Cambria"/>
                <a:cs typeface="Cambria"/>
              </a:rPr>
              <a:t>for</a:t>
            </a:r>
            <a:r>
              <a:rPr sz="2400" spc="-80" dirty="0">
                <a:latin typeface="Cambria"/>
                <a:cs typeface="Cambria"/>
              </a:rPr>
              <a:t> </a:t>
            </a:r>
            <a:r>
              <a:rPr sz="2400" dirty="0">
                <a:latin typeface="Cambria"/>
                <a:cs typeface="Cambria"/>
              </a:rPr>
              <a:t>performing</a:t>
            </a:r>
            <a:r>
              <a:rPr sz="2400" spc="-80" dirty="0">
                <a:latin typeface="Cambria"/>
                <a:cs typeface="Cambria"/>
              </a:rPr>
              <a:t> </a:t>
            </a:r>
            <a:r>
              <a:rPr sz="2400" dirty="0">
                <a:latin typeface="Cambria"/>
                <a:cs typeface="Cambria"/>
              </a:rPr>
              <a:t>some</a:t>
            </a:r>
            <a:r>
              <a:rPr sz="2400" spc="-45" dirty="0">
                <a:latin typeface="Cambria"/>
                <a:cs typeface="Cambria"/>
              </a:rPr>
              <a:t> </a:t>
            </a:r>
            <a:r>
              <a:rPr sz="2400" spc="-10" dirty="0">
                <a:latin typeface="Cambria"/>
                <a:cs typeface="Cambria"/>
              </a:rPr>
              <a:t>operations.</a:t>
            </a:r>
            <a:endParaRPr sz="2400">
              <a:latin typeface="Cambria"/>
              <a:cs typeface="Cambria"/>
            </a:endParaRPr>
          </a:p>
        </p:txBody>
      </p:sp>
      <p:sp>
        <p:nvSpPr>
          <p:cNvPr id="6" name="object 6"/>
          <p:cNvSpPr txBox="1"/>
          <p:nvPr/>
        </p:nvSpPr>
        <p:spPr>
          <a:xfrm>
            <a:off x="3583304" y="1565275"/>
            <a:ext cx="7753350" cy="1050290"/>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Hence</a:t>
            </a:r>
            <a:r>
              <a:rPr sz="2400" spc="1245" dirty="0">
                <a:latin typeface="Cambria"/>
                <a:cs typeface="Cambria"/>
              </a:rPr>
              <a:t> </a:t>
            </a:r>
            <a:r>
              <a:rPr sz="2400" spc="-35" dirty="0">
                <a:latin typeface="Cambria"/>
                <a:cs typeface="Cambria"/>
              </a:rPr>
              <a:t>we</a:t>
            </a:r>
            <a:r>
              <a:rPr sz="2400" spc="1255" dirty="0">
                <a:latin typeface="Cambria"/>
                <a:cs typeface="Cambria"/>
              </a:rPr>
              <a:t> </a:t>
            </a:r>
            <a:r>
              <a:rPr sz="2400" spc="-20" dirty="0">
                <a:latin typeface="Cambria"/>
                <a:cs typeface="Cambria"/>
              </a:rPr>
              <a:t>can</a:t>
            </a:r>
            <a:r>
              <a:rPr sz="2400" spc="1245" dirty="0">
                <a:latin typeface="Cambria"/>
                <a:cs typeface="Cambria"/>
              </a:rPr>
              <a:t> </a:t>
            </a:r>
            <a:r>
              <a:rPr sz="2400" spc="-20" dirty="0">
                <a:latin typeface="Cambria"/>
                <a:cs typeface="Cambria"/>
              </a:rPr>
              <a:t>replace</a:t>
            </a:r>
            <a:r>
              <a:rPr sz="2400" spc="1245" dirty="0">
                <a:latin typeface="Cambria"/>
                <a:cs typeface="Cambria"/>
              </a:rPr>
              <a:t> </a:t>
            </a:r>
            <a:r>
              <a:rPr sz="2400" spc="-15" dirty="0">
                <a:latin typeface="Cambria"/>
                <a:cs typeface="Cambria"/>
              </a:rPr>
              <a:t>these</a:t>
            </a:r>
            <a:r>
              <a:rPr sz="2400" spc="1250" dirty="0">
                <a:latin typeface="Cambria"/>
                <a:cs typeface="Cambria"/>
              </a:rPr>
              <a:t> </a:t>
            </a:r>
            <a:r>
              <a:rPr sz="2400" spc="-10" dirty="0">
                <a:latin typeface="Cambria"/>
                <a:cs typeface="Cambria"/>
              </a:rPr>
              <a:t>target</a:t>
            </a:r>
            <a:r>
              <a:rPr sz="2400" spc="1230" dirty="0">
                <a:latin typeface="Cambria"/>
                <a:cs typeface="Cambria"/>
              </a:rPr>
              <a:t> </a:t>
            </a:r>
            <a:r>
              <a:rPr sz="2400" spc="-10" dirty="0">
                <a:latin typeface="Cambria"/>
                <a:cs typeface="Cambria"/>
              </a:rPr>
              <a:t>instructions</a:t>
            </a:r>
            <a:r>
              <a:rPr sz="2400" spc="1230" dirty="0">
                <a:latin typeface="Cambria"/>
                <a:cs typeface="Cambria"/>
              </a:rPr>
              <a:t> </a:t>
            </a:r>
            <a:r>
              <a:rPr sz="2400" spc="-130" dirty="0">
                <a:latin typeface="Cambria"/>
                <a:cs typeface="Cambria"/>
              </a:rPr>
              <a:t>by</a:t>
            </a:r>
            <a:r>
              <a:rPr sz="2400" spc="-55" dirty="0">
                <a:latin typeface="Cambria"/>
                <a:cs typeface="Cambria"/>
              </a:rPr>
              <a:t> </a:t>
            </a:r>
            <a:r>
              <a:rPr sz="2400" spc="-20" dirty="0">
                <a:latin typeface="Cambria"/>
                <a:cs typeface="Cambria"/>
              </a:rPr>
              <a:t>equivalent</a:t>
            </a:r>
            <a:r>
              <a:rPr sz="2400" spc="455" dirty="0">
                <a:latin typeface="Cambria"/>
                <a:cs typeface="Cambria"/>
              </a:rPr>
              <a:t> </a:t>
            </a:r>
            <a:r>
              <a:rPr sz="2400" spc="-10" dirty="0">
                <a:latin typeface="Cambria"/>
                <a:cs typeface="Cambria"/>
              </a:rPr>
              <a:t>machine</a:t>
            </a:r>
            <a:r>
              <a:rPr sz="2400" spc="445" dirty="0">
                <a:latin typeface="Cambria"/>
                <a:cs typeface="Cambria"/>
              </a:rPr>
              <a:t> </a:t>
            </a:r>
            <a:r>
              <a:rPr sz="2400" dirty="0">
                <a:latin typeface="Cambria"/>
                <a:cs typeface="Cambria"/>
              </a:rPr>
              <a:t>instru</a:t>
            </a:r>
            <a:r>
              <a:rPr sz="2400" spc="-10" dirty="0">
                <a:latin typeface="Cambria"/>
                <a:cs typeface="Cambria"/>
              </a:rPr>
              <a:t>c</a:t>
            </a:r>
            <a:r>
              <a:rPr sz="2400" dirty="0">
                <a:latin typeface="Cambria"/>
                <a:cs typeface="Cambria"/>
              </a:rPr>
              <a:t>t</a:t>
            </a:r>
            <a:r>
              <a:rPr sz="2400" spc="5" dirty="0">
                <a:latin typeface="Cambria"/>
                <a:cs typeface="Cambria"/>
              </a:rPr>
              <a:t>i</a:t>
            </a:r>
            <a:r>
              <a:rPr sz="2400" spc="-5" dirty="0">
                <a:latin typeface="Cambria"/>
                <a:cs typeface="Cambria"/>
              </a:rPr>
              <a:t>o</a:t>
            </a:r>
            <a:r>
              <a:rPr sz="2400" dirty="0">
                <a:latin typeface="Cambria"/>
                <a:cs typeface="Cambria"/>
              </a:rPr>
              <a:t>n</a:t>
            </a:r>
            <a:r>
              <a:rPr sz="2400" spc="455" dirty="0">
                <a:latin typeface="Cambria"/>
                <a:cs typeface="Cambria"/>
              </a:rPr>
              <a:t> </a:t>
            </a:r>
            <a:r>
              <a:rPr sz="2400" spc="-10" dirty="0">
                <a:latin typeface="Cambria"/>
                <a:cs typeface="Cambria"/>
              </a:rPr>
              <a:t>i</a:t>
            </a:r>
            <a:r>
              <a:rPr sz="2400" dirty="0">
                <a:latin typeface="Cambria"/>
                <a:cs typeface="Cambria"/>
              </a:rPr>
              <a:t>n</a:t>
            </a:r>
            <a:r>
              <a:rPr sz="2400" spc="465" dirty="0">
                <a:latin typeface="Cambria"/>
                <a:cs typeface="Cambria"/>
              </a:rPr>
              <a:t> </a:t>
            </a:r>
            <a:r>
              <a:rPr sz="2400" spc="-15" dirty="0">
                <a:latin typeface="Cambria"/>
                <a:cs typeface="Cambria"/>
              </a:rPr>
              <a:t>order</a:t>
            </a:r>
            <a:r>
              <a:rPr sz="2400" spc="465" dirty="0">
                <a:latin typeface="Cambria"/>
                <a:cs typeface="Cambria"/>
              </a:rPr>
              <a:t> </a:t>
            </a:r>
            <a:r>
              <a:rPr sz="2400" spc="-20" dirty="0">
                <a:latin typeface="Cambria"/>
                <a:cs typeface="Cambria"/>
              </a:rPr>
              <a:t>t</a:t>
            </a:r>
            <a:r>
              <a:rPr sz="2400" dirty="0">
                <a:latin typeface="Cambria"/>
                <a:cs typeface="Cambria"/>
              </a:rPr>
              <a:t>o</a:t>
            </a:r>
            <a:r>
              <a:rPr sz="2400" spc="445" dirty="0">
                <a:latin typeface="Cambria"/>
                <a:cs typeface="Cambria"/>
              </a:rPr>
              <a:t> </a:t>
            </a:r>
            <a:r>
              <a:rPr sz="2400" spc="-25" dirty="0">
                <a:latin typeface="Cambria"/>
                <a:cs typeface="Cambria"/>
              </a:rPr>
              <a:t>improve</a:t>
            </a:r>
            <a:r>
              <a:rPr sz="2400" spc="465" dirty="0">
                <a:latin typeface="Cambria"/>
                <a:cs typeface="Cambria"/>
              </a:rPr>
              <a:t> </a:t>
            </a:r>
            <a:r>
              <a:rPr sz="2400" spc="-15" dirty="0">
                <a:latin typeface="Cambria"/>
                <a:cs typeface="Cambria"/>
              </a:rPr>
              <a:t>the</a:t>
            </a:r>
            <a:r>
              <a:rPr sz="2400" spc="-10" dirty="0">
                <a:latin typeface="Cambria"/>
                <a:cs typeface="Cambria"/>
              </a:rPr>
              <a:t> </a:t>
            </a:r>
            <a:r>
              <a:rPr sz="2400" spc="-30" dirty="0">
                <a:latin typeface="Cambria"/>
                <a:cs typeface="Cambria"/>
              </a:rPr>
              <a:t>efficiency.</a:t>
            </a:r>
            <a:endParaRPr sz="2400">
              <a:latin typeface="Cambria"/>
              <a:cs typeface="Cambria"/>
            </a:endParaRPr>
          </a:p>
        </p:txBody>
      </p:sp>
      <p:sp>
        <p:nvSpPr>
          <p:cNvPr id="7" name="object 7"/>
          <p:cNvSpPr txBox="1"/>
          <p:nvPr/>
        </p:nvSpPr>
        <p:spPr>
          <a:xfrm>
            <a:off x="3583304" y="2705480"/>
            <a:ext cx="7755255" cy="1531620"/>
          </a:xfrm>
          <a:prstGeom prst="rect">
            <a:avLst/>
          </a:prstGeom>
        </p:spPr>
        <p:txBody>
          <a:bodyPr vert="horz" wrap="square" lIns="0" tIns="53975" rIns="0" bIns="0" rtlCol="0">
            <a:spAutoFit/>
          </a:bodyPr>
          <a:lstStyle/>
          <a:p>
            <a:pPr marL="195580"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Example</a:t>
            </a:r>
            <a:r>
              <a:rPr sz="2400" spc="10" dirty="0">
                <a:latin typeface="Cambria"/>
                <a:cs typeface="Cambria"/>
              </a:rPr>
              <a:t> </a:t>
            </a:r>
            <a:r>
              <a:rPr sz="2400" dirty="0">
                <a:latin typeface="Cambria"/>
                <a:cs typeface="Cambria"/>
              </a:rPr>
              <a:t>:</a:t>
            </a:r>
            <a:r>
              <a:rPr sz="2400" spc="65" dirty="0">
                <a:latin typeface="Cambria"/>
                <a:cs typeface="Cambria"/>
              </a:rPr>
              <a:t> </a:t>
            </a:r>
            <a:r>
              <a:rPr sz="2400" dirty="0">
                <a:latin typeface="Cambria"/>
                <a:cs typeface="Cambria"/>
              </a:rPr>
              <a:t>Some</a:t>
            </a:r>
            <a:r>
              <a:rPr sz="2400" spc="80" dirty="0">
                <a:latin typeface="Cambria"/>
                <a:cs typeface="Cambria"/>
              </a:rPr>
              <a:t> </a:t>
            </a:r>
            <a:r>
              <a:rPr sz="2400" dirty="0">
                <a:latin typeface="Cambria"/>
                <a:cs typeface="Cambria"/>
              </a:rPr>
              <a:t>machines</a:t>
            </a:r>
            <a:r>
              <a:rPr sz="2400" spc="70" dirty="0">
                <a:latin typeface="Cambria"/>
                <a:cs typeface="Cambria"/>
              </a:rPr>
              <a:t> </a:t>
            </a:r>
            <a:r>
              <a:rPr sz="2400" dirty="0">
                <a:latin typeface="Cambria"/>
                <a:cs typeface="Cambria"/>
              </a:rPr>
              <a:t>have</a:t>
            </a:r>
            <a:r>
              <a:rPr sz="2400" spc="75" dirty="0">
                <a:latin typeface="Cambria"/>
                <a:cs typeface="Cambria"/>
              </a:rPr>
              <a:t> </a:t>
            </a:r>
            <a:r>
              <a:rPr sz="2400" spc="-25" dirty="0">
                <a:latin typeface="Cambria"/>
                <a:cs typeface="Cambria"/>
              </a:rPr>
              <a:t>auto-</a:t>
            </a:r>
            <a:r>
              <a:rPr sz="2400" dirty="0">
                <a:latin typeface="Cambria"/>
                <a:cs typeface="Cambria"/>
              </a:rPr>
              <a:t>increment</a:t>
            </a:r>
            <a:r>
              <a:rPr sz="2400" spc="80" dirty="0">
                <a:latin typeface="Cambria"/>
                <a:cs typeface="Cambria"/>
              </a:rPr>
              <a:t> </a:t>
            </a:r>
            <a:r>
              <a:rPr sz="2400" dirty="0">
                <a:latin typeface="Cambria"/>
                <a:cs typeface="Cambria"/>
              </a:rPr>
              <a:t>and</a:t>
            </a:r>
            <a:r>
              <a:rPr sz="2400" spc="65" dirty="0">
                <a:latin typeface="Cambria"/>
                <a:cs typeface="Cambria"/>
              </a:rPr>
              <a:t> </a:t>
            </a:r>
            <a:r>
              <a:rPr sz="2400" spc="-10" dirty="0">
                <a:latin typeface="Cambria"/>
                <a:cs typeface="Cambria"/>
              </a:rPr>
              <a:t>auto- decrement</a:t>
            </a:r>
            <a:r>
              <a:rPr sz="2400" spc="-50" dirty="0">
                <a:latin typeface="Cambria"/>
                <a:cs typeface="Cambria"/>
              </a:rPr>
              <a:t> </a:t>
            </a:r>
            <a:r>
              <a:rPr sz="2400" spc="-10" dirty="0">
                <a:latin typeface="Cambria"/>
                <a:cs typeface="Cambria"/>
              </a:rPr>
              <a:t>addressing</a:t>
            </a:r>
            <a:r>
              <a:rPr sz="2400" spc="-55" dirty="0">
                <a:latin typeface="Cambria"/>
                <a:cs typeface="Cambria"/>
              </a:rPr>
              <a:t> </a:t>
            </a:r>
            <a:r>
              <a:rPr sz="2400" spc="-10" dirty="0">
                <a:latin typeface="Cambria"/>
                <a:cs typeface="Cambria"/>
              </a:rPr>
              <a:t>modes.</a:t>
            </a:r>
            <a:endParaRPr sz="2400">
              <a:latin typeface="Cambria"/>
              <a:cs typeface="Cambria"/>
            </a:endParaRPr>
          </a:p>
          <a:p>
            <a:pPr marL="195580" marR="7620" indent="-182880">
              <a:lnSpc>
                <a:spcPts val="2590"/>
              </a:lnSpc>
              <a:spcBef>
                <a:spcPts val="1210"/>
              </a:spcBef>
              <a:tabLst>
                <a:tab pos="1106805" algn="l"/>
                <a:tab pos="2105025" algn="l"/>
                <a:tab pos="2691765" algn="l"/>
                <a:tab pos="3138170" algn="l"/>
                <a:tab pos="3888104" algn="l"/>
                <a:tab pos="4277360" algn="l"/>
                <a:tab pos="5024120" algn="l"/>
                <a:tab pos="5532755" algn="l"/>
                <a:tab pos="6084570" algn="l"/>
                <a:tab pos="765937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These</a:t>
            </a:r>
            <a:r>
              <a:rPr sz="2400" dirty="0">
                <a:latin typeface="Cambria"/>
                <a:cs typeface="Cambria"/>
              </a:rPr>
              <a:t>	</a:t>
            </a:r>
            <a:r>
              <a:rPr sz="2400" spc="-20" dirty="0">
                <a:latin typeface="Cambria"/>
                <a:cs typeface="Cambria"/>
              </a:rPr>
              <a:t>modes</a:t>
            </a:r>
            <a:r>
              <a:rPr sz="2400" dirty="0">
                <a:latin typeface="Cambria"/>
                <a:cs typeface="Cambria"/>
              </a:rPr>
              <a:t>	</a:t>
            </a:r>
            <a:r>
              <a:rPr sz="2400" spc="-25" dirty="0">
                <a:latin typeface="Cambria"/>
                <a:cs typeface="Cambria"/>
              </a:rPr>
              <a:t>can</a:t>
            </a:r>
            <a:r>
              <a:rPr sz="2400" dirty="0">
                <a:latin typeface="Cambria"/>
                <a:cs typeface="Cambria"/>
              </a:rPr>
              <a:t>	</a:t>
            </a:r>
            <a:r>
              <a:rPr sz="2400" spc="-25" dirty="0">
                <a:latin typeface="Cambria"/>
                <a:cs typeface="Cambria"/>
              </a:rPr>
              <a:t>be</a:t>
            </a:r>
            <a:r>
              <a:rPr sz="2400" dirty="0">
                <a:latin typeface="Cambria"/>
                <a:cs typeface="Cambria"/>
              </a:rPr>
              <a:t>	</a:t>
            </a:r>
            <a:r>
              <a:rPr sz="2400" spc="-20" dirty="0">
                <a:latin typeface="Cambria"/>
                <a:cs typeface="Cambria"/>
              </a:rPr>
              <a:t>used</a:t>
            </a:r>
            <a:r>
              <a:rPr sz="2400" dirty="0">
                <a:latin typeface="Cambria"/>
                <a:cs typeface="Cambria"/>
              </a:rPr>
              <a:t>	</a:t>
            </a:r>
            <a:r>
              <a:rPr sz="2400" spc="-25" dirty="0">
                <a:latin typeface="Cambria"/>
                <a:cs typeface="Cambria"/>
              </a:rPr>
              <a:t>in</a:t>
            </a:r>
            <a:r>
              <a:rPr sz="2400" dirty="0">
                <a:latin typeface="Cambria"/>
                <a:cs typeface="Cambria"/>
              </a:rPr>
              <a:t>	</a:t>
            </a:r>
            <a:r>
              <a:rPr sz="2400" spc="-20" dirty="0">
                <a:latin typeface="Cambria"/>
                <a:cs typeface="Cambria"/>
              </a:rPr>
              <a:t>code</a:t>
            </a:r>
            <a:r>
              <a:rPr sz="2400" dirty="0">
                <a:latin typeface="Cambria"/>
                <a:cs typeface="Cambria"/>
              </a:rPr>
              <a:t>	</a:t>
            </a:r>
            <a:r>
              <a:rPr sz="2400" spc="-25" dirty="0">
                <a:latin typeface="Cambria"/>
                <a:cs typeface="Cambria"/>
              </a:rPr>
              <a:t>for</a:t>
            </a:r>
            <a:r>
              <a:rPr sz="24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statements</a:t>
            </a:r>
            <a:r>
              <a:rPr sz="2400" dirty="0">
                <a:latin typeface="Cambria"/>
                <a:cs typeface="Cambria"/>
              </a:rPr>
              <a:t>	</a:t>
            </a:r>
            <a:r>
              <a:rPr sz="2400" spc="-50" dirty="0">
                <a:latin typeface="Cambria"/>
                <a:cs typeface="Cambria"/>
              </a:rPr>
              <a:t>: </a:t>
            </a:r>
            <a:r>
              <a:rPr sz="2400" dirty="0">
                <a:latin typeface="Cambria"/>
                <a:cs typeface="Cambria"/>
              </a:rPr>
              <a:t>i=i+1</a:t>
            </a:r>
            <a:r>
              <a:rPr sz="2400" spc="-30" dirty="0">
                <a:latin typeface="Cambria"/>
                <a:cs typeface="Cambria"/>
              </a:rPr>
              <a:t> </a:t>
            </a:r>
            <a:r>
              <a:rPr sz="2400" dirty="0">
                <a:latin typeface="Cambria"/>
                <a:cs typeface="Cambria"/>
              </a:rPr>
              <a:t>or</a:t>
            </a:r>
            <a:r>
              <a:rPr sz="2400" spc="25" dirty="0">
                <a:latin typeface="Cambria"/>
                <a:cs typeface="Cambria"/>
              </a:rPr>
              <a:t> </a:t>
            </a:r>
            <a:r>
              <a:rPr sz="2400" spc="-10" dirty="0">
                <a:latin typeface="Cambria"/>
                <a:cs typeface="Cambria"/>
              </a:rPr>
              <a:t>i=i-</a:t>
            </a:r>
            <a:r>
              <a:rPr sz="2400" spc="-25" dirty="0">
                <a:latin typeface="Cambria"/>
                <a:cs typeface="Cambria"/>
              </a:rPr>
              <a:t>1.</a:t>
            </a:r>
            <a:endParaRPr sz="2400">
              <a:latin typeface="Cambria"/>
              <a:cs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7D45-89F3-4982-96EB-9913BCB8D4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6040CA-568F-5A8C-8837-0EAEA09DA711}"/>
              </a:ext>
            </a:extLst>
          </p:cNvPr>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701675">
              <a:lnSpc>
                <a:spcPts val="3779"/>
              </a:lnSpc>
            </a:pPr>
            <a:r>
              <a:rPr sz="3600" b="1" spc="-65" dirty="0">
                <a:solidFill>
                  <a:srgbClr val="FFFFFF"/>
                </a:solidFill>
                <a:latin typeface="Cambria"/>
                <a:cs typeface="Cambria"/>
              </a:rPr>
              <a:t>Dead</a:t>
            </a:r>
            <a:r>
              <a:rPr sz="3600" b="1" spc="-125" dirty="0">
                <a:solidFill>
                  <a:srgbClr val="FFFFFF"/>
                </a:solidFill>
                <a:latin typeface="Cambria"/>
                <a:cs typeface="Cambria"/>
              </a:rPr>
              <a:t> </a:t>
            </a:r>
            <a:r>
              <a:rPr sz="3600" b="1" spc="-20" dirty="0">
                <a:solidFill>
                  <a:srgbClr val="FFFFFF"/>
                </a:solidFill>
                <a:latin typeface="Cambria"/>
                <a:cs typeface="Cambria"/>
              </a:rPr>
              <a:t>Code </a:t>
            </a:r>
            <a:r>
              <a:rPr sz="3600" b="1" spc="-65" dirty="0">
                <a:solidFill>
                  <a:srgbClr val="FFFFFF"/>
                </a:solidFill>
                <a:latin typeface="Cambria"/>
                <a:cs typeface="Cambria"/>
              </a:rPr>
              <a:t>Elimination</a:t>
            </a:r>
            <a:endParaRPr sz="3600">
              <a:latin typeface="Cambria"/>
              <a:cs typeface="Cambria"/>
            </a:endParaRPr>
          </a:p>
        </p:txBody>
      </p:sp>
      <p:sp>
        <p:nvSpPr>
          <p:cNvPr id="3" name="object 3">
            <a:extLst>
              <a:ext uri="{FF2B5EF4-FFF2-40B4-BE49-F238E27FC236}">
                <a16:creationId xmlns:a16="http://schemas.microsoft.com/office/drawing/2014/main" id="{13A40AB6-2FF9-D5C1-000D-72AB7D6A53FE}"/>
              </a:ext>
            </a:extLst>
          </p:cNvPr>
          <p:cNvSpPr txBox="1">
            <a:spLocks noGrp="1"/>
          </p:cNvSpPr>
          <p:nvPr>
            <p:ph type="title"/>
          </p:nvPr>
        </p:nvSpPr>
        <p:spPr>
          <a:xfrm>
            <a:off x="3553714" y="753821"/>
            <a:ext cx="7753350"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The</a:t>
            </a:r>
            <a:r>
              <a:rPr spc="80" dirty="0"/>
              <a:t> </a:t>
            </a:r>
            <a:r>
              <a:rPr dirty="0"/>
              <a:t>variable</a:t>
            </a:r>
            <a:r>
              <a:rPr spc="125" dirty="0"/>
              <a:t> </a:t>
            </a:r>
            <a:r>
              <a:rPr dirty="0"/>
              <a:t>is</a:t>
            </a:r>
            <a:r>
              <a:rPr spc="114" dirty="0"/>
              <a:t> </a:t>
            </a:r>
            <a:r>
              <a:rPr dirty="0"/>
              <a:t>said</a:t>
            </a:r>
            <a:r>
              <a:rPr spc="114" dirty="0"/>
              <a:t> </a:t>
            </a:r>
            <a:r>
              <a:rPr dirty="0"/>
              <a:t>to</a:t>
            </a:r>
            <a:r>
              <a:rPr spc="120" dirty="0"/>
              <a:t> </a:t>
            </a:r>
            <a:r>
              <a:rPr dirty="0"/>
              <a:t>be</a:t>
            </a:r>
            <a:r>
              <a:rPr spc="120" dirty="0"/>
              <a:t> </a:t>
            </a:r>
            <a:r>
              <a:rPr dirty="0"/>
              <a:t>Dead</a:t>
            </a:r>
            <a:r>
              <a:rPr spc="110" dirty="0"/>
              <a:t> </a:t>
            </a:r>
            <a:r>
              <a:rPr dirty="0"/>
              <a:t>at</a:t>
            </a:r>
            <a:r>
              <a:rPr spc="130" dirty="0"/>
              <a:t> </a:t>
            </a:r>
            <a:r>
              <a:rPr dirty="0"/>
              <a:t>a</a:t>
            </a:r>
            <a:r>
              <a:rPr spc="130" dirty="0"/>
              <a:t> </a:t>
            </a:r>
            <a:r>
              <a:rPr dirty="0"/>
              <a:t>point</a:t>
            </a:r>
            <a:r>
              <a:rPr spc="114" dirty="0"/>
              <a:t> </a:t>
            </a:r>
            <a:r>
              <a:rPr dirty="0"/>
              <a:t>in</a:t>
            </a:r>
            <a:r>
              <a:rPr spc="125" dirty="0"/>
              <a:t> </a:t>
            </a:r>
            <a:r>
              <a:rPr dirty="0"/>
              <a:t>a</a:t>
            </a:r>
            <a:r>
              <a:rPr spc="114" dirty="0"/>
              <a:t> </a:t>
            </a:r>
            <a:r>
              <a:rPr dirty="0"/>
              <a:t>program,</a:t>
            </a:r>
            <a:r>
              <a:rPr spc="105" dirty="0"/>
              <a:t> </a:t>
            </a:r>
            <a:r>
              <a:rPr spc="-25" dirty="0"/>
              <a:t>if</a:t>
            </a:r>
          </a:p>
        </p:txBody>
      </p:sp>
      <p:sp>
        <p:nvSpPr>
          <p:cNvPr id="4" name="object 4">
            <a:extLst>
              <a:ext uri="{FF2B5EF4-FFF2-40B4-BE49-F238E27FC236}">
                <a16:creationId xmlns:a16="http://schemas.microsoft.com/office/drawing/2014/main" id="{8FA199C0-0DD8-8EA4-E54B-55466588E93D}"/>
              </a:ext>
            </a:extLst>
          </p:cNvPr>
          <p:cNvSpPr txBox="1"/>
          <p:nvPr/>
        </p:nvSpPr>
        <p:spPr>
          <a:xfrm>
            <a:off x="3553714" y="967866"/>
            <a:ext cx="7754620" cy="4208145"/>
          </a:xfrm>
          <a:prstGeom prst="rect">
            <a:avLst/>
          </a:prstGeom>
        </p:spPr>
        <p:txBody>
          <a:bodyPr vert="horz" wrap="square" lIns="0" tIns="128270" rIns="0" bIns="0" rtlCol="0">
            <a:spAutoFit/>
          </a:bodyPr>
          <a:lstStyle/>
          <a:p>
            <a:pPr marL="195580">
              <a:lnSpc>
                <a:spcPct val="100000"/>
              </a:lnSpc>
              <a:spcBef>
                <a:spcPts val="1010"/>
              </a:spcBef>
            </a:pPr>
            <a:r>
              <a:rPr sz="2400" dirty="0">
                <a:latin typeface="Cambria"/>
                <a:cs typeface="Cambria"/>
              </a:rPr>
              <a:t>the</a:t>
            </a:r>
            <a:r>
              <a:rPr sz="2400" spc="-60" dirty="0">
                <a:latin typeface="Cambria"/>
                <a:cs typeface="Cambria"/>
              </a:rPr>
              <a:t> </a:t>
            </a:r>
            <a:r>
              <a:rPr sz="2400" dirty="0">
                <a:latin typeface="Cambria"/>
                <a:cs typeface="Cambria"/>
              </a:rPr>
              <a:t>value</a:t>
            </a:r>
            <a:r>
              <a:rPr sz="2400" spc="-60" dirty="0">
                <a:latin typeface="Cambria"/>
                <a:cs typeface="Cambria"/>
              </a:rPr>
              <a:t> </a:t>
            </a:r>
            <a:r>
              <a:rPr sz="2400" dirty="0">
                <a:latin typeface="Cambria"/>
                <a:cs typeface="Cambria"/>
              </a:rPr>
              <a:t>contained</a:t>
            </a:r>
            <a:r>
              <a:rPr sz="2400" spc="-70" dirty="0">
                <a:latin typeface="Cambria"/>
                <a:cs typeface="Cambria"/>
              </a:rPr>
              <a:t> </a:t>
            </a:r>
            <a:r>
              <a:rPr sz="2400" dirty="0">
                <a:latin typeface="Cambria"/>
                <a:cs typeface="Cambria"/>
              </a:rPr>
              <a:t>into</a:t>
            </a:r>
            <a:r>
              <a:rPr sz="2400" spc="-75" dirty="0">
                <a:latin typeface="Cambria"/>
                <a:cs typeface="Cambria"/>
              </a:rPr>
              <a:t> </a:t>
            </a:r>
            <a:r>
              <a:rPr sz="2400" dirty="0">
                <a:latin typeface="Cambria"/>
                <a:cs typeface="Cambria"/>
              </a:rPr>
              <a:t>it</a:t>
            </a:r>
            <a:r>
              <a:rPr sz="2400" spc="-65" dirty="0">
                <a:latin typeface="Cambria"/>
                <a:cs typeface="Cambria"/>
              </a:rPr>
              <a:t> </a:t>
            </a:r>
            <a:r>
              <a:rPr sz="2400" dirty="0">
                <a:latin typeface="Cambria"/>
                <a:cs typeface="Cambria"/>
              </a:rPr>
              <a:t>is</a:t>
            </a:r>
            <a:r>
              <a:rPr sz="2400" spc="-70" dirty="0">
                <a:latin typeface="Cambria"/>
                <a:cs typeface="Cambria"/>
              </a:rPr>
              <a:t> </a:t>
            </a:r>
            <a:r>
              <a:rPr sz="2400" dirty="0">
                <a:latin typeface="Cambria"/>
                <a:cs typeface="Cambria"/>
              </a:rPr>
              <a:t>never</a:t>
            </a:r>
            <a:r>
              <a:rPr sz="2400" spc="-70" dirty="0">
                <a:latin typeface="Cambria"/>
                <a:cs typeface="Cambria"/>
              </a:rPr>
              <a:t> </a:t>
            </a:r>
            <a:r>
              <a:rPr sz="2400" dirty="0">
                <a:latin typeface="Cambria"/>
                <a:cs typeface="Cambria"/>
              </a:rPr>
              <a:t>been</a:t>
            </a:r>
            <a:r>
              <a:rPr sz="2400" spc="-65" dirty="0">
                <a:latin typeface="Cambria"/>
                <a:cs typeface="Cambria"/>
              </a:rPr>
              <a:t> </a:t>
            </a:r>
            <a:r>
              <a:rPr sz="2400" spc="-10" dirty="0">
                <a:latin typeface="Cambria"/>
                <a:cs typeface="Cambria"/>
              </a:rPr>
              <a:t>used.</a:t>
            </a:r>
            <a:endParaRPr sz="2400" dirty="0">
              <a:latin typeface="Cambria"/>
              <a:cs typeface="Cambria"/>
            </a:endParaRPr>
          </a:p>
          <a:p>
            <a:pPr marL="195580" marR="5080" indent="-182880">
              <a:lnSpc>
                <a:spcPts val="2590"/>
              </a:lnSpc>
              <a:spcBef>
                <a:spcPts val="1240"/>
              </a:spcBef>
              <a:tabLst>
                <a:tab pos="1748789" algn="l"/>
                <a:tab pos="2498090" algn="l"/>
                <a:tab pos="3158490" algn="l"/>
                <a:tab pos="3746500" algn="l"/>
                <a:tab pos="4316730" algn="l"/>
                <a:tab pos="4766310" algn="l"/>
                <a:tab pos="5942965" algn="l"/>
                <a:tab pos="6365240" algn="l"/>
                <a:tab pos="732091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Eliminated</a:t>
            </a:r>
            <a:r>
              <a:rPr sz="2400" dirty="0">
                <a:latin typeface="Cambria"/>
                <a:cs typeface="Cambria"/>
              </a:rPr>
              <a:t>	</a:t>
            </a:r>
            <a:r>
              <a:rPr sz="2400" spc="-20" dirty="0">
                <a:latin typeface="Cambria"/>
                <a:cs typeface="Cambria"/>
              </a:rPr>
              <a:t>code</a:t>
            </a:r>
            <a:r>
              <a:rPr sz="2400" dirty="0">
                <a:latin typeface="Cambria"/>
                <a:cs typeface="Cambria"/>
              </a:rPr>
              <a:t>	</a:t>
            </a:r>
            <a:r>
              <a:rPr sz="2400" spc="-20" dirty="0">
                <a:latin typeface="Cambria"/>
                <a:cs typeface="Cambria"/>
              </a:rPr>
              <a:t>that</a:t>
            </a:r>
            <a:r>
              <a:rPr sz="2400" dirty="0">
                <a:latin typeface="Cambria"/>
                <a:cs typeface="Cambria"/>
              </a:rPr>
              <a:t>	</a:t>
            </a:r>
            <a:r>
              <a:rPr sz="2400" spc="-25" dirty="0">
                <a:latin typeface="Cambria"/>
                <a:cs typeface="Cambria"/>
              </a:rPr>
              <a:t>can</a:t>
            </a:r>
            <a:r>
              <a:rPr sz="2400" dirty="0">
                <a:latin typeface="Cambria"/>
                <a:cs typeface="Cambria"/>
              </a:rPr>
              <a:t>	</a:t>
            </a:r>
            <a:r>
              <a:rPr sz="2400" spc="-25" dirty="0">
                <a:latin typeface="Cambria"/>
                <a:cs typeface="Cambria"/>
              </a:rPr>
              <a:t>not</a:t>
            </a:r>
            <a:r>
              <a:rPr sz="2400" dirty="0">
                <a:latin typeface="Cambria"/>
                <a:cs typeface="Cambria"/>
              </a:rPr>
              <a:t>	</a:t>
            </a:r>
            <a:r>
              <a:rPr sz="2400" spc="-25" dirty="0">
                <a:latin typeface="Cambria"/>
                <a:cs typeface="Cambria"/>
              </a:rPr>
              <a:t>be</a:t>
            </a:r>
            <a:r>
              <a:rPr sz="2400" dirty="0">
                <a:latin typeface="Cambria"/>
                <a:cs typeface="Cambria"/>
              </a:rPr>
              <a:t>	</a:t>
            </a:r>
            <a:r>
              <a:rPr sz="2400" spc="-10" dirty="0">
                <a:latin typeface="Cambria"/>
                <a:cs typeface="Cambria"/>
              </a:rPr>
              <a:t>reached</a:t>
            </a:r>
            <a:r>
              <a:rPr sz="2400" dirty="0">
                <a:latin typeface="Cambria"/>
                <a:cs typeface="Cambria"/>
              </a:rPr>
              <a:t>	</a:t>
            </a:r>
            <a:r>
              <a:rPr sz="2400" spc="-25" dirty="0">
                <a:latin typeface="Cambria"/>
                <a:cs typeface="Cambria"/>
              </a:rPr>
              <a:t>or</a:t>
            </a:r>
            <a:r>
              <a:rPr sz="2400" dirty="0">
                <a:latin typeface="Cambria"/>
                <a:cs typeface="Cambria"/>
              </a:rPr>
              <a:t>	</a:t>
            </a:r>
            <a:r>
              <a:rPr sz="2400" spc="-10" dirty="0">
                <a:latin typeface="Cambria"/>
                <a:cs typeface="Cambria"/>
              </a:rPr>
              <a:t>where</a:t>
            </a:r>
            <a:r>
              <a:rPr sz="2400" dirty="0">
                <a:latin typeface="Cambria"/>
                <a:cs typeface="Cambria"/>
              </a:rPr>
              <a:t>	</a:t>
            </a:r>
            <a:r>
              <a:rPr sz="2400" spc="-25" dirty="0">
                <a:latin typeface="Cambria"/>
                <a:cs typeface="Cambria"/>
              </a:rPr>
              <a:t>the </a:t>
            </a:r>
            <a:r>
              <a:rPr sz="2400" dirty="0">
                <a:latin typeface="Cambria"/>
                <a:cs typeface="Cambria"/>
              </a:rPr>
              <a:t>results</a:t>
            </a:r>
            <a:r>
              <a:rPr sz="2400" spc="-70" dirty="0">
                <a:latin typeface="Cambria"/>
                <a:cs typeface="Cambria"/>
              </a:rPr>
              <a:t> </a:t>
            </a:r>
            <a:r>
              <a:rPr sz="2400" dirty="0">
                <a:latin typeface="Cambria"/>
                <a:cs typeface="Cambria"/>
              </a:rPr>
              <a:t>are</a:t>
            </a:r>
            <a:r>
              <a:rPr sz="2400" spc="-75" dirty="0">
                <a:latin typeface="Cambria"/>
                <a:cs typeface="Cambria"/>
              </a:rPr>
              <a:t> </a:t>
            </a:r>
            <a:r>
              <a:rPr sz="2400" dirty="0">
                <a:latin typeface="Cambria"/>
                <a:cs typeface="Cambria"/>
              </a:rPr>
              <a:t>not</a:t>
            </a:r>
            <a:r>
              <a:rPr sz="2400" spc="-70" dirty="0">
                <a:latin typeface="Cambria"/>
                <a:cs typeface="Cambria"/>
              </a:rPr>
              <a:t> </a:t>
            </a:r>
            <a:r>
              <a:rPr sz="2400" spc="-10" dirty="0">
                <a:latin typeface="Cambria"/>
                <a:cs typeface="Cambria"/>
              </a:rPr>
              <a:t>subsequently</a:t>
            </a:r>
            <a:r>
              <a:rPr sz="2400" spc="-30" dirty="0">
                <a:latin typeface="Cambria"/>
                <a:cs typeface="Cambria"/>
              </a:rPr>
              <a:t> </a:t>
            </a:r>
            <a:r>
              <a:rPr sz="2400" spc="-10" dirty="0">
                <a:latin typeface="Cambria"/>
                <a:cs typeface="Cambria"/>
              </a:rPr>
              <a:t>used.</a:t>
            </a:r>
            <a:endParaRPr sz="2400" dirty="0">
              <a:latin typeface="Cambria"/>
              <a:cs typeface="Cambria"/>
            </a:endParaRPr>
          </a:p>
          <a:p>
            <a:pPr marL="12700" marR="6279515">
              <a:lnSpc>
                <a:spcPts val="3790"/>
              </a:lnSpc>
              <a:spcBef>
                <a:spcPts val="24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Example</a:t>
            </a:r>
            <a:r>
              <a:rPr sz="2400" spc="-95" dirty="0">
                <a:latin typeface="Cambria"/>
                <a:cs typeface="Cambria"/>
              </a:rPr>
              <a:t> </a:t>
            </a:r>
            <a:r>
              <a:rPr sz="2400" spc="-370" dirty="0">
                <a:latin typeface="Cambria"/>
                <a:cs typeface="Cambria"/>
              </a:rPr>
              <a:t>:</a:t>
            </a:r>
            <a:r>
              <a:rPr sz="2400" dirty="0">
                <a:latin typeface="Cambria"/>
                <a:cs typeface="Cambria"/>
              </a:rPr>
              <a:t> int</a:t>
            </a:r>
            <a:r>
              <a:rPr sz="2400" spc="-20" dirty="0">
                <a:latin typeface="Cambria"/>
                <a:cs typeface="Cambria"/>
              </a:rPr>
              <a:t> </a:t>
            </a:r>
            <a:r>
              <a:rPr sz="2400" spc="-10" dirty="0">
                <a:latin typeface="Cambria"/>
                <a:cs typeface="Cambria"/>
              </a:rPr>
              <a:t>i=0,x;</a:t>
            </a:r>
            <a:endParaRPr sz="2400" dirty="0">
              <a:latin typeface="Cambria"/>
              <a:cs typeface="Cambria"/>
            </a:endParaRPr>
          </a:p>
          <a:p>
            <a:pPr marL="12700">
              <a:lnSpc>
                <a:spcPct val="100000"/>
              </a:lnSpc>
              <a:spcBef>
                <a:spcPts val="640"/>
              </a:spcBef>
            </a:pPr>
            <a:r>
              <a:rPr sz="2400" dirty="0">
                <a:latin typeface="Cambria"/>
                <a:cs typeface="Cambria"/>
              </a:rPr>
              <a:t>If</a:t>
            </a:r>
            <a:r>
              <a:rPr sz="2400" spc="-10" dirty="0">
                <a:latin typeface="Cambria"/>
                <a:cs typeface="Cambria"/>
              </a:rPr>
              <a:t> (i==1)</a:t>
            </a:r>
            <a:endParaRPr sz="2400" dirty="0">
              <a:latin typeface="Cambria"/>
              <a:cs typeface="Cambria"/>
            </a:endParaRPr>
          </a:p>
          <a:p>
            <a:pPr marL="12700">
              <a:lnSpc>
                <a:spcPct val="100000"/>
              </a:lnSpc>
              <a:spcBef>
                <a:spcPts val="915"/>
              </a:spcBef>
            </a:pPr>
            <a:r>
              <a:rPr sz="2400" spc="-50" dirty="0">
                <a:latin typeface="Cambria"/>
                <a:cs typeface="Cambria"/>
              </a:rPr>
              <a:t>{</a:t>
            </a:r>
            <a:endParaRPr sz="2400" dirty="0">
              <a:latin typeface="Cambria"/>
              <a:cs typeface="Cambria"/>
            </a:endParaRPr>
          </a:p>
          <a:p>
            <a:pPr marL="927100">
              <a:lnSpc>
                <a:spcPct val="100000"/>
              </a:lnSpc>
              <a:spcBef>
                <a:spcPts val="910"/>
              </a:spcBef>
            </a:pPr>
            <a:r>
              <a:rPr sz="2400" spc="-10" dirty="0">
                <a:latin typeface="Cambria"/>
                <a:cs typeface="Cambria"/>
              </a:rPr>
              <a:t>x=x+i;</a:t>
            </a:r>
            <a:endParaRPr sz="2400" dirty="0">
              <a:latin typeface="Cambria"/>
              <a:cs typeface="Cambria"/>
            </a:endParaRPr>
          </a:p>
          <a:p>
            <a:pPr marL="12700">
              <a:lnSpc>
                <a:spcPct val="100000"/>
              </a:lnSpc>
              <a:spcBef>
                <a:spcPts val="915"/>
              </a:spcBef>
            </a:pPr>
            <a:r>
              <a:rPr sz="2400" spc="-50" dirty="0">
                <a:latin typeface="Cambria"/>
                <a:cs typeface="Cambria"/>
              </a:rPr>
              <a:t>}</a:t>
            </a:r>
            <a:endParaRPr sz="2400" dirty="0">
              <a:latin typeface="Cambria"/>
              <a:cs typeface="Cambria"/>
            </a:endParaRPr>
          </a:p>
        </p:txBody>
      </p:sp>
    </p:spTree>
    <p:extLst>
      <p:ext uri="{BB962C8B-B14F-4D97-AF65-F5344CB8AC3E}">
        <p14:creationId xmlns:p14="http://schemas.microsoft.com/office/powerpoint/2010/main" val="1805204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7345" marR="324485" indent="203835">
              <a:lnSpc>
                <a:spcPts val="3890"/>
              </a:lnSpc>
            </a:pPr>
            <a:r>
              <a:rPr sz="3600" b="1" spc="-65" dirty="0">
                <a:solidFill>
                  <a:srgbClr val="FFFFFF"/>
                </a:solidFill>
                <a:latin typeface="Cambria"/>
                <a:cs typeface="Cambria"/>
              </a:rPr>
              <a:t>Global</a:t>
            </a:r>
            <a:r>
              <a:rPr sz="3600" b="1" spc="-95" dirty="0">
                <a:solidFill>
                  <a:srgbClr val="FFFFFF"/>
                </a:solidFill>
                <a:latin typeface="Cambria"/>
                <a:cs typeface="Cambria"/>
              </a:rPr>
              <a:t> </a:t>
            </a:r>
            <a:r>
              <a:rPr sz="3600" b="1" spc="-20" dirty="0">
                <a:solidFill>
                  <a:srgbClr val="FFFFFF"/>
                </a:solidFill>
                <a:latin typeface="Cambria"/>
                <a:cs typeface="Cambria"/>
              </a:rPr>
              <a:t>Data </a:t>
            </a:r>
            <a:r>
              <a:rPr sz="3600" b="1" spc="-95" dirty="0">
                <a:solidFill>
                  <a:srgbClr val="FFFFFF"/>
                </a:solidFill>
                <a:latin typeface="Cambria"/>
                <a:cs typeface="Cambria"/>
              </a:rPr>
              <a:t>Flow</a:t>
            </a:r>
            <a:r>
              <a:rPr sz="3600" b="1" spc="-100" dirty="0">
                <a:solidFill>
                  <a:srgbClr val="FFFFFF"/>
                </a:solidFill>
                <a:latin typeface="Cambria"/>
                <a:cs typeface="Cambria"/>
              </a:rPr>
              <a:t> </a:t>
            </a:r>
            <a:r>
              <a:rPr sz="3600" b="1" spc="-65" dirty="0">
                <a:solidFill>
                  <a:srgbClr val="FFFFFF"/>
                </a:solidFill>
                <a:latin typeface="Cambria"/>
                <a:cs typeface="Cambria"/>
              </a:rPr>
              <a:t>Analysis</a:t>
            </a:r>
            <a:endParaRPr sz="3600">
              <a:latin typeface="Cambria"/>
              <a:cs typeface="Cambria"/>
            </a:endParaRPr>
          </a:p>
        </p:txBody>
      </p:sp>
      <p:sp>
        <p:nvSpPr>
          <p:cNvPr id="3" name="object 3"/>
          <p:cNvSpPr txBox="1">
            <a:spLocks noGrp="1"/>
          </p:cNvSpPr>
          <p:nvPr>
            <p:ph type="title"/>
          </p:nvPr>
        </p:nvSpPr>
        <p:spPr>
          <a:xfrm>
            <a:off x="3948429" y="1404569"/>
            <a:ext cx="7157720" cy="1708785"/>
          </a:xfrm>
          <a:prstGeom prst="rect">
            <a:avLst/>
          </a:prstGeom>
        </p:spPr>
        <p:txBody>
          <a:bodyPr vert="horz" wrap="square" lIns="0" tIns="49530" rIns="0" bIns="0" rtlCol="0">
            <a:spAutoFit/>
          </a:bodyPr>
          <a:lstStyle/>
          <a:p>
            <a:pPr marL="195580" marR="5080" indent="-182880" algn="just">
              <a:lnSpc>
                <a:spcPct val="90000"/>
              </a:lnSpc>
              <a:spcBef>
                <a:spcPts val="390"/>
              </a:spcBef>
            </a:pPr>
            <a:r>
              <a:rPr spc="-1250" dirty="0">
                <a:solidFill>
                  <a:srgbClr val="40B9D2"/>
                </a:solidFill>
                <a:latin typeface="Arial MT"/>
                <a:cs typeface="Arial MT"/>
              </a:rPr>
              <a:t>🞄</a:t>
            </a:r>
            <a:r>
              <a:rPr spc="-95" dirty="0">
                <a:solidFill>
                  <a:srgbClr val="40B9D2"/>
                </a:solidFill>
                <a:latin typeface="Arial MT"/>
                <a:cs typeface="Arial MT"/>
              </a:rPr>
              <a:t> </a:t>
            </a:r>
            <a:r>
              <a:rPr dirty="0"/>
              <a:t>In</a:t>
            </a:r>
            <a:r>
              <a:rPr spc="355" dirty="0"/>
              <a:t> </a:t>
            </a:r>
            <a:r>
              <a:rPr spc="-15" dirty="0"/>
              <a:t>order</a:t>
            </a:r>
            <a:r>
              <a:rPr spc="360" dirty="0"/>
              <a:t> </a:t>
            </a:r>
            <a:r>
              <a:rPr spc="-20" dirty="0"/>
              <a:t>t</a:t>
            </a:r>
            <a:r>
              <a:rPr dirty="0"/>
              <a:t>o</a:t>
            </a:r>
            <a:r>
              <a:rPr spc="350" dirty="0"/>
              <a:t> </a:t>
            </a:r>
            <a:r>
              <a:rPr spc="-20" dirty="0"/>
              <a:t>do</a:t>
            </a:r>
            <a:r>
              <a:rPr spc="365" dirty="0"/>
              <a:t> </a:t>
            </a:r>
            <a:r>
              <a:rPr spc="-15" dirty="0"/>
              <a:t>code</a:t>
            </a:r>
            <a:r>
              <a:rPr spc="370" dirty="0"/>
              <a:t> </a:t>
            </a:r>
            <a:r>
              <a:rPr spc="-10" dirty="0"/>
              <a:t>optimization</a:t>
            </a:r>
            <a:r>
              <a:rPr spc="370" dirty="0"/>
              <a:t> </a:t>
            </a:r>
            <a:r>
              <a:rPr spc="-15" dirty="0"/>
              <a:t>and</a:t>
            </a:r>
            <a:r>
              <a:rPr spc="350" dirty="0"/>
              <a:t> </a:t>
            </a:r>
            <a:r>
              <a:rPr spc="-15" dirty="0"/>
              <a:t>a</a:t>
            </a:r>
            <a:r>
              <a:rPr spc="370" dirty="0"/>
              <a:t> </a:t>
            </a:r>
            <a:r>
              <a:rPr spc="-10" dirty="0"/>
              <a:t>good</a:t>
            </a:r>
            <a:r>
              <a:rPr spc="360" dirty="0"/>
              <a:t> </a:t>
            </a:r>
            <a:r>
              <a:rPr spc="-5" dirty="0"/>
              <a:t>jo</a:t>
            </a:r>
            <a:r>
              <a:rPr dirty="0"/>
              <a:t>b</a:t>
            </a:r>
            <a:r>
              <a:rPr spc="360" dirty="0"/>
              <a:t> </a:t>
            </a:r>
            <a:r>
              <a:rPr spc="-90" dirty="0"/>
              <a:t>of</a:t>
            </a:r>
            <a:r>
              <a:rPr spc="-5" dirty="0"/>
              <a:t> </a:t>
            </a:r>
            <a:r>
              <a:rPr spc="-15" dirty="0"/>
              <a:t>code</a:t>
            </a:r>
            <a:r>
              <a:rPr spc="1345" dirty="0"/>
              <a:t> </a:t>
            </a:r>
            <a:r>
              <a:rPr spc="-15" dirty="0"/>
              <a:t>generation</a:t>
            </a:r>
            <a:r>
              <a:rPr spc="1350" dirty="0"/>
              <a:t> </a:t>
            </a:r>
            <a:r>
              <a:rPr dirty="0"/>
              <a:t>,</a:t>
            </a:r>
            <a:r>
              <a:rPr spc="1330" dirty="0"/>
              <a:t> </a:t>
            </a:r>
            <a:r>
              <a:rPr spc="-15" dirty="0"/>
              <a:t>a</a:t>
            </a:r>
            <a:r>
              <a:rPr spc="1335" dirty="0"/>
              <a:t> </a:t>
            </a:r>
            <a:r>
              <a:rPr spc="-10" dirty="0"/>
              <a:t>compiler</a:t>
            </a:r>
            <a:r>
              <a:rPr spc="1345" dirty="0"/>
              <a:t> </a:t>
            </a:r>
            <a:r>
              <a:rPr spc="-15" dirty="0"/>
              <a:t>needs</a:t>
            </a:r>
            <a:r>
              <a:rPr spc="1350" dirty="0"/>
              <a:t> </a:t>
            </a:r>
            <a:r>
              <a:rPr spc="-25" dirty="0"/>
              <a:t>to</a:t>
            </a:r>
            <a:r>
              <a:rPr spc="1325" dirty="0"/>
              <a:t> </a:t>
            </a:r>
            <a:r>
              <a:rPr spc="-20" dirty="0"/>
              <a:t>collect</a:t>
            </a:r>
            <a:r>
              <a:rPr spc="-15" dirty="0"/>
              <a:t> information</a:t>
            </a:r>
            <a:r>
              <a:rPr spc="570" dirty="0"/>
              <a:t> </a:t>
            </a:r>
            <a:r>
              <a:rPr spc="-20" dirty="0"/>
              <a:t>about</a:t>
            </a:r>
            <a:r>
              <a:rPr spc="575" dirty="0"/>
              <a:t> </a:t>
            </a:r>
            <a:r>
              <a:rPr spc="-15" dirty="0"/>
              <a:t>the</a:t>
            </a:r>
            <a:r>
              <a:rPr spc="585" dirty="0"/>
              <a:t> </a:t>
            </a:r>
            <a:r>
              <a:rPr spc="-20" dirty="0"/>
              <a:t>program</a:t>
            </a:r>
            <a:r>
              <a:rPr spc="565" dirty="0"/>
              <a:t> </a:t>
            </a:r>
            <a:r>
              <a:rPr spc="-20" dirty="0"/>
              <a:t>as</a:t>
            </a:r>
            <a:r>
              <a:rPr spc="570" dirty="0"/>
              <a:t> </a:t>
            </a:r>
            <a:r>
              <a:rPr spc="-15" dirty="0"/>
              <a:t>a</a:t>
            </a:r>
            <a:r>
              <a:rPr spc="575" dirty="0"/>
              <a:t> </a:t>
            </a:r>
            <a:r>
              <a:rPr spc="-20" dirty="0"/>
              <a:t>whole</a:t>
            </a:r>
            <a:r>
              <a:rPr spc="580" dirty="0"/>
              <a:t> </a:t>
            </a:r>
            <a:r>
              <a:rPr spc="-10" dirty="0"/>
              <a:t>and</a:t>
            </a:r>
            <a:r>
              <a:rPr spc="570" dirty="0"/>
              <a:t> </a:t>
            </a:r>
            <a:r>
              <a:rPr spc="-35" dirty="0"/>
              <a:t>to</a:t>
            </a:r>
            <a:r>
              <a:rPr spc="-30" dirty="0"/>
              <a:t> </a:t>
            </a:r>
            <a:r>
              <a:rPr spc="-15" dirty="0"/>
              <a:t>distribute</a:t>
            </a:r>
            <a:r>
              <a:rPr spc="285" dirty="0"/>
              <a:t> </a:t>
            </a:r>
            <a:r>
              <a:rPr spc="-15" dirty="0"/>
              <a:t>this</a:t>
            </a:r>
            <a:r>
              <a:rPr spc="275" dirty="0"/>
              <a:t> </a:t>
            </a:r>
            <a:r>
              <a:rPr spc="-15" dirty="0"/>
              <a:t>information</a:t>
            </a:r>
            <a:r>
              <a:rPr spc="270" dirty="0"/>
              <a:t> </a:t>
            </a:r>
            <a:r>
              <a:rPr spc="-25" dirty="0"/>
              <a:t>to</a:t>
            </a:r>
            <a:r>
              <a:rPr spc="260" dirty="0"/>
              <a:t> </a:t>
            </a:r>
            <a:r>
              <a:rPr spc="-15" dirty="0"/>
              <a:t>each</a:t>
            </a:r>
            <a:r>
              <a:rPr spc="265" dirty="0"/>
              <a:t> </a:t>
            </a:r>
            <a:r>
              <a:rPr spc="-10" dirty="0"/>
              <a:t>block</a:t>
            </a:r>
            <a:r>
              <a:rPr spc="265" dirty="0"/>
              <a:t> </a:t>
            </a:r>
            <a:r>
              <a:rPr spc="5" dirty="0"/>
              <a:t>i</a:t>
            </a:r>
            <a:r>
              <a:rPr dirty="0"/>
              <a:t>n</a:t>
            </a:r>
            <a:r>
              <a:rPr spc="265" dirty="0"/>
              <a:t> </a:t>
            </a:r>
            <a:r>
              <a:rPr spc="-20" dirty="0"/>
              <a:t>the</a:t>
            </a:r>
            <a:r>
              <a:rPr spc="275" dirty="0"/>
              <a:t> </a:t>
            </a:r>
            <a:r>
              <a:rPr spc="-10" dirty="0"/>
              <a:t>flow </a:t>
            </a:r>
            <a:r>
              <a:rPr spc="-15" dirty="0"/>
              <a:t>graph.</a:t>
            </a:r>
          </a:p>
        </p:txBody>
      </p:sp>
      <p:sp>
        <p:nvSpPr>
          <p:cNvPr id="4" name="object 4"/>
          <p:cNvSpPr txBox="1"/>
          <p:nvPr/>
        </p:nvSpPr>
        <p:spPr>
          <a:xfrm>
            <a:off x="3948429" y="3203828"/>
            <a:ext cx="7157720" cy="2190115"/>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0" dirty="0">
                <a:latin typeface="Cambria"/>
                <a:cs typeface="Cambria"/>
              </a:rPr>
              <a:t>Data</a:t>
            </a:r>
            <a:r>
              <a:rPr sz="2400" spc="390" dirty="0">
                <a:latin typeface="Cambria"/>
                <a:cs typeface="Cambria"/>
              </a:rPr>
              <a:t> </a:t>
            </a:r>
            <a:r>
              <a:rPr sz="2400" spc="-10" dirty="0">
                <a:latin typeface="Cambria"/>
                <a:cs typeface="Cambria"/>
              </a:rPr>
              <a:t>flow</a:t>
            </a:r>
            <a:r>
              <a:rPr sz="2400" spc="375" dirty="0">
                <a:latin typeface="Cambria"/>
                <a:cs typeface="Cambria"/>
              </a:rPr>
              <a:t> </a:t>
            </a:r>
            <a:r>
              <a:rPr sz="2400" spc="-15" dirty="0">
                <a:latin typeface="Cambria"/>
                <a:cs typeface="Cambria"/>
              </a:rPr>
              <a:t>equations</a:t>
            </a:r>
            <a:r>
              <a:rPr sz="2400" spc="380" dirty="0">
                <a:latin typeface="Cambria"/>
                <a:cs typeface="Cambria"/>
              </a:rPr>
              <a:t> </a:t>
            </a:r>
            <a:r>
              <a:rPr sz="2400" spc="-20" dirty="0">
                <a:latin typeface="Cambria"/>
                <a:cs typeface="Cambria"/>
              </a:rPr>
              <a:t>are</a:t>
            </a:r>
            <a:r>
              <a:rPr sz="2400" spc="385" dirty="0">
                <a:latin typeface="Cambria"/>
                <a:cs typeface="Cambria"/>
              </a:rPr>
              <a:t> </a:t>
            </a:r>
            <a:r>
              <a:rPr sz="2400" spc="-15" dirty="0">
                <a:latin typeface="Cambria"/>
                <a:cs typeface="Cambria"/>
              </a:rPr>
              <a:t>the</a:t>
            </a:r>
            <a:r>
              <a:rPr sz="2400" spc="380" dirty="0">
                <a:latin typeface="Cambria"/>
                <a:cs typeface="Cambria"/>
              </a:rPr>
              <a:t> </a:t>
            </a:r>
            <a:r>
              <a:rPr sz="2400" spc="-15" dirty="0">
                <a:latin typeface="Cambria"/>
                <a:cs typeface="Cambria"/>
              </a:rPr>
              <a:t>equations</a:t>
            </a:r>
            <a:r>
              <a:rPr sz="2400" spc="380" dirty="0">
                <a:latin typeface="Cambria"/>
                <a:cs typeface="Cambria"/>
              </a:rPr>
              <a:t> </a:t>
            </a:r>
            <a:r>
              <a:rPr sz="2400" spc="-35" dirty="0">
                <a:latin typeface="Cambria"/>
                <a:cs typeface="Cambria"/>
              </a:rPr>
              <a:t>representing</a:t>
            </a:r>
            <a:r>
              <a:rPr sz="2400" spc="-5" dirty="0">
                <a:latin typeface="Cambria"/>
                <a:cs typeface="Cambria"/>
              </a:rPr>
              <a:t> </a:t>
            </a:r>
            <a:r>
              <a:rPr sz="2400" spc="-15" dirty="0">
                <a:latin typeface="Cambria"/>
                <a:cs typeface="Cambria"/>
              </a:rPr>
              <a:t>the</a:t>
            </a:r>
            <a:r>
              <a:rPr sz="2400" spc="765" dirty="0">
                <a:latin typeface="Cambria"/>
                <a:cs typeface="Cambria"/>
              </a:rPr>
              <a:t> </a:t>
            </a:r>
            <a:r>
              <a:rPr sz="2400" spc="-15" dirty="0">
                <a:latin typeface="Cambria"/>
                <a:cs typeface="Cambria"/>
              </a:rPr>
              <a:t>expressions</a:t>
            </a:r>
            <a:r>
              <a:rPr sz="2400" spc="2030" dirty="0">
                <a:latin typeface="Cambria"/>
                <a:cs typeface="Cambria"/>
              </a:rPr>
              <a:t> </a:t>
            </a:r>
            <a:r>
              <a:rPr sz="2400" spc="-15" dirty="0">
                <a:latin typeface="Cambria"/>
                <a:cs typeface="Cambria"/>
              </a:rPr>
              <a:t>that</a:t>
            </a:r>
            <a:r>
              <a:rPr sz="2400" spc="760" dirty="0">
                <a:latin typeface="Cambria"/>
                <a:cs typeface="Cambria"/>
              </a:rPr>
              <a:t> </a:t>
            </a:r>
            <a:r>
              <a:rPr sz="2400" spc="-15" dirty="0">
                <a:latin typeface="Cambria"/>
                <a:cs typeface="Cambria"/>
              </a:rPr>
              <a:t>are</a:t>
            </a:r>
            <a:r>
              <a:rPr sz="2400" spc="755" dirty="0">
                <a:latin typeface="Cambria"/>
                <a:cs typeface="Cambria"/>
              </a:rPr>
              <a:t> </a:t>
            </a:r>
            <a:r>
              <a:rPr sz="2400" spc="-15" dirty="0">
                <a:latin typeface="Cambria"/>
                <a:cs typeface="Cambria"/>
              </a:rPr>
              <a:t>appearing</a:t>
            </a:r>
            <a:r>
              <a:rPr sz="2400" spc="2030" dirty="0">
                <a:latin typeface="Cambria"/>
                <a:cs typeface="Cambria"/>
              </a:rPr>
              <a:t> </a:t>
            </a:r>
            <a:r>
              <a:rPr sz="2400" spc="5" dirty="0">
                <a:latin typeface="Cambria"/>
                <a:cs typeface="Cambria"/>
              </a:rPr>
              <a:t>i</a:t>
            </a:r>
            <a:r>
              <a:rPr sz="2400" dirty="0">
                <a:latin typeface="Cambria"/>
                <a:cs typeface="Cambria"/>
              </a:rPr>
              <a:t>n</a:t>
            </a:r>
            <a:r>
              <a:rPr sz="2400" spc="755" dirty="0">
                <a:latin typeface="Cambria"/>
                <a:cs typeface="Cambria"/>
              </a:rPr>
              <a:t> </a:t>
            </a:r>
            <a:r>
              <a:rPr sz="2400" spc="-20" dirty="0">
                <a:latin typeface="Cambria"/>
                <a:cs typeface="Cambria"/>
              </a:rPr>
              <a:t>the</a:t>
            </a:r>
            <a:r>
              <a:rPr sz="2400" spc="765" dirty="0">
                <a:latin typeface="Cambria"/>
                <a:cs typeface="Cambria"/>
              </a:rPr>
              <a:t> </a:t>
            </a:r>
            <a:r>
              <a:rPr sz="2400" spc="-10" dirty="0">
                <a:latin typeface="Cambria"/>
                <a:cs typeface="Cambria"/>
              </a:rPr>
              <a:t>flow </a:t>
            </a:r>
            <a:r>
              <a:rPr sz="2400" spc="-15" dirty="0">
                <a:latin typeface="Cambria"/>
                <a:cs typeface="Cambria"/>
              </a:rPr>
              <a:t>graph.</a:t>
            </a:r>
            <a:endParaRPr sz="2400">
              <a:latin typeface="Cambria"/>
              <a:cs typeface="Cambria"/>
            </a:endParaRPr>
          </a:p>
          <a:p>
            <a:pPr marL="195580" marR="5080" indent="-182880" algn="just">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0" dirty="0">
                <a:latin typeface="Cambria"/>
                <a:cs typeface="Cambria"/>
              </a:rPr>
              <a:t>Data</a:t>
            </a:r>
            <a:r>
              <a:rPr sz="2400" spc="210" dirty="0">
                <a:latin typeface="Cambria"/>
                <a:cs typeface="Cambria"/>
              </a:rPr>
              <a:t> </a:t>
            </a:r>
            <a:r>
              <a:rPr sz="2400" spc="-15" dirty="0">
                <a:latin typeface="Cambria"/>
                <a:cs typeface="Cambria"/>
              </a:rPr>
              <a:t>flow</a:t>
            </a:r>
            <a:r>
              <a:rPr sz="2400" spc="190" dirty="0">
                <a:latin typeface="Cambria"/>
                <a:cs typeface="Cambria"/>
              </a:rPr>
              <a:t> </a:t>
            </a:r>
            <a:r>
              <a:rPr sz="2400" spc="-15" dirty="0">
                <a:latin typeface="Cambria"/>
                <a:cs typeface="Cambria"/>
              </a:rPr>
              <a:t>information</a:t>
            </a:r>
            <a:r>
              <a:rPr sz="2400" spc="204" dirty="0">
                <a:latin typeface="Cambria"/>
                <a:cs typeface="Cambria"/>
              </a:rPr>
              <a:t> </a:t>
            </a:r>
            <a:r>
              <a:rPr sz="2400" spc="-10" dirty="0">
                <a:latin typeface="Cambria"/>
                <a:cs typeface="Cambria"/>
              </a:rPr>
              <a:t>can</a:t>
            </a:r>
            <a:r>
              <a:rPr sz="2400" spc="204" dirty="0">
                <a:latin typeface="Cambria"/>
                <a:cs typeface="Cambria"/>
              </a:rPr>
              <a:t> </a:t>
            </a:r>
            <a:r>
              <a:rPr sz="2400" spc="-15" dirty="0">
                <a:latin typeface="Cambria"/>
                <a:cs typeface="Cambria"/>
              </a:rPr>
              <a:t>be</a:t>
            </a:r>
            <a:r>
              <a:rPr sz="2400" spc="204" dirty="0">
                <a:latin typeface="Cambria"/>
                <a:cs typeface="Cambria"/>
              </a:rPr>
              <a:t> </a:t>
            </a:r>
            <a:r>
              <a:rPr sz="2400" spc="-20" dirty="0">
                <a:latin typeface="Cambria"/>
                <a:cs typeface="Cambria"/>
              </a:rPr>
              <a:t>collected</a:t>
            </a:r>
            <a:r>
              <a:rPr sz="2400" spc="210" dirty="0">
                <a:latin typeface="Cambria"/>
                <a:cs typeface="Cambria"/>
              </a:rPr>
              <a:t> </a:t>
            </a:r>
            <a:r>
              <a:rPr sz="2400" spc="-40" dirty="0">
                <a:latin typeface="Cambria"/>
                <a:cs typeface="Cambria"/>
              </a:rPr>
              <a:t>by</a:t>
            </a:r>
            <a:r>
              <a:rPr sz="2400" spc="204" dirty="0">
                <a:latin typeface="Cambria"/>
                <a:cs typeface="Cambria"/>
              </a:rPr>
              <a:t> </a:t>
            </a:r>
            <a:r>
              <a:rPr sz="2400" spc="-10" dirty="0">
                <a:latin typeface="Cambria"/>
                <a:cs typeface="Cambria"/>
              </a:rPr>
              <a:t>setting</a:t>
            </a:r>
            <a:r>
              <a:rPr sz="2400" spc="204" dirty="0">
                <a:latin typeface="Cambria"/>
                <a:cs typeface="Cambria"/>
              </a:rPr>
              <a:t> </a:t>
            </a:r>
            <a:r>
              <a:rPr sz="2400" spc="-95" dirty="0">
                <a:latin typeface="Cambria"/>
                <a:cs typeface="Cambria"/>
              </a:rPr>
              <a:t>up</a:t>
            </a:r>
            <a:r>
              <a:rPr sz="2400" spc="-20" dirty="0">
                <a:latin typeface="Cambria"/>
                <a:cs typeface="Cambria"/>
              </a:rPr>
              <a:t> </a:t>
            </a:r>
            <a:r>
              <a:rPr sz="2400" spc="-10" dirty="0">
                <a:latin typeface="Cambria"/>
                <a:cs typeface="Cambria"/>
              </a:rPr>
              <a:t>and</a:t>
            </a:r>
            <a:r>
              <a:rPr sz="2400" spc="1655" dirty="0">
                <a:latin typeface="Cambria"/>
                <a:cs typeface="Cambria"/>
              </a:rPr>
              <a:t> </a:t>
            </a:r>
            <a:r>
              <a:rPr sz="2400" spc="-20" dirty="0">
                <a:latin typeface="Cambria"/>
                <a:cs typeface="Cambria"/>
              </a:rPr>
              <a:t>solving</a:t>
            </a:r>
            <a:r>
              <a:rPr sz="2400" spc="1660" dirty="0">
                <a:latin typeface="Cambria"/>
                <a:cs typeface="Cambria"/>
              </a:rPr>
              <a:t> </a:t>
            </a:r>
            <a:r>
              <a:rPr sz="2400" spc="-25" dirty="0">
                <a:latin typeface="Cambria"/>
                <a:cs typeface="Cambria"/>
              </a:rPr>
              <a:t>systems</a:t>
            </a:r>
            <a:r>
              <a:rPr sz="2400" spc="1670" dirty="0">
                <a:latin typeface="Cambria"/>
                <a:cs typeface="Cambria"/>
              </a:rPr>
              <a:t> </a:t>
            </a:r>
            <a:r>
              <a:rPr sz="2400" spc="-5" dirty="0">
                <a:latin typeface="Cambria"/>
                <a:cs typeface="Cambria"/>
              </a:rPr>
              <a:t>o</a:t>
            </a:r>
            <a:r>
              <a:rPr sz="2400" dirty="0">
                <a:latin typeface="Cambria"/>
                <a:cs typeface="Cambria"/>
              </a:rPr>
              <a:t>f</a:t>
            </a:r>
            <a:r>
              <a:rPr sz="2400" spc="1660" dirty="0">
                <a:latin typeface="Cambria"/>
                <a:cs typeface="Cambria"/>
              </a:rPr>
              <a:t> </a:t>
            </a:r>
            <a:r>
              <a:rPr sz="2400" spc="-15" dirty="0">
                <a:latin typeface="Cambria"/>
                <a:cs typeface="Cambria"/>
              </a:rPr>
              <a:t>equations</a:t>
            </a:r>
            <a:r>
              <a:rPr sz="2400" spc="1650" dirty="0">
                <a:latin typeface="Cambria"/>
                <a:cs typeface="Cambria"/>
              </a:rPr>
              <a:t> </a:t>
            </a:r>
            <a:r>
              <a:rPr sz="2400" spc="-15" dirty="0">
                <a:latin typeface="Cambria"/>
                <a:cs typeface="Cambria"/>
              </a:rPr>
              <a:t>that</a:t>
            </a:r>
            <a:r>
              <a:rPr sz="2400" spc="1645" dirty="0">
                <a:latin typeface="Cambria"/>
                <a:cs typeface="Cambria"/>
              </a:rPr>
              <a:t> </a:t>
            </a:r>
            <a:r>
              <a:rPr sz="2400" spc="-25" dirty="0">
                <a:latin typeface="Cambria"/>
                <a:cs typeface="Cambria"/>
              </a:rPr>
              <a:t>relate</a:t>
            </a:r>
            <a:r>
              <a:rPr sz="2400" spc="-10" dirty="0">
                <a:latin typeface="Cambria"/>
                <a:cs typeface="Cambria"/>
              </a:rPr>
              <a:t> </a:t>
            </a:r>
            <a:r>
              <a:rPr sz="2400" spc="-5" dirty="0">
                <a:latin typeface="Cambria"/>
                <a:cs typeface="Cambria"/>
              </a:rPr>
              <a:t>i</a:t>
            </a:r>
            <a:r>
              <a:rPr sz="2400" spc="5" dirty="0">
                <a:latin typeface="Cambria"/>
                <a:cs typeface="Cambria"/>
              </a:rPr>
              <a:t>n</a:t>
            </a:r>
            <a:r>
              <a:rPr sz="2400" spc="-20" dirty="0">
                <a:latin typeface="Cambria"/>
                <a:cs typeface="Cambria"/>
              </a:rPr>
              <a:t>f</a:t>
            </a:r>
            <a:r>
              <a:rPr sz="2400" dirty="0">
                <a:latin typeface="Cambria"/>
                <a:cs typeface="Cambria"/>
              </a:rPr>
              <a:t>ormat</a:t>
            </a:r>
            <a:r>
              <a:rPr sz="2400" spc="5" dirty="0">
                <a:latin typeface="Cambria"/>
                <a:cs typeface="Cambria"/>
              </a:rPr>
              <a:t>i</a:t>
            </a:r>
            <a:r>
              <a:rPr sz="2400" spc="-5" dirty="0">
                <a:latin typeface="Cambria"/>
                <a:cs typeface="Cambria"/>
              </a:rPr>
              <a:t>o</a:t>
            </a:r>
            <a:r>
              <a:rPr sz="2400" dirty="0">
                <a:latin typeface="Cambria"/>
                <a:cs typeface="Cambria"/>
              </a:rPr>
              <a:t>n</a:t>
            </a:r>
            <a:r>
              <a:rPr sz="2400" spc="484" dirty="0">
                <a:latin typeface="Cambria"/>
                <a:cs typeface="Cambria"/>
              </a:rPr>
              <a:t> </a:t>
            </a:r>
            <a:r>
              <a:rPr sz="2400" spc="-10" dirty="0">
                <a:latin typeface="Cambria"/>
                <a:cs typeface="Cambria"/>
              </a:rPr>
              <a:t>at </a:t>
            </a:r>
            <a:r>
              <a:rPr sz="2400" spc="-15" dirty="0">
                <a:latin typeface="Cambria"/>
                <a:cs typeface="Cambria"/>
              </a:rPr>
              <a:t>various</a:t>
            </a:r>
            <a:r>
              <a:rPr sz="2400" spc="-10" dirty="0">
                <a:latin typeface="Cambria"/>
                <a:cs typeface="Cambria"/>
              </a:rPr>
              <a:t> </a:t>
            </a:r>
            <a:r>
              <a:rPr sz="2400" spc="-5" dirty="0">
                <a:latin typeface="Cambria"/>
                <a:cs typeface="Cambria"/>
              </a:rPr>
              <a:t>point</a:t>
            </a:r>
            <a:r>
              <a:rPr sz="2400" spc="509" dirty="0">
                <a:latin typeface="Cambria"/>
                <a:cs typeface="Cambria"/>
              </a:rPr>
              <a:t> </a:t>
            </a:r>
            <a:r>
              <a:rPr sz="2400" dirty="0">
                <a:latin typeface="Cambria"/>
                <a:cs typeface="Cambria"/>
              </a:rPr>
              <a:t>in</a:t>
            </a:r>
            <a:r>
              <a:rPr sz="2400" spc="-20" dirty="0">
                <a:latin typeface="Cambria"/>
                <a:cs typeface="Cambria"/>
              </a:rPr>
              <a:t> </a:t>
            </a:r>
            <a:r>
              <a:rPr sz="2400" spc="-15" dirty="0">
                <a:latin typeface="Cambria"/>
                <a:cs typeface="Cambria"/>
              </a:rPr>
              <a:t>a</a:t>
            </a:r>
            <a:r>
              <a:rPr sz="2400" dirty="0">
                <a:latin typeface="Cambria"/>
                <a:cs typeface="Cambria"/>
              </a:rPr>
              <a:t> </a:t>
            </a:r>
            <a:r>
              <a:rPr sz="2400" spc="-15" dirty="0">
                <a:latin typeface="Cambria"/>
                <a:cs typeface="Cambria"/>
              </a:rPr>
              <a:t>program.</a:t>
            </a:r>
            <a:endParaRPr sz="2400">
              <a:latin typeface="Cambria"/>
              <a:cs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05"/>
              </a:spcBef>
            </a:pPr>
            <a:endParaRPr sz="3600" dirty="0">
              <a:latin typeface="Times New Roman"/>
              <a:cs typeface="Times New Roman"/>
            </a:endParaRPr>
          </a:p>
          <a:p>
            <a:pPr marL="347345" marR="324485" indent="203835">
              <a:lnSpc>
                <a:spcPts val="3890"/>
              </a:lnSpc>
            </a:pPr>
            <a:r>
              <a:rPr sz="3600" b="1" spc="-65" dirty="0">
                <a:solidFill>
                  <a:srgbClr val="FFFFFF"/>
                </a:solidFill>
                <a:latin typeface="Cambria"/>
                <a:cs typeface="Cambria"/>
              </a:rPr>
              <a:t>Global</a:t>
            </a:r>
            <a:r>
              <a:rPr sz="3600" b="1" spc="-95" dirty="0">
                <a:solidFill>
                  <a:srgbClr val="FFFFFF"/>
                </a:solidFill>
                <a:latin typeface="Cambria"/>
                <a:cs typeface="Cambria"/>
              </a:rPr>
              <a:t> </a:t>
            </a:r>
            <a:r>
              <a:rPr sz="3600" b="1" spc="-20" dirty="0">
                <a:solidFill>
                  <a:srgbClr val="FFFFFF"/>
                </a:solidFill>
                <a:latin typeface="Cambria"/>
                <a:cs typeface="Cambria"/>
              </a:rPr>
              <a:t>Data </a:t>
            </a:r>
            <a:r>
              <a:rPr sz="3600" b="1" spc="-95" dirty="0">
                <a:solidFill>
                  <a:srgbClr val="FFFFFF"/>
                </a:solidFill>
                <a:latin typeface="Cambria"/>
                <a:cs typeface="Cambria"/>
              </a:rPr>
              <a:t>Flow</a:t>
            </a:r>
            <a:r>
              <a:rPr sz="3600" b="1" spc="-100" dirty="0">
                <a:solidFill>
                  <a:srgbClr val="FFFFFF"/>
                </a:solidFill>
                <a:latin typeface="Cambria"/>
                <a:cs typeface="Cambria"/>
              </a:rPr>
              <a:t> </a:t>
            </a:r>
            <a:r>
              <a:rPr sz="3600" b="1" spc="-65" dirty="0">
                <a:solidFill>
                  <a:srgbClr val="FFFFFF"/>
                </a:solidFill>
                <a:latin typeface="Cambria"/>
                <a:cs typeface="Cambria"/>
              </a:rPr>
              <a:t>Analysis</a:t>
            </a:r>
            <a:endParaRPr sz="3600" dirty="0">
              <a:latin typeface="Cambria"/>
              <a:cs typeface="Cambria"/>
            </a:endParaRPr>
          </a:p>
        </p:txBody>
      </p:sp>
      <p:sp>
        <p:nvSpPr>
          <p:cNvPr id="3" name="object 3"/>
          <p:cNvSpPr txBox="1"/>
          <p:nvPr/>
        </p:nvSpPr>
        <p:spPr>
          <a:xfrm>
            <a:off x="3948429" y="1630806"/>
            <a:ext cx="5161915" cy="988694"/>
          </a:xfrm>
          <a:prstGeom prst="rect">
            <a:avLst/>
          </a:prstGeom>
        </p:spPr>
        <p:txBody>
          <a:bodyPr vert="horz" wrap="square" lIns="0" tIns="12700" rIns="0" bIns="0" rtlCol="0">
            <a:spAutoFit/>
          </a:bodyPr>
          <a:lstStyle/>
          <a:p>
            <a:pPr marL="927100" marR="5080" indent="-915035">
              <a:lnSpc>
                <a:spcPct val="1317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A</a:t>
            </a:r>
            <a:r>
              <a:rPr sz="2400" spc="-80" dirty="0">
                <a:latin typeface="Cambria"/>
                <a:cs typeface="Cambria"/>
              </a:rPr>
              <a:t> </a:t>
            </a:r>
            <a:r>
              <a:rPr sz="2400" dirty="0">
                <a:latin typeface="Cambria"/>
                <a:cs typeface="Cambria"/>
              </a:rPr>
              <a:t>typical</a:t>
            </a:r>
            <a:r>
              <a:rPr sz="2400" spc="-35" dirty="0">
                <a:latin typeface="Cambria"/>
                <a:cs typeface="Cambria"/>
              </a:rPr>
              <a:t> </a:t>
            </a:r>
            <a:r>
              <a:rPr sz="2400" dirty="0">
                <a:latin typeface="Cambria"/>
                <a:cs typeface="Cambria"/>
              </a:rPr>
              <a:t>equation</a:t>
            </a:r>
            <a:r>
              <a:rPr sz="2400" spc="-50" dirty="0">
                <a:latin typeface="Cambria"/>
                <a:cs typeface="Cambria"/>
              </a:rPr>
              <a:t> </a:t>
            </a:r>
            <a:r>
              <a:rPr sz="2400" dirty="0">
                <a:latin typeface="Cambria"/>
                <a:cs typeface="Cambria"/>
              </a:rPr>
              <a:t>has</a:t>
            </a:r>
            <a:r>
              <a:rPr sz="2400" spc="-45" dirty="0">
                <a:latin typeface="Cambria"/>
                <a:cs typeface="Cambria"/>
              </a:rPr>
              <a:t> </a:t>
            </a:r>
            <a:r>
              <a:rPr sz="2400" dirty="0">
                <a:latin typeface="Cambria"/>
                <a:cs typeface="Cambria"/>
              </a:rPr>
              <a:t>the</a:t>
            </a:r>
            <a:r>
              <a:rPr sz="2400" spc="-35" dirty="0">
                <a:latin typeface="Cambria"/>
                <a:cs typeface="Cambria"/>
              </a:rPr>
              <a:t> </a:t>
            </a:r>
            <a:r>
              <a:rPr sz="2400" spc="-20" dirty="0">
                <a:latin typeface="Cambria"/>
                <a:cs typeface="Cambria"/>
              </a:rPr>
              <a:t>form</a:t>
            </a:r>
            <a:r>
              <a:rPr sz="2400" spc="600" dirty="0">
                <a:latin typeface="Cambria"/>
                <a:cs typeface="Cambria"/>
              </a:rPr>
              <a:t> </a:t>
            </a:r>
            <a:r>
              <a:rPr sz="2400" dirty="0">
                <a:latin typeface="Cambria"/>
                <a:cs typeface="Cambria"/>
              </a:rPr>
              <a:t>Out[S]</a:t>
            </a:r>
            <a:r>
              <a:rPr sz="2400" spc="-30"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gen[S]</a:t>
            </a:r>
            <a:r>
              <a:rPr sz="2400" spc="-35" dirty="0">
                <a:latin typeface="Cambria"/>
                <a:cs typeface="Cambria"/>
              </a:rPr>
              <a:t> </a:t>
            </a:r>
            <a:r>
              <a:rPr sz="2400" dirty="0">
                <a:latin typeface="Segoe UI"/>
                <a:cs typeface="Segoe UI"/>
              </a:rPr>
              <a:t>ꓴ</a:t>
            </a:r>
            <a:r>
              <a:rPr sz="2400" spc="-145" dirty="0">
                <a:latin typeface="Segoe UI"/>
                <a:cs typeface="Segoe UI"/>
              </a:rPr>
              <a:t> </a:t>
            </a:r>
            <a:r>
              <a:rPr sz="2400" dirty="0">
                <a:latin typeface="Cambria"/>
                <a:cs typeface="Cambria"/>
              </a:rPr>
              <a:t>(in[S]</a:t>
            </a:r>
            <a:r>
              <a:rPr sz="2400" spc="-45" dirty="0">
                <a:latin typeface="Cambria"/>
                <a:cs typeface="Cambria"/>
              </a:rPr>
              <a:t> </a:t>
            </a:r>
            <a:r>
              <a:rPr sz="2400" dirty="0">
                <a:latin typeface="Cambria"/>
                <a:cs typeface="Cambria"/>
              </a:rPr>
              <a:t>–</a:t>
            </a:r>
            <a:r>
              <a:rPr sz="2400" spc="-30" dirty="0">
                <a:latin typeface="Cambria"/>
                <a:cs typeface="Cambria"/>
              </a:rPr>
              <a:t> </a:t>
            </a:r>
            <a:r>
              <a:rPr sz="2400" spc="-10" dirty="0">
                <a:latin typeface="Cambria"/>
                <a:cs typeface="Cambria"/>
              </a:rPr>
              <a:t>kill[S])</a:t>
            </a:r>
            <a:endParaRPr sz="2400" dirty="0">
              <a:latin typeface="Cambria"/>
              <a:cs typeface="Cambria"/>
            </a:endParaRPr>
          </a:p>
        </p:txBody>
      </p:sp>
      <p:sp>
        <p:nvSpPr>
          <p:cNvPr id="4" name="object 4"/>
          <p:cNvSpPr txBox="1">
            <a:spLocks noGrp="1"/>
          </p:cNvSpPr>
          <p:nvPr>
            <p:ph type="title"/>
          </p:nvPr>
        </p:nvSpPr>
        <p:spPr>
          <a:xfrm>
            <a:off x="4101445" y="4270774"/>
            <a:ext cx="2463800" cy="391795"/>
          </a:xfrm>
          <a:prstGeom prst="rect">
            <a:avLst/>
          </a:prstGeom>
        </p:spPr>
        <p:txBody>
          <a:bodyPr vert="horz" wrap="square" lIns="0" tIns="12700" rIns="0" bIns="0" rtlCol="0">
            <a:spAutoFit/>
          </a:bodyPr>
          <a:lstStyle/>
          <a:p>
            <a:pPr marL="12700">
              <a:lnSpc>
                <a:spcPct val="100000"/>
              </a:lnSpc>
              <a:spcBef>
                <a:spcPts val="100"/>
              </a:spcBef>
            </a:pPr>
            <a:r>
              <a:rPr dirty="0"/>
              <a:t>And</a:t>
            </a:r>
            <a:r>
              <a:rPr spc="-55" dirty="0"/>
              <a:t> </a:t>
            </a:r>
            <a:r>
              <a:rPr dirty="0"/>
              <a:t>can</a:t>
            </a:r>
            <a:r>
              <a:rPr spc="-60" dirty="0"/>
              <a:t> </a:t>
            </a:r>
            <a:r>
              <a:rPr dirty="0"/>
              <a:t>be</a:t>
            </a:r>
            <a:r>
              <a:rPr spc="-50" dirty="0"/>
              <a:t> </a:t>
            </a:r>
            <a:r>
              <a:rPr dirty="0"/>
              <a:t>read</a:t>
            </a:r>
            <a:r>
              <a:rPr spc="-50" dirty="0"/>
              <a:t> </a:t>
            </a:r>
            <a:r>
              <a:rPr spc="-25" dirty="0"/>
              <a:t>as</a:t>
            </a:r>
          </a:p>
        </p:txBody>
      </p:sp>
      <p:sp>
        <p:nvSpPr>
          <p:cNvPr id="5" name="object 5"/>
          <p:cNvSpPr txBox="1"/>
          <p:nvPr/>
        </p:nvSpPr>
        <p:spPr>
          <a:xfrm>
            <a:off x="3948429" y="4953000"/>
            <a:ext cx="7160259" cy="1379220"/>
          </a:xfrm>
          <a:prstGeom prst="rect">
            <a:avLst/>
          </a:prstGeom>
        </p:spPr>
        <p:txBody>
          <a:bodyPr vert="horz" wrap="square" lIns="0" tIns="48895" rIns="0" bIns="0" rtlCol="0">
            <a:spAutoFit/>
          </a:bodyPr>
          <a:lstStyle/>
          <a:p>
            <a:pPr marL="12700" marR="5080" algn="just">
              <a:lnSpc>
                <a:spcPct val="90000"/>
              </a:lnSpc>
              <a:spcBef>
                <a:spcPts val="385"/>
              </a:spcBef>
            </a:pPr>
            <a:r>
              <a:rPr sz="2400" dirty="0">
                <a:latin typeface="Cambria"/>
                <a:cs typeface="Cambria"/>
              </a:rPr>
              <a:t>“the</a:t>
            </a:r>
            <a:r>
              <a:rPr sz="2400" spc="450" dirty="0">
                <a:latin typeface="Cambria"/>
                <a:cs typeface="Cambria"/>
              </a:rPr>
              <a:t> </a:t>
            </a:r>
            <a:r>
              <a:rPr sz="2400" dirty="0">
                <a:latin typeface="Cambria"/>
                <a:cs typeface="Cambria"/>
              </a:rPr>
              <a:t>information</a:t>
            </a:r>
            <a:r>
              <a:rPr sz="2400" spc="455" dirty="0">
                <a:latin typeface="Cambria"/>
                <a:cs typeface="Cambria"/>
              </a:rPr>
              <a:t> </a:t>
            </a:r>
            <a:r>
              <a:rPr sz="2400" dirty="0">
                <a:latin typeface="Cambria"/>
                <a:cs typeface="Cambria"/>
              </a:rPr>
              <a:t>at</a:t>
            </a:r>
            <a:r>
              <a:rPr sz="2400" spc="445" dirty="0">
                <a:latin typeface="Cambria"/>
                <a:cs typeface="Cambria"/>
              </a:rPr>
              <a:t> </a:t>
            </a:r>
            <a:r>
              <a:rPr sz="2400" dirty="0">
                <a:latin typeface="Cambria"/>
                <a:cs typeface="Cambria"/>
              </a:rPr>
              <a:t>the</a:t>
            </a:r>
            <a:r>
              <a:rPr sz="2400" spc="455" dirty="0">
                <a:latin typeface="Cambria"/>
                <a:cs typeface="Cambria"/>
              </a:rPr>
              <a:t> </a:t>
            </a:r>
            <a:r>
              <a:rPr sz="2400" dirty="0">
                <a:latin typeface="Cambria"/>
                <a:cs typeface="Cambria"/>
              </a:rPr>
              <a:t>end</a:t>
            </a:r>
            <a:r>
              <a:rPr sz="2400" spc="445" dirty="0">
                <a:latin typeface="Cambria"/>
                <a:cs typeface="Cambria"/>
              </a:rPr>
              <a:t> </a:t>
            </a:r>
            <a:r>
              <a:rPr sz="2400" dirty="0">
                <a:latin typeface="Cambria"/>
                <a:cs typeface="Cambria"/>
              </a:rPr>
              <a:t>of</a:t>
            </a:r>
            <a:r>
              <a:rPr sz="2400" spc="459" dirty="0">
                <a:latin typeface="Cambria"/>
                <a:cs typeface="Cambria"/>
              </a:rPr>
              <a:t> </a:t>
            </a:r>
            <a:r>
              <a:rPr sz="2400" dirty="0">
                <a:latin typeface="Cambria"/>
                <a:cs typeface="Cambria"/>
              </a:rPr>
              <a:t>a</a:t>
            </a:r>
            <a:r>
              <a:rPr sz="2400" spc="445" dirty="0">
                <a:latin typeface="Cambria"/>
                <a:cs typeface="Cambria"/>
              </a:rPr>
              <a:t> </a:t>
            </a:r>
            <a:r>
              <a:rPr sz="2400" dirty="0">
                <a:latin typeface="Cambria"/>
                <a:cs typeface="Cambria"/>
              </a:rPr>
              <a:t>statement</a:t>
            </a:r>
            <a:r>
              <a:rPr sz="2400" spc="455" dirty="0">
                <a:latin typeface="Cambria"/>
                <a:cs typeface="Cambria"/>
              </a:rPr>
              <a:t> </a:t>
            </a:r>
            <a:r>
              <a:rPr sz="2400" dirty="0">
                <a:latin typeface="Cambria"/>
                <a:cs typeface="Cambria"/>
              </a:rPr>
              <a:t>is</a:t>
            </a:r>
            <a:r>
              <a:rPr sz="2400" spc="450" dirty="0">
                <a:latin typeface="Cambria"/>
                <a:cs typeface="Cambria"/>
              </a:rPr>
              <a:t> </a:t>
            </a:r>
            <a:r>
              <a:rPr sz="2400" spc="-10" dirty="0">
                <a:latin typeface="Cambria"/>
                <a:cs typeface="Cambria"/>
              </a:rPr>
              <a:t>either </a:t>
            </a:r>
            <a:r>
              <a:rPr sz="2400" dirty="0">
                <a:latin typeface="Cambria"/>
                <a:cs typeface="Cambria"/>
              </a:rPr>
              <a:t>generated</a:t>
            </a:r>
            <a:r>
              <a:rPr sz="2400" spc="220" dirty="0">
                <a:latin typeface="Cambria"/>
                <a:cs typeface="Cambria"/>
              </a:rPr>
              <a:t>  </a:t>
            </a:r>
            <a:r>
              <a:rPr sz="2400" dirty="0">
                <a:latin typeface="Cambria"/>
                <a:cs typeface="Cambria"/>
              </a:rPr>
              <a:t>within</a:t>
            </a:r>
            <a:r>
              <a:rPr sz="2400" spc="225" dirty="0">
                <a:latin typeface="Cambria"/>
                <a:cs typeface="Cambria"/>
              </a:rPr>
              <a:t>  </a:t>
            </a:r>
            <a:r>
              <a:rPr sz="2400" dirty="0">
                <a:latin typeface="Cambria"/>
                <a:cs typeface="Cambria"/>
              </a:rPr>
              <a:t>the</a:t>
            </a:r>
            <a:r>
              <a:rPr sz="2400" spc="229" dirty="0">
                <a:latin typeface="Cambria"/>
                <a:cs typeface="Cambria"/>
              </a:rPr>
              <a:t>  </a:t>
            </a:r>
            <a:r>
              <a:rPr sz="2400" dirty="0">
                <a:latin typeface="Cambria"/>
                <a:cs typeface="Cambria"/>
              </a:rPr>
              <a:t>statement,</a:t>
            </a:r>
            <a:r>
              <a:rPr sz="2400" spc="225" dirty="0">
                <a:latin typeface="Cambria"/>
                <a:cs typeface="Cambria"/>
              </a:rPr>
              <a:t>  </a:t>
            </a:r>
            <a:r>
              <a:rPr sz="2400" dirty="0">
                <a:latin typeface="Cambria"/>
                <a:cs typeface="Cambria"/>
              </a:rPr>
              <a:t>or</a:t>
            </a:r>
            <a:r>
              <a:rPr sz="2400" spc="220" dirty="0">
                <a:latin typeface="Cambria"/>
                <a:cs typeface="Cambria"/>
              </a:rPr>
              <a:t>  </a:t>
            </a:r>
            <a:r>
              <a:rPr sz="2400" dirty="0">
                <a:latin typeface="Cambria"/>
                <a:cs typeface="Cambria"/>
              </a:rPr>
              <a:t>enters</a:t>
            </a:r>
            <a:r>
              <a:rPr sz="2400" spc="229" dirty="0">
                <a:latin typeface="Cambria"/>
                <a:cs typeface="Cambria"/>
              </a:rPr>
              <a:t>  </a:t>
            </a:r>
            <a:r>
              <a:rPr sz="2400" dirty="0">
                <a:latin typeface="Cambria"/>
                <a:cs typeface="Cambria"/>
              </a:rPr>
              <a:t>at</a:t>
            </a:r>
            <a:r>
              <a:rPr sz="2400" spc="225" dirty="0">
                <a:latin typeface="Cambria"/>
                <a:cs typeface="Cambria"/>
              </a:rPr>
              <a:t>  </a:t>
            </a:r>
            <a:r>
              <a:rPr sz="2400" spc="-25" dirty="0">
                <a:latin typeface="Cambria"/>
                <a:cs typeface="Cambria"/>
              </a:rPr>
              <a:t>the </a:t>
            </a:r>
            <a:r>
              <a:rPr sz="2400" dirty="0">
                <a:latin typeface="Cambria"/>
                <a:cs typeface="Cambria"/>
              </a:rPr>
              <a:t>beginning</a:t>
            </a:r>
            <a:r>
              <a:rPr sz="2400" spc="420" dirty="0">
                <a:latin typeface="Cambria"/>
                <a:cs typeface="Cambria"/>
              </a:rPr>
              <a:t> </a:t>
            </a:r>
            <a:r>
              <a:rPr sz="2400" dirty="0">
                <a:latin typeface="Cambria"/>
                <a:cs typeface="Cambria"/>
              </a:rPr>
              <a:t>and</a:t>
            </a:r>
            <a:r>
              <a:rPr sz="2400" spc="425" dirty="0">
                <a:latin typeface="Cambria"/>
                <a:cs typeface="Cambria"/>
              </a:rPr>
              <a:t> </a:t>
            </a:r>
            <a:r>
              <a:rPr sz="2400" dirty="0">
                <a:latin typeface="Cambria"/>
                <a:cs typeface="Cambria"/>
              </a:rPr>
              <a:t>is</a:t>
            </a:r>
            <a:r>
              <a:rPr sz="2400" spc="425" dirty="0">
                <a:latin typeface="Cambria"/>
                <a:cs typeface="Cambria"/>
              </a:rPr>
              <a:t> </a:t>
            </a:r>
            <a:r>
              <a:rPr sz="2400" dirty="0">
                <a:latin typeface="Cambria"/>
                <a:cs typeface="Cambria"/>
              </a:rPr>
              <a:t>not</a:t>
            </a:r>
            <a:r>
              <a:rPr sz="2400" spc="420" dirty="0">
                <a:latin typeface="Cambria"/>
                <a:cs typeface="Cambria"/>
              </a:rPr>
              <a:t> </a:t>
            </a:r>
            <a:r>
              <a:rPr sz="2400" dirty="0">
                <a:latin typeface="Cambria"/>
                <a:cs typeface="Cambria"/>
              </a:rPr>
              <a:t>killed</a:t>
            </a:r>
            <a:r>
              <a:rPr sz="2400" spc="425" dirty="0">
                <a:latin typeface="Cambria"/>
                <a:cs typeface="Cambria"/>
              </a:rPr>
              <a:t> </a:t>
            </a:r>
            <a:r>
              <a:rPr sz="2400" dirty="0">
                <a:latin typeface="Cambria"/>
                <a:cs typeface="Cambria"/>
              </a:rPr>
              <a:t>as</a:t>
            </a:r>
            <a:r>
              <a:rPr sz="2400" spc="425" dirty="0">
                <a:latin typeface="Cambria"/>
                <a:cs typeface="Cambria"/>
              </a:rPr>
              <a:t> </a:t>
            </a:r>
            <a:r>
              <a:rPr sz="2400" dirty="0">
                <a:latin typeface="Cambria"/>
                <a:cs typeface="Cambria"/>
              </a:rPr>
              <a:t>control</a:t>
            </a:r>
            <a:r>
              <a:rPr sz="2400" spc="409" dirty="0">
                <a:latin typeface="Cambria"/>
                <a:cs typeface="Cambria"/>
              </a:rPr>
              <a:t> </a:t>
            </a:r>
            <a:r>
              <a:rPr sz="2400" dirty="0">
                <a:latin typeface="Cambria"/>
                <a:cs typeface="Cambria"/>
              </a:rPr>
              <a:t>flows</a:t>
            </a:r>
            <a:r>
              <a:rPr sz="2400" spc="440" dirty="0">
                <a:latin typeface="Cambria"/>
                <a:cs typeface="Cambria"/>
              </a:rPr>
              <a:t> </a:t>
            </a:r>
            <a:r>
              <a:rPr sz="2400" spc="-10" dirty="0">
                <a:latin typeface="Cambria"/>
                <a:cs typeface="Cambria"/>
              </a:rPr>
              <a:t>through </a:t>
            </a:r>
            <a:r>
              <a:rPr sz="2400" dirty="0">
                <a:latin typeface="Cambria"/>
                <a:cs typeface="Cambria"/>
              </a:rPr>
              <a:t>the</a:t>
            </a:r>
            <a:r>
              <a:rPr sz="2400" spc="-35" dirty="0">
                <a:latin typeface="Cambria"/>
                <a:cs typeface="Cambria"/>
              </a:rPr>
              <a:t> </a:t>
            </a:r>
            <a:r>
              <a:rPr sz="2400" spc="-10" dirty="0">
                <a:latin typeface="Cambria"/>
                <a:cs typeface="Cambria"/>
              </a:rPr>
              <a:t>statement”.</a:t>
            </a:r>
            <a:endParaRPr sz="2400" dirty="0">
              <a:latin typeface="Cambria"/>
              <a:cs typeface="Cambria"/>
            </a:endParaRPr>
          </a:p>
        </p:txBody>
      </p:sp>
      <p:sp>
        <p:nvSpPr>
          <p:cNvPr id="7" name="TextBox 6">
            <a:extLst>
              <a:ext uri="{FF2B5EF4-FFF2-40B4-BE49-F238E27FC236}">
                <a16:creationId xmlns:a16="http://schemas.microsoft.com/office/drawing/2014/main" id="{7ED91CEB-7109-D6EE-0DFF-36B177726CF7}"/>
              </a:ext>
            </a:extLst>
          </p:cNvPr>
          <p:cNvSpPr txBox="1"/>
          <p:nvPr/>
        </p:nvSpPr>
        <p:spPr>
          <a:xfrm>
            <a:off x="4101445" y="2909931"/>
            <a:ext cx="6094206" cy="1200329"/>
          </a:xfrm>
          <a:prstGeom prst="rect">
            <a:avLst/>
          </a:prstGeom>
          <a:noFill/>
        </p:spPr>
        <p:txBody>
          <a:bodyPr wrap="square">
            <a:spAutoFit/>
          </a:bodyPr>
          <a:lstStyle/>
          <a:p>
            <a:r>
              <a:rPr lang="en-US" sz="2400" b="0" i="0" dirty="0">
                <a:solidFill>
                  <a:srgbClr val="0A0A0A"/>
                </a:solidFill>
                <a:effectLst/>
                <a:latin typeface="Google Sans"/>
              </a:rPr>
              <a:t>which determine what definitions or variables are generated or "killed" (overwritten) as control flows.</a:t>
            </a:r>
            <a:endParaRPr lang="en-I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8632-4D5E-DF10-9FA9-6E4AF700C4BB}"/>
              </a:ext>
            </a:extLst>
          </p:cNvPr>
          <p:cNvSpPr>
            <a:spLocks noGrp="1"/>
          </p:cNvSpPr>
          <p:nvPr>
            <p:ph type="title"/>
          </p:nvPr>
        </p:nvSpPr>
        <p:spPr>
          <a:xfrm>
            <a:off x="3583304" y="753821"/>
            <a:ext cx="7037070" cy="1477328"/>
          </a:xfrm>
        </p:spPr>
        <p:txBody>
          <a:bodyPr/>
          <a:lstStyle/>
          <a:p>
            <a:r>
              <a:rPr lang="en-US" b="1" dirty="0"/>
              <a:t>gen[S] is the set of definitions “generated” by S while kill[S] is the set of definitions that never reach the end of S.</a:t>
            </a:r>
            <a:br>
              <a:rPr lang="en-IN" b="1" dirty="0"/>
            </a:br>
            <a:endParaRPr lang="en-IN" dirty="0"/>
          </a:p>
        </p:txBody>
      </p:sp>
      <p:sp>
        <p:nvSpPr>
          <p:cNvPr id="3" name="Text Placeholder 2">
            <a:extLst>
              <a:ext uri="{FF2B5EF4-FFF2-40B4-BE49-F238E27FC236}">
                <a16:creationId xmlns:a16="http://schemas.microsoft.com/office/drawing/2014/main" id="{7AE8385B-E573-7EA7-81F6-B33CDE19B51A}"/>
              </a:ext>
            </a:extLst>
          </p:cNvPr>
          <p:cNvSpPr>
            <a:spLocks noGrp="1"/>
          </p:cNvSpPr>
          <p:nvPr>
            <p:ph type="body" idx="1"/>
          </p:nvPr>
        </p:nvSpPr>
        <p:spPr>
          <a:xfrm>
            <a:off x="3761591" y="4103282"/>
            <a:ext cx="8046084" cy="2585323"/>
          </a:xfrm>
        </p:spPr>
        <p:txBody>
          <a:bodyPr/>
          <a:lstStyle/>
          <a:p>
            <a:r>
              <a:rPr lang="en-US" dirty="0"/>
              <a:t>gen [S] = { d }</a:t>
            </a:r>
            <a:endParaRPr lang="en-IN" dirty="0"/>
          </a:p>
          <a:p>
            <a:r>
              <a:rPr lang="en-US" dirty="0"/>
              <a:t>kill [S] = D</a:t>
            </a:r>
            <a:r>
              <a:rPr lang="en-US" baseline="-25000" dirty="0"/>
              <a:t>a</a:t>
            </a:r>
            <a:r>
              <a:rPr lang="en-US" dirty="0"/>
              <a:t> – { d }</a:t>
            </a:r>
            <a:endParaRPr lang="en-IN" dirty="0"/>
          </a:p>
          <a:p>
            <a:r>
              <a:rPr lang="en-US" dirty="0"/>
              <a:t>out [S] = gen [S] U ( in[S] – kill[S] )</a:t>
            </a:r>
            <a:endParaRPr lang="en-IN" dirty="0"/>
          </a:p>
          <a:p>
            <a:r>
              <a:rPr lang="en-US" dirty="0"/>
              <a:t> On the other hand, d “kills” all other definitions of a, so we write Kill[S] = D</a:t>
            </a:r>
            <a:r>
              <a:rPr lang="en-US" baseline="-25000" dirty="0"/>
              <a:t>a</a:t>
            </a:r>
            <a:r>
              <a:rPr lang="en-US" dirty="0"/>
              <a:t> – {d}</a:t>
            </a:r>
            <a:endParaRPr lang="en-IN" dirty="0"/>
          </a:p>
          <a:p>
            <a:endParaRPr lang="en-IN" dirty="0"/>
          </a:p>
          <a:p>
            <a:endParaRPr lang="en-IN" dirty="0"/>
          </a:p>
        </p:txBody>
      </p:sp>
      <p:grpSp>
        <p:nvGrpSpPr>
          <p:cNvPr id="4" name="Group 3">
            <a:extLst>
              <a:ext uri="{FF2B5EF4-FFF2-40B4-BE49-F238E27FC236}">
                <a16:creationId xmlns:a16="http://schemas.microsoft.com/office/drawing/2014/main" id="{4EE3AF9B-A8A6-FE22-C5CC-AEF40D55F943}"/>
              </a:ext>
            </a:extLst>
          </p:cNvPr>
          <p:cNvGrpSpPr>
            <a:grpSpLocks/>
          </p:cNvGrpSpPr>
          <p:nvPr/>
        </p:nvGrpSpPr>
        <p:grpSpPr>
          <a:xfrm>
            <a:off x="3771900" y="1889670"/>
            <a:ext cx="838200" cy="1844129"/>
            <a:chOff x="4572" y="0"/>
            <a:chExt cx="838200" cy="1607794"/>
          </a:xfrm>
        </p:grpSpPr>
        <p:pic>
          <p:nvPicPr>
            <p:cNvPr id="5" name="Image 2772">
              <a:extLst>
                <a:ext uri="{FF2B5EF4-FFF2-40B4-BE49-F238E27FC236}">
                  <a16:creationId xmlns:a16="http://schemas.microsoft.com/office/drawing/2014/main" id="{073189C2-2E0C-D152-D569-4067AF8B7EED}"/>
                </a:ext>
              </a:extLst>
            </p:cNvPr>
            <p:cNvPicPr/>
            <p:nvPr/>
          </p:nvPicPr>
          <p:blipFill>
            <a:blip r:embed="rId3" cstate="print"/>
            <a:stretch>
              <a:fillRect/>
            </a:stretch>
          </p:blipFill>
          <p:spPr>
            <a:xfrm>
              <a:off x="304800" y="0"/>
              <a:ext cx="236207" cy="236194"/>
            </a:xfrm>
            <a:prstGeom prst="rect">
              <a:avLst/>
            </a:prstGeom>
          </p:spPr>
        </p:pic>
        <p:sp>
          <p:nvSpPr>
            <p:cNvPr id="6" name="Graphic 2773">
              <a:extLst>
                <a:ext uri="{FF2B5EF4-FFF2-40B4-BE49-F238E27FC236}">
                  <a16:creationId xmlns:a16="http://schemas.microsoft.com/office/drawing/2014/main" id="{F1849D2C-6927-98BE-441C-B3C22F8D02A0}"/>
                </a:ext>
              </a:extLst>
            </p:cNvPr>
            <p:cNvSpPr/>
            <p:nvPr/>
          </p:nvSpPr>
          <p:spPr>
            <a:xfrm>
              <a:off x="4572" y="574522"/>
              <a:ext cx="838200" cy="457200"/>
            </a:xfrm>
            <a:custGeom>
              <a:avLst/>
              <a:gdLst/>
              <a:ahLst/>
              <a:cxnLst/>
              <a:rect l="l" t="t" r="r" b="b"/>
              <a:pathLst>
                <a:path w="838200" h="457200">
                  <a:moveTo>
                    <a:pt x="419100" y="0"/>
                  </a:moveTo>
                  <a:lnTo>
                    <a:pt x="357132" y="2507"/>
                  </a:lnTo>
                  <a:lnTo>
                    <a:pt x="297999" y="9783"/>
                  </a:lnTo>
                  <a:lnTo>
                    <a:pt x="242348" y="21457"/>
                  </a:lnTo>
                  <a:lnTo>
                    <a:pt x="190824" y="37156"/>
                  </a:lnTo>
                  <a:lnTo>
                    <a:pt x="144074" y="56510"/>
                  </a:lnTo>
                  <a:lnTo>
                    <a:pt x="102744" y="79147"/>
                  </a:lnTo>
                  <a:lnTo>
                    <a:pt x="67479" y="104697"/>
                  </a:lnTo>
                  <a:lnTo>
                    <a:pt x="38926" y="132789"/>
                  </a:lnTo>
                  <a:lnTo>
                    <a:pt x="4540" y="195111"/>
                  </a:lnTo>
                  <a:lnTo>
                    <a:pt x="0" y="228600"/>
                  </a:lnTo>
                  <a:lnTo>
                    <a:pt x="4540" y="262437"/>
                  </a:lnTo>
                  <a:lnTo>
                    <a:pt x="38926" y="325081"/>
                  </a:lnTo>
                  <a:lnTo>
                    <a:pt x="67479" y="353186"/>
                  </a:lnTo>
                  <a:lnTo>
                    <a:pt x="102744" y="378680"/>
                  </a:lnTo>
                  <a:lnTo>
                    <a:pt x="144074" y="401213"/>
                  </a:lnTo>
                  <a:lnTo>
                    <a:pt x="190824" y="420434"/>
                  </a:lnTo>
                  <a:lnTo>
                    <a:pt x="242348" y="435994"/>
                  </a:lnTo>
                  <a:lnTo>
                    <a:pt x="297999" y="447541"/>
                  </a:lnTo>
                  <a:lnTo>
                    <a:pt x="357132" y="454727"/>
                  </a:lnTo>
                  <a:lnTo>
                    <a:pt x="419100" y="457200"/>
                  </a:lnTo>
                  <a:lnTo>
                    <a:pt x="481067" y="454727"/>
                  </a:lnTo>
                  <a:lnTo>
                    <a:pt x="540200" y="447541"/>
                  </a:lnTo>
                  <a:lnTo>
                    <a:pt x="595851" y="435994"/>
                  </a:lnTo>
                  <a:lnTo>
                    <a:pt x="647375" y="420434"/>
                  </a:lnTo>
                  <a:lnTo>
                    <a:pt x="694125" y="401213"/>
                  </a:lnTo>
                  <a:lnTo>
                    <a:pt x="735455" y="378680"/>
                  </a:lnTo>
                  <a:lnTo>
                    <a:pt x="770720" y="353186"/>
                  </a:lnTo>
                  <a:lnTo>
                    <a:pt x="799273" y="325081"/>
                  </a:lnTo>
                  <a:lnTo>
                    <a:pt x="833659" y="262437"/>
                  </a:lnTo>
                  <a:lnTo>
                    <a:pt x="838200" y="228600"/>
                  </a:lnTo>
                  <a:lnTo>
                    <a:pt x="833659" y="195111"/>
                  </a:lnTo>
                  <a:lnTo>
                    <a:pt x="799273" y="132789"/>
                  </a:lnTo>
                  <a:lnTo>
                    <a:pt x="770720" y="104697"/>
                  </a:lnTo>
                  <a:lnTo>
                    <a:pt x="735455" y="79147"/>
                  </a:lnTo>
                  <a:lnTo>
                    <a:pt x="694125" y="56510"/>
                  </a:lnTo>
                  <a:lnTo>
                    <a:pt x="647375" y="37156"/>
                  </a:lnTo>
                  <a:lnTo>
                    <a:pt x="595851" y="21457"/>
                  </a:lnTo>
                  <a:lnTo>
                    <a:pt x="540200" y="9783"/>
                  </a:lnTo>
                  <a:lnTo>
                    <a:pt x="481067" y="2507"/>
                  </a:lnTo>
                  <a:lnTo>
                    <a:pt x="419100" y="0"/>
                  </a:lnTo>
                </a:path>
              </a:pathLst>
            </a:custGeom>
            <a:ln w="9144">
              <a:solidFill>
                <a:srgbClr val="000000"/>
              </a:solidFill>
              <a:prstDash val="solid"/>
            </a:ln>
          </p:spPr>
          <p:txBody>
            <a:bodyPr wrap="square" lIns="0" tIns="0" rIns="0" bIns="0" rtlCol="0">
              <a:prstTxWarp prst="textNoShape">
                <a:avLst/>
              </a:prstTxWarp>
              <a:noAutofit/>
            </a:bodyPr>
            <a:lstStyle/>
            <a:p>
              <a:endParaRPr lang="en-IN"/>
            </a:p>
          </p:txBody>
        </p:sp>
        <p:sp>
          <p:nvSpPr>
            <p:cNvPr id="7" name="Graphic 2774">
              <a:extLst>
                <a:ext uri="{FF2B5EF4-FFF2-40B4-BE49-F238E27FC236}">
                  <a16:creationId xmlns:a16="http://schemas.microsoft.com/office/drawing/2014/main" id="{9C4BE52B-3FE9-54E3-4447-C75BD54B5465}"/>
                </a:ext>
              </a:extLst>
            </p:cNvPr>
            <p:cNvSpPr/>
            <p:nvPr/>
          </p:nvSpPr>
          <p:spPr>
            <a:xfrm>
              <a:off x="347472" y="228600"/>
              <a:ext cx="76200" cy="347980"/>
            </a:xfrm>
            <a:custGeom>
              <a:avLst/>
              <a:gdLst/>
              <a:ahLst/>
              <a:cxnLst/>
              <a:rect l="l" t="t" r="r" b="b"/>
              <a:pathLst>
                <a:path w="76200" h="347980">
                  <a:moveTo>
                    <a:pt x="33540" y="271272"/>
                  </a:moveTo>
                  <a:lnTo>
                    <a:pt x="0" y="271272"/>
                  </a:lnTo>
                  <a:lnTo>
                    <a:pt x="38100" y="347472"/>
                  </a:lnTo>
                  <a:lnTo>
                    <a:pt x="67817" y="288036"/>
                  </a:lnTo>
                  <a:lnTo>
                    <a:pt x="38100" y="288036"/>
                  </a:lnTo>
                  <a:lnTo>
                    <a:pt x="35077" y="286499"/>
                  </a:lnTo>
                  <a:lnTo>
                    <a:pt x="33540" y="283464"/>
                  </a:lnTo>
                  <a:lnTo>
                    <a:pt x="33540" y="271272"/>
                  </a:lnTo>
                  <a:close/>
                </a:path>
                <a:path w="76200" h="347980">
                  <a:moveTo>
                    <a:pt x="38100" y="0"/>
                  </a:moveTo>
                  <a:lnTo>
                    <a:pt x="35077" y="1536"/>
                  </a:lnTo>
                  <a:lnTo>
                    <a:pt x="33540" y="4572"/>
                  </a:lnTo>
                  <a:lnTo>
                    <a:pt x="33540" y="283464"/>
                  </a:lnTo>
                  <a:lnTo>
                    <a:pt x="35077" y="286499"/>
                  </a:lnTo>
                  <a:lnTo>
                    <a:pt x="38100" y="288036"/>
                  </a:lnTo>
                  <a:lnTo>
                    <a:pt x="42659" y="286499"/>
                  </a:lnTo>
                  <a:lnTo>
                    <a:pt x="42659" y="4572"/>
                  </a:lnTo>
                  <a:lnTo>
                    <a:pt x="41122" y="1536"/>
                  </a:lnTo>
                  <a:lnTo>
                    <a:pt x="38100" y="0"/>
                  </a:lnTo>
                  <a:close/>
                </a:path>
                <a:path w="76200" h="347980">
                  <a:moveTo>
                    <a:pt x="76200" y="271272"/>
                  </a:moveTo>
                  <a:lnTo>
                    <a:pt x="42659" y="271272"/>
                  </a:lnTo>
                  <a:lnTo>
                    <a:pt x="42659" y="286499"/>
                  </a:lnTo>
                  <a:lnTo>
                    <a:pt x="38100" y="288036"/>
                  </a:lnTo>
                  <a:lnTo>
                    <a:pt x="67817" y="288036"/>
                  </a:lnTo>
                  <a:lnTo>
                    <a:pt x="76200" y="271272"/>
                  </a:lnTo>
                  <a:close/>
                </a:path>
              </a:pathLst>
            </a:custGeom>
            <a:solidFill>
              <a:srgbClr val="000000"/>
            </a:solidFill>
          </p:spPr>
          <p:txBody>
            <a:bodyPr wrap="square" lIns="0" tIns="0" rIns="0" bIns="0" rtlCol="0">
              <a:prstTxWarp prst="textNoShape">
                <a:avLst/>
              </a:prstTxWarp>
              <a:noAutofit/>
            </a:bodyPr>
            <a:lstStyle/>
            <a:p>
              <a:endParaRPr lang="en-IN"/>
            </a:p>
          </p:txBody>
        </p:sp>
        <p:pic>
          <p:nvPicPr>
            <p:cNvPr id="8" name="Image 2775">
              <a:extLst>
                <a:ext uri="{FF2B5EF4-FFF2-40B4-BE49-F238E27FC236}">
                  <a16:creationId xmlns:a16="http://schemas.microsoft.com/office/drawing/2014/main" id="{2C7E8F98-F8A4-E244-A366-DBCE089FC66B}"/>
                </a:ext>
              </a:extLst>
            </p:cNvPr>
            <p:cNvPicPr/>
            <p:nvPr/>
          </p:nvPicPr>
          <p:blipFill>
            <a:blip r:embed="rId4" cstate="print"/>
            <a:stretch>
              <a:fillRect/>
            </a:stretch>
          </p:blipFill>
          <p:spPr>
            <a:xfrm>
              <a:off x="304800" y="1370050"/>
              <a:ext cx="236207" cy="237744"/>
            </a:xfrm>
            <a:prstGeom prst="rect">
              <a:avLst/>
            </a:prstGeom>
          </p:spPr>
        </p:pic>
        <p:sp>
          <p:nvSpPr>
            <p:cNvPr id="9" name="Graphic 2776">
              <a:extLst>
                <a:ext uri="{FF2B5EF4-FFF2-40B4-BE49-F238E27FC236}">
                  <a16:creationId xmlns:a16="http://schemas.microsoft.com/office/drawing/2014/main" id="{F055FF53-0DFA-764F-B5B9-44538F9EBAC1}"/>
                </a:ext>
              </a:extLst>
            </p:cNvPr>
            <p:cNvSpPr/>
            <p:nvPr/>
          </p:nvSpPr>
          <p:spPr>
            <a:xfrm>
              <a:off x="347472" y="1027163"/>
              <a:ext cx="76200" cy="347980"/>
            </a:xfrm>
            <a:custGeom>
              <a:avLst/>
              <a:gdLst/>
              <a:ahLst/>
              <a:cxnLst/>
              <a:rect l="l" t="t" r="r" b="b"/>
              <a:pathLst>
                <a:path w="76200" h="347980">
                  <a:moveTo>
                    <a:pt x="33540" y="271259"/>
                  </a:moveTo>
                  <a:lnTo>
                    <a:pt x="0" y="271259"/>
                  </a:lnTo>
                  <a:lnTo>
                    <a:pt x="38100" y="347459"/>
                  </a:lnTo>
                  <a:lnTo>
                    <a:pt x="67043" y="289572"/>
                  </a:lnTo>
                  <a:lnTo>
                    <a:pt x="38100" y="289572"/>
                  </a:lnTo>
                  <a:lnTo>
                    <a:pt x="35077" y="288036"/>
                  </a:lnTo>
                  <a:lnTo>
                    <a:pt x="33540" y="285000"/>
                  </a:lnTo>
                  <a:lnTo>
                    <a:pt x="33540" y="271259"/>
                  </a:lnTo>
                  <a:close/>
                </a:path>
                <a:path w="76200" h="347980">
                  <a:moveTo>
                    <a:pt x="38100" y="0"/>
                  </a:moveTo>
                  <a:lnTo>
                    <a:pt x="35077" y="1536"/>
                  </a:lnTo>
                  <a:lnTo>
                    <a:pt x="33540" y="4559"/>
                  </a:lnTo>
                  <a:lnTo>
                    <a:pt x="33540" y="285000"/>
                  </a:lnTo>
                  <a:lnTo>
                    <a:pt x="35077" y="288036"/>
                  </a:lnTo>
                  <a:lnTo>
                    <a:pt x="38100" y="289572"/>
                  </a:lnTo>
                  <a:lnTo>
                    <a:pt x="42659" y="288036"/>
                  </a:lnTo>
                  <a:lnTo>
                    <a:pt x="42659" y="4559"/>
                  </a:lnTo>
                  <a:lnTo>
                    <a:pt x="41122" y="1536"/>
                  </a:lnTo>
                  <a:lnTo>
                    <a:pt x="38100" y="0"/>
                  </a:lnTo>
                  <a:close/>
                </a:path>
                <a:path w="76200" h="347980">
                  <a:moveTo>
                    <a:pt x="76200" y="271259"/>
                  </a:moveTo>
                  <a:lnTo>
                    <a:pt x="42659" y="271259"/>
                  </a:lnTo>
                  <a:lnTo>
                    <a:pt x="42659" y="288036"/>
                  </a:lnTo>
                  <a:lnTo>
                    <a:pt x="38100" y="289572"/>
                  </a:lnTo>
                  <a:lnTo>
                    <a:pt x="67043" y="289572"/>
                  </a:lnTo>
                  <a:lnTo>
                    <a:pt x="76200" y="271259"/>
                  </a:lnTo>
                  <a:close/>
                </a:path>
              </a:pathLst>
            </a:custGeom>
            <a:solidFill>
              <a:srgbClr val="000000"/>
            </a:solidFill>
          </p:spPr>
          <p:txBody>
            <a:bodyPr wrap="square" lIns="0" tIns="0" rIns="0" bIns="0" rtlCol="0">
              <a:prstTxWarp prst="textNoShape">
                <a:avLst/>
              </a:prstTxWarp>
              <a:noAutofit/>
            </a:bodyPr>
            <a:lstStyle/>
            <a:p>
              <a:endParaRPr lang="en-IN"/>
            </a:p>
          </p:txBody>
        </p:sp>
        <p:sp>
          <p:nvSpPr>
            <p:cNvPr id="10" name="Textbox 2777">
              <a:extLst>
                <a:ext uri="{FF2B5EF4-FFF2-40B4-BE49-F238E27FC236}">
                  <a16:creationId xmlns:a16="http://schemas.microsoft.com/office/drawing/2014/main" id="{69857EC0-1382-954E-3337-BEBCB21F17D9}"/>
                </a:ext>
              </a:extLst>
            </p:cNvPr>
            <p:cNvSpPr txBox="1"/>
            <p:nvPr/>
          </p:nvSpPr>
          <p:spPr>
            <a:xfrm>
              <a:off x="385572" y="705612"/>
              <a:ext cx="77470" cy="140335"/>
            </a:xfrm>
            <a:prstGeom prst="rect">
              <a:avLst/>
            </a:prstGeom>
          </p:spPr>
          <p:txBody>
            <a:bodyPr wrap="square" lIns="0" tIns="0" rIns="0" bIns="0" rtlCol="0">
              <a:noAutofit/>
            </a:bodyPr>
            <a:lstStyle/>
            <a:p>
              <a:pPr>
                <a:lnSpc>
                  <a:spcPts val="1105"/>
                </a:lnSpc>
                <a:buNone/>
              </a:pPr>
              <a:r>
                <a:rPr lang="en-US" sz="1100" spc="-50">
                  <a:effectLst/>
                  <a:latin typeface="Calibri" panose="020F0502020204030204" pitchFamily="34" charset="0"/>
                  <a:ea typeface="Times New Roman" panose="02020603050405020304" pitchFamily="18" charset="0"/>
                  <a:cs typeface="Times New Roman" panose="02020603050405020304" pitchFamily="18" charset="0"/>
                </a:rPr>
                <a:t>S</a:t>
              </a:r>
              <a:endParaRPr lang="en-IN" sz="1100">
                <a:effectLst/>
                <a:latin typeface="Times New Roman" panose="02020603050405020304" pitchFamily="18" charset="0"/>
                <a:ea typeface="Times New Roman" panose="02020603050405020304" pitchFamily="18" charset="0"/>
              </a:endParaRPr>
            </a:p>
          </p:txBody>
        </p:sp>
      </p:grpSp>
      <p:grpSp>
        <p:nvGrpSpPr>
          <p:cNvPr id="11" name="Group 10">
            <a:extLst>
              <a:ext uri="{FF2B5EF4-FFF2-40B4-BE49-F238E27FC236}">
                <a16:creationId xmlns:a16="http://schemas.microsoft.com/office/drawing/2014/main" id="{D316E1CD-5917-BEBF-23C9-2BB49610F17F}"/>
              </a:ext>
            </a:extLst>
          </p:cNvPr>
          <p:cNvGrpSpPr>
            <a:grpSpLocks/>
          </p:cNvGrpSpPr>
          <p:nvPr/>
        </p:nvGrpSpPr>
        <p:grpSpPr>
          <a:xfrm>
            <a:off x="5410200" y="1965128"/>
            <a:ext cx="1214120" cy="1921071"/>
            <a:chOff x="4572" y="0"/>
            <a:chExt cx="990600" cy="1493494"/>
          </a:xfrm>
        </p:grpSpPr>
        <p:pic>
          <p:nvPicPr>
            <p:cNvPr id="12" name="Image 2779">
              <a:extLst>
                <a:ext uri="{FF2B5EF4-FFF2-40B4-BE49-F238E27FC236}">
                  <a16:creationId xmlns:a16="http://schemas.microsoft.com/office/drawing/2014/main" id="{59034C2C-1637-8780-6494-D47019A9CFD0}"/>
                </a:ext>
              </a:extLst>
            </p:cNvPr>
            <p:cNvPicPr/>
            <p:nvPr/>
          </p:nvPicPr>
          <p:blipFill>
            <a:blip r:embed="rId4" cstate="print"/>
            <a:stretch>
              <a:fillRect/>
            </a:stretch>
          </p:blipFill>
          <p:spPr>
            <a:xfrm>
              <a:off x="304800" y="1255750"/>
              <a:ext cx="236207" cy="237744"/>
            </a:xfrm>
            <a:prstGeom prst="rect">
              <a:avLst/>
            </a:prstGeom>
          </p:spPr>
        </p:pic>
        <p:pic>
          <p:nvPicPr>
            <p:cNvPr id="13" name="Image 2780">
              <a:extLst>
                <a:ext uri="{FF2B5EF4-FFF2-40B4-BE49-F238E27FC236}">
                  <a16:creationId xmlns:a16="http://schemas.microsoft.com/office/drawing/2014/main" id="{2C5F35DF-6753-ECCB-EB62-3CA085BF04DA}"/>
                </a:ext>
              </a:extLst>
            </p:cNvPr>
            <p:cNvPicPr/>
            <p:nvPr/>
          </p:nvPicPr>
          <p:blipFill>
            <a:blip r:embed="rId3" cstate="print"/>
            <a:stretch>
              <a:fillRect/>
            </a:stretch>
          </p:blipFill>
          <p:spPr>
            <a:xfrm>
              <a:off x="304800" y="0"/>
              <a:ext cx="236207" cy="236194"/>
            </a:xfrm>
            <a:prstGeom prst="rect">
              <a:avLst/>
            </a:prstGeom>
          </p:spPr>
        </p:pic>
        <p:sp>
          <p:nvSpPr>
            <p:cNvPr id="14" name="Graphic 2781">
              <a:extLst>
                <a:ext uri="{FF2B5EF4-FFF2-40B4-BE49-F238E27FC236}">
                  <a16:creationId xmlns:a16="http://schemas.microsoft.com/office/drawing/2014/main" id="{5D31F04D-6D5A-8761-40CD-BC577ABB83DE}"/>
                </a:ext>
              </a:extLst>
            </p:cNvPr>
            <p:cNvSpPr/>
            <p:nvPr/>
          </p:nvSpPr>
          <p:spPr>
            <a:xfrm>
              <a:off x="423672" y="228599"/>
              <a:ext cx="76200" cy="1031875"/>
            </a:xfrm>
            <a:custGeom>
              <a:avLst/>
              <a:gdLst/>
              <a:ahLst/>
              <a:cxnLst/>
              <a:rect l="l" t="t" r="r" b="b"/>
              <a:pathLst>
                <a:path w="76200" h="1031875">
                  <a:moveTo>
                    <a:pt x="76200" y="955522"/>
                  </a:moveTo>
                  <a:lnTo>
                    <a:pt x="42659" y="955522"/>
                  </a:lnTo>
                  <a:lnTo>
                    <a:pt x="42659" y="688822"/>
                  </a:lnTo>
                  <a:lnTo>
                    <a:pt x="41122" y="685800"/>
                  </a:lnTo>
                  <a:lnTo>
                    <a:pt x="38100" y="684263"/>
                  </a:lnTo>
                  <a:lnTo>
                    <a:pt x="35077" y="685800"/>
                  </a:lnTo>
                  <a:lnTo>
                    <a:pt x="33540" y="688822"/>
                  </a:lnTo>
                  <a:lnTo>
                    <a:pt x="33540" y="955522"/>
                  </a:lnTo>
                  <a:lnTo>
                    <a:pt x="0" y="955522"/>
                  </a:lnTo>
                  <a:lnTo>
                    <a:pt x="38100" y="1031722"/>
                  </a:lnTo>
                  <a:lnTo>
                    <a:pt x="67043" y="973836"/>
                  </a:lnTo>
                  <a:lnTo>
                    <a:pt x="76200" y="955522"/>
                  </a:lnTo>
                  <a:close/>
                </a:path>
                <a:path w="76200" h="1031875">
                  <a:moveTo>
                    <a:pt x="76200" y="271272"/>
                  </a:moveTo>
                  <a:lnTo>
                    <a:pt x="42659" y="271272"/>
                  </a:lnTo>
                  <a:lnTo>
                    <a:pt x="42659" y="4572"/>
                  </a:lnTo>
                  <a:lnTo>
                    <a:pt x="41122" y="1536"/>
                  </a:lnTo>
                  <a:lnTo>
                    <a:pt x="38100" y="0"/>
                  </a:lnTo>
                  <a:lnTo>
                    <a:pt x="35077" y="1536"/>
                  </a:lnTo>
                  <a:lnTo>
                    <a:pt x="33540" y="4572"/>
                  </a:lnTo>
                  <a:lnTo>
                    <a:pt x="33540" y="271272"/>
                  </a:lnTo>
                  <a:lnTo>
                    <a:pt x="0" y="271272"/>
                  </a:lnTo>
                  <a:lnTo>
                    <a:pt x="38100" y="347472"/>
                  </a:lnTo>
                  <a:lnTo>
                    <a:pt x="67818" y="288036"/>
                  </a:lnTo>
                  <a:lnTo>
                    <a:pt x="76200" y="271272"/>
                  </a:lnTo>
                  <a:close/>
                </a:path>
              </a:pathLst>
            </a:custGeom>
            <a:solidFill>
              <a:srgbClr val="000000"/>
            </a:solidFill>
          </p:spPr>
          <p:txBody>
            <a:bodyPr wrap="square" lIns="0" tIns="0" rIns="0" bIns="0" rtlCol="0">
              <a:prstTxWarp prst="textNoShape">
                <a:avLst/>
              </a:prstTxWarp>
              <a:noAutofit/>
            </a:bodyPr>
            <a:lstStyle/>
            <a:p>
              <a:endParaRPr lang="en-IN"/>
            </a:p>
          </p:txBody>
        </p:sp>
        <p:sp>
          <p:nvSpPr>
            <p:cNvPr id="15" name="Textbox 2782">
              <a:extLst>
                <a:ext uri="{FF2B5EF4-FFF2-40B4-BE49-F238E27FC236}">
                  <a16:creationId xmlns:a16="http://schemas.microsoft.com/office/drawing/2014/main" id="{0A7D9059-84D2-17B3-ADF4-F3C5548A9C18}"/>
                </a:ext>
              </a:extLst>
            </p:cNvPr>
            <p:cNvSpPr txBox="1"/>
            <p:nvPr/>
          </p:nvSpPr>
          <p:spPr>
            <a:xfrm>
              <a:off x="4572" y="574522"/>
              <a:ext cx="990600" cy="342900"/>
            </a:xfrm>
            <a:prstGeom prst="rect">
              <a:avLst/>
            </a:prstGeom>
            <a:ln w="9144">
              <a:solidFill>
                <a:srgbClr val="000000"/>
              </a:solidFill>
              <a:prstDash val="solid"/>
            </a:ln>
          </p:spPr>
          <p:txBody>
            <a:bodyPr wrap="square" lIns="0" tIns="0" rIns="0" bIns="0" rtlCol="0">
              <a:noAutofit/>
            </a:bodyPr>
            <a:lstStyle/>
            <a:p>
              <a:pPr marL="90805">
                <a:spcBef>
                  <a:spcPts val="365"/>
                </a:spcBef>
                <a:buNone/>
              </a:pPr>
              <a:r>
                <a:rPr lang="en-US" sz="1100">
                  <a:effectLst/>
                  <a:latin typeface="Calibri" panose="020F0502020204030204" pitchFamily="34" charset="0"/>
                  <a:ea typeface="Times New Roman" panose="02020603050405020304" pitchFamily="18" charset="0"/>
                  <a:cs typeface="Times New Roman" panose="02020603050405020304" pitchFamily="18" charset="0"/>
                </a:rPr>
                <a:t>d</a:t>
              </a:r>
              <a:r>
                <a:rPr lang="en-US" sz="1100" spc="-5">
                  <a:effectLst/>
                  <a:latin typeface="Calibri" panose="020F0502020204030204" pitchFamily="34" charset="0"/>
                  <a:ea typeface="Times New Roman" panose="02020603050405020304" pitchFamily="18" charset="0"/>
                  <a:cs typeface="Times New Roman" panose="02020603050405020304" pitchFamily="18" charset="0"/>
                </a:rPr>
                <a:t> </a:t>
              </a:r>
              <a:r>
                <a:rPr lang="en-US" sz="1100">
                  <a:effectLst/>
                  <a:latin typeface="Calibri" panose="020F0502020204030204" pitchFamily="34" charset="0"/>
                  <a:ea typeface="Times New Roman" panose="02020603050405020304" pitchFamily="18" charset="0"/>
                  <a:cs typeface="Times New Roman" panose="02020603050405020304" pitchFamily="18" charset="0"/>
                </a:rPr>
                <a:t>:</a:t>
              </a:r>
              <a:r>
                <a:rPr lang="en-US" sz="1100" spc="250">
                  <a:effectLst/>
                  <a:latin typeface="Calibri" panose="020F0502020204030204" pitchFamily="34" charset="0"/>
                  <a:ea typeface="Times New Roman" panose="02020603050405020304" pitchFamily="18" charset="0"/>
                  <a:cs typeface="Times New Roman" panose="02020603050405020304" pitchFamily="18" charset="0"/>
                </a:rPr>
                <a:t> </a:t>
              </a:r>
              <a:r>
                <a:rPr lang="en-US" sz="1100">
                  <a:effectLst/>
                  <a:latin typeface="Calibri" panose="020F0502020204030204" pitchFamily="34" charset="0"/>
                  <a:ea typeface="Times New Roman" panose="02020603050405020304" pitchFamily="18" charset="0"/>
                  <a:cs typeface="Times New Roman" panose="02020603050405020304" pitchFamily="18" charset="0"/>
                </a:rPr>
                <a:t>a</a:t>
              </a:r>
              <a:r>
                <a:rPr lang="en-US" sz="1100" spc="-10">
                  <a:effectLst/>
                  <a:latin typeface="Calibri" panose="020F0502020204030204" pitchFamily="34" charset="0"/>
                  <a:ea typeface="Times New Roman" panose="02020603050405020304" pitchFamily="18" charset="0"/>
                  <a:cs typeface="Times New Roman" panose="02020603050405020304" pitchFamily="18" charset="0"/>
                </a:rPr>
                <a:t> </a:t>
              </a:r>
              <a:r>
                <a:rPr lang="en-US" sz="1100">
                  <a:effectLst/>
                  <a:latin typeface="Calibri" panose="020F0502020204030204" pitchFamily="34" charset="0"/>
                  <a:ea typeface="Times New Roman" panose="02020603050405020304" pitchFamily="18" charset="0"/>
                  <a:cs typeface="Times New Roman" panose="02020603050405020304" pitchFamily="18" charset="0"/>
                </a:rPr>
                <a:t>:</a:t>
              </a:r>
              <a:r>
                <a:rPr lang="en-US" sz="1100" spc="-10">
                  <a:effectLst/>
                  <a:latin typeface="Calibri" panose="020F0502020204030204" pitchFamily="34" charset="0"/>
                  <a:ea typeface="Times New Roman" panose="02020603050405020304" pitchFamily="18" charset="0"/>
                  <a:cs typeface="Times New Roman" panose="02020603050405020304" pitchFamily="18" charset="0"/>
                </a:rPr>
                <a:t> </a:t>
              </a:r>
              <a:r>
                <a:rPr lang="en-US" sz="1100">
                  <a:effectLst/>
                  <a:latin typeface="Calibri" panose="020F0502020204030204" pitchFamily="34" charset="0"/>
                  <a:ea typeface="Times New Roman" panose="02020603050405020304" pitchFamily="18" charset="0"/>
                  <a:cs typeface="Times New Roman" panose="02020603050405020304" pitchFamily="18" charset="0"/>
                </a:rPr>
                <a:t>= b</a:t>
              </a:r>
              <a:r>
                <a:rPr lang="en-US" sz="1100" spc="-5">
                  <a:effectLst/>
                  <a:latin typeface="Calibri" panose="020F0502020204030204" pitchFamily="34" charset="0"/>
                  <a:ea typeface="Times New Roman" panose="02020603050405020304" pitchFamily="18" charset="0"/>
                  <a:cs typeface="Times New Roman" panose="02020603050405020304" pitchFamily="18" charset="0"/>
                </a:rPr>
                <a:t> </a:t>
              </a:r>
              <a:r>
                <a:rPr lang="en-US" sz="1100">
                  <a:effectLst/>
                  <a:latin typeface="Calibri" panose="020F0502020204030204" pitchFamily="34" charset="0"/>
                  <a:ea typeface="Times New Roman" panose="02020603050405020304" pitchFamily="18" charset="0"/>
                  <a:cs typeface="Times New Roman" panose="02020603050405020304" pitchFamily="18" charset="0"/>
                </a:rPr>
                <a:t>+</a:t>
              </a:r>
              <a:r>
                <a:rPr lang="en-US" sz="1100" spc="-10">
                  <a:effectLst/>
                  <a:latin typeface="Calibri" panose="020F0502020204030204" pitchFamily="34" charset="0"/>
                  <a:ea typeface="Times New Roman" panose="02020603050405020304" pitchFamily="18" charset="0"/>
                  <a:cs typeface="Times New Roman" panose="02020603050405020304" pitchFamily="18" charset="0"/>
                </a:rPr>
                <a:t> </a:t>
              </a:r>
              <a:r>
                <a:rPr lang="en-US" sz="1100" spc="-50">
                  <a:effectLst/>
                  <a:latin typeface="Calibri" panose="020F0502020204030204" pitchFamily="34" charset="0"/>
                  <a:ea typeface="Times New Roman" panose="02020603050405020304" pitchFamily="18" charset="0"/>
                  <a:cs typeface="Times New Roman" panose="02020603050405020304" pitchFamily="18" charset="0"/>
                </a:rPr>
                <a:t>c</a:t>
              </a:r>
              <a:endParaRPr lang="en-IN" sz="1100">
                <a:effectLst/>
                <a:latin typeface="Times New Roman" panose="02020603050405020304" pitchFamily="18" charset="0"/>
                <a:ea typeface="Times New Roman" panose="02020603050405020304" pitchFamily="18" charset="0"/>
              </a:endParaRPr>
            </a:p>
          </p:txBody>
        </p:sp>
      </p:grpSp>
      <p:sp>
        <p:nvSpPr>
          <p:cNvPr id="16" name="Graphic 2783">
            <a:extLst>
              <a:ext uri="{FF2B5EF4-FFF2-40B4-BE49-F238E27FC236}">
                <a16:creationId xmlns:a16="http://schemas.microsoft.com/office/drawing/2014/main" id="{E732E23C-CA54-DF65-9581-375A8D35E93B}"/>
              </a:ext>
            </a:extLst>
          </p:cNvPr>
          <p:cNvSpPr>
            <a:spLocks/>
          </p:cNvSpPr>
          <p:nvPr/>
        </p:nvSpPr>
        <p:spPr>
          <a:xfrm>
            <a:off x="4798060" y="2617367"/>
            <a:ext cx="325706" cy="391387"/>
          </a:xfrm>
          <a:custGeom>
            <a:avLst/>
            <a:gdLst/>
            <a:ahLst/>
            <a:cxnLst/>
            <a:rect l="l" t="t" r="r" b="b"/>
            <a:pathLst>
              <a:path w="309880" h="76200">
                <a:moveTo>
                  <a:pt x="233159" y="0"/>
                </a:moveTo>
                <a:lnTo>
                  <a:pt x="233159" y="76200"/>
                </a:lnTo>
                <a:lnTo>
                  <a:pt x="300240" y="42659"/>
                </a:lnTo>
                <a:lnTo>
                  <a:pt x="245364" y="42659"/>
                </a:lnTo>
                <a:lnTo>
                  <a:pt x="249923" y="41122"/>
                </a:lnTo>
                <a:lnTo>
                  <a:pt x="249923" y="35077"/>
                </a:lnTo>
                <a:lnTo>
                  <a:pt x="245364" y="33540"/>
                </a:lnTo>
                <a:lnTo>
                  <a:pt x="300240" y="33540"/>
                </a:lnTo>
                <a:lnTo>
                  <a:pt x="233159" y="0"/>
                </a:lnTo>
                <a:close/>
              </a:path>
              <a:path w="309880" h="76200">
                <a:moveTo>
                  <a:pt x="233159" y="33540"/>
                </a:moveTo>
                <a:lnTo>
                  <a:pt x="4559" y="33540"/>
                </a:lnTo>
                <a:lnTo>
                  <a:pt x="1536" y="35077"/>
                </a:lnTo>
                <a:lnTo>
                  <a:pt x="0" y="38100"/>
                </a:lnTo>
                <a:lnTo>
                  <a:pt x="1536" y="41122"/>
                </a:lnTo>
                <a:lnTo>
                  <a:pt x="4559" y="42659"/>
                </a:lnTo>
                <a:lnTo>
                  <a:pt x="233159" y="42659"/>
                </a:lnTo>
                <a:lnTo>
                  <a:pt x="233159" y="33540"/>
                </a:lnTo>
                <a:close/>
              </a:path>
              <a:path w="309880" h="76200">
                <a:moveTo>
                  <a:pt x="300240" y="33540"/>
                </a:moveTo>
                <a:lnTo>
                  <a:pt x="245364" y="33540"/>
                </a:lnTo>
                <a:lnTo>
                  <a:pt x="249923" y="35077"/>
                </a:lnTo>
                <a:lnTo>
                  <a:pt x="249923" y="41122"/>
                </a:lnTo>
                <a:lnTo>
                  <a:pt x="245364" y="42659"/>
                </a:lnTo>
                <a:lnTo>
                  <a:pt x="300240" y="42659"/>
                </a:lnTo>
                <a:lnTo>
                  <a:pt x="309359" y="38100"/>
                </a:lnTo>
                <a:lnTo>
                  <a:pt x="300240" y="33540"/>
                </a:lnTo>
                <a:close/>
              </a:path>
            </a:pathLst>
          </a:custGeom>
          <a:solidFill>
            <a:srgbClr val="000000"/>
          </a:solidFill>
        </p:spPr>
        <p:txBody>
          <a:bodyPr wrap="square" lIns="0" tIns="0" rIns="0" bIns="0" rtlCol="0">
            <a:prstTxWarp prst="textNoShape">
              <a:avLst/>
            </a:prstTxWarp>
            <a:noAutofit/>
          </a:bodyPr>
          <a:lstStyle/>
          <a:p>
            <a:endParaRPr lang="en-IN"/>
          </a:p>
        </p:txBody>
      </p:sp>
      <p:sp>
        <p:nvSpPr>
          <p:cNvPr id="17" name="object 2">
            <a:extLst>
              <a:ext uri="{FF2B5EF4-FFF2-40B4-BE49-F238E27FC236}">
                <a16:creationId xmlns:a16="http://schemas.microsoft.com/office/drawing/2014/main" id="{0C171602-AC28-6B67-28AF-695999499A86}"/>
              </a:ext>
            </a:extLst>
          </p:cNvPr>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05"/>
              </a:spcBef>
            </a:pPr>
            <a:endParaRPr sz="3600" dirty="0">
              <a:latin typeface="Times New Roman"/>
              <a:cs typeface="Times New Roman"/>
            </a:endParaRPr>
          </a:p>
          <a:p>
            <a:pPr marL="347345" marR="324485" indent="203835">
              <a:lnSpc>
                <a:spcPts val="3890"/>
              </a:lnSpc>
            </a:pPr>
            <a:r>
              <a:rPr sz="3600" b="1" spc="-65" dirty="0">
                <a:solidFill>
                  <a:srgbClr val="FFFFFF"/>
                </a:solidFill>
                <a:latin typeface="Cambria"/>
                <a:cs typeface="Cambria"/>
              </a:rPr>
              <a:t>Global</a:t>
            </a:r>
            <a:r>
              <a:rPr sz="3600" b="1" spc="-95" dirty="0">
                <a:solidFill>
                  <a:srgbClr val="FFFFFF"/>
                </a:solidFill>
                <a:latin typeface="Cambria"/>
                <a:cs typeface="Cambria"/>
              </a:rPr>
              <a:t> </a:t>
            </a:r>
            <a:r>
              <a:rPr sz="3600" b="1" spc="-20" dirty="0">
                <a:solidFill>
                  <a:srgbClr val="FFFFFF"/>
                </a:solidFill>
                <a:latin typeface="Cambria"/>
                <a:cs typeface="Cambria"/>
              </a:rPr>
              <a:t>Data </a:t>
            </a:r>
            <a:r>
              <a:rPr sz="3600" b="1" spc="-95" dirty="0">
                <a:solidFill>
                  <a:srgbClr val="FFFFFF"/>
                </a:solidFill>
                <a:latin typeface="Cambria"/>
                <a:cs typeface="Cambria"/>
              </a:rPr>
              <a:t>Flow</a:t>
            </a:r>
            <a:r>
              <a:rPr sz="3600" b="1" spc="-100" dirty="0">
                <a:solidFill>
                  <a:srgbClr val="FFFFFF"/>
                </a:solidFill>
                <a:latin typeface="Cambria"/>
                <a:cs typeface="Cambria"/>
              </a:rPr>
              <a:t> </a:t>
            </a:r>
            <a:r>
              <a:rPr sz="3600" b="1" spc="-65" dirty="0">
                <a:solidFill>
                  <a:srgbClr val="FFFFFF"/>
                </a:solidFill>
                <a:latin typeface="Cambria"/>
                <a:cs typeface="Cambria"/>
              </a:rPr>
              <a:t>Analysis</a:t>
            </a:r>
            <a:endParaRPr sz="3600" dirty="0">
              <a:latin typeface="Cambria"/>
              <a:cs typeface="Cambria"/>
            </a:endParaRPr>
          </a:p>
        </p:txBody>
      </p:sp>
    </p:spTree>
    <p:extLst>
      <p:ext uri="{BB962C8B-B14F-4D97-AF65-F5344CB8AC3E}">
        <p14:creationId xmlns:p14="http://schemas.microsoft.com/office/powerpoint/2010/main" val="936545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7345" marR="324485" indent="203835">
              <a:lnSpc>
                <a:spcPts val="3890"/>
              </a:lnSpc>
            </a:pPr>
            <a:r>
              <a:rPr sz="3600" b="1" spc="-65" dirty="0">
                <a:solidFill>
                  <a:srgbClr val="FFFFFF"/>
                </a:solidFill>
                <a:latin typeface="Cambria"/>
                <a:cs typeface="Cambria"/>
              </a:rPr>
              <a:t>Global</a:t>
            </a:r>
            <a:r>
              <a:rPr sz="3600" b="1" spc="-95" dirty="0">
                <a:solidFill>
                  <a:srgbClr val="FFFFFF"/>
                </a:solidFill>
                <a:latin typeface="Cambria"/>
                <a:cs typeface="Cambria"/>
              </a:rPr>
              <a:t> </a:t>
            </a:r>
            <a:r>
              <a:rPr sz="3600" b="1" spc="-20" dirty="0">
                <a:solidFill>
                  <a:srgbClr val="FFFFFF"/>
                </a:solidFill>
                <a:latin typeface="Cambria"/>
                <a:cs typeface="Cambria"/>
              </a:rPr>
              <a:t>Data </a:t>
            </a:r>
            <a:r>
              <a:rPr sz="3600" b="1" spc="-95" dirty="0">
                <a:solidFill>
                  <a:srgbClr val="FFFFFF"/>
                </a:solidFill>
                <a:latin typeface="Cambria"/>
                <a:cs typeface="Cambria"/>
              </a:rPr>
              <a:t>Flow</a:t>
            </a:r>
            <a:r>
              <a:rPr sz="3600" b="1" spc="-100" dirty="0">
                <a:solidFill>
                  <a:srgbClr val="FFFFFF"/>
                </a:solidFill>
                <a:latin typeface="Cambria"/>
                <a:cs typeface="Cambria"/>
              </a:rPr>
              <a:t> </a:t>
            </a:r>
            <a:r>
              <a:rPr sz="3600" b="1" spc="-65" dirty="0">
                <a:solidFill>
                  <a:srgbClr val="FFFFFF"/>
                </a:solidFill>
                <a:latin typeface="Cambria"/>
                <a:cs typeface="Cambria"/>
              </a:rPr>
              <a:t>Analysis</a:t>
            </a:r>
            <a:endParaRPr sz="3600">
              <a:latin typeface="Cambria"/>
              <a:cs typeface="Cambria"/>
            </a:endParaRPr>
          </a:p>
        </p:txBody>
      </p:sp>
      <p:sp>
        <p:nvSpPr>
          <p:cNvPr id="3" name="object 3"/>
          <p:cNvSpPr txBox="1">
            <a:spLocks noGrp="1"/>
          </p:cNvSpPr>
          <p:nvPr>
            <p:ph type="title"/>
          </p:nvPr>
        </p:nvSpPr>
        <p:spPr>
          <a:xfrm>
            <a:off x="3663188" y="1138885"/>
            <a:ext cx="7940675"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The</a:t>
            </a:r>
            <a:r>
              <a:rPr spc="15" dirty="0"/>
              <a:t> </a:t>
            </a:r>
            <a:r>
              <a:rPr dirty="0"/>
              <a:t>details</a:t>
            </a:r>
            <a:r>
              <a:rPr spc="45" dirty="0"/>
              <a:t> </a:t>
            </a:r>
            <a:r>
              <a:rPr dirty="0"/>
              <a:t>of</a:t>
            </a:r>
            <a:r>
              <a:rPr spc="60" dirty="0"/>
              <a:t> </a:t>
            </a:r>
            <a:r>
              <a:rPr dirty="0"/>
              <a:t>how</a:t>
            </a:r>
            <a:r>
              <a:rPr spc="50" dirty="0"/>
              <a:t> </a:t>
            </a:r>
            <a:r>
              <a:rPr spc="-20" dirty="0"/>
              <a:t>data-</a:t>
            </a:r>
            <a:r>
              <a:rPr dirty="0"/>
              <a:t>flow</a:t>
            </a:r>
            <a:r>
              <a:rPr spc="50" dirty="0"/>
              <a:t> </a:t>
            </a:r>
            <a:r>
              <a:rPr dirty="0"/>
              <a:t>analysis</a:t>
            </a:r>
            <a:r>
              <a:rPr spc="60" dirty="0"/>
              <a:t> </a:t>
            </a:r>
            <a:r>
              <a:rPr dirty="0"/>
              <a:t>are</a:t>
            </a:r>
            <a:r>
              <a:rPr spc="55" dirty="0"/>
              <a:t> </a:t>
            </a:r>
            <a:r>
              <a:rPr dirty="0"/>
              <a:t>set</a:t>
            </a:r>
            <a:r>
              <a:rPr spc="50" dirty="0"/>
              <a:t> </a:t>
            </a:r>
            <a:r>
              <a:rPr dirty="0"/>
              <a:t>up</a:t>
            </a:r>
            <a:r>
              <a:rPr spc="55" dirty="0"/>
              <a:t> </a:t>
            </a:r>
            <a:r>
              <a:rPr dirty="0"/>
              <a:t>and</a:t>
            </a:r>
            <a:r>
              <a:rPr spc="50" dirty="0"/>
              <a:t> </a:t>
            </a:r>
            <a:r>
              <a:rPr spc="-10" dirty="0"/>
              <a:t>solved</a:t>
            </a:r>
          </a:p>
        </p:txBody>
      </p:sp>
      <p:sp>
        <p:nvSpPr>
          <p:cNvPr id="4" name="object 4"/>
          <p:cNvSpPr txBox="1"/>
          <p:nvPr/>
        </p:nvSpPr>
        <p:spPr>
          <a:xfrm>
            <a:off x="3846067" y="1468628"/>
            <a:ext cx="318198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depend</a:t>
            </a:r>
            <a:r>
              <a:rPr sz="2400" spc="-45" dirty="0">
                <a:latin typeface="Cambria"/>
                <a:cs typeface="Cambria"/>
              </a:rPr>
              <a:t> </a:t>
            </a:r>
            <a:r>
              <a:rPr sz="2400" dirty="0">
                <a:latin typeface="Cambria"/>
                <a:cs typeface="Cambria"/>
              </a:rPr>
              <a:t>on</a:t>
            </a:r>
            <a:r>
              <a:rPr sz="2400" spc="-45" dirty="0">
                <a:latin typeface="Cambria"/>
                <a:cs typeface="Cambria"/>
              </a:rPr>
              <a:t> </a:t>
            </a:r>
            <a:r>
              <a:rPr sz="2400" dirty="0">
                <a:latin typeface="Cambria"/>
                <a:cs typeface="Cambria"/>
              </a:rPr>
              <a:t>three</a:t>
            </a:r>
            <a:r>
              <a:rPr sz="2400" spc="-50" dirty="0">
                <a:latin typeface="Cambria"/>
                <a:cs typeface="Cambria"/>
              </a:rPr>
              <a:t> </a:t>
            </a:r>
            <a:r>
              <a:rPr sz="2400" spc="-10" dirty="0">
                <a:latin typeface="Cambria"/>
                <a:cs typeface="Cambria"/>
              </a:rPr>
              <a:t>factors.</a:t>
            </a:r>
            <a:endParaRPr sz="2400">
              <a:latin typeface="Cambria"/>
              <a:cs typeface="Cambria"/>
            </a:endParaRPr>
          </a:p>
        </p:txBody>
      </p:sp>
      <p:sp>
        <p:nvSpPr>
          <p:cNvPr id="5" name="object 5"/>
          <p:cNvSpPr txBox="1"/>
          <p:nvPr/>
        </p:nvSpPr>
        <p:spPr>
          <a:xfrm>
            <a:off x="3663188" y="1950211"/>
            <a:ext cx="7942580" cy="3659504"/>
          </a:xfrm>
          <a:prstGeom prst="rect">
            <a:avLst/>
          </a:prstGeom>
        </p:spPr>
        <p:txBody>
          <a:bodyPr vert="horz" wrap="square" lIns="0" tIns="48895" rIns="0" bIns="0" rtlCol="0">
            <a:spAutoFit/>
          </a:bodyPr>
          <a:lstStyle/>
          <a:p>
            <a:pPr marL="524510" marR="5080" indent="-512445" algn="just">
              <a:lnSpc>
                <a:spcPct val="90000"/>
              </a:lnSpc>
              <a:spcBef>
                <a:spcPts val="385"/>
              </a:spcBef>
              <a:buClr>
                <a:srgbClr val="40B9D2"/>
              </a:buClr>
              <a:buAutoNum type="arabicPeriod"/>
              <a:tabLst>
                <a:tab pos="527685" algn="l"/>
              </a:tabLst>
            </a:pPr>
            <a:r>
              <a:rPr sz="2400" dirty="0">
                <a:latin typeface="Cambria"/>
                <a:cs typeface="Cambria"/>
              </a:rPr>
              <a:t>The</a:t>
            </a:r>
            <a:r>
              <a:rPr sz="2400" spc="120" dirty="0">
                <a:latin typeface="Cambria"/>
                <a:cs typeface="Cambria"/>
              </a:rPr>
              <a:t>  </a:t>
            </a:r>
            <a:r>
              <a:rPr sz="2400" dirty="0">
                <a:latin typeface="Cambria"/>
                <a:cs typeface="Cambria"/>
              </a:rPr>
              <a:t>notion</a:t>
            </a:r>
            <a:r>
              <a:rPr sz="2400" spc="120" dirty="0">
                <a:latin typeface="Cambria"/>
                <a:cs typeface="Cambria"/>
              </a:rPr>
              <a:t>  </a:t>
            </a:r>
            <a:r>
              <a:rPr sz="2400" dirty="0">
                <a:latin typeface="Cambria"/>
                <a:cs typeface="Cambria"/>
              </a:rPr>
              <a:t>of</a:t>
            </a:r>
            <a:r>
              <a:rPr sz="2400" spc="125" dirty="0">
                <a:latin typeface="Cambria"/>
                <a:cs typeface="Cambria"/>
              </a:rPr>
              <a:t>  </a:t>
            </a:r>
            <a:r>
              <a:rPr sz="2400" dirty="0">
                <a:latin typeface="Cambria"/>
                <a:cs typeface="Cambria"/>
              </a:rPr>
              <a:t>generating</a:t>
            </a:r>
            <a:r>
              <a:rPr sz="2400" spc="120" dirty="0">
                <a:latin typeface="Cambria"/>
                <a:cs typeface="Cambria"/>
              </a:rPr>
              <a:t>  </a:t>
            </a:r>
            <a:r>
              <a:rPr sz="2400" dirty="0">
                <a:latin typeface="Cambria"/>
                <a:cs typeface="Cambria"/>
              </a:rPr>
              <a:t>and</a:t>
            </a:r>
            <a:r>
              <a:rPr sz="2400" spc="125" dirty="0">
                <a:latin typeface="Cambria"/>
                <a:cs typeface="Cambria"/>
              </a:rPr>
              <a:t>  </a:t>
            </a:r>
            <a:r>
              <a:rPr sz="2400" dirty="0">
                <a:latin typeface="Cambria"/>
                <a:cs typeface="Cambria"/>
              </a:rPr>
              <a:t>killing</a:t>
            </a:r>
            <a:r>
              <a:rPr sz="2400" spc="120" dirty="0">
                <a:latin typeface="Cambria"/>
                <a:cs typeface="Cambria"/>
              </a:rPr>
              <a:t>  </a:t>
            </a:r>
            <a:r>
              <a:rPr sz="2400" dirty="0">
                <a:latin typeface="Cambria"/>
                <a:cs typeface="Cambria"/>
              </a:rPr>
              <a:t>depend</a:t>
            </a:r>
            <a:r>
              <a:rPr sz="2400" spc="130" dirty="0">
                <a:latin typeface="Cambria"/>
                <a:cs typeface="Cambria"/>
              </a:rPr>
              <a:t>  </a:t>
            </a:r>
            <a:r>
              <a:rPr sz="2400" dirty="0">
                <a:latin typeface="Cambria"/>
                <a:cs typeface="Cambria"/>
              </a:rPr>
              <a:t>on</a:t>
            </a:r>
            <a:r>
              <a:rPr sz="2400" spc="120" dirty="0">
                <a:latin typeface="Cambria"/>
                <a:cs typeface="Cambria"/>
              </a:rPr>
              <a:t>  </a:t>
            </a:r>
            <a:r>
              <a:rPr sz="2400" spc="-25" dirty="0">
                <a:latin typeface="Cambria"/>
                <a:cs typeface="Cambria"/>
              </a:rPr>
              <a:t>the 	</a:t>
            </a:r>
            <a:r>
              <a:rPr sz="2400" dirty="0">
                <a:latin typeface="Cambria"/>
                <a:cs typeface="Cambria"/>
              </a:rPr>
              <a:t>desired</a:t>
            </a:r>
            <a:r>
              <a:rPr sz="2400" spc="525" dirty="0">
                <a:latin typeface="Cambria"/>
                <a:cs typeface="Cambria"/>
              </a:rPr>
              <a:t> </a:t>
            </a:r>
            <a:r>
              <a:rPr sz="2400" dirty="0">
                <a:latin typeface="Cambria"/>
                <a:cs typeface="Cambria"/>
              </a:rPr>
              <a:t>information.</a:t>
            </a:r>
            <a:r>
              <a:rPr sz="2400" spc="530" dirty="0">
                <a:latin typeface="Cambria"/>
                <a:cs typeface="Cambria"/>
              </a:rPr>
              <a:t> </a:t>
            </a:r>
            <a:r>
              <a:rPr sz="2400" dirty="0">
                <a:latin typeface="Cambria"/>
                <a:cs typeface="Cambria"/>
              </a:rPr>
              <a:t>i.e.</a:t>
            </a:r>
            <a:r>
              <a:rPr sz="2400" spc="515" dirty="0">
                <a:latin typeface="Cambria"/>
                <a:cs typeface="Cambria"/>
              </a:rPr>
              <a:t> </a:t>
            </a:r>
            <a:r>
              <a:rPr sz="2400" dirty="0">
                <a:latin typeface="Cambria"/>
                <a:cs typeface="Cambria"/>
              </a:rPr>
              <a:t>for</a:t>
            </a:r>
            <a:r>
              <a:rPr sz="2400" spc="525" dirty="0">
                <a:latin typeface="Cambria"/>
                <a:cs typeface="Cambria"/>
              </a:rPr>
              <a:t> </a:t>
            </a:r>
            <a:r>
              <a:rPr sz="2400" dirty="0">
                <a:latin typeface="Cambria"/>
                <a:cs typeface="Cambria"/>
              </a:rPr>
              <a:t>some</a:t>
            </a:r>
            <a:r>
              <a:rPr sz="2400" spc="520" dirty="0">
                <a:latin typeface="Cambria"/>
                <a:cs typeface="Cambria"/>
              </a:rPr>
              <a:t> </a:t>
            </a:r>
            <a:r>
              <a:rPr sz="2400" dirty="0">
                <a:latin typeface="Cambria"/>
                <a:cs typeface="Cambria"/>
              </a:rPr>
              <a:t>problem,</a:t>
            </a:r>
            <a:r>
              <a:rPr sz="2400" spc="535" dirty="0">
                <a:latin typeface="Cambria"/>
                <a:cs typeface="Cambria"/>
              </a:rPr>
              <a:t> </a:t>
            </a:r>
            <a:r>
              <a:rPr sz="2400" dirty="0">
                <a:latin typeface="Cambria"/>
                <a:cs typeface="Cambria"/>
              </a:rPr>
              <a:t>instead</a:t>
            </a:r>
            <a:r>
              <a:rPr sz="2400" spc="540" dirty="0">
                <a:latin typeface="Cambria"/>
                <a:cs typeface="Cambria"/>
              </a:rPr>
              <a:t> </a:t>
            </a:r>
            <a:r>
              <a:rPr sz="2400" spc="-25" dirty="0">
                <a:latin typeface="Cambria"/>
                <a:cs typeface="Cambria"/>
              </a:rPr>
              <a:t>of 	</a:t>
            </a:r>
            <a:r>
              <a:rPr sz="2400" dirty="0">
                <a:latin typeface="Cambria"/>
                <a:cs typeface="Cambria"/>
              </a:rPr>
              <a:t>proceeding</a:t>
            </a:r>
            <a:r>
              <a:rPr sz="2400" spc="310" dirty="0">
                <a:latin typeface="Cambria"/>
                <a:cs typeface="Cambria"/>
              </a:rPr>
              <a:t> </a:t>
            </a:r>
            <a:r>
              <a:rPr sz="2400" dirty="0">
                <a:latin typeface="Cambria"/>
                <a:cs typeface="Cambria"/>
              </a:rPr>
              <a:t>along</a:t>
            </a:r>
            <a:r>
              <a:rPr sz="2400" spc="305" dirty="0">
                <a:latin typeface="Cambria"/>
                <a:cs typeface="Cambria"/>
              </a:rPr>
              <a:t> </a:t>
            </a:r>
            <a:r>
              <a:rPr sz="2400" dirty="0">
                <a:latin typeface="Cambria"/>
                <a:cs typeface="Cambria"/>
              </a:rPr>
              <a:t>with</a:t>
            </a:r>
            <a:r>
              <a:rPr sz="2400" spc="295" dirty="0">
                <a:latin typeface="Cambria"/>
                <a:cs typeface="Cambria"/>
              </a:rPr>
              <a:t> </a:t>
            </a:r>
            <a:r>
              <a:rPr sz="2400" dirty="0">
                <a:latin typeface="Cambria"/>
                <a:cs typeface="Cambria"/>
              </a:rPr>
              <a:t>the</a:t>
            </a:r>
            <a:r>
              <a:rPr sz="2400" spc="305" dirty="0">
                <a:latin typeface="Cambria"/>
                <a:cs typeface="Cambria"/>
              </a:rPr>
              <a:t> </a:t>
            </a:r>
            <a:r>
              <a:rPr sz="2400" dirty="0">
                <a:latin typeface="Cambria"/>
                <a:cs typeface="Cambria"/>
              </a:rPr>
              <a:t>flow</a:t>
            </a:r>
            <a:r>
              <a:rPr sz="2400" spc="310" dirty="0">
                <a:latin typeface="Cambria"/>
                <a:cs typeface="Cambria"/>
              </a:rPr>
              <a:t> </a:t>
            </a:r>
            <a:r>
              <a:rPr sz="2400" dirty="0">
                <a:latin typeface="Cambria"/>
                <a:cs typeface="Cambria"/>
              </a:rPr>
              <a:t>of</a:t>
            </a:r>
            <a:r>
              <a:rPr sz="2400" spc="305" dirty="0">
                <a:latin typeface="Cambria"/>
                <a:cs typeface="Cambria"/>
              </a:rPr>
              <a:t> </a:t>
            </a:r>
            <a:r>
              <a:rPr sz="2400" dirty="0">
                <a:latin typeface="Cambria"/>
                <a:cs typeface="Cambria"/>
              </a:rPr>
              <a:t>control</a:t>
            </a:r>
            <a:r>
              <a:rPr sz="2400" spc="300" dirty="0">
                <a:latin typeface="Cambria"/>
                <a:cs typeface="Cambria"/>
              </a:rPr>
              <a:t> </a:t>
            </a:r>
            <a:r>
              <a:rPr sz="2400" dirty="0">
                <a:latin typeface="Cambria"/>
                <a:cs typeface="Cambria"/>
              </a:rPr>
              <a:t>and</a:t>
            </a:r>
            <a:r>
              <a:rPr sz="2400" spc="310" dirty="0">
                <a:latin typeface="Cambria"/>
                <a:cs typeface="Cambria"/>
              </a:rPr>
              <a:t> </a:t>
            </a:r>
            <a:r>
              <a:rPr sz="2400" spc="-10" dirty="0">
                <a:latin typeface="Cambria"/>
                <a:cs typeface="Cambria"/>
              </a:rPr>
              <a:t>defining 	</a:t>
            </a:r>
            <a:r>
              <a:rPr sz="2400" dirty="0">
                <a:latin typeface="Cambria"/>
                <a:cs typeface="Cambria"/>
              </a:rPr>
              <a:t>out[S]</a:t>
            </a:r>
            <a:r>
              <a:rPr sz="2400" spc="210" dirty="0">
                <a:latin typeface="Cambria"/>
                <a:cs typeface="Cambria"/>
              </a:rPr>
              <a:t> </a:t>
            </a:r>
            <a:r>
              <a:rPr sz="2400" dirty="0">
                <a:latin typeface="Cambria"/>
                <a:cs typeface="Cambria"/>
              </a:rPr>
              <a:t>in</a:t>
            </a:r>
            <a:r>
              <a:rPr sz="2400" spc="215" dirty="0">
                <a:latin typeface="Cambria"/>
                <a:cs typeface="Cambria"/>
              </a:rPr>
              <a:t> </a:t>
            </a:r>
            <a:r>
              <a:rPr sz="2400" dirty="0">
                <a:latin typeface="Cambria"/>
                <a:cs typeface="Cambria"/>
              </a:rPr>
              <a:t>terms</a:t>
            </a:r>
            <a:r>
              <a:rPr sz="2400" spc="210" dirty="0">
                <a:latin typeface="Cambria"/>
                <a:cs typeface="Cambria"/>
              </a:rPr>
              <a:t> </a:t>
            </a:r>
            <a:r>
              <a:rPr sz="2400" dirty="0">
                <a:latin typeface="Cambria"/>
                <a:cs typeface="Cambria"/>
              </a:rPr>
              <a:t>of</a:t>
            </a:r>
            <a:r>
              <a:rPr sz="2400" spc="215" dirty="0">
                <a:latin typeface="Cambria"/>
                <a:cs typeface="Cambria"/>
              </a:rPr>
              <a:t> </a:t>
            </a:r>
            <a:r>
              <a:rPr sz="2400" dirty="0">
                <a:latin typeface="Cambria"/>
                <a:cs typeface="Cambria"/>
              </a:rPr>
              <a:t>in[S],</a:t>
            </a:r>
            <a:r>
              <a:rPr sz="2400" spc="210" dirty="0">
                <a:latin typeface="Cambria"/>
                <a:cs typeface="Cambria"/>
              </a:rPr>
              <a:t> </a:t>
            </a:r>
            <a:r>
              <a:rPr sz="2400" dirty="0">
                <a:latin typeface="Cambria"/>
                <a:cs typeface="Cambria"/>
              </a:rPr>
              <a:t>we</a:t>
            </a:r>
            <a:r>
              <a:rPr sz="2400" spc="210" dirty="0">
                <a:latin typeface="Cambria"/>
                <a:cs typeface="Cambria"/>
              </a:rPr>
              <a:t> </a:t>
            </a:r>
            <a:r>
              <a:rPr sz="2400" dirty="0">
                <a:latin typeface="Cambria"/>
                <a:cs typeface="Cambria"/>
              </a:rPr>
              <a:t>need</a:t>
            </a:r>
            <a:r>
              <a:rPr sz="2400" spc="204" dirty="0">
                <a:latin typeface="Cambria"/>
                <a:cs typeface="Cambria"/>
              </a:rPr>
              <a:t> </a:t>
            </a:r>
            <a:r>
              <a:rPr sz="2400" dirty="0">
                <a:latin typeface="Cambria"/>
                <a:cs typeface="Cambria"/>
              </a:rPr>
              <a:t>to</a:t>
            </a:r>
            <a:r>
              <a:rPr sz="2400" spc="210" dirty="0">
                <a:latin typeface="Cambria"/>
                <a:cs typeface="Cambria"/>
              </a:rPr>
              <a:t> </a:t>
            </a:r>
            <a:r>
              <a:rPr sz="2400" dirty="0">
                <a:latin typeface="Cambria"/>
                <a:cs typeface="Cambria"/>
              </a:rPr>
              <a:t>proceed</a:t>
            </a:r>
            <a:r>
              <a:rPr sz="2400" spc="220" dirty="0">
                <a:latin typeface="Cambria"/>
                <a:cs typeface="Cambria"/>
              </a:rPr>
              <a:t> </a:t>
            </a:r>
            <a:r>
              <a:rPr sz="2400" spc="-10" dirty="0">
                <a:latin typeface="Cambria"/>
                <a:cs typeface="Cambria"/>
              </a:rPr>
              <a:t>backwards 	</a:t>
            </a:r>
            <a:r>
              <a:rPr sz="2400" dirty="0">
                <a:latin typeface="Cambria"/>
                <a:cs typeface="Cambria"/>
              </a:rPr>
              <a:t>and</a:t>
            </a:r>
            <a:r>
              <a:rPr sz="2400" spc="-35" dirty="0">
                <a:latin typeface="Cambria"/>
                <a:cs typeface="Cambria"/>
              </a:rPr>
              <a:t> </a:t>
            </a:r>
            <a:r>
              <a:rPr sz="2400" dirty="0">
                <a:latin typeface="Cambria"/>
                <a:cs typeface="Cambria"/>
              </a:rPr>
              <a:t>defines</a:t>
            </a:r>
            <a:r>
              <a:rPr sz="2400" spc="-45" dirty="0">
                <a:latin typeface="Cambria"/>
                <a:cs typeface="Cambria"/>
              </a:rPr>
              <a:t> </a:t>
            </a:r>
            <a:r>
              <a:rPr sz="2400" dirty="0">
                <a:latin typeface="Cambria"/>
                <a:cs typeface="Cambria"/>
              </a:rPr>
              <a:t>in[S]</a:t>
            </a:r>
            <a:r>
              <a:rPr sz="2400" spc="-60" dirty="0">
                <a:latin typeface="Cambria"/>
                <a:cs typeface="Cambria"/>
              </a:rPr>
              <a:t> </a:t>
            </a:r>
            <a:r>
              <a:rPr sz="2400" dirty="0">
                <a:latin typeface="Cambria"/>
                <a:cs typeface="Cambria"/>
              </a:rPr>
              <a:t>in</a:t>
            </a:r>
            <a:r>
              <a:rPr sz="2400" spc="-35" dirty="0">
                <a:latin typeface="Cambria"/>
                <a:cs typeface="Cambria"/>
              </a:rPr>
              <a:t> </a:t>
            </a:r>
            <a:r>
              <a:rPr sz="2400" dirty="0">
                <a:latin typeface="Cambria"/>
                <a:cs typeface="Cambria"/>
              </a:rPr>
              <a:t>terms</a:t>
            </a:r>
            <a:r>
              <a:rPr sz="2400" spc="-30" dirty="0">
                <a:latin typeface="Cambria"/>
                <a:cs typeface="Cambria"/>
              </a:rPr>
              <a:t> </a:t>
            </a:r>
            <a:r>
              <a:rPr sz="2400" dirty="0">
                <a:latin typeface="Cambria"/>
                <a:cs typeface="Cambria"/>
              </a:rPr>
              <a:t>of</a:t>
            </a:r>
            <a:r>
              <a:rPr sz="2400" spc="-40" dirty="0">
                <a:latin typeface="Cambria"/>
                <a:cs typeface="Cambria"/>
              </a:rPr>
              <a:t> </a:t>
            </a:r>
            <a:r>
              <a:rPr sz="2400" spc="-10" dirty="0">
                <a:latin typeface="Cambria"/>
                <a:cs typeface="Cambria"/>
              </a:rPr>
              <a:t>out[S].</a:t>
            </a:r>
            <a:endParaRPr sz="2400">
              <a:latin typeface="Cambria"/>
              <a:cs typeface="Cambria"/>
            </a:endParaRPr>
          </a:p>
          <a:p>
            <a:pPr marL="525145" indent="-512445" algn="just">
              <a:lnSpc>
                <a:spcPts val="2740"/>
              </a:lnSpc>
              <a:spcBef>
                <a:spcPts val="915"/>
              </a:spcBef>
              <a:buClr>
                <a:srgbClr val="40B9D2"/>
              </a:buClr>
              <a:buAutoNum type="arabicPeriod"/>
              <a:tabLst>
                <a:tab pos="525145" algn="l"/>
              </a:tabLst>
            </a:pPr>
            <a:r>
              <a:rPr sz="2400" dirty="0">
                <a:latin typeface="Cambria"/>
                <a:cs typeface="Cambria"/>
              </a:rPr>
              <a:t>Since</a:t>
            </a:r>
            <a:r>
              <a:rPr sz="2400" spc="229" dirty="0">
                <a:latin typeface="Cambria"/>
                <a:cs typeface="Cambria"/>
              </a:rPr>
              <a:t> </a:t>
            </a:r>
            <a:r>
              <a:rPr sz="2400" dirty="0">
                <a:latin typeface="Cambria"/>
                <a:cs typeface="Cambria"/>
              </a:rPr>
              <a:t>data</a:t>
            </a:r>
            <a:r>
              <a:rPr sz="2400" spc="240" dirty="0">
                <a:latin typeface="Cambria"/>
                <a:cs typeface="Cambria"/>
              </a:rPr>
              <a:t> </a:t>
            </a:r>
            <a:r>
              <a:rPr sz="2400" dirty="0">
                <a:latin typeface="Cambria"/>
                <a:cs typeface="Cambria"/>
              </a:rPr>
              <a:t>flows</a:t>
            </a:r>
            <a:r>
              <a:rPr sz="2400" spc="235" dirty="0">
                <a:latin typeface="Cambria"/>
                <a:cs typeface="Cambria"/>
              </a:rPr>
              <a:t> </a:t>
            </a:r>
            <a:r>
              <a:rPr sz="2400" dirty="0">
                <a:latin typeface="Cambria"/>
                <a:cs typeface="Cambria"/>
              </a:rPr>
              <a:t>along</a:t>
            </a:r>
            <a:r>
              <a:rPr sz="2400" spc="229" dirty="0">
                <a:latin typeface="Cambria"/>
                <a:cs typeface="Cambria"/>
              </a:rPr>
              <a:t> </a:t>
            </a:r>
            <a:r>
              <a:rPr sz="2400" dirty="0">
                <a:latin typeface="Cambria"/>
                <a:cs typeface="Cambria"/>
              </a:rPr>
              <a:t>control</a:t>
            </a:r>
            <a:r>
              <a:rPr sz="2400" spc="225" dirty="0">
                <a:latin typeface="Cambria"/>
                <a:cs typeface="Cambria"/>
              </a:rPr>
              <a:t> </a:t>
            </a:r>
            <a:r>
              <a:rPr sz="2400" dirty="0">
                <a:latin typeface="Cambria"/>
                <a:cs typeface="Cambria"/>
              </a:rPr>
              <a:t>paths,</a:t>
            </a:r>
            <a:r>
              <a:rPr sz="2400" spc="225" dirty="0">
                <a:latin typeface="Cambria"/>
                <a:cs typeface="Cambria"/>
              </a:rPr>
              <a:t> </a:t>
            </a:r>
            <a:r>
              <a:rPr sz="2400" spc="-20" dirty="0">
                <a:latin typeface="Cambria"/>
                <a:cs typeface="Cambria"/>
              </a:rPr>
              <a:t>data-</a:t>
            </a:r>
            <a:r>
              <a:rPr sz="2400" dirty="0">
                <a:latin typeface="Cambria"/>
                <a:cs typeface="Cambria"/>
              </a:rPr>
              <a:t>flow</a:t>
            </a:r>
            <a:r>
              <a:rPr sz="2400" spc="235" dirty="0">
                <a:latin typeface="Cambria"/>
                <a:cs typeface="Cambria"/>
              </a:rPr>
              <a:t> </a:t>
            </a:r>
            <a:r>
              <a:rPr sz="2400" spc="-10" dirty="0">
                <a:latin typeface="Cambria"/>
                <a:cs typeface="Cambria"/>
              </a:rPr>
              <a:t>analysis</a:t>
            </a:r>
            <a:endParaRPr sz="2400">
              <a:latin typeface="Cambria"/>
              <a:cs typeface="Cambria"/>
            </a:endParaRPr>
          </a:p>
          <a:p>
            <a:pPr marL="527685" algn="just">
              <a:lnSpc>
                <a:spcPts val="2740"/>
              </a:lnSpc>
            </a:pPr>
            <a:r>
              <a:rPr sz="2400" dirty="0">
                <a:latin typeface="Cambria"/>
                <a:cs typeface="Cambria"/>
              </a:rPr>
              <a:t>is</a:t>
            </a:r>
            <a:r>
              <a:rPr sz="2400" spc="-65" dirty="0">
                <a:latin typeface="Cambria"/>
                <a:cs typeface="Cambria"/>
              </a:rPr>
              <a:t> </a:t>
            </a:r>
            <a:r>
              <a:rPr sz="2400" dirty="0">
                <a:latin typeface="Cambria"/>
                <a:cs typeface="Cambria"/>
              </a:rPr>
              <a:t>affected</a:t>
            </a:r>
            <a:r>
              <a:rPr sz="2400" spc="-55" dirty="0">
                <a:latin typeface="Cambria"/>
                <a:cs typeface="Cambria"/>
              </a:rPr>
              <a:t> </a:t>
            </a:r>
            <a:r>
              <a:rPr sz="2400" dirty="0">
                <a:latin typeface="Cambria"/>
                <a:cs typeface="Cambria"/>
              </a:rPr>
              <a:t>by</a:t>
            </a:r>
            <a:r>
              <a:rPr sz="2400" spc="-35" dirty="0">
                <a:latin typeface="Cambria"/>
                <a:cs typeface="Cambria"/>
              </a:rPr>
              <a:t> </a:t>
            </a:r>
            <a:r>
              <a:rPr sz="2400" dirty="0">
                <a:latin typeface="Cambria"/>
                <a:cs typeface="Cambria"/>
              </a:rPr>
              <a:t>the</a:t>
            </a:r>
            <a:r>
              <a:rPr sz="2400" spc="-60" dirty="0">
                <a:latin typeface="Cambria"/>
                <a:cs typeface="Cambria"/>
              </a:rPr>
              <a:t> </a:t>
            </a:r>
            <a:r>
              <a:rPr sz="2400" dirty="0">
                <a:latin typeface="Cambria"/>
                <a:cs typeface="Cambria"/>
              </a:rPr>
              <a:t>control</a:t>
            </a:r>
            <a:r>
              <a:rPr sz="2400" spc="-55" dirty="0">
                <a:latin typeface="Cambria"/>
                <a:cs typeface="Cambria"/>
              </a:rPr>
              <a:t> </a:t>
            </a:r>
            <a:r>
              <a:rPr sz="2400" dirty="0">
                <a:latin typeface="Cambria"/>
                <a:cs typeface="Cambria"/>
              </a:rPr>
              <a:t>constructs</a:t>
            </a:r>
            <a:r>
              <a:rPr sz="2400" spc="-50" dirty="0">
                <a:latin typeface="Cambria"/>
                <a:cs typeface="Cambria"/>
              </a:rPr>
              <a:t> </a:t>
            </a:r>
            <a:r>
              <a:rPr sz="2400" dirty="0">
                <a:latin typeface="Cambria"/>
                <a:cs typeface="Cambria"/>
              </a:rPr>
              <a:t>in</a:t>
            </a:r>
            <a:r>
              <a:rPr sz="2400" spc="-60" dirty="0">
                <a:latin typeface="Cambria"/>
                <a:cs typeface="Cambria"/>
              </a:rPr>
              <a:t> </a:t>
            </a:r>
            <a:r>
              <a:rPr sz="2400" dirty="0">
                <a:latin typeface="Cambria"/>
                <a:cs typeface="Cambria"/>
              </a:rPr>
              <a:t>a</a:t>
            </a:r>
            <a:r>
              <a:rPr sz="2400" spc="-55" dirty="0">
                <a:latin typeface="Cambria"/>
                <a:cs typeface="Cambria"/>
              </a:rPr>
              <a:t> </a:t>
            </a:r>
            <a:r>
              <a:rPr sz="2400" spc="-10" dirty="0">
                <a:latin typeface="Cambria"/>
                <a:cs typeface="Cambria"/>
              </a:rPr>
              <a:t>program.</a:t>
            </a:r>
            <a:endParaRPr sz="2400">
              <a:latin typeface="Cambria"/>
              <a:cs typeface="Cambria"/>
            </a:endParaRPr>
          </a:p>
          <a:p>
            <a:pPr marL="524510" marR="5080" indent="-512445" algn="just">
              <a:lnSpc>
                <a:spcPct val="90000"/>
              </a:lnSpc>
              <a:spcBef>
                <a:spcPts val="1200"/>
              </a:spcBef>
              <a:buClr>
                <a:srgbClr val="40B9D2"/>
              </a:buClr>
              <a:buAutoNum type="arabicPeriod" startAt="3"/>
              <a:tabLst>
                <a:tab pos="527685" algn="l"/>
              </a:tabLst>
            </a:pPr>
            <a:r>
              <a:rPr sz="2400" dirty="0">
                <a:latin typeface="Cambria"/>
                <a:cs typeface="Cambria"/>
              </a:rPr>
              <a:t>There</a:t>
            </a:r>
            <a:r>
              <a:rPr sz="2400" spc="150" dirty="0">
                <a:latin typeface="Cambria"/>
                <a:cs typeface="Cambria"/>
              </a:rPr>
              <a:t> </a:t>
            </a:r>
            <a:r>
              <a:rPr sz="2400" dirty="0">
                <a:latin typeface="Cambria"/>
                <a:cs typeface="Cambria"/>
              </a:rPr>
              <a:t>are</a:t>
            </a:r>
            <a:r>
              <a:rPr sz="2400" spc="160" dirty="0">
                <a:latin typeface="Cambria"/>
                <a:cs typeface="Cambria"/>
              </a:rPr>
              <a:t> </a:t>
            </a:r>
            <a:r>
              <a:rPr sz="2400" dirty="0">
                <a:latin typeface="Cambria"/>
                <a:cs typeface="Cambria"/>
              </a:rPr>
              <a:t>subtleties</a:t>
            </a:r>
            <a:r>
              <a:rPr sz="2400" spc="160" dirty="0">
                <a:latin typeface="Cambria"/>
                <a:cs typeface="Cambria"/>
              </a:rPr>
              <a:t> </a:t>
            </a:r>
            <a:r>
              <a:rPr sz="2400" dirty="0">
                <a:latin typeface="Cambria"/>
                <a:cs typeface="Cambria"/>
              </a:rPr>
              <a:t>that</a:t>
            </a:r>
            <a:r>
              <a:rPr sz="2400" spc="165" dirty="0">
                <a:latin typeface="Cambria"/>
                <a:cs typeface="Cambria"/>
              </a:rPr>
              <a:t> </a:t>
            </a:r>
            <a:r>
              <a:rPr sz="2400" dirty="0">
                <a:latin typeface="Cambria"/>
                <a:cs typeface="Cambria"/>
              </a:rPr>
              <a:t>go</a:t>
            </a:r>
            <a:r>
              <a:rPr sz="2400" spc="150" dirty="0">
                <a:latin typeface="Cambria"/>
                <a:cs typeface="Cambria"/>
              </a:rPr>
              <a:t> </a:t>
            </a:r>
            <a:r>
              <a:rPr sz="2400" dirty="0">
                <a:latin typeface="Cambria"/>
                <a:cs typeface="Cambria"/>
              </a:rPr>
              <a:t>along</a:t>
            </a:r>
            <a:r>
              <a:rPr sz="2400" spc="150" dirty="0">
                <a:latin typeface="Cambria"/>
                <a:cs typeface="Cambria"/>
              </a:rPr>
              <a:t> </a:t>
            </a:r>
            <a:r>
              <a:rPr sz="2400" dirty="0">
                <a:latin typeface="Cambria"/>
                <a:cs typeface="Cambria"/>
              </a:rPr>
              <a:t>with</a:t>
            </a:r>
            <a:r>
              <a:rPr sz="2400" spc="145" dirty="0">
                <a:latin typeface="Cambria"/>
                <a:cs typeface="Cambria"/>
              </a:rPr>
              <a:t> </a:t>
            </a:r>
            <a:r>
              <a:rPr sz="2400" dirty="0">
                <a:latin typeface="Cambria"/>
                <a:cs typeface="Cambria"/>
              </a:rPr>
              <a:t>such</a:t>
            </a:r>
            <a:r>
              <a:rPr sz="2400" spc="160" dirty="0">
                <a:latin typeface="Cambria"/>
                <a:cs typeface="Cambria"/>
              </a:rPr>
              <a:t> </a:t>
            </a:r>
            <a:r>
              <a:rPr sz="2400" spc="-10" dirty="0">
                <a:latin typeface="Cambria"/>
                <a:cs typeface="Cambria"/>
              </a:rPr>
              <a:t>statements 	</a:t>
            </a:r>
            <a:r>
              <a:rPr sz="2400" dirty="0">
                <a:latin typeface="Cambria"/>
                <a:cs typeface="Cambria"/>
              </a:rPr>
              <a:t>as</a:t>
            </a:r>
            <a:r>
              <a:rPr sz="2400" spc="-15" dirty="0">
                <a:latin typeface="Cambria"/>
                <a:cs typeface="Cambria"/>
              </a:rPr>
              <a:t> </a:t>
            </a:r>
            <a:r>
              <a:rPr sz="2400" dirty="0">
                <a:latin typeface="Cambria"/>
                <a:cs typeface="Cambria"/>
              </a:rPr>
              <a:t>procedure</a:t>
            </a:r>
            <a:r>
              <a:rPr sz="2400" spc="-10" dirty="0">
                <a:latin typeface="Cambria"/>
                <a:cs typeface="Cambria"/>
              </a:rPr>
              <a:t> </a:t>
            </a:r>
            <a:r>
              <a:rPr sz="2400" dirty="0">
                <a:latin typeface="Cambria"/>
                <a:cs typeface="Cambria"/>
              </a:rPr>
              <a:t>calls,</a:t>
            </a:r>
            <a:r>
              <a:rPr sz="2400" spc="-15" dirty="0">
                <a:latin typeface="Cambria"/>
                <a:cs typeface="Cambria"/>
              </a:rPr>
              <a:t> </a:t>
            </a:r>
            <a:r>
              <a:rPr sz="2400" dirty="0">
                <a:latin typeface="Cambria"/>
                <a:cs typeface="Cambria"/>
              </a:rPr>
              <a:t>assignment</a:t>
            </a:r>
            <a:r>
              <a:rPr sz="2400" spc="5" dirty="0">
                <a:latin typeface="Cambria"/>
                <a:cs typeface="Cambria"/>
              </a:rPr>
              <a:t> </a:t>
            </a:r>
            <a:r>
              <a:rPr sz="2400" dirty="0">
                <a:latin typeface="Cambria"/>
                <a:cs typeface="Cambria"/>
              </a:rPr>
              <a:t>through</a:t>
            </a:r>
            <a:r>
              <a:rPr sz="2400" spc="-20" dirty="0">
                <a:latin typeface="Cambria"/>
                <a:cs typeface="Cambria"/>
              </a:rPr>
              <a:t> </a:t>
            </a:r>
            <a:r>
              <a:rPr sz="2400" dirty="0">
                <a:latin typeface="Cambria"/>
                <a:cs typeface="Cambria"/>
              </a:rPr>
              <a:t>pointer and</a:t>
            </a:r>
            <a:r>
              <a:rPr sz="2400" spc="-10" dirty="0">
                <a:latin typeface="Cambria"/>
                <a:cs typeface="Cambria"/>
              </a:rPr>
              <a:t> </a:t>
            </a:r>
            <a:r>
              <a:rPr sz="2400" spc="-20" dirty="0">
                <a:latin typeface="Cambria"/>
                <a:cs typeface="Cambria"/>
              </a:rPr>
              <a:t>even 	</a:t>
            </a:r>
            <a:r>
              <a:rPr sz="2400" dirty="0">
                <a:latin typeface="Cambria"/>
                <a:cs typeface="Cambria"/>
              </a:rPr>
              <a:t>assignments</a:t>
            </a:r>
            <a:r>
              <a:rPr sz="2400" spc="-95" dirty="0">
                <a:latin typeface="Cambria"/>
                <a:cs typeface="Cambria"/>
              </a:rPr>
              <a:t> </a:t>
            </a:r>
            <a:r>
              <a:rPr sz="2400" dirty="0">
                <a:latin typeface="Cambria"/>
                <a:cs typeface="Cambria"/>
              </a:rPr>
              <a:t>to</a:t>
            </a:r>
            <a:r>
              <a:rPr sz="2400" spc="-90" dirty="0">
                <a:latin typeface="Cambria"/>
                <a:cs typeface="Cambria"/>
              </a:rPr>
              <a:t> </a:t>
            </a:r>
            <a:r>
              <a:rPr sz="2400" dirty="0">
                <a:latin typeface="Cambria"/>
                <a:cs typeface="Cambria"/>
              </a:rPr>
              <a:t>array</a:t>
            </a:r>
            <a:r>
              <a:rPr sz="2400" spc="-105" dirty="0">
                <a:latin typeface="Cambria"/>
                <a:cs typeface="Cambria"/>
              </a:rPr>
              <a:t> </a:t>
            </a:r>
            <a:r>
              <a:rPr sz="2400" spc="-10" dirty="0">
                <a:latin typeface="Cambria"/>
                <a:cs typeface="Cambria"/>
              </a:rPr>
              <a:t>variables.</a:t>
            </a:r>
            <a:endParaRPr sz="2400">
              <a:latin typeface="Cambria"/>
              <a:cs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647700" marR="620395" indent="69850">
              <a:lnSpc>
                <a:spcPts val="3890"/>
              </a:lnSpc>
            </a:pPr>
            <a:r>
              <a:rPr sz="3600" b="1" spc="-50" dirty="0">
                <a:solidFill>
                  <a:srgbClr val="FFFFFF"/>
                </a:solidFill>
                <a:latin typeface="Cambria"/>
                <a:cs typeface="Cambria"/>
              </a:rPr>
              <a:t>Data</a:t>
            </a:r>
            <a:r>
              <a:rPr sz="3600" b="1" spc="-140" dirty="0">
                <a:solidFill>
                  <a:srgbClr val="FFFFFF"/>
                </a:solidFill>
                <a:latin typeface="Cambria"/>
                <a:cs typeface="Cambria"/>
              </a:rPr>
              <a:t> </a:t>
            </a:r>
            <a:r>
              <a:rPr sz="3600" b="1" spc="-20" dirty="0">
                <a:solidFill>
                  <a:srgbClr val="FFFFFF"/>
                </a:solidFill>
                <a:latin typeface="Cambria"/>
                <a:cs typeface="Cambria"/>
              </a:rPr>
              <a:t>Flow </a:t>
            </a:r>
            <a:r>
              <a:rPr sz="3600" b="1" spc="-70" dirty="0">
                <a:solidFill>
                  <a:srgbClr val="FFFFFF"/>
                </a:solidFill>
                <a:latin typeface="Cambria"/>
                <a:cs typeface="Cambria"/>
              </a:rPr>
              <a:t>Properties</a:t>
            </a:r>
            <a:endParaRPr sz="3600">
              <a:latin typeface="Cambria"/>
              <a:cs typeface="Cambria"/>
            </a:endParaRPr>
          </a:p>
        </p:txBody>
      </p:sp>
      <p:sp>
        <p:nvSpPr>
          <p:cNvPr id="3" name="object 3"/>
          <p:cNvSpPr txBox="1"/>
          <p:nvPr/>
        </p:nvSpPr>
        <p:spPr>
          <a:xfrm>
            <a:off x="3998214" y="481965"/>
            <a:ext cx="7156450" cy="720725"/>
          </a:xfrm>
          <a:prstGeom prst="rect">
            <a:avLst/>
          </a:prstGeom>
        </p:spPr>
        <p:txBody>
          <a:bodyPr vert="horz" wrap="square" lIns="0" tIns="53975" rIns="0" bIns="0" rtlCol="0">
            <a:spAutoFit/>
          </a:bodyPr>
          <a:lstStyle/>
          <a:p>
            <a:pPr marL="195580" marR="5080" indent="-182880">
              <a:lnSpc>
                <a:spcPts val="2590"/>
              </a:lnSpc>
              <a:spcBef>
                <a:spcPts val="425"/>
              </a:spcBef>
              <a:tabLst>
                <a:tab pos="513715" algn="l"/>
                <a:tab pos="1768475" algn="l"/>
                <a:tab pos="2585085" algn="l"/>
                <a:tab pos="4089400" algn="l"/>
                <a:tab pos="6032500" algn="l"/>
                <a:tab pos="637540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0" dirty="0">
                <a:latin typeface="Cambria"/>
                <a:cs typeface="Cambria"/>
              </a:rPr>
              <a:t>A</a:t>
            </a:r>
            <a:r>
              <a:rPr sz="2400" dirty="0">
                <a:latin typeface="Cambria"/>
                <a:cs typeface="Cambria"/>
              </a:rPr>
              <a:t>	</a:t>
            </a:r>
            <a:r>
              <a:rPr sz="2400" spc="-10" dirty="0">
                <a:latin typeface="Cambria"/>
                <a:cs typeface="Cambria"/>
              </a:rPr>
              <a:t>program</a:t>
            </a:r>
            <a:r>
              <a:rPr sz="2400" dirty="0">
                <a:latin typeface="Cambria"/>
                <a:cs typeface="Cambria"/>
              </a:rPr>
              <a:t>	</a:t>
            </a:r>
            <a:r>
              <a:rPr sz="2400" spc="-10" dirty="0">
                <a:latin typeface="Cambria"/>
                <a:cs typeface="Cambria"/>
              </a:rPr>
              <a:t>point</a:t>
            </a:r>
            <a:r>
              <a:rPr sz="2400" dirty="0">
                <a:latin typeface="Cambria"/>
                <a:cs typeface="Cambria"/>
              </a:rPr>
              <a:t>	</a:t>
            </a:r>
            <a:r>
              <a:rPr sz="2400" spc="-10" dirty="0">
                <a:latin typeface="Cambria"/>
                <a:cs typeface="Cambria"/>
              </a:rPr>
              <a:t>containing</a:t>
            </a:r>
            <a:r>
              <a:rPr sz="2400" dirty="0">
                <a:latin typeface="Cambria"/>
                <a:cs typeface="Cambria"/>
              </a:rPr>
              <a:t>	the</a:t>
            </a:r>
            <a:r>
              <a:rPr sz="2400" spc="430" dirty="0">
                <a:latin typeface="Cambria"/>
                <a:cs typeface="Cambria"/>
              </a:rPr>
              <a:t> </a:t>
            </a:r>
            <a:r>
              <a:rPr sz="2400" spc="-10" dirty="0">
                <a:latin typeface="Cambria"/>
                <a:cs typeface="Cambria"/>
              </a:rPr>
              <a:t>definition</a:t>
            </a:r>
            <a:r>
              <a:rPr sz="2400" dirty="0">
                <a:latin typeface="Cambria"/>
                <a:cs typeface="Cambria"/>
              </a:rPr>
              <a:t>	</a:t>
            </a:r>
            <a:r>
              <a:rPr sz="2400" spc="-25" dirty="0">
                <a:latin typeface="Cambria"/>
                <a:cs typeface="Cambria"/>
              </a:rPr>
              <a:t>is</a:t>
            </a:r>
            <a:r>
              <a:rPr sz="2400" dirty="0">
                <a:latin typeface="Cambria"/>
                <a:cs typeface="Cambria"/>
              </a:rPr>
              <a:t>	</a:t>
            </a:r>
            <a:r>
              <a:rPr sz="2400" spc="-10" dirty="0">
                <a:latin typeface="Cambria"/>
                <a:cs typeface="Cambria"/>
              </a:rPr>
              <a:t>called </a:t>
            </a:r>
            <a:r>
              <a:rPr sz="2400" dirty="0">
                <a:latin typeface="Cambria"/>
                <a:cs typeface="Cambria"/>
              </a:rPr>
              <a:t>Definition</a:t>
            </a:r>
            <a:r>
              <a:rPr sz="2400" spc="-40" dirty="0">
                <a:latin typeface="Cambria"/>
                <a:cs typeface="Cambria"/>
              </a:rPr>
              <a:t> </a:t>
            </a:r>
            <a:r>
              <a:rPr sz="2400" spc="-10" dirty="0">
                <a:latin typeface="Cambria"/>
                <a:cs typeface="Cambria"/>
              </a:rPr>
              <a:t>Point.</a:t>
            </a:r>
            <a:endParaRPr sz="2400">
              <a:latin typeface="Cambria"/>
              <a:cs typeface="Cambria"/>
            </a:endParaRPr>
          </a:p>
        </p:txBody>
      </p:sp>
      <p:sp>
        <p:nvSpPr>
          <p:cNvPr id="4" name="object 4"/>
          <p:cNvSpPr txBox="1">
            <a:spLocks noGrp="1"/>
          </p:cNvSpPr>
          <p:nvPr>
            <p:ph type="title"/>
          </p:nvPr>
        </p:nvSpPr>
        <p:spPr>
          <a:xfrm>
            <a:off x="3998214" y="1292428"/>
            <a:ext cx="7157720" cy="391795"/>
          </a:xfrm>
          <a:prstGeom prst="rect">
            <a:avLst/>
          </a:prstGeom>
        </p:spPr>
        <p:txBody>
          <a:bodyPr vert="horz" wrap="square" lIns="0" tIns="12700" rIns="0" bIns="0" rtlCol="0">
            <a:spAutoFit/>
          </a:bodyPr>
          <a:lstStyle/>
          <a:p>
            <a:pPr marL="12700">
              <a:lnSpc>
                <a:spcPct val="100000"/>
              </a:lnSpc>
              <a:spcBef>
                <a:spcPts val="100"/>
              </a:spcBef>
              <a:tabLst>
                <a:tab pos="3761740" algn="l"/>
              </a:tabLst>
            </a:pPr>
            <a:r>
              <a:rPr spc="-1250" dirty="0">
                <a:solidFill>
                  <a:srgbClr val="40B9D2"/>
                </a:solidFill>
                <a:latin typeface="Arial MT"/>
                <a:cs typeface="Arial MT"/>
              </a:rPr>
              <a:t>🞄</a:t>
            </a:r>
            <a:r>
              <a:rPr spc="-95" dirty="0">
                <a:solidFill>
                  <a:srgbClr val="40B9D2"/>
                </a:solidFill>
                <a:latin typeface="Arial MT"/>
                <a:cs typeface="Arial MT"/>
              </a:rPr>
              <a:t> </a:t>
            </a:r>
            <a:r>
              <a:rPr dirty="0"/>
              <a:t>A</a:t>
            </a:r>
            <a:r>
              <a:rPr spc="60" dirty="0"/>
              <a:t> </a:t>
            </a:r>
            <a:r>
              <a:rPr dirty="0"/>
              <a:t>program</a:t>
            </a:r>
            <a:r>
              <a:rPr spc="100" dirty="0"/>
              <a:t> </a:t>
            </a:r>
            <a:r>
              <a:rPr dirty="0"/>
              <a:t>point</a:t>
            </a:r>
            <a:r>
              <a:rPr spc="110" dirty="0"/>
              <a:t> </a:t>
            </a:r>
            <a:r>
              <a:rPr dirty="0"/>
              <a:t>at</a:t>
            </a:r>
            <a:r>
              <a:rPr spc="105" dirty="0"/>
              <a:t> </a:t>
            </a:r>
            <a:r>
              <a:rPr spc="-10" dirty="0"/>
              <a:t>which</a:t>
            </a:r>
            <a:r>
              <a:rPr dirty="0"/>
              <a:t>	a</a:t>
            </a:r>
            <a:r>
              <a:rPr spc="85" dirty="0"/>
              <a:t> </a:t>
            </a:r>
            <a:r>
              <a:rPr dirty="0"/>
              <a:t>reference</a:t>
            </a:r>
            <a:r>
              <a:rPr spc="95" dirty="0"/>
              <a:t> </a:t>
            </a:r>
            <a:r>
              <a:rPr dirty="0"/>
              <a:t>to</a:t>
            </a:r>
            <a:r>
              <a:rPr spc="90" dirty="0"/>
              <a:t> </a:t>
            </a:r>
            <a:r>
              <a:rPr dirty="0"/>
              <a:t>a</a:t>
            </a:r>
            <a:r>
              <a:rPr spc="95" dirty="0"/>
              <a:t> </a:t>
            </a:r>
            <a:r>
              <a:rPr dirty="0"/>
              <a:t>data</a:t>
            </a:r>
            <a:r>
              <a:rPr spc="90" dirty="0"/>
              <a:t> </a:t>
            </a:r>
            <a:r>
              <a:rPr spc="-20" dirty="0"/>
              <a:t>item</a:t>
            </a:r>
          </a:p>
        </p:txBody>
      </p:sp>
      <p:sp>
        <p:nvSpPr>
          <p:cNvPr id="5" name="object 5"/>
          <p:cNvSpPr txBox="1"/>
          <p:nvPr/>
        </p:nvSpPr>
        <p:spPr>
          <a:xfrm>
            <a:off x="4181094" y="1622297"/>
            <a:ext cx="42722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is</a:t>
            </a:r>
            <a:r>
              <a:rPr sz="2400" spc="-55" dirty="0">
                <a:latin typeface="Cambria"/>
                <a:cs typeface="Cambria"/>
              </a:rPr>
              <a:t> </a:t>
            </a:r>
            <a:r>
              <a:rPr sz="2400" dirty="0">
                <a:latin typeface="Cambria"/>
                <a:cs typeface="Cambria"/>
              </a:rPr>
              <a:t>made</a:t>
            </a:r>
            <a:r>
              <a:rPr sz="2400" spc="-30" dirty="0">
                <a:latin typeface="Cambria"/>
                <a:cs typeface="Cambria"/>
              </a:rPr>
              <a:t> </a:t>
            </a:r>
            <a:r>
              <a:rPr sz="2400" dirty="0">
                <a:latin typeface="Cambria"/>
                <a:cs typeface="Cambria"/>
              </a:rPr>
              <a:t>is</a:t>
            </a:r>
            <a:r>
              <a:rPr sz="2400" spc="-40" dirty="0">
                <a:latin typeface="Cambria"/>
                <a:cs typeface="Cambria"/>
              </a:rPr>
              <a:t> </a:t>
            </a:r>
            <a:r>
              <a:rPr sz="2400" dirty="0">
                <a:latin typeface="Cambria"/>
                <a:cs typeface="Cambria"/>
              </a:rPr>
              <a:t>called</a:t>
            </a:r>
            <a:r>
              <a:rPr sz="2400" spc="-50" dirty="0">
                <a:latin typeface="Cambria"/>
                <a:cs typeface="Cambria"/>
              </a:rPr>
              <a:t> </a:t>
            </a:r>
            <a:r>
              <a:rPr sz="2400" spc="-10" dirty="0">
                <a:latin typeface="Cambria"/>
                <a:cs typeface="Cambria"/>
              </a:rPr>
              <a:t>reference</a:t>
            </a:r>
            <a:r>
              <a:rPr sz="2400" spc="-60" dirty="0">
                <a:latin typeface="Cambria"/>
                <a:cs typeface="Cambria"/>
              </a:rPr>
              <a:t> </a:t>
            </a:r>
            <a:r>
              <a:rPr sz="2400" spc="-10" dirty="0">
                <a:latin typeface="Cambria"/>
                <a:cs typeface="Cambria"/>
              </a:rPr>
              <a:t>point.</a:t>
            </a:r>
            <a:endParaRPr sz="2400">
              <a:latin typeface="Cambria"/>
              <a:cs typeface="Cambria"/>
            </a:endParaRPr>
          </a:p>
        </p:txBody>
      </p:sp>
      <p:sp>
        <p:nvSpPr>
          <p:cNvPr id="6" name="object 6"/>
          <p:cNvSpPr txBox="1"/>
          <p:nvPr/>
        </p:nvSpPr>
        <p:spPr>
          <a:xfrm>
            <a:off x="3998214" y="2103882"/>
            <a:ext cx="7156450" cy="720725"/>
          </a:xfrm>
          <a:prstGeom prst="rect">
            <a:avLst/>
          </a:prstGeom>
        </p:spPr>
        <p:txBody>
          <a:bodyPr vert="horz" wrap="square" lIns="0" tIns="53975" rIns="0" bIns="0" rtlCol="0">
            <a:spAutoFit/>
          </a:bodyPr>
          <a:lstStyle/>
          <a:p>
            <a:pPr marL="195580" marR="5080" indent="-182880">
              <a:lnSpc>
                <a:spcPts val="2590"/>
              </a:lnSpc>
              <a:spcBef>
                <a:spcPts val="425"/>
              </a:spcBef>
              <a:tabLst>
                <a:tab pos="695325" algn="l"/>
                <a:tab pos="2129155" algn="l"/>
                <a:tab pos="3127375" algn="l"/>
                <a:tab pos="3689985" algn="l"/>
                <a:tab pos="4785995" algn="l"/>
                <a:tab pos="579183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0" dirty="0">
                <a:latin typeface="Cambria"/>
                <a:cs typeface="Cambria"/>
              </a:rPr>
              <a:t>A</a:t>
            </a:r>
            <a:r>
              <a:rPr sz="2400" dirty="0">
                <a:latin typeface="Cambria"/>
                <a:cs typeface="Cambria"/>
              </a:rPr>
              <a:t>	</a:t>
            </a:r>
            <a:r>
              <a:rPr sz="2400" spc="-10" dirty="0">
                <a:latin typeface="Cambria"/>
                <a:cs typeface="Cambria"/>
              </a:rPr>
              <a:t>program</a:t>
            </a:r>
            <a:r>
              <a:rPr sz="2400" dirty="0">
                <a:latin typeface="Cambria"/>
                <a:cs typeface="Cambria"/>
              </a:rPr>
              <a:t>	</a:t>
            </a:r>
            <a:r>
              <a:rPr sz="2400" spc="-10" dirty="0">
                <a:latin typeface="Cambria"/>
                <a:cs typeface="Cambria"/>
              </a:rPr>
              <a:t>point</a:t>
            </a:r>
            <a:r>
              <a:rPr sz="2400" dirty="0">
                <a:latin typeface="Cambria"/>
                <a:cs typeface="Cambria"/>
              </a:rPr>
              <a:t>	</a:t>
            </a:r>
            <a:r>
              <a:rPr sz="2400" spc="-25" dirty="0">
                <a:latin typeface="Cambria"/>
                <a:cs typeface="Cambria"/>
              </a:rPr>
              <a:t>at</a:t>
            </a:r>
            <a:r>
              <a:rPr sz="2400" dirty="0">
                <a:latin typeface="Cambria"/>
                <a:cs typeface="Cambria"/>
              </a:rPr>
              <a:t>	</a:t>
            </a:r>
            <a:r>
              <a:rPr sz="2400" spc="-10" dirty="0">
                <a:latin typeface="Cambria"/>
                <a:cs typeface="Cambria"/>
              </a:rPr>
              <a:t>which</a:t>
            </a:r>
            <a:r>
              <a:rPr sz="2400" dirty="0">
                <a:latin typeface="Cambria"/>
                <a:cs typeface="Cambria"/>
              </a:rPr>
              <a:t>	</a:t>
            </a:r>
            <a:r>
              <a:rPr sz="2400" spc="-20" dirty="0">
                <a:latin typeface="Cambria"/>
                <a:cs typeface="Cambria"/>
              </a:rPr>
              <a:t>some</a:t>
            </a:r>
            <a:r>
              <a:rPr sz="2400" dirty="0">
                <a:latin typeface="Cambria"/>
                <a:cs typeface="Cambria"/>
              </a:rPr>
              <a:t>	</a:t>
            </a:r>
            <a:r>
              <a:rPr sz="2400" spc="-20" dirty="0">
                <a:latin typeface="Cambria"/>
                <a:cs typeface="Cambria"/>
              </a:rPr>
              <a:t>evaluating </a:t>
            </a:r>
            <a:r>
              <a:rPr sz="2400" spc="-10" dirty="0">
                <a:latin typeface="Cambria"/>
                <a:cs typeface="Cambria"/>
              </a:rPr>
              <a:t>expression</a:t>
            </a:r>
            <a:r>
              <a:rPr sz="2400" spc="-60" dirty="0">
                <a:latin typeface="Cambria"/>
                <a:cs typeface="Cambria"/>
              </a:rPr>
              <a:t> </a:t>
            </a:r>
            <a:r>
              <a:rPr sz="2400" dirty="0">
                <a:latin typeface="Cambria"/>
                <a:cs typeface="Cambria"/>
              </a:rPr>
              <a:t>is</a:t>
            </a:r>
            <a:r>
              <a:rPr sz="2400" spc="-65" dirty="0">
                <a:latin typeface="Cambria"/>
                <a:cs typeface="Cambria"/>
              </a:rPr>
              <a:t> </a:t>
            </a:r>
            <a:r>
              <a:rPr sz="2400" dirty="0">
                <a:latin typeface="Cambria"/>
                <a:cs typeface="Cambria"/>
              </a:rPr>
              <a:t>given</a:t>
            </a:r>
            <a:r>
              <a:rPr sz="2400" spc="-60" dirty="0">
                <a:latin typeface="Cambria"/>
                <a:cs typeface="Cambria"/>
              </a:rPr>
              <a:t> </a:t>
            </a:r>
            <a:r>
              <a:rPr sz="2400" dirty="0">
                <a:latin typeface="Cambria"/>
                <a:cs typeface="Cambria"/>
              </a:rPr>
              <a:t>is</a:t>
            </a:r>
            <a:r>
              <a:rPr sz="2400" spc="-60" dirty="0">
                <a:latin typeface="Cambria"/>
                <a:cs typeface="Cambria"/>
              </a:rPr>
              <a:t> </a:t>
            </a:r>
            <a:r>
              <a:rPr sz="2400" dirty="0">
                <a:latin typeface="Cambria"/>
                <a:cs typeface="Cambria"/>
              </a:rPr>
              <a:t>called</a:t>
            </a:r>
            <a:r>
              <a:rPr sz="2400" spc="-50" dirty="0">
                <a:latin typeface="Cambria"/>
                <a:cs typeface="Cambria"/>
              </a:rPr>
              <a:t> </a:t>
            </a:r>
            <a:r>
              <a:rPr sz="2400" spc="-10" dirty="0">
                <a:latin typeface="Cambria"/>
                <a:cs typeface="Cambria"/>
              </a:rPr>
              <a:t>evaluation</a:t>
            </a:r>
            <a:r>
              <a:rPr sz="2400" spc="-75" dirty="0">
                <a:latin typeface="Cambria"/>
                <a:cs typeface="Cambria"/>
              </a:rPr>
              <a:t> </a:t>
            </a:r>
            <a:r>
              <a:rPr sz="2400" spc="-10" dirty="0">
                <a:latin typeface="Cambria"/>
                <a:cs typeface="Cambria"/>
              </a:rPr>
              <a:t>point.</a:t>
            </a:r>
            <a:endParaRPr sz="2400">
              <a:latin typeface="Cambria"/>
              <a:cs typeface="Cambria"/>
            </a:endParaRPr>
          </a:p>
        </p:txBody>
      </p:sp>
      <p:sp>
        <p:nvSpPr>
          <p:cNvPr id="7" name="object 7"/>
          <p:cNvSpPr txBox="1"/>
          <p:nvPr/>
        </p:nvSpPr>
        <p:spPr>
          <a:xfrm>
            <a:off x="4929378" y="3621785"/>
            <a:ext cx="2222500" cy="600710"/>
          </a:xfrm>
          <a:prstGeom prst="rect">
            <a:avLst/>
          </a:prstGeom>
          <a:ln w="10667">
            <a:solidFill>
              <a:srgbClr val="40B9D2"/>
            </a:solidFill>
          </a:ln>
        </p:spPr>
        <p:txBody>
          <a:bodyPr vert="horz" wrap="square" lIns="0" tIns="147955" rIns="0" bIns="0" rtlCol="0">
            <a:spAutoFit/>
          </a:bodyPr>
          <a:lstStyle/>
          <a:p>
            <a:pPr marL="718820">
              <a:lnSpc>
                <a:spcPct val="100000"/>
              </a:lnSpc>
              <a:spcBef>
                <a:spcPts val="1165"/>
              </a:spcBef>
            </a:pPr>
            <a:r>
              <a:rPr sz="1800" dirty="0">
                <a:latin typeface="Corbel"/>
                <a:cs typeface="Corbel"/>
              </a:rPr>
              <a:t>W1</a:t>
            </a:r>
            <a:r>
              <a:rPr sz="1800" spc="-10" dirty="0">
                <a:latin typeface="Corbel"/>
                <a:cs typeface="Corbel"/>
              </a:rPr>
              <a:t> </a:t>
            </a:r>
            <a:r>
              <a:rPr sz="1800" dirty="0">
                <a:latin typeface="Corbel"/>
                <a:cs typeface="Corbel"/>
              </a:rPr>
              <a:t>:</a:t>
            </a:r>
            <a:r>
              <a:rPr sz="1800" spc="-20" dirty="0">
                <a:latin typeface="Corbel"/>
                <a:cs typeface="Corbel"/>
              </a:rPr>
              <a:t> </a:t>
            </a:r>
            <a:r>
              <a:rPr sz="1800" spc="-25" dirty="0">
                <a:latin typeface="Corbel"/>
                <a:cs typeface="Corbel"/>
              </a:rPr>
              <a:t>x=3</a:t>
            </a:r>
            <a:endParaRPr sz="1800">
              <a:latin typeface="Corbel"/>
              <a:cs typeface="Corbel"/>
            </a:endParaRPr>
          </a:p>
        </p:txBody>
      </p:sp>
      <p:sp>
        <p:nvSpPr>
          <p:cNvPr id="8" name="object 8"/>
          <p:cNvSpPr txBox="1"/>
          <p:nvPr/>
        </p:nvSpPr>
        <p:spPr>
          <a:xfrm>
            <a:off x="4929378" y="4623053"/>
            <a:ext cx="2222500" cy="600710"/>
          </a:xfrm>
          <a:prstGeom prst="rect">
            <a:avLst/>
          </a:prstGeom>
          <a:ln w="10667">
            <a:solidFill>
              <a:srgbClr val="40B9D2"/>
            </a:solidFill>
          </a:ln>
        </p:spPr>
        <p:txBody>
          <a:bodyPr vert="horz" wrap="square" lIns="0" tIns="148590" rIns="0" bIns="0" rtlCol="0">
            <a:spAutoFit/>
          </a:bodyPr>
          <a:lstStyle/>
          <a:p>
            <a:pPr marL="709930">
              <a:lnSpc>
                <a:spcPct val="100000"/>
              </a:lnSpc>
              <a:spcBef>
                <a:spcPts val="1170"/>
              </a:spcBef>
            </a:pPr>
            <a:r>
              <a:rPr sz="1800" dirty="0">
                <a:latin typeface="Corbel"/>
                <a:cs typeface="Corbel"/>
              </a:rPr>
              <a:t>W2</a:t>
            </a:r>
            <a:r>
              <a:rPr sz="1800" spc="-5" dirty="0">
                <a:latin typeface="Corbel"/>
                <a:cs typeface="Corbel"/>
              </a:rPr>
              <a:t> </a:t>
            </a:r>
            <a:r>
              <a:rPr sz="1800" dirty="0">
                <a:latin typeface="Corbel"/>
                <a:cs typeface="Corbel"/>
              </a:rPr>
              <a:t>:</a:t>
            </a:r>
            <a:r>
              <a:rPr sz="1800" spc="-25" dirty="0">
                <a:latin typeface="Corbel"/>
                <a:cs typeface="Corbel"/>
              </a:rPr>
              <a:t> y=x</a:t>
            </a:r>
            <a:endParaRPr sz="1800">
              <a:latin typeface="Corbel"/>
              <a:cs typeface="Corbel"/>
            </a:endParaRPr>
          </a:p>
        </p:txBody>
      </p:sp>
      <p:sp>
        <p:nvSpPr>
          <p:cNvPr id="9" name="object 9"/>
          <p:cNvSpPr txBox="1"/>
          <p:nvPr/>
        </p:nvSpPr>
        <p:spPr>
          <a:xfrm>
            <a:off x="4929378" y="5670041"/>
            <a:ext cx="2222500" cy="601980"/>
          </a:xfrm>
          <a:prstGeom prst="rect">
            <a:avLst/>
          </a:prstGeom>
          <a:ln w="10667">
            <a:solidFill>
              <a:srgbClr val="40B9D2"/>
            </a:solidFill>
          </a:ln>
        </p:spPr>
        <p:txBody>
          <a:bodyPr vert="horz" wrap="square" lIns="0" tIns="149225" rIns="0" bIns="0" rtlCol="0">
            <a:spAutoFit/>
          </a:bodyPr>
          <a:lstStyle/>
          <a:p>
            <a:pPr marL="511175">
              <a:lnSpc>
                <a:spcPct val="100000"/>
              </a:lnSpc>
              <a:spcBef>
                <a:spcPts val="1175"/>
              </a:spcBef>
            </a:pPr>
            <a:r>
              <a:rPr sz="1800" dirty="0">
                <a:latin typeface="Corbel"/>
                <a:cs typeface="Corbel"/>
              </a:rPr>
              <a:t>W3</a:t>
            </a:r>
            <a:r>
              <a:rPr sz="1800" spc="-10" dirty="0">
                <a:latin typeface="Corbel"/>
                <a:cs typeface="Corbel"/>
              </a:rPr>
              <a:t> </a:t>
            </a:r>
            <a:r>
              <a:rPr sz="1800" dirty="0">
                <a:latin typeface="Corbel"/>
                <a:cs typeface="Corbel"/>
              </a:rPr>
              <a:t>:</a:t>
            </a:r>
            <a:r>
              <a:rPr sz="1800" spc="-10" dirty="0">
                <a:latin typeface="Corbel"/>
                <a:cs typeface="Corbel"/>
              </a:rPr>
              <a:t> </a:t>
            </a:r>
            <a:r>
              <a:rPr sz="1800" dirty="0">
                <a:latin typeface="Corbel"/>
                <a:cs typeface="Corbel"/>
              </a:rPr>
              <a:t>z</a:t>
            </a:r>
            <a:r>
              <a:rPr sz="1800" spc="-5" dirty="0">
                <a:latin typeface="Corbel"/>
                <a:cs typeface="Corbel"/>
              </a:rPr>
              <a:t> </a:t>
            </a:r>
            <a:r>
              <a:rPr sz="1800" dirty="0">
                <a:latin typeface="Corbel"/>
                <a:cs typeface="Corbel"/>
              </a:rPr>
              <a:t>=</a:t>
            </a:r>
            <a:r>
              <a:rPr sz="1800" spc="-5" dirty="0">
                <a:latin typeface="Corbel"/>
                <a:cs typeface="Corbel"/>
              </a:rPr>
              <a:t> </a:t>
            </a:r>
            <a:r>
              <a:rPr sz="1800" dirty="0">
                <a:latin typeface="Corbel"/>
                <a:cs typeface="Corbel"/>
              </a:rPr>
              <a:t>x</a:t>
            </a:r>
            <a:r>
              <a:rPr sz="1800" spc="5" dirty="0">
                <a:latin typeface="Corbel"/>
                <a:cs typeface="Corbel"/>
              </a:rPr>
              <a:t> </a:t>
            </a:r>
            <a:r>
              <a:rPr sz="1800" dirty="0">
                <a:latin typeface="Corbel"/>
                <a:cs typeface="Corbel"/>
              </a:rPr>
              <a:t>*</a:t>
            </a:r>
            <a:r>
              <a:rPr sz="1800" spc="-5" dirty="0">
                <a:latin typeface="Corbel"/>
                <a:cs typeface="Corbel"/>
              </a:rPr>
              <a:t> </a:t>
            </a:r>
            <a:r>
              <a:rPr sz="1800" spc="-50" dirty="0">
                <a:latin typeface="Corbel"/>
                <a:cs typeface="Corbel"/>
              </a:rPr>
              <a:t>y</a:t>
            </a:r>
            <a:endParaRPr sz="1800">
              <a:latin typeface="Corbel"/>
              <a:cs typeface="Corbel"/>
            </a:endParaRPr>
          </a:p>
        </p:txBody>
      </p:sp>
      <p:grpSp>
        <p:nvGrpSpPr>
          <p:cNvPr id="10" name="object 10"/>
          <p:cNvGrpSpPr/>
          <p:nvPr/>
        </p:nvGrpSpPr>
        <p:grpSpPr>
          <a:xfrm>
            <a:off x="7289292" y="3668267"/>
            <a:ext cx="1343025" cy="508000"/>
            <a:chOff x="7289292" y="3668267"/>
            <a:chExt cx="1343025" cy="508000"/>
          </a:xfrm>
        </p:grpSpPr>
        <p:sp>
          <p:nvSpPr>
            <p:cNvPr id="11" name="object 11"/>
            <p:cNvSpPr/>
            <p:nvPr/>
          </p:nvSpPr>
          <p:spPr>
            <a:xfrm>
              <a:off x="7294626" y="3673601"/>
              <a:ext cx="1332230" cy="497205"/>
            </a:xfrm>
            <a:custGeom>
              <a:avLst/>
              <a:gdLst/>
              <a:ahLst/>
              <a:cxnLst/>
              <a:rect l="l" t="t" r="r" b="b"/>
              <a:pathLst>
                <a:path w="1332229" h="497204">
                  <a:moveTo>
                    <a:pt x="248412" y="0"/>
                  </a:moveTo>
                  <a:lnTo>
                    <a:pt x="0" y="248412"/>
                  </a:lnTo>
                  <a:lnTo>
                    <a:pt x="248412" y="496824"/>
                  </a:lnTo>
                  <a:lnTo>
                    <a:pt x="248412" y="372618"/>
                  </a:lnTo>
                  <a:lnTo>
                    <a:pt x="1331976" y="372618"/>
                  </a:lnTo>
                  <a:lnTo>
                    <a:pt x="1331976" y="124206"/>
                  </a:lnTo>
                  <a:lnTo>
                    <a:pt x="248412" y="124206"/>
                  </a:lnTo>
                  <a:lnTo>
                    <a:pt x="248412" y="0"/>
                  </a:lnTo>
                  <a:close/>
                </a:path>
              </a:pathLst>
            </a:custGeom>
            <a:solidFill>
              <a:srgbClr val="40B9D2"/>
            </a:solidFill>
          </p:spPr>
          <p:txBody>
            <a:bodyPr wrap="square" lIns="0" tIns="0" rIns="0" bIns="0" rtlCol="0"/>
            <a:lstStyle/>
            <a:p>
              <a:endParaRPr/>
            </a:p>
          </p:txBody>
        </p:sp>
        <p:sp>
          <p:nvSpPr>
            <p:cNvPr id="12" name="object 12"/>
            <p:cNvSpPr/>
            <p:nvPr/>
          </p:nvSpPr>
          <p:spPr>
            <a:xfrm>
              <a:off x="7294626" y="3673601"/>
              <a:ext cx="1332230" cy="497205"/>
            </a:xfrm>
            <a:custGeom>
              <a:avLst/>
              <a:gdLst/>
              <a:ahLst/>
              <a:cxnLst/>
              <a:rect l="l" t="t" r="r" b="b"/>
              <a:pathLst>
                <a:path w="1332229" h="497204">
                  <a:moveTo>
                    <a:pt x="0" y="248412"/>
                  </a:moveTo>
                  <a:lnTo>
                    <a:pt x="248412" y="0"/>
                  </a:lnTo>
                  <a:lnTo>
                    <a:pt x="248412" y="124206"/>
                  </a:lnTo>
                  <a:lnTo>
                    <a:pt x="1331976" y="124206"/>
                  </a:lnTo>
                  <a:lnTo>
                    <a:pt x="1331976" y="372618"/>
                  </a:lnTo>
                  <a:lnTo>
                    <a:pt x="248412" y="372618"/>
                  </a:lnTo>
                  <a:lnTo>
                    <a:pt x="248412" y="496824"/>
                  </a:lnTo>
                  <a:lnTo>
                    <a:pt x="0" y="248412"/>
                  </a:lnTo>
                  <a:close/>
                </a:path>
              </a:pathLst>
            </a:custGeom>
            <a:ln w="10668">
              <a:solidFill>
                <a:srgbClr val="2C879A"/>
              </a:solidFill>
            </a:ln>
          </p:spPr>
          <p:txBody>
            <a:bodyPr wrap="square" lIns="0" tIns="0" rIns="0" bIns="0" rtlCol="0"/>
            <a:lstStyle/>
            <a:p>
              <a:endParaRPr/>
            </a:p>
          </p:txBody>
        </p:sp>
      </p:grpSp>
      <p:grpSp>
        <p:nvGrpSpPr>
          <p:cNvPr id="13" name="object 13"/>
          <p:cNvGrpSpPr/>
          <p:nvPr/>
        </p:nvGrpSpPr>
        <p:grpSpPr>
          <a:xfrm>
            <a:off x="7289292" y="4669535"/>
            <a:ext cx="1343025" cy="508000"/>
            <a:chOff x="7289292" y="4669535"/>
            <a:chExt cx="1343025" cy="508000"/>
          </a:xfrm>
        </p:grpSpPr>
        <p:sp>
          <p:nvSpPr>
            <p:cNvPr id="14" name="object 14"/>
            <p:cNvSpPr/>
            <p:nvPr/>
          </p:nvSpPr>
          <p:spPr>
            <a:xfrm>
              <a:off x="7294626" y="4674869"/>
              <a:ext cx="1332230" cy="497205"/>
            </a:xfrm>
            <a:custGeom>
              <a:avLst/>
              <a:gdLst/>
              <a:ahLst/>
              <a:cxnLst/>
              <a:rect l="l" t="t" r="r" b="b"/>
              <a:pathLst>
                <a:path w="1332229" h="497204">
                  <a:moveTo>
                    <a:pt x="248412" y="0"/>
                  </a:moveTo>
                  <a:lnTo>
                    <a:pt x="0" y="248411"/>
                  </a:lnTo>
                  <a:lnTo>
                    <a:pt x="248412" y="496823"/>
                  </a:lnTo>
                  <a:lnTo>
                    <a:pt x="248412" y="372617"/>
                  </a:lnTo>
                  <a:lnTo>
                    <a:pt x="1331976" y="372617"/>
                  </a:lnTo>
                  <a:lnTo>
                    <a:pt x="1331976" y="124205"/>
                  </a:lnTo>
                  <a:lnTo>
                    <a:pt x="248412" y="124205"/>
                  </a:lnTo>
                  <a:lnTo>
                    <a:pt x="248412" y="0"/>
                  </a:lnTo>
                  <a:close/>
                </a:path>
              </a:pathLst>
            </a:custGeom>
            <a:solidFill>
              <a:srgbClr val="40B9D2"/>
            </a:solidFill>
          </p:spPr>
          <p:txBody>
            <a:bodyPr wrap="square" lIns="0" tIns="0" rIns="0" bIns="0" rtlCol="0"/>
            <a:lstStyle/>
            <a:p>
              <a:endParaRPr/>
            </a:p>
          </p:txBody>
        </p:sp>
        <p:sp>
          <p:nvSpPr>
            <p:cNvPr id="15" name="object 15"/>
            <p:cNvSpPr/>
            <p:nvPr/>
          </p:nvSpPr>
          <p:spPr>
            <a:xfrm>
              <a:off x="7294626" y="4674869"/>
              <a:ext cx="1332230" cy="497205"/>
            </a:xfrm>
            <a:custGeom>
              <a:avLst/>
              <a:gdLst/>
              <a:ahLst/>
              <a:cxnLst/>
              <a:rect l="l" t="t" r="r" b="b"/>
              <a:pathLst>
                <a:path w="1332229" h="497204">
                  <a:moveTo>
                    <a:pt x="0" y="248411"/>
                  </a:moveTo>
                  <a:lnTo>
                    <a:pt x="248412" y="0"/>
                  </a:lnTo>
                  <a:lnTo>
                    <a:pt x="248412" y="124205"/>
                  </a:lnTo>
                  <a:lnTo>
                    <a:pt x="1331976" y="124205"/>
                  </a:lnTo>
                  <a:lnTo>
                    <a:pt x="1331976" y="372617"/>
                  </a:lnTo>
                  <a:lnTo>
                    <a:pt x="248412" y="372617"/>
                  </a:lnTo>
                  <a:lnTo>
                    <a:pt x="248412" y="496823"/>
                  </a:lnTo>
                  <a:lnTo>
                    <a:pt x="0" y="248411"/>
                  </a:lnTo>
                  <a:close/>
                </a:path>
              </a:pathLst>
            </a:custGeom>
            <a:ln w="10668">
              <a:solidFill>
                <a:srgbClr val="2C879A"/>
              </a:solidFill>
            </a:ln>
          </p:spPr>
          <p:txBody>
            <a:bodyPr wrap="square" lIns="0" tIns="0" rIns="0" bIns="0" rtlCol="0"/>
            <a:lstStyle/>
            <a:p>
              <a:endParaRPr/>
            </a:p>
          </p:txBody>
        </p:sp>
      </p:grpSp>
      <p:grpSp>
        <p:nvGrpSpPr>
          <p:cNvPr id="16" name="object 16"/>
          <p:cNvGrpSpPr/>
          <p:nvPr/>
        </p:nvGrpSpPr>
        <p:grpSpPr>
          <a:xfrm>
            <a:off x="7402068" y="5722620"/>
            <a:ext cx="1343025" cy="508000"/>
            <a:chOff x="7402068" y="5722620"/>
            <a:chExt cx="1343025" cy="508000"/>
          </a:xfrm>
        </p:grpSpPr>
        <p:sp>
          <p:nvSpPr>
            <p:cNvPr id="17" name="object 17"/>
            <p:cNvSpPr/>
            <p:nvPr/>
          </p:nvSpPr>
          <p:spPr>
            <a:xfrm>
              <a:off x="7407402" y="5727954"/>
              <a:ext cx="1332230" cy="497205"/>
            </a:xfrm>
            <a:custGeom>
              <a:avLst/>
              <a:gdLst/>
              <a:ahLst/>
              <a:cxnLst/>
              <a:rect l="l" t="t" r="r" b="b"/>
              <a:pathLst>
                <a:path w="1332229" h="497204">
                  <a:moveTo>
                    <a:pt x="248412" y="0"/>
                  </a:moveTo>
                  <a:lnTo>
                    <a:pt x="0" y="248412"/>
                  </a:lnTo>
                  <a:lnTo>
                    <a:pt x="248412" y="496824"/>
                  </a:lnTo>
                  <a:lnTo>
                    <a:pt x="248412" y="372618"/>
                  </a:lnTo>
                  <a:lnTo>
                    <a:pt x="1331976" y="372618"/>
                  </a:lnTo>
                  <a:lnTo>
                    <a:pt x="1331976" y="124206"/>
                  </a:lnTo>
                  <a:lnTo>
                    <a:pt x="248412" y="124206"/>
                  </a:lnTo>
                  <a:lnTo>
                    <a:pt x="248412" y="0"/>
                  </a:lnTo>
                  <a:close/>
                </a:path>
              </a:pathLst>
            </a:custGeom>
            <a:solidFill>
              <a:srgbClr val="40B9D2"/>
            </a:solidFill>
          </p:spPr>
          <p:txBody>
            <a:bodyPr wrap="square" lIns="0" tIns="0" rIns="0" bIns="0" rtlCol="0"/>
            <a:lstStyle/>
            <a:p>
              <a:endParaRPr/>
            </a:p>
          </p:txBody>
        </p:sp>
        <p:sp>
          <p:nvSpPr>
            <p:cNvPr id="18" name="object 18"/>
            <p:cNvSpPr/>
            <p:nvPr/>
          </p:nvSpPr>
          <p:spPr>
            <a:xfrm>
              <a:off x="7407402" y="5727954"/>
              <a:ext cx="1332230" cy="497205"/>
            </a:xfrm>
            <a:custGeom>
              <a:avLst/>
              <a:gdLst/>
              <a:ahLst/>
              <a:cxnLst/>
              <a:rect l="l" t="t" r="r" b="b"/>
              <a:pathLst>
                <a:path w="1332229" h="497204">
                  <a:moveTo>
                    <a:pt x="0" y="248412"/>
                  </a:moveTo>
                  <a:lnTo>
                    <a:pt x="248412" y="0"/>
                  </a:lnTo>
                  <a:lnTo>
                    <a:pt x="248412" y="124206"/>
                  </a:lnTo>
                  <a:lnTo>
                    <a:pt x="1331976" y="124206"/>
                  </a:lnTo>
                  <a:lnTo>
                    <a:pt x="1331976" y="372618"/>
                  </a:lnTo>
                  <a:lnTo>
                    <a:pt x="248412" y="372618"/>
                  </a:lnTo>
                  <a:lnTo>
                    <a:pt x="248412" y="496824"/>
                  </a:lnTo>
                  <a:lnTo>
                    <a:pt x="0" y="248412"/>
                  </a:lnTo>
                  <a:close/>
                </a:path>
              </a:pathLst>
            </a:custGeom>
            <a:ln w="10668">
              <a:solidFill>
                <a:srgbClr val="2C879A"/>
              </a:solidFill>
            </a:ln>
          </p:spPr>
          <p:txBody>
            <a:bodyPr wrap="square" lIns="0" tIns="0" rIns="0" bIns="0" rtlCol="0"/>
            <a:lstStyle/>
            <a:p>
              <a:endParaRPr/>
            </a:p>
          </p:txBody>
        </p:sp>
      </p:grpSp>
      <p:sp>
        <p:nvSpPr>
          <p:cNvPr id="19" name="object 19"/>
          <p:cNvSpPr txBox="1"/>
          <p:nvPr/>
        </p:nvSpPr>
        <p:spPr>
          <a:xfrm>
            <a:off x="8894826" y="3692728"/>
            <a:ext cx="968375" cy="575310"/>
          </a:xfrm>
          <a:prstGeom prst="rect">
            <a:avLst/>
          </a:prstGeom>
        </p:spPr>
        <p:txBody>
          <a:bodyPr vert="horz" wrap="square" lIns="0" tIns="12700" rIns="0" bIns="0" rtlCol="0">
            <a:spAutoFit/>
          </a:bodyPr>
          <a:lstStyle/>
          <a:p>
            <a:pPr algn="ctr">
              <a:lnSpc>
                <a:spcPct val="100000"/>
              </a:lnSpc>
              <a:spcBef>
                <a:spcPts val="100"/>
              </a:spcBef>
            </a:pPr>
            <a:r>
              <a:rPr sz="1800" spc="-10" dirty="0">
                <a:latin typeface="Corbel"/>
                <a:cs typeface="Corbel"/>
              </a:rPr>
              <a:t>Definition</a:t>
            </a:r>
            <a:endParaRPr sz="1800">
              <a:latin typeface="Corbel"/>
              <a:cs typeface="Corbel"/>
            </a:endParaRPr>
          </a:p>
          <a:p>
            <a:pPr algn="ctr">
              <a:lnSpc>
                <a:spcPct val="100000"/>
              </a:lnSpc>
              <a:spcBef>
                <a:spcPts val="5"/>
              </a:spcBef>
            </a:pPr>
            <a:r>
              <a:rPr sz="1800" spc="-10" dirty="0">
                <a:latin typeface="Corbel"/>
                <a:cs typeface="Corbel"/>
              </a:rPr>
              <a:t>point</a:t>
            </a:r>
            <a:endParaRPr sz="1800">
              <a:latin typeface="Corbel"/>
              <a:cs typeface="Corbel"/>
            </a:endParaRPr>
          </a:p>
        </p:txBody>
      </p:sp>
      <p:sp>
        <p:nvSpPr>
          <p:cNvPr id="20" name="object 20"/>
          <p:cNvSpPr txBox="1"/>
          <p:nvPr/>
        </p:nvSpPr>
        <p:spPr>
          <a:xfrm>
            <a:off x="8868536" y="4647945"/>
            <a:ext cx="984885" cy="574040"/>
          </a:xfrm>
          <a:prstGeom prst="rect">
            <a:avLst/>
          </a:prstGeom>
        </p:spPr>
        <p:txBody>
          <a:bodyPr vert="horz" wrap="square" lIns="0" tIns="12700" rIns="0" bIns="0" rtlCol="0">
            <a:spAutoFit/>
          </a:bodyPr>
          <a:lstStyle/>
          <a:p>
            <a:pPr marL="243204" marR="5080" indent="-230504">
              <a:lnSpc>
                <a:spcPct val="100000"/>
              </a:lnSpc>
              <a:spcBef>
                <a:spcPts val="100"/>
              </a:spcBef>
            </a:pPr>
            <a:r>
              <a:rPr sz="1800" spc="-10" dirty="0">
                <a:latin typeface="Corbel"/>
                <a:cs typeface="Corbel"/>
              </a:rPr>
              <a:t>Reference </a:t>
            </a:r>
            <a:r>
              <a:rPr sz="1800" spc="-20" dirty="0">
                <a:latin typeface="Corbel"/>
                <a:cs typeface="Corbel"/>
              </a:rPr>
              <a:t>point</a:t>
            </a:r>
            <a:endParaRPr sz="1800">
              <a:latin typeface="Corbel"/>
              <a:cs typeface="Corbel"/>
            </a:endParaRPr>
          </a:p>
        </p:txBody>
      </p:sp>
      <p:sp>
        <p:nvSpPr>
          <p:cNvPr id="21" name="object 21"/>
          <p:cNvSpPr txBox="1"/>
          <p:nvPr/>
        </p:nvSpPr>
        <p:spPr>
          <a:xfrm>
            <a:off x="8931020" y="5695899"/>
            <a:ext cx="1028065" cy="574040"/>
          </a:xfrm>
          <a:prstGeom prst="rect">
            <a:avLst/>
          </a:prstGeom>
        </p:spPr>
        <p:txBody>
          <a:bodyPr vert="horz" wrap="square" lIns="0" tIns="12700" rIns="0" bIns="0" rtlCol="0">
            <a:spAutoFit/>
          </a:bodyPr>
          <a:lstStyle/>
          <a:p>
            <a:pPr marL="264160" marR="5080" indent="-252095">
              <a:lnSpc>
                <a:spcPct val="100000"/>
              </a:lnSpc>
              <a:spcBef>
                <a:spcPts val="100"/>
              </a:spcBef>
            </a:pPr>
            <a:r>
              <a:rPr sz="1800" spc="-10" dirty="0">
                <a:latin typeface="Corbel"/>
                <a:cs typeface="Corbel"/>
              </a:rPr>
              <a:t>Evaluation </a:t>
            </a:r>
            <a:r>
              <a:rPr sz="1800" spc="-20" dirty="0">
                <a:latin typeface="Corbel"/>
                <a:cs typeface="Corbel"/>
              </a:rPr>
              <a:t>point</a:t>
            </a:r>
            <a:endParaRPr sz="1800">
              <a:latin typeface="Corbel"/>
              <a:cs typeface="Corbe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601980" marR="579120" indent="190500">
              <a:lnSpc>
                <a:spcPts val="3890"/>
              </a:lnSpc>
            </a:pPr>
            <a:r>
              <a:rPr sz="3600" b="1" spc="-10" dirty="0">
                <a:solidFill>
                  <a:srgbClr val="FFFFFF"/>
                </a:solidFill>
                <a:latin typeface="Cambria"/>
                <a:cs typeface="Cambria"/>
              </a:rPr>
              <a:t>Available </a:t>
            </a:r>
            <a:r>
              <a:rPr sz="3600" b="1" spc="-70" dirty="0">
                <a:solidFill>
                  <a:srgbClr val="FFFFFF"/>
                </a:solidFill>
                <a:latin typeface="Cambria"/>
                <a:cs typeface="Cambria"/>
              </a:rPr>
              <a:t>Expression</a:t>
            </a:r>
            <a:endParaRPr sz="3600">
              <a:latin typeface="Cambria"/>
              <a:cs typeface="Cambria"/>
            </a:endParaRPr>
          </a:p>
        </p:txBody>
      </p:sp>
      <p:sp>
        <p:nvSpPr>
          <p:cNvPr id="3" name="object 3"/>
          <p:cNvSpPr txBox="1">
            <a:spLocks noGrp="1"/>
          </p:cNvSpPr>
          <p:nvPr>
            <p:ph type="title"/>
          </p:nvPr>
        </p:nvSpPr>
        <p:spPr>
          <a:xfrm>
            <a:off x="3604005" y="593801"/>
            <a:ext cx="8007350" cy="391795"/>
          </a:xfrm>
          <a:prstGeom prst="rect">
            <a:avLst/>
          </a:prstGeom>
        </p:spPr>
        <p:txBody>
          <a:bodyPr vert="horz" wrap="square" lIns="0" tIns="12700" rIns="0" bIns="0" rtlCol="0">
            <a:spAutoFit/>
          </a:bodyPr>
          <a:lstStyle/>
          <a:p>
            <a:pPr marL="12700">
              <a:lnSpc>
                <a:spcPct val="100000"/>
              </a:lnSpc>
              <a:spcBef>
                <a:spcPts val="100"/>
              </a:spcBef>
              <a:tabLst>
                <a:tab pos="527685" algn="l"/>
              </a:tabLst>
            </a:pPr>
            <a:r>
              <a:rPr spc="-25" dirty="0">
                <a:solidFill>
                  <a:srgbClr val="40B9D2"/>
                </a:solidFill>
              </a:rPr>
              <a:t>1.</a:t>
            </a:r>
            <a:r>
              <a:rPr dirty="0">
                <a:solidFill>
                  <a:srgbClr val="40B9D2"/>
                </a:solidFill>
              </a:rPr>
              <a:t>	</a:t>
            </a:r>
            <a:r>
              <a:rPr dirty="0"/>
              <a:t>The</a:t>
            </a:r>
            <a:r>
              <a:rPr spc="-35" dirty="0"/>
              <a:t> </a:t>
            </a:r>
            <a:r>
              <a:rPr spc="-10" dirty="0"/>
              <a:t>expression</a:t>
            </a:r>
            <a:r>
              <a:rPr spc="-40" dirty="0"/>
              <a:t> </a:t>
            </a:r>
            <a:r>
              <a:rPr dirty="0"/>
              <a:t>x+y</a:t>
            </a:r>
            <a:r>
              <a:rPr spc="-40" dirty="0"/>
              <a:t> </a:t>
            </a:r>
            <a:r>
              <a:rPr dirty="0"/>
              <a:t>is</a:t>
            </a:r>
            <a:r>
              <a:rPr spc="-40" dirty="0"/>
              <a:t> </a:t>
            </a:r>
            <a:r>
              <a:rPr dirty="0"/>
              <a:t>said</a:t>
            </a:r>
            <a:r>
              <a:rPr spc="-30" dirty="0"/>
              <a:t> </a:t>
            </a:r>
            <a:r>
              <a:rPr dirty="0"/>
              <a:t>to</a:t>
            </a:r>
            <a:r>
              <a:rPr spc="-30" dirty="0"/>
              <a:t> </a:t>
            </a:r>
            <a:r>
              <a:rPr dirty="0"/>
              <a:t>be</a:t>
            </a:r>
            <a:r>
              <a:rPr spc="-35" dirty="0"/>
              <a:t> </a:t>
            </a:r>
            <a:r>
              <a:rPr spc="-10" dirty="0"/>
              <a:t>available</a:t>
            </a:r>
            <a:r>
              <a:rPr spc="-40" dirty="0"/>
              <a:t> </a:t>
            </a:r>
            <a:r>
              <a:rPr dirty="0"/>
              <a:t>at</a:t>
            </a:r>
            <a:r>
              <a:rPr spc="-40" dirty="0"/>
              <a:t> </a:t>
            </a:r>
            <a:r>
              <a:rPr dirty="0"/>
              <a:t>its</a:t>
            </a:r>
            <a:r>
              <a:rPr spc="-30" dirty="0"/>
              <a:t> </a:t>
            </a:r>
            <a:r>
              <a:rPr spc="-10" dirty="0"/>
              <a:t>evaluation</a:t>
            </a:r>
          </a:p>
        </p:txBody>
      </p:sp>
      <p:sp>
        <p:nvSpPr>
          <p:cNvPr id="4" name="object 4"/>
          <p:cNvSpPr txBox="1"/>
          <p:nvPr/>
        </p:nvSpPr>
        <p:spPr>
          <a:xfrm>
            <a:off x="3604005" y="807847"/>
            <a:ext cx="7579995" cy="988694"/>
          </a:xfrm>
          <a:prstGeom prst="rect">
            <a:avLst/>
          </a:prstGeom>
        </p:spPr>
        <p:txBody>
          <a:bodyPr vert="horz" wrap="square" lIns="0" tIns="128270" rIns="0" bIns="0" rtlCol="0">
            <a:spAutoFit/>
          </a:bodyPr>
          <a:lstStyle/>
          <a:p>
            <a:pPr marL="527685">
              <a:lnSpc>
                <a:spcPct val="100000"/>
              </a:lnSpc>
              <a:spcBef>
                <a:spcPts val="1010"/>
              </a:spcBef>
            </a:pPr>
            <a:r>
              <a:rPr sz="2400" spc="-10" dirty="0">
                <a:latin typeface="Cambria"/>
                <a:cs typeface="Cambria"/>
              </a:rPr>
              <a:t>point</a:t>
            </a:r>
            <a:endParaRPr sz="2400">
              <a:latin typeface="Cambria"/>
              <a:cs typeface="Cambria"/>
            </a:endParaRPr>
          </a:p>
          <a:p>
            <a:pPr marL="12700">
              <a:lnSpc>
                <a:spcPct val="100000"/>
              </a:lnSpc>
              <a:spcBef>
                <a:spcPts val="910"/>
              </a:spcBef>
              <a:tabLst>
                <a:tab pos="527685" algn="l"/>
              </a:tabLst>
            </a:pPr>
            <a:r>
              <a:rPr sz="2400" spc="-25" dirty="0">
                <a:solidFill>
                  <a:srgbClr val="40B9D2"/>
                </a:solidFill>
                <a:latin typeface="Cambria"/>
                <a:cs typeface="Cambria"/>
              </a:rPr>
              <a:t>2.</a:t>
            </a:r>
            <a:r>
              <a:rPr sz="2400" dirty="0">
                <a:solidFill>
                  <a:srgbClr val="40B9D2"/>
                </a:solidFill>
                <a:latin typeface="Cambria"/>
                <a:cs typeface="Cambria"/>
              </a:rPr>
              <a:t>	</a:t>
            </a:r>
            <a:r>
              <a:rPr sz="2400" dirty="0">
                <a:latin typeface="Cambria"/>
                <a:cs typeface="Cambria"/>
              </a:rPr>
              <a:t>Neither</a:t>
            </a:r>
            <a:r>
              <a:rPr sz="2400" spc="-75" dirty="0">
                <a:latin typeface="Cambria"/>
                <a:cs typeface="Cambria"/>
              </a:rPr>
              <a:t> </a:t>
            </a:r>
            <a:r>
              <a:rPr sz="2400" dirty="0">
                <a:latin typeface="Cambria"/>
                <a:cs typeface="Cambria"/>
              </a:rPr>
              <a:t>of</a:t>
            </a:r>
            <a:r>
              <a:rPr sz="2400" spc="-70" dirty="0">
                <a:latin typeface="Cambria"/>
                <a:cs typeface="Cambria"/>
              </a:rPr>
              <a:t> </a:t>
            </a:r>
            <a:r>
              <a:rPr sz="2400" dirty="0">
                <a:latin typeface="Cambria"/>
                <a:cs typeface="Cambria"/>
              </a:rPr>
              <a:t>two</a:t>
            </a:r>
            <a:r>
              <a:rPr sz="2400" spc="-60" dirty="0">
                <a:latin typeface="Cambria"/>
                <a:cs typeface="Cambria"/>
              </a:rPr>
              <a:t> </a:t>
            </a:r>
            <a:r>
              <a:rPr sz="2400" dirty="0">
                <a:latin typeface="Cambria"/>
                <a:cs typeface="Cambria"/>
              </a:rPr>
              <a:t>operands</a:t>
            </a:r>
            <a:r>
              <a:rPr sz="2400" spc="-60" dirty="0">
                <a:latin typeface="Cambria"/>
                <a:cs typeface="Cambria"/>
              </a:rPr>
              <a:t> </a:t>
            </a:r>
            <a:r>
              <a:rPr sz="2400" dirty="0">
                <a:latin typeface="Cambria"/>
                <a:cs typeface="Cambria"/>
              </a:rPr>
              <a:t>get</a:t>
            </a:r>
            <a:r>
              <a:rPr sz="2400" spc="-65" dirty="0">
                <a:latin typeface="Cambria"/>
                <a:cs typeface="Cambria"/>
              </a:rPr>
              <a:t> </a:t>
            </a:r>
            <a:r>
              <a:rPr sz="2400" dirty="0">
                <a:latin typeface="Cambria"/>
                <a:cs typeface="Cambria"/>
              </a:rPr>
              <a:t>modified</a:t>
            </a:r>
            <a:r>
              <a:rPr sz="2400" spc="-65" dirty="0">
                <a:latin typeface="Cambria"/>
                <a:cs typeface="Cambria"/>
              </a:rPr>
              <a:t> </a:t>
            </a:r>
            <a:r>
              <a:rPr sz="2400" dirty="0">
                <a:latin typeface="Cambria"/>
                <a:cs typeface="Cambria"/>
              </a:rPr>
              <a:t>before</a:t>
            </a:r>
            <a:r>
              <a:rPr sz="2400" spc="-80" dirty="0">
                <a:latin typeface="Cambria"/>
                <a:cs typeface="Cambria"/>
              </a:rPr>
              <a:t> </a:t>
            </a:r>
            <a:r>
              <a:rPr sz="2400" dirty="0">
                <a:latin typeface="Cambria"/>
                <a:cs typeface="Cambria"/>
              </a:rPr>
              <a:t>their</a:t>
            </a:r>
            <a:r>
              <a:rPr sz="2400" spc="-70" dirty="0">
                <a:latin typeface="Cambria"/>
                <a:cs typeface="Cambria"/>
              </a:rPr>
              <a:t> </a:t>
            </a:r>
            <a:r>
              <a:rPr sz="2400" spc="-20" dirty="0">
                <a:latin typeface="Cambria"/>
                <a:cs typeface="Cambria"/>
              </a:rPr>
              <a:t>use.</a:t>
            </a:r>
            <a:endParaRPr sz="2400">
              <a:latin typeface="Cambria"/>
              <a:cs typeface="Cambria"/>
            </a:endParaRPr>
          </a:p>
        </p:txBody>
      </p:sp>
      <p:sp>
        <p:nvSpPr>
          <p:cNvPr id="5" name="object 5"/>
          <p:cNvSpPr txBox="1"/>
          <p:nvPr/>
        </p:nvSpPr>
        <p:spPr>
          <a:xfrm>
            <a:off x="3604005" y="1886534"/>
            <a:ext cx="2879090"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Cambria"/>
                <a:cs typeface="Cambria"/>
              </a:rPr>
              <a:t>Reaching</a:t>
            </a:r>
            <a:r>
              <a:rPr sz="2400" b="1" spc="-114" dirty="0">
                <a:latin typeface="Cambria"/>
                <a:cs typeface="Cambria"/>
              </a:rPr>
              <a:t> </a:t>
            </a:r>
            <a:r>
              <a:rPr sz="2400" b="1" spc="-10" dirty="0">
                <a:latin typeface="Cambria"/>
                <a:cs typeface="Cambria"/>
              </a:rPr>
              <a:t>Definition:</a:t>
            </a:r>
            <a:endParaRPr sz="2400">
              <a:latin typeface="Cambria"/>
              <a:cs typeface="Cambria"/>
            </a:endParaRPr>
          </a:p>
        </p:txBody>
      </p:sp>
      <p:sp>
        <p:nvSpPr>
          <p:cNvPr id="6" name="object 6"/>
          <p:cNvSpPr txBox="1"/>
          <p:nvPr/>
        </p:nvSpPr>
        <p:spPr>
          <a:xfrm>
            <a:off x="3604005" y="2734856"/>
            <a:ext cx="6804025" cy="1470660"/>
          </a:xfrm>
          <a:prstGeom prst="rect">
            <a:avLst/>
          </a:prstGeom>
        </p:spPr>
        <p:txBody>
          <a:bodyPr vert="horz" wrap="square" lIns="0" tIns="12065" rIns="0" bIns="0" rtlCol="0">
            <a:spAutoFit/>
          </a:bodyPr>
          <a:lstStyle/>
          <a:p>
            <a:pPr marL="12700" marR="5080">
              <a:lnSpc>
                <a:spcPct val="131700"/>
              </a:lnSpc>
              <a:spcBef>
                <a:spcPts val="95"/>
              </a:spcBef>
            </a:pPr>
            <a:r>
              <a:rPr sz="2400" dirty="0">
                <a:latin typeface="Cambria"/>
                <a:cs typeface="Cambria"/>
              </a:rPr>
              <a:t>The</a:t>
            </a:r>
            <a:r>
              <a:rPr sz="2400" spc="-40" dirty="0">
                <a:latin typeface="Cambria"/>
                <a:cs typeface="Cambria"/>
              </a:rPr>
              <a:t> </a:t>
            </a:r>
            <a:r>
              <a:rPr sz="2400" dirty="0">
                <a:latin typeface="Cambria"/>
                <a:cs typeface="Cambria"/>
              </a:rPr>
              <a:t>definition</a:t>
            </a:r>
            <a:r>
              <a:rPr sz="2400" spc="-70" dirty="0">
                <a:latin typeface="Cambria"/>
                <a:cs typeface="Cambria"/>
              </a:rPr>
              <a:t> </a:t>
            </a:r>
            <a:r>
              <a:rPr sz="2400" dirty="0">
                <a:latin typeface="Cambria"/>
                <a:cs typeface="Cambria"/>
              </a:rPr>
              <a:t>D1</a:t>
            </a:r>
            <a:r>
              <a:rPr sz="2400" spc="-50" dirty="0">
                <a:latin typeface="Cambria"/>
                <a:cs typeface="Cambria"/>
              </a:rPr>
              <a:t> </a:t>
            </a:r>
            <a:r>
              <a:rPr sz="2400" dirty="0">
                <a:latin typeface="Cambria"/>
                <a:cs typeface="Cambria"/>
              </a:rPr>
              <a:t>is</a:t>
            </a:r>
            <a:r>
              <a:rPr sz="2400" spc="-35" dirty="0">
                <a:latin typeface="Cambria"/>
                <a:cs typeface="Cambria"/>
              </a:rPr>
              <a:t> </a:t>
            </a:r>
            <a:r>
              <a:rPr sz="2400" dirty="0">
                <a:latin typeface="Cambria"/>
                <a:cs typeface="Cambria"/>
              </a:rPr>
              <a:t>reaching</a:t>
            </a:r>
            <a:r>
              <a:rPr sz="2400" spc="-60" dirty="0">
                <a:latin typeface="Cambria"/>
                <a:cs typeface="Cambria"/>
              </a:rPr>
              <a:t> </a:t>
            </a:r>
            <a:r>
              <a:rPr sz="2400" dirty="0">
                <a:latin typeface="Cambria"/>
                <a:cs typeface="Cambria"/>
              </a:rPr>
              <a:t>definition</a:t>
            </a:r>
            <a:r>
              <a:rPr sz="2400" spc="-80" dirty="0">
                <a:latin typeface="Cambria"/>
                <a:cs typeface="Cambria"/>
              </a:rPr>
              <a:t> </a:t>
            </a:r>
            <a:r>
              <a:rPr sz="2400" dirty="0">
                <a:latin typeface="Cambria"/>
                <a:cs typeface="Cambria"/>
              </a:rPr>
              <a:t>for</a:t>
            </a:r>
            <a:r>
              <a:rPr sz="2400" spc="-50" dirty="0">
                <a:latin typeface="Cambria"/>
                <a:cs typeface="Cambria"/>
              </a:rPr>
              <a:t> </a:t>
            </a:r>
            <a:r>
              <a:rPr sz="2400" dirty="0">
                <a:latin typeface="Cambria"/>
                <a:cs typeface="Cambria"/>
              </a:rPr>
              <a:t>block</a:t>
            </a:r>
            <a:r>
              <a:rPr sz="2400" spc="-30" dirty="0">
                <a:latin typeface="Cambria"/>
                <a:cs typeface="Cambria"/>
              </a:rPr>
              <a:t> </a:t>
            </a:r>
            <a:r>
              <a:rPr sz="2400" spc="-25" dirty="0">
                <a:latin typeface="Cambria"/>
                <a:cs typeface="Cambria"/>
              </a:rPr>
              <a:t>B2, </a:t>
            </a:r>
            <a:r>
              <a:rPr sz="2400" dirty="0">
                <a:latin typeface="Cambria"/>
                <a:cs typeface="Cambria"/>
              </a:rPr>
              <a:t>But</a:t>
            </a:r>
            <a:r>
              <a:rPr sz="2400" spc="-45" dirty="0">
                <a:latin typeface="Cambria"/>
                <a:cs typeface="Cambria"/>
              </a:rPr>
              <a:t> </a:t>
            </a:r>
            <a:r>
              <a:rPr sz="2400" dirty="0">
                <a:latin typeface="Cambria"/>
                <a:cs typeface="Cambria"/>
              </a:rPr>
              <a:t>the</a:t>
            </a:r>
            <a:r>
              <a:rPr sz="2400" spc="-35" dirty="0">
                <a:latin typeface="Cambria"/>
                <a:cs typeface="Cambria"/>
              </a:rPr>
              <a:t> </a:t>
            </a:r>
            <a:r>
              <a:rPr sz="2400" dirty="0">
                <a:latin typeface="Cambria"/>
                <a:cs typeface="Cambria"/>
              </a:rPr>
              <a:t>definition</a:t>
            </a:r>
            <a:r>
              <a:rPr sz="2400" spc="-70" dirty="0">
                <a:latin typeface="Cambria"/>
                <a:cs typeface="Cambria"/>
              </a:rPr>
              <a:t> </a:t>
            </a:r>
            <a:r>
              <a:rPr sz="2400" dirty="0">
                <a:latin typeface="Cambria"/>
                <a:cs typeface="Cambria"/>
              </a:rPr>
              <a:t>D1</a:t>
            </a:r>
            <a:r>
              <a:rPr sz="2400" spc="-55" dirty="0">
                <a:latin typeface="Cambria"/>
                <a:cs typeface="Cambria"/>
              </a:rPr>
              <a:t> </a:t>
            </a:r>
            <a:r>
              <a:rPr sz="2400" dirty="0">
                <a:latin typeface="Cambria"/>
                <a:cs typeface="Cambria"/>
              </a:rPr>
              <a:t>isn’t</a:t>
            </a:r>
            <a:r>
              <a:rPr sz="2400" spc="-55" dirty="0">
                <a:latin typeface="Cambria"/>
                <a:cs typeface="Cambria"/>
              </a:rPr>
              <a:t> </a:t>
            </a:r>
            <a:r>
              <a:rPr sz="2400" spc="-10" dirty="0">
                <a:latin typeface="Cambria"/>
                <a:cs typeface="Cambria"/>
              </a:rPr>
              <a:t>reaching</a:t>
            </a:r>
            <a:r>
              <a:rPr sz="2400" spc="-60" dirty="0">
                <a:latin typeface="Cambria"/>
                <a:cs typeface="Cambria"/>
              </a:rPr>
              <a:t> </a:t>
            </a:r>
            <a:r>
              <a:rPr sz="2400" dirty="0">
                <a:latin typeface="Cambria"/>
                <a:cs typeface="Cambria"/>
              </a:rPr>
              <a:t>for</a:t>
            </a:r>
            <a:r>
              <a:rPr sz="2400" spc="-65" dirty="0">
                <a:latin typeface="Cambria"/>
                <a:cs typeface="Cambria"/>
              </a:rPr>
              <a:t> </a:t>
            </a:r>
            <a:r>
              <a:rPr sz="2400" dirty="0">
                <a:latin typeface="Cambria"/>
                <a:cs typeface="Cambria"/>
              </a:rPr>
              <a:t>block</a:t>
            </a:r>
            <a:r>
              <a:rPr sz="2400" spc="-25" dirty="0">
                <a:latin typeface="Cambria"/>
                <a:cs typeface="Cambria"/>
              </a:rPr>
              <a:t> B3, </a:t>
            </a:r>
            <a:r>
              <a:rPr sz="2400" dirty="0">
                <a:latin typeface="Cambria"/>
                <a:cs typeface="Cambria"/>
              </a:rPr>
              <a:t>Because</a:t>
            </a:r>
            <a:r>
              <a:rPr sz="2400" spc="-25" dirty="0">
                <a:latin typeface="Cambria"/>
                <a:cs typeface="Cambria"/>
              </a:rPr>
              <a:t> </a:t>
            </a:r>
            <a:r>
              <a:rPr sz="2400" dirty="0">
                <a:latin typeface="Cambria"/>
                <a:cs typeface="Cambria"/>
              </a:rPr>
              <a:t>it</a:t>
            </a:r>
            <a:r>
              <a:rPr sz="2400" spc="-55" dirty="0">
                <a:latin typeface="Cambria"/>
                <a:cs typeface="Cambria"/>
              </a:rPr>
              <a:t> </a:t>
            </a:r>
            <a:r>
              <a:rPr sz="2400" dirty="0">
                <a:latin typeface="Cambria"/>
                <a:cs typeface="Cambria"/>
              </a:rPr>
              <a:t>is</a:t>
            </a:r>
            <a:r>
              <a:rPr sz="2400" spc="-30" dirty="0">
                <a:latin typeface="Cambria"/>
                <a:cs typeface="Cambria"/>
              </a:rPr>
              <a:t> </a:t>
            </a:r>
            <a:r>
              <a:rPr sz="2400" dirty="0">
                <a:latin typeface="Cambria"/>
                <a:cs typeface="Cambria"/>
              </a:rPr>
              <a:t>killed</a:t>
            </a:r>
            <a:r>
              <a:rPr sz="2400" spc="-35" dirty="0">
                <a:latin typeface="Cambria"/>
                <a:cs typeface="Cambria"/>
              </a:rPr>
              <a:t> </a:t>
            </a:r>
            <a:r>
              <a:rPr sz="2400" dirty="0">
                <a:latin typeface="Cambria"/>
                <a:cs typeface="Cambria"/>
              </a:rPr>
              <a:t>by</a:t>
            </a:r>
            <a:r>
              <a:rPr sz="2400" spc="-35" dirty="0">
                <a:latin typeface="Cambria"/>
                <a:cs typeface="Cambria"/>
              </a:rPr>
              <a:t> </a:t>
            </a:r>
            <a:r>
              <a:rPr sz="2400" dirty="0">
                <a:latin typeface="Cambria"/>
                <a:cs typeface="Cambria"/>
              </a:rPr>
              <a:t>definition</a:t>
            </a:r>
            <a:r>
              <a:rPr sz="2400" spc="-75" dirty="0">
                <a:latin typeface="Cambria"/>
                <a:cs typeface="Cambria"/>
              </a:rPr>
              <a:t> </a:t>
            </a:r>
            <a:r>
              <a:rPr sz="2400" dirty="0">
                <a:latin typeface="Cambria"/>
                <a:cs typeface="Cambria"/>
              </a:rPr>
              <a:t>D2</a:t>
            </a:r>
            <a:r>
              <a:rPr sz="2400" spc="-35" dirty="0">
                <a:latin typeface="Cambria"/>
                <a:cs typeface="Cambria"/>
              </a:rPr>
              <a:t> </a:t>
            </a:r>
            <a:r>
              <a:rPr sz="2400" dirty="0">
                <a:latin typeface="Cambria"/>
                <a:cs typeface="Cambria"/>
              </a:rPr>
              <a:t>in</a:t>
            </a:r>
            <a:r>
              <a:rPr sz="2400" spc="-50" dirty="0">
                <a:latin typeface="Cambria"/>
                <a:cs typeface="Cambria"/>
              </a:rPr>
              <a:t> </a:t>
            </a:r>
            <a:r>
              <a:rPr sz="2400" dirty="0">
                <a:latin typeface="Cambria"/>
                <a:cs typeface="Cambria"/>
              </a:rPr>
              <a:t>block</a:t>
            </a:r>
            <a:r>
              <a:rPr sz="2400" spc="-30" dirty="0">
                <a:latin typeface="Cambria"/>
                <a:cs typeface="Cambria"/>
              </a:rPr>
              <a:t> </a:t>
            </a:r>
            <a:r>
              <a:rPr sz="2400" spc="-25" dirty="0">
                <a:latin typeface="Cambria"/>
                <a:cs typeface="Cambria"/>
              </a:rPr>
              <a:t>B2.</a:t>
            </a:r>
            <a:endParaRPr sz="2400">
              <a:latin typeface="Cambria"/>
              <a:cs typeface="Cambria"/>
            </a:endParaRPr>
          </a:p>
        </p:txBody>
      </p:sp>
      <p:pic>
        <p:nvPicPr>
          <p:cNvPr id="7" name="object 7"/>
          <p:cNvPicPr/>
          <p:nvPr/>
        </p:nvPicPr>
        <p:blipFill>
          <a:blip r:embed="rId2" cstate="print"/>
          <a:stretch>
            <a:fillRect/>
          </a:stretch>
        </p:blipFill>
        <p:spPr>
          <a:xfrm>
            <a:off x="7298680" y="4492429"/>
            <a:ext cx="2313147" cy="1940413"/>
          </a:xfrm>
          <a:prstGeom prst="rect">
            <a:avLst/>
          </a:prstGeom>
        </p:spPr>
      </p:pic>
      <p:sp>
        <p:nvSpPr>
          <p:cNvPr id="9" name="TextBox 8">
            <a:extLst>
              <a:ext uri="{FF2B5EF4-FFF2-40B4-BE49-F238E27FC236}">
                <a16:creationId xmlns:a16="http://schemas.microsoft.com/office/drawing/2014/main" id="{CC24E1E9-26BB-458B-CF77-B3617C5FC357}"/>
              </a:ext>
            </a:extLst>
          </p:cNvPr>
          <p:cNvSpPr txBox="1"/>
          <p:nvPr/>
        </p:nvSpPr>
        <p:spPr>
          <a:xfrm>
            <a:off x="2133600" y="6304457"/>
            <a:ext cx="6094206" cy="369332"/>
          </a:xfrm>
          <a:prstGeom prst="rect">
            <a:avLst/>
          </a:prstGeom>
          <a:noFill/>
        </p:spPr>
        <p:txBody>
          <a:bodyPr wrap="square">
            <a:spAutoFit/>
          </a:bodyPr>
          <a:lstStyle/>
          <a:p>
            <a:r>
              <a:rPr lang="en-US" dirty="0"/>
              <a:t>You can reuse the value instead of recomputing it</a:t>
            </a: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15875" algn="ctr">
              <a:lnSpc>
                <a:spcPct val="100000"/>
              </a:lnSpc>
              <a:spcBef>
                <a:spcPts val="5"/>
              </a:spcBef>
            </a:pPr>
            <a:r>
              <a:rPr sz="3600" b="1" spc="-120" dirty="0">
                <a:solidFill>
                  <a:srgbClr val="FFFFFF"/>
                </a:solidFill>
                <a:latin typeface="Cambria"/>
                <a:cs typeface="Cambria"/>
              </a:rPr>
              <a:t>Live</a:t>
            </a:r>
            <a:r>
              <a:rPr sz="3600" b="1" spc="-90" dirty="0">
                <a:solidFill>
                  <a:srgbClr val="FFFFFF"/>
                </a:solidFill>
                <a:latin typeface="Cambria"/>
                <a:cs typeface="Cambria"/>
              </a:rPr>
              <a:t> </a:t>
            </a:r>
            <a:r>
              <a:rPr sz="3600" b="1" spc="-10" dirty="0">
                <a:solidFill>
                  <a:srgbClr val="FFFFFF"/>
                </a:solidFill>
                <a:latin typeface="Cambria"/>
                <a:cs typeface="Cambria"/>
              </a:rPr>
              <a:t>Variable</a:t>
            </a:r>
            <a:endParaRPr sz="3600">
              <a:latin typeface="Cambria"/>
              <a:cs typeface="Cambria"/>
            </a:endParaRPr>
          </a:p>
        </p:txBody>
      </p:sp>
      <p:sp>
        <p:nvSpPr>
          <p:cNvPr id="3" name="object 3"/>
          <p:cNvSpPr txBox="1"/>
          <p:nvPr/>
        </p:nvSpPr>
        <p:spPr>
          <a:xfrm>
            <a:off x="3500754" y="1085215"/>
            <a:ext cx="7773670" cy="1531620"/>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A</a:t>
            </a:r>
            <a:r>
              <a:rPr sz="2400" spc="75" dirty="0">
                <a:latin typeface="Cambria"/>
                <a:cs typeface="Cambria"/>
              </a:rPr>
              <a:t> </a:t>
            </a:r>
            <a:r>
              <a:rPr sz="2400" spc="-30" dirty="0">
                <a:latin typeface="Cambria"/>
                <a:cs typeface="Cambria"/>
              </a:rPr>
              <a:t>live</a:t>
            </a:r>
            <a:r>
              <a:rPr sz="2400" spc="55" dirty="0">
                <a:latin typeface="Cambria"/>
                <a:cs typeface="Cambria"/>
              </a:rPr>
              <a:t> </a:t>
            </a:r>
            <a:r>
              <a:rPr sz="2400" spc="-15" dirty="0">
                <a:latin typeface="Cambria"/>
                <a:cs typeface="Cambria"/>
              </a:rPr>
              <a:t>variable</a:t>
            </a:r>
            <a:r>
              <a:rPr sz="2400" spc="65" dirty="0">
                <a:latin typeface="Cambria"/>
                <a:cs typeface="Cambria"/>
              </a:rPr>
              <a:t> </a:t>
            </a:r>
            <a:r>
              <a:rPr sz="2400" spc="-15" dirty="0">
                <a:latin typeface="Cambria"/>
                <a:cs typeface="Cambria"/>
              </a:rPr>
              <a:t>x</a:t>
            </a:r>
            <a:r>
              <a:rPr sz="2400" spc="75" dirty="0">
                <a:latin typeface="Cambria"/>
                <a:cs typeface="Cambria"/>
              </a:rPr>
              <a:t> </a:t>
            </a:r>
            <a:r>
              <a:rPr sz="2400" spc="-10" dirty="0">
                <a:latin typeface="Cambria"/>
                <a:cs typeface="Cambria"/>
              </a:rPr>
              <a:t>is</a:t>
            </a:r>
            <a:r>
              <a:rPr sz="2400" spc="70" dirty="0">
                <a:latin typeface="Cambria"/>
                <a:cs typeface="Cambria"/>
              </a:rPr>
              <a:t> </a:t>
            </a:r>
            <a:r>
              <a:rPr sz="2400" spc="-35" dirty="0">
                <a:latin typeface="Cambria"/>
                <a:cs typeface="Cambria"/>
              </a:rPr>
              <a:t>live</a:t>
            </a:r>
            <a:r>
              <a:rPr sz="2400" spc="65" dirty="0">
                <a:latin typeface="Cambria"/>
                <a:cs typeface="Cambria"/>
              </a:rPr>
              <a:t> </a:t>
            </a:r>
            <a:r>
              <a:rPr sz="2400" spc="-10" dirty="0">
                <a:latin typeface="Cambria"/>
                <a:cs typeface="Cambria"/>
              </a:rPr>
              <a:t>at</a:t>
            </a:r>
            <a:r>
              <a:rPr sz="2400" spc="75" dirty="0">
                <a:latin typeface="Cambria"/>
                <a:cs typeface="Cambria"/>
              </a:rPr>
              <a:t> </a:t>
            </a:r>
            <a:r>
              <a:rPr sz="2400" spc="-10" dirty="0">
                <a:latin typeface="Cambria"/>
                <a:cs typeface="Cambria"/>
              </a:rPr>
              <a:t>point</a:t>
            </a:r>
            <a:r>
              <a:rPr sz="2400" spc="75" dirty="0">
                <a:latin typeface="Cambria"/>
                <a:cs typeface="Cambria"/>
              </a:rPr>
              <a:t> </a:t>
            </a:r>
            <a:r>
              <a:rPr sz="2400" spc="-5" dirty="0">
                <a:latin typeface="Cambria"/>
                <a:cs typeface="Cambria"/>
              </a:rPr>
              <a:t>p</a:t>
            </a:r>
            <a:r>
              <a:rPr sz="2400" dirty="0">
                <a:latin typeface="Cambria"/>
                <a:cs typeface="Cambria"/>
              </a:rPr>
              <a:t>,</a:t>
            </a:r>
            <a:r>
              <a:rPr sz="2400" spc="55" dirty="0">
                <a:latin typeface="Cambria"/>
                <a:cs typeface="Cambria"/>
              </a:rPr>
              <a:t> </a:t>
            </a:r>
            <a:r>
              <a:rPr sz="2400" spc="-10" dirty="0">
                <a:latin typeface="Cambria"/>
                <a:cs typeface="Cambria"/>
              </a:rPr>
              <a:t>i</a:t>
            </a:r>
            <a:r>
              <a:rPr sz="2400" dirty="0">
                <a:latin typeface="Cambria"/>
                <a:cs typeface="Cambria"/>
              </a:rPr>
              <a:t>f</a:t>
            </a:r>
            <a:r>
              <a:rPr sz="2400" spc="75" dirty="0">
                <a:latin typeface="Cambria"/>
                <a:cs typeface="Cambria"/>
              </a:rPr>
              <a:t> </a:t>
            </a:r>
            <a:r>
              <a:rPr sz="2400" spc="-20" dirty="0">
                <a:latin typeface="Cambria"/>
                <a:cs typeface="Cambria"/>
              </a:rPr>
              <a:t>there</a:t>
            </a:r>
            <a:r>
              <a:rPr sz="2400" spc="65" dirty="0">
                <a:latin typeface="Cambria"/>
                <a:cs typeface="Cambria"/>
              </a:rPr>
              <a:t> </a:t>
            </a:r>
            <a:r>
              <a:rPr sz="2400" spc="-10" dirty="0">
                <a:latin typeface="Cambria"/>
                <a:cs typeface="Cambria"/>
              </a:rPr>
              <a:t>is</a:t>
            </a:r>
            <a:r>
              <a:rPr sz="2400" spc="70" dirty="0">
                <a:latin typeface="Cambria"/>
                <a:cs typeface="Cambria"/>
              </a:rPr>
              <a:t> </a:t>
            </a:r>
            <a:r>
              <a:rPr sz="2400" spc="-15" dirty="0">
                <a:latin typeface="Cambria"/>
                <a:cs typeface="Cambria"/>
              </a:rPr>
              <a:t>path</a:t>
            </a:r>
            <a:r>
              <a:rPr sz="2400" spc="70" dirty="0">
                <a:latin typeface="Cambria"/>
                <a:cs typeface="Cambria"/>
              </a:rPr>
              <a:t> </a:t>
            </a:r>
            <a:r>
              <a:rPr sz="2400" spc="-20" dirty="0">
                <a:latin typeface="Cambria"/>
                <a:cs typeface="Cambria"/>
              </a:rPr>
              <a:t>from</a:t>
            </a:r>
            <a:r>
              <a:rPr sz="2400" spc="60" dirty="0">
                <a:latin typeface="Cambria"/>
                <a:cs typeface="Cambria"/>
              </a:rPr>
              <a:t> </a:t>
            </a:r>
            <a:r>
              <a:rPr sz="2400" spc="-15" dirty="0">
                <a:latin typeface="Cambria"/>
                <a:cs typeface="Cambria"/>
              </a:rPr>
              <a:t>p</a:t>
            </a:r>
            <a:r>
              <a:rPr sz="2400" spc="65" dirty="0">
                <a:latin typeface="Cambria"/>
                <a:cs typeface="Cambria"/>
              </a:rPr>
              <a:t> </a:t>
            </a:r>
            <a:r>
              <a:rPr sz="2400" spc="-114" dirty="0">
                <a:latin typeface="Cambria"/>
                <a:cs typeface="Cambria"/>
              </a:rPr>
              <a:t>to</a:t>
            </a:r>
            <a:r>
              <a:rPr sz="2400" spc="-45" dirty="0">
                <a:latin typeface="Cambria"/>
                <a:cs typeface="Cambria"/>
              </a:rPr>
              <a:t> </a:t>
            </a:r>
            <a:r>
              <a:rPr sz="2400" spc="-15" dirty="0">
                <a:latin typeface="Cambria"/>
                <a:cs typeface="Cambria"/>
              </a:rPr>
              <a:t>the</a:t>
            </a:r>
            <a:r>
              <a:rPr sz="2400" spc="610" dirty="0">
                <a:latin typeface="Cambria"/>
                <a:cs typeface="Cambria"/>
              </a:rPr>
              <a:t> </a:t>
            </a:r>
            <a:r>
              <a:rPr sz="2400" spc="-10" dirty="0">
                <a:latin typeface="Cambria"/>
                <a:cs typeface="Cambria"/>
              </a:rPr>
              <a:t>exit,</a:t>
            </a:r>
            <a:r>
              <a:rPr sz="2400" spc="610" dirty="0">
                <a:latin typeface="Cambria"/>
                <a:cs typeface="Cambria"/>
              </a:rPr>
              <a:t> </a:t>
            </a:r>
            <a:r>
              <a:rPr sz="2400" spc="-20" dirty="0">
                <a:latin typeface="Cambria"/>
                <a:cs typeface="Cambria"/>
              </a:rPr>
              <a:t>along</a:t>
            </a:r>
            <a:r>
              <a:rPr sz="2400" spc="610" dirty="0">
                <a:latin typeface="Cambria"/>
                <a:cs typeface="Cambria"/>
              </a:rPr>
              <a:t> </a:t>
            </a:r>
            <a:r>
              <a:rPr sz="2400" spc="-20" dirty="0">
                <a:latin typeface="Cambria"/>
                <a:cs typeface="Cambria"/>
              </a:rPr>
              <a:t>which</a:t>
            </a:r>
            <a:r>
              <a:rPr sz="2400" spc="600" dirty="0">
                <a:latin typeface="Cambria"/>
                <a:cs typeface="Cambria"/>
              </a:rPr>
              <a:t> </a:t>
            </a:r>
            <a:r>
              <a:rPr sz="2400" spc="-15" dirty="0">
                <a:latin typeface="Cambria"/>
                <a:cs typeface="Cambria"/>
              </a:rPr>
              <a:t>the</a:t>
            </a:r>
            <a:r>
              <a:rPr sz="2400" spc="610" dirty="0">
                <a:latin typeface="Cambria"/>
                <a:cs typeface="Cambria"/>
              </a:rPr>
              <a:t> </a:t>
            </a:r>
            <a:r>
              <a:rPr sz="2400" spc="-25" dirty="0">
                <a:latin typeface="Cambria"/>
                <a:cs typeface="Cambria"/>
              </a:rPr>
              <a:t>value</a:t>
            </a:r>
            <a:r>
              <a:rPr sz="2400" spc="590" dirty="0">
                <a:latin typeface="Cambria"/>
                <a:cs typeface="Cambria"/>
              </a:rPr>
              <a:t> </a:t>
            </a:r>
            <a:r>
              <a:rPr sz="2400" spc="-5" dirty="0">
                <a:latin typeface="Cambria"/>
                <a:cs typeface="Cambria"/>
              </a:rPr>
              <a:t>o</a:t>
            </a:r>
            <a:r>
              <a:rPr sz="2400" dirty="0">
                <a:latin typeface="Cambria"/>
                <a:cs typeface="Cambria"/>
              </a:rPr>
              <a:t>f</a:t>
            </a:r>
            <a:r>
              <a:rPr sz="2400" spc="610" dirty="0">
                <a:latin typeface="Cambria"/>
                <a:cs typeface="Cambria"/>
              </a:rPr>
              <a:t> </a:t>
            </a:r>
            <a:r>
              <a:rPr sz="2400" spc="-15" dirty="0">
                <a:latin typeface="Cambria"/>
                <a:cs typeface="Cambria"/>
              </a:rPr>
              <a:t>x</a:t>
            </a:r>
            <a:r>
              <a:rPr sz="2400" spc="600" dirty="0">
                <a:latin typeface="Cambria"/>
                <a:cs typeface="Cambria"/>
              </a:rPr>
              <a:t> </a:t>
            </a:r>
            <a:r>
              <a:rPr sz="2400" spc="-10" dirty="0">
                <a:latin typeface="Cambria"/>
                <a:cs typeface="Cambria"/>
              </a:rPr>
              <a:t>is</a:t>
            </a:r>
            <a:r>
              <a:rPr sz="2400" spc="605" dirty="0">
                <a:latin typeface="Cambria"/>
                <a:cs typeface="Cambria"/>
              </a:rPr>
              <a:t> </a:t>
            </a:r>
            <a:r>
              <a:rPr sz="2400" spc="-15" dirty="0">
                <a:latin typeface="Cambria"/>
                <a:cs typeface="Cambria"/>
              </a:rPr>
              <a:t>used</a:t>
            </a:r>
            <a:r>
              <a:rPr sz="2400" spc="605" dirty="0">
                <a:latin typeface="Cambria"/>
                <a:cs typeface="Cambria"/>
              </a:rPr>
              <a:t> </a:t>
            </a:r>
            <a:r>
              <a:rPr sz="2400" spc="-20" dirty="0">
                <a:latin typeface="Cambria"/>
                <a:cs typeface="Cambria"/>
              </a:rPr>
              <a:t>before</a:t>
            </a:r>
            <a:r>
              <a:rPr sz="2400" spc="595" dirty="0">
                <a:latin typeface="Cambria"/>
                <a:cs typeface="Cambria"/>
              </a:rPr>
              <a:t> </a:t>
            </a:r>
            <a:r>
              <a:rPr sz="2400" spc="-20" dirty="0">
                <a:latin typeface="Cambria"/>
                <a:cs typeface="Cambria"/>
              </a:rPr>
              <a:t>its </a:t>
            </a:r>
            <a:r>
              <a:rPr sz="2400" spc="-10" dirty="0">
                <a:latin typeface="Cambria"/>
                <a:cs typeface="Cambria"/>
              </a:rPr>
              <a:t>redefined.</a:t>
            </a:r>
            <a:endParaRPr sz="2400">
              <a:latin typeface="Cambria"/>
              <a:cs typeface="Cambria"/>
            </a:endParaRPr>
          </a:p>
          <a:p>
            <a:pPr marL="12700" algn="just">
              <a:lnSpc>
                <a:spcPct val="100000"/>
              </a:lnSpc>
              <a:spcBef>
                <a:spcPts val="88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Otherwise</a:t>
            </a:r>
            <a:r>
              <a:rPr sz="2400" spc="-95"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variable</a:t>
            </a:r>
            <a:r>
              <a:rPr sz="2400" spc="-65" dirty="0">
                <a:latin typeface="Cambria"/>
                <a:cs typeface="Cambria"/>
              </a:rPr>
              <a:t> </a:t>
            </a:r>
            <a:r>
              <a:rPr sz="2400" dirty="0">
                <a:latin typeface="Cambria"/>
                <a:cs typeface="Cambria"/>
              </a:rPr>
              <a:t>is</a:t>
            </a:r>
            <a:r>
              <a:rPr sz="2400" spc="-45" dirty="0">
                <a:latin typeface="Cambria"/>
                <a:cs typeface="Cambria"/>
              </a:rPr>
              <a:t> </a:t>
            </a:r>
            <a:r>
              <a:rPr sz="2400" dirty="0">
                <a:latin typeface="Cambria"/>
                <a:cs typeface="Cambria"/>
              </a:rPr>
              <a:t>said</a:t>
            </a:r>
            <a:r>
              <a:rPr sz="2400" spc="-55" dirty="0">
                <a:latin typeface="Cambria"/>
                <a:cs typeface="Cambria"/>
              </a:rPr>
              <a:t> </a:t>
            </a:r>
            <a:r>
              <a:rPr sz="2400" dirty="0">
                <a:latin typeface="Cambria"/>
                <a:cs typeface="Cambria"/>
              </a:rPr>
              <a:t>to</a:t>
            </a:r>
            <a:r>
              <a:rPr sz="2400" spc="-45" dirty="0">
                <a:latin typeface="Cambria"/>
                <a:cs typeface="Cambria"/>
              </a:rPr>
              <a:t> </a:t>
            </a:r>
            <a:r>
              <a:rPr sz="2400" dirty="0">
                <a:latin typeface="Cambria"/>
                <a:cs typeface="Cambria"/>
              </a:rPr>
              <a:t>be</a:t>
            </a:r>
            <a:r>
              <a:rPr sz="2400" spc="-40" dirty="0">
                <a:latin typeface="Cambria"/>
                <a:cs typeface="Cambria"/>
              </a:rPr>
              <a:t> </a:t>
            </a:r>
            <a:r>
              <a:rPr sz="2400" dirty="0">
                <a:latin typeface="Cambria"/>
                <a:cs typeface="Cambria"/>
              </a:rPr>
              <a:t>dead</a:t>
            </a:r>
            <a:r>
              <a:rPr sz="2400" spc="-30" dirty="0">
                <a:latin typeface="Cambria"/>
                <a:cs typeface="Cambria"/>
              </a:rPr>
              <a:t> </a:t>
            </a:r>
            <a:r>
              <a:rPr sz="2400" dirty="0">
                <a:latin typeface="Cambria"/>
                <a:cs typeface="Cambria"/>
              </a:rPr>
              <a:t>at</a:t>
            </a:r>
            <a:r>
              <a:rPr sz="2400" spc="-50" dirty="0">
                <a:latin typeface="Cambria"/>
                <a:cs typeface="Cambria"/>
              </a:rPr>
              <a:t> </a:t>
            </a:r>
            <a:r>
              <a:rPr sz="2400" dirty="0">
                <a:latin typeface="Cambria"/>
                <a:cs typeface="Cambria"/>
              </a:rPr>
              <a:t>the</a:t>
            </a:r>
            <a:r>
              <a:rPr sz="2400" spc="-40" dirty="0">
                <a:latin typeface="Cambria"/>
                <a:cs typeface="Cambria"/>
              </a:rPr>
              <a:t> </a:t>
            </a:r>
            <a:r>
              <a:rPr sz="2400" spc="-10" dirty="0">
                <a:latin typeface="Cambria"/>
                <a:cs typeface="Cambria"/>
              </a:rPr>
              <a:t>point.</a:t>
            </a:r>
            <a:endParaRPr sz="2400">
              <a:latin typeface="Cambria"/>
              <a:cs typeface="Cambria"/>
            </a:endParaRPr>
          </a:p>
        </p:txBody>
      </p:sp>
      <p:sp>
        <p:nvSpPr>
          <p:cNvPr id="4" name="object 4"/>
          <p:cNvSpPr txBox="1"/>
          <p:nvPr/>
        </p:nvSpPr>
        <p:spPr>
          <a:xfrm>
            <a:off x="3500754" y="3188284"/>
            <a:ext cx="2407920"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Cambria"/>
                <a:cs typeface="Cambria"/>
              </a:rPr>
              <a:t>Busy</a:t>
            </a:r>
            <a:r>
              <a:rPr sz="2400" b="1" spc="-60" dirty="0">
                <a:latin typeface="Cambria"/>
                <a:cs typeface="Cambria"/>
              </a:rPr>
              <a:t> </a:t>
            </a:r>
            <a:r>
              <a:rPr sz="2400" b="1" spc="-10" dirty="0">
                <a:latin typeface="Cambria"/>
                <a:cs typeface="Cambria"/>
              </a:rPr>
              <a:t>Expression:</a:t>
            </a:r>
            <a:endParaRPr sz="2400">
              <a:latin typeface="Cambria"/>
              <a:cs typeface="Cambria"/>
            </a:endParaRPr>
          </a:p>
        </p:txBody>
      </p:sp>
      <p:sp>
        <p:nvSpPr>
          <p:cNvPr id="5" name="object 5"/>
          <p:cNvSpPr txBox="1"/>
          <p:nvPr/>
        </p:nvSpPr>
        <p:spPr>
          <a:xfrm>
            <a:off x="3500754" y="4152138"/>
            <a:ext cx="7774940" cy="1379220"/>
          </a:xfrm>
          <a:prstGeom prst="rect">
            <a:avLst/>
          </a:prstGeom>
        </p:spPr>
        <p:txBody>
          <a:bodyPr vert="horz" wrap="square" lIns="0" tIns="48895" rIns="0" bIns="0" rtlCol="0">
            <a:spAutoFit/>
          </a:bodyPr>
          <a:lstStyle/>
          <a:p>
            <a:pPr marL="195580" marR="5080" indent="-182880" algn="just">
              <a:lnSpc>
                <a:spcPct val="90000"/>
              </a:lnSpc>
              <a:spcBef>
                <a:spcPts val="38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An</a:t>
            </a:r>
            <a:r>
              <a:rPr sz="2400" spc="160" dirty="0">
                <a:latin typeface="Cambria"/>
                <a:cs typeface="Cambria"/>
              </a:rPr>
              <a:t> </a:t>
            </a:r>
            <a:r>
              <a:rPr sz="2400" spc="-20" dirty="0">
                <a:latin typeface="Cambria"/>
                <a:cs typeface="Cambria"/>
              </a:rPr>
              <a:t>expression</a:t>
            </a:r>
            <a:r>
              <a:rPr sz="2400" spc="155" dirty="0">
                <a:latin typeface="Cambria"/>
                <a:cs typeface="Cambria"/>
              </a:rPr>
              <a:t> </a:t>
            </a:r>
            <a:r>
              <a:rPr sz="2400" spc="-15" dirty="0">
                <a:latin typeface="Cambria"/>
                <a:cs typeface="Cambria"/>
              </a:rPr>
              <a:t>e</a:t>
            </a:r>
            <a:r>
              <a:rPr sz="2400" spc="160" dirty="0">
                <a:latin typeface="Cambria"/>
                <a:cs typeface="Cambria"/>
              </a:rPr>
              <a:t> </a:t>
            </a:r>
            <a:r>
              <a:rPr sz="2400" spc="-10" dirty="0">
                <a:latin typeface="Cambria"/>
                <a:cs typeface="Cambria"/>
              </a:rPr>
              <a:t>is</a:t>
            </a:r>
            <a:r>
              <a:rPr sz="2400" spc="155" dirty="0">
                <a:latin typeface="Cambria"/>
                <a:cs typeface="Cambria"/>
              </a:rPr>
              <a:t> </a:t>
            </a:r>
            <a:r>
              <a:rPr sz="2400" spc="-10" dirty="0">
                <a:latin typeface="Cambria"/>
                <a:cs typeface="Cambria"/>
              </a:rPr>
              <a:t>said</a:t>
            </a:r>
            <a:r>
              <a:rPr sz="2400" spc="160" dirty="0">
                <a:latin typeface="Cambria"/>
                <a:cs typeface="Cambria"/>
              </a:rPr>
              <a:t> </a:t>
            </a:r>
            <a:r>
              <a:rPr sz="2400" spc="-25" dirty="0">
                <a:latin typeface="Cambria"/>
                <a:cs typeface="Cambria"/>
              </a:rPr>
              <a:t>to</a:t>
            </a:r>
            <a:r>
              <a:rPr sz="2400" spc="150" dirty="0">
                <a:latin typeface="Cambria"/>
                <a:cs typeface="Cambria"/>
              </a:rPr>
              <a:t> </a:t>
            </a:r>
            <a:r>
              <a:rPr sz="2400" spc="-15" dirty="0">
                <a:latin typeface="Cambria"/>
                <a:cs typeface="Cambria"/>
              </a:rPr>
              <a:t>be</a:t>
            </a:r>
            <a:r>
              <a:rPr sz="2400" spc="155" dirty="0">
                <a:latin typeface="Cambria"/>
                <a:cs typeface="Cambria"/>
              </a:rPr>
              <a:t> </a:t>
            </a:r>
            <a:r>
              <a:rPr sz="2400" spc="-15" dirty="0">
                <a:latin typeface="Cambria"/>
                <a:cs typeface="Cambria"/>
              </a:rPr>
              <a:t>busy</a:t>
            </a:r>
            <a:r>
              <a:rPr sz="2400" spc="170" dirty="0">
                <a:latin typeface="Cambria"/>
                <a:cs typeface="Cambria"/>
              </a:rPr>
              <a:t> </a:t>
            </a:r>
            <a:r>
              <a:rPr sz="2400" spc="-15" dirty="0">
                <a:latin typeface="Cambria"/>
                <a:cs typeface="Cambria"/>
              </a:rPr>
              <a:t>expression</a:t>
            </a:r>
            <a:r>
              <a:rPr sz="2400" spc="145" dirty="0">
                <a:latin typeface="Cambria"/>
                <a:cs typeface="Cambria"/>
              </a:rPr>
              <a:t> </a:t>
            </a:r>
            <a:r>
              <a:rPr sz="2400" spc="-20" dirty="0">
                <a:latin typeface="Cambria"/>
                <a:cs typeface="Cambria"/>
              </a:rPr>
              <a:t>along</a:t>
            </a:r>
            <a:r>
              <a:rPr sz="2400" spc="160" dirty="0">
                <a:latin typeface="Cambria"/>
                <a:cs typeface="Cambria"/>
              </a:rPr>
              <a:t> </a:t>
            </a:r>
            <a:r>
              <a:rPr sz="2400" spc="-60" dirty="0">
                <a:latin typeface="Cambria"/>
                <a:cs typeface="Cambria"/>
              </a:rPr>
              <a:t>some</a:t>
            </a:r>
            <a:r>
              <a:rPr sz="2400" spc="-10" dirty="0">
                <a:latin typeface="Cambria"/>
                <a:cs typeface="Cambria"/>
              </a:rPr>
              <a:t> </a:t>
            </a:r>
            <a:r>
              <a:rPr sz="2400" spc="-15" dirty="0">
                <a:latin typeface="Cambria"/>
                <a:cs typeface="Cambria"/>
              </a:rPr>
              <a:t>path</a:t>
            </a:r>
            <a:r>
              <a:rPr sz="2400" spc="434" dirty="0">
                <a:latin typeface="Cambria"/>
                <a:cs typeface="Cambria"/>
              </a:rPr>
              <a:t> </a:t>
            </a:r>
            <a:r>
              <a:rPr sz="2400" spc="-5" dirty="0">
                <a:latin typeface="Cambria"/>
                <a:cs typeface="Cambria"/>
              </a:rPr>
              <a:t>p</a:t>
            </a:r>
            <a:r>
              <a:rPr sz="2400" dirty="0">
                <a:latin typeface="Cambria"/>
                <a:cs typeface="Cambria"/>
              </a:rPr>
              <a:t>i</a:t>
            </a:r>
            <a:r>
              <a:rPr sz="2400" spc="-10" dirty="0">
                <a:latin typeface="Cambria"/>
                <a:cs typeface="Cambria"/>
              </a:rPr>
              <a:t>…</a:t>
            </a:r>
            <a:r>
              <a:rPr sz="2400" spc="-5" dirty="0">
                <a:latin typeface="Cambria"/>
                <a:cs typeface="Cambria"/>
              </a:rPr>
              <a:t>p</a:t>
            </a:r>
            <a:r>
              <a:rPr sz="2400" dirty="0">
                <a:latin typeface="Cambria"/>
                <a:cs typeface="Cambria"/>
              </a:rPr>
              <a:t>j</a:t>
            </a:r>
            <a:r>
              <a:rPr sz="2400" spc="445" dirty="0">
                <a:latin typeface="Cambria"/>
                <a:cs typeface="Cambria"/>
              </a:rPr>
              <a:t> </a:t>
            </a:r>
            <a:r>
              <a:rPr sz="2400" dirty="0">
                <a:latin typeface="Cambria"/>
                <a:cs typeface="Cambria"/>
              </a:rPr>
              <a:t>if</a:t>
            </a:r>
            <a:r>
              <a:rPr sz="2400" spc="440" dirty="0">
                <a:latin typeface="Cambria"/>
                <a:cs typeface="Cambria"/>
              </a:rPr>
              <a:t> </a:t>
            </a:r>
            <a:r>
              <a:rPr sz="2400" spc="-10" dirty="0">
                <a:latin typeface="Cambria"/>
                <a:cs typeface="Cambria"/>
              </a:rPr>
              <a:t>a</a:t>
            </a:r>
            <a:r>
              <a:rPr sz="2400" dirty="0">
                <a:latin typeface="Cambria"/>
                <a:cs typeface="Cambria"/>
              </a:rPr>
              <a:t>n</a:t>
            </a:r>
            <a:r>
              <a:rPr sz="2400" spc="440" dirty="0">
                <a:latin typeface="Cambria"/>
                <a:cs typeface="Cambria"/>
              </a:rPr>
              <a:t> </a:t>
            </a:r>
            <a:r>
              <a:rPr sz="2400" spc="-20" dirty="0">
                <a:latin typeface="Cambria"/>
                <a:cs typeface="Cambria"/>
              </a:rPr>
              <a:t>evaluation</a:t>
            </a:r>
            <a:r>
              <a:rPr sz="2400" spc="445" dirty="0">
                <a:latin typeface="Cambria"/>
                <a:cs typeface="Cambria"/>
              </a:rPr>
              <a:t> </a:t>
            </a:r>
            <a:r>
              <a:rPr sz="2400" spc="-20" dirty="0">
                <a:latin typeface="Cambria"/>
                <a:cs typeface="Cambria"/>
              </a:rPr>
              <a:t>o</a:t>
            </a:r>
            <a:r>
              <a:rPr sz="2400" dirty="0">
                <a:latin typeface="Cambria"/>
                <a:cs typeface="Cambria"/>
              </a:rPr>
              <a:t>f</a:t>
            </a:r>
            <a:r>
              <a:rPr sz="2400" spc="440" dirty="0">
                <a:latin typeface="Cambria"/>
                <a:cs typeface="Cambria"/>
              </a:rPr>
              <a:t> </a:t>
            </a:r>
            <a:r>
              <a:rPr sz="2400" spc="-15" dirty="0">
                <a:latin typeface="Cambria"/>
                <a:cs typeface="Cambria"/>
              </a:rPr>
              <a:t>e</a:t>
            </a:r>
            <a:r>
              <a:rPr sz="2400" spc="430" dirty="0">
                <a:latin typeface="Cambria"/>
                <a:cs typeface="Cambria"/>
              </a:rPr>
              <a:t> </a:t>
            </a:r>
            <a:r>
              <a:rPr sz="2400" spc="-10" dirty="0">
                <a:latin typeface="Cambria"/>
                <a:cs typeface="Cambria"/>
              </a:rPr>
              <a:t>exists</a:t>
            </a:r>
            <a:r>
              <a:rPr sz="2400" spc="440" dirty="0">
                <a:latin typeface="Cambria"/>
                <a:cs typeface="Cambria"/>
              </a:rPr>
              <a:t> </a:t>
            </a:r>
            <a:r>
              <a:rPr sz="2400" spc="-10" dirty="0">
                <a:latin typeface="Cambria"/>
                <a:cs typeface="Cambria"/>
              </a:rPr>
              <a:t>along</a:t>
            </a:r>
            <a:r>
              <a:rPr sz="2400" spc="440" dirty="0">
                <a:latin typeface="Cambria"/>
                <a:cs typeface="Cambria"/>
              </a:rPr>
              <a:t> </a:t>
            </a:r>
            <a:r>
              <a:rPr sz="2400" spc="-20" dirty="0">
                <a:latin typeface="Cambria"/>
                <a:cs typeface="Cambria"/>
              </a:rPr>
              <a:t>some</a:t>
            </a:r>
            <a:r>
              <a:rPr sz="2400" spc="455" dirty="0">
                <a:latin typeface="Cambria"/>
                <a:cs typeface="Cambria"/>
              </a:rPr>
              <a:t> </a:t>
            </a:r>
            <a:r>
              <a:rPr sz="2400" spc="-15" dirty="0">
                <a:latin typeface="Cambria"/>
                <a:cs typeface="Cambria"/>
              </a:rPr>
              <a:t>path</a:t>
            </a:r>
            <a:r>
              <a:rPr sz="2400" spc="-10" dirty="0">
                <a:latin typeface="Cambria"/>
                <a:cs typeface="Cambria"/>
              </a:rPr>
              <a:t> pi…pj</a:t>
            </a:r>
            <a:r>
              <a:rPr sz="2400" spc="484" dirty="0">
                <a:latin typeface="Cambria"/>
                <a:cs typeface="Cambria"/>
              </a:rPr>
              <a:t> </a:t>
            </a:r>
            <a:r>
              <a:rPr sz="2400" spc="-10" dirty="0">
                <a:latin typeface="Cambria"/>
                <a:cs typeface="Cambria"/>
              </a:rPr>
              <a:t>and</a:t>
            </a:r>
            <a:r>
              <a:rPr sz="2400" spc="484" dirty="0">
                <a:latin typeface="Cambria"/>
                <a:cs typeface="Cambria"/>
              </a:rPr>
              <a:t> </a:t>
            </a:r>
            <a:r>
              <a:rPr sz="2400" spc="5" dirty="0">
                <a:latin typeface="Cambria"/>
                <a:cs typeface="Cambria"/>
              </a:rPr>
              <a:t>n</a:t>
            </a:r>
            <a:r>
              <a:rPr sz="2400" dirty="0">
                <a:latin typeface="Cambria"/>
                <a:cs typeface="Cambria"/>
              </a:rPr>
              <a:t>o</a:t>
            </a:r>
            <a:r>
              <a:rPr sz="2400" spc="484" dirty="0">
                <a:latin typeface="Cambria"/>
                <a:cs typeface="Cambria"/>
              </a:rPr>
              <a:t> </a:t>
            </a:r>
            <a:r>
              <a:rPr sz="2400" spc="-10" dirty="0">
                <a:latin typeface="Cambria"/>
                <a:cs typeface="Cambria"/>
              </a:rPr>
              <a:t>definition</a:t>
            </a:r>
            <a:r>
              <a:rPr sz="2400" spc="495" dirty="0">
                <a:latin typeface="Cambria"/>
                <a:cs typeface="Cambria"/>
              </a:rPr>
              <a:t> </a:t>
            </a:r>
            <a:r>
              <a:rPr sz="2400" spc="-5" dirty="0">
                <a:latin typeface="Cambria"/>
                <a:cs typeface="Cambria"/>
              </a:rPr>
              <a:t>o</a:t>
            </a:r>
            <a:r>
              <a:rPr sz="2400" dirty="0">
                <a:latin typeface="Cambria"/>
                <a:cs typeface="Cambria"/>
              </a:rPr>
              <a:t>f</a:t>
            </a:r>
            <a:r>
              <a:rPr sz="2400" spc="490" dirty="0">
                <a:latin typeface="Cambria"/>
                <a:cs typeface="Cambria"/>
              </a:rPr>
              <a:t> </a:t>
            </a:r>
            <a:r>
              <a:rPr sz="2400" spc="-30" dirty="0">
                <a:latin typeface="Cambria"/>
                <a:cs typeface="Cambria"/>
              </a:rPr>
              <a:t>any</a:t>
            </a:r>
            <a:r>
              <a:rPr sz="2400" spc="490" dirty="0">
                <a:latin typeface="Cambria"/>
                <a:cs typeface="Cambria"/>
              </a:rPr>
              <a:t> </a:t>
            </a:r>
            <a:r>
              <a:rPr sz="2400" spc="-20" dirty="0">
                <a:latin typeface="Cambria"/>
                <a:cs typeface="Cambria"/>
              </a:rPr>
              <a:t>operand</a:t>
            </a:r>
            <a:r>
              <a:rPr sz="2400" spc="490" dirty="0">
                <a:latin typeface="Cambria"/>
                <a:cs typeface="Cambria"/>
              </a:rPr>
              <a:t> </a:t>
            </a:r>
            <a:r>
              <a:rPr sz="2400" spc="-20" dirty="0">
                <a:latin typeface="Cambria"/>
                <a:cs typeface="Cambria"/>
              </a:rPr>
              <a:t>exist</a:t>
            </a:r>
            <a:r>
              <a:rPr sz="2400" spc="490" dirty="0">
                <a:latin typeface="Cambria"/>
                <a:cs typeface="Cambria"/>
              </a:rPr>
              <a:t> </a:t>
            </a:r>
            <a:r>
              <a:rPr sz="2400" spc="-20" dirty="0">
                <a:latin typeface="Cambria"/>
                <a:cs typeface="Cambria"/>
              </a:rPr>
              <a:t>before</a:t>
            </a:r>
            <a:r>
              <a:rPr sz="2400" spc="475" dirty="0">
                <a:latin typeface="Cambria"/>
                <a:cs typeface="Cambria"/>
              </a:rPr>
              <a:t> </a:t>
            </a:r>
            <a:r>
              <a:rPr sz="2400" spc="-10" dirty="0">
                <a:latin typeface="Cambria"/>
                <a:cs typeface="Cambria"/>
              </a:rPr>
              <a:t>its </a:t>
            </a:r>
            <a:r>
              <a:rPr sz="2400" spc="-15" dirty="0">
                <a:latin typeface="Cambria"/>
                <a:cs typeface="Cambria"/>
              </a:rPr>
              <a:t>evaluation</a:t>
            </a:r>
            <a:r>
              <a:rPr sz="2400" spc="-25" dirty="0">
                <a:latin typeface="Cambria"/>
                <a:cs typeface="Cambria"/>
              </a:rPr>
              <a:t> </a:t>
            </a:r>
            <a:r>
              <a:rPr sz="2400" spc="-20" dirty="0">
                <a:latin typeface="Cambria"/>
                <a:cs typeface="Cambria"/>
              </a:rPr>
              <a:t>along</a:t>
            </a:r>
            <a:r>
              <a:rPr sz="2400" spc="5" dirty="0">
                <a:latin typeface="Cambria"/>
                <a:cs typeface="Cambria"/>
              </a:rPr>
              <a:t> </a:t>
            </a:r>
            <a:r>
              <a:rPr sz="2400" spc="-15" dirty="0">
                <a:latin typeface="Cambria"/>
                <a:cs typeface="Cambria"/>
              </a:rPr>
              <a:t>path.</a:t>
            </a:r>
            <a:endParaRPr sz="2400">
              <a:latin typeface="Cambria"/>
              <a:cs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251460" marR="685165">
              <a:lnSpc>
                <a:spcPts val="3779"/>
              </a:lnSpc>
            </a:pPr>
            <a:r>
              <a:rPr sz="3600" b="1" spc="-85" dirty="0">
                <a:solidFill>
                  <a:srgbClr val="FFFFFF"/>
                </a:solidFill>
                <a:latin typeface="Cambria"/>
                <a:cs typeface="Cambria"/>
              </a:rPr>
              <a:t>Role</a:t>
            </a:r>
            <a:r>
              <a:rPr sz="3600" b="1" spc="-114" dirty="0">
                <a:solidFill>
                  <a:srgbClr val="FFFFFF"/>
                </a:solidFill>
                <a:latin typeface="Cambria"/>
                <a:cs typeface="Cambria"/>
              </a:rPr>
              <a:t> </a:t>
            </a:r>
            <a:r>
              <a:rPr sz="3600" b="1" spc="-35" dirty="0">
                <a:solidFill>
                  <a:srgbClr val="FFFFFF"/>
                </a:solidFill>
                <a:latin typeface="Cambria"/>
                <a:cs typeface="Cambria"/>
              </a:rPr>
              <a:t>of</a:t>
            </a:r>
            <a:r>
              <a:rPr sz="3600" b="1" spc="-150" dirty="0">
                <a:solidFill>
                  <a:srgbClr val="FFFFFF"/>
                </a:solidFill>
                <a:latin typeface="Cambria"/>
                <a:cs typeface="Cambria"/>
              </a:rPr>
              <a:t> </a:t>
            </a:r>
            <a:r>
              <a:rPr sz="3600" b="1" spc="-40" dirty="0">
                <a:solidFill>
                  <a:srgbClr val="FFFFFF"/>
                </a:solidFill>
                <a:latin typeface="Cambria"/>
                <a:cs typeface="Cambria"/>
              </a:rPr>
              <a:t>Code </a:t>
            </a:r>
            <a:r>
              <a:rPr sz="3600" b="1" spc="-10" dirty="0">
                <a:solidFill>
                  <a:srgbClr val="FFFFFF"/>
                </a:solidFill>
                <a:latin typeface="Cambria"/>
                <a:cs typeface="Cambria"/>
              </a:rPr>
              <a:t>Generator</a:t>
            </a:r>
            <a:endParaRPr sz="3600">
              <a:latin typeface="Cambria"/>
              <a:cs typeface="Cambria"/>
            </a:endParaRPr>
          </a:p>
        </p:txBody>
      </p:sp>
      <p:sp>
        <p:nvSpPr>
          <p:cNvPr id="3" name="object 3"/>
          <p:cNvSpPr txBox="1"/>
          <p:nvPr/>
        </p:nvSpPr>
        <p:spPr>
          <a:xfrm>
            <a:off x="4451350" y="1305305"/>
            <a:ext cx="6158230" cy="720725"/>
          </a:xfrm>
          <a:prstGeom prst="rect">
            <a:avLst/>
          </a:prstGeom>
        </p:spPr>
        <p:txBody>
          <a:bodyPr vert="horz" wrap="square" lIns="0" tIns="53975" rIns="0" bIns="0" rtlCol="0">
            <a:spAutoFit/>
          </a:bodyPr>
          <a:lstStyle/>
          <a:p>
            <a:pPr marL="194945"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70" dirty="0">
                <a:latin typeface="Cambria"/>
                <a:cs typeface="Cambria"/>
              </a:rPr>
              <a:t> </a:t>
            </a:r>
            <a:r>
              <a:rPr sz="2400" dirty="0">
                <a:latin typeface="Cambria"/>
                <a:cs typeface="Cambria"/>
              </a:rPr>
              <a:t>final</a:t>
            </a:r>
            <a:r>
              <a:rPr sz="2400" spc="-55" dirty="0">
                <a:latin typeface="Cambria"/>
                <a:cs typeface="Cambria"/>
              </a:rPr>
              <a:t> </a:t>
            </a:r>
            <a:r>
              <a:rPr sz="2400" dirty="0">
                <a:latin typeface="Cambria"/>
                <a:cs typeface="Cambria"/>
              </a:rPr>
              <a:t>phase</a:t>
            </a:r>
            <a:r>
              <a:rPr sz="2400" spc="-15" dirty="0">
                <a:latin typeface="Cambria"/>
                <a:cs typeface="Cambria"/>
              </a:rPr>
              <a:t> </a:t>
            </a:r>
            <a:r>
              <a:rPr sz="2400" dirty="0">
                <a:latin typeface="Cambria"/>
                <a:cs typeface="Cambria"/>
              </a:rPr>
              <a:t>of</a:t>
            </a:r>
            <a:r>
              <a:rPr sz="2400" spc="-40" dirty="0">
                <a:latin typeface="Cambria"/>
                <a:cs typeface="Cambria"/>
              </a:rPr>
              <a:t> </a:t>
            </a:r>
            <a:r>
              <a:rPr sz="2400" spc="-10" dirty="0">
                <a:latin typeface="Cambria"/>
                <a:cs typeface="Cambria"/>
              </a:rPr>
              <a:t>compilation</a:t>
            </a:r>
            <a:r>
              <a:rPr sz="2400" spc="-40" dirty="0">
                <a:latin typeface="Cambria"/>
                <a:cs typeface="Cambria"/>
              </a:rPr>
              <a:t> </a:t>
            </a:r>
            <a:r>
              <a:rPr sz="2400" dirty="0">
                <a:latin typeface="Cambria"/>
                <a:cs typeface="Cambria"/>
              </a:rPr>
              <a:t>process</a:t>
            </a:r>
            <a:r>
              <a:rPr sz="2400" spc="-25" dirty="0">
                <a:latin typeface="Cambria"/>
                <a:cs typeface="Cambria"/>
              </a:rPr>
              <a:t> </a:t>
            </a:r>
            <a:r>
              <a:rPr sz="2400" dirty="0">
                <a:latin typeface="Cambria"/>
                <a:cs typeface="Cambria"/>
              </a:rPr>
              <a:t>is</a:t>
            </a:r>
            <a:r>
              <a:rPr sz="2400" spc="-40" dirty="0">
                <a:latin typeface="Cambria"/>
                <a:cs typeface="Cambria"/>
              </a:rPr>
              <a:t> </a:t>
            </a:r>
            <a:r>
              <a:rPr sz="2400" spc="-20" dirty="0">
                <a:latin typeface="Cambria"/>
                <a:cs typeface="Cambria"/>
              </a:rPr>
              <a:t>code </a:t>
            </a:r>
            <a:r>
              <a:rPr sz="2400" spc="-10" dirty="0">
                <a:latin typeface="Cambria"/>
                <a:cs typeface="Cambria"/>
              </a:rPr>
              <a:t>generation.</a:t>
            </a:r>
            <a:endParaRPr sz="2400">
              <a:latin typeface="Cambria"/>
              <a:cs typeface="Cambria"/>
            </a:endParaRPr>
          </a:p>
        </p:txBody>
      </p:sp>
      <p:sp>
        <p:nvSpPr>
          <p:cNvPr id="4" name="object 4"/>
          <p:cNvSpPr txBox="1">
            <a:spLocks noGrp="1"/>
          </p:cNvSpPr>
          <p:nvPr>
            <p:ph type="title"/>
          </p:nvPr>
        </p:nvSpPr>
        <p:spPr>
          <a:xfrm>
            <a:off x="4451350" y="2039569"/>
            <a:ext cx="6108700" cy="1050290"/>
          </a:xfrm>
          <a:prstGeom prst="rect">
            <a:avLst/>
          </a:prstGeom>
        </p:spPr>
        <p:txBody>
          <a:bodyPr vert="horz" wrap="square" lIns="0" tIns="54610" rIns="0" bIns="0" rtlCol="0">
            <a:spAutoFit/>
          </a:bodyPr>
          <a:lstStyle/>
          <a:p>
            <a:pPr marL="194945" marR="5080" indent="-182880">
              <a:lnSpc>
                <a:spcPts val="2590"/>
              </a:lnSpc>
              <a:spcBef>
                <a:spcPts val="430"/>
              </a:spcBef>
            </a:pPr>
            <a:r>
              <a:rPr spc="-1250" dirty="0">
                <a:solidFill>
                  <a:srgbClr val="40B9D2"/>
                </a:solidFill>
                <a:latin typeface="Arial MT"/>
                <a:cs typeface="Arial MT"/>
              </a:rPr>
              <a:t>🞄</a:t>
            </a:r>
            <a:r>
              <a:rPr spc="-95" dirty="0">
                <a:solidFill>
                  <a:srgbClr val="40B9D2"/>
                </a:solidFill>
                <a:latin typeface="Arial MT"/>
                <a:cs typeface="Arial MT"/>
              </a:rPr>
              <a:t> </a:t>
            </a:r>
            <a:r>
              <a:rPr dirty="0"/>
              <a:t>It</a:t>
            </a:r>
            <a:r>
              <a:rPr spc="-60" dirty="0"/>
              <a:t> </a:t>
            </a:r>
            <a:r>
              <a:rPr dirty="0"/>
              <a:t>takes</a:t>
            </a:r>
            <a:r>
              <a:rPr spc="-25" dirty="0"/>
              <a:t> </a:t>
            </a:r>
            <a:r>
              <a:rPr dirty="0"/>
              <a:t>an</a:t>
            </a:r>
            <a:r>
              <a:rPr spc="-30" dirty="0"/>
              <a:t> </a:t>
            </a:r>
            <a:r>
              <a:rPr spc="-10" dirty="0"/>
              <a:t>intermediate</a:t>
            </a:r>
            <a:r>
              <a:rPr spc="-60" dirty="0"/>
              <a:t> </a:t>
            </a:r>
            <a:r>
              <a:rPr spc="-10" dirty="0"/>
              <a:t>representation</a:t>
            </a:r>
            <a:r>
              <a:rPr spc="-65" dirty="0"/>
              <a:t> </a:t>
            </a:r>
            <a:r>
              <a:rPr dirty="0"/>
              <a:t>of</a:t>
            </a:r>
            <a:r>
              <a:rPr spc="-25" dirty="0"/>
              <a:t> the </a:t>
            </a:r>
            <a:r>
              <a:rPr dirty="0"/>
              <a:t>source</a:t>
            </a:r>
            <a:r>
              <a:rPr spc="-70" dirty="0"/>
              <a:t> </a:t>
            </a:r>
            <a:r>
              <a:rPr dirty="0"/>
              <a:t>program</a:t>
            </a:r>
            <a:r>
              <a:rPr spc="-95" dirty="0"/>
              <a:t> </a:t>
            </a:r>
            <a:r>
              <a:rPr dirty="0"/>
              <a:t>as</a:t>
            </a:r>
            <a:r>
              <a:rPr spc="-75" dirty="0"/>
              <a:t> </a:t>
            </a:r>
            <a:r>
              <a:rPr dirty="0"/>
              <a:t>input</a:t>
            </a:r>
            <a:r>
              <a:rPr spc="-90" dirty="0"/>
              <a:t> </a:t>
            </a:r>
            <a:r>
              <a:rPr dirty="0"/>
              <a:t>and</a:t>
            </a:r>
            <a:r>
              <a:rPr spc="-80" dirty="0"/>
              <a:t> </a:t>
            </a:r>
            <a:r>
              <a:rPr dirty="0"/>
              <a:t>produces</a:t>
            </a:r>
            <a:r>
              <a:rPr spc="-70" dirty="0"/>
              <a:t> </a:t>
            </a:r>
            <a:r>
              <a:rPr spc="-25" dirty="0"/>
              <a:t>an </a:t>
            </a:r>
            <a:r>
              <a:rPr spc="-10" dirty="0"/>
              <a:t>equivalent</a:t>
            </a:r>
            <a:r>
              <a:rPr spc="-70" dirty="0"/>
              <a:t> </a:t>
            </a:r>
            <a:r>
              <a:rPr dirty="0"/>
              <a:t>target</a:t>
            </a:r>
            <a:r>
              <a:rPr spc="-90" dirty="0"/>
              <a:t> </a:t>
            </a:r>
            <a:r>
              <a:rPr dirty="0"/>
              <a:t>program</a:t>
            </a:r>
            <a:r>
              <a:rPr spc="-60" dirty="0"/>
              <a:t> </a:t>
            </a:r>
            <a:r>
              <a:rPr dirty="0"/>
              <a:t>as</a:t>
            </a:r>
            <a:r>
              <a:rPr spc="-60" dirty="0"/>
              <a:t> </a:t>
            </a:r>
            <a:r>
              <a:rPr spc="-10" dirty="0"/>
              <a:t>output.</a:t>
            </a:r>
          </a:p>
        </p:txBody>
      </p:sp>
      <p:sp>
        <p:nvSpPr>
          <p:cNvPr id="5" name="object 5"/>
          <p:cNvSpPr txBox="1"/>
          <p:nvPr/>
        </p:nvSpPr>
        <p:spPr>
          <a:xfrm>
            <a:off x="4451350" y="3056966"/>
            <a:ext cx="4823460" cy="1571625"/>
          </a:xfrm>
          <a:prstGeom prst="rect">
            <a:avLst/>
          </a:prstGeom>
        </p:spPr>
        <p:txBody>
          <a:bodyPr vert="horz" wrap="square" lIns="0" tIns="59690" rIns="0" bIns="0" rtlCol="0">
            <a:spAutoFit/>
          </a:bodyPr>
          <a:lstStyle/>
          <a:p>
            <a:pPr marL="12700">
              <a:lnSpc>
                <a:spcPct val="100000"/>
              </a:lnSpc>
              <a:spcBef>
                <a:spcPts val="47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Main</a:t>
            </a:r>
            <a:r>
              <a:rPr sz="2400" spc="-70" dirty="0">
                <a:latin typeface="Cambria"/>
                <a:cs typeface="Cambria"/>
              </a:rPr>
              <a:t> </a:t>
            </a:r>
            <a:r>
              <a:rPr sz="2400" dirty="0">
                <a:latin typeface="Cambria"/>
                <a:cs typeface="Cambria"/>
              </a:rPr>
              <a:t>task</a:t>
            </a:r>
            <a:r>
              <a:rPr sz="2400" spc="-30" dirty="0">
                <a:latin typeface="Cambria"/>
                <a:cs typeface="Cambria"/>
              </a:rPr>
              <a:t> </a:t>
            </a:r>
            <a:r>
              <a:rPr sz="2400" dirty="0">
                <a:latin typeface="Cambria"/>
                <a:cs typeface="Cambria"/>
              </a:rPr>
              <a:t>of</a:t>
            </a:r>
            <a:r>
              <a:rPr sz="2400" spc="-40" dirty="0">
                <a:latin typeface="Cambria"/>
                <a:cs typeface="Cambria"/>
              </a:rPr>
              <a:t> </a:t>
            </a:r>
            <a:r>
              <a:rPr sz="2400" dirty="0">
                <a:latin typeface="Cambria"/>
                <a:cs typeface="Cambria"/>
              </a:rPr>
              <a:t>Code</a:t>
            </a:r>
            <a:r>
              <a:rPr sz="2400" spc="-25" dirty="0">
                <a:latin typeface="Cambria"/>
                <a:cs typeface="Cambria"/>
              </a:rPr>
              <a:t> </a:t>
            </a:r>
            <a:r>
              <a:rPr sz="2400" spc="-10" dirty="0">
                <a:latin typeface="Cambria"/>
                <a:cs typeface="Cambria"/>
              </a:rPr>
              <a:t>Generator:</a:t>
            </a:r>
            <a:endParaRPr sz="2400">
              <a:latin typeface="Cambria"/>
              <a:cs typeface="Cambria"/>
            </a:endParaRPr>
          </a:p>
          <a:p>
            <a:pPr marL="469900">
              <a:lnSpc>
                <a:spcPct val="100000"/>
              </a:lnSpc>
              <a:spcBef>
                <a:spcPts val="33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Instruction</a:t>
            </a:r>
            <a:r>
              <a:rPr sz="2200" spc="-95" dirty="0">
                <a:latin typeface="Cambria"/>
                <a:cs typeface="Cambria"/>
              </a:rPr>
              <a:t> </a:t>
            </a:r>
            <a:r>
              <a:rPr sz="2200" spc="-10" dirty="0">
                <a:latin typeface="Cambria"/>
                <a:cs typeface="Cambria"/>
              </a:rPr>
              <a:t>selection</a:t>
            </a:r>
            <a:endParaRPr sz="2200">
              <a:latin typeface="Cambria"/>
              <a:cs typeface="Cambria"/>
            </a:endParaRPr>
          </a:p>
          <a:p>
            <a:pPr marL="469900">
              <a:lnSpc>
                <a:spcPct val="100000"/>
              </a:lnSpc>
              <a:spcBef>
                <a:spcPts val="3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Register</a:t>
            </a:r>
            <a:r>
              <a:rPr sz="2200" spc="-125" dirty="0">
                <a:latin typeface="Cambria"/>
                <a:cs typeface="Cambria"/>
              </a:rPr>
              <a:t> </a:t>
            </a:r>
            <a:r>
              <a:rPr sz="2200" dirty="0">
                <a:latin typeface="Cambria"/>
                <a:cs typeface="Cambria"/>
              </a:rPr>
              <a:t>allocation</a:t>
            </a:r>
            <a:r>
              <a:rPr sz="2200" spc="-60" dirty="0">
                <a:latin typeface="Cambria"/>
                <a:cs typeface="Cambria"/>
              </a:rPr>
              <a:t> </a:t>
            </a:r>
            <a:r>
              <a:rPr sz="2200" dirty="0">
                <a:latin typeface="Cambria"/>
                <a:cs typeface="Cambria"/>
              </a:rPr>
              <a:t>and</a:t>
            </a:r>
            <a:r>
              <a:rPr sz="2200" spc="-55" dirty="0">
                <a:latin typeface="Cambria"/>
                <a:cs typeface="Cambria"/>
              </a:rPr>
              <a:t> </a:t>
            </a:r>
            <a:r>
              <a:rPr sz="2200" spc="-10" dirty="0">
                <a:latin typeface="Cambria"/>
                <a:cs typeface="Cambria"/>
              </a:rPr>
              <a:t>assignment</a:t>
            </a:r>
            <a:endParaRPr sz="2200">
              <a:latin typeface="Cambria"/>
              <a:cs typeface="Cambria"/>
            </a:endParaRPr>
          </a:p>
          <a:p>
            <a:pPr marL="469900">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Instruction</a:t>
            </a:r>
            <a:r>
              <a:rPr sz="2200" spc="-95" dirty="0">
                <a:latin typeface="Cambria"/>
                <a:cs typeface="Cambria"/>
              </a:rPr>
              <a:t> </a:t>
            </a:r>
            <a:r>
              <a:rPr sz="2200" spc="-10" dirty="0">
                <a:latin typeface="Cambria"/>
                <a:cs typeface="Cambria"/>
              </a:rPr>
              <a:t>ordering</a:t>
            </a:r>
            <a:endParaRPr sz="2200">
              <a:latin typeface="Cambria"/>
              <a:cs typeface="Cambria"/>
            </a:endParaRPr>
          </a:p>
        </p:txBody>
      </p:sp>
      <p:pic>
        <p:nvPicPr>
          <p:cNvPr id="6" name="object 6"/>
          <p:cNvPicPr/>
          <p:nvPr/>
        </p:nvPicPr>
        <p:blipFill>
          <a:blip r:embed="rId2" cstate="print"/>
          <a:stretch>
            <a:fillRect/>
          </a:stretch>
        </p:blipFill>
        <p:spPr>
          <a:xfrm>
            <a:off x="3925447" y="5112258"/>
            <a:ext cx="7398226" cy="103098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015365">
              <a:lnSpc>
                <a:spcPts val="3779"/>
              </a:lnSpc>
            </a:pPr>
            <a:r>
              <a:rPr sz="3600" b="1" spc="-20" dirty="0">
                <a:solidFill>
                  <a:srgbClr val="FFFFFF"/>
                </a:solidFill>
                <a:latin typeface="Cambria"/>
                <a:cs typeface="Cambria"/>
              </a:rPr>
              <a:t>Code </a:t>
            </a:r>
            <a:r>
              <a:rPr sz="3600" b="1" spc="-75" dirty="0">
                <a:solidFill>
                  <a:srgbClr val="FFFFFF"/>
                </a:solidFill>
                <a:latin typeface="Cambria"/>
                <a:cs typeface="Cambria"/>
              </a:rPr>
              <a:t>Generator</a:t>
            </a:r>
            <a:endParaRPr sz="3600">
              <a:latin typeface="Cambria"/>
              <a:cs typeface="Cambria"/>
            </a:endParaRPr>
          </a:p>
        </p:txBody>
      </p:sp>
      <p:sp>
        <p:nvSpPr>
          <p:cNvPr id="3" name="object 3"/>
          <p:cNvSpPr txBox="1">
            <a:spLocks noGrp="1"/>
          </p:cNvSpPr>
          <p:nvPr>
            <p:ph type="title"/>
          </p:nvPr>
        </p:nvSpPr>
        <p:spPr>
          <a:xfrm>
            <a:off x="3948429" y="1872234"/>
            <a:ext cx="2971165" cy="391160"/>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Instruction</a:t>
            </a:r>
            <a:r>
              <a:rPr spc="-100" dirty="0"/>
              <a:t> </a:t>
            </a:r>
            <a:r>
              <a:rPr spc="-15" dirty="0"/>
              <a:t>selection:</a:t>
            </a:r>
          </a:p>
        </p:txBody>
      </p:sp>
      <p:sp>
        <p:nvSpPr>
          <p:cNvPr id="4" name="object 4"/>
          <p:cNvSpPr txBox="1"/>
          <p:nvPr/>
        </p:nvSpPr>
        <p:spPr>
          <a:xfrm>
            <a:off x="3948429" y="2242819"/>
            <a:ext cx="6748780" cy="2683510"/>
          </a:xfrm>
          <a:prstGeom prst="rect">
            <a:avLst/>
          </a:prstGeom>
        </p:spPr>
        <p:txBody>
          <a:bodyPr vert="horz" wrap="square" lIns="0" tIns="49530" rIns="0" bIns="0" rtlCol="0">
            <a:spAutoFit/>
          </a:bodyPr>
          <a:lstStyle/>
          <a:p>
            <a:pPr marL="698500" marR="5080" indent="-182880">
              <a:lnSpc>
                <a:spcPts val="2380"/>
              </a:lnSpc>
              <a:spcBef>
                <a:spcPts val="3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Choose</a:t>
            </a:r>
            <a:r>
              <a:rPr sz="2200" spc="-125" dirty="0">
                <a:latin typeface="Cambria"/>
                <a:cs typeface="Cambria"/>
              </a:rPr>
              <a:t> </a:t>
            </a:r>
            <a:r>
              <a:rPr sz="2200" spc="-10" dirty="0">
                <a:latin typeface="Cambria"/>
                <a:cs typeface="Cambria"/>
              </a:rPr>
              <a:t>appropriate</a:t>
            </a:r>
            <a:r>
              <a:rPr sz="2200" spc="-70" dirty="0">
                <a:latin typeface="Cambria"/>
                <a:cs typeface="Cambria"/>
              </a:rPr>
              <a:t> </a:t>
            </a:r>
            <a:r>
              <a:rPr sz="2200" spc="-10" dirty="0">
                <a:latin typeface="Cambria"/>
                <a:cs typeface="Cambria"/>
              </a:rPr>
              <a:t>target-</a:t>
            </a:r>
            <a:r>
              <a:rPr sz="2200" dirty="0">
                <a:latin typeface="Cambria"/>
                <a:cs typeface="Cambria"/>
              </a:rPr>
              <a:t>machine</a:t>
            </a:r>
            <a:r>
              <a:rPr sz="2200" spc="-30" dirty="0">
                <a:latin typeface="Cambria"/>
                <a:cs typeface="Cambria"/>
              </a:rPr>
              <a:t> </a:t>
            </a:r>
            <a:r>
              <a:rPr sz="2200" dirty="0">
                <a:latin typeface="Cambria"/>
                <a:cs typeface="Cambria"/>
              </a:rPr>
              <a:t>instructions</a:t>
            </a:r>
            <a:r>
              <a:rPr sz="2200" spc="-40" dirty="0">
                <a:latin typeface="Cambria"/>
                <a:cs typeface="Cambria"/>
              </a:rPr>
              <a:t> </a:t>
            </a:r>
            <a:r>
              <a:rPr sz="2200" spc="-25" dirty="0">
                <a:latin typeface="Cambria"/>
                <a:cs typeface="Cambria"/>
              </a:rPr>
              <a:t>to </a:t>
            </a:r>
            <a:r>
              <a:rPr sz="2200" dirty="0">
                <a:latin typeface="Cambria"/>
                <a:cs typeface="Cambria"/>
              </a:rPr>
              <a:t>implement</a:t>
            </a:r>
            <a:r>
              <a:rPr sz="2200" spc="-35" dirty="0">
                <a:latin typeface="Cambria"/>
                <a:cs typeface="Cambria"/>
              </a:rPr>
              <a:t> </a:t>
            </a:r>
            <a:r>
              <a:rPr sz="2200" dirty="0">
                <a:latin typeface="Cambria"/>
                <a:cs typeface="Cambria"/>
              </a:rPr>
              <a:t>the</a:t>
            </a:r>
            <a:r>
              <a:rPr sz="2200" spc="-50" dirty="0">
                <a:latin typeface="Cambria"/>
                <a:cs typeface="Cambria"/>
              </a:rPr>
              <a:t> </a:t>
            </a:r>
            <a:r>
              <a:rPr sz="2200" dirty="0">
                <a:latin typeface="Cambria"/>
                <a:cs typeface="Cambria"/>
              </a:rPr>
              <a:t>IR</a:t>
            </a:r>
            <a:r>
              <a:rPr sz="2200" spc="-50" dirty="0">
                <a:latin typeface="Cambria"/>
                <a:cs typeface="Cambria"/>
              </a:rPr>
              <a:t> </a:t>
            </a:r>
            <a:r>
              <a:rPr sz="2200" spc="-10" dirty="0">
                <a:latin typeface="Cambria"/>
                <a:cs typeface="Cambria"/>
              </a:rPr>
              <a:t>statements.</a:t>
            </a:r>
            <a:endParaRPr sz="2200">
              <a:latin typeface="Cambria"/>
              <a:cs typeface="Cambria"/>
            </a:endParaRPr>
          </a:p>
          <a:p>
            <a:pPr marL="12700">
              <a:lnSpc>
                <a:spcPct val="100000"/>
              </a:lnSpc>
              <a:spcBef>
                <a:spcPts val="117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Register</a:t>
            </a:r>
            <a:r>
              <a:rPr sz="2400" spc="-100" dirty="0">
                <a:latin typeface="Cambria"/>
                <a:cs typeface="Cambria"/>
              </a:rPr>
              <a:t> </a:t>
            </a:r>
            <a:r>
              <a:rPr sz="2400" dirty="0">
                <a:latin typeface="Cambria"/>
                <a:cs typeface="Cambria"/>
              </a:rPr>
              <a:t>allocation</a:t>
            </a:r>
            <a:r>
              <a:rPr sz="2400" spc="-55" dirty="0">
                <a:latin typeface="Cambria"/>
                <a:cs typeface="Cambria"/>
              </a:rPr>
              <a:t> </a:t>
            </a:r>
            <a:r>
              <a:rPr sz="2400" dirty="0">
                <a:latin typeface="Cambria"/>
                <a:cs typeface="Cambria"/>
              </a:rPr>
              <a:t>and</a:t>
            </a:r>
            <a:r>
              <a:rPr sz="2400" spc="-45" dirty="0">
                <a:latin typeface="Cambria"/>
                <a:cs typeface="Cambria"/>
              </a:rPr>
              <a:t> </a:t>
            </a:r>
            <a:r>
              <a:rPr sz="2400" spc="-10" dirty="0">
                <a:latin typeface="Cambria"/>
                <a:cs typeface="Cambria"/>
              </a:rPr>
              <a:t>assignment:</a:t>
            </a:r>
            <a:endParaRPr sz="2400">
              <a:latin typeface="Cambria"/>
              <a:cs typeface="Cambria"/>
            </a:endParaRPr>
          </a:p>
          <a:p>
            <a:pPr marL="515620">
              <a:lnSpc>
                <a:spcPct val="100000"/>
              </a:lnSpc>
              <a:spcBef>
                <a:spcPts val="35"/>
              </a:spcBef>
            </a:pPr>
            <a:r>
              <a:rPr sz="2200" spc="-1145" dirty="0">
                <a:solidFill>
                  <a:srgbClr val="40B9D2"/>
                </a:solidFill>
                <a:latin typeface="Arial MT"/>
                <a:cs typeface="Arial MT"/>
              </a:rPr>
              <a:t>🞄</a:t>
            </a:r>
            <a:r>
              <a:rPr sz="2200" spc="30" dirty="0">
                <a:solidFill>
                  <a:srgbClr val="40B9D2"/>
                </a:solidFill>
                <a:latin typeface="Arial MT"/>
                <a:cs typeface="Arial MT"/>
              </a:rPr>
              <a:t> </a:t>
            </a:r>
            <a:r>
              <a:rPr sz="2200" dirty="0">
                <a:latin typeface="Cambria"/>
                <a:cs typeface="Cambria"/>
              </a:rPr>
              <a:t>Decide</a:t>
            </a:r>
            <a:r>
              <a:rPr sz="2200" spc="-110" dirty="0">
                <a:latin typeface="Cambria"/>
                <a:cs typeface="Cambria"/>
              </a:rPr>
              <a:t> </a:t>
            </a:r>
            <a:r>
              <a:rPr sz="2200" dirty="0">
                <a:latin typeface="Cambria"/>
                <a:cs typeface="Cambria"/>
              </a:rPr>
              <a:t>what</a:t>
            </a:r>
            <a:r>
              <a:rPr sz="2200" spc="-40" dirty="0">
                <a:latin typeface="Cambria"/>
                <a:cs typeface="Cambria"/>
              </a:rPr>
              <a:t> </a:t>
            </a:r>
            <a:r>
              <a:rPr sz="2200" dirty="0">
                <a:latin typeface="Cambria"/>
                <a:cs typeface="Cambria"/>
              </a:rPr>
              <a:t>values</a:t>
            </a:r>
            <a:r>
              <a:rPr sz="2200" spc="-35" dirty="0">
                <a:latin typeface="Cambria"/>
                <a:cs typeface="Cambria"/>
              </a:rPr>
              <a:t> </a:t>
            </a:r>
            <a:r>
              <a:rPr sz="2200" dirty="0">
                <a:latin typeface="Cambria"/>
                <a:cs typeface="Cambria"/>
              </a:rPr>
              <a:t>to</a:t>
            </a:r>
            <a:r>
              <a:rPr sz="2200" spc="-35" dirty="0">
                <a:latin typeface="Cambria"/>
                <a:cs typeface="Cambria"/>
              </a:rPr>
              <a:t> </a:t>
            </a:r>
            <a:r>
              <a:rPr sz="2200" dirty="0">
                <a:latin typeface="Cambria"/>
                <a:cs typeface="Cambria"/>
              </a:rPr>
              <a:t>keep</a:t>
            </a:r>
            <a:r>
              <a:rPr sz="2200" spc="-45" dirty="0">
                <a:latin typeface="Cambria"/>
                <a:cs typeface="Cambria"/>
              </a:rPr>
              <a:t> </a:t>
            </a:r>
            <a:r>
              <a:rPr sz="2200" dirty="0">
                <a:latin typeface="Cambria"/>
                <a:cs typeface="Cambria"/>
              </a:rPr>
              <a:t>in</a:t>
            </a:r>
            <a:r>
              <a:rPr sz="2200" spc="-55" dirty="0">
                <a:latin typeface="Cambria"/>
                <a:cs typeface="Cambria"/>
              </a:rPr>
              <a:t> </a:t>
            </a:r>
            <a:r>
              <a:rPr sz="2200" dirty="0">
                <a:latin typeface="Cambria"/>
                <a:cs typeface="Cambria"/>
              </a:rPr>
              <a:t>which</a:t>
            </a:r>
            <a:r>
              <a:rPr sz="2200" spc="-40" dirty="0">
                <a:latin typeface="Cambria"/>
                <a:cs typeface="Cambria"/>
              </a:rPr>
              <a:t> </a:t>
            </a:r>
            <a:r>
              <a:rPr sz="2200" spc="-10" dirty="0">
                <a:latin typeface="Cambria"/>
                <a:cs typeface="Cambria"/>
              </a:rPr>
              <a:t>registers.</a:t>
            </a:r>
            <a:endParaRPr sz="2200">
              <a:latin typeface="Cambria"/>
              <a:cs typeface="Cambria"/>
            </a:endParaRPr>
          </a:p>
          <a:p>
            <a:pPr marL="12700">
              <a:lnSpc>
                <a:spcPct val="100000"/>
              </a:lnSpc>
              <a:spcBef>
                <a:spcPts val="12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Instruction</a:t>
            </a:r>
            <a:r>
              <a:rPr sz="2400" spc="-100" dirty="0">
                <a:latin typeface="Cambria"/>
                <a:cs typeface="Cambria"/>
              </a:rPr>
              <a:t> </a:t>
            </a:r>
            <a:r>
              <a:rPr sz="2400" spc="-10" dirty="0">
                <a:latin typeface="Cambria"/>
                <a:cs typeface="Cambria"/>
              </a:rPr>
              <a:t>ordering:</a:t>
            </a:r>
            <a:endParaRPr sz="2400">
              <a:latin typeface="Cambria"/>
              <a:cs typeface="Cambria"/>
            </a:endParaRPr>
          </a:p>
          <a:p>
            <a:pPr marL="515620">
              <a:lnSpc>
                <a:spcPts val="2510"/>
              </a:lnSpc>
              <a:spcBef>
                <a:spcPts val="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Decide</a:t>
            </a:r>
            <a:r>
              <a:rPr sz="2200" spc="-110" dirty="0">
                <a:latin typeface="Cambria"/>
                <a:cs typeface="Cambria"/>
              </a:rPr>
              <a:t> </a:t>
            </a:r>
            <a:r>
              <a:rPr sz="2200" dirty="0">
                <a:latin typeface="Cambria"/>
                <a:cs typeface="Cambria"/>
              </a:rPr>
              <a:t>in</a:t>
            </a:r>
            <a:r>
              <a:rPr sz="2200" spc="-50" dirty="0">
                <a:latin typeface="Cambria"/>
                <a:cs typeface="Cambria"/>
              </a:rPr>
              <a:t> </a:t>
            </a:r>
            <a:r>
              <a:rPr sz="2200" dirty="0">
                <a:latin typeface="Cambria"/>
                <a:cs typeface="Cambria"/>
              </a:rPr>
              <a:t>what</a:t>
            </a:r>
            <a:r>
              <a:rPr sz="2200" spc="-55" dirty="0">
                <a:latin typeface="Cambria"/>
                <a:cs typeface="Cambria"/>
              </a:rPr>
              <a:t> </a:t>
            </a:r>
            <a:r>
              <a:rPr sz="2200" dirty="0">
                <a:latin typeface="Cambria"/>
                <a:cs typeface="Cambria"/>
              </a:rPr>
              <a:t>order</a:t>
            </a:r>
            <a:r>
              <a:rPr sz="2200" spc="-35" dirty="0">
                <a:latin typeface="Cambria"/>
                <a:cs typeface="Cambria"/>
              </a:rPr>
              <a:t> </a:t>
            </a:r>
            <a:r>
              <a:rPr sz="2200" dirty="0">
                <a:latin typeface="Cambria"/>
                <a:cs typeface="Cambria"/>
              </a:rPr>
              <a:t>to</a:t>
            </a:r>
            <a:r>
              <a:rPr sz="2200" spc="-50" dirty="0">
                <a:latin typeface="Cambria"/>
                <a:cs typeface="Cambria"/>
              </a:rPr>
              <a:t> </a:t>
            </a:r>
            <a:r>
              <a:rPr sz="2200" dirty="0">
                <a:latin typeface="Cambria"/>
                <a:cs typeface="Cambria"/>
              </a:rPr>
              <a:t>schedule</a:t>
            </a:r>
            <a:r>
              <a:rPr sz="2200" spc="-25" dirty="0">
                <a:latin typeface="Cambria"/>
                <a:cs typeface="Cambria"/>
              </a:rPr>
              <a:t> </a:t>
            </a:r>
            <a:r>
              <a:rPr sz="2200" dirty="0">
                <a:latin typeface="Cambria"/>
                <a:cs typeface="Cambria"/>
              </a:rPr>
              <a:t>the</a:t>
            </a:r>
            <a:r>
              <a:rPr sz="2200" spc="-55" dirty="0">
                <a:latin typeface="Cambria"/>
                <a:cs typeface="Cambria"/>
              </a:rPr>
              <a:t> </a:t>
            </a:r>
            <a:r>
              <a:rPr sz="2200" spc="-10" dirty="0">
                <a:latin typeface="Cambria"/>
                <a:cs typeface="Cambria"/>
              </a:rPr>
              <a:t>execution</a:t>
            </a:r>
            <a:r>
              <a:rPr sz="2200" spc="-30" dirty="0">
                <a:latin typeface="Cambria"/>
                <a:cs typeface="Cambria"/>
              </a:rPr>
              <a:t> </a:t>
            </a:r>
            <a:r>
              <a:rPr sz="2200" spc="-25" dirty="0">
                <a:latin typeface="Cambria"/>
                <a:cs typeface="Cambria"/>
              </a:rPr>
              <a:t>of</a:t>
            </a:r>
            <a:endParaRPr sz="2200">
              <a:latin typeface="Cambria"/>
              <a:cs typeface="Cambria"/>
            </a:endParaRPr>
          </a:p>
          <a:p>
            <a:pPr marL="698500">
              <a:lnSpc>
                <a:spcPts val="2510"/>
              </a:lnSpc>
            </a:pPr>
            <a:r>
              <a:rPr sz="2200" spc="-10" dirty="0">
                <a:latin typeface="Cambria"/>
                <a:cs typeface="Cambria"/>
              </a:rPr>
              <a:t>instructions.</a:t>
            </a:r>
            <a:endParaRPr sz="2200">
              <a:latin typeface="Cambria"/>
              <a:cs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015365">
              <a:lnSpc>
                <a:spcPts val="3779"/>
              </a:lnSpc>
            </a:pPr>
            <a:r>
              <a:rPr sz="3600" b="1" spc="-20" dirty="0">
                <a:solidFill>
                  <a:srgbClr val="FFFFFF"/>
                </a:solidFill>
                <a:latin typeface="Cambria"/>
                <a:cs typeface="Cambria"/>
              </a:rPr>
              <a:t>Code </a:t>
            </a:r>
            <a:r>
              <a:rPr sz="3600" b="1" spc="-75" dirty="0">
                <a:solidFill>
                  <a:srgbClr val="FFFFFF"/>
                </a:solidFill>
                <a:latin typeface="Cambria"/>
                <a:cs typeface="Cambria"/>
              </a:rPr>
              <a:t>Generator</a:t>
            </a:r>
            <a:endParaRPr sz="3600">
              <a:latin typeface="Cambria"/>
              <a:cs typeface="Cambria"/>
            </a:endParaRPr>
          </a:p>
        </p:txBody>
      </p:sp>
      <p:sp>
        <p:nvSpPr>
          <p:cNvPr id="3" name="object 3"/>
          <p:cNvSpPr txBox="1">
            <a:spLocks noGrp="1"/>
          </p:cNvSpPr>
          <p:nvPr>
            <p:ph type="title"/>
          </p:nvPr>
        </p:nvSpPr>
        <p:spPr>
          <a:xfrm>
            <a:off x="3948429" y="2466847"/>
            <a:ext cx="5751195" cy="391160"/>
          </a:xfrm>
          <a:prstGeom prst="rect">
            <a:avLst/>
          </a:prstGeom>
        </p:spPr>
        <p:txBody>
          <a:bodyPr vert="horz" wrap="square" lIns="0" tIns="12700" rIns="0" bIns="0" rtlCol="0">
            <a:spAutoFit/>
          </a:bodyPr>
          <a:lstStyle/>
          <a:p>
            <a:pPr marL="12700">
              <a:lnSpc>
                <a:spcPct val="100000"/>
              </a:lnSpc>
              <a:spcBef>
                <a:spcPts val="100"/>
              </a:spcBef>
            </a:pPr>
            <a:r>
              <a:rPr spc="-35" dirty="0"/>
              <a:t>Target</a:t>
            </a:r>
            <a:r>
              <a:rPr spc="-100" dirty="0"/>
              <a:t> </a:t>
            </a:r>
            <a:r>
              <a:rPr dirty="0"/>
              <a:t>code</a:t>
            </a:r>
            <a:r>
              <a:rPr spc="-70" dirty="0"/>
              <a:t> </a:t>
            </a:r>
            <a:r>
              <a:rPr dirty="0"/>
              <a:t>should</a:t>
            </a:r>
            <a:r>
              <a:rPr spc="-70" dirty="0"/>
              <a:t> </a:t>
            </a:r>
            <a:r>
              <a:rPr spc="-10" dirty="0"/>
              <a:t>have</a:t>
            </a:r>
            <a:r>
              <a:rPr spc="-80" dirty="0"/>
              <a:t> </a:t>
            </a:r>
            <a:r>
              <a:rPr dirty="0"/>
              <a:t>following</a:t>
            </a:r>
            <a:r>
              <a:rPr spc="-90" dirty="0"/>
              <a:t> </a:t>
            </a:r>
            <a:r>
              <a:rPr spc="-10" dirty="0"/>
              <a:t>property:</a:t>
            </a:r>
          </a:p>
        </p:txBody>
      </p:sp>
      <p:sp>
        <p:nvSpPr>
          <p:cNvPr id="4" name="object 4"/>
          <p:cNvSpPr txBox="1"/>
          <p:nvPr/>
        </p:nvSpPr>
        <p:spPr>
          <a:xfrm>
            <a:off x="4451350" y="2793898"/>
            <a:ext cx="4890770" cy="1537970"/>
          </a:xfrm>
          <a:prstGeom prst="rect">
            <a:avLst/>
          </a:prstGeom>
        </p:spPr>
        <p:txBody>
          <a:bodyPr vert="horz" wrap="square" lIns="0" tIns="55244" rIns="0" bIns="0" rtlCol="0">
            <a:spAutoFit/>
          </a:bodyPr>
          <a:lstStyle/>
          <a:p>
            <a:pPr marL="12700">
              <a:lnSpc>
                <a:spcPct val="100000"/>
              </a:lnSpc>
              <a:spcBef>
                <a:spcPts val="434"/>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Correctness</a:t>
            </a:r>
            <a:endParaRPr sz="2200">
              <a:latin typeface="Cambria"/>
              <a:cs typeface="Cambria"/>
            </a:endParaRPr>
          </a:p>
          <a:p>
            <a:pPr marL="12700">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High</a:t>
            </a:r>
            <a:r>
              <a:rPr sz="2200" spc="-65" dirty="0">
                <a:latin typeface="Cambria"/>
                <a:cs typeface="Cambria"/>
              </a:rPr>
              <a:t> </a:t>
            </a:r>
            <a:r>
              <a:rPr sz="2200" spc="-10" dirty="0">
                <a:latin typeface="Cambria"/>
                <a:cs typeface="Cambria"/>
              </a:rPr>
              <a:t>quality</a:t>
            </a:r>
            <a:endParaRPr sz="2200">
              <a:latin typeface="Cambria"/>
              <a:cs typeface="Cambria"/>
            </a:endParaRPr>
          </a:p>
          <a:p>
            <a:pPr marL="12700">
              <a:lnSpc>
                <a:spcPct val="100000"/>
              </a:lnSpc>
              <a:spcBef>
                <a:spcPts val="3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Efficient</a:t>
            </a:r>
            <a:r>
              <a:rPr sz="2200" spc="-65" dirty="0">
                <a:latin typeface="Cambria"/>
                <a:cs typeface="Cambria"/>
              </a:rPr>
              <a:t> </a:t>
            </a:r>
            <a:r>
              <a:rPr sz="2200" dirty="0">
                <a:latin typeface="Cambria"/>
                <a:cs typeface="Cambria"/>
              </a:rPr>
              <a:t>use</a:t>
            </a:r>
            <a:r>
              <a:rPr sz="2200" spc="-35" dirty="0">
                <a:latin typeface="Cambria"/>
                <a:cs typeface="Cambria"/>
              </a:rPr>
              <a:t> </a:t>
            </a:r>
            <a:r>
              <a:rPr sz="2200" dirty="0">
                <a:latin typeface="Cambria"/>
                <a:cs typeface="Cambria"/>
              </a:rPr>
              <a:t>of</a:t>
            </a:r>
            <a:r>
              <a:rPr sz="2200" spc="-40" dirty="0">
                <a:latin typeface="Cambria"/>
                <a:cs typeface="Cambria"/>
              </a:rPr>
              <a:t> </a:t>
            </a:r>
            <a:r>
              <a:rPr sz="2200" spc="-10" dirty="0">
                <a:latin typeface="Cambria"/>
                <a:cs typeface="Cambria"/>
              </a:rPr>
              <a:t>resources </a:t>
            </a:r>
            <a:r>
              <a:rPr sz="2200" dirty="0">
                <a:latin typeface="Cambria"/>
                <a:cs typeface="Cambria"/>
              </a:rPr>
              <a:t>of</a:t>
            </a:r>
            <a:r>
              <a:rPr sz="2200" spc="-40" dirty="0">
                <a:latin typeface="Cambria"/>
                <a:cs typeface="Cambria"/>
              </a:rPr>
              <a:t> </a:t>
            </a:r>
            <a:r>
              <a:rPr sz="2200" dirty="0">
                <a:latin typeface="Cambria"/>
                <a:cs typeface="Cambria"/>
              </a:rPr>
              <a:t>target</a:t>
            </a:r>
            <a:r>
              <a:rPr sz="2200" spc="-10" dirty="0">
                <a:latin typeface="Cambria"/>
                <a:cs typeface="Cambria"/>
              </a:rPr>
              <a:t> </a:t>
            </a:r>
            <a:r>
              <a:rPr sz="2200" spc="-20" dirty="0">
                <a:latin typeface="Cambria"/>
                <a:cs typeface="Cambria"/>
              </a:rPr>
              <a:t>code</a:t>
            </a:r>
            <a:endParaRPr sz="2200">
              <a:latin typeface="Cambria"/>
              <a:cs typeface="Cambria"/>
            </a:endParaRPr>
          </a:p>
          <a:p>
            <a:pPr marL="12700">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Quick</a:t>
            </a:r>
            <a:r>
              <a:rPr sz="2200" spc="-65" dirty="0">
                <a:latin typeface="Cambria"/>
                <a:cs typeface="Cambria"/>
              </a:rPr>
              <a:t> </a:t>
            </a:r>
            <a:r>
              <a:rPr sz="2200" dirty="0">
                <a:latin typeface="Cambria"/>
                <a:cs typeface="Cambria"/>
              </a:rPr>
              <a:t>code</a:t>
            </a:r>
            <a:r>
              <a:rPr sz="2200" spc="-35" dirty="0">
                <a:latin typeface="Cambria"/>
                <a:cs typeface="Cambria"/>
              </a:rPr>
              <a:t> </a:t>
            </a:r>
            <a:r>
              <a:rPr sz="2200" spc="-10" dirty="0">
                <a:latin typeface="Cambria"/>
                <a:cs typeface="Cambria"/>
              </a:rPr>
              <a:t>generation</a:t>
            </a:r>
            <a:endParaRPr sz="2200">
              <a:latin typeface="Cambria"/>
              <a:cs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03348" y="2708148"/>
            <a:ext cx="7108190" cy="1831975"/>
            <a:chOff x="2403348" y="2708148"/>
            <a:chExt cx="7108190" cy="1831975"/>
          </a:xfrm>
        </p:grpSpPr>
        <p:sp>
          <p:nvSpPr>
            <p:cNvPr id="3" name="object 3"/>
            <p:cNvSpPr/>
            <p:nvPr/>
          </p:nvSpPr>
          <p:spPr>
            <a:xfrm>
              <a:off x="2408682" y="2713482"/>
              <a:ext cx="7097395" cy="1821180"/>
            </a:xfrm>
            <a:custGeom>
              <a:avLst/>
              <a:gdLst/>
              <a:ahLst/>
              <a:cxnLst/>
              <a:rect l="l" t="t" r="r" b="b"/>
              <a:pathLst>
                <a:path w="7097395" h="1821179">
                  <a:moveTo>
                    <a:pt x="6793738" y="0"/>
                  </a:moveTo>
                  <a:lnTo>
                    <a:pt x="303530" y="0"/>
                  </a:lnTo>
                  <a:lnTo>
                    <a:pt x="254294" y="3972"/>
                  </a:lnTo>
                  <a:lnTo>
                    <a:pt x="207589" y="15473"/>
                  </a:lnTo>
                  <a:lnTo>
                    <a:pt x="164038" y="33878"/>
                  </a:lnTo>
                  <a:lnTo>
                    <a:pt x="124266" y="58562"/>
                  </a:lnTo>
                  <a:lnTo>
                    <a:pt x="88900" y="88900"/>
                  </a:lnTo>
                  <a:lnTo>
                    <a:pt x="58562" y="124266"/>
                  </a:lnTo>
                  <a:lnTo>
                    <a:pt x="33878" y="164038"/>
                  </a:lnTo>
                  <a:lnTo>
                    <a:pt x="15473" y="207589"/>
                  </a:lnTo>
                  <a:lnTo>
                    <a:pt x="3972" y="254294"/>
                  </a:lnTo>
                  <a:lnTo>
                    <a:pt x="0" y="303529"/>
                  </a:lnTo>
                  <a:lnTo>
                    <a:pt x="0" y="1517649"/>
                  </a:lnTo>
                  <a:lnTo>
                    <a:pt x="3972" y="1566885"/>
                  </a:lnTo>
                  <a:lnTo>
                    <a:pt x="15473" y="1613590"/>
                  </a:lnTo>
                  <a:lnTo>
                    <a:pt x="33878" y="1657141"/>
                  </a:lnTo>
                  <a:lnTo>
                    <a:pt x="58562" y="1696913"/>
                  </a:lnTo>
                  <a:lnTo>
                    <a:pt x="88900" y="1732279"/>
                  </a:lnTo>
                  <a:lnTo>
                    <a:pt x="124266" y="1762617"/>
                  </a:lnTo>
                  <a:lnTo>
                    <a:pt x="164038" y="1787301"/>
                  </a:lnTo>
                  <a:lnTo>
                    <a:pt x="207589" y="1805706"/>
                  </a:lnTo>
                  <a:lnTo>
                    <a:pt x="254294" y="1817207"/>
                  </a:lnTo>
                  <a:lnTo>
                    <a:pt x="303530" y="1821179"/>
                  </a:lnTo>
                  <a:lnTo>
                    <a:pt x="6793738" y="1821179"/>
                  </a:lnTo>
                  <a:lnTo>
                    <a:pt x="6842973" y="1817207"/>
                  </a:lnTo>
                  <a:lnTo>
                    <a:pt x="6889678" y="1805706"/>
                  </a:lnTo>
                  <a:lnTo>
                    <a:pt x="6933229" y="1787301"/>
                  </a:lnTo>
                  <a:lnTo>
                    <a:pt x="6973001" y="1762617"/>
                  </a:lnTo>
                  <a:lnTo>
                    <a:pt x="7008367" y="1732279"/>
                  </a:lnTo>
                  <a:lnTo>
                    <a:pt x="7038705" y="1696913"/>
                  </a:lnTo>
                  <a:lnTo>
                    <a:pt x="7063389" y="1657141"/>
                  </a:lnTo>
                  <a:lnTo>
                    <a:pt x="7081794" y="1613590"/>
                  </a:lnTo>
                  <a:lnTo>
                    <a:pt x="7093295" y="1566885"/>
                  </a:lnTo>
                  <a:lnTo>
                    <a:pt x="7097268" y="1517649"/>
                  </a:lnTo>
                  <a:lnTo>
                    <a:pt x="7097268" y="303529"/>
                  </a:lnTo>
                  <a:lnTo>
                    <a:pt x="7093295" y="254294"/>
                  </a:lnTo>
                  <a:lnTo>
                    <a:pt x="7081794" y="207589"/>
                  </a:lnTo>
                  <a:lnTo>
                    <a:pt x="7063389" y="164038"/>
                  </a:lnTo>
                  <a:lnTo>
                    <a:pt x="7038705" y="124266"/>
                  </a:lnTo>
                  <a:lnTo>
                    <a:pt x="7008368" y="88900"/>
                  </a:lnTo>
                  <a:lnTo>
                    <a:pt x="6973001" y="58562"/>
                  </a:lnTo>
                  <a:lnTo>
                    <a:pt x="6933229" y="33878"/>
                  </a:lnTo>
                  <a:lnTo>
                    <a:pt x="6889678" y="15473"/>
                  </a:lnTo>
                  <a:lnTo>
                    <a:pt x="6842973" y="3972"/>
                  </a:lnTo>
                  <a:lnTo>
                    <a:pt x="6793738" y="0"/>
                  </a:lnTo>
                  <a:close/>
                </a:path>
              </a:pathLst>
            </a:custGeom>
            <a:solidFill>
              <a:srgbClr val="40B9D2"/>
            </a:solidFill>
          </p:spPr>
          <p:txBody>
            <a:bodyPr wrap="square" lIns="0" tIns="0" rIns="0" bIns="0" rtlCol="0"/>
            <a:lstStyle/>
            <a:p>
              <a:endParaRPr/>
            </a:p>
          </p:txBody>
        </p:sp>
        <p:sp>
          <p:nvSpPr>
            <p:cNvPr id="4" name="object 4"/>
            <p:cNvSpPr/>
            <p:nvPr/>
          </p:nvSpPr>
          <p:spPr>
            <a:xfrm>
              <a:off x="2408682" y="2713482"/>
              <a:ext cx="7097395" cy="1821180"/>
            </a:xfrm>
            <a:custGeom>
              <a:avLst/>
              <a:gdLst/>
              <a:ahLst/>
              <a:cxnLst/>
              <a:rect l="l" t="t" r="r" b="b"/>
              <a:pathLst>
                <a:path w="7097395" h="1821179">
                  <a:moveTo>
                    <a:pt x="0" y="303529"/>
                  </a:moveTo>
                  <a:lnTo>
                    <a:pt x="3972" y="254294"/>
                  </a:lnTo>
                  <a:lnTo>
                    <a:pt x="15473" y="207589"/>
                  </a:lnTo>
                  <a:lnTo>
                    <a:pt x="33878" y="164038"/>
                  </a:lnTo>
                  <a:lnTo>
                    <a:pt x="58562" y="124266"/>
                  </a:lnTo>
                  <a:lnTo>
                    <a:pt x="88900" y="88900"/>
                  </a:lnTo>
                  <a:lnTo>
                    <a:pt x="124266" y="58562"/>
                  </a:lnTo>
                  <a:lnTo>
                    <a:pt x="164038" y="33878"/>
                  </a:lnTo>
                  <a:lnTo>
                    <a:pt x="207589" y="15473"/>
                  </a:lnTo>
                  <a:lnTo>
                    <a:pt x="254294" y="3972"/>
                  </a:lnTo>
                  <a:lnTo>
                    <a:pt x="303530" y="0"/>
                  </a:lnTo>
                  <a:lnTo>
                    <a:pt x="6793738" y="0"/>
                  </a:lnTo>
                  <a:lnTo>
                    <a:pt x="6842973" y="3972"/>
                  </a:lnTo>
                  <a:lnTo>
                    <a:pt x="6889678" y="15473"/>
                  </a:lnTo>
                  <a:lnTo>
                    <a:pt x="6933229" y="33878"/>
                  </a:lnTo>
                  <a:lnTo>
                    <a:pt x="6973001" y="58562"/>
                  </a:lnTo>
                  <a:lnTo>
                    <a:pt x="7008368" y="88900"/>
                  </a:lnTo>
                  <a:lnTo>
                    <a:pt x="7038705" y="124266"/>
                  </a:lnTo>
                  <a:lnTo>
                    <a:pt x="7063389" y="164038"/>
                  </a:lnTo>
                  <a:lnTo>
                    <a:pt x="7081794" y="207589"/>
                  </a:lnTo>
                  <a:lnTo>
                    <a:pt x="7093295" y="254294"/>
                  </a:lnTo>
                  <a:lnTo>
                    <a:pt x="7097268" y="303529"/>
                  </a:lnTo>
                  <a:lnTo>
                    <a:pt x="7097268" y="1517649"/>
                  </a:lnTo>
                  <a:lnTo>
                    <a:pt x="7093295" y="1566885"/>
                  </a:lnTo>
                  <a:lnTo>
                    <a:pt x="7081794" y="1613590"/>
                  </a:lnTo>
                  <a:lnTo>
                    <a:pt x="7063389" y="1657141"/>
                  </a:lnTo>
                  <a:lnTo>
                    <a:pt x="7038705" y="1696913"/>
                  </a:lnTo>
                  <a:lnTo>
                    <a:pt x="7008367" y="1732279"/>
                  </a:lnTo>
                  <a:lnTo>
                    <a:pt x="6973001" y="1762617"/>
                  </a:lnTo>
                  <a:lnTo>
                    <a:pt x="6933229" y="1787301"/>
                  </a:lnTo>
                  <a:lnTo>
                    <a:pt x="6889678" y="1805706"/>
                  </a:lnTo>
                  <a:lnTo>
                    <a:pt x="6842973" y="1817207"/>
                  </a:lnTo>
                  <a:lnTo>
                    <a:pt x="6793738" y="1821179"/>
                  </a:lnTo>
                  <a:lnTo>
                    <a:pt x="303530" y="1821179"/>
                  </a:lnTo>
                  <a:lnTo>
                    <a:pt x="254294" y="1817207"/>
                  </a:lnTo>
                  <a:lnTo>
                    <a:pt x="207589" y="1805706"/>
                  </a:lnTo>
                  <a:lnTo>
                    <a:pt x="164038" y="1787301"/>
                  </a:lnTo>
                  <a:lnTo>
                    <a:pt x="124266" y="1762617"/>
                  </a:lnTo>
                  <a:lnTo>
                    <a:pt x="88900" y="1732279"/>
                  </a:lnTo>
                  <a:lnTo>
                    <a:pt x="58562" y="1696913"/>
                  </a:lnTo>
                  <a:lnTo>
                    <a:pt x="33878" y="1657141"/>
                  </a:lnTo>
                  <a:lnTo>
                    <a:pt x="15473" y="1613590"/>
                  </a:lnTo>
                  <a:lnTo>
                    <a:pt x="3972" y="1566885"/>
                  </a:lnTo>
                  <a:lnTo>
                    <a:pt x="0" y="1517649"/>
                  </a:lnTo>
                  <a:lnTo>
                    <a:pt x="0" y="303529"/>
                  </a:lnTo>
                  <a:close/>
                </a:path>
              </a:pathLst>
            </a:custGeom>
            <a:ln w="10668">
              <a:solidFill>
                <a:srgbClr val="2C879A"/>
              </a:solidFill>
            </a:ln>
          </p:spPr>
          <p:txBody>
            <a:bodyPr wrap="square" lIns="0" tIns="0" rIns="0" bIns="0" rtlCol="0"/>
            <a:lstStyle/>
            <a:p>
              <a:endParaRPr/>
            </a:p>
          </p:txBody>
        </p:sp>
      </p:grpSp>
      <p:sp>
        <p:nvSpPr>
          <p:cNvPr id="5" name="object 5"/>
          <p:cNvSpPr txBox="1">
            <a:spLocks noGrp="1"/>
          </p:cNvSpPr>
          <p:nvPr>
            <p:ph type="title"/>
          </p:nvPr>
        </p:nvSpPr>
        <p:spPr>
          <a:xfrm>
            <a:off x="2723514" y="3205733"/>
            <a:ext cx="6464300" cy="756920"/>
          </a:xfrm>
          <a:prstGeom prst="rect">
            <a:avLst/>
          </a:prstGeom>
        </p:spPr>
        <p:txBody>
          <a:bodyPr vert="horz" wrap="square" lIns="0" tIns="12700" rIns="0" bIns="0" rtlCol="0">
            <a:spAutoFit/>
          </a:bodyPr>
          <a:lstStyle/>
          <a:p>
            <a:pPr marL="12700">
              <a:lnSpc>
                <a:spcPct val="100000"/>
              </a:lnSpc>
              <a:spcBef>
                <a:spcPts val="100"/>
              </a:spcBef>
            </a:pPr>
            <a:r>
              <a:rPr sz="4800" dirty="0">
                <a:solidFill>
                  <a:srgbClr val="FFFFFF"/>
                </a:solidFill>
                <a:latin typeface="Corbel"/>
                <a:cs typeface="Corbel"/>
              </a:rPr>
              <a:t>Issues</a:t>
            </a:r>
            <a:r>
              <a:rPr sz="4800" spc="-40" dirty="0">
                <a:solidFill>
                  <a:srgbClr val="FFFFFF"/>
                </a:solidFill>
                <a:latin typeface="Corbel"/>
                <a:cs typeface="Corbel"/>
              </a:rPr>
              <a:t> </a:t>
            </a:r>
            <a:r>
              <a:rPr sz="4800" dirty="0">
                <a:solidFill>
                  <a:srgbClr val="FFFFFF"/>
                </a:solidFill>
                <a:latin typeface="Corbel"/>
                <a:cs typeface="Corbel"/>
              </a:rPr>
              <a:t>in</a:t>
            </a:r>
            <a:r>
              <a:rPr sz="4800" spc="-215" dirty="0">
                <a:solidFill>
                  <a:srgbClr val="FFFFFF"/>
                </a:solidFill>
                <a:latin typeface="Corbel"/>
                <a:cs typeface="Corbel"/>
              </a:rPr>
              <a:t> </a:t>
            </a:r>
            <a:r>
              <a:rPr sz="4800" spc="-20" dirty="0">
                <a:solidFill>
                  <a:srgbClr val="FFFFFF"/>
                </a:solidFill>
                <a:latin typeface="Corbel"/>
                <a:cs typeface="Corbel"/>
              </a:rPr>
              <a:t>Code</a:t>
            </a:r>
            <a:r>
              <a:rPr sz="4800" spc="-215" dirty="0">
                <a:solidFill>
                  <a:srgbClr val="FFFFFF"/>
                </a:solidFill>
                <a:latin typeface="Corbel"/>
                <a:cs typeface="Corbel"/>
              </a:rPr>
              <a:t> </a:t>
            </a:r>
            <a:r>
              <a:rPr sz="4800" spc="-10" dirty="0">
                <a:solidFill>
                  <a:srgbClr val="FFFFFF"/>
                </a:solidFill>
                <a:latin typeface="Corbel"/>
                <a:cs typeface="Corbel"/>
              </a:rPr>
              <a:t>Generation</a:t>
            </a:r>
            <a:endParaRPr sz="4800">
              <a:latin typeface="Corbel"/>
              <a:cs typeface="Corbe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808990">
              <a:lnSpc>
                <a:spcPct val="88800"/>
              </a:lnSpc>
            </a:pPr>
            <a:r>
              <a:rPr sz="3600" b="1" spc="-55" dirty="0">
                <a:solidFill>
                  <a:srgbClr val="FFFFFF"/>
                </a:solidFill>
                <a:latin typeface="Cambria"/>
                <a:cs typeface="Cambria"/>
              </a:rPr>
              <a:t>Issues</a:t>
            </a:r>
            <a:r>
              <a:rPr sz="3600" b="1" spc="-145" dirty="0">
                <a:solidFill>
                  <a:srgbClr val="FFFFFF"/>
                </a:solidFill>
                <a:latin typeface="Cambria"/>
                <a:cs typeface="Cambria"/>
              </a:rPr>
              <a:t> </a:t>
            </a:r>
            <a:r>
              <a:rPr sz="3600" b="1" spc="-25" dirty="0">
                <a:solidFill>
                  <a:srgbClr val="FFFFFF"/>
                </a:solidFill>
                <a:latin typeface="Cambria"/>
                <a:cs typeface="Cambria"/>
              </a:rPr>
              <a:t>in </a:t>
            </a:r>
            <a:r>
              <a:rPr sz="3600" b="1" spc="-20" dirty="0">
                <a:solidFill>
                  <a:srgbClr val="FFFFFF"/>
                </a:solidFill>
                <a:latin typeface="Cambria"/>
                <a:cs typeface="Cambria"/>
              </a:rPr>
              <a:t>Code </a:t>
            </a:r>
            <a:r>
              <a:rPr sz="3600" b="1" spc="-70" dirty="0">
                <a:solidFill>
                  <a:srgbClr val="FFFFFF"/>
                </a:solidFill>
                <a:latin typeface="Cambria"/>
                <a:cs typeface="Cambria"/>
              </a:rPr>
              <a:t>Generation</a:t>
            </a:r>
            <a:endParaRPr sz="3600">
              <a:latin typeface="Cambria"/>
              <a:cs typeface="Cambria"/>
            </a:endParaRPr>
          </a:p>
        </p:txBody>
      </p:sp>
      <p:sp>
        <p:nvSpPr>
          <p:cNvPr id="3" name="object 3"/>
          <p:cNvSpPr txBox="1">
            <a:spLocks noGrp="1"/>
          </p:cNvSpPr>
          <p:nvPr>
            <p:ph type="title"/>
          </p:nvPr>
        </p:nvSpPr>
        <p:spPr>
          <a:xfrm>
            <a:off x="3948429" y="1517345"/>
            <a:ext cx="5507355" cy="391795"/>
          </a:xfrm>
          <a:prstGeom prst="rect">
            <a:avLst/>
          </a:prstGeom>
        </p:spPr>
        <p:txBody>
          <a:bodyPr vert="horz" wrap="square" lIns="0" tIns="12700" rIns="0" bIns="0" rtlCol="0">
            <a:spAutoFit/>
          </a:bodyPr>
          <a:lstStyle/>
          <a:p>
            <a:pPr marL="12700">
              <a:lnSpc>
                <a:spcPct val="100000"/>
              </a:lnSpc>
              <a:spcBef>
                <a:spcPts val="100"/>
              </a:spcBef>
            </a:pPr>
            <a:r>
              <a:rPr b="1" dirty="0">
                <a:latin typeface="Cambria"/>
                <a:cs typeface="Cambria"/>
              </a:rPr>
              <a:t>Issues</a:t>
            </a:r>
            <a:r>
              <a:rPr b="1" spc="-35" dirty="0">
                <a:latin typeface="Cambria"/>
                <a:cs typeface="Cambria"/>
              </a:rPr>
              <a:t> </a:t>
            </a:r>
            <a:r>
              <a:rPr b="1" dirty="0">
                <a:latin typeface="Cambria"/>
                <a:cs typeface="Cambria"/>
              </a:rPr>
              <a:t>in</a:t>
            </a:r>
            <a:r>
              <a:rPr b="1" spc="-40" dirty="0">
                <a:latin typeface="Cambria"/>
                <a:cs typeface="Cambria"/>
              </a:rPr>
              <a:t> </a:t>
            </a:r>
            <a:r>
              <a:rPr b="1" dirty="0">
                <a:latin typeface="Cambria"/>
                <a:cs typeface="Cambria"/>
              </a:rPr>
              <a:t>design</a:t>
            </a:r>
            <a:r>
              <a:rPr b="1" spc="-30" dirty="0">
                <a:latin typeface="Cambria"/>
                <a:cs typeface="Cambria"/>
              </a:rPr>
              <a:t> </a:t>
            </a:r>
            <a:r>
              <a:rPr b="1" dirty="0">
                <a:latin typeface="Cambria"/>
                <a:cs typeface="Cambria"/>
              </a:rPr>
              <a:t>of</a:t>
            </a:r>
            <a:r>
              <a:rPr b="1" spc="-35" dirty="0">
                <a:latin typeface="Cambria"/>
                <a:cs typeface="Cambria"/>
              </a:rPr>
              <a:t> </a:t>
            </a:r>
            <a:r>
              <a:rPr b="1" dirty="0">
                <a:latin typeface="Cambria"/>
                <a:cs typeface="Cambria"/>
              </a:rPr>
              <a:t>code</a:t>
            </a:r>
            <a:r>
              <a:rPr b="1" spc="-55" dirty="0">
                <a:latin typeface="Cambria"/>
                <a:cs typeface="Cambria"/>
              </a:rPr>
              <a:t> </a:t>
            </a:r>
            <a:r>
              <a:rPr b="1" dirty="0">
                <a:latin typeface="Cambria"/>
                <a:cs typeface="Cambria"/>
              </a:rPr>
              <a:t>generation</a:t>
            </a:r>
            <a:r>
              <a:rPr b="1" spc="-30" dirty="0">
                <a:latin typeface="Cambria"/>
                <a:cs typeface="Cambria"/>
              </a:rPr>
              <a:t> </a:t>
            </a:r>
            <a:r>
              <a:rPr b="1" spc="-20" dirty="0">
                <a:latin typeface="Cambria"/>
                <a:cs typeface="Cambria"/>
              </a:rPr>
              <a:t>are:</a:t>
            </a:r>
          </a:p>
        </p:txBody>
      </p:sp>
      <p:sp>
        <p:nvSpPr>
          <p:cNvPr id="4" name="object 4"/>
          <p:cNvSpPr txBox="1"/>
          <p:nvPr/>
        </p:nvSpPr>
        <p:spPr>
          <a:xfrm>
            <a:off x="3948429" y="1883791"/>
            <a:ext cx="4244340" cy="3397250"/>
          </a:xfrm>
          <a:prstGeom prst="rect">
            <a:avLst/>
          </a:prstGeom>
        </p:spPr>
        <p:txBody>
          <a:bodyPr vert="horz" wrap="square" lIns="0" tIns="128270" rIns="0" bIns="0" rtlCol="0">
            <a:spAutoFit/>
          </a:bodyPr>
          <a:lstStyle/>
          <a:p>
            <a:pPr marL="12700">
              <a:lnSpc>
                <a:spcPct val="100000"/>
              </a:lnSpc>
              <a:spcBef>
                <a:spcPts val="10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Input</a:t>
            </a:r>
            <a:r>
              <a:rPr sz="2400" spc="-70" dirty="0">
                <a:latin typeface="Cambria"/>
                <a:cs typeface="Cambria"/>
              </a:rPr>
              <a:t> </a:t>
            </a:r>
            <a:r>
              <a:rPr sz="2400" dirty="0">
                <a:latin typeface="Cambria"/>
                <a:cs typeface="Cambria"/>
              </a:rPr>
              <a:t>to</a:t>
            </a:r>
            <a:r>
              <a:rPr sz="2400" spc="-30" dirty="0">
                <a:latin typeface="Cambria"/>
                <a:cs typeface="Cambria"/>
              </a:rPr>
              <a:t> </a:t>
            </a:r>
            <a:r>
              <a:rPr sz="2400" dirty="0">
                <a:latin typeface="Cambria"/>
                <a:cs typeface="Cambria"/>
              </a:rPr>
              <a:t>the</a:t>
            </a:r>
            <a:r>
              <a:rPr sz="2400" spc="-30" dirty="0">
                <a:latin typeface="Cambria"/>
                <a:cs typeface="Cambria"/>
              </a:rPr>
              <a:t> </a:t>
            </a:r>
            <a:r>
              <a:rPr sz="2400" dirty="0">
                <a:latin typeface="Cambria"/>
                <a:cs typeface="Cambria"/>
              </a:rPr>
              <a:t>code</a:t>
            </a:r>
            <a:r>
              <a:rPr sz="2400" spc="-20" dirty="0">
                <a:latin typeface="Cambria"/>
                <a:cs typeface="Cambria"/>
              </a:rPr>
              <a:t> </a:t>
            </a:r>
            <a:r>
              <a:rPr sz="2400" spc="-10" dirty="0">
                <a:latin typeface="Cambria"/>
                <a:cs typeface="Cambria"/>
              </a:rPr>
              <a:t>generator</a:t>
            </a:r>
            <a:endParaRPr sz="240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35" dirty="0">
                <a:latin typeface="Cambria"/>
                <a:cs typeface="Cambria"/>
              </a:rPr>
              <a:t>Target</a:t>
            </a:r>
            <a:r>
              <a:rPr sz="2400" spc="-90" dirty="0">
                <a:latin typeface="Cambria"/>
                <a:cs typeface="Cambria"/>
              </a:rPr>
              <a:t> </a:t>
            </a:r>
            <a:r>
              <a:rPr sz="2400" spc="-10" dirty="0">
                <a:latin typeface="Cambria"/>
                <a:cs typeface="Cambria"/>
              </a:rPr>
              <a:t>program</a:t>
            </a:r>
            <a:endParaRPr sz="240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Memory</a:t>
            </a:r>
            <a:r>
              <a:rPr sz="2400" spc="-90" dirty="0">
                <a:latin typeface="Cambria"/>
                <a:cs typeface="Cambria"/>
              </a:rPr>
              <a:t> </a:t>
            </a:r>
            <a:r>
              <a:rPr sz="2400" spc="-10" dirty="0">
                <a:latin typeface="Cambria"/>
                <a:cs typeface="Cambria"/>
              </a:rPr>
              <a:t>management</a:t>
            </a:r>
            <a:endParaRPr sz="240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Instruction</a:t>
            </a:r>
            <a:r>
              <a:rPr sz="2400" spc="-100" dirty="0">
                <a:latin typeface="Cambria"/>
                <a:cs typeface="Cambria"/>
              </a:rPr>
              <a:t> </a:t>
            </a:r>
            <a:r>
              <a:rPr sz="2400" spc="-10" dirty="0">
                <a:latin typeface="Cambria"/>
                <a:cs typeface="Cambria"/>
              </a:rPr>
              <a:t>selection</a:t>
            </a:r>
            <a:endParaRPr sz="240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Register</a:t>
            </a:r>
            <a:r>
              <a:rPr sz="2400" spc="-110" dirty="0">
                <a:latin typeface="Cambria"/>
                <a:cs typeface="Cambria"/>
              </a:rPr>
              <a:t> </a:t>
            </a:r>
            <a:r>
              <a:rPr sz="2400" spc="-10" dirty="0">
                <a:latin typeface="Cambria"/>
                <a:cs typeface="Cambria"/>
              </a:rPr>
              <a:t>allocation</a:t>
            </a:r>
            <a:endParaRPr sz="240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Choice</a:t>
            </a:r>
            <a:r>
              <a:rPr sz="2400" spc="-60" dirty="0">
                <a:latin typeface="Cambria"/>
                <a:cs typeface="Cambria"/>
              </a:rPr>
              <a:t> </a:t>
            </a:r>
            <a:r>
              <a:rPr sz="2400" dirty="0">
                <a:latin typeface="Cambria"/>
                <a:cs typeface="Cambria"/>
              </a:rPr>
              <a:t>of</a:t>
            </a:r>
            <a:r>
              <a:rPr sz="2400" spc="-40" dirty="0">
                <a:latin typeface="Cambria"/>
                <a:cs typeface="Cambria"/>
              </a:rPr>
              <a:t> </a:t>
            </a:r>
            <a:r>
              <a:rPr sz="2400" spc="-10" dirty="0">
                <a:latin typeface="Cambria"/>
                <a:cs typeface="Cambria"/>
              </a:rPr>
              <a:t>evaluation</a:t>
            </a:r>
            <a:r>
              <a:rPr sz="2400" spc="-40" dirty="0">
                <a:latin typeface="Cambria"/>
                <a:cs typeface="Cambria"/>
              </a:rPr>
              <a:t> </a:t>
            </a:r>
            <a:r>
              <a:rPr sz="2400" spc="-10" dirty="0">
                <a:latin typeface="Cambria"/>
                <a:cs typeface="Cambria"/>
              </a:rPr>
              <a:t>order</a:t>
            </a:r>
            <a:endParaRPr sz="240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Approaches</a:t>
            </a:r>
            <a:r>
              <a:rPr sz="2400" spc="-65" dirty="0">
                <a:latin typeface="Cambria"/>
                <a:cs typeface="Cambria"/>
              </a:rPr>
              <a:t> </a:t>
            </a:r>
            <a:r>
              <a:rPr sz="2400" dirty="0">
                <a:latin typeface="Cambria"/>
                <a:cs typeface="Cambria"/>
              </a:rPr>
              <a:t>to</a:t>
            </a:r>
            <a:r>
              <a:rPr sz="2400" spc="-40" dirty="0">
                <a:latin typeface="Cambria"/>
                <a:cs typeface="Cambria"/>
              </a:rPr>
              <a:t> </a:t>
            </a:r>
            <a:r>
              <a:rPr sz="2400" dirty="0">
                <a:latin typeface="Cambria"/>
                <a:cs typeface="Cambria"/>
              </a:rPr>
              <a:t>code</a:t>
            </a:r>
            <a:r>
              <a:rPr sz="2400" spc="-35" dirty="0">
                <a:latin typeface="Cambria"/>
                <a:cs typeface="Cambria"/>
              </a:rPr>
              <a:t> </a:t>
            </a:r>
            <a:r>
              <a:rPr sz="2400" spc="-10" dirty="0">
                <a:latin typeface="Cambria"/>
                <a:cs typeface="Cambria"/>
              </a:rPr>
              <a:t>generation</a:t>
            </a:r>
            <a:endParaRPr sz="2400">
              <a:latin typeface="Cambria"/>
              <a:cs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721360">
              <a:lnSpc>
                <a:spcPct val="88800"/>
              </a:lnSpc>
            </a:pPr>
            <a:r>
              <a:rPr sz="3600" b="1" spc="-60" dirty="0">
                <a:solidFill>
                  <a:srgbClr val="FFFFFF"/>
                </a:solidFill>
                <a:latin typeface="Cambria"/>
                <a:cs typeface="Cambria"/>
              </a:rPr>
              <a:t>Input</a:t>
            </a:r>
            <a:r>
              <a:rPr sz="3600" b="1" spc="-120" dirty="0">
                <a:solidFill>
                  <a:srgbClr val="FFFFFF"/>
                </a:solidFill>
                <a:latin typeface="Cambria"/>
                <a:cs typeface="Cambria"/>
              </a:rPr>
              <a:t> </a:t>
            </a:r>
            <a:r>
              <a:rPr sz="3600" b="1" spc="-50" dirty="0">
                <a:solidFill>
                  <a:srgbClr val="FFFFFF"/>
                </a:solidFill>
                <a:latin typeface="Cambria"/>
                <a:cs typeface="Cambria"/>
              </a:rPr>
              <a:t>to</a:t>
            </a:r>
            <a:r>
              <a:rPr sz="3600" b="1" spc="-135" dirty="0">
                <a:solidFill>
                  <a:srgbClr val="FFFFFF"/>
                </a:solidFill>
                <a:latin typeface="Cambria"/>
                <a:cs typeface="Cambria"/>
              </a:rPr>
              <a:t> </a:t>
            </a:r>
            <a:r>
              <a:rPr sz="3600" b="1" spc="-35" dirty="0">
                <a:solidFill>
                  <a:srgbClr val="FFFFFF"/>
                </a:solidFill>
                <a:latin typeface="Cambria"/>
                <a:cs typeface="Cambria"/>
              </a:rPr>
              <a:t>the </a:t>
            </a:r>
            <a:r>
              <a:rPr sz="3600" b="1" spc="-20" dirty="0">
                <a:solidFill>
                  <a:srgbClr val="FFFFFF"/>
                </a:solidFill>
                <a:latin typeface="Cambria"/>
                <a:cs typeface="Cambria"/>
              </a:rPr>
              <a:t>code </a:t>
            </a:r>
            <a:r>
              <a:rPr sz="3600" b="1" spc="-10" dirty="0">
                <a:solidFill>
                  <a:srgbClr val="FFFFFF"/>
                </a:solidFill>
                <a:latin typeface="Cambria"/>
                <a:cs typeface="Cambria"/>
              </a:rPr>
              <a:t>generator</a:t>
            </a:r>
            <a:endParaRPr sz="3600">
              <a:latin typeface="Cambria"/>
              <a:cs typeface="Cambria"/>
            </a:endParaRPr>
          </a:p>
        </p:txBody>
      </p:sp>
      <p:sp>
        <p:nvSpPr>
          <p:cNvPr id="3" name="object 3"/>
          <p:cNvSpPr txBox="1">
            <a:spLocks noGrp="1"/>
          </p:cNvSpPr>
          <p:nvPr>
            <p:ph type="title"/>
          </p:nvPr>
        </p:nvSpPr>
        <p:spPr>
          <a:xfrm>
            <a:off x="3672332" y="1419809"/>
            <a:ext cx="7437755"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Input</a:t>
            </a:r>
            <a:r>
              <a:rPr spc="-100" dirty="0"/>
              <a:t> </a:t>
            </a:r>
            <a:r>
              <a:rPr dirty="0"/>
              <a:t>to</a:t>
            </a:r>
            <a:r>
              <a:rPr spc="-40" dirty="0"/>
              <a:t> </a:t>
            </a:r>
            <a:r>
              <a:rPr dirty="0"/>
              <a:t>the</a:t>
            </a:r>
            <a:r>
              <a:rPr spc="-35" dirty="0"/>
              <a:t> </a:t>
            </a:r>
            <a:r>
              <a:rPr dirty="0"/>
              <a:t>code</a:t>
            </a:r>
            <a:r>
              <a:rPr spc="-30" dirty="0"/>
              <a:t> </a:t>
            </a:r>
            <a:r>
              <a:rPr dirty="0"/>
              <a:t>generator</a:t>
            </a:r>
            <a:r>
              <a:rPr spc="-75" dirty="0"/>
              <a:t> </a:t>
            </a:r>
            <a:r>
              <a:rPr dirty="0"/>
              <a:t>consists</a:t>
            </a:r>
            <a:r>
              <a:rPr spc="-30" dirty="0"/>
              <a:t> </a:t>
            </a:r>
            <a:r>
              <a:rPr dirty="0"/>
              <a:t>of</a:t>
            </a:r>
            <a:r>
              <a:rPr spc="-50" dirty="0"/>
              <a:t> </a:t>
            </a:r>
            <a:r>
              <a:rPr dirty="0"/>
              <a:t>the</a:t>
            </a:r>
            <a:r>
              <a:rPr spc="-40" dirty="0"/>
              <a:t> </a:t>
            </a:r>
            <a:r>
              <a:rPr spc="-10" dirty="0"/>
              <a:t>intermediate</a:t>
            </a:r>
          </a:p>
        </p:txBody>
      </p:sp>
      <p:sp>
        <p:nvSpPr>
          <p:cNvPr id="4" name="object 4"/>
          <p:cNvSpPr txBox="1"/>
          <p:nvPr/>
        </p:nvSpPr>
        <p:spPr>
          <a:xfrm>
            <a:off x="3672332" y="1633854"/>
            <a:ext cx="7452995" cy="3744595"/>
          </a:xfrm>
          <a:prstGeom prst="rect">
            <a:avLst/>
          </a:prstGeom>
        </p:spPr>
        <p:txBody>
          <a:bodyPr vert="horz" wrap="square" lIns="0" tIns="128270" rIns="0" bIns="0" rtlCol="0">
            <a:spAutoFit/>
          </a:bodyPr>
          <a:lstStyle/>
          <a:p>
            <a:pPr marL="194945">
              <a:lnSpc>
                <a:spcPct val="100000"/>
              </a:lnSpc>
              <a:spcBef>
                <a:spcPts val="1010"/>
              </a:spcBef>
            </a:pPr>
            <a:r>
              <a:rPr sz="2400" spc="-10" dirty="0">
                <a:latin typeface="Cambria"/>
                <a:cs typeface="Cambria"/>
              </a:rPr>
              <a:t>representation</a:t>
            </a:r>
            <a:r>
              <a:rPr sz="2400" spc="-70"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source</a:t>
            </a:r>
            <a:r>
              <a:rPr sz="2400" spc="-35" dirty="0">
                <a:latin typeface="Cambria"/>
                <a:cs typeface="Cambria"/>
              </a:rPr>
              <a:t> </a:t>
            </a:r>
            <a:r>
              <a:rPr sz="2400" spc="-10" dirty="0">
                <a:latin typeface="Cambria"/>
                <a:cs typeface="Cambria"/>
              </a:rPr>
              <a:t>program.</a:t>
            </a:r>
            <a:endParaRPr sz="240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There</a:t>
            </a:r>
            <a:r>
              <a:rPr sz="2400" spc="-105" dirty="0">
                <a:latin typeface="Cambria"/>
                <a:cs typeface="Cambria"/>
              </a:rPr>
              <a:t> </a:t>
            </a:r>
            <a:r>
              <a:rPr sz="2400" dirty="0">
                <a:latin typeface="Cambria"/>
                <a:cs typeface="Cambria"/>
              </a:rPr>
              <a:t>are</a:t>
            </a:r>
            <a:r>
              <a:rPr sz="2400" spc="-55" dirty="0">
                <a:latin typeface="Cambria"/>
                <a:cs typeface="Cambria"/>
              </a:rPr>
              <a:t> </a:t>
            </a:r>
            <a:r>
              <a:rPr sz="2400" spc="-10" dirty="0">
                <a:latin typeface="Cambria"/>
                <a:cs typeface="Cambria"/>
              </a:rPr>
              <a:t>several</a:t>
            </a:r>
            <a:r>
              <a:rPr sz="2400" spc="-55" dirty="0">
                <a:latin typeface="Cambria"/>
                <a:cs typeface="Cambria"/>
              </a:rPr>
              <a:t> </a:t>
            </a:r>
            <a:r>
              <a:rPr sz="2400" dirty="0">
                <a:latin typeface="Cambria"/>
                <a:cs typeface="Cambria"/>
              </a:rPr>
              <a:t>types</a:t>
            </a:r>
            <a:r>
              <a:rPr sz="2400" spc="-35" dirty="0">
                <a:latin typeface="Cambria"/>
                <a:cs typeface="Cambria"/>
              </a:rPr>
              <a:t> </a:t>
            </a:r>
            <a:r>
              <a:rPr sz="2400" dirty="0">
                <a:latin typeface="Cambria"/>
                <a:cs typeface="Cambria"/>
              </a:rPr>
              <a:t>for</a:t>
            </a:r>
            <a:r>
              <a:rPr sz="2400" spc="-70" dirty="0">
                <a:latin typeface="Cambria"/>
                <a:cs typeface="Cambria"/>
              </a:rPr>
              <a:t> </a:t>
            </a:r>
            <a:r>
              <a:rPr sz="2400" dirty="0">
                <a:latin typeface="Cambria"/>
                <a:cs typeface="Cambria"/>
              </a:rPr>
              <a:t>the</a:t>
            </a:r>
            <a:r>
              <a:rPr sz="2400" spc="-45" dirty="0">
                <a:latin typeface="Cambria"/>
                <a:cs typeface="Cambria"/>
              </a:rPr>
              <a:t> </a:t>
            </a:r>
            <a:r>
              <a:rPr sz="2400" spc="-10" dirty="0">
                <a:latin typeface="Cambria"/>
                <a:cs typeface="Cambria"/>
              </a:rPr>
              <a:t>intermediate</a:t>
            </a:r>
            <a:r>
              <a:rPr sz="2400" spc="-75" dirty="0">
                <a:latin typeface="Cambria"/>
                <a:cs typeface="Cambria"/>
              </a:rPr>
              <a:t> </a:t>
            </a:r>
            <a:r>
              <a:rPr sz="2400" spc="-10" dirty="0">
                <a:latin typeface="Cambria"/>
                <a:cs typeface="Cambria"/>
              </a:rPr>
              <a:t>language,</a:t>
            </a:r>
            <a:endParaRPr sz="2400">
              <a:latin typeface="Cambria"/>
              <a:cs typeface="Cambria"/>
            </a:endParaRPr>
          </a:p>
          <a:p>
            <a:pPr marL="515620">
              <a:lnSpc>
                <a:spcPct val="100000"/>
              </a:lnSpc>
              <a:spcBef>
                <a:spcPts val="3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Quadruples</a:t>
            </a:r>
            <a:endParaRPr sz="2200">
              <a:latin typeface="Cambria"/>
              <a:cs typeface="Cambria"/>
            </a:endParaRPr>
          </a:p>
          <a:p>
            <a:pPr marL="515620">
              <a:lnSpc>
                <a:spcPct val="100000"/>
              </a:lnSpc>
              <a:spcBef>
                <a:spcPts val="3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syntax</a:t>
            </a:r>
            <a:r>
              <a:rPr sz="2200" spc="-95" dirty="0">
                <a:latin typeface="Cambria"/>
                <a:cs typeface="Cambria"/>
              </a:rPr>
              <a:t> </a:t>
            </a:r>
            <a:r>
              <a:rPr sz="2200" dirty="0">
                <a:latin typeface="Cambria"/>
                <a:cs typeface="Cambria"/>
              </a:rPr>
              <a:t>trees</a:t>
            </a:r>
            <a:r>
              <a:rPr sz="2200" spc="-20" dirty="0">
                <a:latin typeface="Cambria"/>
                <a:cs typeface="Cambria"/>
              </a:rPr>
              <a:t> </a:t>
            </a:r>
            <a:r>
              <a:rPr sz="2200" dirty="0">
                <a:latin typeface="Cambria"/>
                <a:cs typeface="Cambria"/>
              </a:rPr>
              <a:t>Or</a:t>
            </a:r>
            <a:r>
              <a:rPr sz="2200" spc="-40" dirty="0">
                <a:latin typeface="Cambria"/>
                <a:cs typeface="Cambria"/>
              </a:rPr>
              <a:t> </a:t>
            </a:r>
            <a:r>
              <a:rPr sz="2200" spc="-20" dirty="0">
                <a:latin typeface="Cambria"/>
                <a:cs typeface="Cambria"/>
              </a:rPr>
              <a:t>DAGs.</a:t>
            </a:r>
            <a:endParaRPr sz="2200">
              <a:latin typeface="Cambria"/>
              <a:cs typeface="Cambria"/>
            </a:endParaRPr>
          </a:p>
          <a:p>
            <a:pPr marL="515620">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postfix</a:t>
            </a:r>
            <a:r>
              <a:rPr sz="2200" spc="-80" dirty="0">
                <a:latin typeface="Cambria"/>
                <a:cs typeface="Cambria"/>
              </a:rPr>
              <a:t> </a:t>
            </a:r>
            <a:r>
              <a:rPr sz="2200" spc="-10" dirty="0">
                <a:latin typeface="Cambria"/>
                <a:cs typeface="Cambria"/>
              </a:rPr>
              <a:t>notation</a:t>
            </a:r>
            <a:endParaRPr sz="2200">
              <a:latin typeface="Cambria"/>
              <a:cs typeface="Cambria"/>
            </a:endParaRPr>
          </a:p>
          <a:p>
            <a:pPr marL="12700">
              <a:lnSpc>
                <a:spcPts val="2735"/>
              </a:lnSpc>
              <a:spcBef>
                <a:spcPts val="12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95" dirty="0">
                <a:latin typeface="Cambria"/>
                <a:cs typeface="Cambria"/>
              </a:rPr>
              <a:t> </a:t>
            </a:r>
            <a:r>
              <a:rPr sz="2400" dirty="0">
                <a:latin typeface="Cambria"/>
                <a:cs typeface="Cambria"/>
              </a:rPr>
              <a:t>detection</a:t>
            </a:r>
            <a:r>
              <a:rPr sz="2400" spc="-60" dirty="0">
                <a:latin typeface="Cambria"/>
                <a:cs typeface="Cambria"/>
              </a:rPr>
              <a:t> </a:t>
            </a:r>
            <a:r>
              <a:rPr sz="2400" dirty="0">
                <a:latin typeface="Cambria"/>
                <a:cs typeface="Cambria"/>
              </a:rPr>
              <a:t>of</a:t>
            </a:r>
            <a:r>
              <a:rPr sz="2400" spc="-60" dirty="0">
                <a:latin typeface="Cambria"/>
                <a:cs typeface="Cambria"/>
              </a:rPr>
              <a:t> </a:t>
            </a:r>
            <a:r>
              <a:rPr sz="2400" dirty="0">
                <a:latin typeface="Cambria"/>
                <a:cs typeface="Cambria"/>
              </a:rPr>
              <a:t>semantic</a:t>
            </a:r>
            <a:r>
              <a:rPr sz="2400" spc="-45" dirty="0">
                <a:latin typeface="Cambria"/>
                <a:cs typeface="Cambria"/>
              </a:rPr>
              <a:t> </a:t>
            </a:r>
            <a:r>
              <a:rPr sz="2400" dirty="0">
                <a:latin typeface="Cambria"/>
                <a:cs typeface="Cambria"/>
              </a:rPr>
              <a:t>error</a:t>
            </a:r>
            <a:r>
              <a:rPr sz="2400" spc="-75" dirty="0">
                <a:latin typeface="Cambria"/>
                <a:cs typeface="Cambria"/>
              </a:rPr>
              <a:t> </a:t>
            </a:r>
            <a:r>
              <a:rPr sz="2400" dirty="0">
                <a:latin typeface="Cambria"/>
                <a:cs typeface="Cambria"/>
              </a:rPr>
              <a:t>should</a:t>
            </a:r>
            <a:r>
              <a:rPr sz="2400" spc="-25" dirty="0">
                <a:latin typeface="Cambria"/>
                <a:cs typeface="Cambria"/>
              </a:rPr>
              <a:t> </a:t>
            </a:r>
            <a:r>
              <a:rPr sz="2400" dirty="0">
                <a:latin typeface="Cambria"/>
                <a:cs typeface="Cambria"/>
              </a:rPr>
              <a:t>be</a:t>
            </a:r>
            <a:r>
              <a:rPr sz="2400" spc="-45" dirty="0">
                <a:latin typeface="Cambria"/>
                <a:cs typeface="Cambria"/>
              </a:rPr>
              <a:t> </a:t>
            </a:r>
            <a:r>
              <a:rPr sz="2400" dirty="0">
                <a:latin typeface="Cambria"/>
                <a:cs typeface="Cambria"/>
              </a:rPr>
              <a:t>done</a:t>
            </a:r>
            <a:r>
              <a:rPr sz="2400" spc="-45" dirty="0">
                <a:latin typeface="Cambria"/>
                <a:cs typeface="Cambria"/>
              </a:rPr>
              <a:t> </a:t>
            </a:r>
            <a:r>
              <a:rPr sz="2400" spc="-10" dirty="0">
                <a:latin typeface="Cambria"/>
                <a:cs typeface="Cambria"/>
              </a:rPr>
              <a:t>before</a:t>
            </a:r>
            <a:endParaRPr sz="2400">
              <a:latin typeface="Cambria"/>
              <a:cs typeface="Cambria"/>
            </a:endParaRPr>
          </a:p>
          <a:p>
            <a:pPr marL="194945">
              <a:lnSpc>
                <a:spcPts val="2735"/>
              </a:lnSpc>
            </a:pPr>
            <a:r>
              <a:rPr sz="2400" dirty="0">
                <a:latin typeface="Cambria"/>
                <a:cs typeface="Cambria"/>
              </a:rPr>
              <a:t>submitting</a:t>
            </a:r>
            <a:r>
              <a:rPr sz="2400" spc="-60"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input</a:t>
            </a:r>
            <a:r>
              <a:rPr sz="2400" spc="-60" dirty="0">
                <a:latin typeface="Cambria"/>
                <a:cs typeface="Cambria"/>
              </a:rPr>
              <a:t> </a:t>
            </a:r>
            <a:r>
              <a:rPr sz="2400" dirty="0">
                <a:latin typeface="Cambria"/>
                <a:cs typeface="Cambria"/>
              </a:rPr>
              <a:t>to</a:t>
            </a:r>
            <a:r>
              <a:rPr sz="2400" spc="-50" dirty="0">
                <a:latin typeface="Cambria"/>
                <a:cs typeface="Cambria"/>
              </a:rPr>
              <a:t> </a:t>
            </a:r>
            <a:r>
              <a:rPr sz="2400" dirty="0">
                <a:latin typeface="Cambria"/>
                <a:cs typeface="Cambria"/>
              </a:rPr>
              <a:t>the</a:t>
            </a:r>
            <a:r>
              <a:rPr sz="2400" spc="-60" dirty="0">
                <a:latin typeface="Cambria"/>
                <a:cs typeface="Cambria"/>
              </a:rPr>
              <a:t> </a:t>
            </a:r>
            <a:r>
              <a:rPr sz="2400" dirty="0">
                <a:latin typeface="Cambria"/>
                <a:cs typeface="Cambria"/>
              </a:rPr>
              <a:t>code</a:t>
            </a:r>
            <a:r>
              <a:rPr sz="2400" spc="-45" dirty="0">
                <a:latin typeface="Cambria"/>
                <a:cs typeface="Cambria"/>
              </a:rPr>
              <a:t> </a:t>
            </a:r>
            <a:r>
              <a:rPr sz="2400" spc="-10" dirty="0">
                <a:latin typeface="Cambria"/>
                <a:cs typeface="Cambria"/>
              </a:rPr>
              <a:t>generator.</a:t>
            </a:r>
            <a:endParaRPr sz="2400">
              <a:latin typeface="Cambria"/>
              <a:cs typeface="Cambria"/>
            </a:endParaRPr>
          </a:p>
          <a:p>
            <a:pPr marL="194945" marR="5080" indent="-182880">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114" dirty="0">
                <a:latin typeface="Cambria"/>
                <a:cs typeface="Cambria"/>
              </a:rPr>
              <a:t> </a:t>
            </a:r>
            <a:r>
              <a:rPr sz="2400" dirty="0">
                <a:latin typeface="Cambria"/>
                <a:cs typeface="Cambria"/>
              </a:rPr>
              <a:t>code</a:t>
            </a:r>
            <a:r>
              <a:rPr sz="2400" spc="-45" dirty="0">
                <a:latin typeface="Cambria"/>
                <a:cs typeface="Cambria"/>
              </a:rPr>
              <a:t> </a:t>
            </a:r>
            <a:r>
              <a:rPr sz="2400" spc="-10" dirty="0">
                <a:latin typeface="Cambria"/>
                <a:cs typeface="Cambria"/>
              </a:rPr>
              <a:t>generation</a:t>
            </a:r>
            <a:r>
              <a:rPr sz="2400" spc="-95" dirty="0">
                <a:latin typeface="Cambria"/>
                <a:cs typeface="Cambria"/>
              </a:rPr>
              <a:t> </a:t>
            </a:r>
            <a:r>
              <a:rPr sz="2400" dirty="0">
                <a:latin typeface="Cambria"/>
                <a:cs typeface="Cambria"/>
              </a:rPr>
              <a:t>phase</a:t>
            </a:r>
            <a:r>
              <a:rPr sz="2400" spc="-45" dirty="0">
                <a:latin typeface="Cambria"/>
                <a:cs typeface="Cambria"/>
              </a:rPr>
              <a:t> </a:t>
            </a:r>
            <a:r>
              <a:rPr sz="2400" dirty="0">
                <a:latin typeface="Cambria"/>
                <a:cs typeface="Cambria"/>
              </a:rPr>
              <a:t>requires</a:t>
            </a:r>
            <a:r>
              <a:rPr sz="2400" spc="-60" dirty="0">
                <a:latin typeface="Cambria"/>
                <a:cs typeface="Cambria"/>
              </a:rPr>
              <a:t> </a:t>
            </a:r>
            <a:r>
              <a:rPr sz="2400" dirty="0">
                <a:latin typeface="Cambria"/>
                <a:cs typeface="Cambria"/>
              </a:rPr>
              <a:t>complete</a:t>
            </a:r>
            <a:r>
              <a:rPr sz="2400" spc="-35" dirty="0">
                <a:latin typeface="Cambria"/>
                <a:cs typeface="Cambria"/>
              </a:rPr>
              <a:t> </a:t>
            </a:r>
            <a:r>
              <a:rPr sz="2400" dirty="0">
                <a:latin typeface="Cambria"/>
                <a:cs typeface="Cambria"/>
              </a:rPr>
              <a:t>error</a:t>
            </a:r>
            <a:r>
              <a:rPr sz="2400" spc="-90" dirty="0">
                <a:latin typeface="Cambria"/>
                <a:cs typeface="Cambria"/>
              </a:rPr>
              <a:t> </a:t>
            </a:r>
            <a:r>
              <a:rPr sz="2400" spc="-20" dirty="0">
                <a:latin typeface="Cambria"/>
                <a:cs typeface="Cambria"/>
              </a:rPr>
              <a:t>free </a:t>
            </a:r>
            <a:r>
              <a:rPr sz="2400" spc="-10" dirty="0">
                <a:latin typeface="Cambria"/>
                <a:cs typeface="Cambria"/>
              </a:rPr>
              <a:t>intermediate</a:t>
            </a:r>
            <a:r>
              <a:rPr sz="2400" spc="-50" dirty="0">
                <a:latin typeface="Cambria"/>
                <a:cs typeface="Cambria"/>
              </a:rPr>
              <a:t> </a:t>
            </a:r>
            <a:r>
              <a:rPr sz="2400" dirty="0">
                <a:latin typeface="Cambria"/>
                <a:cs typeface="Cambria"/>
              </a:rPr>
              <a:t>code</a:t>
            </a:r>
            <a:r>
              <a:rPr sz="2400" spc="-30" dirty="0">
                <a:latin typeface="Cambria"/>
                <a:cs typeface="Cambria"/>
              </a:rPr>
              <a:t> </a:t>
            </a:r>
            <a:r>
              <a:rPr sz="2400" dirty="0">
                <a:latin typeface="Cambria"/>
                <a:cs typeface="Cambria"/>
              </a:rPr>
              <a:t>as</a:t>
            </a:r>
            <a:r>
              <a:rPr sz="2400" spc="-30" dirty="0">
                <a:latin typeface="Cambria"/>
                <a:cs typeface="Cambria"/>
              </a:rPr>
              <a:t> </a:t>
            </a:r>
            <a:r>
              <a:rPr sz="2400" dirty="0">
                <a:latin typeface="Cambria"/>
                <a:cs typeface="Cambria"/>
              </a:rPr>
              <a:t>an</a:t>
            </a:r>
            <a:r>
              <a:rPr sz="2400" spc="-40" dirty="0">
                <a:latin typeface="Cambria"/>
                <a:cs typeface="Cambria"/>
              </a:rPr>
              <a:t> </a:t>
            </a:r>
            <a:r>
              <a:rPr sz="2400" spc="-10" dirty="0">
                <a:latin typeface="Cambria"/>
                <a:cs typeface="Cambria"/>
              </a:rPr>
              <a:t>input.</a:t>
            </a:r>
            <a:endParaRPr sz="2400">
              <a:latin typeface="Cambria"/>
              <a:cs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299845">
              <a:lnSpc>
                <a:spcPts val="3779"/>
              </a:lnSpc>
            </a:pPr>
            <a:r>
              <a:rPr sz="3600" b="1" spc="-10" dirty="0">
                <a:solidFill>
                  <a:srgbClr val="FFFFFF"/>
                </a:solidFill>
                <a:latin typeface="Cambria"/>
                <a:cs typeface="Cambria"/>
              </a:rPr>
              <a:t>Target </a:t>
            </a:r>
            <a:r>
              <a:rPr sz="3600" b="1" spc="-80" dirty="0">
                <a:solidFill>
                  <a:srgbClr val="FFFFFF"/>
                </a:solidFill>
                <a:latin typeface="Cambria"/>
                <a:cs typeface="Cambria"/>
              </a:rPr>
              <a:t>Program</a:t>
            </a:r>
            <a:endParaRPr sz="3600">
              <a:latin typeface="Cambria"/>
              <a:cs typeface="Cambria"/>
            </a:endParaRPr>
          </a:p>
        </p:txBody>
      </p:sp>
      <p:sp>
        <p:nvSpPr>
          <p:cNvPr id="3" name="object 3"/>
          <p:cNvSpPr txBox="1">
            <a:spLocks noGrp="1"/>
          </p:cNvSpPr>
          <p:nvPr>
            <p:ph type="title"/>
          </p:nvPr>
        </p:nvSpPr>
        <p:spPr>
          <a:xfrm>
            <a:off x="3492246" y="844372"/>
            <a:ext cx="6155055" cy="331470"/>
          </a:xfrm>
          <a:prstGeom prst="rect">
            <a:avLst/>
          </a:prstGeom>
        </p:spPr>
        <p:txBody>
          <a:bodyPr vert="horz" wrap="square" lIns="0" tIns="13335" rIns="0" bIns="0" rtlCol="0">
            <a:spAutoFit/>
          </a:bodyPr>
          <a:lstStyle/>
          <a:p>
            <a:pPr marL="12700">
              <a:lnSpc>
                <a:spcPct val="100000"/>
              </a:lnSpc>
              <a:spcBef>
                <a:spcPts val="105"/>
              </a:spcBef>
            </a:pPr>
            <a:r>
              <a:rPr sz="2000" spc="-1040" dirty="0">
                <a:solidFill>
                  <a:srgbClr val="40B9D2"/>
                </a:solidFill>
                <a:latin typeface="Arial MT"/>
                <a:cs typeface="Arial MT"/>
              </a:rPr>
              <a:t>🞄</a:t>
            </a:r>
            <a:r>
              <a:rPr sz="2000" spc="145" dirty="0">
                <a:solidFill>
                  <a:srgbClr val="40B9D2"/>
                </a:solidFill>
                <a:latin typeface="Arial MT"/>
                <a:cs typeface="Arial MT"/>
              </a:rPr>
              <a:t> </a:t>
            </a:r>
            <a:r>
              <a:rPr sz="2000" dirty="0"/>
              <a:t>The</a:t>
            </a:r>
            <a:r>
              <a:rPr sz="2000" spc="-55" dirty="0"/>
              <a:t> </a:t>
            </a:r>
            <a:r>
              <a:rPr sz="2000" dirty="0"/>
              <a:t>output</a:t>
            </a:r>
            <a:r>
              <a:rPr sz="2000" spc="-35" dirty="0"/>
              <a:t> </a:t>
            </a:r>
            <a:r>
              <a:rPr sz="2000" dirty="0"/>
              <a:t>of</a:t>
            </a:r>
            <a:r>
              <a:rPr sz="2000" spc="-30" dirty="0"/>
              <a:t> </a:t>
            </a:r>
            <a:r>
              <a:rPr sz="2000" dirty="0"/>
              <a:t>the</a:t>
            </a:r>
            <a:r>
              <a:rPr sz="2000" spc="-25" dirty="0"/>
              <a:t> </a:t>
            </a:r>
            <a:r>
              <a:rPr sz="2000" dirty="0"/>
              <a:t>code</a:t>
            </a:r>
            <a:r>
              <a:rPr sz="2000" spc="-40" dirty="0"/>
              <a:t> </a:t>
            </a:r>
            <a:r>
              <a:rPr sz="2000" dirty="0"/>
              <a:t>generator</a:t>
            </a:r>
            <a:r>
              <a:rPr sz="2000" spc="-45" dirty="0"/>
              <a:t> </a:t>
            </a:r>
            <a:r>
              <a:rPr sz="2000" dirty="0"/>
              <a:t>is</a:t>
            </a:r>
            <a:r>
              <a:rPr sz="2000" spc="-25" dirty="0"/>
              <a:t> </a:t>
            </a:r>
            <a:r>
              <a:rPr sz="2000" dirty="0"/>
              <a:t>the</a:t>
            </a:r>
            <a:r>
              <a:rPr sz="2000" spc="-35" dirty="0"/>
              <a:t> </a:t>
            </a:r>
            <a:r>
              <a:rPr sz="2000" dirty="0"/>
              <a:t>target</a:t>
            </a:r>
            <a:r>
              <a:rPr sz="2000" spc="-35" dirty="0"/>
              <a:t> </a:t>
            </a:r>
            <a:r>
              <a:rPr sz="2000" spc="-10" dirty="0"/>
              <a:t>program.</a:t>
            </a:r>
            <a:endParaRPr sz="2000">
              <a:latin typeface="Arial MT"/>
              <a:cs typeface="Arial MT"/>
            </a:endParaRPr>
          </a:p>
        </p:txBody>
      </p:sp>
      <p:sp>
        <p:nvSpPr>
          <p:cNvPr id="4" name="object 4"/>
          <p:cNvSpPr txBox="1"/>
          <p:nvPr/>
        </p:nvSpPr>
        <p:spPr>
          <a:xfrm>
            <a:off x="3492246" y="1271777"/>
            <a:ext cx="4789170" cy="330835"/>
          </a:xfrm>
          <a:prstGeom prst="rect">
            <a:avLst/>
          </a:prstGeom>
        </p:spPr>
        <p:txBody>
          <a:bodyPr vert="horz" wrap="square" lIns="0" tIns="13335" rIns="0" bIns="0" rtlCol="0">
            <a:spAutoFit/>
          </a:bodyPr>
          <a:lstStyle/>
          <a:p>
            <a:pPr marL="12700">
              <a:lnSpc>
                <a:spcPct val="100000"/>
              </a:lnSpc>
              <a:spcBef>
                <a:spcPts val="10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The</a:t>
            </a:r>
            <a:r>
              <a:rPr sz="2000" spc="-70" dirty="0">
                <a:latin typeface="Cambria"/>
                <a:cs typeface="Cambria"/>
              </a:rPr>
              <a:t> </a:t>
            </a:r>
            <a:r>
              <a:rPr sz="2000" dirty="0">
                <a:latin typeface="Cambria"/>
                <a:cs typeface="Cambria"/>
              </a:rPr>
              <a:t>output</a:t>
            </a:r>
            <a:r>
              <a:rPr sz="2000" spc="-50" dirty="0">
                <a:latin typeface="Cambria"/>
                <a:cs typeface="Cambria"/>
              </a:rPr>
              <a:t> </a:t>
            </a:r>
            <a:r>
              <a:rPr sz="2000" dirty="0">
                <a:latin typeface="Cambria"/>
                <a:cs typeface="Cambria"/>
              </a:rPr>
              <a:t>may</a:t>
            </a:r>
            <a:r>
              <a:rPr sz="2000" spc="-40" dirty="0">
                <a:latin typeface="Cambria"/>
                <a:cs typeface="Cambria"/>
              </a:rPr>
              <a:t> </a:t>
            </a:r>
            <a:r>
              <a:rPr sz="2000" dirty="0">
                <a:latin typeface="Cambria"/>
                <a:cs typeface="Cambria"/>
              </a:rPr>
              <a:t>take</a:t>
            </a:r>
            <a:r>
              <a:rPr sz="2000" spc="-50" dirty="0">
                <a:latin typeface="Cambria"/>
                <a:cs typeface="Cambria"/>
              </a:rPr>
              <a:t> </a:t>
            </a:r>
            <a:r>
              <a:rPr sz="2000" dirty="0">
                <a:latin typeface="Cambria"/>
                <a:cs typeface="Cambria"/>
              </a:rPr>
              <a:t>on</a:t>
            </a:r>
            <a:r>
              <a:rPr sz="2000" spc="-25" dirty="0">
                <a:latin typeface="Cambria"/>
                <a:cs typeface="Cambria"/>
              </a:rPr>
              <a:t> </a:t>
            </a:r>
            <a:r>
              <a:rPr sz="2000" dirty="0">
                <a:latin typeface="Cambria"/>
                <a:cs typeface="Cambria"/>
              </a:rPr>
              <a:t>a</a:t>
            </a:r>
            <a:r>
              <a:rPr sz="2000" spc="-25" dirty="0">
                <a:latin typeface="Cambria"/>
                <a:cs typeface="Cambria"/>
              </a:rPr>
              <a:t> </a:t>
            </a:r>
            <a:r>
              <a:rPr sz="2000" dirty="0">
                <a:latin typeface="Cambria"/>
                <a:cs typeface="Cambria"/>
              </a:rPr>
              <a:t>variety</a:t>
            </a:r>
            <a:r>
              <a:rPr sz="2000" spc="-30" dirty="0">
                <a:latin typeface="Cambria"/>
                <a:cs typeface="Cambria"/>
              </a:rPr>
              <a:t> </a:t>
            </a:r>
            <a:r>
              <a:rPr sz="2000" dirty="0">
                <a:latin typeface="Cambria"/>
                <a:cs typeface="Cambria"/>
              </a:rPr>
              <a:t>of</a:t>
            </a:r>
            <a:r>
              <a:rPr sz="2000" spc="-35" dirty="0">
                <a:latin typeface="Cambria"/>
                <a:cs typeface="Cambria"/>
              </a:rPr>
              <a:t> </a:t>
            </a:r>
            <a:r>
              <a:rPr sz="2000" spc="-10" dirty="0">
                <a:latin typeface="Cambria"/>
                <a:cs typeface="Cambria"/>
              </a:rPr>
              <a:t>forms:</a:t>
            </a:r>
            <a:endParaRPr sz="2000">
              <a:latin typeface="Cambria"/>
              <a:cs typeface="Cambria"/>
            </a:endParaRPr>
          </a:p>
        </p:txBody>
      </p:sp>
      <p:sp>
        <p:nvSpPr>
          <p:cNvPr id="5" name="object 5"/>
          <p:cNvSpPr txBox="1"/>
          <p:nvPr/>
        </p:nvSpPr>
        <p:spPr>
          <a:xfrm>
            <a:off x="3492246" y="1577637"/>
            <a:ext cx="8235315" cy="4392295"/>
          </a:xfrm>
          <a:prstGeom prst="rect">
            <a:avLst/>
          </a:prstGeom>
        </p:spPr>
        <p:txBody>
          <a:bodyPr vert="horz" wrap="square" lIns="0" tIns="133985" rIns="0" bIns="0" rtlCol="0">
            <a:spAutoFit/>
          </a:bodyPr>
          <a:lstStyle/>
          <a:p>
            <a:pPr marL="469265" indent="-456565">
              <a:lnSpc>
                <a:spcPct val="100000"/>
              </a:lnSpc>
              <a:spcBef>
                <a:spcPts val="1055"/>
              </a:spcBef>
              <a:buClr>
                <a:srgbClr val="40B9D2"/>
              </a:buClr>
              <a:buAutoNum type="arabicPeriod"/>
              <a:tabLst>
                <a:tab pos="469265" algn="l"/>
              </a:tabLst>
            </a:pPr>
            <a:r>
              <a:rPr sz="2000" b="1" dirty="0">
                <a:latin typeface="Cambria"/>
                <a:cs typeface="Cambria"/>
              </a:rPr>
              <a:t>Absolute</a:t>
            </a:r>
            <a:r>
              <a:rPr sz="2000" b="1" spc="-70" dirty="0">
                <a:latin typeface="Cambria"/>
                <a:cs typeface="Cambria"/>
              </a:rPr>
              <a:t> </a:t>
            </a:r>
            <a:r>
              <a:rPr sz="2000" b="1" dirty="0">
                <a:latin typeface="Cambria"/>
                <a:cs typeface="Cambria"/>
              </a:rPr>
              <a:t>machine</a:t>
            </a:r>
            <a:r>
              <a:rPr sz="2000" b="1" spc="-60" dirty="0">
                <a:latin typeface="Cambria"/>
                <a:cs typeface="Cambria"/>
              </a:rPr>
              <a:t> </a:t>
            </a:r>
            <a:r>
              <a:rPr sz="2000" b="1" dirty="0">
                <a:latin typeface="Cambria"/>
                <a:cs typeface="Cambria"/>
              </a:rPr>
              <a:t>language</a:t>
            </a:r>
            <a:r>
              <a:rPr sz="2000" b="1" spc="-45" dirty="0">
                <a:latin typeface="Cambria"/>
                <a:cs typeface="Cambria"/>
              </a:rPr>
              <a:t> </a:t>
            </a:r>
            <a:r>
              <a:rPr sz="2000" b="1" spc="-10" dirty="0">
                <a:latin typeface="Cambria"/>
                <a:cs typeface="Cambria"/>
              </a:rPr>
              <a:t>(executable</a:t>
            </a:r>
            <a:r>
              <a:rPr sz="2000" b="1" spc="-60" dirty="0">
                <a:latin typeface="Cambria"/>
                <a:cs typeface="Cambria"/>
              </a:rPr>
              <a:t> </a:t>
            </a:r>
            <a:r>
              <a:rPr sz="2000" b="1" spc="-10" dirty="0">
                <a:latin typeface="Cambria"/>
                <a:cs typeface="Cambria"/>
              </a:rPr>
              <a:t>code)</a:t>
            </a:r>
            <a:endParaRPr sz="2000">
              <a:latin typeface="Cambria"/>
              <a:cs typeface="Cambria"/>
            </a:endParaRPr>
          </a:p>
          <a:p>
            <a:pPr marL="469900">
              <a:lnSpc>
                <a:spcPts val="2280"/>
              </a:lnSpc>
              <a:spcBef>
                <a:spcPts val="960"/>
              </a:spcBef>
            </a:pPr>
            <a:r>
              <a:rPr sz="2000" dirty="0">
                <a:latin typeface="Cambria"/>
                <a:cs typeface="Cambria"/>
              </a:rPr>
              <a:t>Language</a:t>
            </a:r>
            <a:r>
              <a:rPr sz="2000" spc="-55" dirty="0">
                <a:latin typeface="Cambria"/>
                <a:cs typeface="Cambria"/>
              </a:rPr>
              <a:t> </a:t>
            </a:r>
            <a:r>
              <a:rPr sz="2000" dirty="0">
                <a:latin typeface="Cambria"/>
                <a:cs typeface="Cambria"/>
              </a:rPr>
              <a:t>has</a:t>
            </a:r>
            <a:r>
              <a:rPr sz="2000" spc="-30" dirty="0">
                <a:latin typeface="Cambria"/>
                <a:cs typeface="Cambria"/>
              </a:rPr>
              <a:t> </a:t>
            </a:r>
            <a:r>
              <a:rPr sz="2000" dirty="0">
                <a:latin typeface="Cambria"/>
                <a:cs typeface="Cambria"/>
              </a:rPr>
              <a:t>the</a:t>
            </a:r>
            <a:r>
              <a:rPr sz="2000" spc="-20" dirty="0">
                <a:latin typeface="Cambria"/>
                <a:cs typeface="Cambria"/>
              </a:rPr>
              <a:t> </a:t>
            </a:r>
            <a:r>
              <a:rPr sz="2000" spc="-10" dirty="0">
                <a:latin typeface="Cambria"/>
                <a:cs typeface="Cambria"/>
              </a:rPr>
              <a:t>advantage</a:t>
            </a:r>
            <a:r>
              <a:rPr sz="2000" spc="-55" dirty="0">
                <a:latin typeface="Cambria"/>
                <a:cs typeface="Cambria"/>
              </a:rPr>
              <a:t> </a:t>
            </a:r>
            <a:r>
              <a:rPr sz="2000" dirty="0">
                <a:latin typeface="Cambria"/>
                <a:cs typeface="Cambria"/>
              </a:rPr>
              <a:t>that</a:t>
            </a:r>
            <a:r>
              <a:rPr sz="2000" spc="-50" dirty="0">
                <a:latin typeface="Cambria"/>
                <a:cs typeface="Cambria"/>
              </a:rPr>
              <a:t> </a:t>
            </a:r>
            <a:r>
              <a:rPr sz="2000" dirty="0">
                <a:latin typeface="Cambria"/>
                <a:cs typeface="Cambria"/>
              </a:rPr>
              <a:t>it</a:t>
            </a:r>
            <a:r>
              <a:rPr sz="2000" spc="-15" dirty="0">
                <a:latin typeface="Cambria"/>
                <a:cs typeface="Cambria"/>
              </a:rPr>
              <a:t> </a:t>
            </a:r>
            <a:r>
              <a:rPr sz="2000" dirty="0">
                <a:latin typeface="Cambria"/>
                <a:cs typeface="Cambria"/>
              </a:rPr>
              <a:t>can</a:t>
            </a:r>
            <a:r>
              <a:rPr sz="2000" spc="-35" dirty="0">
                <a:latin typeface="Cambria"/>
                <a:cs typeface="Cambria"/>
              </a:rPr>
              <a:t> </a:t>
            </a:r>
            <a:r>
              <a:rPr sz="2000" dirty="0">
                <a:latin typeface="Cambria"/>
                <a:cs typeface="Cambria"/>
              </a:rPr>
              <a:t>be</a:t>
            </a:r>
            <a:r>
              <a:rPr sz="2000" spc="-10" dirty="0">
                <a:latin typeface="Cambria"/>
                <a:cs typeface="Cambria"/>
              </a:rPr>
              <a:t> </a:t>
            </a:r>
            <a:r>
              <a:rPr sz="2000" dirty="0">
                <a:latin typeface="Cambria"/>
                <a:cs typeface="Cambria"/>
              </a:rPr>
              <a:t>placed</a:t>
            </a:r>
            <a:r>
              <a:rPr sz="2000" spc="-30" dirty="0">
                <a:latin typeface="Cambria"/>
                <a:cs typeface="Cambria"/>
              </a:rPr>
              <a:t> </a:t>
            </a:r>
            <a:r>
              <a:rPr sz="2000" dirty="0">
                <a:latin typeface="Cambria"/>
                <a:cs typeface="Cambria"/>
              </a:rPr>
              <a:t>in</a:t>
            </a:r>
            <a:r>
              <a:rPr sz="2000" spc="-30" dirty="0">
                <a:latin typeface="Cambria"/>
                <a:cs typeface="Cambria"/>
              </a:rPr>
              <a:t> </a:t>
            </a:r>
            <a:r>
              <a:rPr sz="2000" dirty="0">
                <a:latin typeface="Cambria"/>
                <a:cs typeface="Cambria"/>
              </a:rPr>
              <a:t>a</a:t>
            </a:r>
            <a:r>
              <a:rPr sz="2000" spc="-10" dirty="0">
                <a:latin typeface="Cambria"/>
                <a:cs typeface="Cambria"/>
              </a:rPr>
              <a:t> </a:t>
            </a:r>
            <a:r>
              <a:rPr sz="2000" dirty="0">
                <a:latin typeface="Cambria"/>
                <a:cs typeface="Cambria"/>
              </a:rPr>
              <a:t>fixed</a:t>
            </a:r>
            <a:r>
              <a:rPr sz="2000" spc="-40" dirty="0">
                <a:latin typeface="Cambria"/>
                <a:cs typeface="Cambria"/>
              </a:rPr>
              <a:t> </a:t>
            </a:r>
            <a:r>
              <a:rPr sz="2000" dirty="0">
                <a:latin typeface="Cambria"/>
                <a:cs typeface="Cambria"/>
              </a:rPr>
              <a:t>location</a:t>
            </a:r>
            <a:r>
              <a:rPr sz="2000" spc="-40" dirty="0">
                <a:latin typeface="Cambria"/>
                <a:cs typeface="Cambria"/>
              </a:rPr>
              <a:t> </a:t>
            </a:r>
            <a:r>
              <a:rPr sz="2000" spc="-25" dirty="0">
                <a:latin typeface="Cambria"/>
                <a:cs typeface="Cambria"/>
              </a:rPr>
              <a:t>in</a:t>
            </a:r>
            <a:endParaRPr sz="2000">
              <a:latin typeface="Cambria"/>
              <a:cs typeface="Cambria"/>
            </a:endParaRPr>
          </a:p>
          <a:p>
            <a:pPr marL="469900">
              <a:lnSpc>
                <a:spcPts val="2280"/>
              </a:lnSpc>
            </a:pPr>
            <a:r>
              <a:rPr sz="2000" dirty="0">
                <a:latin typeface="Cambria"/>
                <a:cs typeface="Cambria"/>
              </a:rPr>
              <a:t>memory</a:t>
            </a:r>
            <a:r>
              <a:rPr sz="2000" spc="-35" dirty="0">
                <a:latin typeface="Cambria"/>
                <a:cs typeface="Cambria"/>
              </a:rPr>
              <a:t> </a:t>
            </a:r>
            <a:r>
              <a:rPr sz="2000" dirty="0">
                <a:latin typeface="Cambria"/>
                <a:cs typeface="Cambria"/>
              </a:rPr>
              <a:t>and</a:t>
            </a:r>
            <a:r>
              <a:rPr sz="2000" spc="-20" dirty="0">
                <a:latin typeface="Cambria"/>
                <a:cs typeface="Cambria"/>
              </a:rPr>
              <a:t> </a:t>
            </a:r>
            <a:r>
              <a:rPr sz="2000" spc="-10" dirty="0">
                <a:latin typeface="Cambria"/>
                <a:cs typeface="Cambria"/>
              </a:rPr>
              <a:t>immediately</a:t>
            </a:r>
            <a:r>
              <a:rPr sz="2000" spc="-40" dirty="0">
                <a:latin typeface="Cambria"/>
                <a:cs typeface="Cambria"/>
              </a:rPr>
              <a:t> </a:t>
            </a:r>
            <a:r>
              <a:rPr sz="2000" spc="-10" dirty="0">
                <a:latin typeface="Cambria"/>
                <a:cs typeface="Cambria"/>
              </a:rPr>
              <a:t>executed.</a:t>
            </a:r>
            <a:r>
              <a:rPr sz="2000" spc="-35" dirty="0">
                <a:latin typeface="Cambria"/>
                <a:cs typeface="Cambria"/>
              </a:rPr>
              <a:t> </a:t>
            </a:r>
            <a:r>
              <a:rPr sz="2000" spc="-10" dirty="0">
                <a:latin typeface="Cambria"/>
                <a:cs typeface="Cambria"/>
              </a:rPr>
              <a:t>(executable)</a:t>
            </a:r>
            <a:endParaRPr sz="2000">
              <a:latin typeface="Cambria"/>
              <a:cs typeface="Cambria"/>
            </a:endParaRPr>
          </a:p>
          <a:p>
            <a:pPr marL="469265" indent="-456565">
              <a:lnSpc>
                <a:spcPct val="100000"/>
              </a:lnSpc>
              <a:spcBef>
                <a:spcPts val="960"/>
              </a:spcBef>
              <a:buClr>
                <a:srgbClr val="40B9D2"/>
              </a:buClr>
              <a:buAutoNum type="arabicPeriod" startAt="2"/>
              <a:tabLst>
                <a:tab pos="469265" algn="l"/>
              </a:tabLst>
            </a:pPr>
            <a:r>
              <a:rPr sz="2000" b="1" dirty="0">
                <a:latin typeface="Cambria"/>
                <a:cs typeface="Cambria"/>
              </a:rPr>
              <a:t>Relocatable</a:t>
            </a:r>
            <a:r>
              <a:rPr sz="2000" b="1" spc="-45" dirty="0">
                <a:latin typeface="Cambria"/>
                <a:cs typeface="Cambria"/>
              </a:rPr>
              <a:t> </a:t>
            </a:r>
            <a:r>
              <a:rPr sz="2000" b="1" dirty="0">
                <a:latin typeface="Cambria"/>
                <a:cs typeface="Cambria"/>
              </a:rPr>
              <a:t>machine</a:t>
            </a:r>
            <a:r>
              <a:rPr sz="2000" b="1" spc="-50" dirty="0">
                <a:latin typeface="Cambria"/>
                <a:cs typeface="Cambria"/>
              </a:rPr>
              <a:t> </a:t>
            </a:r>
            <a:r>
              <a:rPr sz="2000" b="1" dirty="0">
                <a:latin typeface="Cambria"/>
                <a:cs typeface="Cambria"/>
              </a:rPr>
              <a:t>language</a:t>
            </a:r>
            <a:r>
              <a:rPr sz="2000" b="1" spc="-30" dirty="0">
                <a:latin typeface="Cambria"/>
                <a:cs typeface="Cambria"/>
              </a:rPr>
              <a:t> </a:t>
            </a:r>
            <a:r>
              <a:rPr sz="2000" b="1" dirty="0">
                <a:latin typeface="Cambria"/>
                <a:cs typeface="Cambria"/>
              </a:rPr>
              <a:t>(Object</a:t>
            </a:r>
            <a:r>
              <a:rPr sz="2000" b="1" spc="-45" dirty="0">
                <a:latin typeface="Cambria"/>
                <a:cs typeface="Cambria"/>
              </a:rPr>
              <a:t> </a:t>
            </a:r>
            <a:r>
              <a:rPr sz="2000" b="1" dirty="0">
                <a:latin typeface="Cambria"/>
                <a:cs typeface="Cambria"/>
              </a:rPr>
              <a:t>files</a:t>
            </a:r>
            <a:r>
              <a:rPr sz="2000" b="1" spc="-45" dirty="0">
                <a:latin typeface="Cambria"/>
                <a:cs typeface="Cambria"/>
              </a:rPr>
              <a:t> </a:t>
            </a:r>
            <a:r>
              <a:rPr sz="2000" b="1" dirty="0">
                <a:latin typeface="Cambria"/>
                <a:cs typeface="Cambria"/>
              </a:rPr>
              <a:t>or</a:t>
            </a:r>
            <a:r>
              <a:rPr sz="2000" b="1" spc="-30" dirty="0">
                <a:latin typeface="Cambria"/>
                <a:cs typeface="Cambria"/>
              </a:rPr>
              <a:t> </a:t>
            </a:r>
            <a:r>
              <a:rPr sz="2000" b="1" spc="-10" dirty="0">
                <a:latin typeface="Cambria"/>
                <a:cs typeface="Cambria"/>
              </a:rPr>
              <a:t>linker)</a:t>
            </a:r>
            <a:endParaRPr sz="2000">
              <a:latin typeface="Cambria"/>
              <a:cs typeface="Cambria"/>
            </a:endParaRPr>
          </a:p>
          <a:p>
            <a:pPr marL="469900" marR="5080">
              <a:lnSpc>
                <a:spcPct val="90000"/>
              </a:lnSpc>
              <a:spcBef>
                <a:spcPts val="1200"/>
              </a:spcBef>
            </a:pPr>
            <a:r>
              <a:rPr sz="2000" dirty="0">
                <a:latin typeface="Cambria"/>
                <a:cs typeface="Cambria"/>
              </a:rPr>
              <a:t>Producing</a:t>
            </a:r>
            <a:r>
              <a:rPr sz="2000" spc="-65" dirty="0">
                <a:latin typeface="Cambria"/>
                <a:cs typeface="Cambria"/>
              </a:rPr>
              <a:t> </a:t>
            </a:r>
            <a:r>
              <a:rPr sz="2000" dirty="0">
                <a:latin typeface="Cambria"/>
                <a:cs typeface="Cambria"/>
              </a:rPr>
              <a:t>a</a:t>
            </a:r>
            <a:r>
              <a:rPr sz="2000" spc="-20" dirty="0">
                <a:latin typeface="Cambria"/>
                <a:cs typeface="Cambria"/>
              </a:rPr>
              <a:t> </a:t>
            </a:r>
            <a:r>
              <a:rPr sz="2000" dirty="0">
                <a:latin typeface="Cambria"/>
                <a:cs typeface="Cambria"/>
              </a:rPr>
              <a:t>relocatable</a:t>
            </a:r>
            <a:r>
              <a:rPr sz="2000" spc="-45" dirty="0">
                <a:latin typeface="Cambria"/>
                <a:cs typeface="Cambria"/>
              </a:rPr>
              <a:t> </a:t>
            </a:r>
            <a:r>
              <a:rPr sz="2000" dirty="0">
                <a:latin typeface="Cambria"/>
                <a:cs typeface="Cambria"/>
              </a:rPr>
              <a:t>machine</a:t>
            </a:r>
            <a:r>
              <a:rPr sz="2000" spc="-60" dirty="0">
                <a:latin typeface="Cambria"/>
                <a:cs typeface="Cambria"/>
              </a:rPr>
              <a:t> </a:t>
            </a:r>
            <a:r>
              <a:rPr sz="2000" dirty="0">
                <a:latin typeface="Cambria"/>
                <a:cs typeface="Cambria"/>
              </a:rPr>
              <a:t>language</a:t>
            </a:r>
            <a:r>
              <a:rPr sz="2000" spc="-70" dirty="0">
                <a:latin typeface="Cambria"/>
                <a:cs typeface="Cambria"/>
              </a:rPr>
              <a:t> </a:t>
            </a:r>
            <a:r>
              <a:rPr sz="2000" spc="-10" dirty="0">
                <a:latin typeface="Cambria"/>
                <a:cs typeface="Cambria"/>
              </a:rPr>
              <a:t>program</a:t>
            </a:r>
            <a:r>
              <a:rPr sz="2000" spc="-60" dirty="0">
                <a:latin typeface="Cambria"/>
                <a:cs typeface="Cambria"/>
              </a:rPr>
              <a:t> </a:t>
            </a:r>
            <a:r>
              <a:rPr sz="2000" dirty="0">
                <a:latin typeface="Cambria"/>
                <a:cs typeface="Cambria"/>
              </a:rPr>
              <a:t>as</a:t>
            </a:r>
            <a:r>
              <a:rPr sz="2000" spc="-25" dirty="0">
                <a:latin typeface="Cambria"/>
                <a:cs typeface="Cambria"/>
              </a:rPr>
              <a:t> </a:t>
            </a:r>
            <a:r>
              <a:rPr sz="2000" dirty="0">
                <a:latin typeface="Cambria"/>
                <a:cs typeface="Cambria"/>
              </a:rPr>
              <a:t>output</a:t>
            </a:r>
            <a:r>
              <a:rPr sz="2000" spc="-60" dirty="0">
                <a:latin typeface="Cambria"/>
                <a:cs typeface="Cambria"/>
              </a:rPr>
              <a:t> </a:t>
            </a:r>
            <a:r>
              <a:rPr sz="2000" dirty="0">
                <a:latin typeface="Cambria"/>
                <a:cs typeface="Cambria"/>
              </a:rPr>
              <a:t>is</a:t>
            </a:r>
            <a:r>
              <a:rPr sz="2000" spc="-20" dirty="0">
                <a:latin typeface="Cambria"/>
                <a:cs typeface="Cambria"/>
              </a:rPr>
              <a:t> </a:t>
            </a:r>
            <a:r>
              <a:rPr sz="2000" dirty="0">
                <a:latin typeface="Cambria"/>
                <a:cs typeface="Cambria"/>
              </a:rPr>
              <a:t>that</a:t>
            </a:r>
            <a:r>
              <a:rPr sz="2000" spc="-40" dirty="0">
                <a:latin typeface="Cambria"/>
                <a:cs typeface="Cambria"/>
              </a:rPr>
              <a:t> </a:t>
            </a:r>
            <a:r>
              <a:rPr sz="2000" spc="-25" dirty="0">
                <a:latin typeface="Cambria"/>
                <a:cs typeface="Cambria"/>
              </a:rPr>
              <a:t>the </a:t>
            </a:r>
            <a:r>
              <a:rPr sz="2000" dirty="0">
                <a:latin typeface="Cambria"/>
                <a:cs typeface="Cambria"/>
              </a:rPr>
              <a:t>subroutine</a:t>
            </a:r>
            <a:r>
              <a:rPr sz="2000" spc="-65" dirty="0">
                <a:latin typeface="Cambria"/>
                <a:cs typeface="Cambria"/>
              </a:rPr>
              <a:t> </a:t>
            </a:r>
            <a:r>
              <a:rPr sz="2000" dirty="0">
                <a:latin typeface="Cambria"/>
                <a:cs typeface="Cambria"/>
              </a:rPr>
              <a:t>can</a:t>
            </a:r>
            <a:r>
              <a:rPr sz="2000" spc="-35" dirty="0">
                <a:latin typeface="Cambria"/>
                <a:cs typeface="Cambria"/>
              </a:rPr>
              <a:t> </a:t>
            </a:r>
            <a:r>
              <a:rPr sz="2000" dirty="0">
                <a:latin typeface="Cambria"/>
                <a:cs typeface="Cambria"/>
              </a:rPr>
              <a:t>be</a:t>
            </a:r>
            <a:r>
              <a:rPr sz="2000" spc="-35" dirty="0">
                <a:latin typeface="Cambria"/>
                <a:cs typeface="Cambria"/>
              </a:rPr>
              <a:t> </a:t>
            </a:r>
            <a:r>
              <a:rPr sz="2000" dirty="0">
                <a:latin typeface="Cambria"/>
                <a:cs typeface="Cambria"/>
              </a:rPr>
              <a:t>compiled</a:t>
            </a:r>
            <a:r>
              <a:rPr sz="2000" spc="-40" dirty="0">
                <a:latin typeface="Cambria"/>
                <a:cs typeface="Cambria"/>
              </a:rPr>
              <a:t> </a:t>
            </a:r>
            <a:r>
              <a:rPr sz="2000" spc="-25" dirty="0">
                <a:latin typeface="Cambria"/>
                <a:cs typeface="Cambria"/>
              </a:rPr>
              <a:t>separately.</a:t>
            </a:r>
            <a:r>
              <a:rPr sz="2000" spc="-60" dirty="0">
                <a:latin typeface="Cambria"/>
                <a:cs typeface="Cambria"/>
              </a:rPr>
              <a:t> </a:t>
            </a:r>
            <a:r>
              <a:rPr sz="2000" dirty="0">
                <a:latin typeface="Cambria"/>
                <a:cs typeface="Cambria"/>
              </a:rPr>
              <a:t>A</a:t>
            </a:r>
            <a:r>
              <a:rPr sz="2000" spc="-20" dirty="0">
                <a:latin typeface="Cambria"/>
                <a:cs typeface="Cambria"/>
              </a:rPr>
              <a:t> </a:t>
            </a:r>
            <a:r>
              <a:rPr sz="2000" dirty="0">
                <a:latin typeface="Cambria"/>
                <a:cs typeface="Cambria"/>
              </a:rPr>
              <a:t>set</a:t>
            </a:r>
            <a:r>
              <a:rPr sz="2000" spc="-40" dirty="0">
                <a:latin typeface="Cambria"/>
                <a:cs typeface="Cambria"/>
              </a:rPr>
              <a:t> </a:t>
            </a:r>
            <a:r>
              <a:rPr sz="2000" dirty="0">
                <a:latin typeface="Cambria"/>
                <a:cs typeface="Cambria"/>
              </a:rPr>
              <a:t>of</a:t>
            </a:r>
            <a:r>
              <a:rPr sz="2000" spc="-35" dirty="0">
                <a:latin typeface="Cambria"/>
                <a:cs typeface="Cambria"/>
              </a:rPr>
              <a:t> </a:t>
            </a:r>
            <a:r>
              <a:rPr sz="2000" dirty="0">
                <a:latin typeface="Cambria"/>
                <a:cs typeface="Cambria"/>
              </a:rPr>
              <a:t>relocatable</a:t>
            </a:r>
            <a:r>
              <a:rPr sz="2000" spc="-50" dirty="0">
                <a:latin typeface="Cambria"/>
                <a:cs typeface="Cambria"/>
              </a:rPr>
              <a:t> </a:t>
            </a:r>
            <a:r>
              <a:rPr sz="2000" spc="-10" dirty="0">
                <a:latin typeface="Cambria"/>
                <a:cs typeface="Cambria"/>
              </a:rPr>
              <a:t>object </a:t>
            </a:r>
            <a:r>
              <a:rPr sz="2000" dirty="0">
                <a:latin typeface="Cambria"/>
                <a:cs typeface="Cambria"/>
              </a:rPr>
              <a:t>modules</a:t>
            </a:r>
            <a:r>
              <a:rPr sz="2000" spc="-40" dirty="0">
                <a:latin typeface="Cambria"/>
                <a:cs typeface="Cambria"/>
              </a:rPr>
              <a:t> </a:t>
            </a:r>
            <a:r>
              <a:rPr sz="2000" dirty="0">
                <a:latin typeface="Cambria"/>
                <a:cs typeface="Cambria"/>
              </a:rPr>
              <a:t>can</a:t>
            </a:r>
            <a:r>
              <a:rPr sz="2000" spc="-40" dirty="0">
                <a:latin typeface="Cambria"/>
                <a:cs typeface="Cambria"/>
              </a:rPr>
              <a:t> </a:t>
            </a:r>
            <a:r>
              <a:rPr sz="2000" dirty="0">
                <a:latin typeface="Cambria"/>
                <a:cs typeface="Cambria"/>
              </a:rPr>
              <a:t>be</a:t>
            </a:r>
            <a:r>
              <a:rPr sz="2000" spc="-20" dirty="0">
                <a:latin typeface="Cambria"/>
                <a:cs typeface="Cambria"/>
              </a:rPr>
              <a:t> </a:t>
            </a:r>
            <a:r>
              <a:rPr sz="2000" dirty="0">
                <a:latin typeface="Cambria"/>
                <a:cs typeface="Cambria"/>
              </a:rPr>
              <a:t>linked</a:t>
            </a:r>
            <a:r>
              <a:rPr sz="2000" spc="-40" dirty="0">
                <a:latin typeface="Cambria"/>
                <a:cs typeface="Cambria"/>
              </a:rPr>
              <a:t> </a:t>
            </a:r>
            <a:r>
              <a:rPr sz="2000" dirty="0">
                <a:latin typeface="Cambria"/>
                <a:cs typeface="Cambria"/>
              </a:rPr>
              <a:t>together</a:t>
            </a:r>
            <a:r>
              <a:rPr sz="2000" spc="-65" dirty="0">
                <a:latin typeface="Cambria"/>
                <a:cs typeface="Cambria"/>
              </a:rPr>
              <a:t> </a:t>
            </a:r>
            <a:r>
              <a:rPr sz="2000" dirty="0">
                <a:latin typeface="Cambria"/>
                <a:cs typeface="Cambria"/>
              </a:rPr>
              <a:t>and</a:t>
            </a:r>
            <a:r>
              <a:rPr sz="2000" spc="-40" dirty="0">
                <a:latin typeface="Cambria"/>
                <a:cs typeface="Cambria"/>
              </a:rPr>
              <a:t> </a:t>
            </a:r>
            <a:r>
              <a:rPr sz="2000" dirty="0">
                <a:latin typeface="Cambria"/>
                <a:cs typeface="Cambria"/>
              </a:rPr>
              <a:t>loaded</a:t>
            </a:r>
            <a:r>
              <a:rPr sz="2000" spc="-35" dirty="0">
                <a:latin typeface="Cambria"/>
                <a:cs typeface="Cambria"/>
              </a:rPr>
              <a:t> </a:t>
            </a:r>
            <a:r>
              <a:rPr sz="2000" dirty="0">
                <a:latin typeface="Cambria"/>
                <a:cs typeface="Cambria"/>
              </a:rPr>
              <a:t>for</a:t>
            </a:r>
            <a:r>
              <a:rPr sz="2000" spc="-40" dirty="0">
                <a:latin typeface="Cambria"/>
                <a:cs typeface="Cambria"/>
              </a:rPr>
              <a:t> </a:t>
            </a:r>
            <a:r>
              <a:rPr sz="2000" spc="-10" dirty="0">
                <a:latin typeface="Cambria"/>
                <a:cs typeface="Cambria"/>
              </a:rPr>
              <a:t>execution</a:t>
            </a:r>
            <a:r>
              <a:rPr sz="2000" spc="-50" dirty="0">
                <a:latin typeface="Cambria"/>
                <a:cs typeface="Cambria"/>
              </a:rPr>
              <a:t> </a:t>
            </a:r>
            <a:r>
              <a:rPr sz="2000" dirty="0">
                <a:latin typeface="Cambria"/>
                <a:cs typeface="Cambria"/>
              </a:rPr>
              <a:t>by</a:t>
            </a:r>
            <a:r>
              <a:rPr sz="2000" spc="-15" dirty="0">
                <a:latin typeface="Cambria"/>
                <a:cs typeface="Cambria"/>
              </a:rPr>
              <a:t> </a:t>
            </a:r>
            <a:r>
              <a:rPr sz="2000" dirty="0">
                <a:latin typeface="Cambria"/>
                <a:cs typeface="Cambria"/>
              </a:rPr>
              <a:t>a</a:t>
            </a:r>
            <a:r>
              <a:rPr sz="2000" spc="-25" dirty="0">
                <a:latin typeface="Cambria"/>
                <a:cs typeface="Cambria"/>
              </a:rPr>
              <a:t> </a:t>
            </a:r>
            <a:r>
              <a:rPr sz="2000" spc="-10" dirty="0">
                <a:latin typeface="Cambria"/>
                <a:cs typeface="Cambria"/>
              </a:rPr>
              <a:t>linking </a:t>
            </a:r>
            <a:r>
              <a:rPr sz="2000" spc="-25" dirty="0">
                <a:latin typeface="Cambria"/>
                <a:cs typeface="Cambria"/>
              </a:rPr>
              <a:t>loader.</a:t>
            </a:r>
            <a:r>
              <a:rPr sz="2000" spc="-55" dirty="0">
                <a:latin typeface="Cambria"/>
                <a:cs typeface="Cambria"/>
              </a:rPr>
              <a:t> </a:t>
            </a:r>
            <a:r>
              <a:rPr sz="2000" dirty="0">
                <a:latin typeface="Cambria"/>
                <a:cs typeface="Cambria"/>
              </a:rPr>
              <a:t>(object</a:t>
            </a:r>
            <a:r>
              <a:rPr sz="2000" spc="-30" dirty="0">
                <a:latin typeface="Cambria"/>
                <a:cs typeface="Cambria"/>
              </a:rPr>
              <a:t> </a:t>
            </a:r>
            <a:r>
              <a:rPr sz="2000" dirty="0">
                <a:latin typeface="Cambria"/>
                <a:cs typeface="Cambria"/>
              </a:rPr>
              <a:t>model</a:t>
            </a:r>
            <a:r>
              <a:rPr sz="2000" spc="-45" dirty="0">
                <a:latin typeface="Cambria"/>
                <a:cs typeface="Cambria"/>
              </a:rPr>
              <a:t> </a:t>
            </a:r>
            <a:r>
              <a:rPr sz="2000" dirty="0">
                <a:latin typeface="Cambria"/>
                <a:cs typeface="Cambria"/>
              </a:rPr>
              <a:t>/</a:t>
            </a:r>
            <a:r>
              <a:rPr sz="2000" spc="-45" dirty="0">
                <a:latin typeface="Cambria"/>
                <a:cs typeface="Cambria"/>
              </a:rPr>
              <a:t> </a:t>
            </a:r>
            <a:r>
              <a:rPr sz="2000" spc="-60" dirty="0">
                <a:latin typeface="Cambria"/>
                <a:cs typeface="Cambria"/>
              </a:rPr>
              <a:t>‘.o’</a:t>
            </a:r>
            <a:r>
              <a:rPr sz="2000" spc="-40" dirty="0">
                <a:latin typeface="Cambria"/>
                <a:cs typeface="Cambria"/>
              </a:rPr>
              <a:t> </a:t>
            </a:r>
            <a:r>
              <a:rPr sz="2000" spc="-20" dirty="0">
                <a:latin typeface="Cambria"/>
                <a:cs typeface="Cambria"/>
              </a:rPr>
              <a:t>file)</a:t>
            </a:r>
            <a:endParaRPr sz="2000">
              <a:latin typeface="Cambria"/>
              <a:cs typeface="Cambria"/>
            </a:endParaRPr>
          </a:p>
          <a:p>
            <a:pPr marL="469265" indent="-456565">
              <a:lnSpc>
                <a:spcPct val="100000"/>
              </a:lnSpc>
              <a:spcBef>
                <a:spcPts val="960"/>
              </a:spcBef>
              <a:buClr>
                <a:srgbClr val="40B9D2"/>
              </a:buClr>
              <a:buAutoNum type="arabicPeriod" startAt="3"/>
              <a:tabLst>
                <a:tab pos="469265" algn="l"/>
              </a:tabLst>
            </a:pPr>
            <a:r>
              <a:rPr sz="2000" b="1" spc="-10" dirty="0">
                <a:latin typeface="Cambria"/>
                <a:cs typeface="Cambria"/>
              </a:rPr>
              <a:t>Assembly</a:t>
            </a:r>
            <a:r>
              <a:rPr sz="2000" b="1" spc="-40" dirty="0">
                <a:latin typeface="Cambria"/>
                <a:cs typeface="Cambria"/>
              </a:rPr>
              <a:t> </a:t>
            </a:r>
            <a:r>
              <a:rPr sz="2000" b="1" spc="-10" dirty="0">
                <a:latin typeface="Cambria"/>
                <a:cs typeface="Cambria"/>
              </a:rPr>
              <a:t>language</a:t>
            </a:r>
            <a:endParaRPr sz="2000">
              <a:latin typeface="Cambria"/>
              <a:cs typeface="Cambria"/>
            </a:endParaRPr>
          </a:p>
          <a:p>
            <a:pPr marL="514984" marR="78105">
              <a:lnSpc>
                <a:spcPts val="2160"/>
              </a:lnSpc>
              <a:spcBef>
                <a:spcPts val="335"/>
              </a:spcBef>
            </a:pPr>
            <a:r>
              <a:rPr sz="2000" dirty="0">
                <a:latin typeface="Cambria"/>
                <a:cs typeface="Cambria"/>
              </a:rPr>
              <a:t>Producing</a:t>
            </a:r>
            <a:r>
              <a:rPr sz="2000" spc="-60" dirty="0">
                <a:latin typeface="Cambria"/>
                <a:cs typeface="Cambria"/>
              </a:rPr>
              <a:t> </a:t>
            </a:r>
            <a:r>
              <a:rPr sz="2000" dirty="0">
                <a:latin typeface="Cambria"/>
                <a:cs typeface="Cambria"/>
              </a:rPr>
              <a:t>an</a:t>
            </a:r>
            <a:r>
              <a:rPr sz="2000" spc="-30" dirty="0">
                <a:latin typeface="Cambria"/>
                <a:cs typeface="Cambria"/>
              </a:rPr>
              <a:t> </a:t>
            </a:r>
            <a:r>
              <a:rPr sz="2000" spc="-10" dirty="0">
                <a:latin typeface="Cambria"/>
                <a:cs typeface="Cambria"/>
              </a:rPr>
              <a:t>assembly</a:t>
            </a:r>
            <a:r>
              <a:rPr sz="2000" spc="-40" dirty="0">
                <a:latin typeface="Cambria"/>
                <a:cs typeface="Cambria"/>
              </a:rPr>
              <a:t> </a:t>
            </a:r>
            <a:r>
              <a:rPr sz="2000" dirty="0">
                <a:latin typeface="Cambria"/>
                <a:cs typeface="Cambria"/>
              </a:rPr>
              <a:t>language</a:t>
            </a:r>
            <a:r>
              <a:rPr sz="2000" spc="-60" dirty="0">
                <a:latin typeface="Cambria"/>
                <a:cs typeface="Cambria"/>
              </a:rPr>
              <a:t> </a:t>
            </a:r>
            <a:r>
              <a:rPr sz="2000" spc="-10" dirty="0">
                <a:latin typeface="Cambria"/>
                <a:cs typeface="Cambria"/>
              </a:rPr>
              <a:t>program</a:t>
            </a:r>
            <a:r>
              <a:rPr sz="2000" spc="-60" dirty="0">
                <a:latin typeface="Cambria"/>
                <a:cs typeface="Cambria"/>
              </a:rPr>
              <a:t> </a:t>
            </a:r>
            <a:r>
              <a:rPr sz="2000" dirty="0">
                <a:latin typeface="Cambria"/>
                <a:cs typeface="Cambria"/>
              </a:rPr>
              <a:t>as</a:t>
            </a:r>
            <a:r>
              <a:rPr sz="2000" spc="-20" dirty="0">
                <a:latin typeface="Cambria"/>
                <a:cs typeface="Cambria"/>
              </a:rPr>
              <a:t> </a:t>
            </a:r>
            <a:r>
              <a:rPr sz="2000" dirty="0">
                <a:latin typeface="Cambria"/>
                <a:cs typeface="Cambria"/>
              </a:rPr>
              <a:t>output</a:t>
            </a:r>
            <a:r>
              <a:rPr sz="2000" spc="-45" dirty="0">
                <a:latin typeface="Cambria"/>
                <a:cs typeface="Cambria"/>
              </a:rPr>
              <a:t> </a:t>
            </a:r>
            <a:r>
              <a:rPr sz="2000" dirty="0">
                <a:latin typeface="Cambria"/>
                <a:cs typeface="Cambria"/>
              </a:rPr>
              <a:t>makes</a:t>
            </a:r>
            <a:r>
              <a:rPr sz="2000" spc="-35" dirty="0">
                <a:latin typeface="Cambria"/>
                <a:cs typeface="Cambria"/>
              </a:rPr>
              <a:t> </a:t>
            </a:r>
            <a:r>
              <a:rPr sz="2000" dirty="0">
                <a:latin typeface="Cambria"/>
                <a:cs typeface="Cambria"/>
              </a:rPr>
              <a:t>the</a:t>
            </a:r>
            <a:r>
              <a:rPr sz="2000" spc="-45" dirty="0">
                <a:latin typeface="Cambria"/>
                <a:cs typeface="Cambria"/>
              </a:rPr>
              <a:t> </a:t>
            </a:r>
            <a:r>
              <a:rPr sz="2000" spc="-10" dirty="0">
                <a:latin typeface="Cambria"/>
                <a:cs typeface="Cambria"/>
              </a:rPr>
              <a:t>process </a:t>
            </a:r>
            <a:r>
              <a:rPr sz="2000" dirty="0">
                <a:latin typeface="Cambria"/>
                <a:cs typeface="Cambria"/>
              </a:rPr>
              <a:t>of</a:t>
            </a:r>
            <a:r>
              <a:rPr sz="2000" spc="-45" dirty="0">
                <a:latin typeface="Cambria"/>
                <a:cs typeface="Cambria"/>
              </a:rPr>
              <a:t> </a:t>
            </a:r>
            <a:r>
              <a:rPr sz="2000" dirty="0">
                <a:latin typeface="Cambria"/>
                <a:cs typeface="Cambria"/>
              </a:rPr>
              <a:t>code</a:t>
            </a:r>
            <a:r>
              <a:rPr sz="2000" spc="-45" dirty="0">
                <a:latin typeface="Cambria"/>
                <a:cs typeface="Cambria"/>
              </a:rPr>
              <a:t> </a:t>
            </a:r>
            <a:r>
              <a:rPr sz="2000" spc="-10" dirty="0">
                <a:latin typeface="Cambria"/>
                <a:cs typeface="Cambria"/>
              </a:rPr>
              <a:t>generation</a:t>
            </a:r>
            <a:r>
              <a:rPr sz="2000" spc="-75" dirty="0">
                <a:latin typeface="Cambria"/>
                <a:cs typeface="Cambria"/>
              </a:rPr>
              <a:t> </a:t>
            </a:r>
            <a:r>
              <a:rPr sz="2000" dirty="0">
                <a:latin typeface="Cambria"/>
                <a:cs typeface="Cambria"/>
              </a:rPr>
              <a:t>somewhat</a:t>
            </a:r>
            <a:r>
              <a:rPr sz="2000" spc="-45" dirty="0">
                <a:latin typeface="Cambria"/>
                <a:cs typeface="Cambria"/>
              </a:rPr>
              <a:t> </a:t>
            </a:r>
            <a:r>
              <a:rPr sz="2000" dirty="0">
                <a:latin typeface="Cambria"/>
                <a:cs typeface="Cambria"/>
              </a:rPr>
              <a:t>easier</a:t>
            </a:r>
            <a:r>
              <a:rPr sz="2000" spc="-50" dirty="0">
                <a:latin typeface="Cambria"/>
                <a:cs typeface="Cambria"/>
              </a:rPr>
              <a:t> </a:t>
            </a:r>
            <a:r>
              <a:rPr sz="2000" spc="-20" dirty="0">
                <a:latin typeface="Cambria"/>
                <a:cs typeface="Cambria"/>
              </a:rPr>
              <a:t>.We</a:t>
            </a:r>
            <a:r>
              <a:rPr sz="2000" spc="-30" dirty="0">
                <a:latin typeface="Cambria"/>
                <a:cs typeface="Cambria"/>
              </a:rPr>
              <a:t> </a:t>
            </a:r>
            <a:r>
              <a:rPr sz="2000" dirty="0">
                <a:latin typeface="Cambria"/>
                <a:cs typeface="Cambria"/>
              </a:rPr>
              <a:t>can</a:t>
            </a:r>
            <a:r>
              <a:rPr sz="2000" spc="-55" dirty="0">
                <a:latin typeface="Cambria"/>
                <a:cs typeface="Cambria"/>
              </a:rPr>
              <a:t> </a:t>
            </a:r>
            <a:r>
              <a:rPr sz="2000" dirty="0">
                <a:latin typeface="Cambria"/>
                <a:cs typeface="Cambria"/>
              </a:rPr>
              <a:t>generate</a:t>
            </a:r>
            <a:r>
              <a:rPr sz="2000" spc="-70" dirty="0">
                <a:latin typeface="Cambria"/>
                <a:cs typeface="Cambria"/>
              </a:rPr>
              <a:t> </a:t>
            </a:r>
            <a:r>
              <a:rPr sz="2000" spc="-10" dirty="0">
                <a:latin typeface="Cambria"/>
                <a:cs typeface="Cambria"/>
              </a:rPr>
              <a:t>symbolic </a:t>
            </a:r>
            <a:r>
              <a:rPr sz="2000" dirty="0">
                <a:latin typeface="Cambria"/>
                <a:cs typeface="Cambria"/>
              </a:rPr>
              <a:t>instructions</a:t>
            </a:r>
            <a:r>
              <a:rPr sz="2000" spc="-50" dirty="0">
                <a:latin typeface="Cambria"/>
                <a:cs typeface="Cambria"/>
              </a:rPr>
              <a:t> </a:t>
            </a:r>
            <a:r>
              <a:rPr sz="2000" dirty="0">
                <a:latin typeface="Cambria"/>
                <a:cs typeface="Cambria"/>
              </a:rPr>
              <a:t>and</a:t>
            </a:r>
            <a:r>
              <a:rPr sz="2000" spc="-40" dirty="0">
                <a:latin typeface="Cambria"/>
                <a:cs typeface="Cambria"/>
              </a:rPr>
              <a:t> </a:t>
            </a:r>
            <a:r>
              <a:rPr sz="2000" dirty="0">
                <a:latin typeface="Cambria"/>
                <a:cs typeface="Cambria"/>
              </a:rPr>
              <a:t>use</a:t>
            </a:r>
            <a:r>
              <a:rPr sz="2000" spc="-35" dirty="0">
                <a:latin typeface="Cambria"/>
                <a:cs typeface="Cambria"/>
              </a:rPr>
              <a:t> </a:t>
            </a:r>
            <a:r>
              <a:rPr sz="2000" dirty="0">
                <a:latin typeface="Cambria"/>
                <a:cs typeface="Cambria"/>
              </a:rPr>
              <a:t>the</a:t>
            </a:r>
            <a:r>
              <a:rPr sz="2000" spc="-40" dirty="0">
                <a:latin typeface="Cambria"/>
                <a:cs typeface="Cambria"/>
              </a:rPr>
              <a:t> </a:t>
            </a:r>
            <a:r>
              <a:rPr sz="2000" dirty="0">
                <a:latin typeface="Cambria"/>
                <a:cs typeface="Cambria"/>
              </a:rPr>
              <a:t>macro</a:t>
            </a:r>
            <a:r>
              <a:rPr sz="2000" spc="-50" dirty="0">
                <a:latin typeface="Cambria"/>
                <a:cs typeface="Cambria"/>
              </a:rPr>
              <a:t> </a:t>
            </a:r>
            <a:r>
              <a:rPr sz="2000" dirty="0">
                <a:latin typeface="Cambria"/>
                <a:cs typeface="Cambria"/>
              </a:rPr>
              <a:t>facilities</a:t>
            </a:r>
            <a:r>
              <a:rPr sz="2000" spc="-65" dirty="0">
                <a:latin typeface="Cambria"/>
                <a:cs typeface="Cambria"/>
              </a:rPr>
              <a:t> </a:t>
            </a:r>
            <a:r>
              <a:rPr sz="2000" dirty="0">
                <a:latin typeface="Cambria"/>
                <a:cs typeface="Cambria"/>
              </a:rPr>
              <a:t>of</a:t>
            </a:r>
            <a:r>
              <a:rPr sz="2000" spc="-35" dirty="0">
                <a:latin typeface="Cambria"/>
                <a:cs typeface="Cambria"/>
              </a:rPr>
              <a:t> </a:t>
            </a:r>
            <a:r>
              <a:rPr sz="2000" dirty="0">
                <a:latin typeface="Cambria"/>
                <a:cs typeface="Cambria"/>
              </a:rPr>
              <a:t>the</a:t>
            </a:r>
            <a:r>
              <a:rPr sz="2000" spc="-35" dirty="0">
                <a:latin typeface="Cambria"/>
                <a:cs typeface="Cambria"/>
              </a:rPr>
              <a:t> </a:t>
            </a:r>
            <a:r>
              <a:rPr sz="2000" dirty="0">
                <a:latin typeface="Cambria"/>
                <a:cs typeface="Cambria"/>
              </a:rPr>
              <a:t>assembler</a:t>
            </a:r>
            <a:r>
              <a:rPr sz="2000" spc="-50" dirty="0">
                <a:latin typeface="Cambria"/>
                <a:cs typeface="Cambria"/>
              </a:rPr>
              <a:t> </a:t>
            </a:r>
            <a:r>
              <a:rPr sz="2000" dirty="0">
                <a:latin typeface="Cambria"/>
                <a:cs typeface="Cambria"/>
              </a:rPr>
              <a:t>to</a:t>
            </a:r>
            <a:r>
              <a:rPr sz="2000" spc="-45" dirty="0">
                <a:latin typeface="Cambria"/>
                <a:cs typeface="Cambria"/>
              </a:rPr>
              <a:t> </a:t>
            </a:r>
            <a:r>
              <a:rPr sz="2000" spc="-20" dirty="0">
                <a:latin typeface="Cambria"/>
                <a:cs typeface="Cambria"/>
              </a:rPr>
              <a:t>help </a:t>
            </a:r>
            <a:r>
              <a:rPr sz="2000" dirty="0">
                <a:latin typeface="Cambria"/>
                <a:cs typeface="Cambria"/>
              </a:rPr>
              <a:t>generate</a:t>
            </a:r>
            <a:r>
              <a:rPr sz="2000" spc="-105" dirty="0">
                <a:latin typeface="Cambria"/>
                <a:cs typeface="Cambria"/>
              </a:rPr>
              <a:t> </a:t>
            </a:r>
            <a:r>
              <a:rPr sz="2000" spc="-20" dirty="0">
                <a:latin typeface="Cambria"/>
                <a:cs typeface="Cambria"/>
              </a:rPr>
              <a:t>code.</a:t>
            </a:r>
            <a:endParaRPr sz="2000">
              <a:latin typeface="Cambria"/>
              <a:cs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434975">
              <a:lnSpc>
                <a:spcPts val="3779"/>
              </a:lnSpc>
            </a:pPr>
            <a:r>
              <a:rPr sz="3600" b="1" spc="-10" dirty="0">
                <a:solidFill>
                  <a:srgbClr val="FFFFFF"/>
                </a:solidFill>
                <a:latin typeface="Cambria"/>
                <a:cs typeface="Cambria"/>
              </a:rPr>
              <a:t>Memory </a:t>
            </a:r>
            <a:r>
              <a:rPr sz="3600" b="1" spc="-65" dirty="0">
                <a:solidFill>
                  <a:srgbClr val="FFFFFF"/>
                </a:solidFill>
                <a:latin typeface="Cambria"/>
                <a:cs typeface="Cambria"/>
              </a:rPr>
              <a:t>Management</a:t>
            </a:r>
            <a:endParaRPr sz="3600">
              <a:latin typeface="Cambria"/>
              <a:cs typeface="Cambria"/>
            </a:endParaRPr>
          </a:p>
        </p:txBody>
      </p:sp>
      <p:sp>
        <p:nvSpPr>
          <p:cNvPr id="3" name="object 3"/>
          <p:cNvSpPr txBox="1">
            <a:spLocks noGrp="1"/>
          </p:cNvSpPr>
          <p:nvPr>
            <p:ph type="title"/>
          </p:nvPr>
        </p:nvSpPr>
        <p:spPr>
          <a:xfrm>
            <a:off x="3556508" y="1497533"/>
            <a:ext cx="7603490"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dirty="0"/>
              <a:t>This</a:t>
            </a:r>
            <a:r>
              <a:rPr spc="-55" dirty="0"/>
              <a:t> </a:t>
            </a:r>
            <a:r>
              <a:rPr spc="-10" dirty="0"/>
              <a:t>refers</a:t>
            </a:r>
            <a:r>
              <a:rPr spc="-60" dirty="0"/>
              <a:t> </a:t>
            </a:r>
            <a:r>
              <a:rPr dirty="0"/>
              <a:t>to</a:t>
            </a:r>
            <a:r>
              <a:rPr spc="-25" dirty="0"/>
              <a:t> </a:t>
            </a:r>
            <a:r>
              <a:rPr dirty="0"/>
              <a:t>use</a:t>
            </a:r>
            <a:r>
              <a:rPr spc="-20" dirty="0"/>
              <a:t> </a:t>
            </a:r>
            <a:r>
              <a:rPr dirty="0"/>
              <a:t>of</a:t>
            </a:r>
            <a:r>
              <a:rPr spc="-40" dirty="0"/>
              <a:t> </a:t>
            </a:r>
            <a:r>
              <a:rPr spc="-10" dirty="0"/>
              <a:t>malloc/free,</a:t>
            </a:r>
            <a:r>
              <a:rPr spc="-30" dirty="0"/>
              <a:t> </a:t>
            </a:r>
            <a:r>
              <a:rPr spc="-10" dirty="0"/>
              <a:t>new/delete,</a:t>
            </a:r>
            <a:r>
              <a:rPr spc="-35" dirty="0"/>
              <a:t> </a:t>
            </a:r>
            <a:r>
              <a:rPr dirty="0"/>
              <a:t>and</a:t>
            </a:r>
            <a:r>
              <a:rPr spc="-25" dirty="0"/>
              <a:t> </a:t>
            </a:r>
            <a:r>
              <a:rPr spc="-10" dirty="0"/>
              <a:t>related</a:t>
            </a:r>
          </a:p>
        </p:txBody>
      </p:sp>
      <p:sp>
        <p:nvSpPr>
          <p:cNvPr id="4" name="object 4"/>
          <p:cNvSpPr txBox="1"/>
          <p:nvPr/>
        </p:nvSpPr>
        <p:spPr>
          <a:xfrm>
            <a:off x="3556508" y="1711579"/>
            <a:ext cx="7896225" cy="2458085"/>
          </a:xfrm>
          <a:prstGeom prst="rect">
            <a:avLst/>
          </a:prstGeom>
        </p:spPr>
        <p:txBody>
          <a:bodyPr vert="horz" wrap="square" lIns="0" tIns="128270" rIns="0" bIns="0" rtlCol="0">
            <a:spAutoFit/>
          </a:bodyPr>
          <a:lstStyle/>
          <a:p>
            <a:pPr marL="194945">
              <a:lnSpc>
                <a:spcPct val="100000"/>
              </a:lnSpc>
              <a:spcBef>
                <a:spcPts val="1010"/>
              </a:spcBef>
            </a:pPr>
            <a:r>
              <a:rPr sz="2400" spc="-10" dirty="0">
                <a:latin typeface="Cambria"/>
                <a:cs typeface="Cambria"/>
              </a:rPr>
              <a:t>issues.</a:t>
            </a:r>
            <a:endParaRPr sz="2400">
              <a:latin typeface="Cambria"/>
              <a:cs typeface="Cambria"/>
            </a:endParaRPr>
          </a:p>
          <a:p>
            <a:pPr marL="194945" marR="36195" indent="-182880">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Mapping</a:t>
            </a:r>
            <a:r>
              <a:rPr sz="2400" spc="-130" dirty="0">
                <a:latin typeface="Cambria"/>
                <a:cs typeface="Cambria"/>
              </a:rPr>
              <a:t> </a:t>
            </a:r>
            <a:r>
              <a:rPr sz="2400" dirty="0">
                <a:latin typeface="Cambria"/>
                <a:cs typeface="Cambria"/>
              </a:rPr>
              <a:t>names</a:t>
            </a:r>
            <a:r>
              <a:rPr sz="2400" spc="-60" dirty="0">
                <a:latin typeface="Cambria"/>
                <a:cs typeface="Cambria"/>
              </a:rPr>
              <a:t> </a:t>
            </a:r>
            <a:r>
              <a:rPr sz="2400" dirty="0">
                <a:latin typeface="Cambria"/>
                <a:cs typeface="Cambria"/>
              </a:rPr>
              <a:t>in</a:t>
            </a:r>
            <a:r>
              <a:rPr sz="2400" spc="-80" dirty="0">
                <a:latin typeface="Cambria"/>
                <a:cs typeface="Cambria"/>
              </a:rPr>
              <a:t> </a:t>
            </a:r>
            <a:r>
              <a:rPr sz="2400" dirty="0">
                <a:latin typeface="Cambria"/>
                <a:cs typeface="Cambria"/>
              </a:rPr>
              <a:t>the</a:t>
            </a:r>
            <a:r>
              <a:rPr sz="2400" spc="-60" dirty="0">
                <a:latin typeface="Cambria"/>
                <a:cs typeface="Cambria"/>
              </a:rPr>
              <a:t> </a:t>
            </a:r>
            <a:r>
              <a:rPr sz="2400" dirty="0">
                <a:latin typeface="Cambria"/>
                <a:cs typeface="Cambria"/>
              </a:rPr>
              <a:t>source</a:t>
            </a:r>
            <a:r>
              <a:rPr sz="2400" spc="-50" dirty="0">
                <a:latin typeface="Cambria"/>
                <a:cs typeface="Cambria"/>
              </a:rPr>
              <a:t> </a:t>
            </a:r>
            <a:r>
              <a:rPr sz="2400" dirty="0">
                <a:latin typeface="Cambria"/>
                <a:cs typeface="Cambria"/>
              </a:rPr>
              <a:t>program</a:t>
            </a:r>
            <a:r>
              <a:rPr sz="2400" spc="-75" dirty="0">
                <a:latin typeface="Cambria"/>
                <a:cs typeface="Cambria"/>
              </a:rPr>
              <a:t> </a:t>
            </a:r>
            <a:r>
              <a:rPr sz="2400" dirty="0">
                <a:latin typeface="Cambria"/>
                <a:cs typeface="Cambria"/>
              </a:rPr>
              <a:t>to</a:t>
            </a:r>
            <a:r>
              <a:rPr sz="2400" spc="-60" dirty="0">
                <a:latin typeface="Cambria"/>
                <a:cs typeface="Cambria"/>
              </a:rPr>
              <a:t> </a:t>
            </a:r>
            <a:r>
              <a:rPr sz="2400" dirty="0">
                <a:latin typeface="Cambria"/>
                <a:cs typeface="Cambria"/>
              </a:rPr>
              <a:t>addresses</a:t>
            </a:r>
            <a:r>
              <a:rPr sz="2400" spc="-55" dirty="0">
                <a:latin typeface="Cambria"/>
                <a:cs typeface="Cambria"/>
              </a:rPr>
              <a:t> </a:t>
            </a:r>
            <a:r>
              <a:rPr sz="2400" dirty="0">
                <a:latin typeface="Cambria"/>
                <a:cs typeface="Cambria"/>
              </a:rPr>
              <a:t>of</a:t>
            </a:r>
            <a:r>
              <a:rPr sz="2400" spc="-60" dirty="0">
                <a:latin typeface="Cambria"/>
                <a:cs typeface="Cambria"/>
              </a:rPr>
              <a:t> </a:t>
            </a:r>
            <a:r>
              <a:rPr sz="2400" spc="-20" dirty="0">
                <a:latin typeface="Cambria"/>
                <a:cs typeface="Cambria"/>
              </a:rPr>
              <a:t>data </a:t>
            </a:r>
            <a:r>
              <a:rPr sz="2400" dirty="0">
                <a:latin typeface="Cambria"/>
                <a:cs typeface="Cambria"/>
              </a:rPr>
              <a:t>objects</a:t>
            </a:r>
            <a:r>
              <a:rPr sz="2400" spc="-20" dirty="0">
                <a:latin typeface="Cambria"/>
                <a:cs typeface="Cambria"/>
              </a:rPr>
              <a:t> </a:t>
            </a:r>
            <a:r>
              <a:rPr sz="2400" dirty="0">
                <a:latin typeface="Cambria"/>
                <a:cs typeface="Cambria"/>
              </a:rPr>
              <a:t>in</a:t>
            </a:r>
            <a:r>
              <a:rPr sz="2400" spc="-40" dirty="0">
                <a:latin typeface="Cambria"/>
                <a:cs typeface="Cambria"/>
              </a:rPr>
              <a:t> </a:t>
            </a:r>
            <a:r>
              <a:rPr sz="2400" dirty="0">
                <a:latin typeface="Cambria"/>
                <a:cs typeface="Cambria"/>
              </a:rPr>
              <a:t>run</a:t>
            </a:r>
            <a:r>
              <a:rPr sz="2400" spc="-55" dirty="0">
                <a:latin typeface="Cambria"/>
                <a:cs typeface="Cambria"/>
              </a:rPr>
              <a:t> </a:t>
            </a:r>
            <a:r>
              <a:rPr sz="2400" dirty="0">
                <a:latin typeface="Cambria"/>
                <a:cs typeface="Cambria"/>
              </a:rPr>
              <a:t>time</a:t>
            </a:r>
            <a:r>
              <a:rPr sz="2400" spc="-30" dirty="0">
                <a:latin typeface="Cambria"/>
                <a:cs typeface="Cambria"/>
              </a:rPr>
              <a:t> </a:t>
            </a:r>
            <a:r>
              <a:rPr sz="2400" dirty="0">
                <a:latin typeface="Cambria"/>
                <a:cs typeface="Cambria"/>
              </a:rPr>
              <a:t>memory</a:t>
            </a:r>
            <a:r>
              <a:rPr sz="2400" spc="-25" dirty="0">
                <a:latin typeface="Cambria"/>
                <a:cs typeface="Cambria"/>
              </a:rPr>
              <a:t> </a:t>
            </a:r>
            <a:r>
              <a:rPr sz="2400" dirty="0">
                <a:latin typeface="Cambria"/>
                <a:cs typeface="Cambria"/>
              </a:rPr>
              <a:t>is</a:t>
            </a:r>
            <a:r>
              <a:rPr sz="2400" spc="-30" dirty="0">
                <a:latin typeface="Cambria"/>
                <a:cs typeface="Cambria"/>
              </a:rPr>
              <a:t> </a:t>
            </a:r>
            <a:r>
              <a:rPr sz="2400" dirty="0">
                <a:latin typeface="Cambria"/>
                <a:cs typeface="Cambria"/>
              </a:rPr>
              <a:t>done</a:t>
            </a:r>
            <a:r>
              <a:rPr sz="2400" spc="-30" dirty="0">
                <a:latin typeface="Cambria"/>
                <a:cs typeface="Cambria"/>
              </a:rPr>
              <a:t> </a:t>
            </a:r>
            <a:r>
              <a:rPr sz="2400" spc="-25" dirty="0">
                <a:latin typeface="Cambria"/>
                <a:cs typeface="Cambria"/>
              </a:rPr>
              <a:t>cooperatively</a:t>
            </a:r>
            <a:r>
              <a:rPr sz="2400" spc="-40" dirty="0">
                <a:latin typeface="Cambria"/>
                <a:cs typeface="Cambria"/>
              </a:rPr>
              <a:t> </a:t>
            </a:r>
            <a:r>
              <a:rPr sz="2400" dirty="0">
                <a:latin typeface="Cambria"/>
                <a:cs typeface="Cambria"/>
              </a:rPr>
              <a:t>by</a:t>
            </a:r>
            <a:r>
              <a:rPr sz="2400" spc="-30" dirty="0">
                <a:latin typeface="Cambria"/>
                <a:cs typeface="Cambria"/>
              </a:rPr>
              <a:t> </a:t>
            </a:r>
            <a:r>
              <a:rPr sz="2400" spc="-25" dirty="0">
                <a:latin typeface="Cambria"/>
                <a:cs typeface="Cambria"/>
              </a:rPr>
              <a:t>the </a:t>
            </a:r>
            <a:r>
              <a:rPr sz="2400" dirty="0">
                <a:latin typeface="Cambria"/>
                <a:cs typeface="Cambria"/>
              </a:rPr>
              <a:t>front</a:t>
            </a:r>
            <a:r>
              <a:rPr sz="2400" spc="-60" dirty="0">
                <a:latin typeface="Cambria"/>
                <a:cs typeface="Cambria"/>
              </a:rPr>
              <a:t> </a:t>
            </a:r>
            <a:r>
              <a:rPr sz="2400" dirty="0">
                <a:latin typeface="Cambria"/>
                <a:cs typeface="Cambria"/>
              </a:rPr>
              <a:t>end</a:t>
            </a:r>
            <a:r>
              <a:rPr sz="2400" spc="-40" dirty="0">
                <a:latin typeface="Cambria"/>
                <a:cs typeface="Cambria"/>
              </a:rPr>
              <a:t> </a:t>
            </a:r>
            <a:r>
              <a:rPr sz="2400" dirty="0">
                <a:latin typeface="Cambria"/>
                <a:cs typeface="Cambria"/>
              </a:rPr>
              <a:t>and</a:t>
            </a:r>
            <a:r>
              <a:rPr sz="2400" spc="-55"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code</a:t>
            </a:r>
            <a:r>
              <a:rPr sz="2400" spc="-30" dirty="0">
                <a:latin typeface="Cambria"/>
                <a:cs typeface="Cambria"/>
              </a:rPr>
              <a:t> </a:t>
            </a:r>
            <a:r>
              <a:rPr sz="2400" spc="-10" dirty="0">
                <a:latin typeface="Cambria"/>
                <a:cs typeface="Cambria"/>
              </a:rPr>
              <a:t>generator.</a:t>
            </a:r>
            <a:endParaRPr sz="2400">
              <a:latin typeface="Cambria"/>
              <a:cs typeface="Cambria"/>
            </a:endParaRPr>
          </a:p>
          <a:p>
            <a:pPr marL="194945" marR="5080" indent="-182880">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5" dirty="0">
                <a:latin typeface="Cambria"/>
                <a:cs typeface="Cambria"/>
              </a:rPr>
              <a:t>We</a:t>
            </a:r>
            <a:r>
              <a:rPr sz="2400" spc="-80" dirty="0">
                <a:latin typeface="Cambria"/>
                <a:cs typeface="Cambria"/>
              </a:rPr>
              <a:t> </a:t>
            </a:r>
            <a:r>
              <a:rPr sz="2400" dirty="0">
                <a:latin typeface="Cambria"/>
                <a:cs typeface="Cambria"/>
              </a:rPr>
              <a:t>assume</a:t>
            </a:r>
            <a:r>
              <a:rPr sz="2400" spc="-35" dirty="0">
                <a:latin typeface="Cambria"/>
                <a:cs typeface="Cambria"/>
              </a:rPr>
              <a:t> </a:t>
            </a:r>
            <a:r>
              <a:rPr sz="2400" dirty="0">
                <a:latin typeface="Cambria"/>
                <a:cs typeface="Cambria"/>
              </a:rPr>
              <a:t>that</a:t>
            </a:r>
            <a:r>
              <a:rPr sz="2400" spc="-50" dirty="0">
                <a:latin typeface="Cambria"/>
                <a:cs typeface="Cambria"/>
              </a:rPr>
              <a:t> </a:t>
            </a:r>
            <a:r>
              <a:rPr sz="2400" dirty="0">
                <a:latin typeface="Cambria"/>
                <a:cs typeface="Cambria"/>
              </a:rPr>
              <a:t>a</a:t>
            </a:r>
            <a:r>
              <a:rPr sz="2400" spc="-50" dirty="0">
                <a:latin typeface="Cambria"/>
                <a:cs typeface="Cambria"/>
              </a:rPr>
              <a:t> </a:t>
            </a:r>
            <a:r>
              <a:rPr sz="2400" dirty="0">
                <a:latin typeface="Cambria"/>
                <a:cs typeface="Cambria"/>
              </a:rPr>
              <a:t>name</a:t>
            </a:r>
            <a:r>
              <a:rPr sz="2400" spc="-40" dirty="0">
                <a:latin typeface="Cambria"/>
                <a:cs typeface="Cambria"/>
              </a:rPr>
              <a:t> </a:t>
            </a:r>
            <a:r>
              <a:rPr sz="2400" dirty="0">
                <a:latin typeface="Cambria"/>
                <a:cs typeface="Cambria"/>
              </a:rPr>
              <a:t>in</a:t>
            </a:r>
            <a:r>
              <a:rPr sz="2400" spc="-65" dirty="0">
                <a:latin typeface="Cambria"/>
                <a:cs typeface="Cambria"/>
              </a:rPr>
              <a:t> </a:t>
            </a:r>
            <a:r>
              <a:rPr sz="2400" dirty="0">
                <a:latin typeface="Cambria"/>
                <a:cs typeface="Cambria"/>
              </a:rPr>
              <a:t>a</a:t>
            </a:r>
            <a:r>
              <a:rPr sz="2400" spc="-45" dirty="0">
                <a:latin typeface="Cambria"/>
                <a:cs typeface="Cambria"/>
              </a:rPr>
              <a:t> </a:t>
            </a:r>
            <a:r>
              <a:rPr sz="2400" spc="-10" dirty="0">
                <a:latin typeface="Cambria"/>
                <a:cs typeface="Cambria"/>
              </a:rPr>
              <a:t>three-</a:t>
            </a:r>
            <a:r>
              <a:rPr sz="2400" dirty="0">
                <a:latin typeface="Cambria"/>
                <a:cs typeface="Cambria"/>
              </a:rPr>
              <a:t>address</a:t>
            </a:r>
            <a:r>
              <a:rPr sz="2400" spc="-35" dirty="0">
                <a:latin typeface="Cambria"/>
                <a:cs typeface="Cambria"/>
              </a:rPr>
              <a:t> </a:t>
            </a:r>
            <a:r>
              <a:rPr sz="2400" spc="-10" dirty="0">
                <a:latin typeface="Cambria"/>
                <a:cs typeface="Cambria"/>
              </a:rPr>
              <a:t>statement</a:t>
            </a:r>
            <a:r>
              <a:rPr sz="2400" spc="-50" dirty="0">
                <a:latin typeface="Cambria"/>
                <a:cs typeface="Cambria"/>
              </a:rPr>
              <a:t> </a:t>
            </a:r>
            <a:r>
              <a:rPr sz="2400" spc="-10" dirty="0">
                <a:latin typeface="Cambria"/>
                <a:cs typeface="Cambria"/>
              </a:rPr>
              <a:t>refers </a:t>
            </a:r>
            <a:r>
              <a:rPr sz="2400" dirty="0">
                <a:latin typeface="Cambria"/>
                <a:cs typeface="Cambria"/>
              </a:rPr>
              <a:t>to</a:t>
            </a:r>
            <a:r>
              <a:rPr sz="2400" spc="-45" dirty="0">
                <a:latin typeface="Cambria"/>
                <a:cs typeface="Cambria"/>
              </a:rPr>
              <a:t> </a:t>
            </a:r>
            <a:r>
              <a:rPr sz="2400" dirty="0">
                <a:latin typeface="Cambria"/>
                <a:cs typeface="Cambria"/>
              </a:rPr>
              <a:t>a</a:t>
            </a:r>
            <a:r>
              <a:rPr sz="2400" spc="-45" dirty="0">
                <a:latin typeface="Cambria"/>
                <a:cs typeface="Cambria"/>
              </a:rPr>
              <a:t> </a:t>
            </a:r>
            <a:r>
              <a:rPr sz="2400" dirty="0">
                <a:latin typeface="Cambria"/>
                <a:cs typeface="Cambria"/>
              </a:rPr>
              <a:t>symbol</a:t>
            </a:r>
            <a:r>
              <a:rPr sz="2400" spc="-35" dirty="0">
                <a:latin typeface="Cambria"/>
                <a:cs typeface="Cambria"/>
              </a:rPr>
              <a:t> </a:t>
            </a:r>
            <a:r>
              <a:rPr sz="2400" dirty="0">
                <a:latin typeface="Cambria"/>
                <a:cs typeface="Cambria"/>
              </a:rPr>
              <a:t>table</a:t>
            </a:r>
            <a:r>
              <a:rPr sz="2400" spc="-45" dirty="0">
                <a:latin typeface="Cambria"/>
                <a:cs typeface="Cambria"/>
              </a:rPr>
              <a:t> </a:t>
            </a:r>
            <a:r>
              <a:rPr sz="2400" dirty="0">
                <a:latin typeface="Cambria"/>
                <a:cs typeface="Cambria"/>
              </a:rPr>
              <a:t>entry</a:t>
            </a:r>
            <a:r>
              <a:rPr sz="2400" spc="-65" dirty="0">
                <a:latin typeface="Cambria"/>
                <a:cs typeface="Cambria"/>
              </a:rPr>
              <a:t> </a:t>
            </a:r>
            <a:r>
              <a:rPr sz="2400" dirty="0">
                <a:latin typeface="Cambria"/>
                <a:cs typeface="Cambria"/>
              </a:rPr>
              <a:t>for</a:t>
            </a:r>
            <a:r>
              <a:rPr sz="2400" spc="-65" dirty="0">
                <a:latin typeface="Cambria"/>
                <a:cs typeface="Cambria"/>
              </a:rPr>
              <a:t> </a:t>
            </a:r>
            <a:r>
              <a:rPr sz="2400" dirty="0">
                <a:latin typeface="Cambria"/>
                <a:cs typeface="Cambria"/>
              </a:rPr>
              <a:t>the</a:t>
            </a:r>
            <a:r>
              <a:rPr sz="2400" spc="-40" dirty="0">
                <a:latin typeface="Cambria"/>
                <a:cs typeface="Cambria"/>
              </a:rPr>
              <a:t> </a:t>
            </a:r>
            <a:r>
              <a:rPr sz="2400" spc="-10" dirty="0">
                <a:latin typeface="Cambria"/>
                <a:cs typeface="Cambria"/>
              </a:rPr>
              <a:t>name.</a:t>
            </a:r>
            <a:endParaRPr sz="2400">
              <a:latin typeface="Cambria"/>
              <a:cs typeface="Cambria"/>
            </a:endParaRPr>
          </a:p>
        </p:txBody>
      </p:sp>
      <p:sp>
        <p:nvSpPr>
          <p:cNvPr id="5" name="object 5"/>
          <p:cNvSpPr txBox="1"/>
          <p:nvPr/>
        </p:nvSpPr>
        <p:spPr>
          <a:xfrm>
            <a:off x="3556508" y="4589526"/>
            <a:ext cx="8057515" cy="720725"/>
          </a:xfrm>
          <a:prstGeom prst="rect">
            <a:avLst/>
          </a:prstGeom>
        </p:spPr>
        <p:txBody>
          <a:bodyPr vert="horz" wrap="square" lIns="0" tIns="53975" rIns="0" bIns="0" rtlCol="0">
            <a:spAutoFit/>
          </a:bodyPr>
          <a:lstStyle/>
          <a:p>
            <a:pPr marL="194945"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From</a:t>
            </a:r>
            <a:r>
              <a:rPr sz="2400" spc="-110" dirty="0">
                <a:latin typeface="Cambria"/>
                <a:cs typeface="Cambria"/>
              </a:rPr>
              <a:t> </a:t>
            </a:r>
            <a:r>
              <a:rPr sz="2400" dirty="0">
                <a:latin typeface="Cambria"/>
                <a:cs typeface="Cambria"/>
              </a:rPr>
              <a:t>the</a:t>
            </a:r>
            <a:r>
              <a:rPr sz="2400" spc="-45" dirty="0">
                <a:latin typeface="Cambria"/>
                <a:cs typeface="Cambria"/>
              </a:rPr>
              <a:t> </a:t>
            </a:r>
            <a:r>
              <a:rPr sz="2400" dirty="0">
                <a:latin typeface="Cambria"/>
                <a:cs typeface="Cambria"/>
              </a:rPr>
              <a:t>symbol</a:t>
            </a:r>
            <a:r>
              <a:rPr sz="2400" spc="-45" dirty="0">
                <a:latin typeface="Cambria"/>
                <a:cs typeface="Cambria"/>
              </a:rPr>
              <a:t> </a:t>
            </a:r>
            <a:r>
              <a:rPr sz="2400" dirty="0">
                <a:latin typeface="Cambria"/>
                <a:cs typeface="Cambria"/>
              </a:rPr>
              <a:t>table</a:t>
            </a:r>
            <a:r>
              <a:rPr sz="2400" spc="-45" dirty="0">
                <a:latin typeface="Cambria"/>
                <a:cs typeface="Cambria"/>
              </a:rPr>
              <a:t> </a:t>
            </a:r>
            <a:r>
              <a:rPr sz="2400" dirty="0">
                <a:latin typeface="Cambria"/>
                <a:cs typeface="Cambria"/>
              </a:rPr>
              <a:t>information,</a:t>
            </a:r>
            <a:r>
              <a:rPr sz="2400" spc="-90" dirty="0">
                <a:latin typeface="Cambria"/>
                <a:cs typeface="Cambria"/>
              </a:rPr>
              <a:t> </a:t>
            </a:r>
            <a:r>
              <a:rPr sz="2400" dirty="0">
                <a:latin typeface="Cambria"/>
                <a:cs typeface="Cambria"/>
              </a:rPr>
              <a:t>a</a:t>
            </a:r>
            <a:r>
              <a:rPr sz="2400" spc="-55" dirty="0">
                <a:latin typeface="Cambria"/>
                <a:cs typeface="Cambria"/>
              </a:rPr>
              <a:t> </a:t>
            </a:r>
            <a:r>
              <a:rPr sz="2400" spc="-20" dirty="0">
                <a:latin typeface="Cambria"/>
                <a:cs typeface="Cambria"/>
              </a:rPr>
              <a:t>relative</a:t>
            </a:r>
            <a:r>
              <a:rPr sz="2400" spc="-65" dirty="0">
                <a:latin typeface="Cambria"/>
                <a:cs typeface="Cambria"/>
              </a:rPr>
              <a:t> </a:t>
            </a:r>
            <a:r>
              <a:rPr sz="2400" dirty="0">
                <a:latin typeface="Cambria"/>
                <a:cs typeface="Cambria"/>
              </a:rPr>
              <a:t>address</a:t>
            </a:r>
            <a:r>
              <a:rPr sz="2400" spc="-35" dirty="0">
                <a:latin typeface="Cambria"/>
                <a:cs typeface="Cambria"/>
              </a:rPr>
              <a:t> </a:t>
            </a:r>
            <a:r>
              <a:rPr sz="2400" dirty="0">
                <a:latin typeface="Cambria"/>
                <a:cs typeface="Cambria"/>
              </a:rPr>
              <a:t>can</a:t>
            </a:r>
            <a:r>
              <a:rPr sz="2400" spc="-55" dirty="0">
                <a:latin typeface="Cambria"/>
                <a:cs typeface="Cambria"/>
              </a:rPr>
              <a:t> </a:t>
            </a:r>
            <a:r>
              <a:rPr sz="2400" spc="-25" dirty="0">
                <a:latin typeface="Cambria"/>
                <a:cs typeface="Cambria"/>
              </a:rPr>
              <a:t>be </a:t>
            </a:r>
            <a:r>
              <a:rPr sz="2400" dirty="0">
                <a:latin typeface="Cambria"/>
                <a:cs typeface="Cambria"/>
              </a:rPr>
              <a:t>determined</a:t>
            </a:r>
            <a:r>
              <a:rPr sz="2400" spc="-50" dirty="0">
                <a:latin typeface="Cambria"/>
                <a:cs typeface="Cambria"/>
              </a:rPr>
              <a:t> </a:t>
            </a:r>
            <a:r>
              <a:rPr sz="2400" dirty="0">
                <a:latin typeface="Cambria"/>
                <a:cs typeface="Cambria"/>
              </a:rPr>
              <a:t>for</a:t>
            </a:r>
            <a:r>
              <a:rPr sz="2400" spc="-60" dirty="0">
                <a:latin typeface="Cambria"/>
                <a:cs typeface="Cambria"/>
              </a:rPr>
              <a:t> </a:t>
            </a:r>
            <a:r>
              <a:rPr sz="2400" dirty="0">
                <a:latin typeface="Cambria"/>
                <a:cs typeface="Cambria"/>
              </a:rPr>
              <a:t>the</a:t>
            </a:r>
            <a:r>
              <a:rPr sz="2400" spc="-35" dirty="0">
                <a:latin typeface="Cambria"/>
                <a:cs typeface="Cambria"/>
              </a:rPr>
              <a:t> </a:t>
            </a:r>
            <a:r>
              <a:rPr sz="2400" dirty="0">
                <a:latin typeface="Cambria"/>
                <a:cs typeface="Cambria"/>
              </a:rPr>
              <a:t>name</a:t>
            </a:r>
            <a:r>
              <a:rPr sz="2400" spc="-35" dirty="0">
                <a:latin typeface="Cambria"/>
                <a:cs typeface="Cambria"/>
              </a:rPr>
              <a:t> </a:t>
            </a:r>
            <a:r>
              <a:rPr sz="2400" dirty="0">
                <a:latin typeface="Cambria"/>
                <a:cs typeface="Cambria"/>
              </a:rPr>
              <a:t>in</a:t>
            </a:r>
            <a:r>
              <a:rPr sz="2400" spc="-55" dirty="0">
                <a:latin typeface="Cambria"/>
                <a:cs typeface="Cambria"/>
              </a:rPr>
              <a:t> </a:t>
            </a:r>
            <a:r>
              <a:rPr sz="2400" dirty="0">
                <a:latin typeface="Cambria"/>
                <a:cs typeface="Cambria"/>
              </a:rPr>
              <a:t>a</a:t>
            </a:r>
            <a:r>
              <a:rPr sz="2400" spc="-40" dirty="0">
                <a:latin typeface="Cambria"/>
                <a:cs typeface="Cambria"/>
              </a:rPr>
              <a:t> </a:t>
            </a:r>
            <a:r>
              <a:rPr sz="2400" dirty="0">
                <a:latin typeface="Cambria"/>
                <a:cs typeface="Cambria"/>
              </a:rPr>
              <a:t>data</a:t>
            </a:r>
            <a:r>
              <a:rPr sz="2400" spc="-35" dirty="0">
                <a:latin typeface="Cambria"/>
                <a:cs typeface="Cambria"/>
              </a:rPr>
              <a:t> </a:t>
            </a:r>
            <a:r>
              <a:rPr sz="2400" spc="-10" dirty="0">
                <a:latin typeface="Cambria"/>
                <a:cs typeface="Cambria"/>
              </a:rPr>
              <a:t>area.</a:t>
            </a:r>
            <a:endParaRPr sz="2400">
              <a:latin typeface="Cambria"/>
              <a:cs typeface="Cambria"/>
            </a:endParaRPr>
          </a:p>
        </p:txBody>
      </p:sp>
      <p:sp>
        <p:nvSpPr>
          <p:cNvPr id="7" name="TextBox 6">
            <a:extLst>
              <a:ext uri="{FF2B5EF4-FFF2-40B4-BE49-F238E27FC236}">
                <a16:creationId xmlns:a16="http://schemas.microsoft.com/office/drawing/2014/main" id="{6EB9F6BB-7A6F-F9BA-38BF-F820CADD4B5C}"/>
              </a:ext>
            </a:extLst>
          </p:cNvPr>
          <p:cNvSpPr txBox="1"/>
          <p:nvPr/>
        </p:nvSpPr>
        <p:spPr>
          <a:xfrm>
            <a:off x="4038600" y="97231"/>
            <a:ext cx="7315200" cy="1015663"/>
          </a:xfrm>
          <a:prstGeom prst="rect">
            <a:avLst/>
          </a:prstGeom>
          <a:noFill/>
        </p:spPr>
        <p:txBody>
          <a:bodyPr wrap="square">
            <a:spAutoFit/>
          </a:bodyPr>
          <a:lstStyle/>
          <a:p>
            <a:r>
              <a:rPr lang="en-US" sz="2000" b="1" dirty="0">
                <a:latin typeface="Cambria" panose="02040503050406030204" pitchFamily="18" charset="0"/>
                <a:ea typeface="Cambria" panose="02040503050406030204" pitchFamily="18" charset="0"/>
              </a:rPr>
              <a:t>Memory management</a:t>
            </a:r>
            <a:r>
              <a:rPr lang="en-US" sz="2000" dirty="0">
                <a:latin typeface="Cambria" panose="02040503050406030204" pitchFamily="18" charset="0"/>
                <a:ea typeface="Cambria" panose="02040503050406030204" pitchFamily="18" charset="0"/>
              </a:rPr>
              <a:t> means the process of </a:t>
            </a:r>
            <a:r>
              <a:rPr lang="en-US" sz="2000" b="1" dirty="0">
                <a:latin typeface="Cambria" panose="02040503050406030204" pitchFamily="18" charset="0"/>
                <a:ea typeface="Cambria" panose="02040503050406030204" pitchFamily="18" charset="0"/>
              </a:rPr>
              <a:t>allocating, organizing, and deallocating memory</a:t>
            </a:r>
            <a:r>
              <a:rPr lang="en-US" sz="2000" dirty="0">
                <a:latin typeface="Cambria" panose="02040503050406030204" pitchFamily="18" charset="0"/>
                <a:ea typeface="Cambria" panose="02040503050406030204" pitchFamily="18" charset="0"/>
              </a:rPr>
              <a:t> for variables, arrays, objects, and other data during program execution</a:t>
            </a:r>
            <a:r>
              <a:rPr lang="en-US" dirty="0"/>
              <a:t>.</a:t>
            </a:r>
            <a:endParaRPr lang="en-IN" dirty="0"/>
          </a:p>
        </p:txBody>
      </p:sp>
      <p:sp>
        <p:nvSpPr>
          <p:cNvPr id="9" name="TextBox 8">
            <a:extLst>
              <a:ext uri="{FF2B5EF4-FFF2-40B4-BE49-F238E27FC236}">
                <a16:creationId xmlns:a16="http://schemas.microsoft.com/office/drawing/2014/main" id="{828936C2-1831-AF38-C55A-FBD09000D054}"/>
              </a:ext>
            </a:extLst>
          </p:cNvPr>
          <p:cNvSpPr txBox="1"/>
          <p:nvPr/>
        </p:nvSpPr>
        <p:spPr>
          <a:xfrm>
            <a:off x="3810000" y="5310251"/>
            <a:ext cx="7086600" cy="923330"/>
          </a:xfrm>
          <a:prstGeom prst="rect">
            <a:avLst/>
          </a:prstGeom>
          <a:noFill/>
        </p:spPr>
        <p:txBody>
          <a:bodyPr wrap="square">
            <a:spAutoFit/>
          </a:bodyPr>
          <a:lstStyle/>
          <a:p>
            <a:pPr>
              <a:buNone/>
            </a:pPr>
            <a:r>
              <a:rPr lang="en-US" dirty="0"/>
              <a:t>Instead of storing the full actual address, the compiler often stores:</a:t>
            </a:r>
          </a:p>
          <a:p>
            <a:pPr>
              <a:buNone/>
            </a:pPr>
            <a:r>
              <a:rPr lang="en-US" b="1" dirty="0"/>
              <a:t>Relative Address = position of variable from the start of its data area</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808990">
              <a:lnSpc>
                <a:spcPts val="3779"/>
              </a:lnSpc>
            </a:pPr>
            <a:r>
              <a:rPr sz="3600" b="1" spc="-65" dirty="0">
                <a:solidFill>
                  <a:srgbClr val="FFFFFF"/>
                </a:solidFill>
                <a:latin typeface="Cambria"/>
                <a:cs typeface="Cambria"/>
              </a:rPr>
              <a:t>Instruction </a:t>
            </a:r>
            <a:r>
              <a:rPr sz="3600" b="1" spc="-10" dirty="0">
                <a:solidFill>
                  <a:srgbClr val="FFFFFF"/>
                </a:solidFill>
                <a:latin typeface="Cambria"/>
                <a:cs typeface="Cambria"/>
              </a:rPr>
              <a:t>Selection</a:t>
            </a:r>
            <a:endParaRPr sz="3600">
              <a:latin typeface="Cambria"/>
              <a:cs typeface="Cambria"/>
            </a:endParaRPr>
          </a:p>
        </p:txBody>
      </p:sp>
      <p:sp>
        <p:nvSpPr>
          <p:cNvPr id="3" name="object 3"/>
          <p:cNvSpPr txBox="1">
            <a:spLocks noGrp="1"/>
          </p:cNvSpPr>
          <p:nvPr>
            <p:ph type="title"/>
          </p:nvPr>
        </p:nvSpPr>
        <p:spPr>
          <a:xfrm>
            <a:off x="3543680" y="696213"/>
            <a:ext cx="8124825" cy="879475"/>
          </a:xfrm>
          <a:prstGeom prst="rect">
            <a:avLst/>
          </a:prstGeom>
        </p:spPr>
        <p:txBody>
          <a:bodyPr vert="horz" wrap="square" lIns="0" tIns="47625" rIns="0" bIns="0" rtlCol="0">
            <a:spAutoFit/>
          </a:bodyPr>
          <a:lstStyle/>
          <a:p>
            <a:pPr marL="195580" marR="5080" indent="-182880">
              <a:lnSpc>
                <a:spcPts val="2160"/>
              </a:lnSpc>
              <a:spcBef>
                <a:spcPts val="37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t>If</a:t>
            </a:r>
            <a:r>
              <a:rPr sz="2000" spc="-50" dirty="0"/>
              <a:t> </a:t>
            </a:r>
            <a:r>
              <a:rPr sz="2000" dirty="0"/>
              <a:t>we</a:t>
            </a:r>
            <a:r>
              <a:rPr sz="2000" spc="-35" dirty="0"/>
              <a:t> </a:t>
            </a:r>
            <a:r>
              <a:rPr sz="2000" dirty="0"/>
              <a:t>do</a:t>
            </a:r>
            <a:r>
              <a:rPr sz="2000" spc="-20" dirty="0"/>
              <a:t> </a:t>
            </a:r>
            <a:r>
              <a:rPr sz="2000" dirty="0"/>
              <a:t>not</a:t>
            </a:r>
            <a:r>
              <a:rPr sz="2000" spc="-35" dirty="0"/>
              <a:t> </a:t>
            </a:r>
            <a:r>
              <a:rPr sz="2000" dirty="0"/>
              <a:t>care</a:t>
            </a:r>
            <a:r>
              <a:rPr sz="2000" spc="-45" dirty="0"/>
              <a:t> </a:t>
            </a:r>
            <a:r>
              <a:rPr sz="2000" dirty="0"/>
              <a:t>about</a:t>
            </a:r>
            <a:r>
              <a:rPr sz="2000" spc="-40" dirty="0"/>
              <a:t> </a:t>
            </a:r>
            <a:r>
              <a:rPr sz="2000" dirty="0"/>
              <a:t>the</a:t>
            </a:r>
            <a:r>
              <a:rPr sz="2000" spc="-35" dirty="0"/>
              <a:t> </a:t>
            </a:r>
            <a:r>
              <a:rPr sz="2000" dirty="0"/>
              <a:t>efficiency</a:t>
            </a:r>
            <a:r>
              <a:rPr sz="2000" spc="-55" dirty="0"/>
              <a:t> </a:t>
            </a:r>
            <a:r>
              <a:rPr sz="2000" dirty="0"/>
              <a:t>of</a:t>
            </a:r>
            <a:r>
              <a:rPr sz="2000" spc="-30" dirty="0"/>
              <a:t> </a:t>
            </a:r>
            <a:r>
              <a:rPr sz="2000" dirty="0"/>
              <a:t>the</a:t>
            </a:r>
            <a:r>
              <a:rPr sz="2000" spc="-40" dirty="0"/>
              <a:t> </a:t>
            </a:r>
            <a:r>
              <a:rPr sz="2000" dirty="0"/>
              <a:t>target</a:t>
            </a:r>
            <a:r>
              <a:rPr sz="2000" spc="-60" dirty="0"/>
              <a:t> </a:t>
            </a:r>
            <a:r>
              <a:rPr sz="2000" dirty="0"/>
              <a:t>program,</a:t>
            </a:r>
            <a:r>
              <a:rPr sz="2000" spc="-50" dirty="0"/>
              <a:t> </a:t>
            </a:r>
            <a:r>
              <a:rPr sz="2000" spc="-10" dirty="0"/>
              <a:t>instruction </a:t>
            </a:r>
            <a:r>
              <a:rPr sz="2000" dirty="0"/>
              <a:t>selection</a:t>
            </a:r>
            <a:r>
              <a:rPr sz="2000" spc="-60" dirty="0"/>
              <a:t> </a:t>
            </a:r>
            <a:r>
              <a:rPr sz="2000" dirty="0"/>
              <a:t>is</a:t>
            </a:r>
            <a:r>
              <a:rPr sz="2000" spc="-55" dirty="0"/>
              <a:t> </a:t>
            </a:r>
            <a:r>
              <a:rPr sz="2000" spc="-10" dirty="0"/>
              <a:t>straightforward.</a:t>
            </a:r>
            <a:r>
              <a:rPr sz="2000" spc="-70" dirty="0"/>
              <a:t> </a:t>
            </a:r>
            <a:r>
              <a:rPr sz="2000" dirty="0"/>
              <a:t>It</a:t>
            </a:r>
            <a:r>
              <a:rPr sz="2000" spc="-45" dirty="0"/>
              <a:t> </a:t>
            </a:r>
            <a:r>
              <a:rPr sz="2000" spc="-10" dirty="0"/>
              <a:t>requires</a:t>
            </a:r>
            <a:r>
              <a:rPr sz="2000" spc="-60" dirty="0"/>
              <a:t> </a:t>
            </a:r>
            <a:r>
              <a:rPr sz="2000" dirty="0"/>
              <a:t>special</a:t>
            </a:r>
            <a:r>
              <a:rPr sz="2000" spc="-65" dirty="0"/>
              <a:t> </a:t>
            </a:r>
            <a:r>
              <a:rPr sz="2000" dirty="0"/>
              <a:t>handling.</a:t>
            </a:r>
            <a:r>
              <a:rPr sz="2000" spc="-70" dirty="0"/>
              <a:t> </a:t>
            </a:r>
            <a:r>
              <a:rPr sz="2000" dirty="0"/>
              <a:t>For</a:t>
            </a:r>
            <a:r>
              <a:rPr sz="2000" spc="-60" dirty="0"/>
              <a:t> </a:t>
            </a:r>
            <a:r>
              <a:rPr sz="2000" dirty="0"/>
              <a:t>example,</a:t>
            </a:r>
            <a:r>
              <a:rPr sz="2000" spc="-60" dirty="0"/>
              <a:t> </a:t>
            </a:r>
            <a:r>
              <a:rPr sz="2000" spc="-25" dirty="0"/>
              <a:t>the </a:t>
            </a:r>
            <a:r>
              <a:rPr sz="2000" dirty="0"/>
              <a:t>sequence</a:t>
            </a:r>
            <a:r>
              <a:rPr sz="2000" spc="-30" dirty="0"/>
              <a:t> </a:t>
            </a:r>
            <a:r>
              <a:rPr sz="2000" dirty="0"/>
              <a:t>of</a:t>
            </a:r>
            <a:r>
              <a:rPr sz="2000" spc="-35" dirty="0"/>
              <a:t> </a:t>
            </a:r>
            <a:r>
              <a:rPr sz="2000" spc="-10" dirty="0"/>
              <a:t>statements</a:t>
            </a:r>
            <a:endParaRPr sz="2000">
              <a:latin typeface="Arial MT"/>
              <a:cs typeface="Arial MT"/>
            </a:endParaRPr>
          </a:p>
        </p:txBody>
      </p:sp>
      <p:sp>
        <p:nvSpPr>
          <p:cNvPr id="4" name="object 4"/>
          <p:cNvSpPr txBox="1"/>
          <p:nvPr/>
        </p:nvSpPr>
        <p:spPr>
          <a:xfrm>
            <a:off x="3543680" y="1550644"/>
            <a:ext cx="7166609" cy="4568190"/>
          </a:xfrm>
          <a:prstGeom prst="rect">
            <a:avLst/>
          </a:prstGeom>
        </p:spPr>
        <p:txBody>
          <a:bodyPr vert="horz" wrap="square" lIns="0" tIns="134620" rIns="0" bIns="0" rtlCol="0">
            <a:spAutoFit/>
          </a:bodyPr>
          <a:lstStyle/>
          <a:p>
            <a:pPr marL="12700">
              <a:lnSpc>
                <a:spcPct val="100000"/>
              </a:lnSpc>
              <a:spcBef>
                <a:spcPts val="10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a</a:t>
            </a:r>
            <a:r>
              <a:rPr sz="2000" spc="-20"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b</a:t>
            </a:r>
            <a:r>
              <a:rPr sz="2000" spc="-10" dirty="0">
                <a:latin typeface="Cambria"/>
                <a:cs typeface="Cambria"/>
              </a:rPr>
              <a:t> </a:t>
            </a:r>
            <a:r>
              <a:rPr sz="2000" dirty="0">
                <a:latin typeface="Cambria"/>
                <a:cs typeface="Cambria"/>
              </a:rPr>
              <a:t>+</a:t>
            </a:r>
            <a:r>
              <a:rPr sz="2000" spc="-5" dirty="0">
                <a:latin typeface="Cambria"/>
                <a:cs typeface="Cambria"/>
              </a:rPr>
              <a:t> </a:t>
            </a:r>
            <a:r>
              <a:rPr sz="2000" spc="-50" dirty="0">
                <a:latin typeface="Cambria"/>
                <a:cs typeface="Cambria"/>
              </a:rPr>
              <a:t>c</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d</a:t>
            </a:r>
            <a:r>
              <a:rPr sz="2000" spc="-25"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a</a:t>
            </a:r>
            <a:r>
              <a:rPr sz="2000" spc="-15" dirty="0">
                <a:latin typeface="Cambria"/>
                <a:cs typeface="Cambria"/>
              </a:rPr>
              <a:t> </a:t>
            </a:r>
            <a:r>
              <a:rPr sz="2000" dirty="0">
                <a:latin typeface="Cambria"/>
                <a:cs typeface="Cambria"/>
              </a:rPr>
              <a:t>+</a:t>
            </a:r>
            <a:r>
              <a:rPr sz="2000" spc="-10" dirty="0">
                <a:latin typeface="Cambria"/>
                <a:cs typeface="Cambria"/>
              </a:rPr>
              <a:t> </a:t>
            </a:r>
            <a:r>
              <a:rPr sz="2000" spc="-50" dirty="0">
                <a:latin typeface="Cambria"/>
                <a:cs typeface="Cambria"/>
              </a:rPr>
              <a:t>e</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would</a:t>
            </a:r>
            <a:r>
              <a:rPr sz="2000" spc="-45" dirty="0">
                <a:latin typeface="Cambria"/>
                <a:cs typeface="Cambria"/>
              </a:rPr>
              <a:t> </a:t>
            </a:r>
            <a:r>
              <a:rPr sz="2000" dirty="0">
                <a:latin typeface="Cambria"/>
                <a:cs typeface="Cambria"/>
              </a:rPr>
              <a:t>be</a:t>
            </a:r>
            <a:r>
              <a:rPr sz="2000" spc="-5" dirty="0">
                <a:latin typeface="Cambria"/>
                <a:cs typeface="Cambria"/>
              </a:rPr>
              <a:t> </a:t>
            </a:r>
            <a:r>
              <a:rPr sz="2000" spc="-10" dirty="0">
                <a:latin typeface="Cambria"/>
                <a:cs typeface="Cambria"/>
              </a:rPr>
              <a:t>translated</a:t>
            </a:r>
            <a:r>
              <a:rPr sz="2000" spc="-45" dirty="0">
                <a:latin typeface="Cambria"/>
                <a:cs typeface="Cambria"/>
              </a:rPr>
              <a:t> </a:t>
            </a:r>
            <a:r>
              <a:rPr sz="2000" spc="-20" dirty="0">
                <a:latin typeface="Cambria"/>
                <a:cs typeface="Cambria"/>
              </a:rPr>
              <a:t>into</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MOV</a:t>
            </a:r>
            <a:r>
              <a:rPr sz="2000" spc="-60" dirty="0">
                <a:latin typeface="Cambria"/>
                <a:cs typeface="Cambria"/>
              </a:rPr>
              <a:t> </a:t>
            </a:r>
            <a:r>
              <a:rPr sz="2000" dirty="0">
                <a:latin typeface="Cambria"/>
                <a:cs typeface="Cambria"/>
              </a:rPr>
              <a:t>b,</a:t>
            </a:r>
            <a:r>
              <a:rPr sz="2000" spc="-20" dirty="0">
                <a:latin typeface="Cambria"/>
                <a:cs typeface="Cambria"/>
              </a:rPr>
              <a:t> </a:t>
            </a:r>
            <a:r>
              <a:rPr sz="2000" spc="-25" dirty="0">
                <a:latin typeface="Cambria"/>
                <a:cs typeface="Cambria"/>
              </a:rPr>
              <a:t>R0</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ADD</a:t>
            </a:r>
            <a:r>
              <a:rPr sz="2000" spc="-40" dirty="0">
                <a:latin typeface="Cambria"/>
                <a:cs typeface="Cambria"/>
              </a:rPr>
              <a:t> </a:t>
            </a:r>
            <a:r>
              <a:rPr sz="2000" dirty="0">
                <a:latin typeface="Cambria"/>
                <a:cs typeface="Cambria"/>
              </a:rPr>
              <a:t>c,</a:t>
            </a:r>
            <a:r>
              <a:rPr sz="2000" spc="-10" dirty="0">
                <a:latin typeface="Cambria"/>
                <a:cs typeface="Cambria"/>
              </a:rPr>
              <a:t> </a:t>
            </a:r>
            <a:r>
              <a:rPr sz="2000" spc="-25" dirty="0">
                <a:latin typeface="Cambria"/>
                <a:cs typeface="Cambria"/>
              </a:rPr>
              <a:t>R0</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MOV</a:t>
            </a:r>
            <a:r>
              <a:rPr sz="2000" spc="-60" dirty="0">
                <a:latin typeface="Cambria"/>
                <a:cs typeface="Cambria"/>
              </a:rPr>
              <a:t> </a:t>
            </a:r>
            <a:r>
              <a:rPr sz="2000" dirty="0">
                <a:latin typeface="Cambria"/>
                <a:cs typeface="Cambria"/>
              </a:rPr>
              <a:t>R0,</a:t>
            </a:r>
            <a:r>
              <a:rPr sz="2000" spc="-35" dirty="0">
                <a:latin typeface="Cambria"/>
                <a:cs typeface="Cambria"/>
              </a:rPr>
              <a:t> </a:t>
            </a:r>
            <a:r>
              <a:rPr sz="2000" spc="-50" dirty="0">
                <a:latin typeface="Cambria"/>
                <a:cs typeface="Cambria"/>
              </a:rPr>
              <a:t>a</a:t>
            </a:r>
            <a:endParaRPr sz="2000">
              <a:latin typeface="Cambria"/>
              <a:cs typeface="Cambria"/>
            </a:endParaRPr>
          </a:p>
          <a:p>
            <a:pPr marL="12700">
              <a:lnSpc>
                <a:spcPct val="100000"/>
              </a:lnSpc>
              <a:spcBef>
                <a:spcPts val="96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MOV</a:t>
            </a:r>
            <a:r>
              <a:rPr sz="2000" spc="-45" dirty="0">
                <a:latin typeface="Cambria"/>
                <a:cs typeface="Cambria"/>
              </a:rPr>
              <a:t> </a:t>
            </a:r>
            <a:r>
              <a:rPr sz="2000" dirty="0">
                <a:latin typeface="Cambria"/>
                <a:cs typeface="Cambria"/>
              </a:rPr>
              <a:t>a,</a:t>
            </a:r>
            <a:r>
              <a:rPr sz="2000" spc="-30" dirty="0">
                <a:latin typeface="Cambria"/>
                <a:cs typeface="Cambria"/>
              </a:rPr>
              <a:t> </a:t>
            </a:r>
            <a:r>
              <a:rPr sz="2000" spc="-25" dirty="0">
                <a:latin typeface="Cambria"/>
                <a:cs typeface="Cambria"/>
              </a:rPr>
              <a:t>R0</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ADD</a:t>
            </a:r>
            <a:r>
              <a:rPr sz="2000" spc="-35" dirty="0">
                <a:latin typeface="Cambria"/>
                <a:cs typeface="Cambria"/>
              </a:rPr>
              <a:t> </a:t>
            </a:r>
            <a:r>
              <a:rPr sz="2000" dirty="0">
                <a:latin typeface="Cambria"/>
                <a:cs typeface="Cambria"/>
              </a:rPr>
              <a:t>e,</a:t>
            </a:r>
            <a:r>
              <a:rPr sz="2000" spc="-10" dirty="0">
                <a:latin typeface="Cambria"/>
                <a:cs typeface="Cambria"/>
              </a:rPr>
              <a:t> </a:t>
            </a:r>
            <a:r>
              <a:rPr sz="2000" spc="-25" dirty="0">
                <a:latin typeface="Cambria"/>
                <a:cs typeface="Cambria"/>
              </a:rPr>
              <a:t>R0</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MOV</a:t>
            </a:r>
            <a:r>
              <a:rPr sz="2000" spc="380" dirty="0">
                <a:latin typeface="Cambria"/>
                <a:cs typeface="Cambria"/>
              </a:rPr>
              <a:t> </a:t>
            </a:r>
            <a:r>
              <a:rPr sz="2000" dirty="0">
                <a:latin typeface="Cambria"/>
                <a:cs typeface="Cambria"/>
              </a:rPr>
              <a:t>R0,</a:t>
            </a:r>
            <a:r>
              <a:rPr sz="2000" spc="-15" dirty="0">
                <a:latin typeface="Cambria"/>
                <a:cs typeface="Cambria"/>
              </a:rPr>
              <a:t> </a:t>
            </a:r>
            <a:r>
              <a:rPr sz="2000" spc="-50" dirty="0">
                <a:latin typeface="Cambria"/>
                <a:cs typeface="Cambria"/>
              </a:rPr>
              <a:t>d</a:t>
            </a:r>
            <a:endParaRPr sz="2000">
              <a:latin typeface="Cambria"/>
              <a:cs typeface="Cambria"/>
            </a:endParaRPr>
          </a:p>
          <a:p>
            <a:pPr marL="195580" marR="5080" indent="-182880">
              <a:lnSpc>
                <a:spcPts val="2160"/>
              </a:lnSpc>
              <a:spcBef>
                <a:spcPts val="123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Here</a:t>
            </a:r>
            <a:r>
              <a:rPr sz="2000" spc="-70" dirty="0">
                <a:latin typeface="Cambria"/>
                <a:cs typeface="Cambria"/>
              </a:rPr>
              <a:t> </a:t>
            </a:r>
            <a:r>
              <a:rPr sz="2000" dirty="0">
                <a:latin typeface="Cambria"/>
                <a:cs typeface="Cambria"/>
              </a:rPr>
              <a:t>the</a:t>
            </a:r>
            <a:r>
              <a:rPr sz="2000" spc="-50" dirty="0">
                <a:latin typeface="Cambria"/>
                <a:cs typeface="Cambria"/>
              </a:rPr>
              <a:t> </a:t>
            </a:r>
            <a:r>
              <a:rPr sz="2000" dirty="0">
                <a:latin typeface="Cambria"/>
                <a:cs typeface="Cambria"/>
              </a:rPr>
              <a:t>fourth</a:t>
            </a:r>
            <a:r>
              <a:rPr sz="2000" spc="-60" dirty="0">
                <a:latin typeface="Cambria"/>
                <a:cs typeface="Cambria"/>
              </a:rPr>
              <a:t> </a:t>
            </a:r>
            <a:r>
              <a:rPr sz="2000" dirty="0">
                <a:latin typeface="Cambria"/>
                <a:cs typeface="Cambria"/>
              </a:rPr>
              <a:t>statement</a:t>
            </a:r>
            <a:r>
              <a:rPr sz="2000" spc="-75" dirty="0">
                <a:latin typeface="Cambria"/>
                <a:cs typeface="Cambria"/>
              </a:rPr>
              <a:t> </a:t>
            </a:r>
            <a:r>
              <a:rPr sz="2000" dirty="0">
                <a:latin typeface="Cambria"/>
                <a:cs typeface="Cambria"/>
              </a:rPr>
              <a:t>is</a:t>
            </a:r>
            <a:r>
              <a:rPr sz="2000" spc="-20" dirty="0">
                <a:latin typeface="Cambria"/>
                <a:cs typeface="Cambria"/>
              </a:rPr>
              <a:t> </a:t>
            </a:r>
            <a:r>
              <a:rPr sz="2000" dirty="0">
                <a:latin typeface="Cambria"/>
                <a:cs typeface="Cambria"/>
              </a:rPr>
              <a:t>redundant,</a:t>
            </a:r>
            <a:r>
              <a:rPr sz="2000" spc="-70" dirty="0">
                <a:latin typeface="Cambria"/>
                <a:cs typeface="Cambria"/>
              </a:rPr>
              <a:t> </a:t>
            </a:r>
            <a:r>
              <a:rPr sz="2000" dirty="0">
                <a:latin typeface="Cambria"/>
                <a:cs typeface="Cambria"/>
              </a:rPr>
              <a:t>so</a:t>
            </a:r>
            <a:r>
              <a:rPr sz="2000" spc="-25" dirty="0">
                <a:latin typeface="Cambria"/>
                <a:cs typeface="Cambria"/>
              </a:rPr>
              <a:t> </a:t>
            </a:r>
            <a:r>
              <a:rPr sz="2000" dirty="0">
                <a:latin typeface="Cambria"/>
                <a:cs typeface="Cambria"/>
              </a:rPr>
              <a:t>we</a:t>
            </a:r>
            <a:r>
              <a:rPr sz="2000" spc="-20" dirty="0">
                <a:latin typeface="Cambria"/>
                <a:cs typeface="Cambria"/>
              </a:rPr>
              <a:t> </a:t>
            </a:r>
            <a:r>
              <a:rPr sz="2000" dirty="0">
                <a:latin typeface="Cambria"/>
                <a:cs typeface="Cambria"/>
              </a:rPr>
              <a:t>can</a:t>
            </a:r>
            <a:r>
              <a:rPr sz="2000" spc="-45" dirty="0">
                <a:latin typeface="Cambria"/>
                <a:cs typeface="Cambria"/>
              </a:rPr>
              <a:t> </a:t>
            </a:r>
            <a:r>
              <a:rPr sz="2000" dirty="0">
                <a:latin typeface="Cambria"/>
                <a:cs typeface="Cambria"/>
              </a:rPr>
              <a:t>eliminate</a:t>
            </a:r>
            <a:r>
              <a:rPr sz="2000" spc="-60" dirty="0">
                <a:latin typeface="Cambria"/>
                <a:cs typeface="Cambria"/>
              </a:rPr>
              <a:t> </a:t>
            </a:r>
            <a:r>
              <a:rPr sz="2000" spc="-20" dirty="0">
                <a:latin typeface="Cambria"/>
                <a:cs typeface="Cambria"/>
              </a:rPr>
              <a:t>that </a:t>
            </a:r>
            <a:r>
              <a:rPr sz="2000" spc="-10" dirty="0">
                <a:latin typeface="Cambria"/>
                <a:cs typeface="Cambria"/>
              </a:rPr>
              <a:t>statement.</a:t>
            </a:r>
            <a:endParaRPr sz="2000">
              <a:latin typeface="Cambria"/>
              <a:cs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013460">
              <a:lnSpc>
                <a:spcPts val="3779"/>
              </a:lnSpc>
            </a:pPr>
            <a:r>
              <a:rPr sz="3600" b="1" spc="-10" dirty="0">
                <a:solidFill>
                  <a:srgbClr val="FFFFFF"/>
                </a:solidFill>
                <a:latin typeface="Cambria"/>
                <a:cs typeface="Cambria"/>
              </a:rPr>
              <a:t>Register </a:t>
            </a:r>
            <a:r>
              <a:rPr sz="3600" b="1" spc="-65" dirty="0">
                <a:solidFill>
                  <a:srgbClr val="FFFFFF"/>
                </a:solidFill>
                <a:latin typeface="Cambria"/>
                <a:cs typeface="Cambria"/>
              </a:rPr>
              <a:t>Allocation</a:t>
            </a:r>
            <a:endParaRPr sz="3600">
              <a:latin typeface="Cambria"/>
              <a:cs typeface="Cambria"/>
            </a:endParaRPr>
          </a:p>
        </p:txBody>
      </p:sp>
      <p:sp>
        <p:nvSpPr>
          <p:cNvPr id="3" name="object 3"/>
          <p:cNvSpPr txBox="1"/>
          <p:nvPr/>
        </p:nvSpPr>
        <p:spPr>
          <a:xfrm>
            <a:off x="3530600" y="534670"/>
            <a:ext cx="8112125" cy="3482975"/>
          </a:xfrm>
          <a:prstGeom prst="rect">
            <a:avLst/>
          </a:prstGeom>
        </p:spPr>
        <p:txBody>
          <a:bodyPr vert="horz" wrap="square" lIns="0" tIns="53975" rIns="0" bIns="0" rtlCol="0">
            <a:spAutoFit/>
          </a:bodyPr>
          <a:lstStyle/>
          <a:p>
            <a:pPr marL="195580" marR="5080" indent="-183515">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Instructions</a:t>
            </a:r>
            <a:r>
              <a:rPr sz="2400" spc="-135" dirty="0">
                <a:latin typeface="Cambria"/>
                <a:cs typeface="Cambria"/>
              </a:rPr>
              <a:t> </a:t>
            </a:r>
            <a:r>
              <a:rPr sz="2400" dirty="0">
                <a:latin typeface="Cambria"/>
                <a:cs typeface="Cambria"/>
              </a:rPr>
              <a:t>containing</a:t>
            </a:r>
            <a:r>
              <a:rPr sz="2400" spc="-114" dirty="0">
                <a:latin typeface="Cambria"/>
                <a:cs typeface="Cambria"/>
              </a:rPr>
              <a:t> </a:t>
            </a:r>
            <a:r>
              <a:rPr sz="2400" spc="-10" dirty="0">
                <a:latin typeface="Cambria"/>
                <a:cs typeface="Cambria"/>
              </a:rPr>
              <a:t>register</a:t>
            </a:r>
            <a:r>
              <a:rPr sz="2400" spc="-80" dirty="0">
                <a:latin typeface="Cambria"/>
                <a:cs typeface="Cambria"/>
              </a:rPr>
              <a:t> </a:t>
            </a:r>
            <a:r>
              <a:rPr sz="2400" spc="-10" dirty="0">
                <a:latin typeface="Cambria"/>
                <a:cs typeface="Cambria"/>
              </a:rPr>
              <a:t>operands</a:t>
            </a:r>
            <a:r>
              <a:rPr sz="2400" spc="-65" dirty="0">
                <a:latin typeface="Cambria"/>
                <a:cs typeface="Cambria"/>
              </a:rPr>
              <a:t> </a:t>
            </a:r>
            <a:r>
              <a:rPr sz="2400" dirty="0">
                <a:latin typeface="Cambria"/>
                <a:cs typeface="Cambria"/>
              </a:rPr>
              <a:t>are</a:t>
            </a:r>
            <a:r>
              <a:rPr sz="2400" spc="-70" dirty="0">
                <a:latin typeface="Cambria"/>
                <a:cs typeface="Cambria"/>
              </a:rPr>
              <a:t> </a:t>
            </a:r>
            <a:r>
              <a:rPr sz="2400" dirty="0">
                <a:latin typeface="Cambria"/>
                <a:cs typeface="Cambria"/>
              </a:rPr>
              <a:t>usually</a:t>
            </a:r>
            <a:r>
              <a:rPr sz="2400" spc="-55" dirty="0">
                <a:latin typeface="Cambria"/>
                <a:cs typeface="Cambria"/>
              </a:rPr>
              <a:t> </a:t>
            </a:r>
            <a:r>
              <a:rPr sz="2400" spc="-10" dirty="0">
                <a:latin typeface="Cambria"/>
                <a:cs typeface="Cambria"/>
              </a:rPr>
              <a:t>shorter </a:t>
            </a:r>
            <a:r>
              <a:rPr sz="2400" dirty="0">
                <a:latin typeface="Cambria"/>
                <a:cs typeface="Cambria"/>
              </a:rPr>
              <a:t>and</a:t>
            </a:r>
            <a:r>
              <a:rPr sz="2400" spc="-45" dirty="0">
                <a:latin typeface="Cambria"/>
                <a:cs typeface="Cambria"/>
              </a:rPr>
              <a:t> </a:t>
            </a:r>
            <a:r>
              <a:rPr sz="2400" dirty="0">
                <a:latin typeface="Cambria"/>
                <a:cs typeface="Cambria"/>
              </a:rPr>
              <a:t>faster</a:t>
            </a:r>
            <a:r>
              <a:rPr sz="2400" spc="-65" dirty="0">
                <a:latin typeface="Cambria"/>
                <a:cs typeface="Cambria"/>
              </a:rPr>
              <a:t> </a:t>
            </a:r>
            <a:r>
              <a:rPr sz="2400" dirty="0">
                <a:latin typeface="Cambria"/>
                <a:cs typeface="Cambria"/>
              </a:rPr>
              <a:t>than</a:t>
            </a:r>
            <a:r>
              <a:rPr sz="2400" spc="-50" dirty="0">
                <a:latin typeface="Cambria"/>
                <a:cs typeface="Cambria"/>
              </a:rPr>
              <a:t> </a:t>
            </a:r>
            <a:r>
              <a:rPr sz="2400" dirty="0">
                <a:latin typeface="Cambria"/>
                <a:cs typeface="Cambria"/>
              </a:rPr>
              <a:t>that</a:t>
            </a:r>
            <a:r>
              <a:rPr sz="2400" spc="-40" dirty="0">
                <a:latin typeface="Cambria"/>
                <a:cs typeface="Cambria"/>
              </a:rPr>
              <a:t> </a:t>
            </a:r>
            <a:r>
              <a:rPr sz="2400" dirty="0">
                <a:latin typeface="Cambria"/>
                <a:cs typeface="Cambria"/>
              </a:rPr>
              <a:t>of</a:t>
            </a:r>
            <a:r>
              <a:rPr sz="2400" spc="-55" dirty="0">
                <a:latin typeface="Cambria"/>
                <a:cs typeface="Cambria"/>
              </a:rPr>
              <a:t> </a:t>
            </a:r>
            <a:r>
              <a:rPr sz="2400" dirty="0">
                <a:latin typeface="Cambria"/>
                <a:cs typeface="Cambria"/>
              </a:rPr>
              <a:t>using</a:t>
            </a:r>
            <a:r>
              <a:rPr sz="2400" spc="-55" dirty="0">
                <a:latin typeface="Cambria"/>
                <a:cs typeface="Cambria"/>
              </a:rPr>
              <a:t> </a:t>
            </a:r>
            <a:r>
              <a:rPr sz="2400" dirty="0">
                <a:latin typeface="Cambria"/>
                <a:cs typeface="Cambria"/>
              </a:rPr>
              <a:t>in</a:t>
            </a:r>
            <a:r>
              <a:rPr sz="2400" spc="-50" dirty="0">
                <a:latin typeface="Cambria"/>
                <a:cs typeface="Cambria"/>
              </a:rPr>
              <a:t> </a:t>
            </a:r>
            <a:r>
              <a:rPr sz="2400" dirty="0">
                <a:latin typeface="Cambria"/>
                <a:cs typeface="Cambria"/>
              </a:rPr>
              <a:t>memory</a:t>
            </a:r>
            <a:r>
              <a:rPr sz="2400" spc="-50" dirty="0">
                <a:latin typeface="Cambria"/>
                <a:cs typeface="Cambria"/>
              </a:rPr>
              <a:t> </a:t>
            </a:r>
            <a:r>
              <a:rPr sz="2400" dirty="0">
                <a:latin typeface="Cambria"/>
                <a:cs typeface="Cambria"/>
              </a:rPr>
              <a:t>or</a:t>
            </a:r>
            <a:r>
              <a:rPr sz="2400" spc="-45" dirty="0">
                <a:latin typeface="Cambria"/>
                <a:cs typeface="Cambria"/>
              </a:rPr>
              <a:t> </a:t>
            </a:r>
            <a:r>
              <a:rPr sz="2400" spc="-10" dirty="0">
                <a:latin typeface="Cambria"/>
                <a:cs typeface="Cambria"/>
              </a:rPr>
              <a:t>involving operands</a:t>
            </a:r>
            <a:r>
              <a:rPr sz="2400" spc="-30" dirty="0">
                <a:latin typeface="Cambria"/>
                <a:cs typeface="Cambria"/>
              </a:rPr>
              <a:t> </a:t>
            </a:r>
            <a:r>
              <a:rPr sz="2400" dirty="0">
                <a:latin typeface="Cambria"/>
                <a:cs typeface="Cambria"/>
              </a:rPr>
              <a:t>in</a:t>
            </a:r>
            <a:r>
              <a:rPr sz="2400" spc="-50" dirty="0">
                <a:latin typeface="Cambria"/>
                <a:cs typeface="Cambria"/>
              </a:rPr>
              <a:t> </a:t>
            </a:r>
            <a:r>
              <a:rPr sz="2400" spc="-10" dirty="0">
                <a:latin typeface="Cambria"/>
                <a:cs typeface="Cambria"/>
              </a:rPr>
              <a:t>memory.</a:t>
            </a:r>
            <a:endParaRPr sz="2400" dirty="0">
              <a:latin typeface="Cambria"/>
              <a:cs typeface="Cambria"/>
            </a:endParaRPr>
          </a:p>
          <a:p>
            <a:pPr marL="195580" marR="1154430" indent="-183515">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5" dirty="0">
                <a:latin typeface="Cambria"/>
                <a:cs typeface="Cambria"/>
              </a:rPr>
              <a:t> </a:t>
            </a:r>
            <a:r>
              <a:rPr sz="2400" dirty="0">
                <a:latin typeface="Cambria"/>
                <a:cs typeface="Cambria"/>
              </a:rPr>
              <a:t>use</a:t>
            </a:r>
            <a:r>
              <a:rPr sz="2400" spc="-40" dirty="0">
                <a:latin typeface="Cambria"/>
                <a:cs typeface="Cambria"/>
              </a:rPr>
              <a:t> </a:t>
            </a:r>
            <a:r>
              <a:rPr sz="2400" dirty="0">
                <a:latin typeface="Cambria"/>
                <a:cs typeface="Cambria"/>
              </a:rPr>
              <a:t>of</a:t>
            </a:r>
            <a:r>
              <a:rPr sz="2400" spc="-40" dirty="0">
                <a:latin typeface="Cambria"/>
                <a:cs typeface="Cambria"/>
              </a:rPr>
              <a:t> </a:t>
            </a:r>
            <a:r>
              <a:rPr sz="2400" spc="-10" dirty="0">
                <a:latin typeface="Cambria"/>
                <a:cs typeface="Cambria"/>
              </a:rPr>
              <a:t>registers</a:t>
            </a:r>
            <a:r>
              <a:rPr sz="2400" spc="-55" dirty="0">
                <a:latin typeface="Cambria"/>
                <a:cs typeface="Cambria"/>
              </a:rPr>
              <a:t> </a:t>
            </a:r>
            <a:r>
              <a:rPr sz="2400" dirty="0">
                <a:latin typeface="Cambria"/>
                <a:cs typeface="Cambria"/>
              </a:rPr>
              <a:t>is</a:t>
            </a:r>
            <a:r>
              <a:rPr sz="2400" spc="-40" dirty="0">
                <a:latin typeface="Cambria"/>
                <a:cs typeface="Cambria"/>
              </a:rPr>
              <a:t> </a:t>
            </a:r>
            <a:r>
              <a:rPr sz="2400" dirty="0">
                <a:latin typeface="Cambria"/>
                <a:cs typeface="Cambria"/>
              </a:rPr>
              <a:t>often</a:t>
            </a:r>
            <a:r>
              <a:rPr sz="2400" spc="-60" dirty="0">
                <a:latin typeface="Cambria"/>
                <a:cs typeface="Cambria"/>
              </a:rPr>
              <a:t> </a:t>
            </a:r>
            <a:r>
              <a:rPr sz="2400" spc="-10" dirty="0">
                <a:latin typeface="Cambria"/>
                <a:cs typeface="Cambria"/>
              </a:rPr>
              <a:t>subdivided</a:t>
            </a:r>
            <a:r>
              <a:rPr sz="2400" spc="-35" dirty="0">
                <a:latin typeface="Cambria"/>
                <a:cs typeface="Cambria"/>
              </a:rPr>
              <a:t> </a:t>
            </a:r>
            <a:r>
              <a:rPr sz="2400" dirty="0">
                <a:latin typeface="Cambria"/>
                <a:cs typeface="Cambria"/>
              </a:rPr>
              <a:t>into</a:t>
            </a:r>
            <a:r>
              <a:rPr sz="2400" spc="-55" dirty="0">
                <a:latin typeface="Cambria"/>
                <a:cs typeface="Cambria"/>
              </a:rPr>
              <a:t> </a:t>
            </a:r>
            <a:r>
              <a:rPr sz="2400" dirty="0">
                <a:latin typeface="Cambria"/>
                <a:cs typeface="Cambria"/>
              </a:rPr>
              <a:t>two</a:t>
            </a:r>
            <a:r>
              <a:rPr sz="2400" spc="-35" dirty="0">
                <a:latin typeface="Cambria"/>
                <a:cs typeface="Cambria"/>
              </a:rPr>
              <a:t> </a:t>
            </a:r>
            <a:r>
              <a:rPr sz="2400" spc="-25" dirty="0">
                <a:latin typeface="Cambria"/>
                <a:cs typeface="Cambria"/>
              </a:rPr>
              <a:t>sub </a:t>
            </a:r>
            <a:r>
              <a:rPr sz="2400" spc="-10" dirty="0">
                <a:latin typeface="Cambria"/>
                <a:cs typeface="Cambria"/>
              </a:rPr>
              <a:t>problems:</a:t>
            </a:r>
            <a:endParaRPr sz="2400" dirty="0">
              <a:latin typeface="Cambria"/>
              <a:cs typeface="Cambria"/>
            </a:endParaRPr>
          </a:p>
          <a:p>
            <a:pPr marL="469900" marR="6350" indent="-457834">
              <a:lnSpc>
                <a:spcPts val="2590"/>
              </a:lnSpc>
              <a:spcBef>
                <a:spcPts val="1205"/>
              </a:spcBef>
              <a:buClr>
                <a:srgbClr val="40B9D2"/>
              </a:buClr>
              <a:buAutoNum type="arabicPeriod"/>
              <a:tabLst>
                <a:tab pos="469900" algn="l"/>
              </a:tabLst>
            </a:pPr>
            <a:r>
              <a:rPr sz="2400" b="1" spc="-10" dirty="0">
                <a:latin typeface="Cambria"/>
                <a:cs typeface="Cambria"/>
              </a:rPr>
              <a:t>Register</a:t>
            </a:r>
            <a:r>
              <a:rPr sz="2400" b="1" spc="-55" dirty="0">
                <a:latin typeface="Cambria"/>
                <a:cs typeface="Cambria"/>
              </a:rPr>
              <a:t> </a:t>
            </a:r>
            <a:r>
              <a:rPr sz="2400" b="1" dirty="0">
                <a:latin typeface="Cambria"/>
                <a:cs typeface="Cambria"/>
              </a:rPr>
              <a:t>allocation:</a:t>
            </a:r>
            <a:r>
              <a:rPr sz="2400" b="1" spc="-60" dirty="0">
                <a:latin typeface="Cambria"/>
                <a:cs typeface="Cambria"/>
              </a:rPr>
              <a:t> </a:t>
            </a:r>
            <a:r>
              <a:rPr sz="2400" dirty="0">
                <a:latin typeface="Cambria"/>
                <a:cs typeface="Cambria"/>
              </a:rPr>
              <a:t>we</a:t>
            </a:r>
            <a:r>
              <a:rPr sz="2400" spc="-55" dirty="0">
                <a:latin typeface="Cambria"/>
                <a:cs typeface="Cambria"/>
              </a:rPr>
              <a:t> </a:t>
            </a:r>
            <a:r>
              <a:rPr sz="2400" dirty="0">
                <a:latin typeface="Cambria"/>
                <a:cs typeface="Cambria"/>
              </a:rPr>
              <a:t>select</a:t>
            </a:r>
            <a:r>
              <a:rPr sz="2400" spc="-45" dirty="0">
                <a:latin typeface="Cambria"/>
                <a:cs typeface="Cambria"/>
              </a:rPr>
              <a:t> </a:t>
            </a:r>
            <a:r>
              <a:rPr sz="2400" dirty="0">
                <a:latin typeface="Cambria"/>
                <a:cs typeface="Cambria"/>
              </a:rPr>
              <a:t>the</a:t>
            </a:r>
            <a:r>
              <a:rPr sz="2400" spc="-60" dirty="0">
                <a:latin typeface="Cambria"/>
                <a:cs typeface="Cambria"/>
              </a:rPr>
              <a:t> </a:t>
            </a:r>
            <a:r>
              <a:rPr sz="2400" dirty="0">
                <a:latin typeface="Cambria"/>
                <a:cs typeface="Cambria"/>
              </a:rPr>
              <a:t>set</a:t>
            </a:r>
            <a:r>
              <a:rPr sz="2400" spc="-50" dirty="0">
                <a:latin typeface="Cambria"/>
                <a:cs typeface="Cambria"/>
              </a:rPr>
              <a:t> </a:t>
            </a:r>
            <a:r>
              <a:rPr sz="2400" dirty="0">
                <a:latin typeface="Cambria"/>
                <a:cs typeface="Cambria"/>
              </a:rPr>
              <a:t>of</a:t>
            </a:r>
            <a:r>
              <a:rPr sz="2400" spc="-55" dirty="0">
                <a:latin typeface="Cambria"/>
                <a:cs typeface="Cambria"/>
              </a:rPr>
              <a:t> </a:t>
            </a:r>
            <a:r>
              <a:rPr sz="2400" dirty="0">
                <a:latin typeface="Cambria"/>
                <a:cs typeface="Cambria"/>
              </a:rPr>
              <a:t>variables</a:t>
            </a:r>
            <a:r>
              <a:rPr sz="2400" spc="-75" dirty="0">
                <a:latin typeface="Cambria"/>
                <a:cs typeface="Cambria"/>
              </a:rPr>
              <a:t> </a:t>
            </a:r>
            <a:r>
              <a:rPr sz="2400" dirty="0">
                <a:latin typeface="Cambria"/>
                <a:cs typeface="Cambria"/>
              </a:rPr>
              <a:t>that</a:t>
            </a:r>
            <a:r>
              <a:rPr sz="2400" spc="-50" dirty="0">
                <a:latin typeface="Cambria"/>
                <a:cs typeface="Cambria"/>
              </a:rPr>
              <a:t> </a:t>
            </a:r>
            <a:r>
              <a:rPr sz="2400" spc="-20" dirty="0">
                <a:latin typeface="Cambria"/>
                <a:cs typeface="Cambria"/>
              </a:rPr>
              <a:t>will </a:t>
            </a:r>
            <a:r>
              <a:rPr sz="2400" dirty="0">
                <a:latin typeface="Cambria"/>
                <a:cs typeface="Cambria"/>
              </a:rPr>
              <a:t>reside</a:t>
            </a:r>
            <a:r>
              <a:rPr sz="2400" spc="-45" dirty="0">
                <a:latin typeface="Cambria"/>
                <a:cs typeface="Cambria"/>
              </a:rPr>
              <a:t> </a:t>
            </a:r>
            <a:r>
              <a:rPr sz="2400" dirty="0">
                <a:latin typeface="Cambria"/>
                <a:cs typeface="Cambria"/>
              </a:rPr>
              <a:t>in</a:t>
            </a:r>
            <a:r>
              <a:rPr sz="2400" spc="-55" dirty="0">
                <a:latin typeface="Cambria"/>
                <a:cs typeface="Cambria"/>
              </a:rPr>
              <a:t> </a:t>
            </a:r>
            <a:r>
              <a:rPr sz="2400" dirty="0">
                <a:latin typeface="Cambria"/>
                <a:cs typeface="Cambria"/>
              </a:rPr>
              <a:t>registers</a:t>
            </a:r>
            <a:r>
              <a:rPr sz="2400" spc="-50" dirty="0">
                <a:latin typeface="Cambria"/>
                <a:cs typeface="Cambria"/>
              </a:rPr>
              <a:t> </a:t>
            </a:r>
            <a:r>
              <a:rPr sz="2400" dirty="0">
                <a:latin typeface="Cambria"/>
                <a:cs typeface="Cambria"/>
              </a:rPr>
              <a:t>at</a:t>
            </a:r>
            <a:r>
              <a:rPr sz="2400" spc="-45" dirty="0">
                <a:latin typeface="Cambria"/>
                <a:cs typeface="Cambria"/>
              </a:rPr>
              <a:t> </a:t>
            </a:r>
            <a:r>
              <a:rPr sz="2400" dirty="0">
                <a:latin typeface="Cambria"/>
                <a:cs typeface="Cambria"/>
              </a:rPr>
              <a:t>a</a:t>
            </a:r>
            <a:r>
              <a:rPr sz="2400" spc="-45" dirty="0">
                <a:latin typeface="Cambria"/>
                <a:cs typeface="Cambria"/>
              </a:rPr>
              <a:t> </a:t>
            </a:r>
            <a:r>
              <a:rPr sz="2400" dirty="0">
                <a:latin typeface="Cambria"/>
                <a:cs typeface="Cambria"/>
              </a:rPr>
              <a:t>point</a:t>
            </a:r>
            <a:r>
              <a:rPr sz="2400" spc="-45" dirty="0">
                <a:latin typeface="Cambria"/>
                <a:cs typeface="Cambria"/>
              </a:rPr>
              <a:t> </a:t>
            </a:r>
            <a:r>
              <a:rPr sz="2400" dirty="0">
                <a:latin typeface="Cambria"/>
                <a:cs typeface="Cambria"/>
              </a:rPr>
              <a:t>in</a:t>
            </a:r>
            <a:r>
              <a:rPr sz="2400" spc="-60" dirty="0">
                <a:latin typeface="Cambria"/>
                <a:cs typeface="Cambria"/>
              </a:rPr>
              <a:t> </a:t>
            </a:r>
            <a:r>
              <a:rPr sz="2400" dirty="0">
                <a:latin typeface="Cambria"/>
                <a:cs typeface="Cambria"/>
              </a:rPr>
              <a:t>the</a:t>
            </a:r>
            <a:r>
              <a:rPr sz="2400" spc="-35" dirty="0">
                <a:latin typeface="Cambria"/>
                <a:cs typeface="Cambria"/>
              </a:rPr>
              <a:t> </a:t>
            </a:r>
            <a:r>
              <a:rPr sz="2400" spc="-10" dirty="0">
                <a:latin typeface="Cambria"/>
                <a:cs typeface="Cambria"/>
              </a:rPr>
              <a:t>program.</a:t>
            </a:r>
            <a:endParaRPr sz="2400" dirty="0">
              <a:latin typeface="Cambria"/>
              <a:cs typeface="Cambria"/>
            </a:endParaRPr>
          </a:p>
          <a:p>
            <a:pPr marL="469900" marR="746760" indent="-457834">
              <a:lnSpc>
                <a:spcPts val="2590"/>
              </a:lnSpc>
              <a:spcBef>
                <a:spcPts val="1205"/>
              </a:spcBef>
              <a:buClr>
                <a:srgbClr val="40B9D2"/>
              </a:buClr>
              <a:buAutoNum type="arabicPeriod"/>
              <a:tabLst>
                <a:tab pos="469900" algn="l"/>
              </a:tabLst>
            </a:pPr>
            <a:r>
              <a:rPr sz="2400" b="1" spc="-10" dirty="0">
                <a:latin typeface="Cambria"/>
                <a:cs typeface="Cambria"/>
              </a:rPr>
              <a:t>Register</a:t>
            </a:r>
            <a:r>
              <a:rPr sz="2400" b="1" spc="-50" dirty="0">
                <a:latin typeface="Cambria"/>
                <a:cs typeface="Cambria"/>
              </a:rPr>
              <a:t> </a:t>
            </a:r>
            <a:r>
              <a:rPr sz="2400" b="1" dirty="0">
                <a:latin typeface="Cambria"/>
                <a:cs typeface="Cambria"/>
              </a:rPr>
              <a:t>assignment:</a:t>
            </a:r>
            <a:r>
              <a:rPr sz="2400" b="1" spc="-60" dirty="0">
                <a:latin typeface="Cambria"/>
                <a:cs typeface="Cambria"/>
              </a:rPr>
              <a:t> </a:t>
            </a:r>
            <a:r>
              <a:rPr sz="2400" dirty="0">
                <a:latin typeface="Cambria"/>
                <a:cs typeface="Cambria"/>
              </a:rPr>
              <a:t>select</a:t>
            </a:r>
            <a:r>
              <a:rPr sz="2400" spc="-35" dirty="0">
                <a:latin typeface="Cambria"/>
                <a:cs typeface="Cambria"/>
              </a:rPr>
              <a:t> </a:t>
            </a:r>
            <a:r>
              <a:rPr sz="2400" dirty="0">
                <a:latin typeface="Cambria"/>
                <a:cs typeface="Cambria"/>
              </a:rPr>
              <a:t>a</a:t>
            </a:r>
            <a:r>
              <a:rPr sz="2400" spc="-50" dirty="0">
                <a:latin typeface="Cambria"/>
                <a:cs typeface="Cambria"/>
              </a:rPr>
              <a:t> </a:t>
            </a:r>
            <a:r>
              <a:rPr sz="2400" dirty="0">
                <a:latin typeface="Cambria"/>
                <a:cs typeface="Cambria"/>
              </a:rPr>
              <a:t>specific</a:t>
            </a:r>
            <a:r>
              <a:rPr sz="2400" spc="-60" dirty="0">
                <a:latin typeface="Cambria"/>
                <a:cs typeface="Cambria"/>
              </a:rPr>
              <a:t> </a:t>
            </a:r>
            <a:r>
              <a:rPr sz="2400" spc="-10" dirty="0">
                <a:latin typeface="Cambria"/>
                <a:cs typeface="Cambria"/>
              </a:rPr>
              <a:t>register</a:t>
            </a:r>
            <a:r>
              <a:rPr sz="2400" spc="-65" dirty="0">
                <a:latin typeface="Cambria"/>
                <a:cs typeface="Cambria"/>
              </a:rPr>
              <a:t> </a:t>
            </a:r>
            <a:r>
              <a:rPr sz="2400" dirty="0">
                <a:latin typeface="Cambria"/>
                <a:cs typeface="Cambria"/>
              </a:rPr>
              <a:t>that</a:t>
            </a:r>
            <a:r>
              <a:rPr sz="2400" spc="-55" dirty="0">
                <a:latin typeface="Cambria"/>
                <a:cs typeface="Cambria"/>
              </a:rPr>
              <a:t> </a:t>
            </a:r>
            <a:r>
              <a:rPr sz="2400" spc="-50" dirty="0">
                <a:latin typeface="Cambria"/>
                <a:cs typeface="Cambria"/>
              </a:rPr>
              <a:t>a </a:t>
            </a:r>
            <a:r>
              <a:rPr sz="2400" dirty="0">
                <a:latin typeface="Cambria"/>
                <a:cs typeface="Cambria"/>
              </a:rPr>
              <a:t>variable</a:t>
            </a:r>
            <a:r>
              <a:rPr sz="2400" spc="-114" dirty="0">
                <a:latin typeface="Cambria"/>
                <a:cs typeface="Cambria"/>
              </a:rPr>
              <a:t> </a:t>
            </a:r>
            <a:r>
              <a:rPr sz="2400" dirty="0">
                <a:latin typeface="Cambria"/>
                <a:cs typeface="Cambria"/>
              </a:rPr>
              <a:t>reside</a:t>
            </a:r>
            <a:r>
              <a:rPr sz="2400" spc="-100" dirty="0">
                <a:latin typeface="Cambria"/>
                <a:cs typeface="Cambria"/>
              </a:rPr>
              <a:t> </a:t>
            </a:r>
            <a:r>
              <a:rPr sz="2400" spc="-25" dirty="0">
                <a:latin typeface="Cambria"/>
                <a:cs typeface="Cambria"/>
              </a:rPr>
              <a:t>in.</a:t>
            </a:r>
            <a:endParaRPr sz="2400" dirty="0">
              <a:latin typeface="Cambria"/>
              <a:cs typeface="Cambria"/>
            </a:endParaRPr>
          </a:p>
        </p:txBody>
      </p:sp>
      <p:sp>
        <p:nvSpPr>
          <p:cNvPr id="4" name="object 4"/>
          <p:cNvSpPr txBox="1"/>
          <p:nvPr/>
        </p:nvSpPr>
        <p:spPr>
          <a:xfrm>
            <a:off x="3530600" y="4473702"/>
            <a:ext cx="7609840" cy="1799589"/>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Complications</a:t>
            </a:r>
            <a:r>
              <a:rPr sz="2400" spc="-70" dirty="0">
                <a:latin typeface="Cambria"/>
                <a:cs typeface="Cambria"/>
              </a:rPr>
              <a:t> </a:t>
            </a:r>
            <a:r>
              <a:rPr sz="2400" dirty="0">
                <a:latin typeface="Cambria"/>
                <a:cs typeface="Cambria"/>
              </a:rPr>
              <a:t>imposed</a:t>
            </a:r>
            <a:r>
              <a:rPr sz="2400" spc="-55" dirty="0">
                <a:latin typeface="Cambria"/>
                <a:cs typeface="Cambria"/>
              </a:rPr>
              <a:t> </a:t>
            </a:r>
            <a:r>
              <a:rPr sz="2400" dirty="0">
                <a:latin typeface="Cambria"/>
                <a:cs typeface="Cambria"/>
              </a:rPr>
              <a:t>by</a:t>
            </a:r>
            <a:r>
              <a:rPr sz="2400" spc="-70" dirty="0">
                <a:latin typeface="Cambria"/>
                <a:cs typeface="Cambria"/>
              </a:rPr>
              <a:t> </a:t>
            </a:r>
            <a:r>
              <a:rPr sz="2400" dirty="0">
                <a:latin typeface="Cambria"/>
                <a:cs typeface="Cambria"/>
              </a:rPr>
              <a:t>the</a:t>
            </a:r>
            <a:r>
              <a:rPr sz="2400" spc="-65" dirty="0">
                <a:latin typeface="Cambria"/>
                <a:cs typeface="Cambria"/>
              </a:rPr>
              <a:t> </a:t>
            </a:r>
            <a:r>
              <a:rPr sz="2400" spc="-20" dirty="0">
                <a:latin typeface="Cambria"/>
                <a:cs typeface="Cambria"/>
              </a:rPr>
              <a:t>hardware</a:t>
            </a:r>
            <a:r>
              <a:rPr sz="2400" spc="-75" dirty="0">
                <a:latin typeface="Cambria"/>
                <a:cs typeface="Cambria"/>
              </a:rPr>
              <a:t> </a:t>
            </a:r>
            <a:r>
              <a:rPr sz="2400" spc="-10" dirty="0">
                <a:latin typeface="Cambria"/>
                <a:cs typeface="Cambria"/>
              </a:rPr>
              <a:t>architecture:</a:t>
            </a:r>
            <a:endParaRPr sz="2400" dirty="0">
              <a:latin typeface="Cambria"/>
              <a:cs typeface="Cambria"/>
            </a:endParaRPr>
          </a:p>
          <a:p>
            <a:pPr marL="195580" marR="5080" indent="-183515">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Finding</a:t>
            </a:r>
            <a:r>
              <a:rPr sz="2400" spc="-120" dirty="0">
                <a:latin typeface="Cambria"/>
                <a:cs typeface="Cambria"/>
              </a:rPr>
              <a:t> </a:t>
            </a:r>
            <a:r>
              <a:rPr sz="2400" dirty="0">
                <a:latin typeface="Cambria"/>
                <a:cs typeface="Cambria"/>
              </a:rPr>
              <a:t>an</a:t>
            </a:r>
            <a:r>
              <a:rPr sz="2400" spc="-60" dirty="0">
                <a:latin typeface="Cambria"/>
                <a:cs typeface="Cambria"/>
              </a:rPr>
              <a:t> </a:t>
            </a:r>
            <a:r>
              <a:rPr sz="2400" dirty="0">
                <a:latin typeface="Cambria"/>
                <a:cs typeface="Cambria"/>
              </a:rPr>
              <a:t>optimal</a:t>
            </a:r>
            <a:r>
              <a:rPr sz="2400" spc="-50" dirty="0">
                <a:latin typeface="Cambria"/>
                <a:cs typeface="Cambria"/>
              </a:rPr>
              <a:t> </a:t>
            </a:r>
            <a:r>
              <a:rPr sz="2400" spc="-10" dirty="0">
                <a:latin typeface="Cambria"/>
                <a:cs typeface="Cambria"/>
              </a:rPr>
              <a:t>assignment</a:t>
            </a:r>
            <a:r>
              <a:rPr sz="2400" spc="-50" dirty="0">
                <a:latin typeface="Cambria"/>
                <a:cs typeface="Cambria"/>
              </a:rPr>
              <a:t> </a:t>
            </a:r>
            <a:r>
              <a:rPr sz="2400" dirty="0">
                <a:latin typeface="Cambria"/>
                <a:cs typeface="Cambria"/>
              </a:rPr>
              <a:t>of</a:t>
            </a:r>
            <a:r>
              <a:rPr sz="2400" spc="-55" dirty="0">
                <a:latin typeface="Cambria"/>
                <a:cs typeface="Cambria"/>
              </a:rPr>
              <a:t> </a:t>
            </a:r>
            <a:r>
              <a:rPr sz="2400" spc="-10" dirty="0">
                <a:latin typeface="Cambria"/>
                <a:cs typeface="Cambria"/>
              </a:rPr>
              <a:t>registers</a:t>
            </a:r>
            <a:r>
              <a:rPr sz="2400" spc="-45" dirty="0">
                <a:latin typeface="Cambria"/>
                <a:cs typeface="Cambria"/>
              </a:rPr>
              <a:t> </a:t>
            </a:r>
            <a:r>
              <a:rPr sz="2400" dirty="0">
                <a:latin typeface="Cambria"/>
                <a:cs typeface="Cambria"/>
              </a:rPr>
              <a:t>to</a:t>
            </a:r>
            <a:r>
              <a:rPr sz="2400" spc="-50" dirty="0">
                <a:latin typeface="Cambria"/>
                <a:cs typeface="Cambria"/>
              </a:rPr>
              <a:t> </a:t>
            </a:r>
            <a:r>
              <a:rPr sz="2400" dirty="0">
                <a:latin typeface="Cambria"/>
                <a:cs typeface="Cambria"/>
              </a:rPr>
              <a:t>variables</a:t>
            </a:r>
            <a:r>
              <a:rPr sz="2400" spc="-65" dirty="0">
                <a:latin typeface="Cambria"/>
                <a:cs typeface="Cambria"/>
              </a:rPr>
              <a:t> </a:t>
            </a:r>
            <a:r>
              <a:rPr sz="2400" spc="-25" dirty="0">
                <a:latin typeface="Cambria"/>
                <a:cs typeface="Cambria"/>
              </a:rPr>
              <a:t>is </a:t>
            </a:r>
            <a:r>
              <a:rPr sz="2400" dirty="0">
                <a:latin typeface="Cambria"/>
                <a:cs typeface="Cambria"/>
              </a:rPr>
              <a:t>difficult,</a:t>
            </a:r>
            <a:r>
              <a:rPr sz="2400" spc="-70" dirty="0">
                <a:latin typeface="Cambria"/>
                <a:cs typeface="Cambria"/>
              </a:rPr>
              <a:t> </a:t>
            </a:r>
            <a:r>
              <a:rPr sz="2400" spc="-10" dirty="0">
                <a:latin typeface="Cambria"/>
                <a:cs typeface="Cambria"/>
              </a:rPr>
              <a:t>even</a:t>
            </a:r>
            <a:r>
              <a:rPr sz="2400" spc="-50" dirty="0">
                <a:latin typeface="Cambria"/>
                <a:cs typeface="Cambria"/>
              </a:rPr>
              <a:t> </a:t>
            </a:r>
            <a:r>
              <a:rPr sz="2400" dirty="0">
                <a:latin typeface="Cambria"/>
                <a:cs typeface="Cambria"/>
              </a:rPr>
              <a:t>with</a:t>
            </a:r>
            <a:r>
              <a:rPr sz="2400" spc="-65" dirty="0">
                <a:latin typeface="Cambria"/>
                <a:cs typeface="Cambria"/>
              </a:rPr>
              <a:t> </a:t>
            </a:r>
            <a:r>
              <a:rPr sz="2400" dirty="0">
                <a:latin typeface="Cambria"/>
                <a:cs typeface="Cambria"/>
              </a:rPr>
              <a:t>single</a:t>
            </a:r>
            <a:r>
              <a:rPr sz="2400" spc="-55" dirty="0">
                <a:latin typeface="Cambria"/>
                <a:cs typeface="Cambria"/>
              </a:rPr>
              <a:t> </a:t>
            </a:r>
            <a:r>
              <a:rPr sz="2400" spc="-10" dirty="0">
                <a:latin typeface="Cambria"/>
                <a:cs typeface="Cambria"/>
              </a:rPr>
              <a:t>register</a:t>
            </a:r>
            <a:r>
              <a:rPr sz="2400" spc="-60" dirty="0">
                <a:latin typeface="Cambria"/>
                <a:cs typeface="Cambria"/>
              </a:rPr>
              <a:t> </a:t>
            </a:r>
            <a:r>
              <a:rPr sz="2400" spc="-10" dirty="0">
                <a:latin typeface="Cambria"/>
                <a:cs typeface="Cambria"/>
              </a:rPr>
              <a:t>value.</a:t>
            </a:r>
            <a:endParaRPr sz="2400" dirty="0">
              <a:latin typeface="Cambria"/>
              <a:cs typeface="Cambria"/>
            </a:endParaRPr>
          </a:p>
          <a:p>
            <a:pPr marL="12700">
              <a:lnSpc>
                <a:spcPct val="100000"/>
              </a:lnSpc>
              <a:spcBef>
                <a:spcPts val="88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Mathematically</a:t>
            </a:r>
            <a:r>
              <a:rPr sz="2400" spc="-90" dirty="0">
                <a:latin typeface="Cambria"/>
                <a:cs typeface="Cambria"/>
              </a:rPr>
              <a:t> </a:t>
            </a:r>
            <a:r>
              <a:rPr sz="2400" dirty="0">
                <a:latin typeface="Cambria"/>
                <a:cs typeface="Cambria"/>
              </a:rPr>
              <a:t>the</a:t>
            </a:r>
            <a:r>
              <a:rPr sz="2400" spc="-55" dirty="0">
                <a:latin typeface="Cambria"/>
                <a:cs typeface="Cambria"/>
              </a:rPr>
              <a:t> </a:t>
            </a:r>
            <a:r>
              <a:rPr sz="2400" dirty="0">
                <a:latin typeface="Cambria"/>
                <a:cs typeface="Cambria"/>
              </a:rPr>
              <a:t>problem</a:t>
            </a:r>
            <a:r>
              <a:rPr sz="2400" spc="-40" dirty="0">
                <a:latin typeface="Cambria"/>
                <a:cs typeface="Cambria"/>
              </a:rPr>
              <a:t> </a:t>
            </a:r>
            <a:r>
              <a:rPr sz="2400" dirty="0">
                <a:latin typeface="Cambria"/>
                <a:cs typeface="Cambria"/>
              </a:rPr>
              <a:t>is</a:t>
            </a:r>
            <a:r>
              <a:rPr sz="2400" spc="-45" dirty="0">
                <a:latin typeface="Cambria"/>
                <a:cs typeface="Cambria"/>
              </a:rPr>
              <a:t> </a:t>
            </a:r>
            <a:r>
              <a:rPr sz="2400" spc="-10" dirty="0">
                <a:latin typeface="Cambria"/>
                <a:cs typeface="Cambria"/>
              </a:rPr>
              <a:t>NP-complete.</a:t>
            </a:r>
            <a:endParaRPr sz="2400" dirty="0">
              <a:latin typeface="Cambria"/>
              <a:cs typeface="Cambria"/>
            </a:endParaRPr>
          </a:p>
        </p:txBody>
      </p:sp>
      <p:sp>
        <p:nvSpPr>
          <p:cNvPr id="6" name="TextBox 5">
            <a:extLst>
              <a:ext uri="{FF2B5EF4-FFF2-40B4-BE49-F238E27FC236}">
                <a16:creationId xmlns:a16="http://schemas.microsoft.com/office/drawing/2014/main" id="{4AAD5EC5-64DD-00C2-3599-5E269778128A}"/>
              </a:ext>
            </a:extLst>
          </p:cNvPr>
          <p:cNvSpPr txBox="1"/>
          <p:nvPr/>
        </p:nvSpPr>
        <p:spPr>
          <a:xfrm>
            <a:off x="7696200" y="6273291"/>
            <a:ext cx="3200400" cy="369332"/>
          </a:xfrm>
          <a:prstGeom prst="rect">
            <a:avLst/>
          </a:prstGeom>
          <a:noFill/>
        </p:spPr>
        <p:txBody>
          <a:bodyPr wrap="square">
            <a:spAutoFit/>
          </a:bodyPr>
          <a:lstStyle/>
          <a:p>
            <a:r>
              <a:rPr lang="en-IN" dirty="0"/>
              <a:t>Optimal register allocation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973455">
              <a:lnSpc>
                <a:spcPct val="88800"/>
              </a:lnSpc>
            </a:pPr>
            <a:r>
              <a:rPr sz="3600" b="1" spc="-10" dirty="0">
                <a:solidFill>
                  <a:srgbClr val="FFFFFF"/>
                </a:solidFill>
                <a:latin typeface="Cambria"/>
                <a:cs typeface="Cambria"/>
              </a:rPr>
              <a:t>Register </a:t>
            </a:r>
            <a:r>
              <a:rPr sz="3600" b="1" spc="-35" dirty="0">
                <a:solidFill>
                  <a:srgbClr val="FFFFFF"/>
                </a:solidFill>
                <a:latin typeface="Cambria"/>
                <a:cs typeface="Cambria"/>
              </a:rPr>
              <a:t>Allocation </a:t>
            </a:r>
            <a:r>
              <a:rPr sz="3600" b="1" spc="-70" dirty="0">
                <a:solidFill>
                  <a:srgbClr val="FFFFFF"/>
                </a:solidFill>
                <a:latin typeface="Cambria"/>
                <a:cs typeface="Cambria"/>
              </a:rPr>
              <a:t>(Example)</a:t>
            </a:r>
            <a:endParaRPr sz="3600">
              <a:latin typeface="Cambria"/>
              <a:cs typeface="Cambria"/>
            </a:endParaRPr>
          </a:p>
        </p:txBody>
      </p:sp>
      <p:sp>
        <p:nvSpPr>
          <p:cNvPr id="3" name="object 3"/>
          <p:cNvSpPr txBox="1">
            <a:spLocks noGrp="1"/>
          </p:cNvSpPr>
          <p:nvPr>
            <p:ph type="title"/>
          </p:nvPr>
        </p:nvSpPr>
        <p:spPr>
          <a:xfrm>
            <a:off x="3948429" y="1534108"/>
            <a:ext cx="1177290" cy="331470"/>
          </a:xfrm>
          <a:prstGeom prst="rect">
            <a:avLst/>
          </a:prstGeom>
        </p:spPr>
        <p:txBody>
          <a:bodyPr vert="horz" wrap="square" lIns="0" tIns="13335" rIns="0" bIns="0" rtlCol="0">
            <a:spAutoFit/>
          </a:bodyPr>
          <a:lstStyle/>
          <a:p>
            <a:pPr marL="12700">
              <a:lnSpc>
                <a:spcPct val="100000"/>
              </a:lnSpc>
              <a:spcBef>
                <a:spcPts val="105"/>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dirty="0"/>
              <a:t>T</a:t>
            </a:r>
            <a:r>
              <a:rPr sz="2000" spc="-30" dirty="0"/>
              <a:t> </a:t>
            </a:r>
            <a:r>
              <a:rPr sz="2000" dirty="0"/>
              <a:t>=</a:t>
            </a:r>
            <a:r>
              <a:rPr sz="2000" spc="5" dirty="0"/>
              <a:t> </a:t>
            </a:r>
            <a:r>
              <a:rPr sz="2000" dirty="0"/>
              <a:t>A</a:t>
            </a:r>
            <a:r>
              <a:rPr sz="2000" spc="-20" dirty="0"/>
              <a:t> </a:t>
            </a:r>
            <a:r>
              <a:rPr sz="2000" dirty="0"/>
              <a:t>+</a:t>
            </a:r>
            <a:r>
              <a:rPr sz="2000" spc="-15" dirty="0"/>
              <a:t> </a:t>
            </a:r>
            <a:r>
              <a:rPr sz="2000" spc="-135" dirty="0"/>
              <a:t>B</a:t>
            </a:r>
            <a:endParaRPr sz="2000">
              <a:latin typeface="Arial MT"/>
              <a:cs typeface="Arial MT"/>
            </a:endParaRPr>
          </a:p>
        </p:txBody>
      </p:sp>
      <p:sp>
        <p:nvSpPr>
          <p:cNvPr id="4" name="object 4"/>
          <p:cNvSpPr txBox="1"/>
          <p:nvPr/>
        </p:nvSpPr>
        <p:spPr>
          <a:xfrm>
            <a:off x="3948429" y="1840204"/>
            <a:ext cx="1166495" cy="878840"/>
          </a:xfrm>
          <a:prstGeom prst="rect">
            <a:avLst/>
          </a:prstGeom>
        </p:spPr>
        <p:txBody>
          <a:bodyPr vert="horz" wrap="square" lIns="0" tIns="134620" rIns="0" bIns="0" rtlCol="0">
            <a:spAutoFit/>
          </a:bodyPr>
          <a:lstStyle/>
          <a:p>
            <a:pPr marL="12700">
              <a:lnSpc>
                <a:spcPct val="100000"/>
              </a:lnSpc>
              <a:spcBef>
                <a:spcPts val="10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T</a:t>
            </a:r>
            <a:r>
              <a:rPr sz="2000" spc="-20" dirty="0">
                <a:latin typeface="Cambria"/>
                <a:cs typeface="Cambria"/>
              </a:rPr>
              <a:t> </a:t>
            </a:r>
            <a:r>
              <a:rPr sz="2000" dirty="0">
                <a:latin typeface="Cambria"/>
                <a:cs typeface="Cambria"/>
              </a:rPr>
              <a:t>=</a:t>
            </a:r>
            <a:r>
              <a:rPr sz="2000" spc="5" dirty="0">
                <a:latin typeface="Cambria"/>
                <a:cs typeface="Cambria"/>
              </a:rPr>
              <a:t> </a:t>
            </a:r>
            <a:r>
              <a:rPr sz="2000" dirty="0">
                <a:latin typeface="Cambria"/>
                <a:cs typeface="Cambria"/>
              </a:rPr>
              <a:t>T</a:t>
            </a:r>
            <a:r>
              <a:rPr sz="2000" spc="-10" dirty="0">
                <a:latin typeface="Cambria"/>
                <a:cs typeface="Cambria"/>
              </a:rPr>
              <a:t> </a:t>
            </a:r>
            <a:r>
              <a:rPr sz="2000" dirty="0">
                <a:latin typeface="Cambria"/>
                <a:cs typeface="Cambria"/>
              </a:rPr>
              <a:t>*</a:t>
            </a:r>
            <a:r>
              <a:rPr sz="2000" spc="-20" dirty="0">
                <a:latin typeface="Cambria"/>
                <a:cs typeface="Cambria"/>
              </a:rPr>
              <a:t> </a:t>
            </a:r>
            <a:r>
              <a:rPr sz="2000" spc="-50" dirty="0">
                <a:latin typeface="Cambria"/>
                <a:cs typeface="Cambria"/>
              </a:rPr>
              <a:t>C</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T</a:t>
            </a:r>
            <a:r>
              <a:rPr sz="2000" spc="-20" dirty="0">
                <a:latin typeface="Cambria"/>
                <a:cs typeface="Cambria"/>
              </a:rPr>
              <a:t> </a:t>
            </a:r>
            <a:r>
              <a:rPr sz="2000" dirty="0">
                <a:latin typeface="Cambria"/>
                <a:cs typeface="Cambria"/>
              </a:rPr>
              <a:t>=</a:t>
            </a:r>
            <a:r>
              <a:rPr sz="2000" spc="5" dirty="0">
                <a:latin typeface="Cambria"/>
                <a:cs typeface="Cambria"/>
              </a:rPr>
              <a:t> </a:t>
            </a:r>
            <a:r>
              <a:rPr sz="2000" dirty="0">
                <a:latin typeface="Cambria"/>
                <a:cs typeface="Cambria"/>
              </a:rPr>
              <a:t>T</a:t>
            </a:r>
            <a:r>
              <a:rPr sz="2000" spc="-10" dirty="0">
                <a:latin typeface="Cambria"/>
                <a:cs typeface="Cambria"/>
              </a:rPr>
              <a:t> </a:t>
            </a:r>
            <a:r>
              <a:rPr sz="2000" dirty="0">
                <a:latin typeface="Cambria"/>
                <a:cs typeface="Cambria"/>
              </a:rPr>
              <a:t>/</a:t>
            </a:r>
            <a:r>
              <a:rPr sz="2000" spc="-15" dirty="0">
                <a:latin typeface="Cambria"/>
                <a:cs typeface="Cambria"/>
              </a:rPr>
              <a:t> </a:t>
            </a:r>
            <a:r>
              <a:rPr sz="2000" spc="-145" dirty="0">
                <a:latin typeface="Cambria"/>
                <a:cs typeface="Cambria"/>
              </a:rPr>
              <a:t>D</a:t>
            </a:r>
            <a:endParaRPr sz="2000">
              <a:latin typeface="Cambria"/>
              <a:cs typeface="Cambria"/>
            </a:endParaRPr>
          </a:p>
        </p:txBody>
      </p:sp>
      <p:sp>
        <p:nvSpPr>
          <p:cNvPr id="5" name="object 5"/>
          <p:cNvSpPr txBox="1"/>
          <p:nvPr/>
        </p:nvSpPr>
        <p:spPr>
          <a:xfrm>
            <a:off x="3948429" y="3120618"/>
            <a:ext cx="1725295" cy="2159635"/>
          </a:xfrm>
          <a:prstGeom prst="rect">
            <a:avLst/>
          </a:prstGeom>
        </p:spPr>
        <p:txBody>
          <a:bodyPr vert="horz" wrap="square" lIns="0" tIns="134620" rIns="0" bIns="0" rtlCol="0">
            <a:spAutoFit/>
          </a:bodyPr>
          <a:lstStyle/>
          <a:p>
            <a:pPr marL="12700">
              <a:lnSpc>
                <a:spcPct val="100000"/>
              </a:lnSpc>
              <a:spcBef>
                <a:spcPts val="10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Load</a:t>
            </a:r>
            <a:r>
              <a:rPr sz="2000" spc="-35" dirty="0">
                <a:latin typeface="Cambria"/>
                <a:cs typeface="Cambria"/>
              </a:rPr>
              <a:t> </a:t>
            </a:r>
            <a:r>
              <a:rPr sz="2000" dirty="0">
                <a:latin typeface="Cambria"/>
                <a:cs typeface="Cambria"/>
              </a:rPr>
              <a:t>R1,</a:t>
            </a:r>
            <a:r>
              <a:rPr sz="2000" spc="-20" dirty="0">
                <a:latin typeface="Cambria"/>
                <a:cs typeface="Cambria"/>
              </a:rPr>
              <a:t> </a:t>
            </a:r>
            <a:r>
              <a:rPr sz="2000" spc="-50" dirty="0">
                <a:latin typeface="Cambria"/>
                <a:cs typeface="Cambria"/>
              </a:rPr>
              <a:t>A</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Add</a:t>
            </a:r>
            <a:r>
              <a:rPr sz="2000" spc="-50" dirty="0">
                <a:latin typeface="Cambria"/>
                <a:cs typeface="Cambria"/>
              </a:rPr>
              <a:t> </a:t>
            </a:r>
            <a:r>
              <a:rPr sz="2000" dirty="0">
                <a:latin typeface="Cambria"/>
                <a:cs typeface="Cambria"/>
              </a:rPr>
              <a:t>R1,</a:t>
            </a:r>
            <a:r>
              <a:rPr sz="2000" spc="-30" dirty="0">
                <a:latin typeface="Cambria"/>
                <a:cs typeface="Cambria"/>
              </a:rPr>
              <a:t> </a:t>
            </a:r>
            <a:r>
              <a:rPr sz="2000" spc="-50" dirty="0">
                <a:latin typeface="Cambria"/>
                <a:cs typeface="Cambria"/>
              </a:rPr>
              <a:t>B</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dirty="0">
                <a:latin typeface="Cambria"/>
                <a:cs typeface="Cambria"/>
              </a:rPr>
              <a:t>Mul</a:t>
            </a:r>
            <a:r>
              <a:rPr sz="2000" spc="-40" dirty="0">
                <a:latin typeface="Cambria"/>
                <a:cs typeface="Cambria"/>
              </a:rPr>
              <a:t> </a:t>
            </a:r>
            <a:r>
              <a:rPr sz="2000" dirty="0">
                <a:latin typeface="Cambria"/>
                <a:cs typeface="Cambria"/>
              </a:rPr>
              <a:t>R1,</a:t>
            </a:r>
            <a:r>
              <a:rPr sz="2000" spc="-15" dirty="0">
                <a:latin typeface="Cambria"/>
                <a:cs typeface="Cambria"/>
              </a:rPr>
              <a:t> </a:t>
            </a:r>
            <a:r>
              <a:rPr sz="2000" spc="-50" dirty="0">
                <a:latin typeface="Cambria"/>
                <a:cs typeface="Cambria"/>
              </a:rPr>
              <a:t>C</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Division</a:t>
            </a:r>
            <a:r>
              <a:rPr sz="2000" spc="-75" dirty="0">
                <a:latin typeface="Cambria"/>
                <a:cs typeface="Cambria"/>
              </a:rPr>
              <a:t> </a:t>
            </a:r>
            <a:r>
              <a:rPr sz="2000" dirty="0">
                <a:latin typeface="Cambria"/>
                <a:cs typeface="Cambria"/>
              </a:rPr>
              <a:t>R1,</a:t>
            </a:r>
            <a:r>
              <a:rPr sz="2000" spc="-35" dirty="0">
                <a:latin typeface="Cambria"/>
                <a:cs typeface="Cambria"/>
              </a:rPr>
              <a:t> </a:t>
            </a:r>
            <a:r>
              <a:rPr sz="2000" spc="-120" dirty="0">
                <a:latin typeface="Cambria"/>
                <a:cs typeface="Cambria"/>
              </a:rPr>
              <a:t>D</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Store</a:t>
            </a:r>
            <a:r>
              <a:rPr sz="2000" spc="-70" dirty="0">
                <a:latin typeface="Cambria"/>
                <a:cs typeface="Cambria"/>
              </a:rPr>
              <a:t> </a:t>
            </a:r>
            <a:r>
              <a:rPr sz="2000" spc="-20" dirty="0">
                <a:latin typeface="Cambria"/>
                <a:cs typeface="Cambria"/>
              </a:rPr>
              <a:t>T,R1</a:t>
            </a:r>
            <a:endParaRPr sz="2000">
              <a:latin typeface="Cambria"/>
              <a:cs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941705">
              <a:lnSpc>
                <a:spcPts val="3779"/>
              </a:lnSpc>
            </a:pPr>
            <a:r>
              <a:rPr sz="3600" b="1" spc="-75" dirty="0">
                <a:solidFill>
                  <a:srgbClr val="FFFFFF"/>
                </a:solidFill>
                <a:latin typeface="Cambria"/>
                <a:cs typeface="Cambria"/>
              </a:rPr>
              <a:t>Choice</a:t>
            </a:r>
            <a:r>
              <a:rPr sz="3600" b="1" spc="-80" dirty="0">
                <a:solidFill>
                  <a:srgbClr val="FFFFFF"/>
                </a:solidFill>
                <a:latin typeface="Cambria"/>
                <a:cs typeface="Cambria"/>
              </a:rPr>
              <a:t> </a:t>
            </a:r>
            <a:r>
              <a:rPr sz="3600" b="1" spc="-25" dirty="0">
                <a:solidFill>
                  <a:srgbClr val="FFFFFF"/>
                </a:solidFill>
                <a:latin typeface="Cambria"/>
                <a:cs typeface="Cambria"/>
              </a:rPr>
              <a:t>of </a:t>
            </a:r>
            <a:r>
              <a:rPr sz="3600" b="1" spc="-80" dirty="0">
                <a:solidFill>
                  <a:srgbClr val="FFFFFF"/>
                </a:solidFill>
                <a:latin typeface="Cambria"/>
                <a:cs typeface="Cambria"/>
              </a:rPr>
              <a:t>evaluation</a:t>
            </a:r>
            <a:endParaRPr sz="3600">
              <a:latin typeface="Cambria"/>
              <a:cs typeface="Cambria"/>
            </a:endParaRPr>
          </a:p>
        </p:txBody>
      </p:sp>
      <p:sp>
        <p:nvSpPr>
          <p:cNvPr id="3" name="object 3"/>
          <p:cNvSpPr txBox="1"/>
          <p:nvPr/>
        </p:nvSpPr>
        <p:spPr>
          <a:xfrm>
            <a:off x="3948429" y="2185543"/>
            <a:ext cx="6917690" cy="605155"/>
          </a:xfrm>
          <a:prstGeom prst="rect">
            <a:avLst/>
          </a:prstGeom>
        </p:spPr>
        <p:txBody>
          <a:bodyPr vert="horz" wrap="square" lIns="0" tIns="47625" rIns="0" bIns="0" rtlCol="0">
            <a:spAutoFit/>
          </a:bodyPr>
          <a:lstStyle/>
          <a:p>
            <a:pPr marL="195580" marR="5080" indent="-182880">
              <a:lnSpc>
                <a:spcPts val="2160"/>
              </a:lnSpc>
              <a:spcBef>
                <a:spcPts val="37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The</a:t>
            </a:r>
            <a:r>
              <a:rPr sz="2000" spc="-75" dirty="0">
                <a:latin typeface="Cambria"/>
                <a:cs typeface="Cambria"/>
              </a:rPr>
              <a:t> </a:t>
            </a:r>
            <a:r>
              <a:rPr sz="2000" dirty="0">
                <a:latin typeface="Cambria"/>
                <a:cs typeface="Cambria"/>
              </a:rPr>
              <a:t>order</a:t>
            </a:r>
            <a:r>
              <a:rPr sz="2000" spc="-45" dirty="0">
                <a:latin typeface="Cambria"/>
                <a:cs typeface="Cambria"/>
              </a:rPr>
              <a:t> </a:t>
            </a:r>
            <a:r>
              <a:rPr sz="2000" dirty="0">
                <a:latin typeface="Cambria"/>
                <a:cs typeface="Cambria"/>
              </a:rPr>
              <a:t>in</a:t>
            </a:r>
            <a:r>
              <a:rPr sz="2000" spc="-35" dirty="0">
                <a:latin typeface="Cambria"/>
                <a:cs typeface="Cambria"/>
              </a:rPr>
              <a:t> </a:t>
            </a:r>
            <a:r>
              <a:rPr sz="2000" dirty="0">
                <a:latin typeface="Cambria"/>
                <a:cs typeface="Cambria"/>
              </a:rPr>
              <a:t>which</a:t>
            </a:r>
            <a:r>
              <a:rPr sz="2000" spc="-30" dirty="0">
                <a:latin typeface="Cambria"/>
                <a:cs typeface="Cambria"/>
              </a:rPr>
              <a:t> </a:t>
            </a:r>
            <a:r>
              <a:rPr sz="2000" dirty="0">
                <a:latin typeface="Cambria"/>
                <a:cs typeface="Cambria"/>
              </a:rPr>
              <a:t>computations</a:t>
            </a:r>
            <a:r>
              <a:rPr sz="2000" spc="-60" dirty="0">
                <a:latin typeface="Cambria"/>
                <a:cs typeface="Cambria"/>
              </a:rPr>
              <a:t> </a:t>
            </a:r>
            <a:r>
              <a:rPr sz="2000" dirty="0">
                <a:latin typeface="Cambria"/>
                <a:cs typeface="Cambria"/>
              </a:rPr>
              <a:t>are</a:t>
            </a:r>
            <a:r>
              <a:rPr sz="2000" spc="-50" dirty="0">
                <a:latin typeface="Cambria"/>
                <a:cs typeface="Cambria"/>
              </a:rPr>
              <a:t> </a:t>
            </a:r>
            <a:r>
              <a:rPr sz="2000" dirty="0">
                <a:latin typeface="Cambria"/>
                <a:cs typeface="Cambria"/>
              </a:rPr>
              <a:t>performed</a:t>
            </a:r>
            <a:r>
              <a:rPr sz="2000" spc="-50" dirty="0">
                <a:latin typeface="Cambria"/>
                <a:cs typeface="Cambria"/>
              </a:rPr>
              <a:t> </a:t>
            </a:r>
            <a:r>
              <a:rPr sz="2000" dirty="0">
                <a:latin typeface="Cambria"/>
                <a:cs typeface="Cambria"/>
              </a:rPr>
              <a:t>can</a:t>
            </a:r>
            <a:r>
              <a:rPr sz="2000" spc="-35" dirty="0">
                <a:latin typeface="Cambria"/>
                <a:cs typeface="Cambria"/>
              </a:rPr>
              <a:t> </a:t>
            </a:r>
            <a:r>
              <a:rPr sz="2000" dirty="0">
                <a:latin typeface="Cambria"/>
                <a:cs typeface="Cambria"/>
              </a:rPr>
              <a:t>affect</a:t>
            </a:r>
            <a:r>
              <a:rPr sz="2000" spc="-65" dirty="0">
                <a:latin typeface="Cambria"/>
                <a:cs typeface="Cambria"/>
              </a:rPr>
              <a:t> </a:t>
            </a:r>
            <a:r>
              <a:rPr sz="2000" spc="-25" dirty="0">
                <a:latin typeface="Cambria"/>
                <a:cs typeface="Cambria"/>
              </a:rPr>
              <a:t>the </a:t>
            </a:r>
            <a:r>
              <a:rPr sz="2000" dirty="0">
                <a:latin typeface="Cambria"/>
                <a:cs typeface="Cambria"/>
              </a:rPr>
              <a:t>efficiency</a:t>
            </a:r>
            <a:r>
              <a:rPr sz="2000" spc="-40" dirty="0">
                <a:latin typeface="Cambria"/>
                <a:cs typeface="Cambria"/>
              </a:rPr>
              <a:t> </a:t>
            </a:r>
            <a:r>
              <a:rPr sz="2000" dirty="0">
                <a:latin typeface="Cambria"/>
                <a:cs typeface="Cambria"/>
              </a:rPr>
              <a:t>of</a:t>
            </a:r>
            <a:r>
              <a:rPr sz="2000" spc="-30" dirty="0">
                <a:latin typeface="Cambria"/>
                <a:cs typeface="Cambria"/>
              </a:rPr>
              <a:t> </a:t>
            </a:r>
            <a:r>
              <a:rPr sz="2000" dirty="0">
                <a:latin typeface="Cambria"/>
                <a:cs typeface="Cambria"/>
              </a:rPr>
              <a:t>the</a:t>
            </a:r>
            <a:r>
              <a:rPr sz="2000" spc="-40" dirty="0">
                <a:latin typeface="Cambria"/>
                <a:cs typeface="Cambria"/>
              </a:rPr>
              <a:t> </a:t>
            </a:r>
            <a:r>
              <a:rPr sz="2000" dirty="0">
                <a:latin typeface="Cambria"/>
                <a:cs typeface="Cambria"/>
              </a:rPr>
              <a:t>target</a:t>
            </a:r>
            <a:r>
              <a:rPr sz="2000" spc="-40" dirty="0">
                <a:latin typeface="Cambria"/>
                <a:cs typeface="Cambria"/>
              </a:rPr>
              <a:t> </a:t>
            </a:r>
            <a:r>
              <a:rPr sz="2000" spc="-10" dirty="0">
                <a:latin typeface="Cambria"/>
                <a:cs typeface="Cambria"/>
              </a:rPr>
              <a:t>code.</a:t>
            </a:r>
            <a:endParaRPr sz="2000">
              <a:latin typeface="Cambria"/>
              <a:cs typeface="Cambria"/>
            </a:endParaRPr>
          </a:p>
        </p:txBody>
      </p:sp>
      <p:sp>
        <p:nvSpPr>
          <p:cNvPr id="4" name="object 4"/>
          <p:cNvSpPr txBox="1">
            <a:spLocks noGrp="1"/>
          </p:cNvSpPr>
          <p:nvPr>
            <p:ph type="title"/>
          </p:nvPr>
        </p:nvSpPr>
        <p:spPr>
          <a:xfrm>
            <a:off x="3948429" y="2886278"/>
            <a:ext cx="6363970" cy="331470"/>
          </a:xfrm>
          <a:prstGeom prst="rect">
            <a:avLst/>
          </a:prstGeom>
        </p:spPr>
        <p:txBody>
          <a:bodyPr vert="horz" wrap="square" lIns="0" tIns="13335" rIns="0" bIns="0" rtlCol="0">
            <a:spAutoFit/>
          </a:bodyPr>
          <a:lstStyle/>
          <a:p>
            <a:pPr marL="12700">
              <a:lnSpc>
                <a:spcPct val="100000"/>
              </a:lnSpc>
              <a:spcBef>
                <a:spcPts val="105"/>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dirty="0"/>
              <a:t>Some</a:t>
            </a:r>
            <a:r>
              <a:rPr sz="2000" spc="-100" dirty="0"/>
              <a:t> </a:t>
            </a:r>
            <a:r>
              <a:rPr sz="2000" dirty="0"/>
              <a:t>computation</a:t>
            </a:r>
            <a:r>
              <a:rPr sz="2000" spc="-75" dirty="0"/>
              <a:t> </a:t>
            </a:r>
            <a:r>
              <a:rPr sz="2000" dirty="0"/>
              <a:t>orders</a:t>
            </a:r>
            <a:r>
              <a:rPr sz="2000" spc="-50" dirty="0"/>
              <a:t> </a:t>
            </a:r>
            <a:r>
              <a:rPr sz="2000" spc="-10" dirty="0"/>
              <a:t>require</a:t>
            </a:r>
            <a:r>
              <a:rPr sz="2000" spc="-55" dirty="0"/>
              <a:t> </a:t>
            </a:r>
            <a:r>
              <a:rPr sz="2000" dirty="0"/>
              <a:t>fewer</a:t>
            </a:r>
            <a:r>
              <a:rPr sz="2000" spc="-40" dirty="0"/>
              <a:t> </a:t>
            </a:r>
            <a:r>
              <a:rPr sz="2000" dirty="0"/>
              <a:t>registers</a:t>
            </a:r>
            <a:r>
              <a:rPr sz="2000" spc="-65" dirty="0"/>
              <a:t> </a:t>
            </a:r>
            <a:r>
              <a:rPr sz="2000" dirty="0"/>
              <a:t>to</a:t>
            </a:r>
            <a:r>
              <a:rPr sz="2000" spc="-45" dirty="0"/>
              <a:t> </a:t>
            </a:r>
            <a:r>
              <a:rPr sz="2000" spc="-20" dirty="0"/>
              <a:t>hold</a:t>
            </a:r>
            <a:endParaRPr sz="2000">
              <a:latin typeface="Arial MT"/>
              <a:cs typeface="Arial MT"/>
            </a:endParaRPr>
          </a:p>
        </p:txBody>
      </p:sp>
      <p:sp>
        <p:nvSpPr>
          <p:cNvPr id="5" name="object 5"/>
          <p:cNvSpPr txBox="1"/>
          <p:nvPr/>
        </p:nvSpPr>
        <p:spPr>
          <a:xfrm>
            <a:off x="3948429" y="3039846"/>
            <a:ext cx="6959600" cy="1580515"/>
          </a:xfrm>
          <a:prstGeom prst="rect">
            <a:avLst/>
          </a:prstGeom>
        </p:spPr>
        <p:txBody>
          <a:bodyPr vert="horz" wrap="square" lIns="0" tIns="134620" rIns="0" bIns="0" rtlCol="0">
            <a:spAutoFit/>
          </a:bodyPr>
          <a:lstStyle/>
          <a:p>
            <a:pPr marL="195580">
              <a:lnSpc>
                <a:spcPct val="100000"/>
              </a:lnSpc>
              <a:spcBef>
                <a:spcPts val="1060"/>
              </a:spcBef>
            </a:pPr>
            <a:r>
              <a:rPr sz="2000" b="1" dirty="0">
                <a:latin typeface="Cambria"/>
                <a:cs typeface="Cambria"/>
              </a:rPr>
              <a:t>i</a:t>
            </a:r>
            <a:r>
              <a:rPr sz="2000" dirty="0">
                <a:latin typeface="Cambria"/>
                <a:cs typeface="Cambria"/>
              </a:rPr>
              <a:t>ntermediate</a:t>
            </a:r>
            <a:r>
              <a:rPr sz="2000" spc="-85" dirty="0">
                <a:latin typeface="Cambria"/>
                <a:cs typeface="Cambria"/>
              </a:rPr>
              <a:t> </a:t>
            </a:r>
            <a:r>
              <a:rPr sz="2000" dirty="0">
                <a:latin typeface="Cambria"/>
                <a:cs typeface="Cambria"/>
              </a:rPr>
              <a:t>results</a:t>
            </a:r>
            <a:r>
              <a:rPr sz="2000" spc="-70" dirty="0">
                <a:latin typeface="Cambria"/>
                <a:cs typeface="Cambria"/>
              </a:rPr>
              <a:t> </a:t>
            </a:r>
            <a:r>
              <a:rPr sz="2000" dirty="0">
                <a:latin typeface="Cambria"/>
                <a:cs typeface="Cambria"/>
              </a:rPr>
              <a:t>than</a:t>
            </a:r>
            <a:r>
              <a:rPr sz="2000" spc="-80" dirty="0">
                <a:latin typeface="Cambria"/>
                <a:cs typeface="Cambria"/>
              </a:rPr>
              <a:t> </a:t>
            </a:r>
            <a:r>
              <a:rPr sz="2000" spc="-10" dirty="0">
                <a:latin typeface="Cambria"/>
                <a:cs typeface="Cambria"/>
              </a:rPr>
              <a:t>others.</a:t>
            </a:r>
            <a:endParaRPr sz="2000">
              <a:latin typeface="Cambria"/>
              <a:cs typeface="Cambria"/>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Picking</a:t>
            </a:r>
            <a:r>
              <a:rPr sz="2000" spc="-65" dirty="0">
                <a:latin typeface="Cambria"/>
                <a:cs typeface="Cambria"/>
              </a:rPr>
              <a:t> </a:t>
            </a:r>
            <a:r>
              <a:rPr sz="2000" dirty="0">
                <a:latin typeface="Cambria"/>
                <a:cs typeface="Cambria"/>
              </a:rPr>
              <a:t>a</a:t>
            </a:r>
            <a:r>
              <a:rPr sz="2000" spc="-20" dirty="0">
                <a:latin typeface="Cambria"/>
                <a:cs typeface="Cambria"/>
              </a:rPr>
              <a:t> </a:t>
            </a:r>
            <a:r>
              <a:rPr sz="2000" dirty="0">
                <a:latin typeface="Cambria"/>
                <a:cs typeface="Cambria"/>
              </a:rPr>
              <a:t>best</a:t>
            </a:r>
            <a:r>
              <a:rPr sz="2000" spc="-5" dirty="0">
                <a:latin typeface="Cambria"/>
                <a:cs typeface="Cambria"/>
              </a:rPr>
              <a:t> </a:t>
            </a:r>
            <a:r>
              <a:rPr sz="2000" dirty="0">
                <a:latin typeface="Cambria"/>
                <a:cs typeface="Cambria"/>
              </a:rPr>
              <a:t>order</a:t>
            </a:r>
            <a:r>
              <a:rPr sz="2000" spc="-40" dirty="0">
                <a:latin typeface="Cambria"/>
                <a:cs typeface="Cambria"/>
              </a:rPr>
              <a:t> </a:t>
            </a:r>
            <a:r>
              <a:rPr sz="2000" dirty="0">
                <a:latin typeface="Cambria"/>
                <a:cs typeface="Cambria"/>
              </a:rPr>
              <a:t>is</a:t>
            </a:r>
            <a:r>
              <a:rPr sz="2000" spc="-25" dirty="0">
                <a:latin typeface="Cambria"/>
                <a:cs typeface="Cambria"/>
              </a:rPr>
              <a:t> </a:t>
            </a:r>
            <a:r>
              <a:rPr sz="2000" dirty="0">
                <a:latin typeface="Cambria"/>
                <a:cs typeface="Cambria"/>
              </a:rPr>
              <a:t>another</a:t>
            </a:r>
            <a:r>
              <a:rPr sz="2000" spc="-50" dirty="0">
                <a:latin typeface="Cambria"/>
                <a:cs typeface="Cambria"/>
              </a:rPr>
              <a:t> </a:t>
            </a:r>
            <a:r>
              <a:rPr sz="2000" dirty="0">
                <a:latin typeface="Cambria"/>
                <a:cs typeface="Cambria"/>
              </a:rPr>
              <a:t>difficult,</a:t>
            </a:r>
            <a:r>
              <a:rPr sz="2000" spc="-50" dirty="0">
                <a:latin typeface="Cambria"/>
                <a:cs typeface="Cambria"/>
              </a:rPr>
              <a:t> </a:t>
            </a:r>
            <a:r>
              <a:rPr sz="2000" dirty="0">
                <a:latin typeface="Cambria"/>
                <a:cs typeface="Cambria"/>
              </a:rPr>
              <a:t>NP-complete</a:t>
            </a:r>
            <a:r>
              <a:rPr sz="2000" spc="-55" dirty="0">
                <a:latin typeface="Cambria"/>
                <a:cs typeface="Cambria"/>
              </a:rPr>
              <a:t> </a:t>
            </a:r>
            <a:r>
              <a:rPr sz="2000" spc="-10" dirty="0">
                <a:latin typeface="Cambria"/>
                <a:cs typeface="Cambria"/>
              </a:rPr>
              <a:t>problem.</a:t>
            </a:r>
            <a:endParaRPr sz="2000">
              <a:latin typeface="Cambria"/>
              <a:cs typeface="Cambria"/>
            </a:endParaRPr>
          </a:p>
          <a:p>
            <a:pPr marL="12700">
              <a:lnSpc>
                <a:spcPts val="2280"/>
              </a:lnSpc>
              <a:spcBef>
                <a:spcPts val="960"/>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dirty="0">
                <a:latin typeface="Cambria"/>
                <a:cs typeface="Cambria"/>
              </a:rPr>
              <a:t>When</a:t>
            </a:r>
            <a:r>
              <a:rPr sz="2000" spc="-90" dirty="0">
                <a:latin typeface="Cambria"/>
                <a:cs typeface="Cambria"/>
              </a:rPr>
              <a:t> </a:t>
            </a:r>
            <a:r>
              <a:rPr sz="2000" dirty="0">
                <a:latin typeface="Cambria"/>
                <a:cs typeface="Cambria"/>
              </a:rPr>
              <a:t>instructions</a:t>
            </a:r>
            <a:r>
              <a:rPr sz="2000" spc="-65" dirty="0">
                <a:latin typeface="Cambria"/>
                <a:cs typeface="Cambria"/>
              </a:rPr>
              <a:t> </a:t>
            </a:r>
            <a:r>
              <a:rPr sz="2000" dirty="0">
                <a:latin typeface="Cambria"/>
                <a:cs typeface="Cambria"/>
              </a:rPr>
              <a:t>are</a:t>
            </a:r>
            <a:r>
              <a:rPr sz="2000" spc="-50" dirty="0">
                <a:latin typeface="Cambria"/>
                <a:cs typeface="Cambria"/>
              </a:rPr>
              <a:t> </a:t>
            </a:r>
            <a:r>
              <a:rPr sz="2000" dirty="0">
                <a:latin typeface="Cambria"/>
                <a:cs typeface="Cambria"/>
              </a:rPr>
              <a:t>independent,</a:t>
            </a:r>
            <a:r>
              <a:rPr sz="2000" spc="-40" dirty="0">
                <a:latin typeface="Cambria"/>
                <a:cs typeface="Cambria"/>
              </a:rPr>
              <a:t> </a:t>
            </a:r>
            <a:r>
              <a:rPr sz="2000" dirty="0">
                <a:latin typeface="Cambria"/>
                <a:cs typeface="Cambria"/>
              </a:rPr>
              <a:t>their</a:t>
            </a:r>
            <a:r>
              <a:rPr sz="2000" spc="-45" dirty="0">
                <a:latin typeface="Cambria"/>
                <a:cs typeface="Cambria"/>
              </a:rPr>
              <a:t> </a:t>
            </a:r>
            <a:r>
              <a:rPr sz="2000" spc="-10" dirty="0">
                <a:latin typeface="Cambria"/>
                <a:cs typeface="Cambria"/>
              </a:rPr>
              <a:t>evaluation</a:t>
            </a:r>
            <a:r>
              <a:rPr sz="2000" spc="-65" dirty="0">
                <a:latin typeface="Cambria"/>
                <a:cs typeface="Cambria"/>
              </a:rPr>
              <a:t> </a:t>
            </a:r>
            <a:r>
              <a:rPr sz="2000" dirty="0">
                <a:latin typeface="Cambria"/>
                <a:cs typeface="Cambria"/>
              </a:rPr>
              <a:t>order</a:t>
            </a:r>
            <a:r>
              <a:rPr sz="2000" spc="-50" dirty="0">
                <a:latin typeface="Cambria"/>
                <a:cs typeface="Cambria"/>
              </a:rPr>
              <a:t> </a:t>
            </a:r>
            <a:r>
              <a:rPr sz="2000" spc="-25" dirty="0">
                <a:latin typeface="Cambria"/>
                <a:cs typeface="Cambria"/>
              </a:rPr>
              <a:t>can</a:t>
            </a:r>
            <a:endParaRPr sz="2000">
              <a:latin typeface="Cambria"/>
              <a:cs typeface="Cambria"/>
            </a:endParaRPr>
          </a:p>
          <a:p>
            <a:pPr marL="195580">
              <a:lnSpc>
                <a:spcPts val="2280"/>
              </a:lnSpc>
            </a:pPr>
            <a:r>
              <a:rPr sz="2000" dirty="0">
                <a:latin typeface="Cambria"/>
                <a:cs typeface="Cambria"/>
              </a:rPr>
              <a:t>be</a:t>
            </a:r>
            <a:r>
              <a:rPr sz="2000" spc="-35" dirty="0">
                <a:latin typeface="Cambria"/>
                <a:cs typeface="Cambria"/>
              </a:rPr>
              <a:t> </a:t>
            </a:r>
            <a:r>
              <a:rPr sz="2000" spc="-10" dirty="0">
                <a:latin typeface="Cambria"/>
                <a:cs typeface="Cambria"/>
              </a:rPr>
              <a:t>changed.</a:t>
            </a:r>
            <a:endParaRPr sz="2000">
              <a:latin typeface="Cambria"/>
              <a:cs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941705">
              <a:lnSpc>
                <a:spcPct val="88800"/>
              </a:lnSpc>
            </a:pPr>
            <a:r>
              <a:rPr sz="3600" b="1" spc="-75" dirty="0">
                <a:solidFill>
                  <a:srgbClr val="FFFFFF"/>
                </a:solidFill>
                <a:latin typeface="Cambria"/>
                <a:cs typeface="Cambria"/>
              </a:rPr>
              <a:t>Choice</a:t>
            </a:r>
            <a:r>
              <a:rPr sz="3600" b="1" spc="-80" dirty="0">
                <a:solidFill>
                  <a:srgbClr val="FFFFFF"/>
                </a:solidFill>
                <a:latin typeface="Cambria"/>
                <a:cs typeface="Cambria"/>
              </a:rPr>
              <a:t> </a:t>
            </a:r>
            <a:r>
              <a:rPr sz="3600" b="1" spc="-25" dirty="0">
                <a:solidFill>
                  <a:srgbClr val="FFFFFF"/>
                </a:solidFill>
                <a:latin typeface="Cambria"/>
                <a:cs typeface="Cambria"/>
              </a:rPr>
              <a:t>of </a:t>
            </a:r>
            <a:r>
              <a:rPr sz="3600" b="1" spc="-80" dirty="0">
                <a:solidFill>
                  <a:srgbClr val="FFFFFF"/>
                </a:solidFill>
                <a:latin typeface="Cambria"/>
                <a:cs typeface="Cambria"/>
              </a:rPr>
              <a:t>evaluation </a:t>
            </a:r>
            <a:r>
              <a:rPr sz="3600" b="1" spc="-45"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3948429" y="889762"/>
            <a:ext cx="1824989"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a:cs typeface="Cambria"/>
              </a:rPr>
              <a:t>a</a:t>
            </a:r>
            <a:r>
              <a:rPr sz="2000" spc="-15"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b</a:t>
            </a:r>
            <a:r>
              <a:rPr sz="2000" spc="-5"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(c</a:t>
            </a:r>
            <a:r>
              <a:rPr sz="2000" spc="-10" dirty="0">
                <a:latin typeface="Cambria"/>
                <a:cs typeface="Cambria"/>
              </a:rPr>
              <a:t> </a:t>
            </a:r>
            <a:r>
              <a:rPr sz="2000" dirty="0">
                <a:latin typeface="Cambria"/>
                <a:cs typeface="Cambria"/>
              </a:rPr>
              <a:t>+</a:t>
            </a:r>
            <a:r>
              <a:rPr sz="2000" spc="-5" dirty="0">
                <a:latin typeface="Cambria"/>
                <a:cs typeface="Cambria"/>
              </a:rPr>
              <a:t> </a:t>
            </a:r>
            <a:r>
              <a:rPr sz="2000" dirty="0">
                <a:latin typeface="Cambria"/>
                <a:cs typeface="Cambria"/>
              </a:rPr>
              <a:t>d)</a:t>
            </a:r>
            <a:r>
              <a:rPr sz="2000" spc="-5" dirty="0">
                <a:latin typeface="Cambria"/>
                <a:cs typeface="Cambria"/>
              </a:rPr>
              <a:t> </a:t>
            </a:r>
            <a:r>
              <a:rPr sz="2000" dirty="0">
                <a:latin typeface="Cambria"/>
                <a:cs typeface="Cambria"/>
              </a:rPr>
              <a:t>*</a:t>
            </a:r>
            <a:r>
              <a:rPr sz="2000" spc="-20" dirty="0">
                <a:latin typeface="Cambria"/>
                <a:cs typeface="Cambria"/>
              </a:rPr>
              <a:t> </a:t>
            </a:r>
            <a:r>
              <a:rPr sz="2000" spc="-50" dirty="0">
                <a:latin typeface="Cambria"/>
                <a:cs typeface="Cambria"/>
              </a:rPr>
              <a:t>e</a:t>
            </a:r>
            <a:endParaRPr sz="2000">
              <a:latin typeface="Cambria"/>
              <a:cs typeface="Cambria"/>
            </a:endParaRPr>
          </a:p>
        </p:txBody>
      </p:sp>
      <p:sp>
        <p:nvSpPr>
          <p:cNvPr id="4" name="object 4"/>
          <p:cNvSpPr txBox="1"/>
          <p:nvPr/>
        </p:nvSpPr>
        <p:spPr>
          <a:xfrm>
            <a:off x="3948429" y="1622272"/>
            <a:ext cx="1392555" cy="1732914"/>
          </a:xfrm>
          <a:prstGeom prst="rect">
            <a:avLst/>
          </a:prstGeom>
        </p:spPr>
        <p:txBody>
          <a:bodyPr vert="horz" wrap="square" lIns="0" tIns="12700" rIns="0" bIns="0" rtlCol="0">
            <a:spAutoFit/>
          </a:bodyPr>
          <a:lstStyle/>
          <a:p>
            <a:pPr marL="12700" marR="5080">
              <a:lnSpc>
                <a:spcPct val="140000"/>
              </a:lnSpc>
              <a:spcBef>
                <a:spcPts val="100"/>
              </a:spcBef>
            </a:pPr>
            <a:r>
              <a:rPr sz="2000" dirty="0">
                <a:latin typeface="Cambria"/>
                <a:cs typeface="Cambria"/>
              </a:rPr>
              <a:t>T1</a:t>
            </a:r>
            <a:r>
              <a:rPr sz="2000" spc="-20"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a</a:t>
            </a:r>
            <a:r>
              <a:rPr sz="2000" spc="-15" dirty="0">
                <a:latin typeface="Cambria"/>
                <a:cs typeface="Cambria"/>
              </a:rPr>
              <a:t> </a:t>
            </a:r>
            <a:r>
              <a:rPr sz="2000" dirty="0">
                <a:latin typeface="Cambria"/>
                <a:cs typeface="Cambria"/>
              </a:rPr>
              <a:t>+</a:t>
            </a:r>
            <a:r>
              <a:rPr sz="2000" spc="-20" dirty="0">
                <a:latin typeface="Cambria"/>
                <a:cs typeface="Cambria"/>
              </a:rPr>
              <a:t> </a:t>
            </a:r>
            <a:r>
              <a:rPr sz="2000" spc="-50" dirty="0">
                <a:latin typeface="Cambria"/>
                <a:cs typeface="Cambria"/>
              </a:rPr>
              <a:t>b</a:t>
            </a:r>
            <a:r>
              <a:rPr sz="2000" dirty="0">
                <a:latin typeface="Cambria"/>
                <a:cs typeface="Cambria"/>
              </a:rPr>
              <a:t> T2</a:t>
            </a:r>
            <a:r>
              <a:rPr sz="2000" spc="-20" dirty="0">
                <a:latin typeface="Cambria"/>
                <a:cs typeface="Cambria"/>
              </a:rPr>
              <a:t> </a:t>
            </a:r>
            <a:r>
              <a:rPr sz="2000" dirty="0">
                <a:latin typeface="Cambria"/>
                <a:cs typeface="Cambria"/>
              </a:rPr>
              <a:t>=</a:t>
            </a:r>
            <a:r>
              <a:rPr sz="2000" spc="-15" dirty="0">
                <a:latin typeface="Cambria"/>
                <a:cs typeface="Cambria"/>
              </a:rPr>
              <a:t> </a:t>
            </a:r>
            <a:r>
              <a:rPr sz="2000" dirty="0">
                <a:latin typeface="Cambria"/>
                <a:cs typeface="Cambria"/>
              </a:rPr>
              <a:t>c</a:t>
            </a:r>
            <a:r>
              <a:rPr sz="2000" spc="-10" dirty="0">
                <a:latin typeface="Cambria"/>
                <a:cs typeface="Cambria"/>
              </a:rPr>
              <a:t> </a:t>
            </a:r>
            <a:r>
              <a:rPr sz="2000" dirty="0">
                <a:latin typeface="Cambria"/>
                <a:cs typeface="Cambria"/>
              </a:rPr>
              <a:t>+</a:t>
            </a:r>
            <a:r>
              <a:rPr sz="2000" spc="-15" dirty="0">
                <a:latin typeface="Cambria"/>
                <a:cs typeface="Cambria"/>
              </a:rPr>
              <a:t> </a:t>
            </a:r>
            <a:r>
              <a:rPr sz="2000" spc="-50" dirty="0">
                <a:latin typeface="Cambria"/>
                <a:cs typeface="Cambria"/>
              </a:rPr>
              <a:t>d</a:t>
            </a:r>
            <a:r>
              <a:rPr sz="2000" spc="500" dirty="0">
                <a:latin typeface="Cambria"/>
                <a:cs typeface="Cambria"/>
              </a:rPr>
              <a:t> </a:t>
            </a:r>
            <a:r>
              <a:rPr sz="2000" dirty="0">
                <a:latin typeface="Cambria"/>
                <a:cs typeface="Cambria"/>
              </a:rPr>
              <a:t>T3</a:t>
            </a:r>
            <a:r>
              <a:rPr sz="2000" spc="-15"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e</a:t>
            </a:r>
            <a:r>
              <a:rPr sz="2000" spc="-10" dirty="0">
                <a:latin typeface="Cambria"/>
                <a:cs typeface="Cambria"/>
              </a:rPr>
              <a:t> </a:t>
            </a:r>
            <a:r>
              <a:rPr sz="2000" dirty="0">
                <a:latin typeface="Cambria"/>
                <a:cs typeface="Cambria"/>
              </a:rPr>
              <a:t>*</a:t>
            </a:r>
            <a:r>
              <a:rPr sz="2000" spc="-20" dirty="0">
                <a:latin typeface="Cambria"/>
                <a:cs typeface="Cambria"/>
              </a:rPr>
              <a:t> </a:t>
            </a:r>
            <a:r>
              <a:rPr sz="2000" spc="-25" dirty="0">
                <a:latin typeface="Cambria"/>
                <a:cs typeface="Cambria"/>
              </a:rPr>
              <a:t>t2 </a:t>
            </a:r>
            <a:r>
              <a:rPr sz="2000" dirty="0">
                <a:latin typeface="Cambria"/>
                <a:cs typeface="Cambria"/>
              </a:rPr>
              <a:t>T4</a:t>
            </a:r>
            <a:r>
              <a:rPr sz="2000" spc="-20" dirty="0">
                <a:latin typeface="Cambria"/>
                <a:cs typeface="Cambria"/>
              </a:rPr>
              <a:t> </a:t>
            </a:r>
            <a:r>
              <a:rPr sz="2000" dirty="0">
                <a:latin typeface="Cambria"/>
                <a:cs typeface="Cambria"/>
              </a:rPr>
              <a:t>=</a:t>
            </a:r>
            <a:r>
              <a:rPr sz="2000" spc="-15" dirty="0">
                <a:latin typeface="Cambria"/>
                <a:cs typeface="Cambria"/>
              </a:rPr>
              <a:t> </a:t>
            </a:r>
            <a:r>
              <a:rPr sz="2000" dirty="0">
                <a:latin typeface="Cambria"/>
                <a:cs typeface="Cambria"/>
              </a:rPr>
              <a:t>T1</a:t>
            </a:r>
            <a:r>
              <a:rPr sz="2000" spc="-20" dirty="0">
                <a:latin typeface="Cambria"/>
                <a:cs typeface="Cambria"/>
              </a:rPr>
              <a:t> </a:t>
            </a:r>
            <a:r>
              <a:rPr sz="2000" dirty="0">
                <a:latin typeface="Cambria"/>
                <a:cs typeface="Cambria"/>
              </a:rPr>
              <a:t>–</a:t>
            </a:r>
            <a:r>
              <a:rPr sz="2000" spc="-20" dirty="0">
                <a:latin typeface="Cambria"/>
                <a:cs typeface="Cambria"/>
              </a:rPr>
              <a:t> </a:t>
            </a:r>
            <a:r>
              <a:rPr sz="2000" spc="-25" dirty="0">
                <a:latin typeface="Cambria"/>
                <a:cs typeface="Cambria"/>
              </a:rPr>
              <a:t>T3</a:t>
            </a:r>
            <a:endParaRPr sz="2000">
              <a:latin typeface="Cambria"/>
              <a:cs typeface="Cambria"/>
            </a:endParaRPr>
          </a:p>
        </p:txBody>
      </p:sp>
      <p:sp>
        <p:nvSpPr>
          <p:cNvPr id="5" name="object 5"/>
          <p:cNvSpPr txBox="1"/>
          <p:nvPr/>
        </p:nvSpPr>
        <p:spPr>
          <a:xfrm>
            <a:off x="3948429" y="4183227"/>
            <a:ext cx="1392555" cy="1732914"/>
          </a:xfrm>
          <a:prstGeom prst="rect">
            <a:avLst/>
          </a:prstGeom>
        </p:spPr>
        <p:txBody>
          <a:bodyPr vert="horz" wrap="square" lIns="0" tIns="12700" rIns="0" bIns="0" rtlCol="0">
            <a:spAutoFit/>
          </a:bodyPr>
          <a:lstStyle/>
          <a:p>
            <a:pPr marL="12700" marR="192405">
              <a:lnSpc>
                <a:spcPct val="140000"/>
              </a:lnSpc>
              <a:spcBef>
                <a:spcPts val="100"/>
              </a:spcBef>
            </a:pPr>
            <a:r>
              <a:rPr sz="2000" dirty="0">
                <a:latin typeface="Cambria"/>
                <a:cs typeface="Cambria"/>
              </a:rPr>
              <a:t>T2</a:t>
            </a:r>
            <a:r>
              <a:rPr sz="2000" spc="-20" dirty="0">
                <a:latin typeface="Cambria"/>
                <a:cs typeface="Cambria"/>
              </a:rPr>
              <a:t> </a:t>
            </a:r>
            <a:r>
              <a:rPr sz="2000" dirty="0">
                <a:latin typeface="Cambria"/>
                <a:cs typeface="Cambria"/>
              </a:rPr>
              <a:t>=</a:t>
            </a:r>
            <a:r>
              <a:rPr sz="2000" spc="-15" dirty="0">
                <a:latin typeface="Cambria"/>
                <a:cs typeface="Cambria"/>
              </a:rPr>
              <a:t> </a:t>
            </a:r>
            <a:r>
              <a:rPr sz="2000" dirty="0">
                <a:latin typeface="Cambria"/>
                <a:cs typeface="Cambria"/>
              </a:rPr>
              <a:t>c</a:t>
            </a:r>
            <a:r>
              <a:rPr sz="2000" spc="-10" dirty="0">
                <a:latin typeface="Cambria"/>
                <a:cs typeface="Cambria"/>
              </a:rPr>
              <a:t> </a:t>
            </a:r>
            <a:r>
              <a:rPr sz="2000" dirty="0">
                <a:latin typeface="Cambria"/>
                <a:cs typeface="Cambria"/>
              </a:rPr>
              <a:t>+</a:t>
            </a:r>
            <a:r>
              <a:rPr sz="2000" spc="-15" dirty="0">
                <a:latin typeface="Cambria"/>
                <a:cs typeface="Cambria"/>
              </a:rPr>
              <a:t> </a:t>
            </a:r>
            <a:r>
              <a:rPr sz="2000" spc="-50" dirty="0">
                <a:latin typeface="Cambria"/>
                <a:cs typeface="Cambria"/>
              </a:rPr>
              <a:t>d </a:t>
            </a:r>
            <a:r>
              <a:rPr sz="2000" dirty="0">
                <a:latin typeface="Cambria"/>
                <a:cs typeface="Cambria"/>
              </a:rPr>
              <a:t>T3</a:t>
            </a:r>
            <a:r>
              <a:rPr sz="2000" spc="-15"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e</a:t>
            </a:r>
            <a:r>
              <a:rPr sz="2000" spc="-10" dirty="0">
                <a:latin typeface="Cambria"/>
                <a:cs typeface="Cambria"/>
              </a:rPr>
              <a:t> </a:t>
            </a:r>
            <a:r>
              <a:rPr sz="2000" dirty="0">
                <a:latin typeface="Cambria"/>
                <a:cs typeface="Cambria"/>
              </a:rPr>
              <a:t>*</a:t>
            </a:r>
            <a:r>
              <a:rPr sz="2000" spc="-20" dirty="0">
                <a:latin typeface="Cambria"/>
                <a:cs typeface="Cambria"/>
              </a:rPr>
              <a:t> </a:t>
            </a:r>
            <a:r>
              <a:rPr sz="2000" spc="-25" dirty="0">
                <a:latin typeface="Cambria"/>
                <a:cs typeface="Cambria"/>
              </a:rPr>
              <a:t>T2</a:t>
            </a:r>
            <a:endParaRPr sz="2000">
              <a:latin typeface="Cambria"/>
              <a:cs typeface="Cambria"/>
            </a:endParaRPr>
          </a:p>
          <a:p>
            <a:pPr marL="12700" marR="5080">
              <a:lnSpc>
                <a:spcPts val="3360"/>
              </a:lnSpc>
              <a:spcBef>
                <a:spcPts val="100"/>
              </a:spcBef>
            </a:pPr>
            <a:r>
              <a:rPr sz="2000" dirty="0">
                <a:latin typeface="Cambria"/>
                <a:cs typeface="Cambria"/>
              </a:rPr>
              <a:t>T1</a:t>
            </a:r>
            <a:r>
              <a:rPr sz="2000" spc="-20"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a</a:t>
            </a:r>
            <a:r>
              <a:rPr sz="2000" spc="-15" dirty="0">
                <a:latin typeface="Cambria"/>
                <a:cs typeface="Cambria"/>
              </a:rPr>
              <a:t> </a:t>
            </a:r>
            <a:r>
              <a:rPr sz="2000" dirty="0">
                <a:latin typeface="Cambria"/>
                <a:cs typeface="Cambria"/>
              </a:rPr>
              <a:t>+</a:t>
            </a:r>
            <a:r>
              <a:rPr sz="2000" spc="-20" dirty="0">
                <a:latin typeface="Cambria"/>
                <a:cs typeface="Cambria"/>
              </a:rPr>
              <a:t> </a:t>
            </a:r>
            <a:r>
              <a:rPr sz="2000" spc="-50" dirty="0">
                <a:latin typeface="Cambria"/>
                <a:cs typeface="Cambria"/>
              </a:rPr>
              <a:t>b</a:t>
            </a:r>
            <a:r>
              <a:rPr sz="2000" dirty="0">
                <a:latin typeface="Cambria"/>
                <a:cs typeface="Cambria"/>
              </a:rPr>
              <a:t> T4</a:t>
            </a:r>
            <a:r>
              <a:rPr sz="2000" spc="-20" dirty="0">
                <a:latin typeface="Cambria"/>
                <a:cs typeface="Cambria"/>
              </a:rPr>
              <a:t> </a:t>
            </a:r>
            <a:r>
              <a:rPr sz="2000" dirty="0">
                <a:latin typeface="Cambria"/>
                <a:cs typeface="Cambria"/>
              </a:rPr>
              <a:t>=</a:t>
            </a:r>
            <a:r>
              <a:rPr sz="2000" spc="-15" dirty="0">
                <a:latin typeface="Cambria"/>
                <a:cs typeface="Cambria"/>
              </a:rPr>
              <a:t> </a:t>
            </a:r>
            <a:r>
              <a:rPr sz="2000" dirty="0">
                <a:latin typeface="Cambria"/>
                <a:cs typeface="Cambria"/>
              </a:rPr>
              <a:t>T1</a:t>
            </a:r>
            <a:r>
              <a:rPr sz="2000" spc="-20" dirty="0">
                <a:latin typeface="Cambria"/>
                <a:cs typeface="Cambria"/>
              </a:rPr>
              <a:t> </a:t>
            </a:r>
            <a:r>
              <a:rPr sz="2000" dirty="0">
                <a:latin typeface="Cambria"/>
                <a:cs typeface="Cambria"/>
              </a:rPr>
              <a:t>–</a:t>
            </a:r>
            <a:r>
              <a:rPr sz="2000" spc="-20" dirty="0">
                <a:latin typeface="Cambria"/>
                <a:cs typeface="Cambria"/>
              </a:rPr>
              <a:t> </a:t>
            </a:r>
            <a:r>
              <a:rPr sz="2000" spc="-25" dirty="0">
                <a:latin typeface="Cambria"/>
                <a:cs typeface="Cambria"/>
              </a:rPr>
              <a:t>T3</a:t>
            </a:r>
            <a:endParaRPr sz="2000">
              <a:latin typeface="Cambria"/>
              <a:cs typeface="Cambria"/>
            </a:endParaRPr>
          </a:p>
        </p:txBody>
      </p:sp>
      <p:sp>
        <p:nvSpPr>
          <p:cNvPr id="6" name="object 6"/>
          <p:cNvSpPr txBox="1">
            <a:spLocks noGrp="1"/>
          </p:cNvSpPr>
          <p:nvPr>
            <p:ph type="title"/>
          </p:nvPr>
        </p:nvSpPr>
        <p:spPr>
          <a:xfrm>
            <a:off x="6852031" y="1421739"/>
            <a:ext cx="1302385" cy="1306195"/>
          </a:xfrm>
          <a:prstGeom prst="rect">
            <a:avLst/>
          </a:prstGeom>
        </p:spPr>
        <p:txBody>
          <a:bodyPr vert="horz" wrap="square" lIns="0" tIns="12700" rIns="0" bIns="0" rtlCol="0">
            <a:spAutoFit/>
          </a:bodyPr>
          <a:lstStyle/>
          <a:p>
            <a:pPr marL="12700" marR="5080">
              <a:lnSpc>
                <a:spcPct val="140000"/>
              </a:lnSpc>
              <a:spcBef>
                <a:spcPts val="100"/>
              </a:spcBef>
            </a:pPr>
            <a:r>
              <a:rPr sz="2000" dirty="0"/>
              <a:t>MOV</a:t>
            </a:r>
            <a:r>
              <a:rPr sz="2000" spc="-30" dirty="0"/>
              <a:t> </a:t>
            </a:r>
            <a:r>
              <a:rPr sz="2000" dirty="0"/>
              <a:t>a,</a:t>
            </a:r>
            <a:r>
              <a:rPr sz="2000" spc="-45" dirty="0"/>
              <a:t> </a:t>
            </a:r>
            <a:r>
              <a:rPr sz="2000" spc="-25" dirty="0"/>
              <a:t>R0 </a:t>
            </a:r>
            <a:r>
              <a:rPr sz="2000" dirty="0"/>
              <a:t>ADD</a:t>
            </a:r>
            <a:r>
              <a:rPr sz="2000" spc="-35" dirty="0"/>
              <a:t> </a:t>
            </a:r>
            <a:r>
              <a:rPr sz="2000" dirty="0"/>
              <a:t>b,</a:t>
            </a:r>
            <a:r>
              <a:rPr sz="2000" spc="-20" dirty="0"/>
              <a:t> </a:t>
            </a:r>
            <a:r>
              <a:rPr sz="2000" spc="-25" dirty="0"/>
              <a:t>R0 </a:t>
            </a:r>
            <a:r>
              <a:rPr sz="2000" dirty="0"/>
              <a:t>MOV</a:t>
            </a:r>
            <a:r>
              <a:rPr sz="2000" spc="-40" dirty="0"/>
              <a:t> </a:t>
            </a:r>
            <a:r>
              <a:rPr sz="2000" dirty="0"/>
              <a:t>R0,</a:t>
            </a:r>
            <a:r>
              <a:rPr sz="2000" spc="-55" dirty="0"/>
              <a:t> </a:t>
            </a:r>
            <a:r>
              <a:rPr sz="2000" spc="-25" dirty="0"/>
              <a:t>T1</a:t>
            </a:r>
            <a:endParaRPr sz="2000"/>
          </a:p>
        </p:txBody>
      </p:sp>
      <p:sp>
        <p:nvSpPr>
          <p:cNvPr id="7" name="object 7"/>
          <p:cNvSpPr txBox="1"/>
          <p:nvPr/>
        </p:nvSpPr>
        <p:spPr>
          <a:xfrm>
            <a:off x="6852031" y="2702153"/>
            <a:ext cx="1303020" cy="3013075"/>
          </a:xfrm>
          <a:prstGeom prst="rect">
            <a:avLst/>
          </a:prstGeom>
        </p:spPr>
        <p:txBody>
          <a:bodyPr vert="horz" wrap="square" lIns="0" tIns="12700" rIns="0" bIns="0" rtlCol="0">
            <a:spAutoFit/>
          </a:bodyPr>
          <a:lstStyle/>
          <a:p>
            <a:pPr marL="12700" marR="5080">
              <a:lnSpc>
                <a:spcPct val="140000"/>
              </a:lnSpc>
              <a:spcBef>
                <a:spcPts val="100"/>
              </a:spcBef>
            </a:pPr>
            <a:r>
              <a:rPr sz="2000" dirty="0">
                <a:latin typeface="Cambria"/>
                <a:cs typeface="Cambria"/>
              </a:rPr>
              <a:t>MOV</a:t>
            </a:r>
            <a:r>
              <a:rPr sz="2000" spc="-35" dirty="0">
                <a:latin typeface="Cambria"/>
                <a:cs typeface="Cambria"/>
              </a:rPr>
              <a:t> </a:t>
            </a:r>
            <a:r>
              <a:rPr sz="2000" dirty="0">
                <a:latin typeface="Cambria"/>
                <a:cs typeface="Cambria"/>
              </a:rPr>
              <a:t>c,</a:t>
            </a:r>
            <a:r>
              <a:rPr sz="2000" spc="-50" dirty="0">
                <a:latin typeface="Cambria"/>
                <a:cs typeface="Cambria"/>
              </a:rPr>
              <a:t> </a:t>
            </a:r>
            <a:r>
              <a:rPr sz="2000" spc="-25" dirty="0">
                <a:latin typeface="Cambria"/>
                <a:cs typeface="Cambria"/>
              </a:rPr>
              <a:t>R1 </a:t>
            </a:r>
            <a:r>
              <a:rPr sz="2000" dirty="0">
                <a:latin typeface="Cambria"/>
                <a:cs typeface="Cambria"/>
              </a:rPr>
              <a:t>ADD</a:t>
            </a:r>
            <a:r>
              <a:rPr sz="2000" spc="-35" dirty="0">
                <a:latin typeface="Cambria"/>
                <a:cs typeface="Cambria"/>
              </a:rPr>
              <a:t> </a:t>
            </a:r>
            <a:r>
              <a:rPr sz="2000" dirty="0">
                <a:latin typeface="Cambria"/>
                <a:cs typeface="Cambria"/>
              </a:rPr>
              <a:t>d,</a:t>
            </a:r>
            <a:r>
              <a:rPr sz="2000" spc="-25" dirty="0">
                <a:latin typeface="Cambria"/>
                <a:cs typeface="Cambria"/>
              </a:rPr>
              <a:t> R1 </a:t>
            </a:r>
            <a:r>
              <a:rPr sz="2000" dirty="0">
                <a:latin typeface="Cambria"/>
                <a:cs typeface="Cambria"/>
              </a:rPr>
              <a:t>MOV</a:t>
            </a:r>
            <a:r>
              <a:rPr sz="2000" spc="-35" dirty="0">
                <a:latin typeface="Cambria"/>
                <a:cs typeface="Cambria"/>
              </a:rPr>
              <a:t> </a:t>
            </a:r>
            <a:r>
              <a:rPr sz="2000" dirty="0">
                <a:latin typeface="Cambria"/>
                <a:cs typeface="Cambria"/>
              </a:rPr>
              <a:t>e,</a:t>
            </a:r>
            <a:r>
              <a:rPr sz="2000" spc="-45" dirty="0">
                <a:latin typeface="Cambria"/>
                <a:cs typeface="Cambria"/>
              </a:rPr>
              <a:t> </a:t>
            </a:r>
            <a:r>
              <a:rPr sz="2000" spc="-25" dirty="0">
                <a:latin typeface="Cambria"/>
                <a:cs typeface="Cambria"/>
              </a:rPr>
              <a:t>R0 </a:t>
            </a:r>
            <a:r>
              <a:rPr sz="2000" dirty="0">
                <a:latin typeface="Cambria"/>
                <a:cs typeface="Cambria"/>
              </a:rPr>
              <a:t>MUL</a:t>
            </a:r>
            <a:r>
              <a:rPr sz="2000" spc="-15" dirty="0">
                <a:latin typeface="Cambria"/>
                <a:cs typeface="Cambria"/>
              </a:rPr>
              <a:t> </a:t>
            </a:r>
            <a:r>
              <a:rPr sz="2000" dirty="0">
                <a:latin typeface="Cambria"/>
                <a:cs typeface="Cambria"/>
              </a:rPr>
              <a:t>R1,</a:t>
            </a:r>
            <a:r>
              <a:rPr sz="2000" spc="-5" dirty="0">
                <a:latin typeface="Cambria"/>
                <a:cs typeface="Cambria"/>
              </a:rPr>
              <a:t> </a:t>
            </a:r>
            <a:r>
              <a:rPr sz="2000" spc="-25" dirty="0">
                <a:latin typeface="Cambria"/>
                <a:cs typeface="Cambria"/>
              </a:rPr>
              <a:t>R0 </a:t>
            </a:r>
            <a:r>
              <a:rPr sz="2000" dirty="0">
                <a:latin typeface="Cambria"/>
                <a:cs typeface="Cambria"/>
              </a:rPr>
              <a:t>MOV</a:t>
            </a:r>
            <a:r>
              <a:rPr sz="2000" spc="-50" dirty="0">
                <a:latin typeface="Cambria"/>
                <a:cs typeface="Cambria"/>
              </a:rPr>
              <a:t> </a:t>
            </a:r>
            <a:r>
              <a:rPr sz="2000" dirty="0">
                <a:latin typeface="Cambria"/>
                <a:cs typeface="Cambria"/>
              </a:rPr>
              <a:t>T1,</a:t>
            </a:r>
            <a:r>
              <a:rPr sz="2000" spc="-45" dirty="0">
                <a:latin typeface="Cambria"/>
                <a:cs typeface="Cambria"/>
              </a:rPr>
              <a:t> </a:t>
            </a:r>
            <a:r>
              <a:rPr sz="2000" spc="-25" dirty="0">
                <a:latin typeface="Cambria"/>
                <a:cs typeface="Cambria"/>
              </a:rPr>
              <a:t>R1 </a:t>
            </a:r>
            <a:r>
              <a:rPr sz="2000" dirty="0">
                <a:latin typeface="Cambria"/>
                <a:cs typeface="Cambria"/>
              </a:rPr>
              <a:t>SUB</a:t>
            </a:r>
            <a:r>
              <a:rPr sz="2000" spc="-25" dirty="0">
                <a:latin typeface="Cambria"/>
                <a:cs typeface="Cambria"/>
              </a:rPr>
              <a:t> </a:t>
            </a:r>
            <a:r>
              <a:rPr sz="2000" dirty="0">
                <a:latin typeface="Cambria"/>
                <a:cs typeface="Cambria"/>
              </a:rPr>
              <a:t>R0,</a:t>
            </a:r>
            <a:r>
              <a:rPr sz="2000" spc="-20" dirty="0">
                <a:latin typeface="Cambria"/>
                <a:cs typeface="Cambria"/>
              </a:rPr>
              <a:t> </a:t>
            </a:r>
            <a:r>
              <a:rPr sz="2000" spc="-25" dirty="0">
                <a:latin typeface="Cambria"/>
                <a:cs typeface="Cambria"/>
              </a:rPr>
              <a:t>R1 </a:t>
            </a:r>
            <a:r>
              <a:rPr sz="2000" dirty="0">
                <a:latin typeface="Cambria"/>
                <a:cs typeface="Cambria"/>
              </a:rPr>
              <a:t>MOV</a:t>
            </a:r>
            <a:r>
              <a:rPr sz="2000" spc="-40" dirty="0">
                <a:latin typeface="Cambria"/>
                <a:cs typeface="Cambria"/>
              </a:rPr>
              <a:t> </a:t>
            </a:r>
            <a:r>
              <a:rPr sz="2000" dirty="0">
                <a:latin typeface="Cambria"/>
                <a:cs typeface="Cambria"/>
              </a:rPr>
              <a:t>R1,</a:t>
            </a:r>
            <a:r>
              <a:rPr sz="2000" spc="-55" dirty="0">
                <a:latin typeface="Cambria"/>
                <a:cs typeface="Cambria"/>
              </a:rPr>
              <a:t> </a:t>
            </a:r>
            <a:r>
              <a:rPr sz="2000" spc="-25" dirty="0">
                <a:latin typeface="Cambria"/>
                <a:cs typeface="Cambria"/>
              </a:rPr>
              <a:t>T4</a:t>
            </a:r>
            <a:endParaRPr sz="2000">
              <a:latin typeface="Cambria"/>
              <a:cs typeface="Cambria"/>
            </a:endParaRPr>
          </a:p>
        </p:txBody>
      </p:sp>
      <p:sp>
        <p:nvSpPr>
          <p:cNvPr id="8" name="object 8"/>
          <p:cNvSpPr txBox="1"/>
          <p:nvPr/>
        </p:nvSpPr>
        <p:spPr>
          <a:xfrm>
            <a:off x="9578720" y="2847822"/>
            <a:ext cx="1301750" cy="3439795"/>
          </a:xfrm>
          <a:prstGeom prst="rect">
            <a:avLst/>
          </a:prstGeom>
        </p:spPr>
        <p:txBody>
          <a:bodyPr vert="horz" wrap="square" lIns="0" tIns="12700" rIns="0" bIns="0" rtlCol="0">
            <a:spAutoFit/>
          </a:bodyPr>
          <a:lstStyle/>
          <a:p>
            <a:pPr marL="12700" marR="5080">
              <a:lnSpc>
                <a:spcPct val="140000"/>
              </a:lnSpc>
              <a:spcBef>
                <a:spcPts val="100"/>
              </a:spcBef>
            </a:pPr>
            <a:r>
              <a:rPr sz="2000" dirty="0">
                <a:latin typeface="Cambria"/>
                <a:cs typeface="Cambria"/>
              </a:rPr>
              <a:t>MOV</a:t>
            </a:r>
            <a:r>
              <a:rPr sz="2000" spc="-35" dirty="0">
                <a:latin typeface="Cambria"/>
                <a:cs typeface="Cambria"/>
              </a:rPr>
              <a:t> </a:t>
            </a:r>
            <a:r>
              <a:rPr sz="2000" dirty="0">
                <a:latin typeface="Cambria"/>
                <a:cs typeface="Cambria"/>
              </a:rPr>
              <a:t>c,</a:t>
            </a:r>
            <a:r>
              <a:rPr sz="2000" spc="-50" dirty="0">
                <a:latin typeface="Cambria"/>
                <a:cs typeface="Cambria"/>
              </a:rPr>
              <a:t> </a:t>
            </a:r>
            <a:r>
              <a:rPr sz="2000" spc="-25" dirty="0">
                <a:latin typeface="Cambria"/>
                <a:cs typeface="Cambria"/>
              </a:rPr>
              <a:t>R0 </a:t>
            </a:r>
            <a:r>
              <a:rPr sz="2000" dirty="0">
                <a:latin typeface="Cambria"/>
                <a:cs typeface="Cambria"/>
              </a:rPr>
              <a:t>ADD</a:t>
            </a:r>
            <a:r>
              <a:rPr sz="2000" spc="-35" dirty="0">
                <a:latin typeface="Cambria"/>
                <a:cs typeface="Cambria"/>
              </a:rPr>
              <a:t> </a:t>
            </a:r>
            <a:r>
              <a:rPr sz="2000" dirty="0">
                <a:latin typeface="Cambria"/>
                <a:cs typeface="Cambria"/>
              </a:rPr>
              <a:t>d,</a:t>
            </a:r>
            <a:r>
              <a:rPr sz="2000" spc="-25" dirty="0">
                <a:latin typeface="Cambria"/>
                <a:cs typeface="Cambria"/>
              </a:rPr>
              <a:t> R0 </a:t>
            </a:r>
            <a:r>
              <a:rPr sz="2000" dirty="0">
                <a:latin typeface="Cambria"/>
                <a:cs typeface="Cambria"/>
              </a:rPr>
              <a:t>MOV</a:t>
            </a:r>
            <a:r>
              <a:rPr sz="2000" spc="-35" dirty="0">
                <a:latin typeface="Cambria"/>
                <a:cs typeface="Cambria"/>
              </a:rPr>
              <a:t> </a:t>
            </a:r>
            <a:r>
              <a:rPr sz="2000" dirty="0">
                <a:latin typeface="Cambria"/>
                <a:cs typeface="Cambria"/>
              </a:rPr>
              <a:t>e,</a:t>
            </a:r>
            <a:r>
              <a:rPr sz="2000" spc="-30" dirty="0">
                <a:latin typeface="Cambria"/>
                <a:cs typeface="Cambria"/>
              </a:rPr>
              <a:t> </a:t>
            </a:r>
            <a:r>
              <a:rPr sz="2000" spc="-25" dirty="0">
                <a:latin typeface="Cambria"/>
                <a:cs typeface="Cambria"/>
              </a:rPr>
              <a:t>R1 </a:t>
            </a:r>
            <a:r>
              <a:rPr sz="2000" dirty="0">
                <a:latin typeface="Cambria"/>
                <a:cs typeface="Cambria"/>
              </a:rPr>
              <a:t>MUL</a:t>
            </a:r>
            <a:r>
              <a:rPr sz="2000" spc="-15" dirty="0">
                <a:latin typeface="Cambria"/>
                <a:cs typeface="Cambria"/>
              </a:rPr>
              <a:t> </a:t>
            </a:r>
            <a:r>
              <a:rPr sz="2000" dirty="0">
                <a:latin typeface="Cambria"/>
                <a:cs typeface="Cambria"/>
              </a:rPr>
              <a:t>R0,</a:t>
            </a:r>
            <a:r>
              <a:rPr sz="2000" spc="-5" dirty="0">
                <a:latin typeface="Cambria"/>
                <a:cs typeface="Cambria"/>
              </a:rPr>
              <a:t> </a:t>
            </a:r>
            <a:r>
              <a:rPr sz="2000" spc="-25" dirty="0">
                <a:latin typeface="Cambria"/>
                <a:cs typeface="Cambria"/>
              </a:rPr>
              <a:t>R1 </a:t>
            </a:r>
            <a:r>
              <a:rPr sz="2000" dirty="0">
                <a:latin typeface="Cambria"/>
                <a:cs typeface="Cambria"/>
              </a:rPr>
              <a:t>MOV</a:t>
            </a:r>
            <a:r>
              <a:rPr sz="2000" spc="-30" dirty="0">
                <a:latin typeface="Cambria"/>
                <a:cs typeface="Cambria"/>
              </a:rPr>
              <a:t> </a:t>
            </a:r>
            <a:r>
              <a:rPr sz="2000" dirty="0">
                <a:latin typeface="Cambria"/>
                <a:cs typeface="Cambria"/>
              </a:rPr>
              <a:t>a,</a:t>
            </a:r>
            <a:r>
              <a:rPr sz="2000" spc="-45" dirty="0">
                <a:latin typeface="Cambria"/>
                <a:cs typeface="Cambria"/>
              </a:rPr>
              <a:t> </a:t>
            </a:r>
            <a:r>
              <a:rPr sz="2000" spc="-25" dirty="0">
                <a:latin typeface="Cambria"/>
                <a:cs typeface="Cambria"/>
              </a:rPr>
              <a:t>R0 </a:t>
            </a:r>
            <a:r>
              <a:rPr sz="2000" dirty="0">
                <a:latin typeface="Cambria"/>
                <a:cs typeface="Cambria"/>
              </a:rPr>
              <a:t>ADD</a:t>
            </a:r>
            <a:r>
              <a:rPr sz="2000" spc="-35" dirty="0">
                <a:latin typeface="Cambria"/>
                <a:cs typeface="Cambria"/>
              </a:rPr>
              <a:t> </a:t>
            </a:r>
            <a:r>
              <a:rPr sz="2000" dirty="0">
                <a:latin typeface="Cambria"/>
                <a:cs typeface="Cambria"/>
              </a:rPr>
              <a:t>b,</a:t>
            </a:r>
            <a:r>
              <a:rPr sz="2000" spc="-20" dirty="0">
                <a:latin typeface="Cambria"/>
                <a:cs typeface="Cambria"/>
              </a:rPr>
              <a:t> </a:t>
            </a:r>
            <a:r>
              <a:rPr sz="2000" spc="-25" dirty="0">
                <a:latin typeface="Cambria"/>
                <a:cs typeface="Cambria"/>
              </a:rPr>
              <a:t>R0 </a:t>
            </a:r>
            <a:r>
              <a:rPr sz="2000" dirty="0">
                <a:latin typeface="Cambria"/>
                <a:cs typeface="Cambria"/>
              </a:rPr>
              <a:t>SUB</a:t>
            </a:r>
            <a:r>
              <a:rPr sz="2000" spc="-25" dirty="0">
                <a:latin typeface="Cambria"/>
                <a:cs typeface="Cambria"/>
              </a:rPr>
              <a:t> </a:t>
            </a:r>
            <a:r>
              <a:rPr sz="2000" dirty="0">
                <a:latin typeface="Cambria"/>
                <a:cs typeface="Cambria"/>
              </a:rPr>
              <a:t>R1,</a:t>
            </a:r>
            <a:r>
              <a:rPr sz="2000" spc="-10" dirty="0">
                <a:latin typeface="Cambria"/>
                <a:cs typeface="Cambria"/>
              </a:rPr>
              <a:t> </a:t>
            </a:r>
            <a:r>
              <a:rPr sz="2000" spc="-25" dirty="0">
                <a:latin typeface="Cambria"/>
                <a:cs typeface="Cambria"/>
              </a:rPr>
              <a:t>R0 </a:t>
            </a:r>
            <a:r>
              <a:rPr sz="2000" dirty="0">
                <a:latin typeface="Cambria"/>
                <a:cs typeface="Cambria"/>
              </a:rPr>
              <a:t>MOV</a:t>
            </a:r>
            <a:r>
              <a:rPr sz="2000" spc="-40" dirty="0">
                <a:latin typeface="Cambria"/>
                <a:cs typeface="Cambria"/>
              </a:rPr>
              <a:t> </a:t>
            </a:r>
            <a:r>
              <a:rPr sz="2000" dirty="0">
                <a:latin typeface="Cambria"/>
                <a:cs typeface="Cambria"/>
              </a:rPr>
              <a:t>R0,</a:t>
            </a:r>
            <a:r>
              <a:rPr sz="2000" spc="-55" dirty="0">
                <a:latin typeface="Cambria"/>
                <a:cs typeface="Cambria"/>
              </a:rPr>
              <a:t> </a:t>
            </a:r>
            <a:r>
              <a:rPr sz="2000" spc="-25" dirty="0">
                <a:latin typeface="Cambria"/>
                <a:cs typeface="Cambria"/>
              </a:rPr>
              <a:t>T4</a:t>
            </a:r>
            <a:endParaRPr sz="2000">
              <a:latin typeface="Cambria"/>
              <a:cs typeface="Cambria"/>
            </a:endParaRPr>
          </a:p>
        </p:txBody>
      </p:sp>
      <p:sp>
        <p:nvSpPr>
          <p:cNvPr id="9" name="object 9"/>
          <p:cNvSpPr/>
          <p:nvPr/>
        </p:nvSpPr>
        <p:spPr>
          <a:xfrm>
            <a:off x="4585715" y="1223772"/>
            <a:ext cx="76200" cy="476884"/>
          </a:xfrm>
          <a:custGeom>
            <a:avLst/>
            <a:gdLst/>
            <a:ahLst/>
            <a:cxnLst/>
            <a:rect l="l" t="t" r="r" b="b"/>
            <a:pathLst>
              <a:path w="76200" h="476885">
                <a:moveTo>
                  <a:pt x="31750" y="400303"/>
                </a:moveTo>
                <a:lnTo>
                  <a:pt x="0" y="400303"/>
                </a:lnTo>
                <a:lnTo>
                  <a:pt x="38100" y="476503"/>
                </a:lnTo>
                <a:lnTo>
                  <a:pt x="69850" y="413003"/>
                </a:lnTo>
                <a:lnTo>
                  <a:pt x="31750" y="413003"/>
                </a:lnTo>
                <a:lnTo>
                  <a:pt x="31750" y="400303"/>
                </a:lnTo>
                <a:close/>
              </a:path>
              <a:path w="76200" h="476885">
                <a:moveTo>
                  <a:pt x="44450" y="0"/>
                </a:moveTo>
                <a:lnTo>
                  <a:pt x="31750" y="0"/>
                </a:lnTo>
                <a:lnTo>
                  <a:pt x="31750" y="413003"/>
                </a:lnTo>
                <a:lnTo>
                  <a:pt x="44450" y="413003"/>
                </a:lnTo>
                <a:lnTo>
                  <a:pt x="44450" y="0"/>
                </a:lnTo>
                <a:close/>
              </a:path>
              <a:path w="76200" h="476885">
                <a:moveTo>
                  <a:pt x="76200" y="400303"/>
                </a:moveTo>
                <a:lnTo>
                  <a:pt x="44450" y="400303"/>
                </a:lnTo>
                <a:lnTo>
                  <a:pt x="44450" y="413003"/>
                </a:lnTo>
                <a:lnTo>
                  <a:pt x="69850" y="413003"/>
                </a:lnTo>
                <a:lnTo>
                  <a:pt x="76200" y="400303"/>
                </a:lnTo>
                <a:close/>
              </a:path>
            </a:pathLst>
          </a:custGeom>
          <a:solidFill>
            <a:srgbClr val="40B9D2"/>
          </a:solidFill>
        </p:spPr>
        <p:txBody>
          <a:bodyPr wrap="square" lIns="0" tIns="0" rIns="0" bIns="0" rtlCol="0"/>
          <a:lstStyle/>
          <a:p>
            <a:endParaRPr/>
          </a:p>
        </p:txBody>
      </p:sp>
      <p:sp>
        <p:nvSpPr>
          <p:cNvPr id="10" name="object 10"/>
          <p:cNvSpPr/>
          <p:nvPr/>
        </p:nvSpPr>
        <p:spPr>
          <a:xfrm>
            <a:off x="4585715" y="3451859"/>
            <a:ext cx="76200" cy="786130"/>
          </a:xfrm>
          <a:custGeom>
            <a:avLst/>
            <a:gdLst/>
            <a:ahLst/>
            <a:cxnLst/>
            <a:rect l="l" t="t" r="r" b="b"/>
            <a:pathLst>
              <a:path w="76200" h="786129">
                <a:moveTo>
                  <a:pt x="31750" y="709421"/>
                </a:moveTo>
                <a:lnTo>
                  <a:pt x="0" y="709421"/>
                </a:lnTo>
                <a:lnTo>
                  <a:pt x="38100" y="785621"/>
                </a:lnTo>
                <a:lnTo>
                  <a:pt x="69850" y="722121"/>
                </a:lnTo>
                <a:lnTo>
                  <a:pt x="31750" y="722121"/>
                </a:lnTo>
                <a:lnTo>
                  <a:pt x="31750" y="709421"/>
                </a:lnTo>
                <a:close/>
              </a:path>
              <a:path w="76200" h="786129">
                <a:moveTo>
                  <a:pt x="44450" y="0"/>
                </a:moveTo>
                <a:lnTo>
                  <a:pt x="31750" y="0"/>
                </a:lnTo>
                <a:lnTo>
                  <a:pt x="31750" y="722121"/>
                </a:lnTo>
                <a:lnTo>
                  <a:pt x="44450" y="722121"/>
                </a:lnTo>
                <a:lnTo>
                  <a:pt x="44450" y="0"/>
                </a:lnTo>
                <a:close/>
              </a:path>
              <a:path w="76200" h="786129">
                <a:moveTo>
                  <a:pt x="76200" y="709421"/>
                </a:moveTo>
                <a:lnTo>
                  <a:pt x="44450" y="709421"/>
                </a:lnTo>
                <a:lnTo>
                  <a:pt x="44450" y="722121"/>
                </a:lnTo>
                <a:lnTo>
                  <a:pt x="69850" y="722121"/>
                </a:lnTo>
                <a:lnTo>
                  <a:pt x="76200" y="709421"/>
                </a:lnTo>
                <a:close/>
              </a:path>
            </a:pathLst>
          </a:custGeom>
          <a:solidFill>
            <a:srgbClr val="40B9D2"/>
          </a:solidFill>
        </p:spPr>
        <p:txBody>
          <a:bodyPr wrap="square" lIns="0" tIns="0" rIns="0" bIns="0" rtlCol="0"/>
          <a:lstStyle/>
          <a:p>
            <a:endParaRPr/>
          </a:p>
        </p:txBody>
      </p:sp>
      <p:sp>
        <p:nvSpPr>
          <p:cNvPr id="11" name="object 11"/>
          <p:cNvSpPr txBox="1"/>
          <p:nvPr/>
        </p:nvSpPr>
        <p:spPr>
          <a:xfrm>
            <a:off x="4651375" y="3678428"/>
            <a:ext cx="72707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reorder</a:t>
            </a:r>
            <a:endParaRPr sz="1800">
              <a:latin typeface="Corbel"/>
              <a:cs typeface="Corbel"/>
            </a:endParaRPr>
          </a:p>
        </p:txBody>
      </p:sp>
      <p:sp>
        <p:nvSpPr>
          <p:cNvPr id="12" name="object 12"/>
          <p:cNvSpPr/>
          <p:nvPr/>
        </p:nvSpPr>
        <p:spPr>
          <a:xfrm>
            <a:off x="5516879" y="5687567"/>
            <a:ext cx="3627754" cy="76200"/>
          </a:xfrm>
          <a:custGeom>
            <a:avLst/>
            <a:gdLst/>
            <a:ahLst/>
            <a:cxnLst/>
            <a:rect l="l" t="t" r="r" b="b"/>
            <a:pathLst>
              <a:path w="3627754" h="76200">
                <a:moveTo>
                  <a:pt x="3551047" y="0"/>
                </a:moveTo>
                <a:lnTo>
                  <a:pt x="3551047" y="76199"/>
                </a:lnTo>
                <a:lnTo>
                  <a:pt x="3614547" y="44449"/>
                </a:lnTo>
                <a:lnTo>
                  <a:pt x="3563747" y="44449"/>
                </a:lnTo>
                <a:lnTo>
                  <a:pt x="3563747" y="31749"/>
                </a:lnTo>
                <a:lnTo>
                  <a:pt x="3614547" y="31749"/>
                </a:lnTo>
                <a:lnTo>
                  <a:pt x="3551047" y="0"/>
                </a:lnTo>
                <a:close/>
              </a:path>
              <a:path w="3627754" h="76200">
                <a:moveTo>
                  <a:pt x="3551047" y="31749"/>
                </a:moveTo>
                <a:lnTo>
                  <a:pt x="0" y="31749"/>
                </a:lnTo>
                <a:lnTo>
                  <a:pt x="0" y="44449"/>
                </a:lnTo>
                <a:lnTo>
                  <a:pt x="3551047" y="44449"/>
                </a:lnTo>
                <a:lnTo>
                  <a:pt x="3551047" y="31749"/>
                </a:lnTo>
                <a:close/>
              </a:path>
              <a:path w="3627754" h="76200">
                <a:moveTo>
                  <a:pt x="3614547" y="31749"/>
                </a:moveTo>
                <a:lnTo>
                  <a:pt x="3563747" y="31749"/>
                </a:lnTo>
                <a:lnTo>
                  <a:pt x="3563747" y="44449"/>
                </a:lnTo>
                <a:lnTo>
                  <a:pt x="3614547" y="44449"/>
                </a:lnTo>
                <a:lnTo>
                  <a:pt x="3627247" y="38099"/>
                </a:lnTo>
                <a:lnTo>
                  <a:pt x="3614547" y="31749"/>
                </a:lnTo>
                <a:close/>
              </a:path>
            </a:pathLst>
          </a:custGeom>
          <a:solidFill>
            <a:srgbClr val="40B9D2"/>
          </a:solidFill>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666750">
              <a:lnSpc>
                <a:spcPct val="88800"/>
              </a:lnSpc>
            </a:pPr>
            <a:r>
              <a:rPr sz="3600" b="1" spc="-70" dirty="0">
                <a:solidFill>
                  <a:srgbClr val="FFFFFF"/>
                </a:solidFill>
                <a:latin typeface="Cambria"/>
                <a:cs typeface="Cambria"/>
              </a:rPr>
              <a:t>Approaches </a:t>
            </a:r>
            <a:r>
              <a:rPr sz="3600" b="1" spc="-65" dirty="0">
                <a:solidFill>
                  <a:srgbClr val="FFFFFF"/>
                </a:solidFill>
                <a:latin typeface="Cambria"/>
                <a:cs typeface="Cambria"/>
              </a:rPr>
              <a:t>to</a:t>
            </a:r>
            <a:r>
              <a:rPr sz="3600" b="1" spc="-135" dirty="0">
                <a:solidFill>
                  <a:srgbClr val="FFFFFF"/>
                </a:solidFill>
                <a:latin typeface="Cambria"/>
                <a:cs typeface="Cambria"/>
              </a:rPr>
              <a:t> </a:t>
            </a:r>
            <a:r>
              <a:rPr sz="3600" b="1" spc="-20" dirty="0">
                <a:solidFill>
                  <a:srgbClr val="FFFFFF"/>
                </a:solidFill>
                <a:latin typeface="Cambria"/>
                <a:cs typeface="Cambria"/>
              </a:rPr>
              <a:t>code </a:t>
            </a:r>
            <a:r>
              <a:rPr sz="3600" b="1" spc="-10" dirty="0">
                <a:solidFill>
                  <a:srgbClr val="FFFFFF"/>
                </a:solidFill>
                <a:latin typeface="Cambria"/>
                <a:cs typeface="Cambria"/>
              </a:rPr>
              <a:t>generator</a:t>
            </a:r>
            <a:endParaRPr sz="3600">
              <a:latin typeface="Cambria"/>
              <a:cs typeface="Cambria"/>
            </a:endParaRPr>
          </a:p>
        </p:txBody>
      </p:sp>
      <p:sp>
        <p:nvSpPr>
          <p:cNvPr id="3" name="object 3"/>
          <p:cNvSpPr txBox="1"/>
          <p:nvPr/>
        </p:nvSpPr>
        <p:spPr>
          <a:xfrm>
            <a:off x="3948429" y="2261743"/>
            <a:ext cx="7110730" cy="2282190"/>
          </a:xfrm>
          <a:prstGeom prst="rect">
            <a:avLst/>
          </a:prstGeom>
        </p:spPr>
        <p:txBody>
          <a:bodyPr vert="horz" wrap="square" lIns="0" tIns="47625" rIns="0" bIns="0" rtlCol="0">
            <a:spAutoFit/>
          </a:bodyPr>
          <a:lstStyle/>
          <a:p>
            <a:pPr marL="195580" marR="572770" indent="-182880">
              <a:lnSpc>
                <a:spcPts val="2160"/>
              </a:lnSpc>
              <a:spcBef>
                <a:spcPts val="37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The</a:t>
            </a:r>
            <a:r>
              <a:rPr sz="2000" spc="-40" dirty="0">
                <a:latin typeface="Cambria"/>
                <a:cs typeface="Cambria"/>
              </a:rPr>
              <a:t> </a:t>
            </a:r>
            <a:r>
              <a:rPr sz="2000" dirty="0">
                <a:latin typeface="Cambria"/>
                <a:cs typeface="Cambria"/>
              </a:rPr>
              <a:t>most</a:t>
            </a:r>
            <a:r>
              <a:rPr sz="2000" spc="-30" dirty="0">
                <a:latin typeface="Cambria"/>
                <a:cs typeface="Cambria"/>
              </a:rPr>
              <a:t> </a:t>
            </a:r>
            <a:r>
              <a:rPr sz="2000" dirty="0">
                <a:latin typeface="Cambria"/>
                <a:cs typeface="Cambria"/>
              </a:rPr>
              <a:t>important</a:t>
            </a:r>
            <a:r>
              <a:rPr sz="2000" spc="-60" dirty="0">
                <a:latin typeface="Cambria"/>
                <a:cs typeface="Cambria"/>
              </a:rPr>
              <a:t> </a:t>
            </a:r>
            <a:r>
              <a:rPr sz="2000" dirty="0">
                <a:latin typeface="Cambria"/>
                <a:cs typeface="Cambria"/>
              </a:rPr>
              <a:t>criterion</a:t>
            </a:r>
            <a:r>
              <a:rPr sz="2000" spc="-50" dirty="0">
                <a:latin typeface="Cambria"/>
                <a:cs typeface="Cambria"/>
              </a:rPr>
              <a:t> </a:t>
            </a:r>
            <a:r>
              <a:rPr sz="2000" dirty="0">
                <a:latin typeface="Cambria"/>
                <a:cs typeface="Cambria"/>
              </a:rPr>
              <a:t>for</a:t>
            </a:r>
            <a:r>
              <a:rPr sz="2000" spc="-25" dirty="0">
                <a:latin typeface="Cambria"/>
                <a:cs typeface="Cambria"/>
              </a:rPr>
              <a:t> </a:t>
            </a:r>
            <a:r>
              <a:rPr sz="2000" dirty="0">
                <a:latin typeface="Cambria"/>
                <a:cs typeface="Cambria"/>
              </a:rPr>
              <a:t>a</a:t>
            </a:r>
            <a:r>
              <a:rPr sz="2000" spc="-10" dirty="0">
                <a:latin typeface="Cambria"/>
                <a:cs typeface="Cambria"/>
              </a:rPr>
              <a:t> </a:t>
            </a:r>
            <a:r>
              <a:rPr sz="2000" dirty="0">
                <a:latin typeface="Cambria"/>
                <a:cs typeface="Cambria"/>
              </a:rPr>
              <a:t>code</a:t>
            </a:r>
            <a:r>
              <a:rPr sz="2000" spc="-25" dirty="0">
                <a:latin typeface="Cambria"/>
                <a:cs typeface="Cambria"/>
              </a:rPr>
              <a:t> </a:t>
            </a:r>
            <a:r>
              <a:rPr sz="2000" spc="-10" dirty="0">
                <a:latin typeface="Cambria"/>
                <a:cs typeface="Cambria"/>
              </a:rPr>
              <a:t>generator</a:t>
            </a:r>
            <a:r>
              <a:rPr sz="2000" spc="-55" dirty="0">
                <a:latin typeface="Cambria"/>
                <a:cs typeface="Cambria"/>
              </a:rPr>
              <a:t> </a:t>
            </a:r>
            <a:r>
              <a:rPr sz="2000" dirty="0">
                <a:latin typeface="Cambria"/>
                <a:cs typeface="Cambria"/>
              </a:rPr>
              <a:t>is</a:t>
            </a:r>
            <a:r>
              <a:rPr sz="2000" spc="-25" dirty="0">
                <a:latin typeface="Cambria"/>
                <a:cs typeface="Cambria"/>
              </a:rPr>
              <a:t> </a:t>
            </a:r>
            <a:r>
              <a:rPr sz="2000" dirty="0">
                <a:latin typeface="Cambria"/>
                <a:cs typeface="Cambria"/>
              </a:rPr>
              <a:t>that</a:t>
            </a:r>
            <a:r>
              <a:rPr sz="2000" spc="-30" dirty="0">
                <a:latin typeface="Cambria"/>
                <a:cs typeface="Cambria"/>
              </a:rPr>
              <a:t> </a:t>
            </a:r>
            <a:r>
              <a:rPr sz="2000" spc="-25" dirty="0">
                <a:latin typeface="Cambria"/>
                <a:cs typeface="Cambria"/>
              </a:rPr>
              <a:t>it </a:t>
            </a:r>
            <a:r>
              <a:rPr sz="2000" dirty="0">
                <a:latin typeface="Cambria"/>
                <a:cs typeface="Cambria"/>
              </a:rPr>
              <a:t>produces</a:t>
            </a:r>
            <a:r>
              <a:rPr sz="2000" spc="-75" dirty="0">
                <a:latin typeface="Cambria"/>
                <a:cs typeface="Cambria"/>
              </a:rPr>
              <a:t> </a:t>
            </a:r>
            <a:r>
              <a:rPr sz="2000" dirty="0">
                <a:latin typeface="Cambria"/>
                <a:cs typeface="Cambria"/>
              </a:rPr>
              <a:t>correct</a:t>
            </a:r>
            <a:r>
              <a:rPr sz="2000" spc="-55" dirty="0">
                <a:latin typeface="Cambria"/>
                <a:cs typeface="Cambria"/>
              </a:rPr>
              <a:t> </a:t>
            </a:r>
            <a:r>
              <a:rPr sz="2000" spc="-10" dirty="0">
                <a:latin typeface="Cambria"/>
                <a:cs typeface="Cambria"/>
              </a:rPr>
              <a:t>code.</a:t>
            </a:r>
            <a:endParaRPr sz="2000">
              <a:latin typeface="Cambria"/>
              <a:cs typeface="Cambria"/>
            </a:endParaRPr>
          </a:p>
          <a:p>
            <a:pPr marL="195580" marR="5080" indent="-182880">
              <a:lnSpc>
                <a:spcPts val="2160"/>
              </a:lnSpc>
              <a:spcBef>
                <a:spcPts val="120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Correctness</a:t>
            </a:r>
            <a:r>
              <a:rPr sz="2000" spc="-90" dirty="0">
                <a:latin typeface="Cambria"/>
                <a:cs typeface="Cambria"/>
              </a:rPr>
              <a:t> </a:t>
            </a:r>
            <a:r>
              <a:rPr sz="2000" dirty="0">
                <a:latin typeface="Cambria"/>
                <a:cs typeface="Cambria"/>
              </a:rPr>
              <a:t>takes</a:t>
            </a:r>
            <a:r>
              <a:rPr sz="2000" spc="-45" dirty="0">
                <a:latin typeface="Cambria"/>
                <a:cs typeface="Cambria"/>
              </a:rPr>
              <a:t> </a:t>
            </a:r>
            <a:r>
              <a:rPr sz="2000" dirty="0">
                <a:latin typeface="Cambria"/>
                <a:cs typeface="Cambria"/>
              </a:rPr>
              <a:t>on</a:t>
            </a:r>
            <a:r>
              <a:rPr sz="2000" spc="-40" dirty="0">
                <a:latin typeface="Cambria"/>
                <a:cs typeface="Cambria"/>
              </a:rPr>
              <a:t> </a:t>
            </a:r>
            <a:r>
              <a:rPr sz="2000" dirty="0">
                <a:latin typeface="Cambria"/>
                <a:cs typeface="Cambria"/>
              </a:rPr>
              <a:t>special</a:t>
            </a:r>
            <a:r>
              <a:rPr sz="2000" spc="-30" dirty="0">
                <a:latin typeface="Cambria"/>
                <a:cs typeface="Cambria"/>
              </a:rPr>
              <a:t> </a:t>
            </a:r>
            <a:r>
              <a:rPr sz="2000" dirty="0">
                <a:latin typeface="Cambria"/>
                <a:cs typeface="Cambria"/>
              </a:rPr>
              <a:t>significance</a:t>
            </a:r>
            <a:r>
              <a:rPr sz="2000" spc="-60" dirty="0">
                <a:latin typeface="Cambria"/>
                <a:cs typeface="Cambria"/>
              </a:rPr>
              <a:t> </a:t>
            </a:r>
            <a:r>
              <a:rPr sz="2000" dirty="0">
                <a:latin typeface="Cambria"/>
                <a:cs typeface="Cambria"/>
              </a:rPr>
              <a:t>because</a:t>
            </a:r>
            <a:r>
              <a:rPr sz="2000" spc="-35" dirty="0">
                <a:latin typeface="Cambria"/>
                <a:cs typeface="Cambria"/>
              </a:rPr>
              <a:t> </a:t>
            </a:r>
            <a:r>
              <a:rPr sz="2000" dirty="0">
                <a:latin typeface="Cambria"/>
                <a:cs typeface="Cambria"/>
              </a:rPr>
              <a:t>of</a:t>
            </a:r>
            <a:r>
              <a:rPr sz="2000" spc="-35" dirty="0">
                <a:latin typeface="Cambria"/>
                <a:cs typeface="Cambria"/>
              </a:rPr>
              <a:t> </a:t>
            </a:r>
            <a:r>
              <a:rPr sz="2000" dirty="0">
                <a:latin typeface="Cambria"/>
                <a:cs typeface="Cambria"/>
              </a:rPr>
              <a:t>the</a:t>
            </a:r>
            <a:r>
              <a:rPr sz="2000" spc="-40" dirty="0">
                <a:latin typeface="Cambria"/>
                <a:cs typeface="Cambria"/>
              </a:rPr>
              <a:t> </a:t>
            </a:r>
            <a:r>
              <a:rPr sz="2000" spc="-10" dirty="0">
                <a:latin typeface="Cambria"/>
                <a:cs typeface="Cambria"/>
              </a:rPr>
              <a:t>number </a:t>
            </a:r>
            <a:r>
              <a:rPr sz="2000" dirty="0">
                <a:latin typeface="Cambria"/>
                <a:cs typeface="Cambria"/>
              </a:rPr>
              <a:t>of</a:t>
            </a:r>
            <a:r>
              <a:rPr sz="2000" spc="-30" dirty="0">
                <a:latin typeface="Cambria"/>
                <a:cs typeface="Cambria"/>
              </a:rPr>
              <a:t> </a:t>
            </a:r>
            <a:r>
              <a:rPr sz="2000" dirty="0">
                <a:latin typeface="Cambria"/>
                <a:cs typeface="Cambria"/>
              </a:rPr>
              <a:t>special</a:t>
            </a:r>
            <a:r>
              <a:rPr sz="2000" spc="-40" dirty="0">
                <a:latin typeface="Cambria"/>
                <a:cs typeface="Cambria"/>
              </a:rPr>
              <a:t> </a:t>
            </a:r>
            <a:r>
              <a:rPr sz="2000" dirty="0">
                <a:latin typeface="Cambria"/>
                <a:cs typeface="Cambria"/>
              </a:rPr>
              <a:t>cases</a:t>
            </a:r>
            <a:r>
              <a:rPr sz="2000" spc="-25" dirty="0">
                <a:latin typeface="Cambria"/>
                <a:cs typeface="Cambria"/>
              </a:rPr>
              <a:t> </a:t>
            </a:r>
            <a:r>
              <a:rPr sz="2000" dirty="0">
                <a:latin typeface="Cambria"/>
                <a:cs typeface="Cambria"/>
              </a:rPr>
              <a:t>that</a:t>
            </a:r>
            <a:r>
              <a:rPr sz="2000" spc="-40" dirty="0">
                <a:latin typeface="Cambria"/>
                <a:cs typeface="Cambria"/>
              </a:rPr>
              <a:t> </a:t>
            </a:r>
            <a:r>
              <a:rPr sz="2000" dirty="0">
                <a:latin typeface="Cambria"/>
                <a:cs typeface="Cambria"/>
              </a:rPr>
              <a:t>code</a:t>
            </a:r>
            <a:r>
              <a:rPr sz="2000" spc="-30" dirty="0">
                <a:latin typeface="Cambria"/>
                <a:cs typeface="Cambria"/>
              </a:rPr>
              <a:t> </a:t>
            </a:r>
            <a:r>
              <a:rPr sz="2000" spc="-10" dirty="0">
                <a:latin typeface="Cambria"/>
                <a:cs typeface="Cambria"/>
              </a:rPr>
              <a:t>generator</a:t>
            </a:r>
            <a:r>
              <a:rPr sz="2000" spc="-65" dirty="0">
                <a:latin typeface="Cambria"/>
                <a:cs typeface="Cambria"/>
              </a:rPr>
              <a:t> </a:t>
            </a:r>
            <a:r>
              <a:rPr sz="2000" dirty="0">
                <a:latin typeface="Cambria"/>
                <a:cs typeface="Cambria"/>
              </a:rPr>
              <a:t>might</a:t>
            </a:r>
            <a:r>
              <a:rPr sz="2000" spc="-45" dirty="0">
                <a:latin typeface="Cambria"/>
                <a:cs typeface="Cambria"/>
              </a:rPr>
              <a:t> </a:t>
            </a:r>
            <a:r>
              <a:rPr sz="2000" spc="-10" dirty="0">
                <a:latin typeface="Cambria"/>
                <a:cs typeface="Cambria"/>
              </a:rPr>
              <a:t>face.</a:t>
            </a:r>
            <a:endParaRPr sz="2000">
              <a:latin typeface="Cambria"/>
              <a:cs typeface="Cambria"/>
            </a:endParaRPr>
          </a:p>
          <a:p>
            <a:pPr marL="195580" marR="184150" indent="-182880">
              <a:lnSpc>
                <a:spcPct val="90100"/>
              </a:lnSpc>
              <a:spcBef>
                <a:spcPts val="116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spc="-10" dirty="0">
                <a:latin typeface="Cambria"/>
                <a:cs typeface="Cambria"/>
              </a:rPr>
              <a:t>Given</a:t>
            </a:r>
            <a:r>
              <a:rPr sz="2000" spc="-70" dirty="0">
                <a:latin typeface="Cambria"/>
                <a:cs typeface="Cambria"/>
              </a:rPr>
              <a:t> </a:t>
            </a:r>
            <a:r>
              <a:rPr sz="2000" dirty="0">
                <a:latin typeface="Cambria"/>
                <a:cs typeface="Cambria"/>
              </a:rPr>
              <a:t>the</a:t>
            </a:r>
            <a:r>
              <a:rPr sz="2000" spc="-35" dirty="0">
                <a:latin typeface="Cambria"/>
                <a:cs typeface="Cambria"/>
              </a:rPr>
              <a:t> </a:t>
            </a:r>
            <a:r>
              <a:rPr sz="2000" spc="-10" dirty="0">
                <a:latin typeface="Cambria"/>
                <a:cs typeface="Cambria"/>
              </a:rPr>
              <a:t>premium</a:t>
            </a:r>
            <a:r>
              <a:rPr sz="2000" spc="-155" dirty="0">
                <a:latin typeface="Cambria"/>
                <a:cs typeface="Cambria"/>
              </a:rPr>
              <a:t> </a:t>
            </a:r>
            <a:r>
              <a:rPr sz="2000" dirty="0">
                <a:latin typeface="Cambria"/>
                <a:cs typeface="Cambria"/>
              </a:rPr>
              <a:t>on</a:t>
            </a:r>
            <a:r>
              <a:rPr sz="2000" spc="-35" dirty="0">
                <a:latin typeface="Cambria"/>
                <a:cs typeface="Cambria"/>
              </a:rPr>
              <a:t> </a:t>
            </a:r>
            <a:r>
              <a:rPr sz="2000" dirty="0">
                <a:latin typeface="Cambria"/>
                <a:cs typeface="Cambria"/>
              </a:rPr>
              <a:t>correctness,</a:t>
            </a:r>
            <a:r>
              <a:rPr sz="2000" spc="-40" dirty="0">
                <a:latin typeface="Cambria"/>
                <a:cs typeface="Cambria"/>
              </a:rPr>
              <a:t> </a:t>
            </a:r>
            <a:r>
              <a:rPr sz="2000" dirty="0">
                <a:latin typeface="Cambria"/>
                <a:cs typeface="Cambria"/>
              </a:rPr>
              <a:t>designing</a:t>
            </a:r>
            <a:r>
              <a:rPr sz="2000" spc="-45" dirty="0">
                <a:latin typeface="Cambria"/>
                <a:cs typeface="Cambria"/>
              </a:rPr>
              <a:t> </a:t>
            </a:r>
            <a:r>
              <a:rPr sz="2000" dirty="0">
                <a:latin typeface="Cambria"/>
                <a:cs typeface="Cambria"/>
              </a:rPr>
              <a:t>a</a:t>
            </a:r>
            <a:r>
              <a:rPr sz="2000" spc="-15" dirty="0">
                <a:latin typeface="Cambria"/>
                <a:cs typeface="Cambria"/>
              </a:rPr>
              <a:t> </a:t>
            </a:r>
            <a:r>
              <a:rPr sz="2000" dirty="0">
                <a:latin typeface="Cambria"/>
                <a:cs typeface="Cambria"/>
              </a:rPr>
              <a:t>code</a:t>
            </a:r>
            <a:r>
              <a:rPr sz="2000" spc="-40" dirty="0">
                <a:latin typeface="Cambria"/>
                <a:cs typeface="Cambria"/>
              </a:rPr>
              <a:t> </a:t>
            </a:r>
            <a:r>
              <a:rPr sz="2000" spc="-10" dirty="0">
                <a:latin typeface="Cambria"/>
                <a:cs typeface="Cambria"/>
              </a:rPr>
              <a:t>generator </a:t>
            </a:r>
            <a:r>
              <a:rPr sz="2000" dirty="0">
                <a:latin typeface="Cambria"/>
                <a:cs typeface="Cambria"/>
              </a:rPr>
              <a:t>so</a:t>
            </a:r>
            <a:r>
              <a:rPr sz="2000" spc="-20" dirty="0">
                <a:latin typeface="Cambria"/>
                <a:cs typeface="Cambria"/>
              </a:rPr>
              <a:t> </a:t>
            </a:r>
            <a:r>
              <a:rPr sz="2000" dirty="0">
                <a:latin typeface="Cambria"/>
                <a:cs typeface="Cambria"/>
              </a:rPr>
              <a:t>it</a:t>
            </a:r>
            <a:r>
              <a:rPr sz="2000" spc="-30" dirty="0">
                <a:latin typeface="Cambria"/>
                <a:cs typeface="Cambria"/>
              </a:rPr>
              <a:t> </a:t>
            </a:r>
            <a:r>
              <a:rPr sz="2000" dirty="0">
                <a:latin typeface="Cambria"/>
                <a:cs typeface="Cambria"/>
              </a:rPr>
              <a:t>can</a:t>
            </a:r>
            <a:r>
              <a:rPr sz="2000" spc="-30" dirty="0">
                <a:latin typeface="Cambria"/>
                <a:cs typeface="Cambria"/>
              </a:rPr>
              <a:t> </a:t>
            </a:r>
            <a:r>
              <a:rPr sz="2000" dirty="0">
                <a:latin typeface="Cambria"/>
                <a:cs typeface="Cambria"/>
              </a:rPr>
              <a:t>be</a:t>
            </a:r>
            <a:r>
              <a:rPr sz="2000" spc="-30" dirty="0">
                <a:latin typeface="Cambria"/>
                <a:cs typeface="Cambria"/>
              </a:rPr>
              <a:t> </a:t>
            </a:r>
            <a:r>
              <a:rPr sz="2000" dirty="0">
                <a:latin typeface="Cambria"/>
                <a:cs typeface="Cambria"/>
              </a:rPr>
              <a:t>easily</a:t>
            </a:r>
            <a:r>
              <a:rPr sz="2000" spc="-20" dirty="0">
                <a:latin typeface="Cambria"/>
                <a:cs typeface="Cambria"/>
              </a:rPr>
              <a:t> </a:t>
            </a:r>
            <a:r>
              <a:rPr sz="2000" spc="-10" dirty="0">
                <a:latin typeface="Cambria"/>
                <a:cs typeface="Cambria"/>
              </a:rPr>
              <a:t>implemented,</a:t>
            </a:r>
            <a:r>
              <a:rPr sz="2000" spc="-50" dirty="0">
                <a:latin typeface="Cambria"/>
                <a:cs typeface="Cambria"/>
              </a:rPr>
              <a:t> </a:t>
            </a:r>
            <a:r>
              <a:rPr sz="2000" dirty="0">
                <a:latin typeface="Cambria"/>
                <a:cs typeface="Cambria"/>
              </a:rPr>
              <a:t>tested,</a:t>
            </a:r>
            <a:r>
              <a:rPr sz="2000" spc="-50" dirty="0">
                <a:latin typeface="Cambria"/>
                <a:cs typeface="Cambria"/>
              </a:rPr>
              <a:t> </a:t>
            </a:r>
            <a:r>
              <a:rPr sz="2000" dirty="0">
                <a:latin typeface="Cambria"/>
                <a:cs typeface="Cambria"/>
              </a:rPr>
              <a:t>and</a:t>
            </a:r>
            <a:r>
              <a:rPr sz="2000" spc="-15" dirty="0">
                <a:latin typeface="Cambria"/>
                <a:cs typeface="Cambria"/>
              </a:rPr>
              <a:t> </a:t>
            </a:r>
            <a:r>
              <a:rPr sz="2000" dirty="0">
                <a:latin typeface="Cambria"/>
                <a:cs typeface="Cambria"/>
              </a:rPr>
              <a:t>maintained</a:t>
            </a:r>
            <a:r>
              <a:rPr sz="2000" spc="-60" dirty="0">
                <a:latin typeface="Cambria"/>
                <a:cs typeface="Cambria"/>
              </a:rPr>
              <a:t> </a:t>
            </a:r>
            <a:r>
              <a:rPr sz="2000" dirty="0">
                <a:latin typeface="Cambria"/>
                <a:cs typeface="Cambria"/>
              </a:rPr>
              <a:t>is</a:t>
            </a:r>
            <a:r>
              <a:rPr sz="2000" spc="-30" dirty="0">
                <a:latin typeface="Cambria"/>
                <a:cs typeface="Cambria"/>
              </a:rPr>
              <a:t> </a:t>
            </a:r>
            <a:r>
              <a:rPr sz="2000" spc="-35" dirty="0">
                <a:latin typeface="Cambria"/>
                <a:cs typeface="Cambria"/>
              </a:rPr>
              <a:t>an </a:t>
            </a:r>
            <a:r>
              <a:rPr sz="2000" dirty="0">
                <a:latin typeface="Cambria"/>
                <a:cs typeface="Cambria"/>
              </a:rPr>
              <a:t>important</a:t>
            </a:r>
            <a:r>
              <a:rPr sz="2000" spc="-85" dirty="0">
                <a:latin typeface="Cambria"/>
                <a:cs typeface="Cambria"/>
              </a:rPr>
              <a:t> </a:t>
            </a:r>
            <a:r>
              <a:rPr sz="2000" dirty="0">
                <a:latin typeface="Cambria"/>
                <a:cs typeface="Cambria"/>
              </a:rPr>
              <a:t>design</a:t>
            </a:r>
            <a:r>
              <a:rPr sz="2000" spc="-50" dirty="0">
                <a:latin typeface="Cambria"/>
                <a:cs typeface="Cambria"/>
              </a:rPr>
              <a:t> </a:t>
            </a:r>
            <a:r>
              <a:rPr sz="2000" spc="-20" dirty="0">
                <a:latin typeface="Cambria"/>
                <a:cs typeface="Cambria"/>
              </a:rPr>
              <a:t>goal.</a:t>
            </a:r>
            <a:endParaRPr sz="2000">
              <a:latin typeface="Cambria"/>
              <a:cs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66363" y="673812"/>
            <a:ext cx="1931939" cy="523220"/>
          </a:xfrm>
          <a:prstGeom prst="rect">
            <a:avLst/>
          </a:prstGeom>
        </p:spPr>
        <p:txBody>
          <a:bodyPr wrap="none">
            <a:spAutoFit/>
          </a:bodyPr>
          <a:lstStyle/>
          <a:p>
            <a:pPr fontAlgn="base"/>
            <a:r>
              <a:rPr lang="en-IN" sz="2800" u="sng" dirty="0">
                <a:latin typeface="+mj-lt"/>
              </a:rPr>
              <a:t>Basic Blocks</a:t>
            </a:r>
            <a:endParaRPr lang="en-IN" sz="2800" b="1" dirty="0">
              <a:latin typeface="+mj-lt"/>
            </a:endParaRPr>
          </a:p>
        </p:txBody>
      </p:sp>
      <p:sp>
        <p:nvSpPr>
          <p:cNvPr id="5" name="Rectangle 4"/>
          <p:cNvSpPr/>
          <p:nvPr/>
        </p:nvSpPr>
        <p:spPr>
          <a:xfrm>
            <a:off x="3444240" y="1111893"/>
            <a:ext cx="8352928" cy="830997"/>
          </a:xfrm>
          <a:prstGeom prst="rect">
            <a:avLst/>
          </a:prstGeom>
        </p:spPr>
        <p:txBody>
          <a:bodyPr wrap="square">
            <a:spAutoFit/>
          </a:bodyPr>
          <a:lstStyle/>
          <a:p>
            <a:pPr algn="just"/>
            <a:r>
              <a:rPr lang="en-IN" sz="2400" dirty="0">
                <a:latin typeface="Cambria" panose="02040503050406030204" pitchFamily="18" charset="0"/>
                <a:ea typeface="Cambria" panose="02040503050406030204" pitchFamily="18" charset="0"/>
              </a:rPr>
              <a:t>Basic block is a set of statements that always executes in a sequence one after the other.</a:t>
            </a:r>
          </a:p>
        </p:txBody>
      </p:sp>
      <p:sp>
        <p:nvSpPr>
          <p:cNvPr id="6" name="Rectangle 5"/>
          <p:cNvSpPr/>
          <p:nvPr/>
        </p:nvSpPr>
        <p:spPr>
          <a:xfrm>
            <a:off x="3412232" y="2286000"/>
            <a:ext cx="8064896" cy="2308324"/>
          </a:xfrm>
          <a:prstGeom prst="rect">
            <a:avLst/>
          </a:prstGeom>
        </p:spPr>
        <p:txBody>
          <a:bodyPr wrap="square">
            <a:spAutoFit/>
          </a:bodyPr>
          <a:lstStyle/>
          <a:p>
            <a:pPr algn="just" fontAlgn="base"/>
            <a:r>
              <a:rPr lang="en-IN" sz="2400" dirty="0">
                <a:latin typeface="Cambria" panose="02040503050406030204" pitchFamily="18" charset="0"/>
                <a:ea typeface="Cambria" panose="02040503050406030204" pitchFamily="18" charset="0"/>
              </a:rPr>
              <a:t>The characteristics of basic blocks are-</a:t>
            </a:r>
          </a:p>
          <a:p>
            <a:pPr marL="285750" indent="-285750" algn="just" fontAlgn="base">
              <a:buFont typeface="Arial" panose="020B0604020202020204" pitchFamily="34" charset="0"/>
              <a:buChar char="•"/>
            </a:pPr>
            <a:r>
              <a:rPr lang="en-IN" sz="2400" dirty="0">
                <a:latin typeface="Cambria" panose="02040503050406030204" pitchFamily="18" charset="0"/>
                <a:ea typeface="Cambria" panose="02040503050406030204" pitchFamily="18" charset="0"/>
              </a:rPr>
              <a:t>They do not contain any kind of jump statements in them.</a:t>
            </a:r>
          </a:p>
          <a:p>
            <a:pPr marL="285750" indent="-285750" algn="just" fontAlgn="base">
              <a:buFont typeface="Arial" panose="020B0604020202020204" pitchFamily="34" charset="0"/>
              <a:buChar char="•"/>
            </a:pPr>
            <a:r>
              <a:rPr lang="en-IN" sz="2400" dirty="0">
                <a:latin typeface="Cambria" panose="02040503050406030204" pitchFamily="18" charset="0"/>
                <a:ea typeface="Cambria" panose="02040503050406030204" pitchFamily="18" charset="0"/>
              </a:rPr>
              <a:t>There is no possibility of branching or getting halt in the middle.</a:t>
            </a:r>
          </a:p>
          <a:p>
            <a:pPr marL="285750" indent="-285750" algn="just" fontAlgn="base">
              <a:buFont typeface="Arial" panose="020B0604020202020204" pitchFamily="34" charset="0"/>
              <a:buChar char="•"/>
            </a:pPr>
            <a:r>
              <a:rPr lang="en-IN" sz="2400" dirty="0">
                <a:latin typeface="Cambria" panose="02040503050406030204" pitchFamily="18" charset="0"/>
                <a:ea typeface="Cambria" panose="02040503050406030204" pitchFamily="18" charset="0"/>
              </a:rPr>
              <a:t>All the statements execute in the same order they appear.</a:t>
            </a:r>
          </a:p>
          <a:p>
            <a:pPr marL="285750" indent="-285750" algn="just" fontAlgn="base">
              <a:buFont typeface="Arial" panose="020B0604020202020204" pitchFamily="34" charset="0"/>
              <a:buChar char="•"/>
            </a:pPr>
            <a:r>
              <a:rPr lang="en-IN" sz="2400" dirty="0">
                <a:latin typeface="Cambria" panose="02040503050406030204" pitchFamily="18" charset="0"/>
                <a:ea typeface="Cambria" panose="02040503050406030204" pitchFamily="18" charset="0"/>
              </a:rPr>
              <a:t>They do not lose </a:t>
            </a:r>
            <a:r>
              <a:rPr lang="en-IN" sz="2400" dirty="0" err="1">
                <a:latin typeface="Cambria" panose="02040503050406030204" pitchFamily="18" charset="0"/>
                <a:ea typeface="Cambria" panose="02040503050406030204" pitchFamily="18" charset="0"/>
              </a:rPr>
              <a:t>lose</a:t>
            </a:r>
            <a:r>
              <a:rPr lang="en-IN" sz="2400" dirty="0">
                <a:latin typeface="Cambria" panose="02040503050406030204" pitchFamily="18" charset="0"/>
                <a:ea typeface="Cambria" panose="02040503050406030204" pitchFamily="18" charset="0"/>
              </a:rPr>
              <a:t> the flow control of the program.</a:t>
            </a:r>
          </a:p>
        </p:txBody>
      </p:sp>
      <p:sp>
        <p:nvSpPr>
          <p:cNvPr id="2" name="object 2">
            <a:extLst>
              <a:ext uri="{FF2B5EF4-FFF2-40B4-BE49-F238E27FC236}">
                <a16:creationId xmlns:a16="http://schemas.microsoft.com/office/drawing/2014/main" id="{ECB25F49-0618-22F2-151E-9848C0C635C0}"/>
              </a:ext>
            </a:extLst>
          </p:cNvPr>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60" dirty="0">
                <a:solidFill>
                  <a:srgbClr val="FFFFFF"/>
                </a:solidFill>
                <a:latin typeface="Cambria"/>
                <a:cs typeface="Cambria"/>
              </a:rPr>
              <a:t>Basic</a:t>
            </a:r>
            <a:r>
              <a:rPr sz="3600" b="1" spc="-105" dirty="0">
                <a:solidFill>
                  <a:srgbClr val="FFFFFF"/>
                </a:solidFill>
                <a:latin typeface="Cambria"/>
                <a:cs typeface="Cambria"/>
              </a:rPr>
              <a:t> </a:t>
            </a:r>
            <a:r>
              <a:rPr sz="3600" b="1" spc="-10" dirty="0">
                <a:solidFill>
                  <a:srgbClr val="FFFFFF"/>
                </a:solidFill>
                <a:latin typeface="Cambria"/>
                <a:cs typeface="Cambria"/>
              </a:rPr>
              <a:t>Blocks</a:t>
            </a:r>
            <a:endParaRPr sz="3600">
              <a:latin typeface="Cambria"/>
              <a:cs typeface="Cambria"/>
            </a:endParaRPr>
          </a:p>
        </p:txBody>
      </p:sp>
      <p:pic>
        <p:nvPicPr>
          <p:cNvPr id="3" name="Picture 2" descr="https://www.gatevidyalay.com/wp-content/uploads/2018/03/Example-Of-Basic-Block.png">
            <a:extLst>
              <a:ext uri="{FF2B5EF4-FFF2-40B4-BE49-F238E27FC236}">
                <a16:creationId xmlns:a16="http://schemas.microsoft.com/office/drawing/2014/main" id="{2F85CCE9-8298-56CC-B8DF-A3005B9ED92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31584" y="4644672"/>
            <a:ext cx="2819400" cy="2213327"/>
          </a:xfrm>
          <a:prstGeom prst="rect">
            <a:avLst/>
          </a:prstGeom>
          <a:noFill/>
          <a:ln>
            <a:noFill/>
          </a:ln>
        </p:spPr>
      </p:pic>
      <p:sp>
        <p:nvSpPr>
          <p:cNvPr id="8" name="TextBox 7">
            <a:extLst>
              <a:ext uri="{FF2B5EF4-FFF2-40B4-BE49-F238E27FC236}">
                <a16:creationId xmlns:a16="http://schemas.microsoft.com/office/drawing/2014/main" id="{BF6AA217-000A-9F2F-F94A-B6FE5F62E7E4}"/>
              </a:ext>
            </a:extLst>
          </p:cNvPr>
          <p:cNvSpPr txBox="1"/>
          <p:nvPr/>
        </p:nvSpPr>
        <p:spPr>
          <a:xfrm>
            <a:off x="5977860" y="4644672"/>
            <a:ext cx="6203382" cy="369332"/>
          </a:xfrm>
          <a:prstGeom prst="rect">
            <a:avLst/>
          </a:prstGeom>
          <a:noFill/>
        </p:spPr>
        <p:txBody>
          <a:bodyPr wrap="square">
            <a:spAutoFit/>
          </a:bodyPr>
          <a:lstStyle/>
          <a:p>
            <a:pPr fontAlgn="base"/>
            <a:r>
              <a:rPr lang="en-IN" sz="1800" dirty="0"/>
              <a:t>Three Address Code for the expression </a:t>
            </a:r>
            <a:r>
              <a:rPr lang="en-IN" sz="1800" b="1" dirty="0"/>
              <a:t>a = b + c + d</a:t>
            </a:r>
            <a:r>
              <a:rPr lang="en-IN" sz="1800" dirty="0"/>
              <a:t> is-</a:t>
            </a:r>
          </a:p>
        </p:txBody>
      </p:sp>
    </p:spTree>
    <p:extLst>
      <p:ext uri="{BB962C8B-B14F-4D97-AF65-F5344CB8AC3E}">
        <p14:creationId xmlns:p14="http://schemas.microsoft.com/office/powerpoint/2010/main" val="1171301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60" dirty="0">
                <a:solidFill>
                  <a:srgbClr val="FFFFFF"/>
                </a:solidFill>
                <a:latin typeface="Cambria"/>
                <a:cs typeface="Cambria"/>
              </a:rPr>
              <a:t>Basic</a:t>
            </a:r>
            <a:r>
              <a:rPr sz="3600" b="1" spc="-105" dirty="0">
                <a:solidFill>
                  <a:srgbClr val="FFFFFF"/>
                </a:solidFill>
                <a:latin typeface="Cambria"/>
                <a:cs typeface="Cambria"/>
              </a:rPr>
              <a:t> </a:t>
            </a:r>
            <a:r>
              <a:rPr sz="3600" b="1" spc="-10" dirty="0">
                <a:solidFill>
                  <a:srgbClr val="FFFFFF"/>
                </a:solidFill>
                <a:latin typeface="Cambria"/>
                <a:cs typeface="Cambria"/>
              </a:rPr>
              <a:t>Blocks</a:t>
            </a:r>
            <a:endParaRPr sz="3600">
              <a:latin typeface="Cambria"/>
              <a:cs typeface="Cambria"/>
            </a:endParaRPr>
          </a:p>
        </p:txBody>
      </p:sp>
      <p:sp>
        <p:nvSpPr>
          <p:cNvPr id="3" name="object 3"/>
          <p:cNvSpPr txBox="1"/>
          <p:nvPr/>
        </p:nvSpPr>
        <p:spPr>
          <a:xfrm>
            <a:off x="3507994" y="370078"/>
            <a:ext cx="7620634" cy="1049655"/>
          </a:xfrm>
          <a:prstGeom prst="rect">
            <a:avLst/>
          </a:prstGeom>
        </p:spPr>
        <p:txBody>
          <a:bodyPr vert="horz" wrap="square" lIns="0" tIns="53975" rIns="0" bIns="0" rtlCol="0">
            <a:spAutoFit/>
          </a:bodyPr>
          <a:lstStyle/>
          <a:p>
            <a:pPr marL="195580" marR="5080" indent="-183515"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A</a:t>
            </a:r>
            <a:r>
              <a:rPr sz="2400" spc="-5" dirty="0">
                <a:latin typeface="Cambria"/>
                <a:cs typeface="Cambria"/>
              </a:rPr>
              <a:t> </a:t>
            </a:r>
            <a:r>
              <a:rPr sz="2400" spc="-10" dirty="0">
                <a:latin typeface="Cambria"/>
                <a:cs typeface="Cambria"/>
              </a:rPr>
              <a:t>basic</a:t>
            </a:r>
            <a:r>
              <a:rPr sz="2400" spc="-5" dirty="0">
                <a:latin typeface="Cambria"/>
                <a:cs typeface="Cambria"/>
              </a:rPr>
              <a:t> </a:t>
            </a:r>
            <a:r>
              <a:rPr sz="2400" spc="-15" dirty="0">
                <a:latin typeface="Cambria"/>
                <a:cs typeface="Cambria"/>
              </a:rPr>
              <a:t>block</a:t>
            </a:r>
            <a:r>
              <a:rPr sz="2400" spc="10" dirty="0">
                <a:latin typeface="Cambria"/>
                <a:cs typeface="Cambria"/>
              </a:rPr>
              <a:t> </a:t>
            </a:r>
            <a:r>
              <a:rPr sz="2400" spc="-10" dirty="0">
                <a:latin typeface="Cambria"/>
                <a:cs typeface="Cambria"/>
              </a:rPr>
              <a:t>is</a:t>
            </a:r>
            <a:r>
              <a:rPr sz="2400" dirty="0">
                <a:latin typeface="Cambria"/>
                <a:cs typeface="Cambria"/>
              </a:rPr>
              <a:t> </a:t>
            </a:r>
            <a:r>
              <a:rPr sz="2400" spc="-15" dirty="0">
                <a:latin typeface="Cambria"/>
                <a:cs typeface="Cambria"/>
              </a:rPr>
              <a:t>sequence</a:t>
            </a:r>
            <a:r>
              <a:rPr sz="2400" dirty="0">
                <a:latin typeface="Cambria"/>
                <a:cs typeface="Cambria"/>
              </a:rPr>
              <a:t> of 3-</a:t>
            </a:r>
            <a:r>
              <a:rPr sz="2400" spc="-20" dirty="0">
                <a:latin typeface="Cambria"/>
                <a:cs typeface="Cambria"/>
              </a:rPr>
              <a:t>address</a:t>
            </a:r>
            <a:r>
              <a:rPr sz="2400" spc="10" dirty="0">
                <a:latin typeface="Cambria"/>
                <a:cs typeface="Cambria"/>
              </a:rPr>
              <a:t> </a:t>
            </a:r>
            <a:r>
              <a:rPr sz="2400" spc="-20" dirty="0">
                <a:latin typeface="Cambria"/>
                <a:cs typeface="Cambria"/>
              </a:rPr>
              <a:t>statements</a:t>
            </a:r>
            <a:r>
              <a:rPr sz="2400" dirty="0">
                <a:latin typeface="Cambria"/>
                <a:cs typeface="Cambria"/>
              </a:rPr>
              <a:t> </a:t>
            </a:r>
            <a:r>
              <a:rPr sz="2400" spc="-20" dirty="0">
                <a:latin typeface="Cambria"/>
                <a:cs typeface="Cambria"/>
              </a:rPr>
              <a:t>where</a:t>
            </a:r>
            <a:r>
              <a:rPr sz="2400" spc="-10" dirty="0">
                <a:latin typeface="Cambria"/>
                <a:cs typeface="Cambria"/>
              </a:rPr>
              <a:t> </a:t>
            </a:r>
            <a:r>
              <a:rPr sz="2400" dirty="0">
                <a:latin typeface="Cambria"/>
                <a:cs typeface="Cambria"/>
              </a:rPr>
              <a:t>cont</a:t>
            </a:r>
            <a:r>
              <a:rPr sz="2400" spc="-30" dirty="0">
                <a:latin typeface="Cambria"/>
                <a:cs typeface="Cambria"/>
              </a:rPr>
              <a:t>r</a:t>
            </a:r>
            <a:r>
              <a:rPr sz="2400" spc="-5" dirty="0">
                <a:latin typeface="Cambria"/>
                <a:cs typeface="Cambria"/>
              </a:rPr>
              <a:t>o</a:t>
            </a:r>
            <a:r>
              <a:rPr sz="2400" dirty="0">
                <a:latin typeface="Cambria"/>
                <a:cs typeface="Cambria"/>
              </a:rPr>
              <a:t>l</a:t>
            </a:r>
            <a:r>
              <a:rPr sz="2400" spc="-20" dirty="0">
                <a:latin typeface="Cambria"/>
                <a:cs typeface="Cambria"/>
              </a:rPr>
              <a:t> </a:t>
            </a:r>
            <a:r>
              <a:rPr sz="2400" spc="-15" dirty="0">
                <a:latin typeface="Cambria"/>
                <a:cs typeface="Cambria"/>
              </a:rPr>
              <a:t>enters</a:t>
            </a:r>
            <a:r>
              <a:rPr sz="2400" dirty="0">
                <a:latin typeface="Cambria"/>
                <a:cs typeface="Cambria"/>
              </a:rPr>
              <a:t> </a:t>
            </a:r>
            <a:r>
              <a:rPr sz="2400" spc="-15" dirty="0">
                <a:latin typeface="Cambria"/>
                <a:cs typeface="Cambria"/>
              </a:rPr>
              <a:t>at</a:t>
            </a:r>
            <a:r>
              <a:rPr sz="2400" spc="-5" dirty="0">
                <a:latin typeface="Cambria"/>
                <a:cs typeface="Cambria"/>
              </a:rPr>
              <a:t> </a:t>
            </a:r>
            <a:r>
              <a:rPr sz="2400" spc="-10" dirty="0">
                <a:latin typeface="Cambria"/>
                <a:cs typeface="Cambria"/>
              </a:rPr>
              <a:t>the</a:t>
            </a:r>
            <a:r>
              <a:rPr sz="2400" spc="-15" dirty="0">
                <a:latin typeface="Cambria"/>
                <a:cs typeface="Cambria"/>
              </a:rPr>
              <a:t> </a:t>
            </a:r>
            <a:r>
              <a:rPr sz="2400" spc="-5" dirty="0">
                <a:latin typeface="Cambria"/>
                <a:cs typeface="Cambria"/>
              </a:rPr>
              <a:t>beginning</a:t>
            </a:r>
            <a:r>
              <a:rPr sz="2400" spc="-35" dirty="0">
                <a:latin typeface="Cambria"/>
                <a:cs typeface="Cambria"/>
              </a:rPr>
              <a:t> </a:t>
            </a:r>
            <a:r>
              <a:rPr sz="2400" spc="-15" dirty="0">
                <a:latin typeface="Cambria"/>
                <a:cs typeface="Cambria"/>
              </a:rPr>
              <a:t>and</a:t>
            </a:r>
            <a:r>
              <a:rPr sz="2400" dirty="0">
                <a:latin typeface="Cambria"/>
                <a:cs typeface="Cambria"/>
              </a:rPr>
              <a:t> </a:t>
            </a:r>
            <a:r>
              <a:rPr sz="2400" spc="-30" dirty="0">
                <a:latin typeface="Cambria"/>
                <a:cs typeface="Cambria"/>
              </a:rPr>
              <a:t>leaves</a:t>
            </a:r>
            <a:r>
              <a:rPr sz="2400" dirty="0">
                <a:latin typeface="Cambria"/>
                <a:cs typeface="Cambria"/>
              </a:rPr>
              <a:t> </a:t>
            </a:r>
            <a:r>
              <a:rPr sz="2400" spc="-20" dirty="0">
                <a:latin typeface="Cambria"/>
                <a:cs typeface="Cambria"/>
              </a:rPr>
              <a:t>only</a:t>
            </a:r>
            <a:r>
              <a:rPr sz="2400" spc="-5" dirty="0">
                <a:latin typeface="Cambria"/>
                <a:cs typeface="Cambria"/>
              </a:rPr>
              <a:t> </a:t>
            </a:r>
            <a:r>
              <a:rPr sz="2400" spc="-15" dirty="0">
                <a:latin typeface="Cambria"/>
                <a:cs typeface="Cambria"/>
              </a:rPr>
              <a:t>at</a:t>
            </a:r>
            <a:r>
              <a:rPr sz="2400" spc="-5" dirty="0">
                <a:latin typeface="Cambria"/>
                <a:cs typeface="Cambria"/>
              </a:rPr>
              <a:t> </a:t>
            </a:r>
            <a:r>
              <a:rPr sz="2400" spc="-15" dirty="0">
                <a:latin typeface="Cambria"/>
                <a:cs typeface="Cambria"/>
              </a:rPr>
              <a:t>the</a:t>
            </a:r>
            <a:r>
              <a:rPr sz="2400" dirty="0">
                <a:latin typeface="Cambria"/>
                <a:cs typeface="Cambria"/>
              </a:rPr>
              <a:t> </a:t>
            </a:r>
            <a:r>
              <a:rPr sz="2400" spc="-15" dirty="0">
                <a:latin typeface="Cambria"/>
                <a:cs typeface="Cambria"/>
              </a:rPr>
              <a:t>end</a:t>
            </a:r>
            <a:r>
              <a:rPr sz="2400" spc="-10" dirty="0">
                <a:latin typeface="Cambria"/>
                <a:cs typeface="Cambria"/>
              </a:rPr>
              <a:t> without</a:t>
            </a:r>
            <a:r>
              <a:rPr sz="2400" spc="-5" dirty="0">
                <a:latin typeface="Cambria"/>
                <a:cs typeface="Cambria"/>
              </a:rPr>
              <a:t> </a:t>
            </a:r>
            <a:r>
              <a:rPr sz="2400" spc="-30" dirty="0">
                <a:latin typeface="Cambria"/>
                <a:cs typeface="Cambria"/>
              </a:rPr>
              <a:t>any</a:t>
            </a:r>
            <a:r>
              <a:rPr sz="2400" spc="-10" dirty="0">
                <a:latin typeface="Cambria"/>
                <a:cs typeface="Cambria"/>
              </a:rPr>
              <a:t> </a:t>
            </a:r>
            <a:r>
              <a:rPr sz="2400" spc="-20" dirty="0">
                <a:latin typeface="Cambria"/>
                <a:cs typeface="Cambria"/>
              </a:rPr>
              <a:t>jumps</a:t>
            </a:r>
            <a:r>
              <a:rPr sz="2400" spc="15" dirty="0">
                <a:latin typeface="Cambria"/>
                <a:cs typeface="Cambria"/>
              </a:rPr>
              <a:t> </a:t>
            </a:r>
            <a:r>
              <a:rPr sz="2400" dirty="0">
                <a:latin typeface="Cambria"/>
                <a:cs typeface="Cambria"/>
              </a:rPr>
              <a:t>or</a:t>
            </a:r>
            <a:r>
              <a:rPr sz="2400" spc="-15" dirty="0">
                <a:latin typeface="Cambria"/>
                <a:cs typeface="Cambria"/>
              </a:rPr>
              <a:t> halts.</a:t>
            </a:r>
            <a:endParaRPr sz="2400" dirty="0">
              <a:latin typeface="Cambria"/>
              <a:cs typeface="Cambria"/>
            </a:endParaRPr>
          </a:p>
        </p:txBody>
      </p:sp>
      <p:sp>
        <p:nvSpPr>
          <p:cNvPr id="4" name="object 4"/>
          <p:cNvSpPr txBox="1">
            <a:spLocks noGrp="1"/>
          </p:cNvSpPr>
          <p:nvPr>
            <p:ph type="title"/>
          </p:nvPr>
        </p:nvSpPr>
        <p:spPr>
          <a:xfrm>
            <a:off x="3478653" y="2040763"/>
            <a:ext cx="8028940" cy="1050290"/>
          </a:xfrm>
          <a:prstGeom prst="rect">
            <a:avLst/>
          </a:prstGeom>
        </p:spPr>
        <p:txBody>
          <a:bodyPr vert="horz" wrap="square" lIns="0" tIns="48895" rIns="0" bIns="0" rtlCol="0">
            <a:spAutoFit/>
          </a:bodyPr>
          <a:lstStyle/>
          <a:p>
            <a:pPr marL="195580" marR="5080" indent="-183515" algn="just">
              <a:lnSpc>
                <a:spcPct val="90100"/>
              </a:lnSpc>
              <a:spcBef>
                <a:spcPts val="385"/>
              </a:spcBef>
            </a:pPr>
            <a:r>
              <a:rPr spc="-1250" dirty="0">
                <a:solidFill>
                  <a:srgbClr val="40B9D2"/>
                </a:solidFill>
                <a:latin typeface="Arial MT"/>
                <a:cs typeface="Arial MT"/>
              </a:rPr>
              <a:t>🞄</a:t>
            </a:r>
            <a:r>
              <a:rPr spc="-95" dirty="0">
                <a:solidFill>
                  <a:srgbClr val="40B9D2"/>
                </a:solidFill>
                <a:latin typeface="Arial MT"/>
                <a:cs typeface="Arial MT"/>
              </a:rPr>
              <a:t> </a:t>
            </a:r>
            <a:r>
              <a:rPr spc="-5" dirty="0"/>
              <a:t>I</a:t>
            </a:r>
            <a:r>
              <a:rPr dirty="0"/>
              <a:t>n</a:t>
            </a:r>
            <a:r>
              <a:rPr spc="-10" dirty="0"/>
              <a:t> </a:t>
            </a:r>
            <a:r>
              <a:rPr spc="-15" dirty="0"/>
              <a:t>order</a:t>
            </a:r>
            <a:r>
              <a:rPr spc="-10" dirty="0"/>
              <a:t> </a:t>
            </a:r>
            <a:r>
              <a:rPr spc="-25" dirty="0"/>
              <a:t>t</a:t>
            </a:r>
            <a:r>
              <a:rPr dirty="0"/>
              <a:t>o </a:t>
            </a:r>
            <a:r>
              <a:rPr spc="-10" dirty="0"/>
              <a:t>find</a:t>
            </a:r>
            <a:r>
              <a:rPr spc="-30" dirty="0"/>
              <a:t> </a:t>
            </a:r>
            <a:r>
              <a:rPr spc="-15" dirty="0"/>
              <a:t>the</a:t>
            </a:r>
            <a:r>
              <a:rPr dirty="0"/>
              <a:t> </a:t>
            </a:r>
            <a:r>
              <a:rPr spc="-15" dirty="0"/>
              <a:t>basic</a:t>
            </a:r>
            <a:r>
              <a:rPr dirty="0"/>
              <a:t> </a:t>
            </a:r>
            <a:r>
              <a:rPr spc="-15" dirty="0"/>
              <a:t>blocks,</a:t>
            </a:r>
            <a:r>
              <a:rPr spc="-5" dirty="0"/>
              <a:t> </a:t>
            </a:r>
            <a:r>
              <a:rPr spc="-40" dirty="0"/>
              <a:t>we</a:t>
            </a:r>
            <a:r>
              <a:rPr dirty="0"/>
              <a:t> </a:t>
            </a:r>
            <a:r>
              <a:rPr spc="-5" dirty="0"/>
              <a:t>need</a:t>
            </a:r>
            <a:r>
              <a:rPr dirty="0"/>
              <a:t> </a:t>
            </a:r>
            <a:r>
              <a:rPr spc="-25" dirty="0"/>
              <a:t>t</a:t>
            </a:r>
            <a:r>
              <a:rPr dirty="0"/>
              <a:t>o </a:t>
            </a:r>
            <a:r>
              <a:rPr spc="-10" dirty="0"/>
              <a:t>find</a:t>
            </a:r>
            <a:r>
              <a:rPr spc="-30" dirty="0"/>
              <a:t> </a:t>
            </a:r>
            <a:r>
              <a:rPr spc="-15" dirty="0"/>
              <a:t>the</a:t>
            </a:r>
            <a:r>
              <a:rPr dirty="0"/>
              <a:t> </a:t>
            </a:r>
            <a:r>
              <a:rPr spc="-10" dirty="0"/>
              <a:t>leaders</a:t>
            </a:r>
            <a:r>
              <a:rPr dirty="0"/>
              <a:t> </a:t>
            </a:r>
            <a:r>
              <a:rPr spc="-5" dirty="0"/>
              <a:t>i</a:t>
            </a:r>
            <a:r>
              <a:rPr dirty="0"/>
              <a:t>n</a:t>
            </a:r>
            <a:r>
              <a:rPr spc="-20" dirty="0"/>
              <a:t> </a:t>
            </a:r>
            <a:r>
              <a:rPr spc="-15" dirty="0"/>
              <a:t>the</a:t>
            </a:r>
            <a:r>
              <a:rPr dirty="0"/>
              <a:t> </a:t>
            </a:r>
            <a:r>
              <a:rPr spc="-15" dirty="0"/>
              <a:t>program. </a:t>
            </a:r>
            <a:r>
              <a:rPr spc="-20" dirty="0"/>
              <a:t>Then</a:t>
            </a:r>
            <a:r>
              <a:rPr spc="-10" dirty="0"/>
              <a:t> </a:t>
            </a:r>
            <a:r>
              <a:rPr spc="-15" dirty="0"/>
              <a:t>a</a:t>
            </a:r>
            <a:r>
              <a:rPr spc="-5" dirty="0"/>
              <a:t> </a:t>
            </a:r>
            <a:r>
              <a:rPr spc="-10" dirty="0"/>
              <a:t>basic</a:t>
            </a:r>
            <a:r>
              <a:rPr spc="-5" dirty="0"/>
              <a:t> </a:t>
            </a:r>
            <a:r>
              <a:rPr spc="-15" dirty="0"/>
              <a:t>block</a:t>
            </a:r>
            <a:r>
              <a:rPr spc="20" dirty="0"/>
              <a:t> </a:t>
            </a:r>
            <a:r>
              <a:rPr spc="-5" dirty="0"/>
              <a:t>wil</a:t>
            </a:r>
            <a:r>
              <a:rPr dirty="0"/>
              <a:t>l</a:t>
            </a:r>
            <a:r>
              <a:rPr spc="-15" dirty="0"/>
              <a:t> </a:t>
            </a:r>
            <a:r>
              <a:rPr spc="-10" dirty="0"/>
              <a:t>start </a:t>
            </a:r>
            <a:r>
              <a:rPr spc="-20" dirty="0"/>
              <a:t>from </a:t>
            </a:r>
            <a:r>
              <a:rPr spc="-15" dirty="0"/>
              <a:t>one</a:t>
            </a:r>
            <a:r>
              <a:rPr dirty="0"/>
              <a:t> </a:t>
            </a:r>
            <a:r>
              <a:rPr spc="-10" dirty="0"/>
              <a:t>leader</a:t>
            </a:r>
            <a:r>
              <a:rPr dirty="0"/>
              <a:t> </a:t>
            </a:r>
            <a:r>
              <a:rPr spc="-25" dirty="0"/>
              <a:t>to</a:t>
            </a:r>
            <a:r>
              <a:rPr dirty="0"/>
              <a:t> </a:t>
            </a:r>
            <a:r>
              <a:rPr spc="-15" dirty="0"/>
              <a:t>the</a:t>
            </a:r>
            <a:r>
              <a:rPr dirty="0"/>
              <a:t> </a:t>
            </a:r>
            <a:r>
              <a:rPr spc="-20" dirty="0"/>
              <a:t>next </a:t>
            </a:r>
            <a:r>
              <a:rPr spc="-15" dirty="0"/>
              <a:t>leader</a:t>
            </a:r>
            <a:r>
              <a:rPr dirty="0"/>
              <a:t> </a:t>
            </a:r>
            <a:r>
              <a:rPr spc="-5" dirty="0"/>
              <a:t>bu</a:t>
            </a:r>
            <a:r>
              <a:rPr dirty="0"/>
              <a:t>t</a:t>
            </a:r>
            <a:r>
              <a:rPr spc="-5" dirty="0"/>
              <a:t> no</a:t>
            </a:r>
            <a:r>
              <a:rPr dirty="0"/>
              <a:t>t</a:t>
            </a:r>
            <a:r>
              <a:rPr spc="-10" dirty="0"/>
              <a:t> including</a:t>
            </a:r>
            <a:r>
              <a:rPr spc="-15" dirty="0"/>
              <a:t> </a:t>
            </a:r>
            <a:r>
              <a:rPr spc="-20" dirty="0"/>
              <a:t>next </a:t>
            </a:r>
            <a:r>
              <a:rPr spc="-45" dirty="0"/>
              <a:t>leader.</a:t>
            </a:r>
          </a:p>
        </p:txBody>
      </p:sp>
      <p:sp>
        <p:nvSpPr>
          <p:cNvPr id="5" name="object 5"/>
          <p:cNvSpPr txBox="1"/>
          <p:nvPr/>
        </p:nvSpPr>
        <p:spPr>
          <a:xfrm>
            <a:off x="3469894" y="3016377"/>
            <a:ext cx="7710170" cy="1800225"/>
          </a:xfrm>
          <a:prstGeom prst="rect">
            <a:avLst/>
          </a:prstGeom>
        </p:spPr>
        <p:txBody>
          <a:bodyPr vert="horz" wrap="square" lIns="0" tIns="128270" rIns="0" bIns="0" rtlCol="0">
            <a:spAutoFit/>
          </a:bodyPr>
          <a:lstStyle/>
          <a:p>
            <a:pPr marL="50800">
              <a:lnSpc>
                <a:spcPct val="100000"/>
              </a:lnSpc>
              <a:spcBef>
                <a:spcPts val="1010"/>
              </a:spcBef>
            </a:pPr>
            <a:r>
              <a:rPr sz="2400" b="1" dirty="0">
                <a:latin typeface="Cambria"/>
                <a:cs typeface="Cambria"/>
              </a:rPr>
              <a:t>Identifying</a:t>
            </a:r>
            <a:r>
              <a:rPr sz="2400" b="1" spc="-55" dirty="0">
                <a:latin typeface="Cambria"/>
                <a:cs typeface="Cambria"/>
              </a:rPr>
              <a:t> </a:t>
            </a:r>
            <a:r>
              <a:rPr sz="2400" b="1" dirty="0">
                <a:latin typeface="Cambria"/>
                <a:cs typeface="Cambria"/>
              </a:rPr>
              <a:t>leaders</a:t>
            </a:r>
            <a:r>
              <a:rPr sz="2400" b="1" spc="-45" dirty="0">
                <a:latin typeface="Cambria"/>
                <a:cs typeface="Cambria"/>
              </a:rPr>
              <a:t> </a:t>
            </a:r>
            <a:r>
              <a:rPr sz="2400" b="1" dirty="0">
                <a:latin typeface="Cambria"/>
                <a:cs typeface="Cambria"/>
              </a:rPr>
              <a:t>in</a:t>
            </a:r>
            <a:r>
              <a:rPr sz="2400" b="1" spc="-55" dirty="0">
                <a:latin typeface="Cambria"/>
                <a:cs typeface="Cambria"/>
              </a:rPr>
              <a:t> </a:t>
            </a:r>
            <a:r>
              <a:rPr sz="2400" b="1" dirty="0">
                <a:latin typeface="Cambria"/>
                <a:cs typeface="Cambria"/>
              </a:rPr>
              <a:t>basic</a:t>
            </a:r>
            <a:r>
              <a:rPr sz="2400" b="1" spc="-50" dirty="0">
                <a:latin typeface="Cambria"/>
                <a:cs typeface="Cambria"/>
              </a:rPr>
              <a:t> </a:t>
            </a:r>
            <a:r>
              <a:rPr sz="2400" b="1" spc="-10" dirty="0">
                <a:latin typeface="Cambria"/>
                <a:cs typeface="Cambria"/>
              </a:rPr>
              <a:t>block:</a:t>
            </a:r>
            <a:endParaRPr sz="2400" dirty="0">
              <a:latin typeface="Cambria"/>
              <a:cs typeface="Cambria"/>
            </a:endParaRPr>
          </a:p>
          <a:p>
            <a:pPr marL="508000" indent="-457200">
              <a:lnSpc>
                <a:spcPct val="100000"/>
              </a:lnSpc>
              <a:spcBef>
                <a:spcPts val="910"/>
              </a:spcBef>
              <a:buClr>
                <a:srgbClr val="40B9D2"/>
              </a:buClr>
              <a:buAutoNum type="arabicPeriod"/>
              <a:tabLst>
                <a:tab pos="508000" algn="l"/>
              </a:tabLst>
            </a:pPr>
            <a:r>
              <a:rPr sz="2400" dirty="0">
                <a:latin typeface="Cambria"/>
                <a:cs typeface="Cambria"/>
              </a:rPr>
              <a:t>1</a:t>
            </a:r>
            <a:r>
              <a:rPr sz="2400" baseline="24305" dirty="0">
                <a:latin typeface="Cambria"/>
                <a:cs typeface="Cambria"/>
              </a:rPr>
              <a:t>st</a:t>
            </a:r>
            <a:r>
              <a:rPr sz="2400" spc="202" baseline="24305" dirty="0">
                <a:latin typeface="Cambria"/>
                <a:cs typeface="Cambria"/>
              </a:rPr>
              <a:t> </a:t>
            </a:r>
            <a:r>
              <a:rPr sz="2400" spc="-10" dirty="0">
                <a:latin typeface="Cambria"/>
                <a:cs typeface="Cambria"/>
              </a:rPr>
              <a:t>statement</a:t>
            </a:r>
            <a:r>
              <a:rPr sz="2400" spc="-25" dirty="0">
                <a:latin typeface="Cambria"/>
                <a:cs typeface="Cambria"/>
              </a:rPr>
              <a:t> </a:t>
            </a:r>
            <a:r>
              <a:rPr sz="2400" dirty="0">
                <a:latin typeface="Cambria"/>
                <a:cs typeface="Cambria"/>
              </a:rPr>
              <a:t>is</a:t>
            </a:r>
            <a:r>
              <a:rPr sz="2400" spc="-35" dirty="0">
                <a:latin typeface="Cambria"/>
                <a:cs typeface="Cambria"/>
              </a:rPr>
              <a:t> </a:t>
            </a:r>
            <a:r>
              <a:rPr sz="2400" spc="-10" dirty="0">
                <a:latin typeface="Cambria"/>
                <a:cs typeface="Cambria"/>
              </a:rPr>
              <a:t>leader.</a:t>
            </a:r>
            <a:endParaRPr sz="2400" dirty="0">
              <a:latin typeface="Cambria"/>
              <a:cs typeface="Cambria"/>
            </a:endParaRPr>
          </a:p>
          <a:p>
            <a:pPr marL="508000" indent="-457200">
              <a:lnSpc>
                <a:spcPts val="2735"/>
              </a:lnSpc>
              <a:spcBef>
                <a:spcPts val="915"/>
              </a:spcBef>
              <a:buClr>
                <a:srgbClr val="40B9D2"/>
              </a:buClr>
              <a:buAutoNum type="arabicPeriod"/>
              <a:tabLst>
                <a:tab pos="508000" algn="l"/>
              </a:tabLst>
            </a:pPr>
            <a:r>
              <a:rPr sz="2400" dirty="0">
                <a:latin typeface="Cambria"/>
                <a:cs typeface="Cambria"/>
              </a:rPr>
              <a:t>Statement</a:t>
            </a:r>
            <a:r>
              <a:rPr sz="2400" spc="-60" dirty="0">
                <a:latin typeface="Cambria"/>
                <a:cs typeface="Cambria"/>
              </a:rPr>
              <a:t> </a:t>
            </a:r>
            <a:r>
              <a:rPr sz="2400" dirty="0">
                <a:latin typeface="Cambria"/>
                <a:cs typeface="Cambria"/>
              </a:rPr>
              <a:t>that</a:t>
            </a:r>
            <a:r>
              <a:rPr sz="2400" spc="-40" dirty="0">
                <a:latin typeface="Cambria"/>
                <a:cs typeface="Cambria"/>
              </a:rPr>
              <a:t> </a:t>
            </a:r>
            <a:r>
              <a:rPr sz="2400" dirty="0">
                <a:latin typeface="Cambria"/>
                <a:cs typeface="Cambria"/>
              </a:rPr>
              <a:t>is</a:t>
            </a:r>
            <a:r>
              <a:rPr sz="2400" spc="-40" dirty="0">
                <a:latin typeface="Cambria"/>
                <a:cs typeface="Cambria"/>
              </a:rPr>
              <a:t> </a:t>
            </a:r>
            <a:r>
              <a:rPr sz="2400" dirty="0">
                <a:latin typeface="Cambria"/>
                <a:cs typeface="Cambria"/>
              </a:rPr>
              <a:t>target</a:t>
            </a:r>
            <a:r>
              <a:rPr sz="2400" spc="-55"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conditional</a:t>
            </a:r>
            <a:r>
              <a:rPr sz="2400" spc="-50" dirty="0">
                <a:latin typeface="Cambria"/>
                <a:cs typeface="Cambria"/>
              </a:rPr>
              <a:t> </a:t>
            </a:r>
            <a:r>
              <a:rPr sz="2400" dirty="0">
                <a:latin typeface="Cambria"/>
                <a:cs typeface="Cambria"/>
              </a:rPr>
              <a:t>or</a:t>
            </a:r>
            <a:r>
              <a:rPr sz="2400" spc="-50" dirty="0">
                <a:latin typeface="Cambria"/>
                <a:cs typeface="Cambria"/>
              </a:rPr>
              <a:t> </a:t>
            </a:r>
            <a:r>
              <a:rPr sz="2400" spc="-10" dirty="0">
                <a:latin typeface="Cambria"/>
                <a:cs typeface="Cambria"/>
              </a:rPr>
              <a:t>unconditional</a:t>
            </a:r>
            <a:endParaRPr sz="2400" dirty="0">
              <a:latin typeface="Cambria"/>
              <a:cs typeface="Cambria"/>
            </a:endParaRPr>
          </a:p>
          <a:p>
            <a:pPr marL="508000">
              <a:lnSpc>
                <a:spcPts val="2735"/>
              </a:lnSpc>
            </a:pPr>
            <a:r>
              <a:rPr sz="2400" spc="-10" dirty="0">
                <a:latin typeface="Cambria"/>
                <a:cs typeface="Cambria"/>
              </a:rPr>
              <a:t>statement</a:t>
            </a:r>
            <a:r>
              <a:rPr sz="2400" spc="-35" dirty="0">
                <a:latin typeface="Cambria"/>
                <a:cs typeface="Cambria"/>
              </a:rPr>
              <a:t> </a:t>
            </a:r>
            <a:r>
              <a:rPr sz="2400" dirty="0">
                <a:latin typeface="Cambria"/>
                <a:cs typeface="Cambria"/>
              </a:rPr>
              <a:t>is</a:t>
            </a:r>
            <a:r>
              <a:rPr sz="2400" spc="-25" dirty="0">
                <a:latin typeface="Cambria"/>
                <a:cs typeface="Cambria"/>
              </a:rPr>
              <a:t> </a:t>
            </a:r>
            <a:r>
              <a:rPr sz="2400" dirty="0">
                <a:latin typeface="Cambria"/>
                <a:cs typeface="Cambria"/>
              </a:rPr>
              <a:t>a</a:t>
            </a:r>
            <a:r>
              <a:rPr sz="2400" spc="-35" dirty="0">
                <a:latin typeface="Cambria"/>
                <a:cs typeface="Cambria"/>
              </a:rPr>
              <a:t> </a:t>
            </a:r>
            <a:r>
              <a:rPr sz="2400" spc="-10" dirty="0">
                <a:latin typeface="Cambria"/>
                <a:cs typeface="Cambria"/>
              </a:rPr>
              <a:t>leader.</a:t>
            </a:r>
            <a:endParaRPr sz="2400" dirty="0">
              <a:latin typeface="Cambria"/>
              <a:cs typeface="Cambria"/>
            </a:endParaRPr>
          </a:p>
        </p:txBody>
      </p:sp>
      <p:sp>
        <p:nvSpPr>
          <p:cNvPr id="6" name="object 6"/>
          <p:cNvSpPr txBox="1"/>
          <p:nvPr/>
        </p:nvSpPr>
        <p:spPr>
          <a:xfrm>
            <a:off x="4011295" y="4752937"/>
            <a:ext cx="1898650" cy="836294"/>
          </a:xfrm>
          <a:prstGeom prst="rect">
            <a:avLst/>
          </a:prstGeom>
        </p:spPr>
        <p:txBody>
          <a:bodyPr vert="horz" wrap="square" lIns="0" tIns="52069" rIns="0" bIns="0" rtlCol="0">
            <a:spAutoFit/>
          </a:bodyPr>
          <a:lstStyle/>
          <a:p>
            <a:pPr marL="12700">
              <a:lnSpc>
                <a:spcPct val="100000"/>
              </a:lnSpc>
              <a:spcBef>
                <a:spcPts val="409"/>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if</a:t>
            </a:r>
            <a:r>
              <a:rPr sz="2400" spc="-60"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goto</a:t>
            </a:r>
            <a:r>
              <a:rPr sz="2400" spc="-25" dirty="0">
                <a:latin typeface="Cambria"/>
                <a:cs typeface="Cambria"/>
              </a:rPr>
              <a:t> </a:t>
            </a:r>
            <a:r>
              <a:rPr sz="2400" spc="-45" dirty="0">
                <a:latin typeface="Cambria"/>
                <a:cs typeface="Cambria"/>
              </a:rPr>
              <a:t>100</a:t>
            </a:r>
            <a:endParaRPr sz="2400">
              <a:latin typeface="Cambria"/>
              <a:cs typeface="Cambria"/>
            </a:endParaRPr>
          </a:p>
          <a:p>
            <a:pPr marL="12700">
              <a:lnSpc>
                <a:spcPct val="100000"/>
              </a:lnSpc>
              <a:spcBef>
                <a:spcPts val="3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goto</a:t>
            </a:r>
            <a:r>
              <a:rPr sz="2400" spc="-40" dirty="0">
                <a:latin typeface="Cambria"/>
                <a:cs typeface="Cambria"/>
              </a:rPr>
              <a:t> </a:t>
            </a:r>
            <a:r>
              <a:rPr sz="2400" spc="-25" dirty="0">
                <a:latin typeface="Cambria"/>
                <a:cs typeface="Cambria"/>
              </a:rPr>
              <a:t>200</a:t>
            </a:r>
            <a:endParaRPr sz="2400">
              <a:latin typeface="Cambria"/>
              <a:cs typeface="Cambria"/>
            </a:endParaRPr>
          </a:p>
        </p:txBody>
      </p:sp>
      <p:sp>
        <p:nvSpPr>
          <p:cNvPr id="7" name="object 7"/>
          <p:cNvSpPr txBox="1"/>
          <p:nvPr/>
        </p:nvSpPr>
        <p:spPr>
          <a:xfrm>
            <a:off x="6251828" y="4752937"/>
            <a:ext cx="4801235" cy="836294"/>
          </a:xfrm>
          <a:prstGeom prst="rect">
            <a:avLst/>
          </a:prstGeom>
        </p:spPr>
        <p:txBody>
          <a:bodyPr vert="horz" wrap="square" lIns="0" tIns="52069" rIns="0" bIns="0" rtlCol="0">
            <a:spAutoFit/>
          </a:bodyPr>
          <a:lstStyle/>
          <a:p>
            <a:pPr marL="12700">
              <a:lnSpc>
                <a:spcPct val="100000"/>
              </a:lnSpc>
              <a:spcBef>
                <a:spcPts val="409"/>
              </a:spcBef>
            </a:pPr>
            <a:r>
              <a:rPr sz="2400" dirty="0">
                <a:latin typeface="Cambria"/>
                <a:cs typeface="Cambria"/>
              </a:rPr>
              <a:t>(Line</a:t>
            </a:r>
            <a:r>
              <a:rPr sz="2400" spc="-30" dirty="0">
                <a:latin typeface="Cambria"/>
                <a:cs typeface="Cambria"/>
              </a:rPr>
              <a:t> </a:t>
            </a:r>
            <a:r>
              <a:rPr sz="2400" dirty="0">
                <a:latin typeface="Cambria"/>
                <a:cs typeface="Cambria"/>
              </a:rPr>
              <a:t>number</a:t>
            </a:r>
            <a:r>
              <a:rPr sz="2400" spc="-10" dirty="0">
                <a:latin typeface="Cambria"/>
                <a:cs typeface="Cambria"/>
              </a:rPr>
              <a:t> </a:t>
            </a:r>
            <a:r>
              <a:rPr sz="2400" dirty="0">
                <a:latin typeface="Cambria"/>
                <a:cs typeface="Cambria"/>
              </a:rPr>
              <a:t>100</a:t>
            </a:r>
            <a:r>
              <a:rPr sz="2400" spc="-35" dirty="0">
                <a:latin typeface="Cambria"/>
                <a:cs typeface="Cambria"/>
              </a:rPr>
              <a:t> </a:t>
            </a:r>
            <a:r>
              <a:rPr sz="2400" dirty="0">
                <a:latin typeface="Cambria"/>
                <a:cs typeface="Cambria"/>
              </a:rPr>
              <a:t>is</a:t>
            </a:r>
            <a:r>
              <a:rPr sz="2400" spc="-25" dirty="0">
                <a:latin typeface="Cambria"/>
                <a:cs typeface="Cambria"/>
              </a:rPr>
              <a:t> </a:t>
            </a:r>
            <a:r>
              <a:rPr sz="2400" dirty="0">
                <a:latin typeface="Cambria"/>
                <a:cs typeface="Cambria"/>
              </a:rPr>
              <a:t>a</a:t>
            </a:r>
            <a:r>
              <a:rPr sz="2400" spc="-25" dirty="0">
                <a:latin typeface="Cambria"/>
                <a:cs typeface="Cambria"/>
              </a:rPr>
              <a:t> </a:t>
            </a:r>
            <a:r>
              <a:rPr sz="2400" spc="-10" dirty="0">
                <a:latin typeface="Cambria"/>
                <a:cs typeface="Cambria"/>
              </a:rPr>
              <a:t>leader)</a:t>
            </a:r>
            <a:endParaRPr sz="2400">
              <a:latin typeface="Cambria"/>
              <a:cs typeface="Cambria"/>
            </a:endParaRPr>
          </a:p>
          <a:p>
            <a:pPr marL="927100">
              <a:lnSpc>
                <a:spcPct val="100000"/>
              </a:lnSpc>
              <a:spcBef>
                <a:spcPts val="310"/>
              </a:spcBef>
            </a:pPr>
            <a:r>
              <a:rPr sz="2400" dirty="0">
                <a:latin typeface="Cambria"/>
                <a:cs typeface="Cambria"/>
              </a:rPr>
              <a:t>(Line</a:t>
            </a:r>
            <a:r>
              <a:rPr sz="2400" spc="-30" dirty="0">
                <a:latin typeface="Cambria"/>
                <a:cs typeface="Cambria"/>
              </a:rPr>
              <a:t> </a:t>
            </a:r>
            <a:r>
              <a:rPr sz="2400" dirty="0">
                <a:latin typeface="Cambria"/>
                <a:cs typeface="Cambria"/>
              </a:rPr>
              <a:t>number</a:t>
            </a:r>
            <a:r>
              <a:rPr sz="2400" spc="-15" dirty="0">
                <a:latin typeface="Cambria"/>
                <a:cs typeface="Cambria"/>
              </a:rPr>
              <a:t> </a:t>
            </a:r>
            <a:r>
              <a:rPr sz="2400" dirty="0">
                <a:latin typeface="Cambria"/>
                <a:cs typeface="Cambria"/>
              </a:rPr>
              <a:t>200</a:t>
            </a:r>
            <a:r>
              <a:rPr sz="2400" spc="-40" dirty="0">
                <a:latin typeface="Cambria"/>
                <a:cs typeface="Cambria"/>
              </a:rPr>
              <a:t> </a:t>
            </a:r>
            <a:r>
              <a:rPr sz="2400" dirty="0">
                <a:latin typeface="Cambria"/>
                <a:cs typeface="Cambria"/>
              </a:rPr>
              <a:t>is</a:t>
            </a:r>
            <a:r>
              <a:rPr sz="2400" spc="-25" dirty="0">
                <a:latin typeface="Cambria"/>
                <a:cs typeface="Cambria"/>
              </a:rPr>
              <a:t> </a:t>
            </a:r>
            <a:r>
              <a:rPr sz="2400" dirty="0">
                <a:latin typeface="Cambria"/>
                <a:cs typeface="Cambria"/>
              </a:rPr>
              <a:t>a</a:t>
            </a:r>
            <a:r>
              <a:rPr sz="2400" spc="-25" dirty="0">
                <a:latin typeface="Cambria"/>
                <a:cs typeface="Cambria"/>
              </a:rPr>
              <a:t> </a:t>
            </a:r>
            <a:r>
              <a:rPr sz="2400" spc="-10" dirty="0">
                <a:latin typeface="Cambria"/>
                <a:cs typeface="Cambria"/>
              </a:rPr>
              <a:t>leader)</a:t>
            </a:r>
            <a:endParaRPr sz="2400">
              <a:latin typeface="Cambria"/>
              <a:cs typeface="Cambria"/>
            </a:endParaRPr>
          </a:p>
        </p:txBody>
      </p:sp>
      <p:sp>
        <p:nvSpPr>
          <p:cNvPr id="8" name="object 8"/>
          <p:cNvSpPr txBox="1"/>
          <p:nvPr/>
        </p:nvSpPr>
        <p:spPr>
          <a:xfrm>
            <a:off x="3507994" y="5717540"/>
            <a:ext cx="7208520" cy="720725"/>
          </a:xfrm>
          <a:prstGeom prst="rect">
            <a:avLst/>
          </a:prstGeom>
        </p:spPr>
        <p:txBody>
          <a:bodyPr vert="horz" wrap="square" lIns="0" tIns="53975" rIns="0" bIns="0" rtlCol="0">
            <a:spAutoFit/>
          </a:bodyPr>
          <a:lstStyle/>
          <a:p>
            <a:pPr marL="469900" marR="5080" indent="-457834">
              <a:lnSpc>
                <a:spcPts val="2590"/>
              </a:lnSpc>
              <a:spcBef>
                <a:spcPts val="425"/>
              </a:spcBef>
              <a:tabLst>
                <a:tab pos="469900" algn="l"/>
              </a:tabLst>
            </a:pPr>
            <a:r>
              <a:rPr sz="2400" spc="-25" dirty="0">
                <a:solidFill>
                  <a:srgbClr val="40B9D2"/>
                </a:solidFill>
                <a:latin typeface="Cambria"/>
                <a:cs typeface="Cambria"/>
              </a:rPr>
              <a:t>3.</a:t>
            </a:r>
            <a:r>
              <a:rPr sz="2400" dirty="0">
                <a:solidFill>
                  <a:srgbClr val="40B9D2"/>
                </a:solidFill>
                <a:latin typeface="Cambria"/>
                <a:cs typeface="Cambria"/>
              </a:rPr>
              <a:t>	</a:t>
            </a:r>
            <a:r>
              <a:rPr sz="2400" spc="-10" dirty="0">
                <a:latin typeface="Cambria"/>
                <a:cs typeface="Cambria"/>
              </a:rPr>
              <a:t>Statement</a:t>
            </a:r>
            <a:r>
              <a:rPr sz="2400" spc="-70" dirty="0">
                <a:latin typeface="Cambria"/>
                <a:cs typeface="Cambria"/>
              </a:rPr>
              <a:t> </a:t>
            </a:r>
            <a:r>
              <a:rPr sz="2400" dirty="0">
                <a:latin typeface="Cambria"/>
                <a:cs typeface="Cambria"/>
              </a:rPr>
              <a:t>that</a:t>
            </a:r>
            <a:r>
              <a:rPr sz="2400" spc="-70" dirty="0">
                <a:latin typeface="Cambria"/>
                <a:cs typeface="Cambria"/>
              </a:rPr>
              <a:t> </a:t>
            </a:r>
            <a:r>
              <a:rPr sz="2400" dirty="0">
                <a:latin typeface="Cambria"/>
                <a:cs typeface="Cambria"/>
              </a:rPr>
              <a:t>follows</a:t>
            </a:r>
            <a:r>
              <a:rPr sz="2400" spc="-55" dirty="0">
                <a:latin typeface="Cambria"/>
                <a:cs typeface="Cambria"/>
              </a:rPr>
              <a:t> </a:t>
            </a:r>
            <a:r>
              <a:rPr sz="2400" spc="-20" dirty="0">
                <a:latin typeface="Cambria"/>
                <a:cs typeface="Cambria"/>
              </a:rPr>
              <a:t>immediately</a:t>
            </a:r>
            <a:r>
              <a:rPr sz="2400" spc="-65" dirty="0">
                <a:latin typeface="Cambria"/>
                <a:cs typeface="Cambria"/>
              </a:rPr>
              <a:t> </a:t>
            </a:r>
            <a:r>
              <a:rPr sz="2400" dirty="0">
                <a:latin typeface="Cambria"/>
                <a:cs typeface="Cambria"/>
              </a:rPr>
              <a:t>a</a:t>
            </a:r>
            <a:r>
              <a:rPr sz="2400" spc="-70" dirty="0">
                <a:latin typeface="Cambria"/>
                <a:cs typeface="Cambria"/>
              </a:rPr>
              <a:t> </a:t>
            </a:r>
            <a:r>
              <a:rPr sz="2400" dirty="0">
                <a:latin typeface="Cambria"/>
                <a:cs typeface="Cambria"/>
              </a:rPr>
              <a:t>conditional</a:t>
            </a:r>
            <a:r>
              <a:rPr sz="2400" spc="-80" dirty="0">
                <a:latin typeface="Cambria"/>
                <a:cs typeface="Cambria"/>
              </a:rPr>
              <a:t> </a:t>
            </a:r>
            <a:r>
              <a:rPr sz="2400" spc="-25" dirty="0">
                <a:latin typeface="Cambria"/>
                <a:cs typeface="Cambria"/>
              </a:rPr>
              <a:t>or </a:t>
            </a:r>
            <a:r>
              <a:rPr sz="2400" spc="-10" dirty="0">
                <a:latin typeface="Cambria"/>
                <a:cs typeface="Cambria"/>
              </a:rPr>
              <a:t>unconditional</a:t>
            </a:r>
            <a:r>
              <a:rPr sz="2400" spc="-50" dirty="0">
                <a:latin typeface="Cambria"/>
                <a:cs typeface="Cambria"/>
              </a:rPr>
              <a:t> </a:t>
            </a:r>
            <a:r>
              <a:rPr sz="2400" spc="-10" dirty="0">
                <a:latin typeface="Cambria"/>
                <a:cs typeface="Cambria"/>
              </a:rPr>
              <a:t>statement</a:t>
            </a:r>
            <a:r>
              <a:rPr sz="2400" spc="-25" dirty="0">
                <a:latin typeface="Cambria"/>
                <a:cs typeface="Cambria"/>
              </a:rPr>
              <a:t> </a:t>
            </a:r>
            <a:r>
              <a:rPr sz="2400" dirty="0">
                <a:latin typeface="Cambria"/>
                <a:cs typeface="Cambria"/>
              </a:rPr>
              <a:t>is</a:t>
            </a:r>
            <a:r>
              <a:rPr sz="2400" spc="-30" dirty="0">
                <a:latin typeface="Cambria"/>
                <a:cs typeface="Cambria"/>
              </a:rPr>
              <a:t> </a:t>
            </a:r>
            <a:r>
              <a:rPr sz="2400" dirty="0">
                <a:latin typeface="Cambria"/>
                <a:cs typeface="Cambria"/>
              </a:rPr>
              <a:t>a</a:t>
            </a:r>
            <a:r>
              <a:rPr sz="2400" spc="-25" dirty="0">
                <a:latin typeface="Cambria"/>
                <a:cs typeface="Cambria"/>
              </a:rPr>
              <a:t> </a:t>
            </a:r>
            <a:r>
              <a:rPr sz="2400" spc="-10" dirty="0">
                <a:latin typeface="Cambria"/>
                <a:cs typeface="Cambria"/>
              </a:rPr>
              <a:t>leader.</a:t>
            </a:r>
            <a:endParaRPr sz="2400">
              <a:latin typeface="Cambria"/>
              <a:cs typeface="Cambria"/>
            </a:endParaRPr>
          </a:p>
        </p:txBody>
      </p:sp>
      <p:sp>
        <p:nvSpPr>
          <p:cNvPr id="10" name="TextBox 9">
            <a:extLst>
              <a:ext uri="{FF2B5EF4-FFF2-40B4-BE49-F238E27FC236}">
                <a16:creationId xmlns:a16="http://schemas.microsoft.com/office/drawing/2014/main" id="{A05575F2-6AC5-2E8C-9654-B6CED1C1275B}"/>
              </a:ext>
            </a:extLst>
          </p:cNvPr>
          <p:cNvSpPr txBox="1"/>
          <p:nvPr/>
        </p:nvSpPr>
        <p:spPr>
          <a:xfrm>
            <a:off x="4191000" y="1344966"/>
            <a:ext cx="6096000" cy="646331"/>
          </a:xfrm>
          <a:prstGeom prst="rect">
            <a:avLst/>
          </a:prstGeom>
          <a:noFill/>
        </p:spPr>
        <p:txBody>
          <a:bodyPr wrap="square">
            <a:spAutoFit/>
          </a:bodyPr>
          <a:lstStyle/>
          <a:p>
            <a:pPr algn="just"/>
            <a:r>
              <a:rPr lang="en-IN" sz="1800" dirty="0"/>
              <a:t>Basic block is a set of statements that always executes in a sequence one after the other.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772795">
              <a:lnSpc>
                <a:spcPct val="88800"/>
              </a:lnSpc>
            </a:pPr>
            <a:r>
              <a:rPr sz="3600" b="1" spc="-10" dirty="0">
                <a:solidFill>
                  <a:srgbClr val="FFFFFF"/>
                </a:solidFill>
                <a:latin typeface="Cambria"/>
                <a:cs typeface="Cambria"/>
              </a:rPr>
              <a:t>Identifying </a:t>
            </a:r>
            <a:r>
              <a:rPr sz="3600" b="1" spc="-75" dirty="0">
                <a:solidFill>
                  <a:srgbClr val="FFFFFF"/>
                </a:solidFill>
                <a:latin typeface="Cambria"/>
                <a:cs typeface="Cambria"/>
              </a:rPr>
              <a:t>leaders</a:t>
            </a:r>
            <a:r>
              <a:rPr sz="3600" b="1" spc="-65" dirty="0">
                <a:solidFill>
                  <a:srgbClr val="FFFFFF"/>
                </a:solidFill>
                <a:latin typeface="Cambria"/>
                <a:cs typeface="Cambria"/>
              </a:rPr>
              <a:t> </a:t>
            </a:r>
            <a:r>
              <a:rPr sz="3600" b="1" spc="-25" dirty="0">
                <a:solidFill>
                  <a:srgbClr val="FFFFFF"/>
                </a:solidFill>
                <a:latin typeface="Cambria"/>
                <a:cs typeface="Cambria"/>
              </a:rPr>
              <a:t>in </a:t>
            </a:r>
            <a:r>
              <a:rPr sz="3600" b="1" spc="-60" dirty="0">
                <a:solidFill>
                  <a:srgbClr val="FFFFFF"/>
                </a:solidFill>
                <a:latin typeface="Cambria"/>
                <a:cs typeface="Cambria"/>
              </a:rPr>
              <a:t>Basic</a:t>
            </a:r>
            <a:r>
              <a:rPr sz="3600" b="1" spc="-110" dirty="0">
                <a:solidFill>
                  <a:srgbClr val="FFFFFF"/>
                </a:solidFill>
                <a:latin typeface="Cambria"/>
                <a:cs typeface="Cambria"/>
              </a:rPr>
              <a:t> </a:t>
            </a:r>
            <a:r>
              <a:rPr sz="3600" b="1" spc="-55" dirty="0">
                <a:solidFill>
                  <a:srgbClr val="FFFFFF"/>
                </a:solidFill>
                <a:latin typeface="Cambria"/>
                <a:cs typeface="Cambria"/>
              </a:rPr>
              <a:t>Block</a:t>
            </a:r>
            <a:endParaRPr sz="3600">
              <a:latin typeface="Cambria"/>
              <a:cs typeface="Cambria"/>
            </a:endParaRPr>
          </a:p>
        </p:txBody>
      </p:sp>
      <p:sp>
        <p:nvSpPr>
          <p:cNvPr id="3" name="object 3"/>
          <p:cNvSpPr txBox="1">
            <a:spLocks noGrp="1"/>
          </p:cNvSpPr>
          <p:nvPr>
            <p:ph type="title"/>
          </p:nvPr>
        </p:nvSpPr>
        <p:spPr>
          <a:xfrm>
            <a:off x="3948429" y="679869"/>
            <a:ext cx="2342515" cy="988694"/>
          </a:xfrm>
          <a:prstGeom prst="rect">
            <a:avLst/>
          </a:prstGeom>
        </p:spPr>
        <p:txBody>
          <a:bodyPr vert="horz" wrap="square" lIns="0" tIns="12065" rIns="0" bIns="0" rtlCol="0">
            <a:spAutoFit/>
          </a:bodyPr>
          <a:lstStyle/>
          <a:p>
            <a:pPr marL="12700" marR="5080">
              <a:lnSpc>
                <a:spcPct val="131700"/>
              </a:lnSpc>
              <a:spcBef>
                <a:spcPts val="95"/>
              </a:spcBef>
            </a:pPr>
            <a:r>
              <a:rPr spc="-1250" dirty="0">
                <a:solidFill>
                  <a:srgbClr val="40B9D2"/>
                </a:solidFill>
                <a:latin typeface="Arial MT"/>
                <a:cs typeface="Arial MT"/>
              </a:rPr>
              <a:t>🞄</a:t>
            </a:r>
            <a:r>
              <a:rPr spc="-95" dirty="0">
                <a:solidFill>
                  <a:srgbClr val="40B9D2"/>
                </a:solidFill>
                <a:latin typeface="Arial MT"/>
                <a:cs typeface="Arial MT"/>
              </a:rPr>
              <a:t> </a:t>
            </a:r>
            <a:r>
              <a:rPr dirty="0"/>
              <a:t>Program</a:t>
            </a:r>
            <a:r>
              <a:rPr spc="-100" dirty="0"/>
              <a:t> </a:t>
            </a:r>
            <a:r>
              <a:rPr dirty="0"/>
              <a:t>in</a:t>
            </a:r>
            <a:r>
              <a:rPr spc="-40" dirty="0"/>
              <a:t> </a:t>
            </a:r>
            <a:r>
              <a:rPr spc="-75" dirty="0"/>
              <a:t>HLL: </a:t>
            </a:r>
            <a:r>
              <a:rPr spc="-10" dirty="0"/>
              <a:t>fact(x)</a:t>
            </a:r>
          </a:p>
        </p:txBody>
      </p:sp>
      <p:sp>
        <p:nvSpPr>
          <p:cNvPr id="4" name="object 4"/>
          <p:cNvSpPr txBox="1"/>
          <p:nvPr/>
        </p:nvSpPr>
        <p:spPr>
          <a:xfrm>
            <a:off x="3948429" y="1642998"/>
            <a:ext cx="3522979" cy="2915920"/>
          </a:xfrm>
          <a:prstGeom prst="rect">
            <a:avLst/>
          </a:prstGeom>
        </p:spPr>
        <p:txBody>
          <a:bodyPr vert="horz" wrap="square" lIns="0" tIns="128270" rIns="0" bIns="0" rtlCol="0">
            <a:spAutoFit/>
          </a:bodyPr>
          <a:lstStyle/>
          <a:p>
            <a:pPr marL="12700">
              <a:lnSpc>
                <a:spcPct val="100000"/>
              </a:lnSpc>
              <a:spcBef>
                <a:spcPts val="1010"/>
              </a:spcBef>
            </a:pPr>
            <a:r>
              <a:rPr sz="2400" spc="-50" dirty="0">
                <a:latin typeface="Cambria"/>
                <a:cs typeface="Cambria"/>
              </a:rPr>
              <a:t>{</a:t>
            </a:r>
            <a:endParaRPr sz="2400">
              <a:latin typeface="Cambria"/>
              <a:cs typeface="Cambria"/>
            </a:endParaRPr>
          </a:p>
          <a:p>
            <a:pPr marL="927100">
              <a:lnSpc>
                <a:spcPct val="100000"/>
              </a:lnSpc>
              <a:spcBef>
                <a:spcPts val="915"/>
              </a:spcBef>
            </a:pPr>
            <a:r>
              <a:rPr sz="2400" dirty="0">
                <a:latin typeface="Cambria"/>
                <a:cs typeface="Cambria"/>
              </a:rPr>
              <a:t>int</a:t>
            </a:r>
            <a:r>
              <a:rPr sz="2400" spc="-20"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1;</a:t>
            </a:r>
            <a:endParaRPr sz="2400">
              <a:latin typeface="Cambria"/>
              <a:cs typeface="Cambria"/>
            </a:endParaRPr>
          </a:p>
          <a:p>
            <a:pPr marL="927100">
              <a:lnSpc>
                <a:spcPct val="100000"/>
              </a:lnSpc>
              <a:spcBef>
                <a:spcPts val="910"/>
              </a:spcBef>
            </a:pPr>
            <a:r>
              <a:rPr sz="2400" dirty="0">
                <a:latin typeface="Cambria"/>
                <a:cs typeface="Cambria"/>
              </a:rPr>
              <a:t>for(i</a:t>
            </a:r>
            <a:r>
              <a:rPr sz="2400" spc="-45"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2;</a:t>
            </a:r>
            <a:r>
              <a:rPr sz="2400" spc="-15" dirty="0">
                <a:latin typeface="Cambria"/>
                <a:cs typeface="Cambria"/>
              </a:rPr>
              <a:t> </a:t>
            </a:r>
            <a:r>
              <a:rPr sz="2400" dirty="0">
                <a:latin typeface="Cambria"/>
                <a:cs typeface="Cambria"/>
              </a:rPr>
              <a:t>i</a:t>
            </a:r>
            <a:r>
              <a:rPr sz="2400" spc="-20" dirty="0">
                <a:latin typeface="Cambria"/>
                <a:cs typeface="Cambria"/>
              </a:rPr>
              <a:t> </a:t>
            </a:r>
            <a:r>
              <a:rPr sz="2400" dirty="0">
                <a:latin typeface="Cambria"/>
                <a:cs typeface="Cambria"/>
              </a:rPr>
              <a:t>&lt;=</a:t>
            </a:r>
            <a:r>
              <a:rPr sz="2400" spc="-15" dirty="0">
                <a:latin typeface="Cambria"/>
                <a:cs typeface="Cambria"/>
              </a:rPr>
              <a:t> </a:t>
            </a:r>
            <a:r>
              <a:rPr sz="2400" dirty="0">
                <a:latin typeface="Cambria"/>
                <a:cs typeface="Cambria"/>
              </a:rPr>
              <a:t>x;</a:t>
            </a:r>
            <a:r>
              <a:rPr sz="2400" spc="-20" dirty="0">
                <a:latin typeface="Cambria"/>
                <a:cs typeface="Cambria"/>
              </a:rPr>
              <a:t> i++)</a:t>
            </a:r>
            <a:endParaRPr sz="2400">
              <a:latin typeface="Cambria"/>
              <a:cs typeface="Cambria"/>
            </a:endParaRPr>
          </a:p>
          <a:p>
            <a:pPr marL="927100" marR="757555" indent="914400">
              <a:lnSpc>
                <a:spcPct val="131700"/>
              </a:lnSpc>
            </a:pPr>
            <a:r>
              <a:rPr sz="2400" dirty="0">
                <a:latin typeface="Cambria"/>
                <a:cs typeface="Cambria"/>
              </a:rPr>
              <a:t>f</a:t>
            </a:r>
            <a:r>
              <a:rPr sz="2400" spc="-10"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a:t>
            </a:r>
            <a:r>
              <a:rPr sz="2400" spc="5" dirty="0">
                <a:latin typeface="Cambria"/>
                <a:cs typeface="Cambria"/>
              </a:rPr>
              <a:t> </a:t>
            </a:r>
            <a:r>
              <a:rPr sz="2400" spc="-25" dirty="0">
                <a:latin typeface="Cambria"/>
                <a:cs typeface="Cambria"/>
              </a:rPr>
              <a:t>i; </a:t>
            </a:r>
            <a:r>
              <a:rPr sz="2400" dirty="0">
                <a:latin typeface="Cambria"/>
                <a:cs typeface="Cambria"/>
              </a:rPr>
              <a:t>return</a:t>
            </a:r>
            <a:r>
              <a:rPr sz="2400" spc="-90" dirty="0">
                <a:latin typeface="Cambria"/>
                <a:cs typeface="Cambria"/>
              </a:rPr>
              <a:t> </a:t>
            </a:r>
            <a:r>
              <a:rPr sz="2400" spc="-25" dirty="0">
                <a:latin typeface="Cambria"/>
                <a:cs typeface="Cambria"/>
              </a:rPr>
              <a:t>f;</a:t>
            </a:r>
            <a:endParaRPr sz="2400">
              <a:latin typeface="Cambria"/>
              <a:cs typeface="Cambria"/>
            </a:endParaRPr>
          </a:p>
          <a:p>
            <a:pPr marL="12700">
              <a:lnSpc>
                <a:spcPct val="100000"/>
              </a:lnSpc>
              <a:spcBef>
                <a:spcPts val="915"/>
              </a:spcBef>
            </a:pPr>
            <a:r>
              <a:rPr sz="2400" spc="-50" dirty="0">
                <a:latin typeface="Cambria"/>
                <a:cs typeface="Cambria"/>
              </a:rPr>
              <a:t>}</a:t>
            </a:r>
            <a:endParaRPr sz="2400">
              <a:latin typeface="Cambria"/>
              <a:cs typeface="Cambria"/>
            </a:endParaRPr>
          </a:p>
        </p:txBody>
      </p:sp>
      <p:sp>
        <p:nvSpPr>
          <p:cNvPr id="5" name="object 5"/>
          <p:cNvSpPr txBox="1"/>
          <p:nvPr/>
        </p:nvSpPr>
        <p:spPr>
          <a:xfrm>
            <a:off x="8417179" y="857250"/>
            <a:ext cx="2231390" cy="75692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Output</a:t>
            </a:r>
            <a:r>
              <a:rPr sz="2400" spc="-20" dirty="0">
                <a:latin typeface="Cambria"/>
                <a:cs typeface="Cambria"/>
              </a:rPr>
              <a:t> </a:t>
            </a:r>
            <a:r>
              <a:rPr sz="2400" dirty="0">
                <a:latin typeface="Cambria"/>
                <a:cs typeface="Cambria"/>
              </a:rPr>
              <a:t>of</a:t>
            </a:r>
            <a:r>
              <a:rPr sz="2400" spc="-10" dirty="0">
                <a:latin typeface="Cambria"/>
                <a:cs typeface="Cambria"/>
              </a:rPr>
              <a:t> </a:t>
            </a:r>
            <a:r>
              <a:rPr sz="2400" spc="-25" dirty="0">
                <a:latin typeface="Cambria"/>
                <a:cs typeface="Cambria"/>
              </a:rPr>
              <a:t>ICG</a:t>
            </a:r>
            <a:endParaRPr sz="2400">
              <a:latin typeface="Cambria"/>
              <a:cs typeface="Cambria"/>
            </a:endParaRPr>
          </a:p>
          <a:p>
            <a:pPr marL="12700">
              <a:lnSpc>
                <a:spcPct val="100000"/>
              </a:lnSpc>
            </a:pPr>
            <a:r>
              <a:rPr sz="2400" spc="-10" dirty="0">
                <a:latin typeface="Cambria"/>
                <a:cs typeface="Cambria"/>
              </a:rPr>
              <a:t>(3-</a:t>
            </a:r>
            <a:r>
              <a:rPr sz="2400" dirty="0">
                <a:latin typeface="Cambria"/>
                <a:cs typeface="Cambria"/>
              </a:rPr>
              <a:t>address</a:t>
            </a:r>
            <a:r>
              <a:rPr sz="2400" spc="-90" dirty="0">
                <a:latin typeface="Cambria"/>
                <a:cs typeface="Cambria"/>
              </a:rPr>
              <a:t> </a:t>
            </a:r>
            <a:r>
              <a:rPr sz="2400" spc="-20" dirty="0">
                <a:latin typeface="Cambria"/>
                <a:cs typeface="Cambria"/>
              </a:rPr>
              <a:t>code)</a:t>
            </a:r>
            <a:endParaRPr sz="2400">
              <a:latin typeface="Cambria"/>
              <a:cs typeface="Cambria"/>
            </a:endParaRPr>
          </a:p>
        </p:txBody>
      </p:sp>
      <p:sp>
        <p:nvSpPr>
          <p:cNvPr id="6" name="object 6"/>
          <p:cNvSpPr txBox="1"/>
          <p:nvPr/>
        </p:nvSpPr>
        <p:spPr>
          <a:xfrm>
            <a:off x="8417179" y="1954225"/>
            <a:ext cx="2328545" cy="3684270"/>
          </a:xfrm>
          <a:prstGeom prst="rect">
            <a:avLst/>
          </a:prstGeom>
        </p:spPr>
        <p:txBody>
          <a:bodyPr vert="horz" wrap="square" lIns="0" tIns="12700" rIns="0" bIns="0" rtlCol="0">
            <a:spAutoFit/>
          </a:bodyPr>
          <a:lstStyle/>
          <a:p>
            <a:pPr marL="361950" indent="-349250">
              <a:lnSpc>
                <a:spcPct val="100000"/>
              </a:lnSpc>
              <a:spcBef>
                <a:spcPts val="100"/>
              </a:spcBef>
              <a:buAutoNum type="arabicParenR"/>
              <a:tabLst>
                <a:tab pos="361950" algn="l"/>
              </a:tabLst>
            </a:pP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1;</a:t>
            </a:r>
            <a:endParaRPr sz="2400">
              <a:latin typeface="Cambria"/>
              <a:cs typeface="Cambria"/>
            </a:endParaRPr>
          </a:p>
          <a:p>
            <a:pPr marL="362585" indent="-349885">
              <a:lnSpc>
                <a:spcPct val="100000"/>
              </a:lnSpc>
              <a:spcBef>
                <a:spcPts val="5"/>
              </a:spcBef>
              <a:buAutoNum type="arabicParenR"/>
              <a:tabLst>
                <a:tab pos="362585" algn="l"/>
              </a:tabLst>
            </a:pPr>
            <a:r>
              <a:rPr sz="2400" dirty="0">
                <a:latin typeface="Cambria"/>
                <a:cs typeface="Cambria"/>
              </a:rPr>
              <a:t>i</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2;</a:t>
            </a:r>
            <a:endParaRPr sz="2400">
              <a:latin typeface="Cambria"/>
              <a:cs typeface="Cambria"/>
            </a:endParaRPr>
          </a:p>
          <a:p>
            <a:pPr marL="362585" indent="-349885">
              <a:lnSpc>
                <a:spcPct val="100000"/>
              </a:lnSpc>
              <a:buAutoNum type="arabicParenR"/>
              <a:tabLst>
                <a:tab pos="362585" algn="l"/>
              </a:tabLst>
            </a:pPr>
            <a:r>
              <a:rPr sz="2400" dirty="0">
                <a:latin typeface="Cambria"/>
                <a:cs typeface="Cambria"/>
              </a:rPr>
              <a:t>if</a:t>
            </a:r>
            <a:r>
              <a:rPr sz="2400" spc="-20" dirty="0">
                <a:latin typeface="Cambria"/>
                <a:cs typeface="Cambria"/>
              </a:rPr>
              <a:t> </a:t>
            </a:r>
            <a:r>
              <a:rPr sz="2400" dirty="0">
                <a:latin typeface="Cambria"/>
                <a:cs typeface="Cambria"/>
              </a:rPr>
              <a:t>(i</a:t>
            </a:r>
            <a:r>
              <a:rPr sz="2400" spc="-25" dirty="0">
                <a:latin typeface="Cambria"/>
                <a:cs typeface="Cambria"/>
              </a:rPr>
              <a:t> </a:t>
            </a:r>
            <a:r>
              <a:rPr sz="2400" dirty="0">
                <a:latin typeface="Cambria"/>
                <a:cs typeface="Cambria"/>
              </a:rPr>
              <a:t>&gt;</a:t>
            </a:r>
            <a:r>
              <a:rPr sz="2400" spc="-20" dirty="0">
                <a:latin typeface="Cambria"/>
                <a:cs typeface="Cambria"/>
              </a:rPr>
              <a:t> </a:t>
            </a:r>
            <a:r>
              <a:rPr sz="2400" dirty="0">
                <a:latin typeface="Cambria"/>
                <a:cs typeface="Cambria"/>
              </a:rPr>
              <a:t>x)</a:t>
            </a:r>
            <a:r>
              <a:rPr sz="2400" spc="-25" dirty="0">
                <a:latin typeface="Cambria"/>
                <a:cs typeface="Cambria"/>
              </a:rPr>
              <a:t> </a:t>
            </a:r>
            <a:r>
              <a:rPr sz="2400" dirty="0">
                <a:latin typeface="Cambria"/>
                <a:cs typeface="Cambria"/>
              </a:rPr>
              <a:t>go</a:t>
            </a:r>
            <a:r>
              <a:rPr sz="2400" spc="-15" dirty="0">
                <a:latin typeface="Cambria"/>
                <a:cs typeface="Cambria"/>
              </a:rPr>
              <a:t> </a:t>
            </a:r>
            <a:r>
              <a:rPr sz="2400" dirty="0">
                <a:latin typeface="Cambria"/>
                <a:cs typeface="Cambria"/>
              </a:rPr>
              <a:t>to</a:t>
            </a:r>
            <a:r>
              <a:rPr sz="2400" spc="-15" dirty="0">
                <a:latin typeface="Cambria"/>
                <a:cs typeface="Cambria"/>
              </a:rPr>
              <a:t> </a:t>
            </a:r>
            <a:r>
              <a:rPr sz="2400" spc="-50" dirty="0">
                <a:latin typeface="Cambria"/>
                <a:cs typeface="Cambria"/>
              </a:rPr>
              <a:t>9</a:t>
            </a:r>
            <a:endParaRPr sz="2400">
              <a:latin typeface="Cambria"/>
              <a:cs typeface="Cambria"/>
            </a:endParaRPr>
          </a:p>
          <a:p>
            <a:pPr marL="361950" indent="-349250">
              <a:lnSpc>
                <a:spcPct val="100000"/>
              </a:lnSpc>
              <a:buAutoNum type="arabicParenR"/>
              <a:tabLst>
                <a:tab pos="361950" algn="l"/>
              </a:tabLst>
            </a:pPr>
            <a:r>
              <a:rPr sz="2400" dirty="0">
                <a:latin typeface="Cambria"/>
                <a:cs typeface="Cambria"/>
              </a:rPr>
              <a:t>t1</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i;</a:t>
            </a:r>
            <a:endParaRPr sz="2400">
              <a:latin typeface="Cambria"/>
              <a:cs typeface="Cambria"/>
            </a:endParaRPr>
          </a:p>
          <a:p>
            <a:pPr marL="362585" indent="-349885">
              <a:lnSpc>
                <a:spcPct val="100000"/>
              </a:lnSpc>
              <a:buAutoNum type="arabicParenR"/>
              <a:tabLst>
                <a:tab pos="362585" algn="l"/>
              </a:tabLst>
            </a:pP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t1;</a:t>
            </a:r>
            <a:endParaRPr sz="2400">
              <a:latin typeface="Cambria"/>
              <a:cs typeface="Cambria"/>
            </a:endParaRPr>
          </a:p>
          <a:p>
            <a:pPr marL="362585" indent="-349885">
              <a:lnSpc>
                <a:spcPct val="100000"/>
              </a:lnSpc>
              <a:buAutoNum type="arabicParenR"/>
              <a:tabLst>
                <a:tab pos="362585" algn="l"/>
              </a:tabLst>
            </a:pPr>
            <a:r>
              <a:rPr sz="2400" dirty="0">
                <a:latin typeface="Cambria"/>
                <a:cs typeface="Cambria"/>
              </a:rPr>
              <a:t>t2 =</a:t>
            </a:r>
            <a:r>
              <a:rPr sz="2400" spc="-20" dirty="0">
                <a:latin typeface="Cambria"/>
                <a:cs typeface="Cambria"/>
              </a:rPr>
              <a:t> </a:t>
            </a:r>
            <a:r>
              <a:rPr sz="2400" dirty="0">
                <a:latin typeface="Cambria"/>
                <a:cs typeface="Cambria"/>
              </a:rPr>
              <a:t>i</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1;</a:t>
            </a:r>
            <a:endParaRPr sz="2400">
              <a:latin typeface="Cambria"/>
              <a:cs typeface="Cambria"/>
            </a:endParaRPr>
          </a:p>
          <a:p>
            <a:pPr marL="362585" indent="-349885">
              <a:lnSpc>
                <a:spcPct val="100000"/>
              </a:lnSpc>
              <a:buAutoNum type="arabicParenR"/>
              <a:tabLst>
                <a:tab pos="362585" algn="l"/>
              </a:tabLst>
            </a:pPr>
            <a:r>
              <a:rPr sz="2400" dirty="0">
                <a:latin typeface="Cambria"/>
                <a:cs typeface="Cambria"/>
              </a:rPr>
              <a:t>i</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t2;</a:t>
            </a:r>
            <a:endParaRPr sz="2400">
              <a:latin typeface="Cambria"/>
              <a:cs typeface="Cambria"/>
            </a:endParaRPr>
          </a:p>
          <a:p>
            <a:pPr marL="361950" indent="-349250">
              <a:lnSpc>
                <a:spcPct val="100000"/>
              </a:lnSpc>
              <a:buAutoNum type="arabicParenR"/>
              <a:tabLst>
                <a:tab pos="361950" algn="l"/>
              </a:tabLst>
            </a:pPr>
            <a:r>
              <a:rPr sz="2400" spc="-10" dirty="0">
                <a:latin typeface="Cambria"/>
                <a:cs typeface="Cambria"/>
              </a:rPr>
              <a:t>goto(3);</a:t>
            </a:r>
            <a:endParaRPr sz="2400">
              <a:latin typeface="Cambria"/>
              <a:cs typeface="Cambria"/>
            </a:endParaRPr>
          </a:p>
          <a:p>
            <a:pPr marL="12700" marR="461645" indent="349885">
              <a:lnSpc>
                <a:spcPct val="100000"/>
              </a:lnSpc>
              <a:spcBef>
                <a:spcPts val="5"/>
              </a:spcBef>
              <a:buAutoNum type="arabicParenR"/>
              <a:tabLst>
                <a:tab pos="362585" algn="l"/>
              </a:tabLst>
            </a:pPr>
            <a:r>
              <a:rPr sz="2400" dirty="0">
                <a:latin typeface="Cambria"/>
                <a:cs typeface="Cambria"/>
              </a:rPr>
              <a:t>goto</a:t>
            </a:r>
            <a:r>
              <a:rPr sz="2400" spc="-90" dirty="0">
                <a:latin typeface="Cambria"/>
                <a:cs typeface="Cambria"/>
              </a:rPr>
              <a:t> </a:t>
            </a:r>
            <a:r>
              <a:rPr sz="2400" spc="-10" dirty="0">
                <a:latin typeface="Cambria"/>
                <a:cs typeface="Cambria"/>
              </a:rPr>
              <a:t>calling program</a:t>
            </a:r>
            <a:endParaRPr sz="2400">
              <a:latin typeface="Cambria"/>
              <a:cs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95"/>
              </a:spcBef>
            </a:pPr>
            <a:endParaRPr sz="3600" dirty="0">
              <a:latin typeface="Times New Roman"/>
              <a:cs typeface="Times New Roman"/>
            </a:endParaRPr>
          </a:p>
          <a:p>
            <a:pPr marL="344170" marR="366395">
              <a:lnSpc>
                <a:spcPts val="3779"/>
              </a:lnSpc>
            </a:pPr>
            <a:r>
              <a:rPr sz="3600" b="1" spc="-85" dirty="0">
                <a:solidFill>
                  <a:srgbClr val="FFFFFF"/>
                </a:solidFill>
                <a:latin typeface="Cambria"/>
                <a:cs typeface="Cambria"/>
              </a:rPr>
              <a:t>Partition</a:t>
            </a:r>
            <a:r>
              <a:rPr sz="3600" b="1" spc="-40" dirty="0">
                <a:solidFill>
                  <a:srgbClr val="FFFFFF"/>
                </a:solidFill>
                <a:latin typeface="Cambria"/>
                <a:cs typeface="Cambria"/>
              </a:rPr>
              <a:t> </a:t>
            </a:r>
            <a:r>
              <a:rPr sz="3600" b="1" spc="-45" dirty="0">
                <a:solidFill>
                  <a:srgbClr val="FFFFFF"/>
                </a:solidFill>
                <a:latin typeface="Cambria"/>
                <a:cs typeface="Cambria"/>
              </a:rPr>
              <a:t>into </a:t>
            </a:r>
            <a:r>
              <a:rPr sz="3600" b="1" spc="-60" dirty="0">
                <a:solidFill>
                  <a:srgbClr val="FFFFFF"/>
                </a:solidFill>
                <a:latin typeface="Cambria"/>
                <a:cs typeface="Cambria"/>
              </a:rPr>
              <a:t>Basic</a:t>
            </a:r>
            <a:r>
              <a:rPr sz="3600" b="1" spc="-105" dirty="0">
                <a:solidFill>
                  <a:srgbClr val="FFFFFF"/>
                </a:solidFill>
                <a:latin typeface="Cambria"/>
                <a:cs typeface="Cambria"/>
              </a:rPr>
              <a:t> </a:t>
            </a:r>
            <a:r>
              <a:rPr sz="3600" b="1" spc="-10" dirty="0">
                <a:solidFill>
                  <a:srgbClr val="FFFFFF"/>
                </a:solidFill>
                <a:latin typeface="Cambria"/>
                <a:cs typeface="Cambria"/>
              </a:rPr>
              <a:t>Blocks</a:t>
            </a:r>
            <a:endParaRPr sz="3600" dirty="0">
              <a:latin typeface="Cambria"/>
              <a:cs typeface="Cambria"/>
            </a:endParaRPr>
          </a:p>
        </p:txBody>
      </p:sp>
      <p:sp>
        <p:nvSpPr>
          <p:cNvPr id="3" name="object 3"/>
          <p:cNvSpPr txBox="1">
            <a:spLocks noGrp="1"/>
          </p:cNvSpPr>
          <p:nvPr>
            <p:ph type="title"/>
          </p:nvPr>
        </p:nvSpPr>
        <p:spPr>
          <a:xfrm>
            <a:off x="6287261" y="334213"/>
            <a:ext cx="2231390" cy="757555"/>
          </a:xfrm>
          <a:prstGeom prst="rect">
            <a:avLst/>
          </a:prstGeom>
        </p:spPr>
        <p:txBody>
          <a:bodyPr vert="horz" wrap="square" lIns="0" tIns="12700" rIns="0" bIns="0" rtlCol="0">
            <a:spAutoFit/>
          </a:bodyPr>
          <a:lstStyle/>
          <a:p>
            <a:pPr marL="12700">
              <a:lnSpc>
                <a:spcPct val="100000"/>
              </a:lnSpc>
              <a:spcBef>
                <a:spcPts val="100"/>
              </a:spcBef>
            </a:pPr>
            <a:r>
              <a:rPr dirty="0"/>
              <a:t>Output</a:t>
            </a:r>
            <a:r>
              <a:rPr spc="-25" dirty="0"/>
              <a:t> </a:t>
            </a:r>
            <a:r>
              <a:rPr dirty="0"/>
              <a:t>of</a:t>
            </a:r>
            <a:r>
              <a:rPr spc="-25" dirty="0"/>
              <a:t> ICG</a:t>
            </a:r>
          </a:p>
          <a:p>
            <a:pPr marL="12700">
              <a:lnSpc>
                <a:spcPct val="100000"/>
              </a:lnSpc>
              <a:spcBef>
                <a:spcPts val="5"/>
              </a:spcBef>
            </a:pPr>
            <a:r>
              <a:rPr spc="-10" dirty="0"/>
              <a:t>(3-</a:t>
            </a:r>
            <a:r>
              <a:rPr dirty="0"/>
              <a:t>address</a:t>
            </a:r>
            <a:r>
              <a:rPr spc="-90" dirty="0"/>
              <a:t> </a:t>
            </a:r>
            <a:r>
              <a:rPr spc="-20" dirty="0"/>
              <a:t>code)</a:t>
            </a:r>
          </a:p>
        </p:txBody>
      </p:sp>
      <p:sp>
        <p:nvSpPr>
          <p:cNvPr id="4" name="object 4"/>
          <p:cNvSpPr txBox="1"/>
          <p:nvPr/>
        </p:nvSpPr>
        <p:spPr>
          <a:xfrm>
            <a:off x="6073902" y="1465325"/>
            <a:ext cx="2697480" cy="763905"/>
          </a:xfrm>
          <a:prstGeom prst="rect">
            <a:avLst/>
          </a:prstGeom>
          <a:ln w="10667">
            <a:solidFill>
              <a:srgbClr val="8BD5E3"/>
            </a:solidFill>
          </a:ln>
        </p:spPr>
        <p:txBody>
          <a:bodyPr vert="horz" wrap="square" lIns="0" tIns="0" rIns="0" bIns="0" rtlCol="0">
            <a:spAutoFit/>
          </a:bodyPr>
          <a:lstStyle/>
          <a:p>
            <a:pPr marL="575310" indent="-349250">
              <a:lnSpc>
                <a:spcPts val="2720"/>
              </a:lnSpc>
              <a:buAutoNum type="arabicParenR"/>
              <a:tabLst>
                <a:tab pos="575310" algn="l"/>
              </a:tabLst>
            </a:pP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1;</a:t>
            </a:r>
            <a:endParaRPr sz="2400">
              <a:latin typeface="Cambria"/>
              <a:cs typeface="Cambria"/>
            </a:endParaRPr>
          </a:p>
          <a:p>
            <a:pPr marL="575945" indent="-349885">
              <a:lnSpc>
                <a:spcPct val="100000"/>
              </a:lnSpc>
              <a:buAutoNum type="arabicParenR"/>
              <a:tabLst>
                <a:tab pos="575945" algn="l"/>
              </a:tabLst>
            </a:pPr>
            <a:r>
              <a:rPr sz="2400" dirty="0">
                <a:latin typeface="Cambria"/>
                <a:cs typeface="Cambria"/>
              </a:rPr>
              <a:t>i</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2;</a:t>
            </a:r>
            <a:endParaRPr sz="2400">
              <a:latin typeface="Cambria"/>
              <a:cs typeface="Cambria"/>
            </a:endParaRPr>
          </a:p>
        </p:txBody>
      </p:sp>
      <p:sp>
        <p:nvSpPr>
          <p:cNvPr id="5" name="object 5"/>
          <p:cNvSpPr txBox="1"/>
          <p:nvPr/>
        </p:nvSpPr>
        <p:spPr>
          <a:xfrm>
            <a:off x="6287261" y="2529585"/>
            <a:ext cx="232854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3)</a:t>
            </a:r>
            <a:r>
              <a:rPr sz="2400" spc="-30" dirty="0">
                <a:latin typeface="Cambria"/>
                <a:cs typeface="Cambria"/>
              </a:rPr>
              <a:t> </a:t>
            </a:r>
            <a:r>
              <a:rPr sz="2400" dirty="0">
                <a:latin typeface="Cambria"/>
                <a:cs typeface="Cambria"/>
              </a:rPr>
              <a:t>if</a:t>
            </a:r>
            <a:r>
              <a:rPr sz="2400" spc="-15" dirty="0">
                <a:latin typeface="Cambria"/>
                <a:cs typeface="Cambria"/>
              </a:rPr>
              <a:t> </a:t>
            </a:r>
            <a:r>
              <a:rPr sz="2400" dirty="0">
                <a:latin typeface="Cambria"/>
                <a:cs typeface="Cambria"/>
              </a:rPr>
              <a:t>(i</a:t>
            </a:r>
            <a:r>
              <a:rPr sz="2400" spc="-20" dirty="0">
                <a:latin typeface="Cambria"/>
                <a:cs typeface="Cambria"/>
              </a:rPr>
              <a:t> </a:t>
            </a:r>
            <a:r>
              <a:rPr sz="2400" dirty="0">
                <a:latin typeface="Cambria"/>
                <a:cs typeface="Cambria"/>
              </a:rPr>
              <a:t>&gt;</a:t>
            </a:r>
            <a:r>
              <a:rPr sz="2400" spc="-20" dirty="0">
                <a:latin typeface="Cambria"/>
                <a:cs typeface="Cambria"/>
              </a:rPr>
              <a:t> </a:t>
            </a:r>
            <a:r>
              <a:rPr sz="2400" dirty="0">
                <a:latin typeface="Cambria"/>
                <a:cs typeface="Cambria"/>
              </a:rPr>
              <a:t>x)</a:t>
            </a:r>
            <a:r>
              <a:rPr sz="2400" spc="-25" dirty="0">
                <a:latin typeface="Cambria"/>
                <a:cs typeface="Cambria"/>
              </a:rPr>
              <a:t> </a:t>
            </a:r>
            <a:r>
              <a:rPr sz="2400" dirty="0">
                <a:latin typeface="Cambria"/>
                <a:cs typeface="Cambria"/>
              </a:rPr>
              <a:t>go</a:t>
            </a:r>
            <a:r>
              <a:rPr sz="2400" spc="-10" dirty="0">
                <a:latin typeface="Cambria"/>
                <a:cs typeface="Cambria"/>
              </a:rPr>
              <a:t> </a:t>
            </a:r>
            <a:r>
              <a:rPr sz="2400" dirty="0">
                <a:latin typeface="Cambria"/>
                <a:cs typeface="Cambria"/>
              </a:rPr>
              <a:t>to</a:t>
            </a:r>
            <a:r>
              <a:rPr sz="2400" spc="-15" dirty="0">
                <a:latin typeface="Cambria"/>
                <a:cs typeface="Cambria"/>
              </a:rPr>
              <a:t> </a:t>
            </a:r>
            <a:r>
              <a:rPr sz="2400" spc="-50" dirty="0">
                <a:latin typeface="Cambria"/>
                <a:cs typeface="Cambria"/>
              </a:rPr>
              <a:t>9</a:t>
            </a:r>
            <a:endParaRPr sz="2400">
              <a:latin typeface="Cambria"/>
              <a:cs typeface="Cambria"/>
            </a:endParaRPr>
          </a:p>
        </p:txBody>
      </p:sp>
      <p:sp>
        <p:nvSpPr>
          <p:cNvPr id="6" name="object 6"/>
          <p:cNvSpPr txBox="1"/>
          <p:nvPr/>
        </p:nvSpPr>
        <p:spPr>
          <a:xfrm>
            <a:off x="6287261" y="3261486"/>
            <a:ext cx="1584325" cy="1854835"/>
          </a:xfrm>
          <a:prstGeom prst="rect">
            <a:avLst/>
          </a:prstGeom>
        </p:spPr>
        <p:txBody>
          <a:bodyPr vert="horz" wrap="square" lIns="0" tIns="12700" rIns="0" bIns="0" rtlCol="0">
            <a:spAutoFit/>
          </a:bodyPr>
          <a:lstStyle/>
          <a:p>
            <a:pPr marL="362585" indent="-349885">
              <a:lnSpc>
                <a:spcPct val="100000"/>
              </a:lnSpc>
              <a:spcBef>
                <a:spcPts val="100"/>
              </a:spcBef>
              <a:buAutoNum type="arabicParenR" startAt="4"/>
              <a:tabLst>
                <a:tab pos="362585" algn="l"/>
              </a:tabLst>
            </a:pPr>
            <a:r>
              <a:rPr sz="2400" dirty="0">
                <a:latin typeface="Cambria"/>
                <a:cs typeface="Cambria"/>
              </a:rPr>
              <a:t>t1 =</a:t>
            </a:r>
            <a:r>
              <a:rPr sz="2400" spc="-15"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i;</a:t>
            </a:r>
            <a:endParaRPr sz="2400">
              <a:latin typeface="Cambria"/>
              <a:cs typeface="Cambria"/>
            </a:endParaRPr>
          </a:p>
          <a:p>
            <a:pPr marL="362585" indent="-349885">
              <a:lnSpc>
                <a:spcPct val="100000"/>
              </a:lnSpc>
              <a:buAutoNum type="arabicParenR" startAt="4"/>
              <a:tabLst>
                <a:tab pos="362585" algn="l"/>
              </a:tabLst>
            </a:pPr>
            <a:r>
              <a:rPr sz="2400" dirty="0">
                <a:latin typeface="Cambria"/>
                <a:cs typeface="Cambria"/>
              </a:rPr>
              <a:t>f</a:t>
            </a:r>
            <a:r>
              <a:rPr sz="2400" spc="-10" dirty="0">
                <a:latin typeface="Cambria"/>
                <a:cs typeface="Cambria"/>
              </a:rPr>
              <a:t> </a:t>
            </a:r>
            <a:r>
              <a:rPr sz="2400" dirty="0">
                <a:latin typeface="Cambria"/>
                <a:cs typeface="Cambria"/>
              </a:rPr>
              <a:t>= </a:t>
            </a:r>
            <a:r>
              <a:rPr sz="2400" spc="-25" dirty="0">
                <a:latin typeface="Cambria"/>
                <a:cs typeface="Cambria"/>
              </a:rPr>
              <a:t>t1;</a:t>
            </a:r>
            <a:endParaRPr sz="2400">
              <a:latin typeface="Cambria"/>
              <a:cs typeface="Cambria"/>
            </a:endParaRPr>
          </a:p>
          <a:p>
            <a:pPr marL="361950" indent="-349250">
              <a:lnSpc>
                <a:spcPct val="100000"/>
              </a:lnSpc>
              <a:buAutoNum type="arabicParenR" startAt="4"/>
              <a:tabLst>
                <a:tab pos="361950" algn="l"/>
              </a:tabLst>
            </a:pPr>
            <a:r>
              <a:rPr sz="2400" dirty="0">
                <a:latin typeface="Cambria"/>
                <a:cs typeface="Cambria"/>
              </a:rPr>
              <a:t>t2</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i</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1;</a:t>
            </a:r>
            <a:endParaRPr sz="2400">
              <a:latin typeface="Cambria"/>
              <a:cs typeface="Cambria"/>
            </a:endParaRPr>
          </a:p>
          <a:p>
            <a:pPr marL="362585" indent="-349885">
              <a:lnSpc>
                <a:spcPct val="100000"/>
              </a:lnSpc>
              <a:buAutoNum type="arabicParenR" startAt="4"/>
              <a:tabLst>
                <a:tab pos="362585" algn="l"/>
              </a:tabLst>
            </a:pPr>
            <a:r>
              <a:rPr sz="2400" dirty="0">
                <a:latin typeface="Cambria"/>
                <a:cs typeface="Cambria"/>
              </a:rPr>
              <a:t>i</a:t>
            </a:r>
            <a:r>
              <a:rPr sz="2400" spc="-10" dirty="0">
                <a:latin typeface="Cambria"/>
                <a:cs typeface="Cambria"/>
              </a:rPr>
              <a:t> </a:t>
            </a:r>
            <a:r>
              <a:rPr sz="2400" dirty="0">
                <a:latin typeface="Cambria"/>
                <a:cs typeface="Cambria"/>
              </a:rPr>
              <a:t>=</a:t>
            </a:r>
            <a:r>
              <a:rPr sz="2400" spc="-10" dirty="0">
                <a:latin typeface="Cambria"/>
                <a:cs typeface="Cambria"/>
              </a:rPr>
              <a:t> </a:t>
            </a:r>
            <a:r>
              <a:rPr sz="2400" spc="-25" dirty="0">
                <a:latin typeface="Cambria"/>
                <a:cs typeface="Cambria"/>
              </a:rPr>
              <a:t>t2;</a:t>
            </a:r>
            <a:endParaRPr sz="2400">
              <a:latin typeface="Cambria"/>
              <a:cs typeface="Cambria"/>
            </a:endParaRPr>
          </a:p>
          <a:p>
            <a:pPr marL="362585" indent="-349885">
              <a:lnSpc>
                <a:spcPct val="100000"/>
              </a:lnSpc>
              <a:buAutoNum type="arabicParenR" startAt="4"/>
              <a:tabLst>
                <a:tab pos="362585" algn="l"/>
              </a:tabLst>
            </a:pPr>
            <a:r>
              <a:rPr sz="2400" spc="-10" dirty="0">
                <a:latin typeface="Cambria"/>
                <a:cs typeface="Cambria"/>
              </a:rPr>
              <a:t>goto(3);</a:t>
            </a:r>
            <a:endParaRPr sz="2400">
              <a:latin typeface="Cambria"/>
              <a:cs typeface="Cambria"/>
            </a:endParaRPr>
          </a:p>
        </p:txBody>
      </p:sp>
      <p:sp>
        <p:nvSpPr>
          <p:cNvPr id="7" name="object 7"/>
          <p:cNvSpPr txBox="1"/>
          <p:nvPr/>
        </p:nvSpPr>
        <p:spPr>
          <a:xfrm>
            <a:off x="6073902" y="5470397"/>
            <a:ext cx="2697480" cy="763905"/>
          </a:xfrm>
          <a:prstGeom prst="rect">
            <a:avLst/>
          </a:prstGeom>
          <a:ln w="10667">
            <a:solidFill>
              <a:srgbClr val="8BD5E3"/>
            </a:solidFill>
          </a:ln>
        </p:spPr>
        <p:txBody>
          <a:bodyPr vert="horz" wrap="square" lIns="0" tIns="0" rIns="0" bIns="0" rtlCol="0">
            <a:spAutoFit/>
          </a:bodyPr>
          <a:lstStyle/>
          <a:p>
            <a:pPr marL="226060">
              <a:lnSpc>
                <a:spcPts val="2870"/>
              </a:lnSpc>
            </a:pPr>
            <a:r>
              <a:rPr sz="2400" dirty="0">
                <a:latin typeface="Cambria"/>
                <a:cs typeface="Cambria"/>
              </a:rPr>
              <a:t>9)</a:t>
            </a:r>
            <a:r>
              <a:rPr sz="2400" spc="-40" dirty="0">
                <a:latin typeface="Cambria"/>
                <a:cs typeface="Cambria"/>
              </a:rPr>
              <a:t> </a:t>
            </a:r>
            <a:r>
              <a:rPr sz="2400" dirty="0">
                <a:latin typeface="Cambria"/>
                <a:cs typeface="Cambria"/>
              </a:rPr>
              <a:t>goto</a:t>
            </a:r>
            <a:r>
              <a:rPr sz="2400" spc="-20" dirty="0">
                <a:latin typeface="Cambria"/>
                <a:cs typeface="Cambria"/>
              </a:rPr>
              <a:t> </a:t>
            </a:r>
            <a:r>
              <a:rPr sz="2400" spc="-10" dirty="0">
                <a:latin typeface="Cambria"/>
                <a:cs typeface="Cambria"/>
              </a:rPr>
              <a:t>calling</a:t>
            </a:r>
            <a:endParaRPr sz="2400">
              <a:latin typeface="Cambria"/>
              <a:cs typeface="Cambria"/>
            </a:endParaRPr>
          </a:p>
          <a:p>
            <a:pPr marL="226060">
              <a:lnSpc>
                <a:spcPct val="100000"/>
              </a:lnSpc>
            </a:pPr>
            <a:r>
              <a:rPr sz="2400" spc="-10" dirty="0">
                <a:latin typeface="Cambria"/>
                <a:cs typeface="Cambria"/>
              </a:rPr>
              <a:t>program</a:t>
            </a:r>
            <a:endParaRPr sz="2400">
              <a:latin typeface="Cambria"/>
              <a:cs typeface="Cambria"/>
            </a:endParaRPr>
          </a:p>
        </p:txBody>
      </p:sp>
      <p:sp>
        <p:nvSpPr>
          <p:cNvPr id="8" name="object 8"/>
          <p:cNvSpPr/>
          <p:nvPr/>
        </p:nvSpPr>
        <p:spPr>
          <a:xfrm>
            <a:off x="5177028" y="1648967"/>
            <a:ext cx="1069340" cy="76200"/>
          </a:xfrm>
          <a:custGeom>
            <a:avLst/>
            <a:gdLst/>
            <a:ahLst/>
            <a:cxnLst/>
            <a:rect l="l" t="t" r="r" b="b"/>
            <a:pathLst>
              <a:path w="1069339" h="76200">
                <a:moveTo>
                  <a:pt x="992759" y="0"/>
                </a:moveTo>
                <a:lnTo>
                  <a:pt x="992759" y="76200"/>
                </a:lnTo>
                <a:lnTo>
                  <a:pt x="1056259" y="44450"/>
                </a:lnTo>
                <a:lnTo>
                  <a:pt x="1005459" y="44450"/>
                </a:lnTo>
                <a:lnTo>
                  <a:pt x="1005459" y="31750"/>
                </a:lnTo>
                <a:lnTo>
                  <a:pt x="1056259" y="31750"/>
                </a:lnTo>
                <a:lnTo>
                  <a:pt x="992759" y="0"/>
                </a:lnTo>
                <a:close/>
              </a:path>
              <a:path w="1069339" h="76200">
                <a:moveTo>
                  <a:pt x="992759" y="31750"/>
                </a:moveTo>
                <a:lnTo>
                  <a:pt x="0" y="31750"/>
                </a:lnTo>
                <a:lnTo>
                  <a:pt x="0" y="44450"/>
                </a:lnTo>
                <a:lnTo>
                  <a:pt x="992759" y="44450"/>
                </a:lnTo>
                <a:lnTo>
                  <a:pt x="992759" y="31750"/>
                </a:lnTo>
                <a:close/>
              </a:path>
              <a:path w="1069339" h="76200">
                <a:moveTo>
                  <a:pt x="1056259" y="31750"/>
                </a:moveTo>
                <a:lnTo>
                  <a:pt x="1005459" y="31750"/>
                </a:lnTo>
                <a:lnTo>
                  <a:pt x="1005459" y="44450"/>
                </a:lnTo>
                <a:lnTo>
                  <a:pt x="1056259" y="44450"/>
                </a:lnTo>
                <a:lnTo>
                  <a:pt x="1068959" y="38100"/>
                </a:lnTo>
                <a:lnTo>
                  <a:pt x="1056259" y="31750"/>
                </a:lnTo>
                <a:close/>
              </a:path>
            </a:pathLst>
          </a:custGeom>
          <a:solidFill>
            <a:srgbClr val="40B9D2"/>
          </a:solidFill>
        </p:spPr>
        <p:txBody>
          <a:bodyPr wrap="square" lIns="0" tIns="0" rIns="0" bIns="0" rtlCol="0"/>
          <a:lstStyle/>
          <a:p>
            <a:endParaRPr/>
          </a:p>
        </p:txBody>
      </p:sp>
      <p:sp>
        <p:nvSpPr>
          <p:cNvPr id="9" name="object 9"/>
          <p:cNvSpPr txBox="1"/>
          <p:nvPr/>
        </p:nvSpPr>
        <p:spPr>
          <a:xfrm>
            <a:off x="4471161" y="1507312"/>
            <a:ext cx="68262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Leader</a:t>
            </a:r>
            <a:endParaRPr sz="1800">
              <a:latin typeface="Corbel"/>
              <a:cs typeface="Corbel"/>
            </a:endParaRPr>
          </a:p>
        </p:txBody>
      </p:sp>
      <p:grpSp>
        <p:nvGrpSpPr>
          <p:cNvPr id="10" name="object 10"/>
          <p:cNvGrpSpPr/>
          <p:nvPr/>
        </p:nvGrpSpPr>
        <p:grpSpPr>
          <a:xfrm>
            <a:off x="5201411" y="2551176"/>
            <a:ext cx="3575685" cy="433070"/>
            <a:chOff x="5201411" y="2551176"/>
            <a:chExt cx="3575685" cy="433070"/>
          </a:xfrm>
        </p:grpSpPr>
        <p:sp>
          <p:nvSpPr>
            <p:cNvPr id="11" name="object 11"/>
            <p:cNvSpPr/>
            <p:nvPr/>
          </p:nvSpPr>
          <p:spPr>
            <a:xfrm>
              <a:off x="5201411" y="2715768"/>
              <a:ext cx="1069340" cy="76200"/>
            </a:xfrm>
            <a:custGeom>
              <a:avLst/>
              <a:gdLst/>
              <a:ahLst/>
              <a:cxnLst/>
              <a:rect l="l" t="t" r="r" b="b"/>
              <a:pathLst>
                <a:path w="1069339" h="76200">
                  <a:moveTo>
                    <a:pt x="992759" y="0"/>
                  </a:moveTo>
                  <a:lnTo>
                    <a:pt x="992759" y="76200"/>
                  </a:lnTo>
                  <a:lnTo>
                    <a:pt x="1056259" y="44450"/>
                  </a:lnTo>
                  <a:lnTo>
                    <a:pt x="1005459" y="44450"/>
                  </a:lnTo>
                  <a:lnTo>
                    <a:pt x="1005459" y="31750"/>
                  </a:lnTo>
                  <a:lnTo>
                    <a:pt x="1056259" y="31750"/>
                  </a:lnTo>
                  <a:lnTo>
                    <a:pt x="992759" y="0"/>
                  </a:lnTo>
                  <a:close/>
                </a:path>
                <a:path w="1069339" h="76200">
                  <a:moveTo>
                    <a:pt x="992759" y="31750"/>
                  </a:moveTo>
                  <a:lnTo>
                    <a:pt x="0" y="31750"/>
                  </a:lnTo>
                  <a:lnTo>
                    <a:pt x="0" y="44450"/>
                  </a:lnTo>
                  <a:lnTo>
                    <a:pt x="992759" y="44450"/>
                  </a:lnTo>
                  <a:lnTo>
                    <a:pt x="992759" y="31750"/>
                  </a:lnTo>
                  <a:close/>
                </a:path>
                <a:path w="1069339" h="76200">
                  <a:moveTo>
                    <a:pt x="1056259" y="31750"/>
                  </a:moveTo>
                  <a:lnTo>
                    <a:pt x="1005459" y="31750"/>
                  </a:lnTo>
                  <a:lnTo>
                    <a:pt x="1005459" y="44450"/>
                  </a:lnTo>
                  <a:lnTo>
                    <a:pt x="1056259" y="44450"/>
                  </a:lnTo>
                  <a:lnTo>
                    <a:pt x="1068959" y="38100"/>
                  </a:lnTo>
                  <a:lnTo>
                    <a:pt x="1056259" y="31750"/>
                  </a:lnTo>
                  <a:close/>
                </a:path>
              </a:pathLst>
            </a:custGeom>
            <a:solidFill>
              <a:srgbClr val="40B9D2"/>
            </a:solidFill>
          </p:spPr>
          <p:txBody>
            <a:bodyPr wrap="square" lIns="0" tIns="0" rIns="0" bIns="0" rtlCol="0"/>
            <a:lstStyle/>
            <a:p>
              <a:endParaRPr/>
            </a:p>
          </p:txBody>
        </p:sp>
        <p:sp>
          <p:nvSpPr>
            <p:cNvPr id="12" name="object 12"/>
            <p:cNvSpPr/>
            <p:nvPr/>
          </p:nvSpPr>
          <p:spPr>
            <a:xfrm>
              <a:off x="6073901" y="2556510"/>
              <a:ext cx="2697480" cy="422275"/>
            </a:xfrm>
            <a:custGeom>
              <a:avLst/>
              <a:gdLst/>
              <a:ahLst/>
              <a:cxnLst/>
              <a:rect l="l" t="t" r="r" b="b"/>
              <a:pathLst>
                <a:path w="2697479" h="422275">
                  <a:moveTo>
                    <a:pt x="0" y="422148"/>
                  </a:moveTo>
                  <a:lnTo>
                    <a:pt x="2697479" y="422148"/>
                  </a:lnTo>
                  <a:lnTo>
                    <a:pt x="2697479" y="0"/>
                  </a:lnTo>
                  <a:lnTo>
                    <a:pt x="0" y="0"/>
                  </a:lnTo>
                  <a:lnTo>
                    <a:pt x="0" y="422148"/>
                  </a:lnTo>
                  <a:close/>
                </a:path>
              </a:pathLst>
            </a:custGeom>
            <a:ln w="10667">
              <a:solidFill>
                <a:srgbClr val="8BD5E3"/>
              </a:solidFill>
            </a:ln>
          </p:spPr>
          <p:txBody>
            <a:bodyPr wrap="square" lIns="0" tIns="0" rIns="0" bIns="0" rtlCol="0"/>
            <a:lstStyle/>
            <a:p>
              <a:endParaRPr/>
            </a:p>
          </p:txBody>
        </p:sp>
      </p:grpSp>
      <p:sp>
        <p:nvSpPr>
          <p:cNvPr id="13" name="object 13"/>
          <p:cNvSpPr txBox="1"/>
          <p:nvPr/>
        </p:nvSpPr>
        <p:spPr>
          <a:xfrm>
            <a:off x="4494657" y="2574493"/>
            <a:ext cx="68262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Leader</a:t>
            </a:r>
            <a:endParaRPr sz="1800">
              <a:latin typeface="Corbel"/>
              <a:cs typeface="Corbel"/>
            </a:endParaRPr>
          </a:p>
        </p:txBody>
      </p:sp>
      <p:grpSp>
        <p:nvGrpSpPr>
          <p:cNvPr id="14" name="object 14"/>
          <p:cNvGrpSpPr/>
          <p:nvPr/>
        </p:nvGrpSpPr>
        <p:grpSpPr>
          <a:xfrm>
            <a:off x="5164835" y="3275076"/>
            <a:ext cx="3611879" cy="1955800"/>
            <a:chOff x="5164835" y="3275076"/>
            <a:chExt cx="3611879" cy="1955800"/>
          </a:xfrm>
        </p:grpSpPr>
        <p:sp>
          <p:nvSpPr>
            <p:cNvPr id="15" name="object 15"/>
            <p:cNvSpPr/>
            <p:nvPr/>
          </p:nvSpPr>
          <p:spPr>
            <a:xfrm>
              <a:off x="5164835" y="3477768"/>
              <a:ext cx="1069340" cy="76200"/>
            </a:xfrm>
            <a:custGeom>
              <a:avLst/>
              <a:gdLst/>
              <a:ahLst/>
              <a:cxnLst/>
              <a:rect l="l" t="t" r="r" b="b"/>
              <a:pathLst>
                <a:path w="1069339" h="76200">
                  <a:moveTo>
                    <a:pt x="992759" y="0"/>
                  </a:moveTo>
                  <a:lnTo>
                    <a:pt x="992759" y="76200"/>
                  </a:lnTo>
                  <a:lnTo>
                    <a:pt x="1056259" y="44450"/>
                  </a:lnTo>
                  <a:lnTo>
                    <a:pt x="1005459" y="44450"/>
                  </a:lnTo>
                  <a:lnTo>
                    <a:pt x="1005459" y="31750"/>
                  </a:lnTo>
                  <a:lnTo>
                    <a:pt x="1056259" y="31750"/>
                  </a:lnTo>
                  <a:lnTo>
                    <a:pt x="992759" y="0"/>
                  </a:lnTo>
                  <a:close/>
                </a:path>
                <a:path w="1069339" h="76200">
                  <a:moveTo>
                    <a:pt x="992759" y="31750"/>
                  </a:moveTo>
                  <a:lnTo>
                    <a:pt x="0" y="31750"/>
                  </a:lnTo>
                  <a:lnTo>
                    <a:pt x="0" y="44450"/>
                  </a:lnTo>
                  <a:lnTo>
                    <a:pt x="992759" y="44450"/>
                  </a:lnTo>
                  <a:lnTo>
                    <a:pt x="992759" y="31750"/>
                  </a:lnTo>
                  <a:close/>
                </a:path>
                <a:path w="1069339" h="76200">
                  <a:moveTo>
                    <a:pt x="1056259" y="31750"/>
                  </a:moveTo>
                  <a:lnTo>
                    <a:pt x="1005459" y="31750"/>
                  </a:lnTo>
                  <a:lnTo>
                    <a:pt x="1005459" y="44450"/>
                  </a:lnTo>
                  <a:lnTo>
                    <a:pt x="1056259" y="44450"/>
                  </a:lnTo>
                  <a:lnTo>
                    <a:pt x="1068959" y="38100"/>
                  </a:lnTo>
                  <a:lnTo>
                    <a:pt x="1056259" y="31750"/>
                  </a:lnTo>
                  <a:close/>
                </a:path>
              </a:pathLst>
            </a:custGeom>
            <a:solidFill>
              <a:srgbClr val="40B9D2"/>
            </a:solidFill>
          </p:spPr>
          <p:txBody>
            <a:bodyPr wrap="square" lIns="0" tIns="0" rIns="0" bIns="0" rtlCol="0"/>
            <a:lstStyle/>
            <a:p>
              <a:endParaRPr/>
            </a:p>
          </p:txBody>
        </p:sp>
        <p:sp>
          <p:nvSpPr>
            <p:cNvPr id="16" name="object 16"/>
            <p:cNvSpPr/>
            <p:nvPr/>
          </p:nvSpPr>
          <p:spPr>
            <a:xfrm>
              <a:off x="6079997" y="3280410"/>
              <a:ext cx="2691765" cy="1945005"/>
            </a:xfrm>
            <a:custGeom>
              <a:avLst/>
              <a:gdLst/>
              <a:ahLst/>
              <a:cxnLst/>
              <a:rect l="l" t="t" r="r" b="b"/>
              <a:pathLst>
                <a:path w="2691765" h="1945004">
                  <a:moveTo>
                    <a:pt x="0" y="1944624"/>
                  </a:moveTo>
                  <a:lnTo>
                    <a:pt x="2691383" y="1944624"/>
                  </a:lnTo>
                  <a:lnTo>
                    <a:pt x="2691383" y="0"/>
                  </a:lnTo>
                  <a:lnTo>
                    <a:pt x="0" y="0"/>
                  </a:lnTo>
                  <a:lnTo>
                    <a:pt x="0" y="1944624"/>
                  </a:lnTo>
                  <a:close/>
                </a:path>
              </a:pathLst>
            </a:custGeom>
            <a:ln w="10668">
              <a:solidFill>
                <a:srgbClr val="8BD5E3"/>
              </a:solidFill>
            </a:ln>
          </p:spPr>
          <p:txBody>
            <a:bodyPr wrap="square" lIns="0" tIns="0" rIns="0" bIns="0" rtlCol="0"/>
            <a:lstStyle/>
            <a:p>
              <a:endParaRPr/>
            </a:p>
          </p:txBody>
        </p:sp>
      </p:grpSp>
      <p:sp>
        <p:nvSpPr>
          <p:cNvPr id="17" name="object 17"/>
          <p:cNvSpPr txBox="1"/>
          <p:nvPr/>
        </p:nvSpPr>
        <p:spPr>
          <a:xfrm>
            <a:off x="4458080" y="3337052"/>
            <a:ext cx="6826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Leader</a:t>
            </a:r>
            <a:endParaRPr sz="1800">
              <a:latin typeface="Corbel"/>
              <a:cs typeface="Corbel"/>
            </a:endParaRPr>
          </a:p>
        </p:txBody>
      </p:sp>
      <p:sp>
        <p:nvSpPr>
          <p:cNvPr id="18" name="object 18"/>
          <p:cNvSpPr/>
          <p:nvPr/>
        </p:nvSpPr>
        <p:spPr>
          <a:xfrm>
            <a:off x="5177028" y="5667755"/>
            <a:ext cx="1069340" cy="76200"/>
          </a:xfrm>
          <a:custGeom>
            <a:avLst/>
            <a:gdLst/>
            <a:ahLst/>
            <a:cxnLst/>
            <a:rect l="l" t="t" r="r" b="b"/>
            <a:pathLst>
              <a:path w="1069339" h="76200">
                <a:moveTo>
                  <a:pt x="992759" y="0"/>
                </a:moveTo>
                <a:lnTo>
                  <a:pt x="992759" y="76200"/>
                </a:lnTo>
                <a:lnTo>
                  <a:pt x="1056259" y="44450"/>
                </a:lnTo>
                <a:lnTo>
                  <a:pt x="1005459" y="44450"/>
                </a:lnTo>
                <a:lnTo>
                  <a:pt x="1005459" y="31750"/>
                </a:lnTo>
                <a:lnTo>
                  <a:pt x="1056259" y="31750"/>
                </a:lnTo>
                <a:lnTo>
                  <a:pt x="992759" y="0"/>
                </a:lnTo>
                <a:close/>
              </a:path>
              <a:path w="1069339" h="76200">
                <a:moveTo>
                  <a:pt x="992759" y="31750"/>
                </a:moveTo>
                <a:lnTo>
                  <a:pt x="0" y="31750"/>
                </a:lnTo>
                <a:lnTo>
                  <a:pt x="0" y="44450"/>
                </a:lnTo>
                <a:lnTo>
                  <a:pt x="992759" y="44450"/>
                </a:lnTo>
                <a:lnTo>
                  <a:pt x="992759" y="31750"/>
                </a:lnTo>
                <a:close/>
              </a:path>
              <a:path w="1069339" h="76200">
                <a:moveTo>
                  <a:pt x="1056259" y="31750"/>
                </a:moveTo>
                <a:lnTo>
                  <a:pt x="1005459" y="31750"/>
                </a:lnTo>
                <a:lnTo>
                  <a:pt x="1005459" y="44450"/>
                </a:lnTo>
                <a:lnTo>
                  <a:pt x="1056259" y="44450"/>
                </a:lnTo>
                <a:lnTo>
                  <a:pt x="1068959" y="38100"/>
                </a:lnTo>
                <a:lnTo>
                  <a:pt x="1056259" y="31750"/>
                </a:lnTo>
                <a:close/>
              </a:path>
            </a:pathLst>
          </a:custGeom>
          <a:solidFill>
            <a:srgbClr val="40B9D2"/>
          </a:solidFill>
        </p:spPr>
        <p:txBody>
          <a:bodyPr wrap="square" lIns="0" tIns="0" rIns="0" bIns="0" rtlCol="0"/>
          <a:lstStyle/>
          <a:p>
            <a:endParaRPr/>
          </a:p>
        </p:txBody>
      </p:sp>
      <p:sp>
        <p:nvSpPr>
          <p:cNvPr id="19" name="object 19"/>
          <p:cNvSpPr txBox="1"/>
          <p:nvPr/>
        </p:nvSpPr>
        <p:spPr>
          <a:xfrm>
            <a:off x="4471161" y="5527040"/>
            <a:ext cx="6826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Leader</a:t>
            </a:r>
            <a:endParaRPr sz="1800">
              <a:latin typeface="Corbel"/>
              <a:cs typeface="Corbel"/>
            </a:endParaRPr>
          </a:p>
        </p:txBody>
      </p:sp>
      <p:sp>
        <p:nvSpPr>
          <p:cNvPr id="20" name="object 20"/>
          <p:cNvSpPr txBox="1"/>
          <p:nvPr/>
        </p:nvSpPr>
        <p:spPr>
          <a:xfrm>
            <a:off x="8941689" y="1635632"/>
            <a:ext cx="889635" cy="33083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8BD5E3"/>
                </a:solidFill>
                <a:latin typeface="Cambria"/>
                <a:cs typeface="Cambria"/>
              </a:rPr>
              <a:t>Block</a:t>
            </a:r>
            <a:r>
              <a:rPr sz="2000" b="1" spc="-15" dirty="0">
                <a:solidFill>
                  <a:srgbClr val="8BD5E3"/>
                </a:solidFill>
                <a:latin typeface="Cambria"/>
                <a:cs typeface="Cambria"/>
              </a:rPr>
              <a:t> </a:t>
            </a:r>
            <a:r>
              <a:rPr sz="2000" b="1" spc="-50" dirty="0">
                <a:solidFill>
                  <a:srgbClr val="8BD5E3"/>
                </a:solidFill>
                <a:latin typeface="Cambria"/>
                <a:cs typeface="Cambria"/>
              </a:rPr>
              <a:t>1</a:t>
            </a:r>
            <a:endParaRPr sz="2000">
              <a:latin typeface="Cambria"/>
              <a:cs typeface="Cambria"/>
            </a:endParaRPr>
          </a:p>
        </p:txBody>
      </p:sp>
      <p:sp>
        <p:nvSpPr>
          <p:cNvPr id="21" name="object 21"/>
          <p:cNvSpPr txBox="1"/>
          <p:nvPr/>
        </p:nvSpPr>
        <p:spPr>
          <a:xfrm>
            <a:off x="8941689" y="2556763"/>
            <a:ext cx="889635" cy="33083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8BD5E3"/>
                </a:solidFill>
                <a:latin typeface="Cambria"/>
                <a:cs typeface="Cambria"/>
              </a:rPr>
              <a:t>Block</a:t>
            </a:r>
            <a:r>
              <a:rPr sz="2000" b="1" spc="-15" dirty="0">
                <a:solidFill>
                  <a:srgbClr val="8BD5E3"/>
                </a:solidFill>
                <a:latin typeface="Cambria"/>
                <a:cs typeface="Cambria"/>
              </a:rPr>
              <a:t> </a:t>
            </a:r>
            <a:r>
              <a:rPr sz="2000" b="1" spc="-50" dirty="0">
                <a:solidFill>
                  <a:srgbClr val="8BD5E3"/>
                </a:solidFill>
                <a:latin typeface="Cambria"/>
                <a:cs typeface="Cambria"/>
              </a:rPr>
              <a:t>2</a:t>
            </a:r>
            <a:endParaRPr sz="2000">
              <a:latin typeface="Cambria"/>
              <a:cs typeface="Cambria"/>
            </a:endParaRPr>
          </a:p>
        </p:txBody>
      </p:sp>
      <p:sp>
        <p:nvSpPr>
          <p:cNvPr id="22" name="object 22"/>
          <p:cNvSpPr txBox="1"/>
          <p:nvPr/>
        </p:nvSpPr>
        <p:spPr>
          <a:xfrm>
            <a:off x="8941689" y="4042409"/>
            <a:ext cx="889635"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8BD5E3"/>
                </a:solidFill>
                <a:latin typeface="Cambria"/>
                <a:cs typeface="Cambria"/>
              </a:rPr>
              <a:t>Block</a:t>
            </a:r>
            <a:r>
              <a:rPr sz="2000" b="1" spc="-15" dirty="0">
                <a:solidFill>
                  <a:srgbClr val="8BD5E3"/>
                </a:solidFill>
                <a:latin typeface="Cambria"/>
                <a:cs typeface="Cambria"/>
              </a:rPr>
              <a:t> </a:t>
            </a:r>
            <a:r>
              <a:rPr sz="2000" b="1" spc="-50" dirty="0">
                <a:solidFill>
                  <a:srgbClr val="8BD5E3"/>
                </a:solidFill>
                <a:latin typeface="Cambria"/>
                <a:cs typeface="Cambria"/>
              </a:rPr>
              <a:t>3</a:t>
            </a:r>
            <a:endParaRPr sz="2000">
              <a:latin typeface="Cambria"/>
              <a:cs typeface="Cambria"/>
            </a:endParaRPr>
          </a:p>
        </p:txBody>
      </p:sp>
      <p:sp>
        <p:nvSpPr>
          <p:cNvPr id="23" name="object 23"/>
          <p:cNvSpPr txBox="1"/>
          <p:nvPr/>
        </p:nvSpPr>
        <p:spPr>
          <a:xfrm>
            <a:off x="8946006" y="5641949"/>
            <a:ext cx="889635"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8BD5E3"/>
                </a:solidFill>
                <a:latin typeface="Cambria"/>
                <a:cs typeface="Cambria"/>
              </a:rPr>
              <a:t>Block</a:t>
            </a:r>
            <a:r>
              <a:rPr sz="2000" b="1" spc="-15" dirty="0">
                <a:solidFill>
                  <a:srgbClr val="8BD5E3"/>
                </a:solidFill>
                <a:latin typeface="Cambria"/>
                <a:cs typeface="Cambria"/>
              </a:rPr>
              <a:t> </a:t>
            </a:r>
            <a:r>
              <a:rPr sz="2000" b="1" spc="-50" dirty="0">
                <a:solidFill>
                  <a:srgbClr val="8BD5E3"/>
                </a:solidFill>
                <a:latin typeface="Cambria"/>
                <a:cs typeface="Cambria"/>
              </a:rPr>
              <a:t>4</a:t>
            </a:r>
            <a:endParaRPr sz="2000">
              <a:latin typeface="Cambria"/>
              <a:cs typeface="Cambria"/>
            </a:endParaRPr>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331E6045-EFBE-DE9C-0973-77F149949FBD}"/>
                  </a:ext>
                </a:extLst>
              </p14:cNvPr>
              <p14:cNvContentPartPr/>
              <p14:nvPr/>
            </p14:nvContentPartPr>
            <p14:xfrm>
              <a:off x="5920624" y="2291146"/>
              <a:ext cx="25200" cy="25920"/>
            </p14:xfrm>
          </p:contentPart>
        </mc:Choice>
        <mc:Fallback xmlns="">
          <p:pic>
            <p:nvPicPr>
              <p:cNvPr id="24" name="Ink 23">
                <a:extLst>
                  <a:ext uri="{FF2B5EF4-FFF2-40B4-BE49-F238E27FC236}">
                    <a16:creationId xmlns:a16="http://schemas.microsoft.com/office/drawing/2014/main" id="{331E6045-EFBE-DE9C-0973-77F149949FBD}"/>
                  </a:ext>
                </a:extLst>
              </p:cNvPr>
              <p:cNvPicPr/>
              <p:nvPr/>
            </p:nvPicPr>
            <p:blipFill>
              <a:blip r:embed="rId3"/>
              <a:stretch>
                <a:fillRect/>
              </a:stretch>
            </p:blipFill>
            <p:spPr>
              <a:xfrm>
                <a:off x="5914504" y="2285026"/>
                <a:ext cx="37440" cy="3816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95" dirty="0">
                <a:solidFill>
                  <a:srgbClr val="FFFFFF"/>
                </a:solidFill>
                <a:latin typeface="Cambria"/>
                <a:cs typeface="Cambria"/>
              </a:rPr>
              <a:t>Flow</a:t>
            </a:r>
            <a:r>
              <a:rPr sz="3600" b="1" spc="-100" dirty="0">
                <a:solidFill>
                  <a:srgbClr val="FFFFFF"/>
                </a:solidFill>
                <a:latin typeface="Cambria"/>
                <a:cs typeface="Cambria"/>
              </a:rPr>
              <a:t> </a:t>
            </a:r>
            <a:r>
              <a:rPr sz="3600" b="1" spc="-10" dirty="0">
                <a:solidFill>
                  <a:srgbClr val="FFFFFF"/>
                </a:solidFill>
                <a:latin typeface="Cambria"/>
                <a:cs typeface="Cambria"/>
              </a:rPr>
              <a:t>Graphs</a:t>
            </a:r>
            <a:endParaRPr sz="3600">
              <a:latin typeface="Cambria"/>
              <a:cs typeface="Cambria"/>
            </a:endParaRPr>
          </a:p>
        </p:txBody>
      </p:sp>
      <p:sp>
        <p:nvSpPr>
          <p:cNvPr id="3" name="object 3"/>
          <p:cNvSpPr txBox="1"/>
          <p:nvPr/>
        </p:nvSpPr>
        <p:spPr>
          <a:xfrm>
            <a:off x="3582161" y="1477743"/>
            <a:ext cx="8077834" cy="2476500"/>
          </a:xfrm>
          <a:prstGeom prst="rect">
            <a:avLst/>
          </a:prstGeom>
        </p:spPr>
        <p:txBody>
          <a:bodyPr vert="horz" wrap="square" lIns="0" tIns="49530" rIns="0" bIns="0" rtlCol="0">
            <a:spAutoFit/>
          </a:bodyPr>
          <a:lstStyle/>
          <a:p>
            <a:pPr marL="195580" marR="930275" indent="-183515">
              <a:lnSpc>
                <a:spcPts val="2380"/>
              </a:lnSpc>
              <a:spcBef>
                <a:spcPts val="3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a:t>
            </a:r>
            <a:r>
              <a:rPr sz="2200" spc="-85" dirty="0">
                <a:latin typeface="Cambria"/>
                <a:cs typeface="Cambria"/>
              </a:rPr>
              <a:t> </a:t>
            </a:r>
            <a:r>
              <a:rPr sz="2200" dirty="0">
                <a:latin typeface="Cambria"/>
                <a:cs typeface="Cambria"/>
              </a:rPr>
              <a:t>flow</a:t>
            </a:r>
            <a:r>
              <a:rPr sz="2200" spc="-35" dirty="0">
                <a:latin typeface="Cambria"/>
                <a:cs typeface="Cambria"/>
              </a:rPr>
              <a:t> </a:t>
            </a:r>
            <a:r>
              <a:rPr sz="2200" dirty="0">
                <a:latin typeface="Cambria"/>
                <a:cs typeface="Cambria"/>
              </a:rPr>
              <a:t>graph</a:t>
            </a:r>
            <a:r>
              <a:rPr sz="2200" spc="-25"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a</a:t>
            </a:r>
            <a:r>
              <a:rPr sz="2200" spc="-25" dirty="0">
                <a:latin typeface="Cambria"/>
                <a:cs typeface="Cambria"/>
              </a:rPr>
              <a:t> </a:t>
            </a:r>
            <a:r>
              <a:rPr sz="2200" spc="-10" dirty="0">
                <a:latin typeface="Cambria"/>
                <a:cs typeface="Cambria"/>
              </a:rPr>
              <a:t>graphical</a:t>
            </a:r>
            <a:r>
              <a:rPr sz="2200" spc="-20" dirty="0">
                <a:latin typeface="Cambria"/>
                <a:cs typeface="Cambria"/>
              </a:rPr>
              <a:t> </a:t>
            </a:r>
            <a:r>
              <a:rPr sz="2200" spc="-10" dirty="0">
                <a:latin typeface="Cambria"/>
                <a:cs typeface="Cambria"/>
              </a:rPr>
              <a:t>representation</a:t>
            </a:r>
            <a:r>
              <a:rPr sz="2200" spc="5" dirty="0">
                <a:latin typeface="Cambria"/>
                <a:cs typeface="Cambria"/>
              </a:rPr>
              <a:t> </a:t>
            </a:r>
            <a:r>
              <a:rPr sz="2200" dirty="0">
                <a:latin typeface="Cambria"/>
                <a:cs typeface="Cambria"/>
              </a:rPr>
              <a:t>of</a:t>
            </a:r>
            <a:r>
              <a:rPr sz="2200" spc="-40" dirty="0">
                <a:latin typeface="Cambria"/>
                <a:cs typeface="Cambria"/>
              </a:rPr>
              <a:t> </a:t>
            </a:r>
            <a:r>
              <a:rPr sz="2200" dirty="0">
                <a:latin typeface="Cambria"/>
                <a:cs typeface="Cambria"/>
              </a:rPr>
              <a:t>a</a:t>
            </a:r>
            <a:r>
              <a:rPr sz="2200" spc="-45" dirty="0">
                <a:latin typeface="Cambria"/>
                <a:cs typeface="Cambria"/>
              </a:rPr>
              <a:t> </a:t>
            </a:r>
            <a:r>
              <a:rPr sz="2200" dirty="0">
                <a:latin typeface="Cambria"/>
                <a:cs typeface="Cambria"/>
              </a:rPr>
              <a:t>sequence</a:t>
            </a:r>
            <a:r>
              <a:rPr sz="2200" spc="-15" dirty="0">
                <a:latin typeface="Cambria"/>
                <a:cs typeface="Cambria"/>
              </a:rPr>
              <a:t> </a:t>
            </a:r>
            <a:r>
              <a:rPr sz="2200" spc="-25" dirty="0">
                <a:latin typeface="Cambria"/>
                <a:cs typeface="Cambria"/>
              </a:rPr>
              <a:t>of </a:t>
            </a:r>
            <a:r>
              <a:rPr sz="2200" dirty="0">
                <a:latin typeface="Cambria"/>
                <a:cs typeface="Cambria"/>
              </a:rPr>
              <a:t>instructions</a:t>
            </a:r>
            <a:r>
              <a:rPr sz="2200" spc="-60" dirty="0">
                <a:latin typeface="Cambria"/>
                <a:cs typeface="Cambria"/>
              </a:rPr>
              <a:t> </a:t>
            </a:r>
            <a:r>
              <a:rPr sz="2200" dirty="0">
                <a:latin typeface="Cambria"/>
                <a:cs typeface="Cambria"/>
              </a:rPr>
              <a:t>with</a:t>
            </a:r>
            <a:r>
              <a:rPr sz="2200" spc="-65" dirty="0">
                <a:latin typeface="Cambria"/>
                <a:cs typeface="Cambria"/>
              </a:rPr>
              <a:t> </a:t>
            </a:r>
            <a:r>
              <a:rPr sz="2200" dirty="0">
                <a:latin typeface="Cambria"/>
                <a:cs typeface="Cambria"/>
              </a:rPr>
              <a:t>control</a:t>
            </a:r>
            <a:r>
              <a:rPr sz="2200" spc="-55" dirty="0">
                <a:latin typeface="Cambria"/>
                <a:cs typeface="Cambria"/>
              </a:rPr>
              <a:t> </a:t>
            </a:r>
            <a:r>
              <a:rPr sz="2200" dirty="0">
                <a:latin typeface="Cambria"/>
                <a:cs typeface="Cambria"/>
              </a:rPr>
              <a:t>flow</a:t>
            </a:r>
            <a:r>
              <a:rPr sz="2200" spc="-70" dirty="0">
                <a:latin typeface="Cambria"/>
                <a:cs typeface="Cambria"/>
              </a:rPr>
              <a:t> </a:t>
            </a:r>
            <a:r>
              <a:rPr sz="2200" spc="-10" dirty="0">
                <a:latin typeface="Cambria"/>
                <a:cs typeface="Cambria"/>
              </a:rPr>
              <a:t>edges.</a:t>
            </a:r>
            <a:endParaRPr sz="2200" dirty="0">
              <a:latin typeface="Cambria"/>
              <a:cs typeface="Cambria"/>
            </a:endParaRPr>
          </a:p>
          <a:p>
            <a:pPr marL="195580" marR="646430" indent="-183515">
              <a:lnSpc>
                <a:spcPts val="2380"/>
              </a:lnSpc>
              <a:spcBef>
                <a:spcPts val="11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a:t>
            </a:r>
            <a:r>
              <a:rPr sz="2200" spc="-105" dirty="0">
                <a:latin typeface="Cambria"/>
                <a:cs typeface="Cambria"/>
              </a:rPr>
              <a:t> </a:t>
            </a:r>
            <a:r>
              <a:rPr sz="2200" dirty="0">
                <a:latin typeface="Cambria"/>
                <a:cs typeface="Cambria"/>
              </a:rPr>
              <a:t>flow</a:t>
            </a:r>
            <a:r>
              <a:rPr sz="2200" spc="-40" dirty="0">
                <a:latin typeface="Cambria"/>
                <a:cs typeface="Cambria"/>
              </a:rPr>
              <a:t> </a:t>
            </a:r>
            <a:r>
              <a:rPr sz="2200" dirty="0">
                <a:latin typeface="Cambria"/>
                <a:cs typeface="Cambria"/>
              </a:rPr>
              <a:t>graph</a:t>
            </a:r>
            <a:r>
              <a:rPr sz="2200" spc="-30" dirty="0">
                <a:latin typeface="Cambria"/>
                <a:cs typeface="Cambria"/>
              </a:rPr>
              <a:t> </a:t>
            </a:r>
            <a:r>
              <a:rPr sz="2200" dirty="0">
                <a:latin typeface="Cambria"/>
                <a:cs typeface="Cambria"/>
              </a:rPr>
              <a:t>can</a:t>
            </a:r>
            <a:r>
              <a:rPr sz="2200" spc="-45" dirty="0">
                <a:latin typeface="Cambria"/>
                <a:cs typeface="Cambria"/>
              </a:rPr>
              <a:t> </a:t>
            </a:r>
            <a:r>
              <a:rPr sz="2200" dirty="0">
                <a:latin typeface="Cambria"/>
                <a:cs typeface="Cambria"/>
              </a:rPr>
              <a:t>be</a:t>
            </a:r>
            <a:r>
              <a:rPr sz="2200" spc="-50" dirty="0">
                <a:latin typeface="Cambria"/>
                <a:cs typeface="Cambria"/>
              </a:rPr>
              <a:t> </a:t>
            </a:r>
            <a:r>
              <a:rPr sz="2200" dirty="0">
                <a:latin typeface="Cambria"/>
                <a:cs typeface="Cambria"/>
              </a:rPr>
              <a:t>defined</a:t>
            </a:r>
            <a:r>
              <a:rPr sz="2200" spc="-15" dirty="0">
                <a:latin typeface="Cambria"/>
                <a:cs typeface="Cambria"/>
              </a:rPr>
              <a:t> </a:t>
            </a:r>
            <a:r>
              <a:rPr sz="2200" dirty="0">
                <a:latin typeface="Cambria"/>
                <a:cs typeface="Cambria"/>
              </a:rPr>
              <a:t>at</a:t>
            </a:r>
            <a:r>
              <a:rPr sz="2200" spc="-45" dirty="0">
                <a:latin typeface="Cambria"/>
                <a:cs typeface="Cambria"/>
              </a:rPr>
              <a:t> </a:t>
            </a:r>
            <a:r>
              <a:rPr sz="2200" dirty="0">
                <a:latin typeface="Cambria"/>
                <a:cs typeface="Cambria"/>
              </a:rPr>
              <a:t>the</a:t>
            </a:r>
            <a:r>
              <a:rPr sz="2200" spc="-35" dirty="0">
                <a:latin typeface="Cambria"/>
                <a:cs typeface="Cambria"/>
              </a:rPr>
              <a:t> </a:t>
            </a:r>
            <a:r>
              <a:rPr sz="2200" spc="-10" dirty="0">
                <a:latin typeface="Cambria"/>
                <a:cs typeface="Cambria"/>
              </a:rPr>
              <a:t>intermediate</a:t>
            </a:r>
            <a:r>
              <a:rPr sz="2200" spc="-5" dirty="0">
                <a:latin typeface="Cambria"/>
                <a:cs typeface="Cambria"/>
              </a:rPr>
              <a:t> </a:t>
            </a:r>
            <a:r>
              <a:rPr sz="2200" dirty="0">
                <a:latin typeface="Cambria"/>
                <a:cs typeface="Cambria"/>
              </a:rPr>
              <a:t>code</a:t>
            </a:r>
            <a:r>
              <a:rPr sz="2200" spc="-35" dirty="0">
                <a:latin typeface="Cambria"/>
                <a:cs typeface="Cambria"/>
              </a:rPr>
              <a:t> </a:t>
            </a:r>
            <a:r>
              <a:rPr sz="2200" dirty="0">
                <a:latin typeface="Cambria"/>
                <a:cs typeface="Cambria"/>
              </a:rPr>
              <a:t>level</a:t>
            </a:r>
            <a:r>
              <a:rPr sz="2200" spc="-15" dirty="0">
                <a:latin typeface="Cambria"/>
                <a:cs typeface="Cambria"/>
              </a:rPr>
              <a:t> </a:t>
            </a:r>
            <a:r>
              <a:rPr sz="2200" spc="-25" dirty="0">
                <a:latin typeface="Cambria"/>
                <a:cs typeface="Cambria"/>
              </a:rPr>
              <a:t>or </a:t>
            </a:r>
            <a:r>
              <a:rPr sz="2200" dirty="0">
                <a:latin typeface="Cambria"/>
                <a:cs typeface="Cambria"/>
              </a:rPr>
              <a:t>target</a:t>
            </a:r>
            <a:r>
              <a:rPr sz="2200" spc="-30" dirty="0">
                <a:latin typeface="Cambria"/>
                <a:cs typeface="Cambria"/>
              </a:rPr>
              <a:t> </a:t>
            </a:r>
            <a:r>
              <a:rPr sz="2200" dirty="0">
                <a:latin typeface="Cambria"/>
                <a:cs typeface="Cambria"/>
              </a:rPr>
              <a:t>code</a:t>
            </a:r>
            <a:r>
              <a:rPr sz="2200" spc="-50" dirty="0">
                <a:latin typeface="Cambria"/>
                <a:cs typeface="Cambria"/>
              </a:rPr>
              <a:t> </a:t>
            </a:r>
            <a:r>
              <a:rPr sz="2200" spc="-10" dirty="0">
                <a:latin typeface="Cambria"/>
                <a:cs typeface="Cambria"/>
              </a:rPr>
              <a:t>level.</a:t>
            </a:r>
            <a:endParaRPr sz="2200" dirty="0">
              <a:latin typeface="Cambria"/>
              <a:cs typeface="Cambria"/>
            </a:endParaRPr>
          </a:p>
          <a:p>
            <a:pPr marL="195580" marR="5080" indent="-183515">
              <a:lnSpc>
                <a:spcPct val="90000"/>
              </a:lnSpc>
              <a:spcBef>
                <a:spcPts val="116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a:t>
            </a:r>
            <a:r>
              <a:rPr sz="2200" spc="-114" dirty="0">
                <a:latin typeface="Cambria"/>
                <a:cs typeface="Cambria"/>
              </a:rPr>
              <a:t> </a:t>
            </a:r>
            <a:r>
              <a:rPr sz="2200" dirty="0">
                <a:latin typeface="Cambria"/>
                <a:cs typeface="Cambria"/>
              </a:rPr>
              <a:t>control</a:t>
            </a:r>
            <a:r>
              <a:rPr sz="2200" spc="-40" dirty="0">
                <a:latin typeface="Cambria"/>
                <a:cs typeface="Cambria"/>
              </a:rPr>
              <a:t> </a:t>
            </a:r>
            <a:r>
              <a:rPr sz="2200" dirty="0">
                <a:latin typeface="Cambria"/>
                <a:cs typeface="Cambria"/>
              </a:rPr>
              <a:t>flow</a:t>
            </a:r>
            <a:r>
              <a:rPr sz="2200" spc="-55" dirty="0">
                <a:latin typeface="Cambria"/>
                <a:cs typeface="Cambria"/>
              </a:rPr>
              <a:t> </a:t>
            </a:r>
            <a:r>
              <a:rPr sz="2200" dirty="0">
                <a:latin typeface="Cambria"/>
                <a:cs typeface="Cambria"/>
              </a:rPr>
              <a:t>graph</a:t>
            </a:r>
            <a:r>
              <a:rPr sz="2200" spc="-40" dirty="0">
                <a:latin typeface="Cambria"/>
                <a:cs typeface="Cambria"/>
              </a:rPr>
              <a:t> </a:t>
            </a:r>
            <a:r>
              <a:rPr sz="2200" dirty="0">
                <a:latin typeface="Cambria"/>
                <a:cs typeface="Cambria"/>
              </a:rPr>
              <a:t>(CFG)</a:t>
            </a:r>
            <a:r>
              <a:rPr sz="2200" spc="-40" dirty="0">
                <a:latin typeface="Cambria"/>
                <a:cs typeface="Cambria"/>
              </a:rPr>
              <a:t> </a:t>
            </a:r>
            <a:r>
              <a:rPr sz="2200" dirty="0">
                <a:latin typeface="Cambria"/>
                <a:cs typeface="Cambria"/>
              </a:rPr>
              <a:t>is</a:t>
            </a:r>
            <a:r>
              <a:rPr sz="2200" spc="-55" dirty="0">
                <a:latin typeface="Cambria"/>
                <a:cs typeface="Cambria"/>
              </a:rPr>
              <a:t> </a:t>
            </a:r>
            <a:r>
              <a:rPr sz="2200" dirty="0">
                <a:latin typeface="Cambria"/>
                <a:cs typeface="Cambria"/>
              </a:rPr>
              <a:t>a</a:t>
            </a:r>
            <a:r>
              <a:rPr sz="2200" spc="-40" dirty="0">
                <a:latin typeface="Cambria"/>
                <a:cs typeface="Cambria"/>
              </a:rPr>
              <a:t> </a:t>
            </a:r>
            <a:r>
              <a:rPr sz="2200" dirty="0">
                <a:latin typeface="Cambria"/>
                <a:cs typeface="Cambria"/>
              </a:rPr>
              <a:t>directed</a:t>
            </a:r>
            <a:r>
              <a:rPr sz="2200" spc="-25" dirty="0">
                <a:latin typeface="Cambria"/>
                <a:cs typeface="Cambria"/>
              </a:rPr>
              <a:t> </a:t>
            </a:r>
            <a:r>
              <a:rPr sz="2200" dirty="0">
                <a:latin typeface="Cambria"/>
                <a:cs typeface="Cambria"/>
              </a:rPr>
              <a:t>graph</a:t>
            </a:r>
            <a:r>
              <a:rPr sz="2200" spc="-35" dirty="0">
                <a:latin typeface="Cambria"/>
                <a:cs typeface="Cambria"/>
              </a:rPr>
              <a:t> </a:t>
            </a:r>
            <a:r>
              <a:rPr sz="2200" dirty="0">
                <a:latin typeface="Cambria"/>
                <a:cs typeface="Cambria"/>
              </a:rPr>
              <a:t>with</a:t>
            </a:r>
            <a:r>
              <a:rPr sz="2200" spc="-45" dirty="0">
                <a:latin typeface="Cambria"/>
                <a:cs typeface="Cambria"/>
              </a:rPr>
              <a:t> </a:t>
            </a:r>
            <a:r>
              <a:rPr sz="2200" dirty="0">
                <a:latin typeface="Cambria"/>
                <a:cs typeface="Cambria"/>
              </a:rPr>
              <a:t>basic</a:t>
            </a:r>
            <a:r>
              <a:rPr sz="2200" spc="-35" dirty="0">
                <a:latin typeface="Cambria"/>
                <a:cs typeface="Cambria"/>
              </a:rPr>
              <a:t> </a:t>
            </a:r>
            <a:r>
              <a:rPr sz="2200" dirty="0">
                <a:latin typeface="Cambria"/>
                <a:cs typeface="Cambria"/>
              </a:rPr>
              <a:t>blocks</a:t>
            </a:r>
            <a:r>
              <a:rPr sz="2200" spc="-55" dirty="0">
                <a:latin typeface="Cambria"/>
                <a:cs typeface="Cambria"/>
              </a:rPr>
              <a:t> </a:t>
            </a:r>
            <a:r>
              <a:rPr sz="2200" spc="-25" dirty="0">
                <a:latin typeface="Cambria"/>
                <a:cs typeface="Cambria"/>
              </a:rPr>
              <a:t>Bi </a:t>
            </a:r>
            <a:r>
              <a:rPr sz="2200" dirty="0">
                <a:latin typeface="Cambria"/>
                <a:cs typeface="Cambria"/>
              </a:rPr>
              <a:t>as</a:t>
            </a:r>
            <a:r>
              <a:rPr sz="2200" spc="-40" dirty="0">
                <a:latin typeface="Cambria"/>
                <a:cs typeface="Cambria"/>
              </a:rPr>
              <a:t> </a:t>
            </a:r>
            <a:r>
              <a:rPr sz="2200" dirty="0">
                <a:latin typeface="Cambria"/>
                <a:cs typeface="Cambria"/>
              </a:rPr>
              <a:t>vertices</a:t>
            </a:r>
            <a:r>
              <a:rPr sz="2200" spc="5" dirty="0">
                <a:latin typeface="Cambria"/>
                <a:cs typeface="Cambria"/>
              </a:rPr>
              <a:t> </a:t>
            </a:r>
            <a:r>
              <a:rPr sz="2200" dirty="0">
                <a:latin typeface="Cambria"/>
                <a:cs typeface="Cambria"/>
              </a:rPr>
              <a:t>and</a:t>
            </a:r>
            <a:r>
              <a:rPr sz="2200" spc="-10" dirty="0">
                <a:latin typeface="Cambria"/>
                <a:cs typeface="Cambria"/>
              </a:rPr>
              <a:t> </a:t>
            </a:r>
            <a:r>
              <a:rPr sz="2200" dirty="0">
                <a:latin typeface="Cambria"/>
                <a:cs typeface="Cambria"/>
              </a:rPr>
              <a:t>with</a:t>
            </a:r>
            <a:r>
              <a:rPr sz="2200" spc="-30" dirty="0">
                <a:latin typeface="Cambria"/>
                <a:cs typeface="Cambria"/>
              </a:rPr>
              <a:t> </a:t>
            </a:r>
            <a:r>
              <a:rPr sz="2200" dirty="0">
                <a:latin typeface="Cambria"/>
                <a:cs typeface="Cambria"/>
              </a:rPr>
              <a:t>edges</a:t>
            </a:r>
            <a:r>
              <a:rPr sz="2200" spc="-15" dirty="0">
                <a:latin typeface="Cambria"/>
                <a:cs typeface="Cambria"/>
              </a:rPr>
              <a:t> </a:t>
            </a:r>
            <a:r>
              <a:rPr sz="2200" dirty="0">
                <a:latin typeface="Cambria"/>
                <a:cs typeface="Cambria"/>
              </a:rPr>
              <a:t>Bi</a:t>
            </a:r>
            <a:r>
              <a:rPr sz="2200" spc="-25" dirty="0">
                <a:latin typeface="Cambria"/>
                <a:cs typeface="Cambria"/>
              </a:rPr>
              <a:t> </a:t>
            </a:r>
            <a:r>
              <a:rPr sz="2200" dirty="0">
                <a:latin typeface="Cambria"/>
                <a:cs typeface="Cambria"/>
              </a:rPr>
              <a:t>-&gt;</a:t>
            </a:r>
            <a:r>
              <a:rPr sz="2200" spc="-40" dirty="0">
                <a:latin typeface="Cambria"/>
                <a:cs typeface="Cambria"/>
              </a:rPr>
              <a:t> </a:t>
            </a:r>
            <a:r>
              <a:rPr sz="2200" dirty="0">
                <a:latin typeface="Cambria"/>
                <a:cs typeface="Cambria"/>
              </a:rPr>
              <a:t>Bj</a:t>
            </a:r>
            <a:r>
              <a:rPr sz="2200" spc="-15" dirty="0">
                <a:latin typeface="Cambria"/>
                <a:cs typeface="Cambria"/>
              </a:rPr>
              <a:t> </a:t>
            </a:r>
            <a:r>
              <a:rPr sz="2200" dirty="0">
                <a:latin typeface="Cambria"/>
                <a:cs typeface="Cambria"/>
              </a:rPr>
              <a:t>if</a:t>
            </a:r>
            <a:r>
              <a:rPr sz="2200" spc="-40" dirty="0">
                <a:latin typeface="Cambria"/>
                <a:cs typeface="Cambria"/>
              </a:rPr>
              <a:t> </a:t>
            </a:r>
            <a:r>
              <a:rPr sz="2200" dirty="0">
                <a:latin typeface="Cambria"/>
                <a:cs typeface="Cambria"/>
              </a:rPr>
              <a:t>Bj</a:t>
            </a:r>
            <a:r>
              <a:rPr sz="2200" spc="-10" dirty="0">
                <a:latin typeface="Cambria"/>
                <a:cs typeface="Cambria"/>
              </a:rPr>
              <a:t> </a:t>
            </a:r>
            <a:r>
              <a:rPr sz="2200" dirty="0">
                <a:latin typeface="Cambria"/>
                <a:cs typeface="Cambria"/>
              </a:rPr>
              <a:t>can</a:t>
            </a:r>
            <a:r>
              <a:rPr sz="2200" spc="-35" dirty="0">
                <a:latin typeface="Cambria"/>
                <a:cs typeface="Cambria"/>
              </a:rPr>
              <a:t> </a:t>
            </a:r>
            <a:r>
              <a:rPr sz="2200" dirty="0">
                <a:latin typeface="Cambria"/>
                <a:cs typeface="Cambria"/>
              </a:rPr>
              <a:t>be</a:t>
            </a:r>
            <a:r>
              <a:rPr sz="2200" spc="-40" dirty="0">
                <a:latin typeface="Cambria"/>
                <a:cs typeface="Cambria"/>
              </a:rPr>
              <a:t> </a:t>
            </a:r>
            <a:r>
              <a:rPr sz="2200" spc="-10" dirty="0">
                <a:latin typeface="Cambria"/>
                <a:cs typeface="Cambria"/>
              </a:rPr>
              <a:t>executed immediately</a:t>
            </a:r>
            <a:r>
              <a:rPr sz="2200" spc="-50" dirty="0">
                <a:latin typeface="Cambria"/>
                <a:cs typeface="Cambria"/>
              </a:rPr>
              <a:t> </a:t>
            </a:r>
            <a:r>
              <a:rPr sz="2200" dirty="0">
                <a:latin typeface="Cambria"/>
                <a:cs typeface="Cambria"/>
              </a:rPr>
              <a:t>after</a:t>
            </a:r>
            <a:r>
              <a:rPr sz="2200" spc="-60" dirty="0">
                <a:latin typeface="Cambria"/>
                <a:cs typeface="Cambria"/>
              </a:rPr>
              <a:t> </a:t>
            </a:r>
            <a:r>
              <a:rPr sz="2200" spc="-25" dirty="0">
                <a:latin typeface="Cambria"/>
                <a:cs typeface="Cambria"/>
              </a:rPr>
              <a:t>Bi</a:t>
            </a:r>
            <a:endParaRPr sz="2200" dirty="0">
              <a:latin typeface="Cambria"/>
              <a:cs typeface="Cambria"/>
            </a:endParaRPr>
          </a:p>
        </p:txBody>
      </p:sp>
      <p:sp>
        <p:nvSpPr>
          <p:cNvPr id="4" name="object 4"/>
          <p:cNvSpPr txBox="1"/>
          <p:nvPr/>
        </p:nvSpPr>
        <p:spPr>
          <a:xfrm>
            <a:off x="3444240" y="4160595"/>
            <a:ext cx="4740275" cy="1843405"/>
          </a:xfrm>
          <a:prstGeom prst="rect">
            <a:avLst/>
          </a:prstGeom>
        </p:spPr>
        <p:txBody>
          <a:bodyPr vert="horz" wrap="square" lIns="0" tIns="132080" rIns="0" bIns="0" rtlCol="0">
            <a:spAutoFit/>
          </a:bodyPr>
          <a:lstStyle/>
          <a:p>
            <a:pPr marL="12700">
              <a:lnSpc>
                <a:spcPct val="100000"/>
              </a:lnSpc>
              <a:spcBef>
                <a:spcPts val="1040"/>
              </a:spcBef>
            </a:pPr>
            <a:r>
              <a:rPr sz="2200" b="1" dirty="0">
                <a:latin typeface="Cambria"/>
                <a:cs typeface="Cambria"/>
              </a:rPr>
              <a:t>Successor</a:t>
            </a:r>
            <a:r>
              <a:rPr sz="2200" b="1" spc="-50" dirty="0">
                <a:latin typeface="Cambria"/>
                <a:cs typeface="Cambria"/>
              </a:rPr>
              <a:t> </a:t>
            </a:r>
            <a:r>
              <a:rPr sz="2200" b="1" dirty="0">
                <a:latin typeface="Cambria"/>
                <a:cs typeface="Cambria"/>
              </a:rPr>
              <a:t>and</a:t>
            </a:r>
            <a:r>
              <a:rPr sz="2200" b="1" spc="-50" dirty="0">
                <a:latin typeface="Cambria"/>
                <a:cs typeface="Cambria"/>
              </a:rPr>
              <a:t> </a:t>
            </a:r>
            <a:r>
              <a:rPr sz="2200" b="1" dirty="0">
                <a:latin typeface="Cambria"/>
                <a:cs typeface="Cambria"/>
              </a:rPr>
              <a:t>Predecessor</a:t>
            </a:r>
            <a:r>
              <a:rPr sz="2200" b="1" spc="-40" dirty="0">
                <a:latin typeface="Cambria"/>
                <a:cs typeface="Cambria"/>
              </a:rPr>
              <a:t> </a:t>
            </a:r>
            <a:r>
              <a:rPr sz="2200" b="1" spc="-10" dirty="0">
                <a:latin typeface="Cambria"/>
                <a:cs typeface="Cambria"/>
              </a:rPr>
              <a:t>Blocks:</a:t>
            </a:r>
            <a:endParaRPr sz="2200" dirty="0">
              <a:latin typeface="Cambria"/>
              <a:cs typeface="Cambria"/>
            </a:endParaRPr>
          </a:p>
          <a:p>
            <a:pPr marL="12700">
              <a:lnSpc>
                <a:spcPct val="100000"/>
              </a:lnSpc>
              <a:spcBef>
                <a:spcPts val="9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Suppose</a:t>
            </a:r>
            <a:r>
              <a:rPr sz="2200" spc="-70" dirty="0">
                <a:latin typeface="Cambria"/>
                <a:cs typeface="Cambria"/>
              </a:rPr>
              <a:t> </a:t>
            </a:r>
            <a:r>
              <a:rPr sz="2200" dirty="0">
                <a:latin typeface="Cambria"/>
                <a:cs typeface="Cambria"/>
              </a:rPr>
              <a:t>the</a:t>
            </a:r>
            <a:r>
              <a:rPr sz="2200" spc="-15" dirty="0">
                <a:latin typeface="Cambria"/>
                <a:cs typeface="Cambria"/>
              </a:rPr>
              <a:t> </a:t>
            </a:r>
            <a:r>
              <a:rPr sz="2200" dirty="0">
                <a:latin typeface="Cambria"/>
                <a:cs typeface="Cambria"/>
              </a:rPr>
              <a:t>CFG</a:t>
            </a:r>
            <a:r>
              <a:rPr sz="2200" spc="-25" dirty="0">
                <a:latin typeface="Cambria"/>
                <a:cs typeface="Cambria"/>
              </a:rPr>
              <a:t> </a:t>
            </a:r>
            <a:r>
              <a:rPr sz="2200" dirty="0">
                <a:latin typeface="Cambria"/>
                <a:cs typeface="Cambria"/>
              </a:rPr>
              <a:t>has</a:t>
            </a:r>
            <a:r>
              <a:rPr sz="2200" spc="-25" dirty="0">
                <a:latin typeface="Cambria"/>
                <a:cs typeface="Cambria"/>
              </a:rPr>
              <a:t> </a:t>
            </a:r>
            <a:r>
              <a:rPr sz="2200" dirty="0">
                <a:latin typeface="Cambria"/>
                <a:cs typeface="Cambria"/>
              </a:rPr>
              <a:t>an</a:t>
            </a:r>
            <a:r>
              <a:rPr sz="2200" spc="-35" dirty="0">
                <a:latin typeface="Cambria"/>
                <a:cs typeface="Cambria"/>
              </a:rPr>
              <a:t> </a:t>
            </a:r>
            <a:r>
              <a:rPr sz="2200" dirty="0">
                <a:latin typeface="Cambria"/>
                <a:cs typeface="Cambria"/>
              </a:rPr>
              <a:t>edge</a:t>
            </a:r>
            <a:r>
              <a:rPr sz="2200" spc="-5" dirty="0">
                <a:latin typeface="Cambria"/>
                <a:cs typeface="Cambria"/>
              </a:rPr>
              <a:t> </a:t>
            </a:r>
            <a:r>
              <a:rPr sz="2200" dirty="0">
                <a:latin typeface="Cambria"/>
                <a:cs typeface="Cambria"/>
              </a:rPr>
              <a:t>B1</a:t>
            </a:r>
            <a:r>
              <a:rPr sz="2200" spc="-20" dirty="0">
                <a:latin typeface="Cambria"/>
                <a:cs typeface="Cambria"/>
              </a:rPr>
              <a:t> </a:t>
            </a:r>
            <a:r>
              <a:rPr sz="2200" dirty="0">
                <a:latin typeface="Cambria"/>
                <a:cs typeface="Cambria"/>
              </a:rPr>
              <a:t>-&gt;</a:t>
            </a:r>
            <a:r>
              <a:rPr sz="2200" spc="-40" dirty="0">
                <a:latin typeface="Cambria"/>
                <a:cs typeface="Cambria"/>
              </a:rPr>
              <a:t> </a:t>
            </a:r>
            <a:r>
              <a:rPr sz="2200" spc="-25" dirty="0">
                <a:latin typeface="Cambria"/>
                <a:cs typeface="Cambria"/>
              </a:rPr>
              <a:t>B2</a:t>
            </a:r>
            <a:endParaRPr sz="2200" dirty="0">
              <a:latin typeface="Cambria"/>
              <a:cs typeface="Cambria"/>
            </a:endParaRPr>
          </a:p>
          <a:p>
            <a:pPr marL="12700">
              <a:lnSpc>
                <a:spcPct val="100000"/>
              </a:lnSpc>
              <a:spcBef>
                <a:spcPts val="9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Basic</a:t>
            </a:r>
            <a:r>
              <a:rPr sz="2200" spc="-70" dirty="0">
                <a:latin typeface="Cambria"/>
                <a:cs typeface="Cambria"/>
              </a:rPr>
              <a:t> </a:t>
            </a:r>
            <a:r>
              <a:rPr sz="2200" dirty="0">
                <a:latin typeface="Cambria"/>
                <a:cs typeface="Cambria"/>
              </a:rPr>
              <a:t>block</a:t>
            </a:r>
            <a:r>
              <a:rPr sz="2200" spc="-30" dirty="0">
                <a:latin typeface="Cambria"/>
                <a:cs typeface="Cambria"/>
              </a:rPr>
              <a:t> </a:t>
            </a:r>
            <a:r>
              <a:rPr sz="2200" dirty="0">
                <a:latin typeface="Cambria"/>
                <a:cs typeface="Cambria"/>
              </a:rPr>
              <a:t>B1</a:t>
            </a:r>
            <a:r>
              <a:rPr sz="2200" spc="-40" dirty="0">
                <a:latin typeface="Cambria"/>
                <a:cs typeface="Cambria"/>
              </a:rPr>
              <a:t> </a:t>
            </a:r>
            <a:r>
              <a:rPr sz="2200" dirty="0">
                <a:latin typeface="Cambria"/>
                <a:cs typeface="Cambria"/>
              </a:rPr>
              <a:t>is</a:t>
            </a:r>
            <a:r>
              <a:rPr sz="2200" spc="-25" dirty="0">
                <a:latin typeface="Cambria"/>
                <a:cs typeface="Cambria"/>
              </a:rPr>
              <a:t> </a:t>
            </a:r>
            <a:r>
              <a:rPr sz="2200" dirty="0">
                <a:latin typeface="Cambria"/>
                <a:cs typeface="Cambria"/>
              </a:rPr>
              <a:t>a</a:t>
            </a:r>
            <a:r>
              <a:rPr sz="2200" spc="-45" dirty="0">
                <a:latin typeface="Cambria"/>
                <a:cs typeface="Cambria"/>
              </a:rPr>
              <a:t> </a:t>
            </a:r>
            <a:r>
              <a:rPr sz="2200" dirty="0">
                <a:latin typeface="Cambria"/>
                <a:cs typeface="Cambria"/>
              </a:rPr>
              <a:t>predecessor</a:t>
            </a:r>
            <a:r>
              <a:rPr sz="2200" spc="-5" dirty="0">
                <a:latin typeface="Cambria"/>
                <a:cs typeface="Cambria"/>
              </a:rPr>
              <a:t> </a:t>
            </a:r>
            <a:r>
              <a:rPr sz="2200" dirty="0">
                <a:latin typeface="Cambria"/>
                <a:cs typeface="Cambria"/>
              </a:rPr>
              <a:t>of</a:t>
            </a:r>
            <a:r>
              <a:rPr sz="2200" spc="-40" dirty="0">
                <a:latin typeface="Cambria"/>
                <a:cs typeface="Cambria"/>
              </a:rPr>
              <a:t> </a:t>
            </a:r>
            <a:r>
              <a:rPr sz="2200" spc="-25" dirty="0">
                <a:latin typeface="Cambria"/>
                <a:cs typeface="Cambria"/>
              </a:rPr>
              <a:t>B2</a:t>
            </a:r>
            <a:endParaRPr sz="2200" dirty="0">
              <a:latin typeface="Cambria"/>
              <a:cs typeface="Cambria"/>
            </a:endParaRPr>
          </a:p>
          <a:p>
            <a:pPr marL="12700">
              <a:lnSpc>
                <a:spcPct val="100000"/>
              </a:lnSpc>
              <a:spcBef>
                <a:spcPts val="9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Basic</a:t>
            </a:r>
            <a:r>
              <a:rPr sz="2200" spc="-45" dirty="0">
                <a:latin typeface="Cambria"/>
                <a:cs typeface="Cambria"/>
              </a:rPr>
              <a:t> </a:t>
            </a:r>
            <a:r>
              <a:rPr sz="2200" dirty="0">
                <a:latin typeface="Cambria"/>
                <a:cs typeface="Cambria"/>
              </a:rPr>
              <a:t>block</a:t>
            </a:r>
            <a:r>
              <a:rPr sz="2200" spc="-30" dirty="0">
                <a:latin typeface="Cambria"/>
                <a:cs typeface="Cambria"/>
              </a:rPr>
              <a:t> </a:t>
            </a:r>
            <a:r>
              <a:rPr sz="2200" dirty="0">
                <a:latin typeface="Cambria"/>
                <a:cs typeface="Cambria"/>
              </a:rPr>
              <a:t>B2</a:t>
            </a:r>
            <a:r>
              <a:rPr sz="2200" spc="-30" dirty="0">
                <a:latin typeface="Cambria"/>
                <a:cs typeface="Cambria"/>
              </a:rPr>
              <a:t> </a:t>
            </a:r>
            <a:r>
              <a:rPr sz="2200" dirty="0">
                <a:latin typeface="Cambria"/>
                <a:cs typeface="Cambria"/>
              </a:rPr>
              <a:t>is</a:t>
            </a:r>
            <a:r>
              <a:rPr sz="2200" spc="-15" dirty="0">
                <a:latin typeface="Cambria"/>
                <a:cs typeface="Cambria"/>
              </a:rPr>
              <a:t> </a:t>
            </a:r>
            <a:r>
              <a:rPr sz="2200" dirty="0">
                <a:latin typeface="Cambria"/>
                <a:cs typeface="Cambria"/>
              </a:rPr>
              <a:t>a</a:t>
            </a:r>
            <a:r>
              <a:rPr sz="2200" spc="-30" dirty="0">
                <a:latin typeface="Cambria"/>
                <a:cs typeface="Cambria"/>
              </a:rPr>
              <a:t> </a:t>
            </a:r>
            <a:r>
              <a:rPr sz="2200" dirty="0">
                <a:latin typeface="Cambria"/>
                <a:cs typeface="Cambria"/>
              </a:rPr>
              <a:t>successor</a:t>
            </a:r>
            <a:r>
              <a:rPr sz="2200" spc="-10" dirty="0">
                <a:latin typeface="Cambria"/>
                <a:cs typeface="Cambria"/>
              </a:rPr>
              <a:t> </a:t>
            </a:r>
            <a:r>
              <a:rPr sz="2200" dirty="0">
                <a:latin typeface="Cambria"/>
                <a:cs typeface="Cambria"/>
              </a:rPr>
              <a:t>of</a:t>
            </a:r>
            <a:r>
              <a:rPr sz="2200" spc="-30" dirty="0">
                <a:latin typeface="Cambria"/>
                <a:cs typeface="Cambria"/>
              </a:rPr>
              <a:t> </a:t>
            </a:r>
            <a:r>
              <a:rPr sz="2200" spc="-25" dirty="0">
                <a:latin typeface="Cambria"/>
                <a:cs typeface="Cambria"/>
              </a:rPr>
              <a:t>B1</a:t>
            </a:r>
            <a:endParaRPr sz="2200" dirty="0">
              <a:latin typeface="Cambria"/>
              <a:cs typeface="Cambria"/>
            </a:endParaRPr>
          </a:p>
        </p:txBody>
      </p:sp>
      <p:pic>
        <p:nvPicPr>
          <p:cNvPr id="5" name="Picture 4">
            <a:extLst>
              <a:ext uri="{FF2B5EF4-FFF2-40B4-BE49-F238E27FC236}">
                <a16:creationId xmlns:a16="http://schemas.microsoft.com/office/drawing/2014/main" id="{9D402A43-1157-61F9-7824-304AAD09A699}"/>
              </a:ext>
            </a:extLst>
          </p:cNvPr>
          <p:cNvPicPr>
            <a:picLocks noChangeAspect="1"/>
          </p:cNvPicPr>
          <p:nvPr/>
        </p:nvPicPr>
        <p:blipFill>
          <a:blip r:embed="rId2"/>
          <a:stretch>
            <a:fillRect/>
          </a:stretch>
        </p:blipFill>
        <p:spPr>
          <a:xfrm>
            <a:off x="3544083" y="295016"/>
            <a:ext cx="8096190" cy="1182727"/>
          </a:xfrm>
          <a:prstGeom prst="rect">
            <a:avLst/>
          </a:prstGeom>
        </p:spPr>
      </p:pic>
      <p:sp>
        <p:nvSpPr>
          <p:cNvPr id="10" name="TextBox 9">
            <a:extLst>
              <a:ext uri="{FF2B5EF4-FFF2-40B4-BE49-F238E27FC236}">
                <a16:creationId xmlns:a16="http://schemas.microsoft.com/office/drawing/2014/main" id="{74552C6F-75EF-F731-8CCD-B0205070FA04}"/>
              </a:ext>
            </a:extLst>
          </p:cNvPr>
          <p:cNvSpPr txBox="1"/>
          <p:nvPr/>
        </p:nvSpPr>
        <p:spPr>
          <a:xfrm>
            <a:off x="8466137" y="3881969"/>
            <a:ext cx="1973897" cy="1200329"/>
          </a:xfrm>
          <a:prstGeom prst="rect">
            <a:avLst/>
          </a:prstGeom>
          <a:noFill/>
        </p:spPr>
        <p:txBody>
          <a:bodyPr wrap="square">
            <a:spAutoFit/>
          </a:bodyPr>
          <a:lstStyle/>
          <a:p>
            <a:r>
              <a:rPr lang="en-US" dirty="0"/>
              <a:t>B1: if (a &gt; b)</a:t>
            </a:r>
          </a:p>
          <a:p>
            <a:r>
              <a:rPr lang="en-US" dirty="0"/>
              <a:t>B2: x = a</a:t>
            </a:r>
          </a:p>
          <a:p>
            <a:r>
              <a:rPr lang="en-US" dirty="0"/>
              <a:t>B3: x = b</a:t>
            </a:r>
          </a:p>
          <a:p>
            <a:r>
              <a:rPr lang="en-US" dirty="0"/>
              <a:t>B4: y = x + 1</a:t>
            </a:r>
            <a:endParaRPr lang="en-IN" dirty="0"/>
          </a:p>
        </p:txBody>
      </p:sp>
      <p:sp>
        <p:nvSpPr>
          <p:cNvPr id="12" name="TextBox 11">
            <a:extLst>
              <a:ext uri="{FF2B5EF4-FFF2-40B4-BE49-F238E27FC236}">
                <a16:creationId xmlns:a16="http://schemas.microsoft.com/office/drawing/2014/main" id="{9DD20C6B-675A-D746-C79A-39C2AD7125A0}"/>
              </a:ext>
            </a:extLst>
          </p:cNvPr>
          <p:cNvSpPr txBox="1"/>
          <p:nvPr/>
        </p:nvSpPr>
        <p:spPr>
          <a:xfrm>
            <a:off x="9677400" y="5010024"/>
            <a:ext cx="1820727" cy="1477328"/>
          </a:xfrm>
          <a:prstGeom prst="rect">
            <a:avLst/>
          </a:prstGeom>
          <a:noFill/>
        </p:spPr>
        <p:txBody>
          <a:bodyPr wrap="square">
            <a:spAutoFit/>
          </a:bodyPr>
          <a:lstStyle/>
          <a:p>
            <a:r>
              <a:rPr lang="en-IN" dirty="0"/>
              <a:t>       B1</a:t>
            </a:r>
          </a:p>
          <a:p>
            <a:r>
              <a:rPr lang="en-IN" dirty="0"/>
              <a:t>      /     \</a:t>
            </a:r>
          </a:p>
          <a:p>
            <a:r>
              <a:rPr lang="en-IN" dirty="0"/>
              <a:t>    B2    B3</a:t>
            </a:r>
          </a:p>
          <a:p>
            <a:r>
              <a:rPr lang="en-IN" dirty="0"/>
              <a:t>      \     /</a:t>
            </a:r>
          </a:p>
          <a:p>
            <a:r>
              <a:rPr lang="en-IN" dirty="0"/>
              <a:t>       B4</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5200" y="76200"/>
            <a:ext cx="7992888" cy="2246769"/>
          </a:xfrm>
          <a:prstGeom prst="rect">
            <a:avLst/>
          </a:prstGeom>
        </p:spPr>
        <p:txBody>
          <a:bodyPr wrap="square">
            <a:spAutoFit/>
          </a:bodyPr>
          <a:lstStyle/>
          <a:p>
            <a:r>
              <a:rPr lang="en-IN" sz="2800" b="1" dirty="0">
                <a:latin typeface="Cambria" panose="02040503050406030204" pitchFamily="18" charset="0"/>
                <a:ea typeface="Cambria" panose="02040503050406030204" pitchFamily="18" charset="0"/>
              </a:rPr>
              <a:t>OPTIMIZATION OF BASIC BLOCKS</a:t>
            </a:r>
            <a:endParaRPr lang="en-IN" sz="2800"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 There are two types of basic block optimizations. They are :</a:t>
            </a:r>
          </a:p>
          <a:p>
            <a:r>
              <a:rPr lang="en-IN" sz="2800" dirty="0">
                <a:latin typeface="Cambria" panose="02040503050406030204" pitchFamily="18" charset="0"/>
                <a:ea typeface="Cambria" panose="02040503050406030204" pitchFamily="18" charset="0"/>
              </a:rPr>
              <a:t>Ø     Structure-Preserving Transformations</a:t>
            </a:r>
          </a:p>
          <a:p>
            <a:r>
              <a:rPr lang="en-IN" sz="2800" dirty="0">
                <a:latin typeface="Cambria" panose="02040503050406030204" pitchFamily="18" charset="0"/>
                <a:ea typeface="Cambria" panose="02040503050406030204" pitchFamily="18" charset="0"/>
              </a:rPr>
              <a:t>Ø     Algebraic Transformations</a:t>
            </a:r>
          </a:p>
        </p:txBody>
      </p:sp>
      <p:sp>
        <p:nvSpPr>
          <p:cNvPr id="3" name="Rectangle 2"/>
          <p:cNvSpPr/>
          <p:nvPr/>
        </p:nvSpPr>
        <p:spPr>
          <a:xfrm>
            <a:off x="3510579" y="2765317"/>
            <a:ext cx="8496944" cy="3539430"/>
          </a:xfrm>
          <a:prstGeom prst="rect">
            <a:avLst/>
          </a:prstGeom>
        </p:spPr>
        <p:txBody>
          <a:bodyPr wrap="square">
            <a:spAutoFit/>
          </a:bodyPr>
          <a:lstStyle/>
          <a:p>
            <a:r>
              <a:rPr lang="en-IN" sz="2800" b="1" dirty="0">
                <a:latin typeface="Cambria" panose="02040503050406030204" pitchFamily="18" charset="0"/>
                <a:ea typeface="Cambria" panose="02040503050406030204" pitchFamily="18" charset="0"/>
              </a:rPr>
              <a:t>Structure-Preserving Transformations:</a:t>
            </a:r>
            <a:endParaRPr lang="en-IN" sz="2800"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The primary Structure-Preserving Transformation on basic blocks are:</a:t>
            </a:r>
          </a:p>
          <a:p>
            <a:r>
              <a:rPr lang="en-IN" sz="2800" dirty="0">
                <a:latin typeface="Cambria" panose="02040503050406030204" pitchFamily="18" charset="0"/>
                <a:ea typeface="Cambria" panose="02040503050406030204" pitchFamily="18" charset="0"/>
              </a:rPr>
              <a:t>Ø     Common sub-expression elimination</a:t>
            </a:r>
          </a:p>
          <a:p>
            <a:r>
              <a:rPr lang="en-IN" sz="2800" dirty="0">
                <a:latin typeface="Cambria" panose="02040503050406030204" pitchFamily="18" charset="0"/>
                <a:ea typeface="Cambria" panose="02040503050406030204" pitchFamily="18" charset="0"/>
              </a:rPr>
              <a:t>Ø     Dead code elimination</a:t>
            </a:r>
          </a:p>
          <a:p>
            <a:r>
              <a:rPr lang="en-IN" sz="2800" dirty="0">
                <a:latin typeface="Cambria" panose="02040503050406030204" pitchFamily="18" charset="0"/>
                <a:ea typeface="Cambria" panose="02040503050406030204" pitchFamily="18" charset="0"/>
              </a:rPr>
              <a:t>Ø     Renaming of temporary variables</a:t>
            </a:r>
          </a:p>
          <a:p>
            <a:r>
              <a:rPr lang="en-IN" sz="2800" dirty="0">
                <a:latin typeface="Cambria" panose="02040503050406030204" pitchFamily="18" charset="0"/>
                <a:ea typeface="Cambria" panose="02040503050406030204" pitchFamily="18" charset="0"/>
              </a:rPr>
              <a:t>Ø     Interchange of two independent adjacent statements</a:t>
            </a:r>
          </a:p>
        </p:txBody>
      </p:sp>
      <p:sp>
        <p:nvSpPr>
          <p:cNvPr id="4" name="object 2">
            <a:extLst>
              <a:ext uri="{FF2B5EF4-FFF2-40B4-BE49-F238E27FC236}">
                <a16:creationId xmlns:a16="http://schemas.microsoft.com/office/drawing/2014/main" id="{A7CBA4CE-8F0A-A128-0EAB-79593FD7D9C0}"/>
              </a:ext>
            </a:extLst>
          </p:cNvPr>
          <p:cNvSpPr txBox="1"/>
          <p:nvPr/>
        </p:nvSpPr>
        <p:spPr>
          <a:xfrm>
            <a:off x="0" y="758951"/>
            <a:ext cx="3444240" cy="5216813"/>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95"/>
              </a:spcBef>
            </a:pPr>
            <a:endParaRPr sz="3600" dirty="0">
              <a:latin typeface="Times New Roman"/>
              <a:cs typeface="Times New Roman"/>
            </a:endParaRPr>
          </a:p>
          <a:p>
            <a:pPr marL="344170" marR="366395">
              <a:lnSpc>
                <a:spcPts val="3779"/>
              </a:lnSpc>
            </a:pPr>
            <a:r>
              <a:rPr lang="en-IN" sz="3600" b="1" spc="-85" dirty="0">
                <a:solidFill>
                  <a:srgbClr val="FFFFFF"/>
                </a:solidFill>
                <a:latin typeface="Cambria"/>
                <a:cs typeface="Cambria"/>
              </a:rPr>
              <a:t>optimization     	     of </a:t>
            </a:r>
            <a:r>
              <a:rPr lang="en-IN" sz="3600" b="1" spc="-45" dirty="0">
                <a:solidFill>
                  <a:srgbClr val="FFFFFF"/>
                </a:solidFill>
                <a:latin typeface="Cambria"/>
                <a:cs typeface="Cambria"/>
              </a:rPr>
              <a:t> </a:t>
            </a:r>
            <a:r>
              <a:rPr sz="3600" b="1" spc="-60" dirty="0" err="1">
                <a:solidFill>
                  <a:srgbClr val="FFFFFF"/>
                </a:solidFill>
                <a:latin typeface="Cambria"/>
                <a:cs typeface="Cambria"/>
              </a:rPr>
              <a:t>Basic</a:t>
            </a:r>
            <a:r>
              <a:rPr sz="3600" b="1" spc="-10" dirty="0" err="1">
                <a:solidFill>
                  <a:srgbClr val="FFFFFF"/>
                </a:solidFill>
                <a:latin typeface="Cambria"/>
                <a:cs typeface="Cambria"/>
              </a:rPr>
              <a:t>Blocks</a:t>
            </a:r>
            <a:endParaRPr lang="en-IN" sz="3600" b="1" spc="-10" dirty="0">
              <a:solidFill>
                <a:srgbClr val="FFFFFF"/>
              </a:solidFill>
              <a:latin typeface="Cambria"/>
              <a:cs typeface="Cambria"/>
            </a:endParaRPr>
          </a:p>
          <a:p>
            <a:pPr marL="344170" marR="366395">
              <a:lnSpc>
                <a:spcPts val="3779"/>
              </a:lnSpc>
            </a:pPr>
            <a:endParaRPr lang="en-IN" sz="3600" b="1" spc="-10" dirty="0">
              <a:solidFill>
                <a:srgbClr val="FFFFFF"/>
              </a:solidFill>
              <a:latin typeface="Cambria"/>
              <a:cs typeface="Cambria"/>
            </a:endParaRPr>
          </a:p>
          <a:p>
            <a:pPr marL="344170" marR="366395">
              <a:lnSpc>
                <a:spcPts val="3779"/>
              </a:lnSpc>
            </a:pPr>
            <a:endParaRPr lang="en-IN" sz="3600" b="1" spc="-10" dirty="0">
              <a:solidFill>
                <a:srgbClr val="FFFFFF"/>
              </a:solidFill>
              <a:latin typeface="Cambria"/>
              <a:cs typeface="Cambria"/>
            </a:endParaRPr>
          </a:p>
          <a:p>
            <a:pPr marL="344170" marR="366395">
              <a:lnSpc>
                <a:spcPts val="3779"/>
              </a:lnSpc>
            </a:pPr>
            <a:endParaRPr sz="3600" dirty="0">
              <a:latin typeface="Cambria"/>
              <a:cs typeface="Cambria"/>
            </a:endParaRPr>
          </a:p>
        </p:txBody>
      </p:sp>
    </p:spTree>
    <p:extLst>
      <p:ext uri="{BB962C8B-B14F-4D97-AF65-F5344CB8AC3E}">
        <p14:creationId xmlns:p14="http://schemas.microsoft.com/office/powerpoint/2010/main" val="2572992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3512" y="117694"/>
            <a:ext cx="8424936" cy="6740307"/>
          </a:xfrm>
          <a:prstGeom prst="rect">
            <a:avLst/>
          </a:prstGeom>
        </p:spPr>
        <p:txBody>
          <a:bodyPr wrap="square">
            <a:spAutoFit/>
          </a:bodyPr>
          <a:lstStyle/>
          <a:p>
            <a:r>
              <a:rPr lang="en-IN" sz="2400" b="1" dirty="0"/>
              <a:t>Common sub-expression elimination:</a:t>
            </a:r>
            <a:endParaRPr lang="en-IN" sz="2400" dirty="0"/>
          </a:p>
          <a:p>
            <a:r>
              <a:rPr lang="en-IN" sz="2400" dirty="0"/>
              <a:t>Common sub expressions need not be computed over and over again. Instead they can be computed once and kept in store from where it’s referenced.</a:t>
            </a:r>
          </a:p>
          <a:p>
            <a:r>
              <a:rPr lang="en-IN" sz="2400" dirty="0"/>
              <a:t> Example:</a:t>
            </a:r>
          </a:p>
          <a:p>
            <a:r>
              <a:rPr lang="en-IN" sz="2400" dirty="0"/>
              <a:t> </a:t>
            </a:r>
            <a:r>
              <a:rPr lang="en-IN" sz="2400" b="1" dirty="0"/>
              <a:t>a:</a:t>
            </a:r>
            <a:r>
              <a:rPr lang="en-IN" sz="2400" dirty="0"/>
              <a:t> </a:t>
            </a:r>
            <a:r>
              <a:rPr lang="en-IN" sz="2400" b="1" dirty="0"/>
              <a:t>=</a:t>
            </a:r>
            <a:r>
              <a:rPr lang="en-IN" sz="2400" b="1" dirty="0" err="1"/>
              <a:t>b+c</a:t>
            </a:r>
            <a:endParaRPr lang="en-IN" sz="2400" dirty="0"/>
          </a:p>
          <a:p>
            <a:r>
              <a:rPr lang="en-IN" sz="2400" b="1" dirty="0"/>
              <a:t>b:</a:t>
            </a:r>
            <a:r>
              <a:rPr lang="en-IN" sz="2400" dirty="0"/>
              <a:t> </a:t>
            </a:r>
            <a:r>
              <a:rPr lang="en-IN" sz="2400" b="1" dirty="0"/>
              <a:t>=a-d</a:t>
            </a:r>
            <a:endParaRPr lang="en-IN" sz="2400" dirty="0"/>
          </a:p>
          <a:p>
            <a:r>
              <a:rPr lang="en-IN" sz="2400" b="1" dirty="0"/>
              <a:t>c:</a:t>
            </a:r>
            <a:r>
              <a:rPr lang="en-IN" sz="2400" dirty="0"/>
              <a:t> </a:t>
            </a:r>
            <a:r>
              <a:rPr lang="en-IN" sz="2400" b="1" dirty="0"/>
              <a:t>=</a:t>
            </a:r>
            <a:r>
              <a:rPr lang="en-IN" sz="2400" b="1" dirty="0" err="1"/>
              <a:t>b+c</a:t>
            </a:r>
            <a:endParaRPr lang="en-IN" sz="2400" dirty="0"/>
          </a:p>
          <a:p>
            <a:r>
              <a:rPr lang="en-IN" sz="2400" b="1" dirty="0"/>
              <a:t>d:</a:t>
            </a:r>
            <a:r>
              <a:rPr lang="en-IN" sz="2400" dirty="0"/>
              <a:t> </a:t>
            </a:r>
            <a:r>
              <a:rPr lang="en-IN" sz="2400" b="1" dirty="0"/>
              <a:t>=a-d</a:t>
            </a:r>
            <a:endParaRPr lang="en-IN" sz="2400" dirty="0"/>
          </a:p>
          <a:p>
            <a:r>
              <a:rPr lang="en-IN" sz="2400" dirty="0"/>
              <a:t> </a:t>
            </a:r>
          </a:p>
          <a:p>
            <a:r>
              <a:rPr lang="en-IN" sz="2400" dirty="0"/>
              <a:t>The 2nd and 4th statements compute the same expression: </a:t>
            </a:r>
            <a:r>
              <a:rPr lang="en-IN" sz="2400" dirty="0" err="1"/>
              <a:t>b+c</a:t>
            </a:r>
            <a:r>
              <a:rPr lang="en-IN" sz="2400" dirty="0"/>
              <a:t> and a-d</a:t>
            </a:r>
          </a:p>
          <a:p>
            <a:r>
              <a:rPr lang="en-IN" sz="2400" dirty="0"/>
              <a:t> </a:t>
            </a:r>
          </a:p>
          <a:p>
            <a:r>
              <a:rPr lang="en-IN" sz="2400" dirty="0"/>
              <a:t>Basic block can be transformed to</a:t>
            </a:r>
          </a:p>
          <a:p>
            <a:r>
              <a:rPr lang="en-IN" sz="2400" b="1" dirty="0"/>
              <a:t>a:</a:t>
            </a:r>
            <a:r>
              <a:rPr lang="en-IN" sz="2400" dirty="0"/>
              <a:t> </a:t>
            </a:r>
            <a:r>
              <a:rPr lang="en-IN" sz="2400" b="1" dirty="0"/>
              <a:t>= </a:t>
            </a:r>
            <a:r>
              <a:rPr lang="en-IN" sz="2400" b="1" dirty="0" err="1"/>
              <a:t>b+c</a:t>
            </a:r>
            <a:endParaRPr lang="en-IN" sz="2400" dirty="0"/>
          </a:p>
          <a:p>
            <a:r>
              <a:rPr lang="en-IN" sz="2400" b="1" dirty="0"/>
              <a:t>b:</a:t>
            </a:r>
            <a:r>
              <a:rPr lang="en-IN" sz="2400" dirty="0"/>
              <a:t> </a:t>
            </a:r>
            <a:r>
              <a:rPr lang="en-IN" sz="2400" b="1" dirty="0"/>
              <a:t>= a-d</a:t>
            </a:r>
            <a:endParaRPr lang="en-IN" sz="2400" dirty="0"/>
          </a:p>
          <a:p>
            <a:r>
              <a:rPr lang="en-IN" sz="2400" b="1" dirty="0"/>
              <a:t>c:</a:t>
            </a:r>
            <a:r>
              <a:rPr lang="en-IN" sz="2400" dirty="0"/>
              <a:t> </a:t>
            </a:r>
            <a:r>
              <a:rPr lang="en-IN" sz="2400" b="1" dirty="0"/>
              <a:t>= a</a:t>
            </a:r>
            <a:endParaRPr lang="en-IN" sz="2400" dirty="0"/>
          </a:p>
          <a:p>
            <a:r>
              <a:rPr lang="en-IN" sz="2400" b="1" dirty="0"/>
              <a:t>d:</a:t>
            </a:r>
            <a:r>
              <a:rPr lang="en-IN" sz="2400" dirty="0"/>
              <a:t> </a:t>
            </a:r>
            <a:r>
              <a:rPr lang="en-IN" sz="2400" b="1" dirty="0"/>
              <a:t>= b</a:t>
            </a:r>
            <a:endParaRPr lang="en-IN" sz="2400" dirty="0"/>
          </a:p>
        </p:txBody>
      </p:sp>
    </p:spTree>
    <p:extLst>
      <p:ext uri="{BB962C8B-B14F-4D97-AF65-F5344CB8AC3E}">
        <p14:creationId xmlns:p14="http://schemas.microsoft.com/office/powerpoint/2010/main" val="143400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99467" y="116632"/>
            <a:ext cx="8640960" cy="6463308"/>
          </a:xfrm>
          <a:prstGeom prst="rect">
            <a:avLst/>
          </a:prstGeom>
        </p:spPr>
        <p:txBody>
          <a:bodyPr wrap="square">
            <a:spAutoFit/>
          </a:bodyPr>
          <a:lstStyle/>
          <a:p>
            <a:r>
              <a:rPr lang="en-IN" b="1" dirty="0"/>
              <a:t>Dead code elimination:</a:t>
            </a:r>
            <a:endParaRPr lang="en-IN" dirty="0"/>
          </a:p>
          <a:p>
            <a:r>
              <a:rPr lang="en-IN" dirty="0"/>
              <a:t> </a:t>
            </a:r>
          </a:p>
          <a:p>
            <a:r>
              <a:rPr lang="en-IN" dirty="0"/>
              <a:t>It is possible that a large amount of dead (useless) code may exist in the program. This might be especially caused when introducing variables and procedures as part of construction or error-correction of a program - once declared and defined, one forgets to remove them in case they serve no purpose. Eliminating these will definitely optimize the code.</a:t>
            </a:r>
          </a:p>
          <a:p>
            <a:r>
              <a:rPr lang="en-IN" dirty="0"/>
              <a:t> </a:t>
            </a:r>
          </a:p>
          <a:p>
            <a:r>
              <a:rPr lang="en-IN" b="1" dirty="0"/>
              <a:t>Renaming of temporary variables:</a:t>
            </a:r>
            <a:endParaRPr lang="en-IN" dirty="0"/>
          </a:p>
          <a:p>
            <a:r>
              <a:rPr lang="en-IN" dirty="0"/>
              <a:t> </a:t>
            </a:r>
          </a:p>
          <a:p>
            <a:r>
              <a:rPr lang="en-IN" dirty="0"/>
              <a:t>A statement t:=b+c where t is a temporary name can be changed to u:=b+c where u is another temporary name, and change all uses of t to u. In this a basic block is transformed to its equivalent block called normal-form block.</a:t>
            </a:r>
          </a:p>
          <a:p>
            <a:r>
              <a:rPr lang="en-IN" dirty="0"/>
              <a:t> </a:t>
            </a:r>
          </a:p>
          <a:p>
            <a:r>
              <a:rPr lang="en-IN" b="1" dirty="0"/>
              <a:t>Interchange of two independent adjacent statements:</a:t>
            </a:r>
            <a:endParaRPr lang="en-IN" dirty="0"/>
          </a:p>
          <a:p>
            <a:r>
              <a:rPr lang="en-IN" dirty="0"/>
              <a:t> </a:t>
            </a:r>
          </a:p>
          <a:p>
            <a:r>
              <a:rPr lang="en-IN" dirty="0"/>
              <a:t>• Two statements</a:t>
            </a:r>
          </a:p>
          <a:p>
            <a:r>
              <a:rPr lang="en-IN" dirty="0"/>
              <a:t> </a:t>
            </a:r>
          </a:p>
          <a:p>
            <a:r>
              <a:rPr lang="en-IN" b="1" dirty="0"/>
              <a:t>t1:=</a:t>
            </a:r>
            <a:r>
              <a:rPr lang="en-IN" b="1" dirty="0" err="1"/>
              <a:t>b+c</a:t>
            </a:r>
            <a:endParaRPr lang="en-IN" dirty="0"/>
          </a:p>
          <a:p>
            <a:r>
              <a:rPr lang="en-IN" b="1" dirty="0"/>
              <a:t>t2:=</a:t>
            </a:r>
            <a:r>
              <a:rPr lang="en-IN" b="1" dirty="0" err="1"/>
              <a:t>x+y</a:t>
            </a:r>
            <a:endParaRPr lang="en-IN" dirty="0"/>
          </a:p>
          <a:p>
            <a:r>
              <a:rPr lang="en-IN" dirty="0"/>
              <a:t> </a:t>
            </a:r>
          </a:p>
          <a:p>
            <a:r>
              <a:rPr lang="en-IN" dirty="0"/>
              <a:t>can be interchanged or reordered in its computation in the basic block when value of t1 does not affect the value of t2.</a:t>
            </a:r>
          </a:p>
        </p:txBody>
      </p:sp>
    </p:spTree>
    <p:extLst>
      <p:ext uri="{BB962C8B-B14F-4D97-AF65-F5344CB8AC3E}">
        <p14:creationId xmlns:p14="http://schemas.microsoft.com/office/powerpoint/2010/main" val="32425034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3512" y="188640"/>
            <a:ext cx="8640960" cy="6063198"/>
          </a:xfrm>
          <a:prstGeom prst="rect">
            <a:avLst/>
          </a:prstGeom>
        </p:spPr>
        <p:txBody>
          <a:bodyPr wrap="square">
            <a:spAutoFit/>
          </a:bodyPr>
          <a:lstStyle/>
          <a:p>
            <a:r>
              <a:rPr lang="en-IN" sz="2800" b="1" u="sng" dirty="0"/>
              <a:t>Algebraic Transformations:</a:t>
            </a:r>
            <a:endParaRPr lang="en-IN" sz="2800" u="sng" dirty="0"/>
          </a:p>
          <a:p>
            <a:pPr algn="just"/>
            <a:r>
              <a:rPr lang="en-IN" sz="2400" dirty="0"/>
              <a:t>This includes simplifying expressions or replacing expensive operation by cheaper ones i.e. reduction in strength. </a:t>
            </a:r>
          </a:p>
          <a:p>
            <a:pPr algn="just"/>
            <a:endParaRPr lang="en-IN" sz="2400" dirty="0"/>
          </a:p>
          <a:p>
            <a:pPr algn="just"/>
            <a:r>
              <a:rPr lang="en-IN" sz="2400" dirty="0"/>
              <a:t>Another class of related optimizations is constant folding. Here we evaluate constant expressions at compile time and replace the constant expressions by their values. Thus the expression 2*3.14 would be replaced by 6.28.</a:t>
            </a:r>
          </a:p>
          <a:p>
            <a:pPr algn="just"/>
            <a:r>
              <a:rPr lang="en-IN" sz="2400" dirty="0"/>
              <a:t>The relational operators &lt;=, &gt;=, &lt;, &gt;, + and = sometimes generate unexpected common sub expressions. Associative laws may also be applied to expose common sub expressions. For example, if the source code has the assignments</a:t>
            </a:r>
          </a:p>
          <a:p>
            <a:pPr lvl="6"/>
            <a:r>
              <a:rPr lang="en-IN" sz="2400" b="1" dirty="0"/>
              <a:t>a :=</a:t>
            </a:r>
            <a:r>
              <a:rPr lang="en-IN" sz="2400" b="1" dirty="0" err="1"/>
              <a:t>b+c</a:t>
            </a:r>
            <a:endParaRPr lang="en-IN" sz="2400" dirty="0"/>
          </a:p>
          <a:p>
            <a:pPr lvl="6"/>
            <a:r>
              <a:rPr lang="en-IN" sz="2400" b="1" dirty="0"/>
              <a:t>e :=</a:t>
            </a:r>
            <a:r>
              <a:rPr lang="en-IN" sz="2400" b="1" dirty="0" err="1"/>
              <a:t>c+d+b</a:t>
            </a:r>
            <a:endParaRPr lang="en-IN" sz="2400" dirty="0"/>
          </a:p>
          <a:p>
            <a:r>
              <a:rPr lang="en-IN" sz="2400" dirty="0"/>
              <a:t> the following intermediate code may be generated: </a:t>
            </a:r>
            <a:r>
              <a:rPr lang="en-IN" sz="2400" b="1" dirty="0"/>
              <a:t>a :=</a:t>
            </a:r>
            <a:r>
              <a:rPr lang="en-IN" sz="2400" b="1" dirty="0" err="1"/>
              <a:t>b+c</a:t>
            </a:r>
            <a:endParaRPr lang="en-IN" sz="2400" dirty="0"/>
          </a:p>
          <a:p>
            <a:r>
              <a:rPr lang="en-IN" sz="2400" dirty="0"/>
              <a:t> 			</a:t>
            </a:r>
            <a:r>
              <a:rPr lang="en-IN" sz="2400" b="1" dirty="0"/>
              <a:t>t :=</a:t>
            </a:r>
            <a:r>
              <a:rPr lang="en-IN" sz="2400" b="1" dirty="0" err="1"/>
              <a:t>c+d</a:t>
            </a:r>
            <a:r>
              <a:rPr lang="en-IN" sz="2400" b="1" dirty="0"/>
              <a:t> e :=</a:t>
            </a:r>
            <a:r>
              <a:rPr lang="en-IN" sz="2400" b="1" dirty="0" err="1"/>
              <a:t>t+b</a:t>
            </a:r>
            <a:endParaRPr lang="en-IN" sz="2400" dirty="0"/>
          </a:p>
        </p:txBody>
      </p:sp>
    </p:spTree>
    <p:extLst>
      <p:ext uri="{BB962C8B-B14F-4D97-AF65-F5344CB8AC3E}">
        <p14:creationId xmlns:p14="http://schemas.microsoft.com/office/powerpoint/2010/main" val="3824652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40507" y="2141220"/>
            <a:ext cx="6632575" cy="2597150"/>
            <a:chOff x="2540507" y="2141220"/>
            <a:chExt cx="6632575" cy="2597150"/>
          </a:xfrm>
        </p:grpSpPr>
        <p:sp>
          <p:nvSpPr>
            <p:cNvPr id="3" name="object 3"/>
            <p:cNvSpPr/>
            <p:nvPr/>
          </p:nvSpPr>
          <p:spPr>
            <a:xfrm>
              <a:off x="2545841" y="2146554"/>
              <a:ext cx="6621780" cy="2586355"/>
            </a:xfrm>
            <a:custGeom>
              <a:avLst/>
              <a:gdLst/>
              <a:ahLst/>
              <a:cxnLst/>
              <a:rect l="l" t="t" r="r" b="b"/>
              <a:pathLst>
                <a:path w="6621780" h="2586354">
                  <a:moveTo>
                    <a:pt x="6190741" y="0"/>
                  </a:moveTo>
                  <a:lnTo>
                    <a:pt x="431038" y="0"/>
                  </a:lnTo>
                  <a:lnTo>
                    <a:pt x="384081" y="2529"/>
                  </a:lnTo>
                  <a:lnTo>
                    <a:pt x="338587" y="9944"/>
                  </a:lnTo>
                  <a:lnTo>
                    <a:pt x="294818" y="21980"/>
                  </a:lnTo>
                  <a:lnTo>
                    <a:pt x="253038" y="38373"/>
                  </a:lnTo>
                  <a:lnTo>
                    <a:pt x="213510" y="58862"/>
                  </a:lnTo>
                  <a:lnTo>
                    <a:pt x="176497" y="83181"/>
                  </a:lnTo>
                  <a:lnTo>
                    <a:pt x="142262" y="111069"/>
                  </a:lnTo>
                  <a:lnTo>
                    <a:pt x="111069" y="142262"/>
                  </a:lnTo>
                  <a:lnTo>
                    <a:pt x="83181" y="176497"/>
                  </a:lnTo>
                  <a:lnTo>
                    <a:pt x="58862" y="213510"/>
                  </a:lnTo>
                  <a:lnTo>
                    <a:pt x="38373" y="253038"/>
                  </a:lnTo>
                  <a:lnTo>
                    <a:pt x="21980" y="294818"/>
                  </a:lnTo>
                  <a:lnTo>
                    <a:pt x="9944" y="338587"/>
                  </a:lnTo>
                  <a:lnTo>
                    <a:pt x="2529" y="384081"/>
                  </a:lnTo>
                  <a:lnTo>
                    <a:pt x="0" y="431038"/>
                  </a:lnTo>
                  <a:lnTo>
                    <a:pt x="0" y="2155190"/>
                  </a:lnTo>
                  <a:lnTo>
                    <a:pt x="2529" y="2202146"/>
                  </a:lnTo>
                  <a:lnTo>
                    <a:pt x="9944" y="2247640"/>
                  </a:lnTo>
                  <a:lnTo>
                    <a:pt x="21980" y="2291409"/>
                  </a:lnTo>
                  <a:lnTo>
                    <a:pt x="38373" y="2333189"/>
                  </a:lnTo>
                  <a:lnTo>
                    <a:pt x="58862" y="2372717"/>
                  </a:lnTo>
                  <a:lnTo>
                    <a:pt x="83181" y="2409730"/>
                  </a:lnTo>
                  <a:lnTo>
                    <a:pt x="111069" y="2443965"/>
                  </a:lnTo>
                  <a:lnTo>
                    <a:pt x="142262" y="2475158"/>
                  </a:lnTo>
                  <a:lnTo>
                    <a:pt x="176497" y="2503046"/>
                  </a:lnTo>
                  <a:lnTo>
                    <a:pt x="213510" y="2527365"/>
                  </a:lnTo>
                  <a:lnTo>
                    <a:pt x="253038" y="2547854"/>
                  </a:lnTo>
                  <a:lnTo>
                    <a:pt x="294818" y="2564247"/>
                  </a:lnTo>
                  <a:lnTo>
                    <a:pt x="338587" y="2576283"/>
                  </a:lnTo>
                  <a:lnTo>
                    <a:pt x="384081" y="2583698"/>
                  </a:lnTo>
                  <a:lnTo>
                    <a:pt x="431038" y="2586228"/>
                  </a:lnTo>
                  <a:lnTo>
                    <a:pt x="6190741" y="2586228"/>
                  </a:lnTo>
                  <a:lnTo>
                    <a:pt x="6237698" y="2583698"/>
                  </a:lnTo>
                  <a:lnTo>
                    <a:pt x="6283192" y="2576283"/>
                  </a:lnTo>
                  <a:lnTo>
                    <a:pt x="6326961" y="2564247"/>
                  </a:lnTo>
                  <a:lnTo>
                    <a:pt x="6368741" y="2547854"/>
                  </a:lnTo>
                  <a:lnTo>
                    <a:pt x="6408269" y="2527365"/>
                  </a:lnTo>
                  <a:lnTo>
                    <a:pt x="6445282" y="2503046"/>
                  </a:lnTo>
                  <a:lnTo>
                    <a:pt x="6479517" y="2475158"/>
                  </a:lnTo>
                  <a:lnTo>
                    <a:pt x="6510710" y="2443965"/>
                  </a:lnTo>
                  <a:lnTo>
                    <a:pt x="6538598" y="2409730"/>
                  </a:lnTo>
                  <a:lnTo>
                    <a:pt x="6562917" y="2372717"/>
                  </a:lnTo>
                  <a:lnTo>
                    <a:pt x="6583406" y="2333189"/>
                  </a:lnTo>
                  <a:lnTo>
                    <a:pt x="6599799" y="2291409"/>
                  </a:lnTo>
                  <a:lnTo>
                    <a:pt x="6611835" y="2247640"/>
                  </a:lnTo>
                  <a:lnTo>
                    <a:pt x="6619250" y="2202146"/>
                  </a:lnTo>
                  <a:lnTo>
                    <a:pt x="6621780" y="2155190"/>
                  </a:lnTo>
                  <a:lnTo>
                    <a:pt x="6621780" y="431038"/>
                  </a:lnTo>
                  <a:lnTo>
                    <a:pt x="6619250" y="384081"/>
                  </a:lnTo>
                  <a:lnTo>
                    <a:pt x="6611835" y="338587"/>
                  </a:lnTo>
                  <a:lnTo>
                    <a:pt x="6599799" y="294818"/>
                  </a:lnTo>
                  <a:lnTo>
                    <a:pt x="6583406" y="253038"/>
                  </a:lnTo>
                  <a:lnTo>
                    <a:pt x="6562917" y="213510"/>
                  </a:lnTo>
                  <a:lnTo>
                    <a:pt x="6538598" y="176497"/>
                  </a:lnTo>
                  <a:lnTo>
                    <a:pt x="6510710" y="142262"/>
                  </a:lnTo>
                  <a:lnTo>
                    <a:pt x="6479517" y="111069"/>
                  </a:lnTo>
                  <a:lnTo>
                    <a:pt x="6445282" y="83181"/>
                  </a:lnTo>
                  <a:lnTo>
                    <a:pt x="6408269" y="58862"/>
                  </a:lnTo>
                  <a:lnTo>
                    <a:pt x="6368741" y="38373"/>
                  </a:lnTo>
                  <a:lnTo>
                    <a:pt x="6326961" y="21980"/>
                  </a:lnTo>
                  <a:lnTo>
                    <a:pt x="6283192" y="9944"/>
                  </a:lnTo>
                  <a:lnTo>
                    <a:pt x="6237698" y="2529"/>
                  </a:lnTo>
                  <a:lnTo>
                    <a:pt x="6190741" y="0"/>
                  </a:lnTo>
                  <a:close/>
                </a:path>
              </a:pathLst>
            </a:custGeom>
            <a:solidFill>
              <a:srgbClr val="40B9D2"/>
            </a:solidFill>
          </p:spPr>
          <p:txBody>
            <a:bodyPr wrap="square" lIns="0" tIns="0" rIns="0" bIns="0" rtlCol="0"/>
            <a:lstStyle/>
            <a:p>
              <a:endParaRPr/>
            </a:p>
          </p:txBody>
        </p:sp>
        <p:sp>
          <p:nvSpPr>
            <p:cNvPr id="4" name="object 4"/>
            <p:cNvSpPr/>
            <p:nvPr/>
          </p:nvSpPr>
          <p:spPr>
            <a:xfrm>
              <a:off x="2545841" y="2146554"/>
              <a:ext cx="6621780" cy="2586355"/>
            </a:xfrm>
            <a:custGeom>
              <a:avLst/>
              <a:gdLst/>
              <a:ahLst/>
              <a:cxnLst/>
              <a:rect l="l" t="t" r="r" b="b"/>
              <a:pathLst>
                <a:path w="6621780" h="2586354">
                  <a:moveTo>
                    <a:pt x="0" y="431038"/>
                  </a:moveTo>
                  <a:lnTo>
                    <a:pt x="2529" y="384081"/>
                  </a:lnTo>
                  <a:lnTo>
                    <a:pt x="9944" y="338587"/>
                  </a:lnTo>
                  <a:lnTo>
                    <a:pt x="21980" y="294818"/>
                  </a:lnTo>
                  <a:lnTo>
                    <a:pt x="38373" y="253038"/>
                  </a:lnTo>
                  <a:lnTo>
                    <a:pt x="58862" y="213510"/>
                  </a:lnTo>
                  <a:lnTo>
                    <a:pt x="83181" y="176497"/>
                  </a:lnTo>
                  <a:lnTo>
                    <a:pt x="111069" y="142262"/>
                  </a:lnTo>
                  <a:lnTo>
                    <a:pt x="142262" y="111069"/>
                  </a:lnTo>
                  <a:lnTo>
                    <a:pt x="176497" y="83181"/>
                  </a:lnTo>
                  <a:lnTo>
                    <a:pt x="213510" y="58862"/>
                  </a:lnTo>
                  <a:lnTo>
                    <a:pt x="253038" y="38373"/>
                  </a:lnTo>
                  <a:lnTo>
                    <a:pt x="294818" y="21980"/>
                  </a:lnTo>
                  <a:lnTo>
                    <a:pt x="338587" y="9944"/>
                  </a:lnTo>
                  <a:lnTo>
                    <a:pt x="384081" y="2529"/>
                  </a:lnTo>
                  <a:lnTo>
                    <a:pt x="431038" y="0"/>
                  </a:lnTo>
                  <a:lnTo>
                    <a:pt x="6190741" y="0"/>
                  </a:lnTo>
                  <a:lnTo>
                    <a:pt x="6237698" y="2529"/>
                  </a:lnTo>
                  <a:lnTo>
                    <a:pt x="6283192" y="9944"/>
                  </a:lnTo>
                  <a:lnTo>
                    <a:pt x="6326961" y="21980"/>
                  </a:lnTo>
                  <a:lnTo>
                    <a:pt x="6368741" y="38373"/>
                  </a:lnTo>
                  <a:lnTo>
                    <a:pt x="6408269" y="58862"/>
                  </a:lnTo>
                  <a:lnTo>
                    <a:pt x="6445282" y="83181"/>
                  </a:lnTo>
                  <a:lnTo>
                    <a:pt x="6479517" y="111069"/>
                  </a:lnTo>
                  <a:lnTo>
                    <a:pt x="6510710" y="142262"/>
                  </a:lnTo>
                  <a:lnTo>
                    <a:pt x="6538598" y="176497"/>
                  </a:lnTo>
                  <a:lnTo>
                    <a:pt x="6562917" y="213510"/>
                  </a:lnTo>
                  <a:lnTo>
                    <a:pt x="6583406" y="253038"/>
                  </a:lnTo>
                  <a:lnTo>
                    <a:pt x="6599799" y="294818"/>
                  </a:lnTo>
                  <a:lnTo>
                    <a:pt x="6611835" y="338587"/>
                  </a:lnTo>
                  <a:lnTo>
                    <a:pt x="6619250" y="384081"/>
                  </a:lnTo>
                  <a:lnTo>
                    <a:pt x="6621780" y="431038"/>
                  </a:lnTo>
                  <a:lnTo>
                    <a:pt x="6621780" y="2155190"/>
                  </a:lnTo>
                  <a:lnTo>
                    <a:pt x="6619250" y="2202146"/>
                  </a:lnTo>
                  <a:lnTo>
                    <a:pt x="6611835" y="2247640"/>
                  </a:lnTo>
                  <a:lnTo>
                    <a:pt x="6599799" y="2291409"/>
                  </a:lnTo>
                  <a:lnTo>
                    <a:pt x="6583406" y="2333189"/>
                  </a:lnTo>
                  <a:lnTo>
                    <a:pt x="6562917" y="2372717"/>
                  </a:lnTo>
                  <a:lnTo>
                    <a:pt x="6538598" y="2409730"/>
                  </a:lnTo>
                  <a:lnTo>
                    <a:pt x="6510710" y="2443965"/>
                  </a:lnTo>
                  <a:lnTo>
                    <a:pt x="6479517" y="2475158"/>
                  </a:lnTo>
                  <a:lnTo>
                    <a:pt x="6445282" y="2503046"/>
                  </a:lnTo>
                  <a:lnTo>
                    <a:pt x="6408269" y="2527365"/>
                  </a:lnTo>
                  <a:lnTo>
                    <a:pt x="6368741" y="2547854"/>
                  </a:lnTo>
                  <a:lnTo>
                    <a:pt x="6326961" y="2564247"/>
                  </a:lnTo>
                  <a:lnTo>
                    <a:pt x="6283192" y="2576283"/>
                  </a:lnTo>
                  <a:lnTo>
                    <a:pt x="6237698" y="2583698"/>
                  </a:lnTo>
                  <a:lnTo>
                    <a:pt x="6190741" y="2586228"/>
                  </a:lnTo>
                  <a:lnTo>
                    <a:pt x="431038" y="2586228"/>
                  </a:lnTo>
                  <a:lnTo>
                    <a:pt x="384081" y="2583698"/>
                  </a:lnTo>
                  <a:lnTo>
                    <a:pt x="338587" y="2576283"/>
                  </a:lnTo>
                  <a:lnTo>
                    <a:pt x="294818" y="2564247"/>
                  </a:lnTo>
                  <a:lnTo>
                    <a:pt x="253038" y="2547854"/>
                  </a:lnTo>
                  <a:lnTo>
                    <a:pt x="213510" y="2527365"/>
                  </a:lnTo>
                  <a:lnTo>
                    <a:pt x="176497" y="2503046"/>
                  </a:lnTo>
                  <a:lnTo>
                    <a:pt x="142262" y="2475158"/>
                  </a:lnTo>
                  <a:lnTo>
                    <a:pt x="111069" y="2443965"/>
                  </a:lnTo>
                  <a:lnTo>
                    <a:pt x="83181" y="2409730"/>
                  </a:lnTo>
                  <a:lnTo>
                    <a:pt x="58862" y="2372717"/>
                  </a:lnTo>
                  <a:lnTo>
                    <a:pt x="38373" y="2333189"/>
                  </a:lnTo>
                  <a:lnTo>
                    <a:pt x="21980" y="2291409"/>
                  </a:lnTo>
                  <a:lnTo>
                    <a:pt x="9944" y="2247640"/>
                  </a:lnTo>
                  <a:lnTo>
                    <a:pt x="2529" y="2202146"/>
                  </a:lnTo>
                  <a:lnTo>
                    <a:pt x="0" y="2155190"/>
                  </a:lnTo>
                  <a:lnTo>
                    <a:pt x="0" y="431038"/>
                  </a:lnTo>
                  <a:close/>
                </a:path>
              </a:pathLst>
            </a:custGeom>
            <a:ln w="10668">
              <a:solidFill>
                <a:srgbClr val="2C879A"/>
              </a:solidFill>
            </a:ln>
          </p:spPr>
          <p:txBody>
            <a:bodyPr wrap="square" lIns="0" tIns="0" rIns="0" bIns="0" rtlCol="0"/>
            <a:lstStyle/>
            <a:p>
              <a:endParaRPr/>
            </a:p>
          </p:txBody>
        </p:sp>
      </p:grpSp>
      <p:sp>
        <p:nvSpPr>
          <p:cNvPr id="5" name="object 5"/>
          <p:cNvSpPr txBox="1">
            <a:spLocks noGrp="1"/>
          </p:cNvSpPr>
          <p:nvPr>
            <p:ph type="title"/>
          </p:nvPr>
        </p:nvSpPr>
        <p:spPr>
          <a:xfrm>
            <a:off x="3473958" y="2290064"/>
            <a:ext cx="4761230" cy="2220595"/>
          </a:xfrm>
          <a:prstGeom prst="rect">
            <a:avLst/>
          </a:prstGeom>
        </p:spPr>
        <p:txBody>
          <a:bodyPr vert="horz" wrap="square" lIns="0" tIns="12700" rIns="0" bIns="0" rtlCol="0">
            <a:spAutoFit/>
          </a:bodyPr>
          <a:lstStyle/>
          <a:p>
            <a:pPr marL="12700" marR="5080" algn="ctr">
              <a:lnSpc>
                <a:spcPct val="100000"/>
              </a:lnSpc>
              <a:spcBef>
                <a:spcPts val="100"/>
              </a:spcBef>
            </a:pPr>
            <a:r>
              <a:rPr sz="4800" spc="-20" dirty="0">
                <a:solidFill>
                  <a:srgbClr val="FFFFFF"/>
                </a:solidFill>
                <a:latin typeface="Corbel"/>
                <a:cs typeface="Corbel"/>
              </a:rPr>
              <a:t>Register</a:t>
            </a:r>
            <a:r>
              <a:rPr sz="4800" spc="-155" dirty="0">
                <a:solidFill>
                  <a:srgbClr val="FFFFFF"/>
                </a:solidFill>
                <a:latin typeface="Corbel"/>
                <a:cs typeface="Corbel"/>
              </a:rPr>
              <a:t> </a:t>
            </a:r>
            <a:r>
              <a:rPr sz="4800" spc="-10" dirty="0">
                <a:solidFill>
                  <a:srgbClr val="FFFFFF"/>
                </a:solidFill>
                <a:latin typeface="Corbel"/>
                <a:cs typeface="Corbel"/>
              </a:rPr>
              <a:t>Allocation </a:t>
            </a:r>
            <a:r>
              <a:rPr sz="4800" spc="-25" dirty="0">
                <a:solidFill>
                  <a:srgbClr val="FFFFFF"/>
                </a:solidFill>
                <a:latin typeface="Corbel"/>
                <a:cs typeface="Corbel"/>
              </a:rPr>
              <a:t>and</a:t>
            </a:r>
            <a:endParaRPr sz="4800">
              <a:latin typeface="Corbel"/>
              <a:cs typeface="Corbel"/>
            </a:endParaRPr>
          </a:p>
          <a:p>
            <a:pPr marL="2540" algn="ctr">
              <a:lnSpc>
                <a:spcPct val="100000"/>
              </a:lnSpc>
            </a:pPr>
            <a:r>
              <a:rPr sz="4800" spc="-10" dirty="0">
                <a:solidFill>
                  <a:srgbClr val="FFFFFF"/>
                </a:solidFill>
                <a:latin typeface="Corbel"/>
                <a:cs typeface="Corbel"/>
              </a:rPr>
              <a:t>Assignment</a:t>
            </a:r>
            <a:endParaRPr sz="4800">
              <a:latin typeface="Corbel"/>
              <a:cs typeface="Corbe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35"/>
              </a:spcBef>
            </a:pPr>
            <a:endParaRPr sz="3600">
              <a:latin typeface="Times New Roman"/>
              <a:cs typeface="Times New Roman"/>
            </a:endParaRPr>
          </a:p>
          <a:p>
            <a:pPr marL="344170" marR="692785">
              <a:lnSpc>
                <a:spcPct val="89200"/>
              </a:lnSpc>
            </a:pPr>
            <a:r>
              <a:rPr sz="3600" b="1" spc="-10" dirty="0">
                <a:solidFill>
                  <a:srgbClr val="FFFFFF"/>
                </a:solidFill>
                <a:latin typeface="Cambria"/>
                <a:cs typeface="Cambria"/>
              </a:rPr>
              <a:t>Register Allocation </a:t>
            </a:r>
            <a:r>
              <a:rPr sz="3600" b="1" spc="-25" dirty="0">
                <a:solidFill>
                  <a:srgbClr val="FFFFFF"/>
                </a:solidFill>
                <a:latin typeface="Cambria"/>
                <a:cs typeface="Cambria"/>
              </a:rPr>
              <a:t>and </a:t>
            </a:r>
            <a:r>
              <a:rPr sz="3600" b="1" spc="-65" dirty="0">
                <a:solidFill>
                  <a:srgbClr val="FFFFFF"/>
                </a:solidFill>
                <a:latin typeface="Cambria"/>
                <a:cs typeface="Cambria"/>
              </a:rPr>
              <a:t>Assignment</a:t>
            </a:r>
            <a:endParaRPr sz="3600">
              <a:latin typeface="Cambria"/>
              <a:cs typeface="Cambria"/>
            </a:endParaRPr>
          </a:p>
        </p:txBody>
      </p:sp>
      <p:sp>
        <p:nvSpPr>
          <p:cNvPr id="3" name="object 3"/>
          <p:cNvSpPr txBox="1">
            <a:spLocks noGrp="1"/>
          </p:cNvSpPr>
          <p:nvPr>
            <p:ph type="title"/>
          </p:nvPr>
        </p:nvSpPr>
        <p:spPr>
          <a:xfrm>
            <a:off x="3608070" y="1264158"/>
            <a:ext cx="7211695" cy="835660"/>
          </a:xfrm>
          <a:prstGeom prst="rect">
            <a:avLst/>
          </a:prstGeom>
        </p:spPr>
        <p:txBody>
          <a:bodyPr vert="horz" wrap="square" lIns="0" tIns="60960" rIns="0" bIns="0" rtlCol="0">
            <a:spAutoFit/>
          </a:bodyPr>
          <a:lstStyle/>
          <a:p>
            <a:pPr marL="194945" marR="5080" indent="-182880">
              <a:lnSpc>
                <a:spcPts val="3020"/>
              </a:lnSpc>
              <a:spcBef>
                <a:spcPts val="480"/>
              </a:spcBef>
            </a:pPr>
            <a:r>
              <a:rPr sz="2800" spc="-1460" dirty="0">
                <a:solidFill>
                  <a:srgbClr val="40B9D2"/>
                </a:solidFill>
                <a:latin typeface="Arial MT"/>
                <a:cs typeface="Arial MT"/>
              </a:rPr>
              <a:t>🞄</a:t>
            </a:r>
            <a:r>
              <a:rPr sz="2800" spc="-350" dirty="0">
                <a:solidFill>
                  <a:srgbClr val="40B9D2"/>
                </a:solidFill>
                <a:latin typeface="Arial MT"/>
                <a:cs typeface="Arial MT"/>
              </a:rPr>
              <a:t> </a:t>
            </a:r>
            <a:r>
              <a:rPr sz="2800" dirty="0"/>
              <a:t>Efficient</a:t>
            </a:r>
            <a:r>
              <a:rPr sz="2800" spc="-140" dirty="0"/>
              <a:t> </a:t>
            </a:r>
            <a:r>
              <a:rPr sz="2800" dirty="0"/>
              <a:t>utilization</a:t>
            </a:r>
            <a:r>
              <a:rPr sz="2800" spc="-80" dirty="0"/>
              <a:t> </a:t>
            </a:r>
            <a:r>
              <a:rPr sz="2800" dirty="0"/>
              <a:t>of</a:t>
            </a:r>
            <a:r>
              <a:rPr sz="2800" spc="-75" dirty="0"/>
              <a:t> </a:t>
            </a:r>
            <a:r>
              <a:rPr sz="2800" spc="-10" dirty="0"/>
              <a:t>registers</a:t>
            </a:r>
            <a:r>
              <a:rPr sz="2800" spc="-80" dirty="0"/>
              <a:t> </a:t>
            </a:r>
            <a:r>
              <a:rPr sz="2800" dirty="0"/>
              <a:t>is</a:t>
            </a:r>
            <a:r>
              <a:rPr sz="2800" spc="-85" dirty="0"/>
              <a:t> </a:t>
            </a:r>
            <a:r>
              <a:rPr sz="2800" dirty="0"/>
              <a:t>important</a:t>
            </a:r>
            <a:r>
              <a:rPr sz="2800" spc="-65" dirty="0"/>
              <a:t> </a:t>
            </a:r>
            <a:r>
              <a:rPr sz="2800" spc="-25" dirty="0"/>
              <a:t>in </a:t>
            </a:r>
            <a:r>
              <a:rPr sz="2800" dirty="0"/>
              <a:t>generating</a:t>
            </a:r>
            <a:r>
              <a:rPr sz="2800" spc="-110" dirty="0"/>
              <a:t> </a:t>
            </a:r>
            <a:r>
              <a:rPr sz="2800" dirty="0"/>
              <a:t>good</a:t>
            </a:r>
            <a:r>
              <a:rPr sz="2800" spc="-95" dirty="0"/>
              <a:t> </a:t>
            </a:r>
            <a:r>
              <a:rPr sz="2800" spc="-20" dirty="0"/>
              <a:t>code.</a:t>
            </a:r>
            <a:endParaRPr sz="2800">
              <a:latin typeface="Arial MT"/>
              <a:cs typeface="Arial MT"/>
            </a:endParaRPr>
          </a:p>
        </p:txBody>
      </p:sp>
      <p:sp>
        <p:nvSpPr>
          <p:cNvPr id="4" name="object 4"/>
          <p:cNvSpPr txBox="1"/>
          <p:nvPr/>
        </p:nvSpPr>
        <p:spPr>
          <a:xfrm>
            <a:off x="3608070" y="2184907"/>
            <a:ext cx="7948295" cy="3342640"/>
          </a:xfrm>
          <a:prstGeom prst="rect">
            <a:avLst/>
          </a:prstGeom>
        </p:spPr>
        <p:txBody>
          <a:bodyPr vert="horz" wrap="square" lIns="0" tIns="60960" rIns="0" bIns="0" rtlCol="0">
            <a:spAutoFit/>
          </a:bodyPr>
          <a:lstStyle/>
          <a:p>
            <a:pPr marL="194945" marR="5080" indent="-182880">
              <a:lnSpc>
                <a:spcPts val="3020"/>
              </a:lnSpc>
              <a:spcBef>
                <a:spcPts val="480"/>
              </a:spcBef>
            </a:pPr>
            <a:r>
              <a:rPr sz="2800" spc="-1460" dirty="0">
                <a:solidFill>
                  <a:srgbClr val="40B9D2"/>
                </a:solidFill>
                <a:latin typeface="Arial MT"/>
                <a:cs typeface="Arial MT"/>
              </a:rPr>
              <a:t>🞄</a:t>
            </a:r>
            <a:r>
              <a:rPr sz="2800" spc="-350" dirty="0">
                <a:solidFill>
                  <a:srgbClr val="40B9D2"/>
                </a:solidFill>
                <a:latin typeface="Arial MT"/>
                <a:cs typeface="Arial MT"/>
              </a:rPr>
              <a:t> </a:t>
            </a:r>
            <a:r>
              <a:rPr sz="2800" dirty="0">
                <a:latin typeface="Cambria"/>
                <a:cs typeface="Cambria"/>
              </a:rPr>
              <a:t>There</a:t>
            </a:r>
            <a:r>
              <a:rPr sz="2800" spc="-140" dirty="0">
                <a:latin typeface="Cambria"/>
                <a:cs typeface="Cambria"/>
              </a:rPr>
              <a:t> </a:t>
            </a:r>
            <a:r>
              <a:rPr sz="2800" dirty="0">
                <a:latin typeface="Cambria"/>
                <a:cs typeface="Cambria"/>
              </a:rPr>
              <a:t>are</a:t>
            </a:r>
            <a:r>
              <a:rPr sz="2800" spc="-80" dirty="0">
                <a:latin typeface="Cambria"/>
                <a:cs typeface="Cambria"/>
              </a:rPr>
              <a:t> </a:t>
            </a:r>
            <a:r>
              <a:rPr sz="2800" dirty="0">
                <a:latin typeface="Cambria"/>
                <a:cs typeface="Cambria"/>
              </a:rPr>
              <a:t>four</a:t>
            </a:r>
            <a:r>
              <a:rPr sz="2800" spc="-75" dirty="0">
                <a:latin typeface="Cambria"/>
                <a:cs typeface="Cambria"/>
              </a:rPr>
              <a:t> </a:t>
            </a:r>
            <a:r>
              <a:rPr sz="2800" spc="-10" dirty="0">
                <a:latin typeface="Cambria"/>
                <a:cs typeface="Cambria"/>
              </a:rPr>
              <a:t>strategies</a:t>
            </a:r>
            <a:r>
              <a:rPr sz="2800" spc="-80" dirty="0">
                <a:latin typeface="Cambria"/>
                <a:cs typeface="Cambria"/>
              </a:rPr>
              <a:t> </a:t>
            </a:r>
            <a:r>
              <a:rPr sz="2800" dirty="0">
                <a:latin typeface="Cambria"/>
                <a:cs typeface="Cambria"/>
              </a:rPr>
              <a:t>for</a:t>
            </a:r>
            <a:r>
              <a:rPr sz="2800" spc="-80" dirty="0">
                <a:latin typeface="Cambria"/>
                <a:cs typeface="Cambria"/>
              </a:rPr>
              <a:t> </a:t>
            </a:r>
            <a:r>
              <a:rPr sz="2800" dirty="0">
                <a:latin typeface="Cambria"/>
                <a:cs typeface="Cambria"/>
              </a:rPr>
              <a:t>deciding</a:t>
            </a:r>
            <a:r>
              <a:rPr sz="2800" spc="-85" dirty="0">
                <a:latin typeface="Cambria"/>
                <a:cs typeface="Cambria"/>
              </a:rPr>
              <a:t> </a:t>
            </a:r>
            <a:r>
              <a:rPr sz="2800" dirty="0">
                <a:latin typeface="Cambria"/>
                <a:cs typeface="Cambria"/>
              </a:rPr>
              <a:t>what</a:t>
            </a:r>
            <a:r>
              <a:rPr sz="2800" spc="-70" dirty="0">
                <a:latin typeface="Cambria"/>
                <a:cs typeface="Cambria"/>
              </a:rPr>
              <a:t> </a:t>
            </a:r>
            <a:r>
              <a:rPr sz="2800" spc="-10" dirty="0">
                <a:latin typeface="Cambria"/>
                <a:cs typeface="Cambria"/>
              </a:rPr>
              <a:t>values </a:t>
            </a:r>
            <a:r>
              <a:rPr sz="2800" dirty="0">
                <a:latin typeface="Cambria"/>
                <a:cs typeface="Cambria"/>
              </a:rPr>
              <a:t>in</a:t>
            </a:r>
            <a:r>
              <a:rPr sz="2800" spc="-65" dirty="0">
                <a:latin typeface="Cambria"/>
                <a:cs typeface="Cambria"/>
              </a:rPr>
              <a:t> </a:t>
            </a:r>
            <a:r>
              <a:rPr sz="2800" dirty="0">
                <a:latin typeface="Cambria"/>
                <a:cs typeface="Cambria"/>
              </a:rPr>
              <a:t>a</a:t>
            </a:r>
            <a:r>
              <a:rPr sz="2800" spc="-65" dirty="0">
                <a:latin typeface="Cambria"/>
                <a:cs typeface="Cambria"/>
              </a:rPr>
              <a:t> </a:t>
            </a:r>
            <a:r>
              <a:rPr sz="2800" dirty="0">
                <a:latin typeface="Cambria"/>
                <a:cs typeface="Cambria"/>
              </a:rPr>
              <a:t>program</a:t>
            </a:r>
            <a:r>
              <a:rPr sz="2800" spc="-30" dirty="0">
                <a:latin typeface="Cambria"/>
                <a:cs typeface="Cambria"/>
              </a:rPr>
              <a:t> </a:t>
            </a:r>
            <a:r>
              <a:rPr sz="2800" dirty="0">
                <a:latin typeface="Cambria"/>
                <a:cs typeface="Cambria"/>
              </a:rPr>
              <a:t>should</a:t>
            </a:r>
            <a:r>
              <a:rPr sz="2800" spc="-55" dirty="0">
                <a:latin typeface="Cambria"/>
                <a:cs typeface="Cambria"/>
              </a:rPr>
              <a:t> </a:t>
            </a:r>
            <a:r>
              <a:rPr sz="2800" dirty="0">
                <a:latin typeface="Cambria"/>
                <a:cs typeface="Cambria"/>
              </a:rPr>
              <a:t>reside</a:t>
            </a:r>
            <a:r>
              <a:rPr sz="2800" spc="-60" dirty="0">
                <a:latin typeface="Cambria"/>
                <a:cs typeface="Cambria"/>
              </a:rPr>
              <a:t> </a:t>
            </a:r>
            <a:r>
              <a:rPr sz="2800" dirty="0">
                <a:latin typeface="Cambria"/>
                <a:cs typeface="Cambria"/>
              </a:rPr>
              <a:t>in</a:t>
            </a:r>
            <a:r>
              <a:rPr sz="2800" spc="-55" dirty="0">
                <a:latin typeface="Cambria"/>
                <a:cs typeface="Cambria"/>
              </a:rPr>
              <a:t> </a:t>
            </a:r>
            <a:r>
              <a:rPr sz="2800" dirty="0">
                <a:latin typeface="Cambria"/>
                <a:cs typeface="Cambria"/>
              </a:rPr>
              <a:t>a</a:t>
            </a:r>
            <a:r>
              <a:rPr sz="2800" spc="-55" dirty="0">
                <a:latin typeface="Cambria"/>
                <a:cs typeface="Cambria"/>
              </a:rPr>
              <a:t> </a:t>
            </a:r>
            <a:r>
              <a:rPr sz="2800" spc="-10" dirty="0">
                <a:latin typeface="Cambria"/>
                <a:cs typeface="Cambria"/>
              </a:rPr>
              <a:t>registers</a:t>
            </a:r>
            <a:r>
              <a:rPr sz="2800" spc="-55" dirty="0">
                <a:latin typeface="Cambria"/>
                <a:cs typeface="Cambria"/>
              </a:rPr>
              <a:t> </a:t>
            </a:r>
            <a:r>
              <a:rPr sz="2800" dirty="0">
                <a:latin typeface="Cambria"/>
                <a:cs typeface="Cambria"/>
              </a:rPr>
              <a:t>and</a:t>
            </a:r>
            <a:r>
              <a:rPr sz="2800" spc="-65" dirty="0">
                <a:latin typeface="Cambria"/>
                <a:cs typeface="Cambria"/>
              </a:rPr>
              <a:t> </a:t>
            </a:r>
            <a:r>
              <a:rPr sz="2800" spc="-10" dirty="0">
                <a:latin typeface="Cambria"/>
                <a:cs typeface="Cambria"/>
              </a:rPr>
              <a:t>which register</a:t>
            </a:r>
            <a:r>
              <a:rPr sz="2800" spc="-95" dirty="0">
                <a:latin typeface="Cambria"/>
                <a:cs typeface="Cambria"/>
              </a:rPr>
              <a:t> </a:t>
            </a:r>
            <a:r>
              <a:rPr sz="2800" dirty="0">
                <a:latin typeface="Cambria"/>
                <a:cs typeface="Cambria"/>
              </a:rPr>
              <a:t>each</a:t>
            </a:r>
            <a:r>
              <a:rPr sz="2800" spc="-100" dirty="0">
                <a:latin typeface="Cambria"/>
                <a:cs typeface="Cambria"/>
              </a:rPr>
              <a:t> </a:t>
            </a:r>
            <a:r>
              <a:rPr sz="2800" dirty="0">
                <a:latin typeface="Cambria"/>
                <a:cs typeface="Cambria"/>
              </a:rPr>
              <a:t>value</a:t>
            </a:r>
            <a:r>
              <a:rPr sz="2800" spc="-85" dirty="0">
                <a:latin typeface="Cambria"/>
                <a:cs typeface="Cambria"/>
              </a:rPr>
              <a:t> </a:t>
            </a:r>
            <a:r>
              <a:rPr sz="2800" dirty="0">
                <a:latin typeface="Cambria"/>
                <a:cs typeface="Cambria"/>
              </a:rPr>
              <a:t>should</a:t>
            </a:r>
            <a:r>
              <a:rPr sz="2800" spc="-95" dirty="0">
                <a:latin typeface="Cambria"/>
                <a:cs typeface="Cambria"/>
              </a:rPr>
              <a:t> </a:t>
            </a:r>
            <a:r>
              <a:rPr sz="2800" spc="-10" dirty="0">
                <a:latin typeface="Cambria"/>
                <a:cs typeface="Cambria"/>
              </a:rPr>
              <a:t>reside.</a:t>
            </a:r>
            <a:endParaRPr sz="2800">
              <a:latin typeface="Cambria"/>
              <a:cs typeface="Cambria"/>
            </a:endParaRPr>
          </a:p>
          <a:p>
            <a:pPr marL="12700">
              <a:lnSpc>
                <a:spcPct val="100000"/>
              </a:lnSpc>
              <a:spcBef>
                <a:spcPts val="830"/>
              </a:spcBef>
            </a:pPr>
            <a:r>
              <a:rPr sz="2800" spc="-1460" dirty="0">
                <a:solidFill>
                  <a:srgbClr val="40B9D2"/>
                </a:solidFill>
                <a:latin typeface="Arial MT"/>
                <a:cs typeface="Arial MT"/>
              </a:rPr>
              <a:t>🞄</a:t>
            </a:r>
            <a:r>
              <a:rPr sz="2800" spc="-350" dirty="0">
                <a:solidFill>
                  <a:srgbClr val="40B9D2"/>
                </a:solidFill>
                <a:latin typeface="Arial MT"/>
                <a:cs typeface="Arial MT"/>
              </a:rPr>
              <a:t> </a:t>
            </a:r>
            <a:r>
              <a:rPr sz="2800" spc="-10" dirty="0">
                <a:latin typeface="Cambria"/>
                <a:cs typeface="Cambria"/>
              </a:rPr>
              <a:t>Strategies</a:t>
            </a:r>
            <a:r>
              <a:rPr sz="2800" spc="-75" dirty="0">
                <a:latin typeface="Cambria"/>
                <a:cs typeface="Cambria"/>
              </a:rPr>
              <a:t> </a:t>
            </a:r>
            <a:r>
              <a:rPr sz="2800" spc="-20" dirty="0">
                <a:latin typeface="Cambria"/>
                <a:cs typeface="Cambria"/>
              </a:rPr>
              <a:t>are:</a:t>
            </a:r>
            <a:endParaRPr sz="2800">
              <a:latin typeface="Cambria"/>
              <a:cs typeface="Cambria"/>
            </a:endParaRPr>
          </a:p>
          <a:p>
            <a:pPr marL="514984">
              <a:lnSpc>
                <a:spcPct val="100000"/>
              </a:lnSpc>
              <a:spcBef>
                <a:spcPts val="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Global</a:t>
            </a:r>
            <a:r>
              <a:rPr sz="2400" spc="-80" dirty="0">
                <a:latin typeface="Cambria"/>
                <a:cs typeface="Cambria"/>
              </a:rPr>
              <a:t> </a:t>
            </a:r>
            <a:r>
              <a:rPr sz="2400" spc="-10" dirty="0">
                <a:latin typeface="Cambria"/>
                <a:cs typeface="Cambria"/>
              </a:rPr>
              <a:t>Register</a:t>
            </a:r>
            <a:r>
              <a:rPr sz="2400" spc="-35" dirty="0">
                <a:latin typeface="Cambria"/>
                <a:cs typeface="Cambria"/>
              </a:rPr>
              <a:t> </a:t>
            </a:r>
            <a:r>
              <a:rPr sz="2400" spc="-10" dirty="0">
                <a:latin typeface="Cambria"/>
                <a:cs typeface="Cambria"/>
              </a:rPr>
              <a:t>Allocation</a:t>
            </a:r>
            <a:endParaRPr sz="2400">
              <a:latin typeface="Cambria"/>
              <a:cs typeface="Cambria"/>
            </a:endParaRPr>
          </a:p>
          <a:p>
            <a:pPr marL="514984">
              <a:lnSpc>
                <a:spcPct val="100000"/>
              </a:lnSpc>
              <a:spcBef>
                <a:spcPts val="3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Usage</a:t>
            </a:r>
            <a:r>
              <a:rPr sz="2400" spc="-75" dirty="0">
                <a:latin typeface="Cambria"/>
                <a:cs typeface="Cambria"/>
              </a:rPr>
              <a:t> </a:t>
            </a:r>
            <a:r>
              <a:rPr sz="2400" spc="-10" dirty="0">
                <a:latin typeface="Cambria"/>
                <a:cs typeface="Cambria"/>
              </a:rPr>
              <a:t>Count</a:t>
            </a:r>
            <a:endParaRPr sz="2400">
              <a:latin typeface="Cambria"/>
              <a:cs typeface="Cambria"/>
            </a:endParaRPr>
          </a:p>
          <a:p>
            <a:pPr marL="514984">
              <a:lnSpc>
                <a:spcPct val="100000"/>
              </a:lnSpc>
              <a:spcBef>
                <a:spcPts val="3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Register</a:t>
            </a:r>
            <a:r>
              <a:rPr sz="2400" spc="-100" dirty="0">
                <a:latin typeface="Cambria"/>
                <a:cs typeface="Cambria"/>
              </a:rPr>
              <a:t> </a:t>
            </a:r>
            <a:r>
              <a:rPr sz="2400" spc="-10" dirty="0">
                <a:latin typeface="Cambria"/>
                <a:cs typeface="Cambria"/>
              </a:rPr>
              <a:t>Assignment</a:t>
            </a:r>
            <a:r>
              <a:rPr sz="2400" spc="-50" dirty="0">
                <a:latin typeface="Cambria"/>
                <a:cs typeface="Cambria"/>
              </a:rPr>
              <a:t> </a:t>
            </a:r>
            <a:r>
              <a:rPr sz="2400" dirty="0">
                <a:latin typeface="Cambria"/>
                <a:cs typeface="Cambria"/>
              </a:rPr>
              <a:t>for</a:t>
            </a:r>
            <a:r>
              <a:rPr sz="2400" spc="-70" dirty="0">
                <a:latin typeface="Cambria"/>
                <a:cs typeface="Cambria"/>
              </a:rPr>
              <a:t> </a:t>
            </a:r>
            <a:r>
              <a:rPr sz="2400" dirty="0">
                <a:latin typeface="Cambria"/>
                <a:cs typeface="Cambria"/>
              </a:rPr>
              <a:t>Outer</a:t>
            </a:r>
            <a:r>
              <a:rPr sz="2400" spc="-50" dirty="0">
                <a:latin typeface="Cambria"/>
                <a:cs typeface="Cambria"/>
              </a:rPr>
              <a:t> </a:t>
            </a:r>
            <a:r>
              <a:rPr sz="2400" spc="-20" dirty="0">
                <a:latin typeface="Cambria"/>
                <a:cs typeface="Cambria"/>
              </a:rPr>
              <a:t>Loop</a:t>
            </a:r>
            <a:endParaRPr sz="2400">
              <a:latin typeface="Cambria"/>
              <a:cs typeface="Cambria"/>
            </a:endParaRPr>
          </a:p>
          <a:p>
            <a:pPr marL="514984">
              <a:lnSpc>
                <a:spcPct val="100000"/>
              </a:lnSpc>
              <a:spcBef>
                <a:spcPts val="3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Register</a:t>
            </a:r>
            <a:r>
              <a:rPr sz="2400" spc="-105" dirty="0">
                <a:latin typeface="Cambria"/>
                <a:cs typeface="Cambria"/>
              </a:rPr>
              <a:t> </a:t>
            </a:r>
            <a:r>
              <a:rPr sz="2400" dirty="0">
                <a:latin typeface="Cambria"/>
                <a:cs typeface="Cambria"/>
              </a:rPr>
              <a:t>Allocation</a:t>
            </a:r>
            <a:r>
              <a:rPr sz="2400" spc="-55" dirty="0">
                <a:latin typeface="Cambria"/>
                <a:cs typeface="Cambria"/>
              </a:rPr>
              <a:t> </a:t>
            </a:r>
            <a:r>
              <a:rPr sz="2400" dirty="0">
                <a:latin typeface="Cambria"/>
                <a:cs typeface="Cambria"/>
              </a:rPr>
              <a:t>for</a:t>
            </a:r>
            <a:r>
              <a:rPr sz="2400" spc="-70" dirty="0">
                <a:latin typeface="Cambria"/>
                <a:cs typeface="Cambria"/>
              </a:rPr>
              <a:t> </a:t>
            </a:r>
            <a:r>
              <a:rPr sz="2400" dirty="0">
                <a:latin typeface="Cambria"/>
                <a:cs typeface="Cambria"/>
              </a:rPr>
              <a:t>Graph</a:t>
            </a:r>
            <a:r>
              <a:rPr sz="2400" spc="-50" dirty="0">
                <a:latin typeface="Cambria"/>
                <a:cs typeface="Cambria"/>
              </a:rPr>
              <a:t> </a:t>
            </a:r>
            <a:r>
              <a:rPr sz="2400" spc="-10" dirty="0">
                <a:latin typeface="Cambria"/>
                <a:cs typeface="Cambria"/>
              </a:rPr>
              <a:t>Coloring</a:t>
            </a:r>
            <a:endParaRPr sz="2400">
              <a:latin typeface="Cambria"/>
              <a:cs typeface="Cambri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1012825">
              <a:lnSpc>
                <a:spcPts val="3890"/>
              </a:lnSpc>
            </a:pPr>
            <a:r>
              <a:rPr sz="3600" b="1" spc="-10" dirty="0">
                <a:solidFill>
                  <a:srgbClr val="FFFFFF"/>
                </a:solidFill>
                <a:latin typeface="Cambria"/>
                <a:cs typeface="Cambria"/>
              </a:rPr>
              <a:t>Global Register </a:t>
            </a:r>
            <a:r>
              <a:rPr sz="3600" b="1" spc="-65" dirty="0">
                <a:solidFill>
                  <a:srgbClr val="FFFFFF"/>
                </a:solidFill>
                <a:latin typeface="Cambria"/>
                <a:cs typeface="Cambria"/>
              </a:rPr>
              <a:t>Allocation</a:t>
            </a:r>
            <a:endParaRPr sz="3600">
              <a:latin typeface="Cambria"/>
              <a:cs typeface="Cambria"/>
            </a:endParaRPr>
          </a:p>
        </p:txBody>
      </p:sp>
      <p:sp>
        <p:nvSpPr>
          <p:cNvPr id="3" name="object 3"/>
          <p:cNvSpPr txBox="1">
            <a:spLocks noGrp="1"/>
          </p:cNvSpPr>
          <p:nvPr>
            <p:ph type="title"/>
          </p:nvPr>
        </p:nvSpPr>
        <p:spPr>
          <a:xfrm>
            <a:off x="3556508" y="128727"/>
            <a:ext cx="6956425" cy="391795"/>
          </a:xfrm>
          <a:prstGeom prst="rect">
            <a:avLst/>
          </a:prstGeom>
        </p:spPr>
        <p:txBody>
          <a:bodyPr vert="horz" wrap="square" lIns="0" tIns="12700" rIns="0" bIns="0" rtlCol="0">
            <a:spAutoFit/>
          </a:bodyPr>
          <a:lstStyle/>
          <a:p>
            <a:pPr marL="12700">
              <a:lnSpc>
                <a:spcPct val="100000"/>
              </a:lnSpc>
              <a:spcBef>
                <a:spcPts val="100"/>
              </a:spcBef>
            </a:pPr>
            <a:r>
              <a:rPr b="1" dirty="0">
                <a:latin typeface="Cambria"/>
                <a:cs typeface="Cambria"/>
              </a:rPr>
              <a:t>Strategies</a:t>
            </a:r>
            <a:r>
              <a:rPr b="1" spc="-60" dirty="0">
                <a:latin typeface="Cambria"/>
                <a:cs typeface="Cambria"/>
              </a:rPr>
              <a:t> </a:t>
            </a:r>
            <a:r>
              <a:rPr b="1" spc="-10" dirty="0">
                <a:latin typeface="Cambria"/>
                <a:cs typeface="Cambria"/>
              </a:rPr>
              <a:t>adopted</a:t>
            </a:r>
            <a:r>
              <a:rPr b="1" spc="-35" dirty="0">
                <a:latin typeface="Cambria"/>
                <a:cs typeface="Cambria"/>
              </a:rPr>
              <a:t> </a:t>
            </a:r>
            <a:r>
              <a:rPr b="1" dirty="0">
                <a:latin typeface="Cambria"/>
                <a:cs typeface="Cambria"/>
              </a:rPr>
              <a:t>while</a:t>
            </a:r>
            <a:r>
              <a:rPr b="1" spc="-75" dirty="0">
                <a:latin typeface="Cambria"/>
                <a:cs typeface="Cambria"/>
              </a:rPr>
              <a:t> </a:t>
            </a:r>
            <a:r>
              <a:rPr b="1" dirty="0">
                <a:latin typeface="Cambria"/>
                <a:cs typeface="Cambria"/>
              </a:rPr>
              <a:t>doing</a:t>
            </a:r>
            <a:r>
              <a:rPr b="1" spc="-55" dirty="0">
                <a:latin typeface="Cambria"/>
                <a:cs typeface="Cambria"/>
              </a:rPr>
              <a:t> </a:t>
            </a:r>
            <a:r>
              <a:rPr b="1" dirty="0">
                <a:latin typeface="Cambria"/>
                <a:cs typeface="Cambria"/>
              </a:rPr>
              <a:t>the</a:t>
            </a:r>
            <a:r>
              <a:rPr b="1" spc="-60" dirty="0">
                <a:latin typeface="Cambria"/>
                <a:cs typeface="Cambria"/>
              </a:rPr>
              <a:t> </a:t>
            </a:r>
            <a:r>
              <a:rPr b="1" dirty="0">
                <a:latin typeface="Cambria"/>
                <a:cs typeface="Cambria"/>
              </a:rPr>
              <a:t>global</a:t>
            </a:r>
            <a:r>
              <a:rPr b="1" spc="-65" dirty="0">
                <a:latin typeface="Cambria"/>
                <a:cs typeface="Cambria"/>
              </a:rPr>
              <a:t> </a:t>
            </a:r>
            <a:r>
              <a:rPr b="1" spc="-10" dirty="0">
                <a:latin typeface="Cambria"/>
                <a:cs typeface="Cambria"/>
              </a:rPr>
              <a:t>register</a:t>
            </a:r>
          </a:p>
        </p:txBody>
      </p:sp>
      <p:sp>
        <p:nvSpPr>
          <p:cNvPr id="4" name="object 4"/>
          <p:cNvSpPr txBox="1"/>
          <p:nvPr/>
        </p:nvSpPr>
        <p:spPr>
          <a:xfrm>
            <a:off x="3556508" y="342646"/>
            <a:ext cx="7986395" cy="6336030"/>
          </a:xfrm>
          <a:prstGeom prst="rect">
            <a:avLst/>
          </a:prstGeom>
        </p:spPr>
        <p:txBody>
          <a:bodyPr vert="horz" wrap="square" lIns="0" tIns="128270" rIns="0" bIns="0" rtlCol="0">
            <a:spAutoFit/>
          </a:bodyPr>
          <a:lstStyle/>
          <a:p>
            <a:pPr marL="12700">
              <a:lnSpc>
                <a:spcPct val="100000"/>
              </a:lnSpc>
              <a:spcBef>
                <a:spcPts val="1010"/>
              </a:spcBef>
            </a:pPr>
            <a:r>
              <a:rPr sz="2400" b="1" dirty="0">
                <a:latin typeface="Cambria"/>
                <a:cs typeface="Cambria"/>
              </a:rPr>
              <a:t>allocation</a:t>
            </a:r>
            <a:r>
              <a:rPr sz="2400" b="1" spc="-70" dirty="0">
                <a:latin typeface="Cambria"/>
                <a:cs typeface="Cambria"/>
              </a:rPr>
              <a:t> </a:t>
            </a:r>
            <a:r>
              <a:rPr sz="2400" b="1" spc="-20" dirty="0">
                <a:latin typeface="Cambria"/>
                <a:cs typeface="Cambria"/>
              </a:rPr>
              <a:t>are:</a:t>
            </a:r>
            <a:endParaRPr sz="2400">
              <a:latin typeface="Cambria"/>
              <a:cs typeface="Cambria"/>
            </a:endParaRPr>
          </a:p>
          <a:p>
            <a:pPr marL="194945" marR="5080" indent="-182880">
              <a:lnSpc>
                <a:spcPct val="90100"/>
              </a:lnSpc>
              <a:spcBef>
                <a:spcPts val="12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5" dirty="0">
                <a:latin typeface="Cambria"/>
                <a:cs typeface="Cambria"/>
              </a:rPr>
              <a:t> </a:t>
            </a:r>
            <a:r>
              <a:rPr sz="2400" dirty="0">
                <a:latin typeface="Cambria"/>
                <a:cs typeface="Cambria"/>
              </a:rPr>
              <a:t>global</a:t>
            </a:r>
            <a:r>
              <a:rPr sz="2400" spc="-40" dirty="0">
                <a:latin typeface="Cambria"/>
                <a:cs typeface="Cambria"/>
              </a:rPr>
              <a:t> </a:t>
            </a:r>
            <a:r>
              <a:rPr sz="2400" spc="-10" dirty="0">
                <a:latin typeface="Cambria"/>
                <a:cs typeface="Cambria"/>
              </a:rPr>
              <a:t>register</a:t>
            </a:r>
            <a:r>
              <a:rPr sz="2400" spc="-60" dirty="0">
                <a:latin typeface="Cambria"/>
                <a:cs typeface="Cambria"/>
              </a:rPr>
              <a:t> </a:t>
            </a:r>
            <a:r>
              <a:rPr sz="2400" dirty="0">
                <a:latin typeface="Cambria"/>
                <a:cs typeface="Cambria"/>
              </a:rPr>
              <a:t>allocation</a:t>
            </a:r>
            <a:r>
              <a:rPr sz="2400" spc="-50" dirty="0">
                <a:latin typeface="Cambria"/>
                <a:cs typeface="Cambria"/>
              </a:rPr>
              <a:t> </a:t>
            </a:r>
            <a:r>
              <a:rPr sz="2400" dirty="0">
                <a:latin typeface="Cambria"/>
                <a:cs typeface="Cambria"/>
              </a:rPr>
              <a:t>has</a:t>
            </a:r>
            <a:r>
              <a:rPr sz="2400" spc="-35" dirty="0">
                <a:latin typeface="Cambria"/>
                <a:cs typeface="Cambria"/>
              </a:rPr>
              <a:t> </a:t>
            </a:r>
            <a:r>
              <a:rPr sz="2400" dirty="0">
                <a:latin typeface="Cambria"/>
                <a:cs typeface="Cambria"/>
              </a:rPr>
              <a:t>a</a:t>
            </a:r>
            <a:r>
              <a:rPr sz="2400" spc="-50" dirty="0">
                <a:latin typeface="Cambria"/>
                <a:cs typeface="Cambria"/>
              </a:rPr>
              <a:t> </a:t>
            </a:r>
            <a:r>
              <a:rPr sz="2400" spc="-10" dirty="0">
                <a:latin typeface="Cambria"/>
                <a:cs typeface="Cambria"/>
              </a:rPr>
              <a:t>strategy</a:t>
            </a:r>
            <a:r>
              <a:rPr sz="2400" spc="-45"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storing</a:t>
            </a:r>
            <a:r>
              <a:rPr sz="2400" spc="-55" dirty="0">
                <a:latin typeface="Cambria"/>
                <a:cs typeface="Cambria"/>
              </a:rPr>
              <a:t> </a:t>
            </a:r>
            <a:r>
              <a:rPr sz="2400" spc="-25" dirty="0">
                <a:latin typeface="Cambria"/>
                <a:cs typeface="Cambria"/>
              </a:rPr>
              <a:t>the </a:t>
            </a:r>
            <a:r>
              <a:rPr sz="2400" dirty="0">
                <a:latin typeface="Cambria"/>
                <a:cs typeface="Cambria"/>
              </a:rPr>
              <a:t>most</a:t>
            </a:r>
            <a:r>
              <a:rPr sz="2400" spc="-50" dirty="0">
                <a:latin typeface="Cambria"/>
                <a:cs typeface="Cambria"/>
              </a:rPr>
              <a:t> </a:t>
            </a:r>
            <a:r>
              <a:rPr sz="2400" spc="-10" dirty="0">
                <a:latin typeface="Cambria"/>
                <a:cs typeface="Cambria"/>
              </a:rPr>
              <a:t>frequently</a:t>
            </a:r>
            <a:r>
              <a:rPr sz="2400" spc="-80" dirty="0">
                <a:latin typeface="Cambria"/>
                <a:cs typeface="Cambria"/>
              </a:rPr>
              <a:t> </a:t>
            </a:r>
            <a:r>
              <a:rPr sz="2400" dirty="0">
                <a:latin typeface="Cambria"/>
                <a:cs typeface="Cambria"/>
              </a:rPr>
              <a:t>used</a:t>
            </a:r>
            <a:r>
              <a:rPr sz="2400" spc="-60" dirty="0">
                <a:latin typeface="Cambria"/>
                <a:cs typeface="Cambria"/>
              </a:rPr>
              <a:t> </a:t>
            </a:r>
            <a:r>
              <a:rPr sz="2400" dirty="0">
                <a:latin typeface="Cambria"/>
                <a:cs typeface="Cambria"/>
              </a:rPr>
              <a:t>variables</a:t>
            </a:r>
            <a:r>
              <a:rPr sz="2400" spc="-70" dirty="0">
                <a:latin typeface="Cambria"/>
                <a:cs typeface="Cambria"/>
              </a:rPr>
              <a:t> </a:t>
            </a:r>
            <a:r>
              <a:rPr sz="2400" dirty="0">
                <a:latin typeface="Cambria"/>
                <a:cs typeface="Cambria"/>
              </a:rPr>
              <a:t>in</a:t>
            </a:r>
            <a:r>
              <a:rPr sz="2400" spc="-65" dirty="0">
                <a:latin typeface="Cambria"/>
                <a:cs typeface="Cambria"/>
              </a:rPr>
              <a:t> </a:t>
            </a:r>
            <a:r>
              <a:rPr sz="2400" dirty="0">
                <a:latin typeface="Cambria"/>
                <a:cs typeface="Cambria"/>
              </a:rPr>
              <a:t>fixed</a:t>
            </a:r>
            <a:r>
              <a:rPr sz="2400" spc="-80" dirty="0">
                <a:latin typeface="Cambria"/>
                <a:cs typeface="Cambria"/>
              </a:rPr>
              <a:t> </a:t>
            </a:r>
            <a:r>
              <a:rPr sz="2400" spc="-10" dirty="0">
                <a:latin typeface="Cambria"/>
                <a:cs typeface="Cambria"/>
              </a:rPr>
              <a:t>registers</a:t>
            </a:r>
            <a:r>
              <a:rPr sz="2400" spc="-80" dirty="0">
                <a:latin typeface="Cambria"/>
                <a:cs typeface="Cambria"/>
              </a:rPr>
              <a:t> </a:t>
            </a:r>
            <a:r>
              <a:rPr sz="2400" spc="-10" dirty="0">
                <a:latin typeface="Cambria"/>
                <a:cs typeface="Cambria"/>
              </a:rPr>
              <a:t>throughout </a:t>
            </a:r>
            <a:r>
              <a:rPr sz="2400" dirty="0">
                <a:latin typeface="Cambria"/>
                <a:cs typeface="Cambria"/>
              </a:rPr>
              <a:t>the</a:t>
            </a:r>
            <a:r>
              <a:rPr sz="2400" spc="-35" dirty="0">
                <a:latin typeface="Cambria"/>
                <a:cs typeface="Cambria"/>
              </a:rPr>
              <a:t> </a:t>
            </a:r>
            <a:r>
              <a:rPr sz="2400" spc="-10" dirty="0">
                <a:latin typeface="Cambria"/>
                <a:cs typeface="Cambria"/>
              </a:rPr>
              <a:t>loop.</a:t>
            </a:r>
            <a:endParaRPr sz="2400">
              <a:latin typeface="Cambria"/>
              <a:cs typeface="Cambria"/>
            </a:endParaRPr>
          </a:p>
          <a:p>
            <a:pPr marL="194945" marR="274320" indent="-182880">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Another</a:t>
            </a:r>
            <a:r>
              <a:rPr sz="2400" spc="-105" dirty="0">
                <a:latin typeface="Cambria"/>
                <a:cs typeface="Cambria"/>
              </a:rPr>
              <a:t> </a:t>
            </a:r>
            <a:r>
              <a:rPr sz="2400" spc="-10" dirty="0">
                <a:latin typeface="Cambria"/>
                <a:cs typeface="Cambria"/>
              </a:rPr>
              <a:t>strategy</a:t>
            </a:r>
            <a:r>
              <a:rPr sz="2400" spc="-70" dirty="0">
                <a:latin typeface="Cambria"/>
                <a:cs typeface="Cambria"/>
              </a:rPr>
              <a:t> </a:t>
            </a:r>
            <a:r>
              <a:rPr sz="2400" dirty="0">
                <a:latin typeface="Cambria"/>
                <a:cs typeface="Cambria"/>
              </a:rPr>
              <a:t>is</a:t>
            </a:r>
            <a:r>
              <a:rPr sz="2400" spc="-45" dirty="0">
                <a:latin typeface="Cambria"/>
                <a:cs typeface="Cambria"/>
              </a:rPr>
              <a:t> </a:t>
            </a:r>
            <a:r>
              <a:rPr sz="2400" dirty="0">
                <a:latin typeface="Cambria"/>
                <a:cs typeface="Cambria"/>
              </a:rPr>
              <a:t>to</a:t>
            </a:r>
            <a:r>
              <a:rPr sz="2400" spc="-45" dirty="0">
                <a:latin typeface="Cambria"/>
                <a:cs typeface="Cambria"/>
              </a:rPr>
              <a:t> </a:t>
            </a:r>
            <a:r>
              <a:rPr sz="2400" dirty="0">
                <a:latin typeface="Cambria"/>
                <a:cs typeface="Cambria"/>
              </a:rPr>
              <a:t>assign</a:t>
            </a:r>
            <a:r>
              <a:rPr sz="2400" spc="-55" dirty="0">
                <a:latin typeface="Cambria"/>
                <a:cs typeface="Cambria"/>
              </a:rPr>
              <a:t> </a:t>
            </a:r>
            <a:r>
              <a:rPr sz="2400" dirty="0">
                <a:latin typeface="Cambria"/>
                <a:cs typeface="Cambria"/>
              </a:rPr>
              <a:t>some</a:t>
            </a:r>
            <a:r>
              <a:rPr sz="2400" spc="-35" dirty="0">
                <a:latin typeface="Cambria"/>
                <a:cs typeface="Cambria"/>
              </a:rPr>
              <a:t> </a:t>
            </a:r>
            <a:r>
              <a:rPr sz="2400" dirty="0">
                <a:latin typeface="Cambria"/>
                <a:cs typeface="Cambria"/>
              </a:rPr>
              <a:t>fixed</a:t>
            </a:r>
            <a:r>
              <a:rPr sz="2400" spc="-65" dirty="0">
                <a:latin typeface="Cambria"/>
                <a:cs typeface="Cambria"/>
              </a:rPr>
              <a:t> </a:t>
            </a:r>
            <a:r>
              <a:rPr sz="2400" dirty="0">
                <a:latin typeface="Cambria"/>
                <a:cs typeface="Cambria"/>
              </a:rPr>
              <a:t>number</a:t>
            </a:r>
            <a:r>
              <a:rPr sz="2400" spc="-40" dirty="0">
                <a:latin typeface="Cambria"/>
                <a:cs typeface="Cambria"/>
              </a:rPr>
              <a:t> </a:t>
            </a:r>
            <a:r>
              <a:rPr sz="2400" dirty="0">
                <a:latin typeface="Cambria"/>
                <a:cs typeface="Cambria"/>
              </a:rPr>
              <a:t>of</a:t>
            </a:r>
            <a:r>
              <a:rPr sz="2400" spc="-45" dirty="0">
                <a:latin typeface="Cambria"/>
                <a:cs typeface="Cambria"/>
              </a:rPr>
              <a:t> </a:t>
            </a:r>
            <a:r>
              <a:rPr sz="2400" spc="-10" dirty="0">
                <a:latin typeface="Cambria"/>
                <a:cs typeface="Cambria"/>
              </a:rPr>
              <a:t>global registers</a:t>
            </a:r>
            <a:r>
              <a:rPr sz="2400" spc="-75" dirty="0">
                <a:latin typeface="Cambria"/>
                <a:cs typeface="Cambria"/>
              </a:rPr>
              <a:t> </a:t>
            </a:r>
            <a:r>
              <a:rPr sz="2400" dirty="0">
                <a:latin typeface="Cambria"/>
                <a:cs typeface="Cambria"/>
              </a:rPr>
              <a:t>to</a:t>
            </a:r>
            <a:r>
              <a:rPr sz="2400" spc="-55" dirty="0">
                <a:latin typeface="Cambria"/>
                <a:cs typeface="Cambria"/>
              </a:rPr>
              <a:t> </a:t>
            </a:r>
            <a:r>
              <a:rPr sz="2400" dirty="0">
                <a:latin typeface="Cambria"/>
                <a:cs typeface="Cambria"/>
              </a:rPr>
              <a:t>hold</a:t>
            </a:r>
            <a:r>
              <a:rPr sz="2400" spc="-55" dirty="0">
                <a:latin typeface="Cambria"/>
                <a:cs typeface="Cambria"/>
              </a:rPr>
              <a:t> </a:t>
            </a:r>
            <a:r>
              <a:rPr sz="2400" dirty="0">
                <a:latin typeface="Cambria"/>
                <a:cs typeface="Cambria"/>
              </a:rPr>
              <a:t>the</a:t>
            </a:r>
            <a:r>
              <a:rPr sz="2400" spc="-55" dirty="0">
                <a:latin typeface="Cambria"/>
                <a:cs typeface="Cambria"/>
              </a:rPr>
              <a:t> </a:t>
            </a:r>
            <a:r>
              <a:rPr sz="2400" dirty="0">
                <a:latin typeface="Cambria"/>
                <a:cs typeface="Cambria"/>
              </a:rPr>
              <a:t>most</a:t>
            </a:r>
            <a:r>
              <a:rPr sz="2400" spc="-45" dirty="0">
                <a:latin typeface="Cambria"/>
                <a:cs typeface="Cambria"/>
              </a:rPr>
              <a:t> </a:t>
            </a:r>
            <a:r>
              <a:rPr sz="2400" spc="-10" dirty="0">
                <a:latin typeface="Cambria"/>
                <a:cs typeface="Cambria"/>
              </a:rPr>
              <a:t>active</a:t>
            </a:r>
            <a:r>
              <a:rPr sz="2400" spc="-65" dirty="0">
                <a:latin typeface="Cambria"/>
                <a:cs typeface="Cambria"/>
              </a:rPr>
              <a:t> </a:t>
            </a:r>
            <a:r>
              <a:rPr sz="2400" dirty="0">
                <a:latin typeface="Cambria"/>
                <a:cs typeface="Cambria"/>
              </a:rPr>
              <a:t>values</a:t>
            </a:r>
            <a:r>
              <a:rPr sz="2400" spc="-55" dirty="0">
                <a:latin typeface="Cambria"/>
                <a:cs typeface="Cambria"/>
              </a:rPr>
              <a:t> </a:t>
            </a:r>
            <a:r>
              <a:rPr sz="2400" dirty="0">
                <a:latin typeface="Cambria"/>
                <a:cs typeface="Cambria"/>
              </a:rPr>
              <a:t>in</a:t>
            </a:r>
            <a:r>
              <a:rPr sz="2400" spc="-60" dirty="0">
                <a:latin typeface="Cambria"/>
                <a:cs typeface="Cambria"/>
              </a:rPr>
              <a:t> </a:t>
            </a:r>
            <a:r>
              <a:rPr sz="2400" dirty="0">
                <a:latin typeface="Cambria"/>
                <a:cs typeface="Cambria"/>
              </a:rPr>
              <a:t>each</a:t>
            </a:r>
            <a:r>
              <a:rPr sz="2400" spc="-65" dirty="0">
                <a:latin typeface="Cambria"/>
                <a:cs typeface="Cambria"/>
              </a:rPr>
              <a:t> </a:t>
            </a:r>
            <a:r>
              <a:rPr sz="2400" dirty="0">
                <a:latin typeface="Cambria"/>
                <a:cs typeface="Cambria"/>
              </a:rPr>
              <a:t>inner</a:t>
            </a:r>
            <a:r>
              <a:rPr sz="2400" spc="-75" dirty="0">
                <a:latin typeface="Cambria"/>
                <a:cs typeface="Cambria"/>
              </a:rPr>
              <a:t> </a:t>
            </a:r>
            <a:r>
              <a:rPr sz="2400" spc="-10" dirty="0">
                <a:latin typeface="Cambria"/>
                <a:cs typeface="Cambria"/>
              </a:rPr>
              <a:t>loop.</a:t>
            </a:r>
            <a:endParaRPr sz="2400">
              <a:latin typeface="Cambria"/>
              <a:cs typeface="Cambria"/>
            </a:endParaRPr>
          </a:p>
          <a:p>
            <a:pPr marL="194945" marR="141605" indent="-182880">
              <a:lnSpc>
                <a:spcPts val="2590"/>
              </a:lnSpc>
              <a:spcBef>
                <a:spcPts val="120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95" dirty="0">
                <a:latin typeface="Cambria"/>
                <a:cs typeface="Cambria"/>
              </a:rPr>
              <a:t> </a:t>
            </a:r>
            <a:r>
              <a:rPr sz="2400" spc="-10" dirty="0">
                <a:latin typeface="Cambria"/>
                <a:cs typeface="Cambria"/>
              </a:rPr>
              <a:t>registers</a:t>
            </a:r>
            <a:r>
              <a:rPr sz="2400" spc="-60" dirty="0">
                <a:latin typeface="Cambria"/>
                <a:cs typeface="Cambria"/>
              </a:rPr>
              <a:t> </a:t>
            </a:r>
            <a:r>
              <a:rPr sz="2400" dirty="0">
                <a:latin typeface="Cambria"/>
                <a:cs typeface="Cambria"/>
              </a:rPr>
              <a:t>are</a:t>
            </a:r>
            <a:r>
              <a:rPr sz="2400" spc="-55" dirty="0">
                <a:latin typeface="Cambria"/>
                <a:cs typeface="Cambria"/>
              </a:rPr>
              <a:t> </a:t>
            </a:r>
            <a:r>
              <a:rPr sz="2400" dirty="0">
                <a:latin typeface="Cambria"/>
                <a:cs typeface="Cambria"/>
              </a:rPr>
              <a:t>not</a:t>
            </a:r>
            <a:r>
              <a:rPr sz="2400" spc="-45" dirty="0">
                <a:latin typeface="Cambria"/>
                <a:cs typeface="Cambria"/>
              </a:rPr>
              <a:t> </a:t>
            </a:r>
            <a:r>
              <a:rPr sz="2400" spc="-10" dirty="0">
                <a:latin typeface="Cambria"/>
                <a:cs typeface="Cambria"/>
              </a:rPr>
              <a:t>already</a:t>
            </a:r>
            <a:r>
              <a:rPr sz="2400" spc="-50" dirty="0">
                <a:latin typeface="Cambria"/>
                <a:cs typeface="Cambria"/>
              </a:rPr>
              <a:t> </a:t>
            </a:r>
            <a:r>
              <a:rPr sz="2400" spc="-10" dirty="0">
                <a:latin typeface="Cambria"/>
                <a:cs typeface="Cambria"/>
              </a:rPr>
              <a:t>allocated</a:t>
            </a:r>
            <a:r>
              <a:rPr sz="2400" spc="-35" dirty="0">
                <a:latin typeface="Cambria"/>
                <a:cs typeface="Cambria"/>
              </a:rPr>
              <a:t> </a:t>
            </a:r>
            <a:r>
              <a:rPr sz="2400" dirty="0">
                <a:latin typeface="Cambria"/>
                <a:cs typeface="Cambria"/>
              </a:rPr>
              <a:t>may</a:t>
            </a:r>
            <a:r>
              <a:rPr sz="2400" spc="-45" dirty="0">
                <a:latin typeface="Cambria"/>
                <a:cs typeface="Cambria"/>
              </a:rPr>
              <a:t> </a:t>
            </a:r>
            <a:r>
              <a:rPr sz="2400" dirty="0">
                <a:latin typeface="Cambria"/>
                <a:cs typeface="Cambria"/>
              </a:rPr>
              <a:t>be</a:t>
            </a:r>
            <a:r>
              <a:rPr sz="2400" spc="-45" dirty="0">
                <a:latin typeface="Cambria"/>
                <a:cs typeface="Cambria"/>
              </a:rPr>
              <a:t> </a:t>
            </a:r>
            <a:r>
              <a:rPr sz="2400" dirty="0">
                <a:latin typeface="Cambria"/>
                <a:cs typeface="Cambria"/>
              </a:rPr>
              <a:t>used</a:t>
            </a:r>
            <a:r>
              <a:rPr sz="2400" spc="-35" dirty="0">
                <a:latin typeface="Cambria"/>
                <a:cs typeface="Cambria"/>
              </a:rPr>
              <a:t> </a:t>
            </a:r>
            <a:r>
              <a:rPr sz="2400" dirty="0">
                <a:latin typeface="Cambria"/>
                <a:cs typeface="Cambria"/>
              </a:rPr>
              <a:t>to</a:t>
            </a:r>
            <a:r>
              <a:rPr sz="2400" spc="-45" dirty="0">
                <a:latin typeface="Cambria"/>
                <a:cs typeface="Cambria"/>
              </a:rPr>
              <a:t> </a:t>
            </a:r>
            <a:r>
              <a:rPr sz="2400" spc="-20" dirty="0">
                <a:latin typeface="Cambria"/>
                <a:cs typeface="Cambria"/>
              </a:rPr>
              <a:t>hold </a:t>
            </a:r>
            <a:r>
              <a:rPr sz="2400" dirty="0">
                <a:latin typeface="Cambria"/>
                <a:cs typeface="Cambria"/>
              </a:rPr>
              <a:t>values</a:t>
            </a:r>
            <a:r>
              <a:rPr sz="2400" spc="-70" dirty="0">
                <a:latin typeface="Cambria"/>
                <a:cs typeface="Cambria"/>
              </a:rPr>
              <a:t> </a:t>
            </a:r>
            <a:r>
              <a:rPr sz="2400" dirty="0">
                <a:latin typeface="Cambria"/>
                <a:cs typeface="Cambria"/>
              </a:rPr>
              <a:t>local</a:t>
            </a:r>
            <a:r>
              <a:rPr sz="2400" spc="-60" dirty="0">
                <a:latin typeface="Cambria"/>
                <a:cs typeface="Cambria"/>
              </a:rPr>
              <a:t> </a:t>
            </a:r>
            <a:r>
              <a:rPr sz="2400" dirty="0">
                <a:latin typeface="Cambria"/>
                <a:cs typeface="Cambria"/>
              </a:rPr>
              <a:t>to</a:t>
            </a:r>
            <a:r>
              <a:rPr sz="2400" spc="-70" dirty="0">
                <a:latin typeface="Cambria"/>
                <a:cs typeface="Cambria"/>
              </a:rPr>
              <a:t> </a:t>
            </a:r>
            <a:r>
              <a:rPr sz="2400" dirty="0">
                <a:latin typeface="Cambria"/>
                <a:cs typeface="Cambria"/>
              </a:rPr>
              <a:t>one</a:t>
            </a:r>
            <a:r>
              <a:rPr sz="2400" spc="-65" dirty="0">
                <a:latin typeface="Cambria"/>
                <a:cs typeface="Cambria"/>
              </a:rPr>
              <a:t> </a:t>
            </a:r>
            <a:r>
              <a:rPr sz="2400" spc="-10" dirty="0">
                <a:latin typeface="Cambria"/>
                <a:cs typeface="Cambria"/>
              </a:rPr>
              <a:t>block.</a:t>
            </a:r>
            <a:endParaRPr sz="2400">
              <a:latin typeface="Cambria"/>
              <a:cs typeface="Cambria"/>
            </a:endParaRPr>
          </a:p>
          <a:p>
            <a:pPr marL="194945" marR="168275" indent="-182880">
              <a:lnSpc>
                <a:spcPct val="90100"/>
              </a:lnSpc>
              <a:spcBef>
                <a:spcPts val="116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a:t>
            </a:r>
            <a:r>
              <a:rPr sz="2400" spc="-75" dirty="0">
                <a:latin typeface="Cambria"/>
                <a:cs typeface="Cambria"/>
              </a:rPr>
              <a:t> </a:t>
            </a:r>
            <a:r>
              <a:rPr sz="2400" dirty="0">
                <a:latin typeface="Cambria"/>
                <a:cs typeface="Cambria"/>
              </a:rPr>
              <a:t>certain</a:t>
            </a:r>
            <a:r>
              <a:rPr sz="2400" spc="-50" dirty="0">
                <a:latin typeface="Cambria"/>
                <a:cs typeface="Cambria"/>
              </a:rPr>
              <a:t> </a:t>
            </a:r>
            <a:r>
              <a:rPr sz="2400" dirty="0">
                <a:latin typeface="Cambria"/>
                <a:cs typeface="Cambria"/>
              </a:rPr>
              <a:t>languages</a:t>
            </a:r>
            <a:r>
              <a:rPr sz="2400" spc="-30" dirty="0">
                <a:latin typeface="Cambria"/>
                <a:cs typeface="Cambria"/>
              </a:rPr>
              <a:t> </a:t>
            </a:r>
            <a:r>
              <a:rPr sz="2400" dirty="0">
                <a:latin typeface="Cambria"/>
                <a:cs typeface="Cambria"/>
              </a:rPr>
              <a:t>like</a:t>
            </a:r>
            <a:r>
              <a:rPr sz="2400" spc="-55" dirty="0">
                <a:latin typeface="Cambria"/>
                <a:cs typeface="Cambria"/>
              </a:rPr>
              <a:t> </a:t>
            </a:r>
            <a:r>
              <a:rPr sz="2400" dirty="0">
                <a:latin typeface="Cambria"/>
                <a:cs typeface="Cambria"/>
              </a:rPr>
              <a:t>C</a:t>
            </a:r>
            <a:r>
              <a:rPr sz="2400" spc="-30" dirty="0">
                <a:latin typeface="Cambria"/>
                <a:cs typeface="Cambria"/>
              </a:rPr>
              <a:t> </a:t>
            </a:r>
            <a:r>
              <a:rPr sz="2400" dirty="0">
                <a:latin typeface="Cambria"/>
                <a:cs typeface="Cambria"/>
              </a:rPr>
              <a:t>or</a:t>
            </a:r>
            <a:r>
              <a:rPr sz="2400" spc="-40" dirty="0">
                <a:latin typeface="Cambria"/>
                <a:cs typeface="Cambria"/>
              </a:rPr>
              <a:t> </a:t>
            </a:r>
            <a:r>
              <a:rPr sz="2400" dirty="0">
                <a:latin typeface="Cambria"/>
                <a:cs typeface="Cambria"/>
              </a:rPr>
              <a:t>Bliss</a:t>
            </a:r>
            <a:r>
              <a:rPr sz="2400" spc="-35" dirty="0">
                <a:latin typeface="Cambria"/>
                <a:cs typeface="Cambria"/>
              </a:rPr>
              <a:t> </a:t>
            </a:r>
            <a:r>
              <a:rPr sz="2400" spc="-10" dirty="0">
                <a:latin typeface="Cambria"/>
                <a:cs typeface="Cambria"/>
              </a:rPr>
              <a:t>programmer</a:t>
            </a:r>
            <a:r>
              <a:rPr sz="2400" spc="-40" dirty="0">
                <a:latin typeface="Cambria"/>
                <a:cs typeface="Cambria"/>
              </a:rPr>
              <a:t> </a:t>
            </a:r>
            <a:r>
              <a:rPr sz="2400" dirty="0">
                <a:latin typeface="Cambria"/>
                <a:cs typeface="Cambria"/>
              </a:rPr>
              <a:t>can</a:t>
            </a:r>
            <a:r>
              <a:rPr sz="2400" spc="-30" dirty="0">
                <a:latin typeface="Cambria"/>
                <a:cs typeface="Cambria"/>
              </a:rPr>
              <a:t> </a:t>
            </a:r>
            <a:r>
              <a:rPr sz="2400" dirty="0">
                <a:latin typeface="Cambria"/>
                <a:cs typeface="Cambria"/>
              </a:rPr>
              <a:t>do</a:t>
            </a:r>
            <a:r>
              <a:rPr sz="2400" spc="-35" dirty="0">
                <a:latin typeface="Cambria"/>
                <a:cs typeface="Cambria"/>
              </a:rPr>
              <a:t> </a:t>
            </a:r>
            <a:r>
              <a:rPr sz="2400" spc="-25" dirty="0">
                <a:latin typeface="Cambria"/>
                <a:cs typeface="Cambria"/>
              </a:rPr>
              <a:t>the </a:t>
            </a:r>
            <a:r>
              <a:rPr sz="2400" dirty="0">
                <a:latin typeface="Cambria"/>
                <a:cs typeface="Cambria"/>
              </a:rPr>
              <a:t>register</a:t>
            </a:r>
            <a:r>
              <a:rPr sz="2400" spc="-75" dirty="0">
                <a:latin typeface="Cambria"/>
                <a:cs typeface="Cambria"/>
              </a:rPr>
              <a:t> </a:t>
            </a:r>
            <a:r>
              <a:rPr sz="2400" dirty="0">
                <a:latin typeface="Cambria"/>
                <a:cs typeface="Cambria"/>
              </a:rPr>
              <a:t>allocation</a:t>
            </a:r>
            <a:r>
              <a:rPr sz="2400" spc="-65" dirty="0">
                <a:latin typeface="Cambria"/>
                <a:cs typeface="Cambria"/>
              </a:rPr>
              <a:t> </a:t>
            </a:r>
            <a:r>
              <a:rPr sz="2400" dirty="0">
                <a:latin typeface="Cambria"/>
                <a:cs typeface="Cambria"/>
              </a:rPr>
              <a:t>by</a:t>
            </a:r>
            <a:r>
              <a:rPr sz="2400" spc="-55" dirty="0">
                <a:latin typeface="Cambria"/>
                <a:cs typeface="Cambria"/>
              </a:rPr>
              <a:t> </a:t>
            </a:r>
            <a:r>
              <a:rPr sz="2400" dirty="0">
                <a:latin typeface="Cambria"/>
                <a:cs typeface="Cambria"/>
              </a:rPr>
              <a:t>using</a:t>
            </a:r>
            <a:r>
              <a:rPr sz="2400" spc="-60" dirty="0">
                <a:latin typeface="Cambria"/>
                <a:cs typeface="Cambria"/>
              </a:rPr>
              <a:t> </a:t>
            </a:r>
            <a:r>
              <a:rPr sz="2400" dirty="0">
                <a:latin typeface="Cambria"/>
                <a:cs typeface="Cambria"/>
              </a:rPr>
              <a:t>register</a:t>
            </a:r>
            <a:r>
              <a:rPr sz="2400" spc="-70" dirty="0">
                <a:latin typeface="Cambria"/>
                <a:cs typeface="Cambria"/>
              </a:rPr>
              <a:t> </a:t>
            </a:r>
            <a:r>
              <a:rPr sz="2400" spc="-10" dirty="0">
                <a:latin typeface="Cambria"/>
                <a:cs typeface="Cambria"/>
              </a:rPr>
              <a:t>declaration</a:t>
            </a:r>
            <a:r>
              <a:rPr sz="2400" spc="-80" dirty="0">
                <a:latin typeface="Cambria"/>
                <a:cs typeface="Cambria"/>
              </a:rPr>
              <a:t> </a:t>
            </a:r>
            <a:r>
              <a:rPr sz="2400" dirty="0">
                <a:latin typeface="Cambria"/>
                <a:cs typeface="Cambria"/>
              </a:rPr>
              <a:t>to</a:t>
            </a:r>
            <a:r>
              <a:rPr sz="2400" spc="-55" dirty="0">
                <a:latin typeface="Cambria"/>
                <a:cs typeface="Cambria"/>
              </a:rPr>
              <a:t> </a:t>
            </a:r>
            <a:r>
              <a:rPr sz="2400" spc="-20" dirty="0">
                <a:latin typeface="Cambria"/>
                <a:cs typeface="Cambria"/>
              </a:rPr>
              <a:t>keep </a:t>
            </a:r>
            <a:r>
              <a:rPr sz="2400" dirty="0">
                <a:latin typeface="Cambria"/>
                <a:cs typeface="Cambria"/>
              </a:rPr>
              <a:t>certain</a:t>
            </a:r>
            <a:r>
              <a:rPr sz="2400" spc="-70" dirty="0">
                <a:latin typeface="Cambria"/>
                <a:cs typeface="Cambria"/>
              </a:rPr>
              <a:t> </a:t>
            </a:r>
            <a:r>
              <a:rPr sz="2400" dirty="0">
                <a:latin typeface="Cambria"/>
                <a:cs typeface="Cambria"/>
              </a:rPr>
              <a:t>values</a:t>
            </a:r>
            <a:r>
              <a:rPr sz="2400" spc="-45" dirty="0">
                <a:latin typeface="Cambria"/>
                <a:cs typeface="Cambria"/>
              </a:rPr>
              <a:t> </a:t>
            </a:r>
            <a:r>
              <a:rPr sz="2400" dirty="0">
                <a:latin typeface="Cambria"/>
                <a:cs typeface="Cambria"/>
              </a:rPr>
              <a:t>in</a:t>
            </a:r>
            <a:r>
              <a:rPr sz="2400" spc="-55" dirty="0">
                <a:latin typeface="Cambria"/>
                <a:cs typeface="Cambria"/>
              </a:rPr>
              <a:t> </a:t>
            </a:r>
            <a:r>
              <a:rPr sz="2400" spc="-10" dirty="0">
                <a:latin typeface="Cambria"/>
                <a:cs typeface="Cambria"/>
              </a:rPr>
              <a:t>register</a:t>
            </a:r>
            <a:r>
              <a:rPr sz="2400" spc="-75" dirty="0">
                <a:latin typeface="Cambria"/>
                <a:cs typeface="Cambria"/>
              </a:rPr>
              <a:t> </a:t>
            </a:r>
            <a:r>
              <a:rPr sz="2400" dirty="0">
                <a:latin typeface="Cambria"/>
                <a:cs typeface="Cambria"/>
              </a:rPr>
              <a:t>for</a:t>
            </a:r>
            <a:r>
              <a:rPr sz="2400" spc="-60" dirty="0">
                <a:latin typeface="Cambria"/>
                <a:cs typeface="Cambria"/>
              </a:rPr>
              <a:t> </a:t>
            </a:r>
            <a:r>
              <a:rPr sz="2400" dirty="0">
                <a:latin typeface="Cambria"/>
                <a:cs typeface="Cambria"/>
              </a:rPr>
              <a:t>the</a:t>
            </a:r>
            <a:r>
              <a:rPr sz="2400" spc="-55" dirty="0">
                <a:latin typeface="Cambria"/>
                <a:cs typeface="Cambria"/>
              </a:rPr>
              <a:t> </a:t>
            </a:r>
            <a:r>
              <a:rPr sz="2400" dirty="0">
                <a:latin typeface="Cambria"/>
                <a:cs typeface="Cambria"/>
              </a:rPr>
              <a:t>duration</a:t>
            </a:r>
            <a:r>
              <a:rPr sz="2400" spc="-55" dirty="0">
                <a:latin typeface="Cambria"/>
                <a:cs typeface="Cambria"/>
              </a:rPr>
              <a:t> </a:t>
            </a:r>
            <a:r>
              <a:rPr sz="2400" dirty="0">
                <a:latin typeface="Cambria"/>
                <a:cs typeface="Cambria"/>
              </a:rPr>
              <a:t>of</a:t>
            </a:r>
            <a:r>
              <a:rPr sz="2400" spc="-55" dirty="0">
                <a:latin typeface="Cambria"/>
                <a:cs typeface="Cambria"/>
              </a:rPr>
              <a:t> </a:t>
            </a:r>
            <a:r>
              <a:rPr sz="2400" dirty="0">
                <a:latin typeface="Cambria"/>
                <a:cs typeface="Cambria"/>
              </a:rPr>
              <a:t>the</a:t>
            </a:r>
            <a:r>
              <a:rPr sz="2400" spc="-50" dirty="0">
                <a:latin typeface="Cambria"/>
                <a:cs typeface="Cambria"/>
              </a:rPr>
              <a:t> </a:t>
            </a:r>
            <a:r>
              <a:rPr sz="2400" spc="-10" dirty="0">
                <a:latin typeface="Cambria"/>
                <a:cs typeface="Cambria"/>
              </a:rPr>
              <a:t>procedure.</a:t>
            </a:r>
            <a:endParaRPr sz="2400">
              <a:latin typeface="Cambria"/>
              <a:cs typeface="Cambria"/>
            </a:endParaRPr>
          </a:p>
          <a:p>
            <a:pPr marL="12700">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Example:</a:t>
            </a:r>
            <a:endParaRPr sz="2400">
              <a:latin typeface="Cambria"/>
              <a:cs typeface="Cambria"/>
            </a:endParaRPr>
          </a:p>
          <a:p>
            <a:pPr marL="927100">
              <a:lnSpc>
                <a:spcPct val="100000"/>
              </a:lnSpc>
              <a:spcBef>
                <a:spcPts val="915"/>
              </a:spcBef>
            </a:pPr>
            <a:r>
              <a:rPr sz="2400" spc="-50" dirty="0">
                <a:latin typeface="Cambria"/>
                <a:cs typeface="Cambria"/>
              </a:rPr>
              <a:t>{</a:t>
            </a:r>
            <a:endParaRPr sz="2400">
              <a:latin typeface="Cambria"/>
              <a:cs typeface="Cambria"/>
            </a:endParaRPr>
          </a:p>
          <a:p>
            <a:pPr marL="1260475">
              <a:lnSpc>
                <a:spcPct val="100000"/>
              </a:lnSpc>
              <a:spcBef>
                <a:spcPts val="915"/>
              </a:spcBef>
            </a:pPr>
            <a:r>
              <a:rPr sz="2400" dirty="0">
                <a:latin typeface="Cambria"/>
                <a:cs typeface="Cambria"/>
              </a:rPr>
              <a:t>register</a:t>
            </a:r>
            <a:r>
              <a:rPr sz="2400" spc="-75" dirty="0">
                <a:latin typeface="Cambria"/>
                <a:cs typeface="Cambria"/>
              </a:rPr>
              <a:t> </a:t>
            </a:r>
            <a:r>
              <a:rPr sz="2400" dirty="0">
                <a:latin typeface="Cambria"/>
                <a:cs typeface="Cambria"/>
              </a:rPr>
              <a:t>int</a:t>
            </a:r>
            <a:r>
              <a:rPr sz="2400" spc="-60" dirty="0">
                <a:latin typeface="Cambria"/>
                <a:cs typeface="Cambria"/>
              </a:rPr>
              <a:t> </a:t>
            </a:r>
            <a:r>
              <a:rPr sz="2400" spc="-25" dirty="0">
                <a:latin typeface="Cambria"/>
                <a:cs typeface="Cambria"/>
              </a:rPr>
              <a:t>x;</a:t>
            </a:r>
            <a:endParaRPr sz="2400">
              <a:latin typeface="Cambria"/>
              <a:cs typeface="Cambria"/>
            </a:endParaRPr>
          </a:p>
          <a:p>
            <a:pPr marL="927100">
              <a:lnSpc>
                <a:spcPct val="100000"/>
              </a:lnSpc>
              <a:spcBef>
                <a:spcPts val="910"/>
              </a:spcBef>
            </a:pPr>
            <a:r>
              <a:rPr sz="2400" spc="-50" dirty="0">
                <a:latin typeface="Cambria"/>
                <a:cs typeface="Cambria"/>
              </a:rPr>
              <a:t>}</a:t>
            </a:r>
            <a:endParaRPr sz="2400">
              <a:latin typeface="Cambria"/>
              <a:cs typeface="Cambri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65" dirty="0">
                <a:solidFill>
                  <a:srgbClr val="FFFFFF"/>
                </a:solidFill>
                <a:latin typeface="Cambria"/>
                <a:cs typeface="Cambria"/>
              </a:rPr>
              <a:t>Usage</a:t>
            </a:r>
            <a:r>
              <a:rPr sz="3600" b="1" spc="-120" dirty="0">
                <a:solidFill>
                  <a:srgbClr val="FFFFFF"/>
                </a:solidFill>
                <a:latin typeface="Cambria"/>
                <a:cs typeface="Cambria"/>
              </a:rPr>
              <a:t> </a:t>
            </a:r>
            <a:r>
              <a:rPr sz="3600" b="1" spc="-20" dirty="0">
                <a:solidFill>
                  <a:srgbClr val="FFFFFF"/>
                </a:solidFill>
                <a:latin typeface="Cambria"/>
                <a:cs typeface="Cambria"/>
              </a:rPr>
              <a:t>Count</a:t>
            </a:r>
            <a:endParaRPr sz="3600">
              <a:latin typeface="Cambria"/>
              <a:cs typeface="Cambria"/>
            </a:endParaRPr>
          </a:p>
        </p:txBody>
      </p:sp>
      <p:sp>
        <p:nvSpPr>
          <p:cNvPr id="3" name="object 3"/>
          <p:cNvSpPr txBox="1"/>
          <p:nvPr/>
        </p:nvSpPr>
        <p:spPr>
          <a:xfrm>
            <a:off x="3530600" y="1230629"/>
            <a:ext cx="8089265" cy="720725"/>
          </a:xfrm>
          <a:prstGeom prst="rect">
            <a:avLst/>
          </a:prstGeom>
        </p:spPr>
        <p:txBody>
          <a:bodyPr vert="horz" wrap="square" lIns="0" tIns="53975" rIns="0" bIns="0" rtlCol="0">
            <a:spAutoFit/>
          </a:bodyPr>
          <a:lstStyle/>
          <a:p>
            <a:pPr marL="195580" marR="5080" indent="-183515">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5" dirty="0">
                <a:latin typeface="Cambria"/>
                <a:cs typeface="Cambria"/>
              </a:rPr>
              <a:t> </a:t>
            </a:r>
            <a:r>
              <a:rPr sz="2400" dirty="0">
                <a:latin typeface="Cambria"/>
                <a:cs typeface="Cambria"/>
              </a:rPr>
              <a:t>usage</a:t>
            </a:r>
            <a:r>
              <a:rPr sz="2400" spc="-40" dirty="0">
                <a:latin typeface="Cambria"/>
                <a:cs typeface="Cambria"/>
              </a:rPr>
              <a:t> </a:t>
            </a:r>
            <a:r>
              <a:rPr sz="2400" dirty="0">
                <a:latin typeface="Cambria"/>
                <a:cs typeface="Cambria"/>
              </a:rPr>
              <a:t>count</a:t>
            </a:r>
            <a:r>
              <a:rPr sz="2400" spc="-45" dirty="0">
                <a:latin typeface="Cambria"/>
                <a:cs typeface="Cambria"/>
              </a:rPr>
              <a:t> </a:t>
            </a:r>
            <a:r>
              <a:rPr sz="2400" dirty="0">
                <a:latin typeface="Cambria"/>
                <a:cs typeface="Cambria"/>
              </a:rPr>
              <a:t>is</a:t>
            </a:r>
            <a:r>
              <a:rPr sz="2400" spc="-35"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count</a:t>
            </a:r>
            <a:r>
              <a:rPr sz="2400" spc="-45" dirty="0">
                <a:latin typeface="Cambria"/>
                <a:cs typeface="Cambria"/>
              </a:rPr>
              <a:t> </a:t>
            </a:r>
            <a:r>
              <a:rPr sz="2400" dirty="0">
                <a:latin typeface="Cambria"/>
                <a:cs typeface="Cambria"/>
              </a:rPr>
              <a:t>for</a:t>
            </a:r>
            <a:r>
              <a:rPr sz="2400" spc="-65"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use</a:t>
            </a:r>
            <a:r>
              <a:rPr sz="2400" spc="-35" dirty="0">
                <a:latin typeface="Cambria"/>
                <a:cs typeface="Cambria"/>
              </a:rPr>
              <a:t> </a:t>
            </a:r>
            <a:r>
              <a:rPr sz="2400" dirty="0">
                <a:latin typeface="Cambria"/>
                <a:cs typeface="Cambria"/>
              </a:rPr>
              <a:t>of</a:t>
            </a:r>
            <a:r>
              <a:rPr sz="2400" spc="-40" dirty="0">
                <a:latin typeface="Cambria"/>
                <a:cs typeface="Cambria"/>
              </a:rPr>
              <a:t> </a:t>
            </a:r>
            <a:r>
              <a:rPr sz="2400" dirty="0">
                <a:latin typeface="Cambria"/>
                <a:cs typeface="Cambria"/>
              </a:rPr>
              <a:t>some</a:t>
            </a:r>
            <a:r>
              <a:rPr sz="2400" spc="-30" dirty="0">
                <a:latin typeface="Cambria"/>
                <a:cs typeface="Cambria"/>
              </a:rPr>
              <a:t> </a:t>
            </a:r>
            <a:r>
              <a:rPr sz="2400" dirty="0">
                <a:latin typeface="Cambria"/>
                <a:cs typeface="Cambria"/>
              </a:rPr>
              <a:t>variable</a:t>
            </a:r>
            <a:r>
              <a:rPr sz="2400" spc="-65" dirty="0">
                <a:latin typeface="Cambria"/>
                <a:cs typeface="Cambria"/>
              </a:rPr>
              <a:t> </a:t>
            </a:r>
            <a:r>
              <a:rPr sz="2400" dirty="0">
                <a:latin typeface="Cambria"/>
                <a:cs typeface="Cambria"/>
              </a:rPr>
              <a:t>x</a:t>
            </a:r>
            <a:r>
              <a:rPr sz="2400" spc="-45" dirty="0">
                <a:latin typeface="Cambria"/>
                <a:cs typeface="Cambria"/>
              </a:rPr>
              <a:t> </a:t>
            </a:r>
            <a:r>
              <a:rPr sz="2400" spc="-25" dirty="0">
                <a:latin typeface="Cambria"/>
                <a:cs typeface="Cambria"/>
              </a:rPr>
              <a:t>in </a:t>
            </a:r>
            <a:r>
              <a:rPr sz="2400" dirty="0">
                <a:latin typeface="Cambria"/>
                <a:cs typeface="Cambria"/>
              </a:rPr>
              <a:t>some</a:t>
            </a:r>
            <a:r>
              <a:rPr sz="2400" spc="-45" dirty="0">
                <a:latin typeface="Cambria"/>
                <a:cs typeface="Cambria"/>
              </a:rPr>
              <a:t> </a:t>
            </a:r>
            <a:r>
              <a:rPr sz="2400" spc="-10" dirty="0">
                <a:latin typeface="Cambria"/>
                <a:cs typeface="Cambria"/>
              </a:rPr>
              <a:t>register</a:t>
            </a:r>
            <a:r>
              <a:rPr sz="2400" spc="-65" dirty="0">
                <a:latin typeface="Cambria"/>
                <a:cs typeface="Cambria"/>
              </a:rPr>
              <a:t> </a:t>
            </a:r>
            <a:r>
              <a:rPr sz="2400" dirty="0">
                <a:latin typeface="Cambria"/>
                <a:cs typeface="Cambria"/>
              </a:rPr>
              <a:t>used</a:t>
            </a:r>
            <a:r>
              <a:rPr sz="2400" spc="-45" dirty="0">
                <a:latin typeface="Cambria"/>
                <a:cs typeface="Cambria"/>
              </a:rPr>
              <a:t> </a:t>
            </a:r>
            <a:r>
              <a:rPr sz="2400" dirty="0">
                <a:latin typeface="Cambria"/>
                <a:cs typeface="Cambria"/>
              </a:rPr>
              <a:t>in</a:t>
            </a:r>
            <a:r>
              <a:rPr sz="2400" spc="-70" dirty="0">
                <a:latin typeface="Cambria"/>
                <a:cs typeface="Cambria"/>
              </a:rPr>
              <a:t> </a:t>
            </a:r>
            <a:r>
              <a:rPr sz="2400" dirty="0">
                <a:latin typeface="Cambria"/>
                <a:cs typeface="Cambria"/>
              </a:rPr>
              <a:t>any</a:t>
            </a:r>
            <a:r>
              <a:rPr sz="2400" spc="-55" dirty="0">
                <a:latin typeface="Cambria"/>
                <a:cs typeface="Cambria"/>
              </a:rPr>
              <a:t> </a:t>
            </a:r>
            <a:r>
              <a:rPr sz="2400" dirty="0">
                <a:latin typeface="Cambria"/>
                <a:cs typeface="Cambria"/>
              </a:rPr>
              <a:t>basic</a:t>
            </a:r>
            <a:r>
              <a:rPr sz="2400" spc="-55" dirty="0">
                <a:latin typeface="Cambria"/>
                <a:cs typeface="Cambria"/>
              </a:rPr>
              <a:t> </a:t>
            </a:r>
            <a:r>
              <a:rPr sz="2400" spc="-10" dirty="0">
                <a:latin typeface="Cambria"/>
                <a:cs typeface="Cambria"/>
              </a:rPr>
              <a:t>block.</a:t>
            </a:r>
            <a:endParaRPr sz="2400">
              <a:latin typeface="Cambria"/>
              <a:cs typeface="Cambria"/>
            </a:endParaRPr>
          </a:p>
        </p:txBody>
      </p:sp>
      <p:sp>
        <p:nvSpPr>
          <p:cNvPr id="4" name="object 4"/>
          <p:cNvSpPr txBox="1">
            <a:spLocks noGrp="1"/>
          </p:cNvSpPr>
          <p:nvPr>
            <p:ph type="title"/>
          </p:nvPr>
        </p:nvSpPr>
        <p:spPr>
          <a:xfrm>
            <a:off x="3530600" y="2041397"/>
            <a:ext cx="8225155" cy="1050290"/>
          </a:xfrm>
          <a:prstGeom prst="rect">
            <a:avLst/>
          </a:prstGeom>
        </p:spPr>
        <p:txBody>
          <a:bodyPr vert="horz" wrap="square" lIns="0" tIns="53975" rIns="0" bIns="0" rtlCol="0">
            <a:spAutoFit/>
          </a:bodyPr>
          <a:lstStyle/>
          <a:p>
            <a:pPr marL="195580" marR="5080" indent="-183515">
              <a:lnSpc>
                <a:spcPts val="2590"/>
              </a:lnSpc>
              <a:spcBef>
                <a:spcPts val="425"/>
              </a:spcBef>
            </a:pPr>
            <a:r>
              <a:rPr spc="-1250" dirty="0">
                <a:solidFill>
                  <a:srgbClr val="40B9D2"/>
                </a:solidFill>
                <a:latin typeface="Arial MT"/>
                <a:cs typeface="Arial MT"/>
              </a:rPr>
              <a:t>🞄</a:t>
            </a:r>
            <a:r>
              <a:rPr spc="-95" dirty="0">
                <a:solidFill>
                  <a:srgbClr val="40B9D2"/>
                </a:solidFill>
                <a:latin typeface="Arial MT"/>
                <a:cs typeface="Arial MT"/>
              </a:rPr>
              <a:t> </a:t>
            </a:r>
            <a:r>
              <a:rPr dirty="0"/>
              <a:t>The</a:t>
            </a:r>
            <a:r>
              <a:rPr spc="-114" dirty="0"/>
              <a:t> </a:t>
            </a:r>
            <a:r>
              <a:rPr dirty="0"/>
              <a:t>usage</a:t>
            </a:r>
            <a:r>
              <a:rPr spc="-55" dirty="0"/>
              <a:t> </a:t>
            </a:r>
            <a:r>
              <a:rPr dirty="0"/>
              <a:t>count</a:t>
            </a:r>
            <a:r>
              <a:rPr spc="-45" dirty="0"/>
              <a:t> </a:t>
            </a:r>
            <a:r>
              <a:rPr dirty="0"/>
              <a:t>gives</a:t>
            </a:r>
            <a:r>
              <a:rPr spc="-55" dirty="0"/>
              <a:t> </a:t>
            </a:r>
            <a:r>
              <a:rPr dirty="0"/>
              <a:t>the</a:t>
            </a:r>
            <a:r>
              <a:rPr spc="-55" dirty="0"/>
              <a:t> </a:t>
            </a:r>
            <a:r>
              <a:rPr dirty="0"/>
              <a:t>idea</a:t>
            </a:r>
            <a:r>
              <a:rPr spc="-60" dirty="0"/>
              <a:t> </a:t>
            </a:r>
            <a:r>
              <a:rPr dirty="0"/>
              <a:t>about</a:t>
            </a:r>
            <a:r>
              <a:rPr spc="-60" dirty="0"/>
              <a:t> </a:t>
            </a:r>
            <a:r>
              <a:rPr dirty="0"/>
              <a:t>how</a:t>
            </a:r>
            <a:r>
              <a:rPr spc="-45" dirty="0"/>
              <a:t> </a:t>
            </a:r>
            <a:r>
              <a:rPr dirty="0"/>
              <a:t>many</a:t>
            </a:r>
            <a:r>
              <a:rPr spc="-60" dirty="0"/>
              <a:t> </a:t>
            </a:r>
            <a:r>
              <a:rPr dirty="0"/>
              <a:t>units</a:t>
            </a:r>
            <a:r>
              <a:rPr spc="-65" dirty="0"/>
              <a:t> </a:t>
            </a:r>
            <a:r>
              <a:rPr dirty="0"/>
              <a:t>of</a:t>
            </a:r>
            <a:r>
              <a:rPr spc="-60" dirty="0"/>
              <a:t> </a:t>
            </a:r>
            <a:r>
              <a:rPr spc="-20" dirty="0"/>
              <a:t>cost </a:t>
            </a:r>
            <a:r>
              <a:rPr dirty="0"/>
              <a:t>can</a:t>
            </a:r>
            <a:r>
              <a:rPr spc="-55" dirty="0"/>
              <a:t> </a:t>
            </a:r>
            <a:r>
              <a:rPr dirty="0"/>
              <a:t>be</a:t>
            </a:r>
            <a:r>
              <a:rPr spc="-50" dirty="0"/>
              <a:t> </a:t>
            </a:r>
            <a:r>
              <a:rPr spc="-10" dirty="0"/>
              <a:t>saved</a:t>
            </a:r>
            <a:r>
              <a:rPr spc="-50" dirty="0"/>
              <a:t> </a:t>
            </a:r>
            <a:r>
              <a:rPr dirty="0"/>
              <a:t>by</a:t>
            </a:r>
            <a:r>
              <a:rPr spc="-45" dirty="0"/>
              <a:t> </a:t>
            </a:r>
            <a:r>
              <a:rPr dirty="0"/>
              <a:t>selecting</a:t>
            </a:r>
            <a:r>
              <a:rPr spc="-60" dirty="0"/>
              <a:t> </a:t>
            </a:r>
            <a:r>
              <a:rPr dirty="0"/>
              <a:t>a</a:t>
            </a:r>
            <a:r>
              <a:rPr spc="-60" dirty="0"/>
              <a:t> </a:t>
            </a:r>
            <a:r>
              <a:rPr dirty="0"/>
              <a:t>specific</a:t>
            </a:r>
            <a:r>
              <a:rPr spc="-50" dirty="0"/>
              <a:t> </a:t>
            </a:r>
            <a:r>
              <a:rPr spc="-10" dirty="0"/>
              <a:t>variable</a:t>
            </a:r>
            <a:r>
              <a:rPr spc="-85" dirty="0"/>
              <a:t> </a:t>
            </a:r>
            <a:r>
              <a:rPr dirty="0"/>
              <a:t>for</a:t>
            </a:r>
            <a:r>
              <a:rPr spc="-75" dirty="0"/>
              <a:t> </a:t>
            </a:r>
            <a:r>
              <a:rPr dirty="0"/>
              <a:t>global</a:t>
            </a:r>
            <a:r>
              <a:rPr spc="-45" dirty="0"/>
              <a:t> </a:t>
            </a:r>
            <a:r>
              <a:rPr spc="-10" dirty="0"/>
              <a:t>register allocation.</a:t>
            </a:r>
          </a:p>
        </p:txBody>
      </p:sp>
      <p:sp>
        <p:nvSpPr>
          <p:cNvPr id="5" name="object 5"/>
          <p:cNvSpPr txBox="1">
            <a:spLocks noGrp="1"/>
          </p:cNvSpPr>
          <p:nvPr>
            <p:ph type="body" idx="1"/>
          </p:nvPr>
        </p:nvSpPr>
        <p:spPr>
          <a:prstGeom prst="rect">
            <a:avLst/>
          </a:prstGeom>
        </p:spPr>
        <p:txBody>
          <a:bodyPr vert="horz" wrap="square" lIns="0" tIns="53975" rIns="0" bIns="0" rtlCol="0">
            <a:spAutoFit/>
          </a:bodyPr>
          <a:lstStyle/>
          <a:p>
            <a:pPr marL="208279" marR="248285" indent="-183515">
              <a:lnSpc>
                <a:spcPts val="2590"/>
              </a:lnSpc>
              <a:spcBef>
                <a:spcPts val="425"/>
              </a:spcBef>
            </a:pPr>
            <a:r>
              <a:rPr spc="-1250" dirty="0">
                <a:solidFill>
                  <a:srgbClr val="40B9D2"/>
                </a:solidFill>
                <a:latin typeface="Arial MT"/>
                <a:cs typeface="Arial MT"/>
              </a:rPr>
              <a:t>🞄</a:t>
            </a:r>
            <a:r>
              <a:rPr spc="-95" dirty="0">
                <a:solidFill>
                  <a:srgbClr val="40B9D2"/>
                </a:solidFill>
                <a:latin typeface="Arial MT"/>
                <a:cs typeface="Arial MT"/>
              </a:rPr>
              <a:t> </a:t>
            </a:r>
            <a:r>
              <a:rPr dirty="0"/>
              <a:t>The</a:t>
            </a:r>
            <a:r>
              <a:rPr spc="-95" dirty="0"/>
              <a:t> </a:t>
            </a:r>
            <a:r>
              <a:rPr spc="-10" dirty="0"/>
              <a:t>approximate</a:t>
            </a:r>
            <a:r>
              <a:rPr spc="-40" dirty="0"/>
              <a:t> </a:t>
            </a:r>
            <a:r>
              <a:rPr dirty="0"/>
              <a:t>formula</a:t>
            </a:r>
            <a:r>
              <a:rPr spc="-60" dirty="0"/>
              <a:t> </a:t>
            </a:r>
            <a:r>
              <a:rPr dirty="0"/>
              <a:t>for</a:t>
            </a:r>
            <a:r>
              <a:rPr spc="-65" dirty="0"/>
              <a:t> </a:t>
            </a:r>
            <a:r>
              <a:rPr dirty="0"/>
              <a:t>usage</a:t>
            </a:r>
            <a:r>
              <a:rPr spc="-35" dirty="0"/>
              <a:t> </a:t>
            </a:r>
            <a:r>
              <a:rPr dirty="0"/>
              <a:t>count</a:t>
            </a:r>
            <a:r>
              <a:rPr spc="-40" dirty="0"/>
              <a:t> </a:t>
            </a:r>
            <a:r>
              <a:rPr dirty="0"/>
              <a:t>for</a:t>
            </a:r>
            <a:r>
              <a:rPr spc="-65" dirty="0"/>
              <a:t> </a:t>
            </a:r>
            <a:r>
              <a:rPr dirty="0"/>
              <a:t>the</a:t>
            </a:r>
            <a:r>
              <a:rPr spc="-45" dirty="0"/>
              <a:t> </a:t>
            </a:r>
            <a:r>
              <a:rPr dirty="0"/>
              <a:t>Loop</a:t>
            </a:r>
            <a:r>
              <a:rPr spc="-45" dirty="0"/>
              <a:t> </a:t>
            </a:r>
            <a:r>
              <a:rPr dirty="0"/>
              <a:t>L</a:t>
            </a:r>
            <a:r>
              <a:rPr spc="-40" dirty="0"/>
              <a:t> </a:t>
            </a:r>
            <a:r>
              <a:rPr spc="-25" dirty="0"/>
              <a:t>in </a:t>
            </a:r>
            <a:r>
              <a:rPr dirty="0"/>
              <a:t>some</a:t>
            </a:r>
            <a:r>
              <a:rPr spc="-40" dirty="0"/>
              <a:t> </a:t>
            </a:r>
            <a:r>
              <a:rPr dirty="0"/>
              <a:t>basic</a:t>
            </a:r>
            <a:r>
              <a:rPr spc="-50" dirty="0"/>
              <a:t> </a:t>
            </a:r>
            <a:r>
              <a:rPr dirty="0"/>
              <a:t>block</a:t>
            </a:r>
            <a:r>
              <a:rPr spc="-30" dirty="0"/>
              <a:t> </a:t>
            </a:r>
            <a:r>
              <a:rPr dirty="0"/>
              <a:t>B</a:t>
            </a:r>
            <a:r>
              <a:rPr spc="-65" dirty="0"/>
              <a:t> </a:t>
            </a:r>
            <a:r>
              <a:rPr dirty="0"/>
              <a:t>can</a:t>
            </a:r>
            <a:r>
              <a:rPr spc="-50" dirty="0"/>
              <a:t> </a:t>
            </a:r>
            <a:r>
              <a:rPr dirty="0"/>
              <a:t>be</a:t>
            </a:r>
            <a:r>
              <a:rPr spc="-50" dirty="0"/>
              <a:t> </a:t>
            </a:r>
            <a:r>
              <a:rPr spc="-10" dirty="0"/>
              <a:t>given</a:t>
            </a:r>
            <a:r>
              <a:rPr spc="-65" dirty="0"/>
              <a:t> </a:t>
            </a:r>
            <a:r>
              <a:rPr spc="-25" dirty="0"/>
              <a:t>as,</a:t>
            </a:r>
          </a:p>
          <a:p>
            <a:pPr marL="939800">
              <a:lnSpc>
                <a:spcPct val="100000"/>
              </a:lnSpc>
              <a:spcBef>
                <a:spcPts val="880"/>
              </a:spcBef>
            </a:pPr>
            <a:r>
              <a:rPr sz="3600" baseline="2314" dirty="0">
                <a:latin typeface="Cambria Math"/>
                <a:cs typeface="Cambria Math"/>
              </a:rPr>
              <a:t>σ</a:t>
            </a:r>
            <a:r>
              <a:rPr sz="3600" baseline="-21990" dirty="0"/>
              <a:t>block</a:t>
            </a:r>
            <a:r>
              <a:rPr sz="3600" spc="60" baseline="-21990" dirty="0"/>
              <a:t> </a:t>
            </a:r>
            <a:r>
              <a:rPr sz="3600" baseline="-21990" dirty="0"/>
              <a:t>B</a:t>
            </a:r>
            <a:r>
              <a:rPr sz="3600" spc="44" baseline="-21990" dirty="0"/>
              <a:t> </a:t>
            </a:r>
            <a:r>
              <a:rPr sz="3600" baseline="-21990" dirty="0"/>
              <a:t>in</a:t>
            </a:r>
            <a:r>
              <a:rPr sz="3600" spc="30" baseline="-21990" dirty="0"/>
              <a:t> </a:t>
            </a:r>
            <a:r>
              <a:rPr sz="3600" baseline="-21990" dirty="0"/>
              <a:t>L</a:t>
            </a:r>
            <a:r>
              <a:rPr sz="3600" spc="-157" baseline="-21990" dirty="0"/>
              <a:t> </a:t>
            </a:r>
            <a:r>
              <a:rPr sz="2400" dirty="0"/>
              <a:t>(use(x,B)</a:t>
            </a:r>
            <a:r>
              <a:rPr sz="2400" spc="30" dirty="0"/>
              <a:t> </a:t>
            </a:r>
            <a:r>
              <a:rPr sz="2400" dirty="0"/>
              <a:t>+</a:t>
            </a:r>
            <a:r>
              <a:rPr sz="2400" spc="35" dirty="0"/>
              <a:t> </a:t>
            </a:r>
            <a:r>
              <a:rPr sz="2400" dirty="0"/>
              <a:t>2</a:t>
            </a:r>
            <a:r>
              <a:rPr sz="2400" dirty="0">
                <a:latin typeface="Cambria Math"/>
                <a:cs typeface="Cambria Math"/>
              </a:rPr>
              <a:t>∗</a:t>
            </a:r>
            <a:r>
              <a:rPr sz="2400" spc="35" dirty="0">
                <a:latin typeface="Cambria Math"/>
                <a:cs typeface="Cambria Math"/>
              </a:rPr>
              <a:t> </a:t>
            </a:r>
            <a:r>
              <a:rPr sz="2400" spc="-10" dirty="0"/>
              <a:t>live(x,B))</a:t>
            </a:r>
            <a:endParaRPr sz="2400">
              <a:latin typeface="Cambria Math"/>
              <a:cs typeface="Cambria Math"/>
            </a:endParaRPr>
          </a:p>
          <a:p>
            <a:pPr marL="208279" marR="17780" indent="-183515">
              <a:lnSpc>
                <a:spcPct val="90100"/>
              </a:lnSpc>
              <a:spcBef>
                <a:spcPts val="1545"/>
              </a:spcBef>
            </a:pPr>
            <a:r>
              <a:rPr spc="-1250" dirty="0">
                <a:solidFill>
                  <a:srgbClr val="40B9D2"/>
                </a:solidFill>
                <a:latin typeface="Arial MT"/>
                <a:cs typeface="Arial MT"/>
              </a:rPr>
              <a:t>🞄</a:t>
            </a:r>
            <a:r>
              <a:rPr spc="-95" dirty="0">
                <a:solidFill>
                  <a:srgbClr val="40B9D2"/>
                </a:solidFill>
                <a:latin typeface="Arial MT"/>
                <a:cs typeface="Arial MT"/>
              </a:rPr>
              <a:t> </a:t>
            </a:r>
            <a:r>
              <a:rPr dirty="0"/>
              <a:t>Where</a:t>
            </a:r>
            <a:r>
              <a:rPr spc="-55" dirty="0"/>
              <a:t> </a:t>
            </a:r>
            <a:r>
              <a:rPr dirty="0"/>
              <a:t>use(x,B)</a:t>
            </a:r>
            <a:r>
              <a:rPr spc="-30" dirty="0"/>
              <a:t> </a:t>
            </a:r>
            <a:r>
              <a:rPr dirty="0"/>
              <a:t>is</a:t>
            </a:r>
            <a:r>
              <a:rPr spc="-40" dirty="0"/>
              <a:t> </a:t>
            </a:r>
            <a:r>
              <a:rPr dirty="0"/>
              <a:t>number</a:t>
            </a:r>
            <a:r>
              <a:rPr spc="-20" dirty="0"/>
              <a:t> </a:t>
            </a:r>
            <a:r>
              <a:rPr dirty="0"/>
              <a:t>of</a:t>
            </a:r>
            <a:r>
              <a:rPr spc="-35" dirty="0"/>
              <a:t> </a:t>
            </a:r>
            <a:r>
              <a:rPr dirty="0"/>
              <a:t>times</a:t>
            </a:r>
            <a:r>
              <a:rPr spc="-30" dirty="0"/>
              <a:t> </a:t>
            </a:r>
            <a:r>
              <a:rPr dirty="0"/>
              <a:t>x</a:t>
            </a:r>
            <a:r>
              <a:rPr spc="-30" dirty="0"/>
              <a:t> </a:t>
            </a:r>
            <a:r>
              <a:rPr dirty="0"/>
              <a:t>used</a:t>
            </a:r>
            <a:r>
              <a:rPr spc="-15" dirty="0"/>
              <a:t> </a:t>
            </a:r>
            <a:r>
              <a:rPr dirty="0"/>
              <a:t>in</a:t>
            </a:r>
            <a:r>
              <a:rPr spc="-45" dirty="0"/>
              <a:t> </a:t>
            </a:r>
            <a:r>
              <a:rPr dirty="0"/>
              <a:t>block</a:t>
            </a:r>
            <a:r>
              <a:rPr spc="-5" dirty="0"/>
              <a:t> </a:t>
            </a:r>
            <a:r>
              <a:rPr dirty="0"/>
              <a:t>B</a:t>
            </a:r>
            <a:r>
              <a:rPr spc="-45" dirty="0"/>
              <a:t> </a:t>
            </a:r>
            <a:r>
              <a:rPr dirty="0"/>
              <a:t>prior</a:t>
            </a:r>
            <a:r>
              <a:rPr spc="-45" dirty="0"/>
              <a:t> </a:t>
            </a:r>
            <a:r>
              <a:rPr spc="-25" dirty="0"/>
              <a:t>to </a:t>
            </a:r>
            <a:r>
              <a:rPr dirty="0"/>
              <a:t>any</a:t>
            </a:r>
            <a:r>
              <a:rPr spc="-45" dirty="0"/>
              <a:t> </a:t>
            </a:r>
            <a:r>
              <a:rPr dirty="0"/>
              <a:t>definition</a:t>
            </a:r>
            <a:r>
              <a:rPr spc="-75" dirty="0"/>
              <a:t> </a:t>
            </a:r>
            <a:r>
              <a:rPr dirty="0"/>
              <a:t>of</a:t>
            </a:r>
            <a:r>
              <a:rPr spc="-25" dirty="0"/>
              <a:t> </a:t>
            </a:r>
            <a:r>
              <a:rPr dirty="0"/>
              <a:t>x</a:t>
            </a:r>
            <a:r>
              <a:rPr spc="-45" dirty="0"/>
              <a:t> </a:t>
            </a:r>
            <a:r>
              <a:rPr spc="-10" dirty="0"/>
              <a:t>live(x,B)</a:t>
            </a:r>
            <a:r>
              <a:rPr spc="-45" dirty="0"/>
              <a:t> </a:t>
            </a:r>
            <a:r>
              <a:rPr dirty="0"/>
              <a:t>=1</a:t>
            </a:r>
            <a:r>
              <a:rPr spc="-35" dirty="0"/>
              <a:t> </a:t>
            </a:r>
            <a:r>
              <a:rPr dirty="0"/>
              <a:t>if</a:t>
            </a:r>
            <a:r>
              <a:rPr spc="-50" dirty="0"/>
              <a:t> </a:t>
            </a:r>
            <a:r>
              <a:rPr dirty="0"/>
              <a:t>x</a:t>
            </a:r>
            <a:r>
              <a:rPr spc="-30" dirty="0"/>
              <a:t> </a:t>
            </a:r>
            <a:r>
              <a:rPr dirty="0"/>
              <a:t>is</a:t>
            </a:r>
            <a:r>
              <a:rPr spc="-40" dirty="0"/>
              <a:t> </a:t>
            </a:r>
            <a:r>
              <a:rPr spc="-10" dirty="0"/>
              <a:t>live</a:t>
            </a:r>
            <a:r>
              <a:rPr spc="-40" dirty="0"/>
              <a:t> </a:t>
            </a:r>
            <a:r>
              <a:rPr dirty="0"/>
              <a:t>on</a:t>
            </a:r>
            <a:r>
              <a:rPr spc="-30" dirty="0"/>
              <a:t> </a:t>
            </a:r>
            <a:r>
              <a:rPr dirty="0"/>
              <a:t>exit</a:t>
            </a:r>
            <a:r>
              <a:rPr spc="-50" dirty="0"/>
              <a:t> </a:t>
            </a:r>
            <a:r>
              <a:rPr dirty="0"/>
              <a:t>from</a:t>
            </a:r>
            <a:r>
              <a:rPr spc="-55" dirty="0"/>
              <a:t> </a:t>
            </a:r>
            <a:r>
              <a:rPr spc="-25" dirty="0"/>
              <a:t>B; </a:t>
            </a:r>
            <a:r>
              <a:rPr spc="-10" dirty="0"/>
              <a:t>otherwise</a:t>
            </a:r>
            <a:r>
              <a:rPr spc="-45" dirty="0"/>
              <a:t> </a:t>
            </a:r>
            <a:r>
              <a:rPr spc="-10" dirty="0"/>
              <a:t>live(x)=0.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692150">
              <a:lnSpc>
                <a:spcPct val="90000"/>
              </a:lnSpc>
            </a:pPr>
            <a:r>
              <a:rPr sz="3600" b="1" spc="-10" dirty="0">
                <a:solidFill>
                  <a:srgbClr val="FFFFFF"/>
                </a:solidFill>
                <a:latin typeface="Cambria"/>
                <a:cs typeface="Cambria"/>
              </a:rPr>
              <a:t>Register </a:t>
            </a:r>
            <a:r>
              <a:rPr sz="3600" b="1" spc="-65" dirty="0">
                <a:solidFill>
                  <a:srgbClr val="FFFFFF"/>
                </a:solidFill>
                <a:latin typeface="Cambria"/>
                <a:cs typeface="Cambria"/>
              </a:rPr>
              <a:t>Assignment </a:t>
            </a:r>
            <a:r>
              <a:rPr sz="3600" b="1" spc="-60" dirty="0">
                <a:solidFill>
                  <a:srgbClr val="FFFFFF"/>
                </a:solidFill>
                <a:latin typeface="Cambria"/>
                <a:cs typeface="Cambria"/>
              </a:rPr>
              <a:t>for</a:t>
            </a:r>
            <a:r>
              <a:rPr sz="3600" b="1" spc="-120" dirty="0">
                <a:solidFill>
                  <a:srgbClr val="FFFFFF"/>
                </a:solidFill>
                <a:latin typeface="Cambria"/>
                <a:cs typeface="Cambria"/>
              </a:rPr>
              <a:t> </a:t>
            </a:r>
            <a:r>
              <a:rPr sz="3600" b="1" spc="-10" dirty="0">
                <a:solidFill>
                  <a:srgbClr val="FFFFFF"/>
                </a:solidFill>
                <a:latin typeface="Cambria"/>
                <a:cs typeface="Cambria"/>
              </a:rPr>
              <a:t>Outer </a:t>
            </a:r>
            <a:r>
              <a:rPr sz="3600" b="1" spc="-20" dirty="0">
                <a:solidFill>
                  <a:srgbClr val="FFFFFF"/>
                </a:solidFill>
                <a:latin typeface="Cambria"/>
                <a:cs typeface="Cambria"/>
              </a:rPr>
              <a:t>Loop</a:t>
            </a:r>
            <a:endParaRPr sz="3600">
              <a:latin typeface="Cambria"/>
              <a:cs typeface="Cambria"/>
            </a:endParaRPr>
          </a:p>
        </p:txBody>
      </p:sp>
      <p:sp>
        <p:nvSpPr>
          <p:cNvPr id="3" name="object 3"/>
          <p:cNvSpPr txBox="1"/>
          <p:nvPr/>
        </p:nvSpPr>
        <p:spPr>
          <a:xfrm>
            <a:off x="3556508" y="421893"/>
            <a:ext cx="7600315" cy="963930"/>
          </a:xfrm>
          <a:prstGeom prst="rect">
            <a:avLst/>
          </a:prstGeom>
        </p:spPr>
        <p:txBody>
          <a:bodyPr vert="horz" wrap="square" lIns="0" tIns="49530" rIns="0" bIns="0" rtlCol="0">
            <a:spAutoFit/>
          </a:bodyPr>
          <a:lstStyle/>
          <a:p>
            <a:pPr marL="194945" marR="5080" indent="-182880">
              <a:lnSpc>
                <a:spcPts val="2380"/>
              </a:lnSpc>
              <a:spcBef>
                <a:spcPts val="3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Consider</a:t>
            </a:r>
            <a:r>
              <a:rPr sz="2200" spc="-85" dirty="0">
                <a:latin typeface="Cambria"/>
                <a:cs typeface="Cambria"/>
              </a:rPr>
              <a:t> </a:t>
            </a:r>
            <a:r>
              <a:rPr sz="2200" dirty="0">
                <a:latin typeface="Cambria"/>
                <a:cs typeface="Cambria"/>
              </a:rPr>
              <a:t>that</a:t>
            </a:r>
            <a:r>
              <a:rPr sz="2200" spc="-25" dirty="0">
                <a:latin typeface="Cambria"/>
                <a:cs typeface="Cambria"/>
              </a:rPr>
              <a:t> </a:t>
            </a:r>
            <a:r>
              <a:rPr sz="2200" dirty="0">
                <a:latin typeface="Cambria"/>
                <a:cs typeface="Cambria"/>
              </a:rPr>
              <a:t>there</a:t>
            </a:r>
            <a:r>
              <a:rPr sz="2200" spc="-20" dirty="0">
                <a:latin typeface="Cambria"/>
                <a:cs typeface="Cambria"/>
              </a:rPr>
              <a:t> </a:t>
            </a:r>
            <a:r>
              <a:rPr sz="2200" dirty="0">
                <a:latin typeface="Cambria"/>
                <a:cs typeface="Cambria"/>
              </a:rPr>
              <a:t>are</a:t>
            </a:r>
            <a:r>
              <a:rPr sz="2200" spc="-30" dirty="0">
                <a:latin typeface="Cambria"/>
                <a:cs typeface="Cambria"/>
              </a:rPr>
              <a:t> </a:t>
            </a:r>
            <a:r>
              <a:rPr sz="2200" dirty="0">
                <a:latin typeface="Cambria"/>
                <a:cs typeface="Cambria"/>
              </a:rPr>
              <a:t>two</a:t>
            </a:r>
            <a:r>
              <a:rPr sz="2200" spc="-45" dirty="0">
                <a:latin typeface="Cambria"/>
                <a:cs typeface="Cambria"/>
              </a:rPr>
              <a:t> </a:t>
            </a:r>
            <a:r>
              <a:rPr sz="2200" dirty="0">
                <a:latin typeface="Cambria"/>
                <a:cs typeface="Cambria"/>
              </a:rPr>
              <a:t>loops</a:t>
            </a:r>
            <a:r>
              <a:rPr sz="2200" spc="-40" dirty="0">
                <a:latin typeface="Cambria"/>
                <a:cs typeface="Cambria"/>
              </a:rPr>
              <a:t> </a:t>
            </a:r>
            <a:r>
              <a:rPr sz="2200" dirty="0">
                <a:latin typeface="Cambria"/>
                <a:cs typeface="Cambria"/>
              </a:rPr>
              <a:t>L1</a:t>
            </a:r>
            <a:r>
              <a:rPr sz="2200" spc="-50" dirty="0">
                <a:latin typeface="Cambria"/>
                <a:cs typeface="Cambria"/>
              </a:rPr>
              <a:t> </a:t>
            </a:r>
            <a:r>
              <a:rPr sz="2200" dirty="0">
                <a:latin typeface="Cambria"/>
                <a:cs typeface="Cambria"/>
              </a:rPr>
              <a:t>is</a:t>
            </a:r>
            <a:r>
              <a:rPr sz="2200" spc="-35" dirty="0">
                <a:latin typeface="Cambria"/>
                <a:cs typeface="Cambria"/>
              </a:rPr>
              <a:t> </a:t>
            </a:r>
            <a:r>
              <a:rPr sz="2200" dirty="0">
                <a:latin typeface="Cambria"/>
                <a:cs typeface="Cambria"/>
              </a:rPr>
              <a:t>outer</a:t>
            </a:r>
            <a:r>
              <a:rPr sz="2200" spc="-25" dirty="0">
                <a:latin typeface="Cambria"/>
                <a:cs typeface="Cambria"/>
              </a:rPr>
              <a:t> </a:t>
            </a:r>
            <a:r>
              <a:rPr sz="2200" dirty="0">
                <a:latin typeface="Cambria"/>
                <a:cs typeface="Cambria"/>
              </a:rPr>
              <a:t>loop</a:t>
            </a:r>
            <a:r>
              <a:rPr sz="2200" spc="-40" dirty="0">
                <a:latin typeface="Cambria"/>
                <a:cs typeface="Cambria"/>
              </a:rPr>
              <a:t> </a:t>
            </a:r>
            <a:r>
              <a:rPr sz="2200" dirty="0">
                <a:latin typeface="Cambria"/>
                <a:cs typeface="Cambria"/>
              </a:rPr>
              <a:t>and</a:t>
            </a:r>
            <a:r>
              <a:rPr sz="2200" spc="-35" dirty="0">
                <a:latin typeface="Cambria"/>
                <a:cs typeface="Cambria"/>
              </a:rPr>
              <a:t> </a:t>
            </a:r>
            <a:r>
              <a:rPr sz="2200" dirty="0">
                <a:latin typeface="Cambria"/>
                <a:cs typeface="Cambria"/>
              </a:rPr>
              <a:t>L2</a:t>
            </a:r>
            <a:r>
              <a:rPr sz="2200" spc="-45" dirty="0">
                <a:latin typeface="Cambria"/>
                <a:cs typeface="Cambria"/>
              </a:rPr>
              <a:t> </a:t>
            </a:r>
            <a:r>
              <a:rPr sz="2200" dirty="0">
                <a:latin typeface="Cambria"/>
                <a:cs typeface="Cambria"/>
              </a:rPr>
              <a:t>is</a:t>
            </a:r>
            <a:r>
              <a:rPr sz="2200" spc="-20" dirty="0">
                <a:latin typeface="Cambria"/>
                <a:cs typeface="Cambria"/>
              </a:rPr>
              <a:t> </a:t>
            </a:r>
            <a:r>
              <a:rPr sz="2200" spc="-25" dirty="0">
                <a:latin typeface="Cambria"/>
                <a:cs typeface="Cambria"/>
              </a:rPr>
              <a:t>an </a:t>
            </a:r>
            <a:r>
              <a:rPr sz="2200" dirty="0">
                <a:latin typeface="Cambria"/>
                <a:cs typeface="Cambria"/>
              </a:rPr>
              <a:t>inner</a:t>
            </a:r>
            <a:r>
              <a:rPr sz="2200" spc="-50" dirty="0">
                <a:latin typeface="Cambria"/>
                <a:cs typeface="Cambria"/>
              </a:rPr>
              <a:t> </a:t>
            </a:r>
            <a:r>
              <a:rPr sz="2200" dirty="0">
                <a:latin typeface="Cambria"/>
                <a:cs typeface="Cambria"/>
              </a:rPr>
              <a:t>loop,</a:t>
            </a:r>
            <a:r>
              <a:rPr sz="2200" spc="-40" dirty="0">
                <a:latin typeface="Cambria"/>
                <a:cs typeface="Cambria"/>
              </a:rPr>
              <a:t> </a:t>
            </a:r>
            <a:r>
              <a:rPr sz="2200" dirty="0">
                <a:latin typeface="Cambria"/>
                <a:cs typeface="Cambria"/>
              </a:rPr>
              <a:t>and</a:t>
            </a:r>
            <a:r>
              <a:rPr sz="2200" spc="-30" dirty="0">
                <a:latin typeface="Cambria"/>
                <a:cs typeface="Cambria"/>
              </a:rPr>
              <a:t> </a:t>
            </a:r>
            <a:r>
              <a:rPr sz="2200" dirty="0">
                <a:latin typeface="Cambria"/>
                <a:cs typeface="Cambria"/>
              </a:rPr>
              <a:t>allocation</a:t>
            </a:r>
            <a:r>
              <a:rPr sz="2200" spc="-35" dirty="0">
                <a:latin typeface="Cambria"/>
                <a:cs typeface="Cambria"/>
              </a:rPr>
              <a:t> </a:t>
            </a:r>
            <a:r>
              <a:rPr sz="2200" dirty="0">
                <a:latin typeface="Cambria"/>
                <a:cs typeface="Cambria"/>
              </a:rPr>
              <a:t>of</a:t>
            </a:r>
            <a:r>
              <a:rPr sz="2200" spc="-50" dirty="0">
                <a:latin typeface="Cambria"/>
                <a:cs typeface="Cambria"/>
              </a:rPr>
              <a:t> </a:t>
            </a:r>
            <a:r>
              <a:rPr sz="2200" dirty="0">
                <a:latin typeface="Cambria"/>
                <a:cs typeface="Cambria"/>
              </a:rPr>
              <a:t>variable</a:t>
            </a:r>
            <a:r>
              <a:rPr sz="2200" spc="-25" dirty="0">
                <a:latin typeface="Cambria"/>
                <a:cs typeface="Cambria"/>
              </a:rPr>
              <a:t> </a:t>
            </a:r>
            <a:r>
              <a:rPr sz="2200" dirty="0">
                <a:latin typeface="Cambria"/>
                <a:cs typeface="Cambria"/>
              </a:rPr>
              <a:t>a</a:t>
            </a:r>
            <a:r>
              <a:rPr sz="2200" spc="-50"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to</a:t>
            </a:r>
            <a:r>
              <a:rPr sz="2200" spc="-30" dirty="0">
                <a:latin typeface="Cambria"/>
                <a:cs typeface="Cambria"/>
              </a:rPr>
              <a:t> </a:t>
            </a:r>
            <a:r>
              <a:rPr sz="2200" dirty="0">
                <a:latin typeface="Cambria"/>
                <a:cs typeface="Cambria"/>
              </a:rPr>
              <a:t>be</a:t>
            </a:r>
            <a:r>
              <a:rPr sz="2200" spc="-50" dirty="0">
                <a:latin typeface="Cambria"/>
                <a:cs typeface="Cambria"/>
              </a:rPr>
              <a:t> </a:t>
            </a:r>
            <a:r>
              <a:rPr sz="2200" dirty="0">
                <a:latin typeface="Cambria"/>
                <a:cs typeface="Cambria"/>
              </a:rPr>
              <a:t>done</a:t>
            </a:r>
            <a:r>
              <a:rPr sz="2200" spc="-60" dirty="0">
                <a:latin typeface="Cambria"/>
                <a:cs typeface="Cambria"/>
              </a:rPr>
              <a:t> </a:t>
            </a:r>
            <a:r>
              <a:rPr sz="2200" dirty="0">
                <a:latin typeface="Cambria"/>
                <a:cs typeface="Cambria"/>
              </a:rPr>
              <a:t>to</a:t>
            </a:r>
            <a:r>
              <a:rPr sz="2200" spc="-45" dirty="0">
                <a:latin typeface="Cambria"/>
                <a:cs typeface="Cambria"/>
              </a:rPr>
              <a:t> </a:t>
            </a:r>
            <a:r>
              <a:rPr sz="2200" spc="-20" dirty="0">
                <a:latin typeface="Cambria"/>
                <a:cs typeface="Cambria"/>
              </a:rPr>
              <a:t>some </a:t>
            </a:r>
            <a:r>
              <a:rPr sz="2200" spc="-30" dirty="0">
                <a:latin typeface="Cambria"/>
                <a:cs typeface="Cambria"/>
              </a:rPr>
              <a:t>register.</a:t>
            </a:r>
            <a:r>
              <a:rPr sz="2200" spc="-40" dirty="0">
                <a:latin typeface="Cambria"/>
                <a:cs typeface="Cambria"/>
              </a:rPr>
              <a:t> </a:t>
            </a:r>
            <a:r>
              <a:rPr sz="2200" dirty="0">
                <a:latin typeface="Cambria"/>
                <a:cs typeface="Cambria"/>
              </a:rPr>
              <a:t>The</a:t>
            </a:r>
            <a:r>
              <a:rPr sz="2200" spc="-70" dirty="0">
                <a:latin typeface="Cambria"/>
                <a:cs typeface="Cambria"/>
              </a:rPr>
              <a:t> </a:t>
            </a:r>
            <a:r>
              <a:rPr sz="2200" spc="-10" dirty="0">
                <a:latin typeface="Cambria"/>
                <a:cs typeface="Cambria"/>
              </a:rPr>
              <a:t>approximate</a:t>
            </a:r>
            <a:r>
              <a:rPr sz="2200" spc="-30" dirty="0">
                <a:latin typeface="Cambria"/>
                <a:cs typeface="Cambria"/>
              </a:rPr>
              <a:t> </a:t>
            </a:r>
            <a:r>
              <a:rPr sz="2200" dirty="0">
                <a:latin typeface="Cambria"/>
                <a:cs typeface="Cambria"/>
              </a:rPr>
              <a:t>scenario</a:t>
            </a:r>
            <a:r>
              <a:rPr sz="2200" spc="-50" dirty="0">
                <a:latin typeface="Cambria"/>
                <a:cs typeface="Cambria"/>
              </a:rPr>
              <a:t> </a:t>
            </a:r>
            <a:r>
              <a:rPr sz="2200" dirty="0">
                <a:latin typeface="Cambria"/>
                <a:cs typeface="Cambria"/>
              </a:rPr>
              <a:t>is</a:t>
            </a:r>
            <a:r>
              <a:rPr sz="2200" spc="-60" dirty="0">
                <a:latin typeface="Cambria"/>
                <a:cs typeface="Cambria"/>
              </a:rPr>
              <a:t> </a:t>
            </a:r>
            <a:r>
              <a:rPr sz="2200" dirty="0">
                <a:latin typeface="Cambria"/>
                <a:cs typeface="Cambria"/>
              </a:rPr>
              <a:t>as</a:t>
            </a:r>
            <a:r>
              <a:rPr sz="2200" spc="-70" dirty="0">
                <a:latin typeface="Cambria"/>
                <a:cs typeface="Cambria"/>
              </a:rPr>
              <a:t> </a:t>
            </a:r>
            <a:r>
              <a:rPr sz="2200" spc="-10" dirty="0">
                <a:latin typeface="Cambria"/>
                <a:cs typeface="Cambria"/>
              </a:rPr>
              <a:t>given</a:t>
            </a:r>
            <a:r>
              <a:rPr sz="2200" spc="-35" dirty="0">
                <a:latin typeface="Cambria"/>
                <a:cs typeface="Cambria"/>
              </a:rPr>
              <a:t> </a:t>
            </a:r>
            <a:r>
              <a:rPr sz="2200" spc="-10" dirty="0">
                <a:latin typeface="Cambria"/>
                <a:cs typeface="Cambria"/>
              </a:rPr>
              <a:t>below,</a:t>
            </a:r>
            <a:endParaRPr sz="2200">
              <a:latin typeface="Cambria"/>
              <a:cs typeface="Cambria"/>
            </a:endParaRPr>
          </a:p>
        </p:txBody>
      </p:sp>
      <p:sp>
        <p:nvSpPr>
          <p:cNvPr id="4" name="object 4"/>
          <p:cNvSpPr txBox="1"/>
          <p:nvPr/>
        </p:nvSpPr>
        <p:spPr>
          <a:xfrm>
            <a:off x="3556508" y="3750945"/>
            <a:ext cx="8205470" cy="2628900"/>
          </a:xfrm>
          <a:prstGeom prst="rect">
            <a:avLst/>
          </a:prstGeom>
        </p:spPr>
        <p:txBody>
          <a:bodyPr vert="horz" wrap="square" lIns="0" tIns="12065" rIns="0" bIns="0" rtlCol="0">
            <a:spAutoFit/>
          </a:bodyPr>
          <a:lstStyle/>
          <a:p>
            <a:pPr marL="12700">
              <a:lnSpc>
                <a:spcPts val="2510"/>
              </a:lnSpc>
              <a:spcBef>
                <a:spcPts val="95"/>
              </a:spcBef>
            </a:pPr>
            <a:r>
              <a:rPr sz="2200" b="1" spc="-20" dirty="0">
                <a:latin typeface="Cambria"/>
                <a:cs typeface="Cambria"/>
              </a:rPr>
              <a:t>Following</a:t>
            </a:r>
            <a:r>
              <a:rPr sz="2200" b="1" spc="-40" dirty="0">
                <a:latin typeface="Cambria"/>
                <a:cs typeface="Cambria"/>
              </a:rPr>
              <a:t> </a:t>
            </a:r>
            <a:r>
              <a:rPr sz="2200" b="1" dirty="0">
                <a:latin typeface="Cambria"/>
                <a:cs typeface="Cambria"/>
              </a:rPr>
              <a:t>criteria</a:t>
            </a:r>
            <a:r>
              <a:rPr sz="2200" b="1" spc="-65" dirty="0">
                <a:latin typeface="Cambria"/>
                <a:cs typeface="Cambria"/>
              </a:rPr>
              <a:t> </a:t>
            </a:r>
            <a:r>
              <a:rPr sz="2200" b="1" dirty="0">
                <a:latin typeface="Cambria"/>
                <a:cs typeface="Cambria"/>
              </a:rPr>
              <a:t>should</a:t>
            </a:r>
            <a:r>
              <a:rPr sz="2200" b="1" spc="-50" dirty="0">
                <a:latin typeface="Cambria"/>
                <a:cs typeface="Cambria"/>
              </a:rPr>
              <a:t> </a:t>
            </a:r>
            <a:r>
              <a:rPr sz="2200" b="1" dirty="0">
                <a:latin typeface="Cambria"/>
                <a:cs typeface="Cambria"/>
              </a:rPr>
              <a:t>be</a:t>
            </a:r>
            <a:r>
              <a:rPr sz="2200" b="1" spc="-65" dirty="0">
                <a:latin typeface="Cambria"/>
                <a:cs typeface="Cambria"/>
              </a:rPr>
              <a:t> </a:t>
            </a:r>
            <a:r>
              <a:rPr sz="2200" b="1" dirty="0">
                <a:latin typeface="Cambria"/>
                <a:cs typeface="Cambria"/>
              </a:rPr>
              <a:t>adopted</a:t>
            </a:r>
            <a:r>
              <a:rPr sz="2200" b="1" spc="-65" dirty="0">
                <a:latin typeface="Cambria"/>
                <a:cs typeface="Cambria"/>
              </a:rPr>
              <a:t> </a:t>
            </a:r>
            <a:r>
              <a:rPr sz="2200" b="1" dirty="0">
                <a:latin typeface="Cambria"/>
                <a:cs typeface="Cambria"/>
              </a:rPr>
              <a:t>for</a:t>
            </a:r>
            <a:r>
              <a:rPr sz="2200" b="1" spc="-75" dirty="0">
                <a:latin typeface="Cambria"/>
                <a:cs typeface="Cambria"/>
              </a:rPr>
              <a:t> </a:t>
            </a:r>
            <a:r>
              <a:rPr sz="2200" b="1" spc="-10" dirty="0">
                <a:latin typeface="Cambria"/>
                <a:cs typeface="Cambria"/>
              </a:rPr>
              <a:t>register</a:t>
            </a:r>
            <a:r>
              <a:rPr sz="2200" b="1" spc="-65" dirty="0">
                <a:latin typeface="Cambria"/>
                <a:cs typeface="Cambria"/>
              </a:rPr>
              <a:t> </a:t>
            </a:r>
            <a:r>
              <a:rPr sz="2200" b="1" dirty="0">
                <a:latin typeface="Cambria"/>
                <a:cs typeface="Cambria"/>
              </a:rPr>
              <a:t>assignment</a:t>
            </a:r>
            <a:r>
              <a:rPr sz="2200" b="1" spc="-35" dirty="0">
                <a:latin typeface="Cambria"/>
                <a:cs typeface="Cambria"/>
              </a:rPr>
              <a:t> </a:t>
            </a:r>
            <a:r>
              <a:rPr sz="2200" b="1" spc="-25" dirty="0">
                <a:latin typeface="Cambria"/>
                <a:cs typeface="Cambria"/>
              </a:rPr>
              <a:t>for</a:t>
            </a:r>
            <a:endParaRPr sz="2200">
              <a:latin typeface="Cambria"/>
              <a:cs typeface="Cambria"/>
            </a:endParaRPr>
          </a:p>
          <a:p>
            <a:pPr marL="12700">
              <a:lnSpc>
                <a:spcPts val="2510"/>
              </a:lnSpc>
            </a:pPr>
            <a:r>
              <a:rPr sz="2200" b="1" dirty="0">
                <a:latin typeface="Cambria"/>
                <a:cs typeface="Cambria"/>
              </a:rPr>
              <a:t>outer</a:t>
            </a:r>
            <a:r>
              <a:rPr sz="2200" b="1" spc="-60" dirty="0">
                <a:latin typeface="Cambria"/>
                <a:cs typeface="Cambria"/>
              </a:rPr>
              <a:t> </a:t>
            </a:r>
            <a:r>
              <a:rPr sz="2200" b="1" spc="-20" dirty="0">
                <a:latin typeface="Cambria"/>
                <a:cs typeface="Cambria"/>
              </a:rPr>
              <a:t>loop,</a:t>
            </a:r>
            <a:endParaRPr sz="2200">
              <a:latin typeface="Cambria"/>
              <a:cs typeface="Cambria"/>
            </a:endParaRPr>
          </a:p>
          <a:p>
            <a:pPr marL="12700">
              <a:lnSpc>
                <a:spcPct val="100000"/>
              </a:lnSpc>
              <a:spcBef>
                <a:spcPts val="9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If</a:t>
            </a:r>
            <a:r>
              <a:rPr sz="2200" spc="-85" dirty="0">
                <a:latin typeface="Cambria"/>
                <a:cs typeface="Cambria"/>
              </a:rPr>
              <a:t> </a:t>
            </a:r>
            <a:r>
              <a:rPr sz="2200" dirty="0">
                <a:latin typeface="Cambria"/>
                <a:cs typeface="Cambria"/>
              </a:rPr>
              <a:t>a</a:t>
            </a:r>
            <a:r>
              <a:rPr sz="2200" spc="-35" dirty="0">
                <a:latin typeface="Cambria"/>
                <a:cs typeface="Cambria"/>
              </a:rPr>
              <a:t> </a:t>
            </a:r>
            <a:r>
              <a:rPr sz="2200" dirty="0">
                <a:latin typeface="Cambria"/>
                <a:cs typeface="Cambria"/>
              </a:rPr>
              <a:t>is</a:t>
            </a:r>
            <a:r>
              <a:rPr sz="2200" spc="-25" dirty="0">
                <a:latin typeface="Cambria"/>
                <a:cs typeface="Cambria"/>
              </a:rPr>
              <a:t> </a:t>
            </a:r>
            <a:r>
              <a:rPr sz="2200" dirty="0">
                <a:latin typeface="Cambria"/>
                <a:cs typeface="Cambria"/>
              </a:rPr>
              <a:t>allocated</a:t>
            </a:r>
            <a:r>
              <a:rPr sz="2200" spc="5" dirty="0">
                <a:latin typeface="Cambria"/>
                <a:cs typeface="Cambria"/>
              </a:rPr>
              <a:t> </a:t>
            </a:r>
            <a:r>
              <a:rPr sz="2200" dirty="0">
                <a:latin typeface="Cambria"/>
                <a:cs typeface="Cambria"/>
              </a:rPr>
              <a:t>in</a:t>
            </a:r>
            <a:r>
              <a:rPr sz="2200" spc="-35" dirty="0">
                <a:latin typeface="Cambria"/>
                <a:cs typeface="Cambria"/>
              </a:rPr>
              <a:t> </a:t>
            </a:r>
            <a:r>
              <a:rPr sz="2200" dirty="0">
                <a:latin typeface="Cambria"/>
                <a:cs typeface="Cambria"/>
              </a:rPr>
              <a:t>loop</a:t>
            </a:r>
            <a:r>
              <a:rPr sz="2200" spc="-30" dirty="0">
                <a:latin typeface="Cambria"/>
                <a:cs typeface="Cambria"/>
              </a:rPr>
              <a:t> </a:t>
            </a:r>
            <a:r>
              <a:rPr sz="2200" dirty="0">
                <a:latin typeface="Cambria"/>
                <a:cs typeface="Cambria"/>
              </a:rPr>
              <a:t>L2</a:t>
            </a:r>
            <a:r>
              <a:rPr sz="2200" spc="-40" dirty="0">
                <a:latin typeface="Cambria"/>
                <a:cs typeface="Cambria"/>
              </a:rPr>
              <a:t> </a:t>
            </a:r>
            <a:r>
              <a:rPr sz="2200" dirty="0">
                <a:latin typeface="Cambria"/>
                <a:cs typeface="Cambria"/>
              </a:rPr>
              <a:t>then</a:t>
            </a:r>
            <a:r>
              <a:rPr sz="2200" spc="-35" dirty="0">
                <a:latin typeface="Cambria"/>
                <a:cs typeface="Cambria"/>
              </a:rPr>
              <a:t> </a:t>
            </a:r>
            <a:r>
              <a:rPr sz="2200" dirty="0">
                <a:latin typeface="Cambria"/>
                <a:cs typeface="Cambria"/>
              </a:rPr>
              <a:t>it</a:t>
            </a:r>
            <a:r>
              <a:rPr sz="2200" spc="-20" dirty="0">
                <a:latin typeface="Cambria"/>
                <a:cs typeface="Cambria"/>
              </a:rPr>
              <a:t> </a:t>
            </a:r>
            <a:r>
              <a:rPr sz="2200" dirty="0">
                <a:latin typeface="Cambria"/>
                <a:cs typeface="Cambria"/>
              </a:rPr>
              <a:t>should</a:t>
            </a:r>
            <a:r>
              <a:rPr sz="2200" spc="-25" dirty="0">
                <a:latin typeface="Cambria"/>
                <a:cs typeface="Cambria"/>
              </a:rPr>
              <a:t> </a:t>
            </a:r>
            <a:r>
              <a:rPr sz="2200" dirty="0">
                <a:latin typeface="Cambria"/>
                <a:cs typeface="Cambria"/>
              </a:rPr>
              <a:t>not</a:t>
            </a:r>
            <a:r>
              <a:rPr sz="2200" spc="-40" dirty="0">
                <a:latin typeface="Cambria"/>
                <a:cs typeface="Cambria"/>
              </a:rPr>
              <a:t> </a:t>
            </a:r>
            <a:r>
              <a:rPr sz="2200" dirty="0">
                <a:latin typeface="Cambria"/>
                <a:cs typeface="Cambria"/>
              </a:rPr>
              <a:t>be</a:t>
            </a:r>
            <a:r>
              <a:rPr sz="2200" spc="-20" dirty="0">
                <a:latin typeface="Cambria"/>
                <a:cs typeface="Cambria"/>
              </a:rPr>
              <a:t> </a:t>
            </a:r>
            <a:r>
              <a:rPr sz="2200" dirty="0">
                <a:latin typeface="Cambria"/>
                <a:cs typeface="Cambria"/>
              </a:rPr>
              <a:t>allocated in</a:t>
            </a:r>
            <a:r>
              <a:rPr sz="2200" spc="-30" dirty="0">
                <a:latin typeface="Cambria"/>
                <a:cs typeface="Cambria"/>
              </a:rPr>
              <a:t> </a:t>
            </a:r>
            <a:r>
              <a:rPr sz="2200" dirty="0">
                <a:latin typeface="Cambria"/>
                <a:cs typeface="Cambria"/>
              </a:rPr>
              <a:t>L1</a:t>
            </a:r>
            <a:r>
              <a:rPr sz="2200" spc="-10" dirty="0">
                <a:latin typeface="Cambria"/>
                <a:cs typeface="Cambria"/>
              </a:rPr>
              <a:t> </a:t>
            </a:r>
            <a:r>
              <a:rPr sz="2200" dirty="0">
                <a:latin typeface="Cambria"/>
                <a:cs typeface="Cambria"/>
              </a:rPr>
              <a:t>-</a:t>
            </a:r>
            <a:r>
              <a:rPr sz="2200" spc="-35" dirty="0">
                <a:latin typeface="Cambria"/>
                <a:cs typeface="Cambria"/>
              </a:rPr>
              <a:t> </a:t>
            </a:r>
            <a:r>
              <a:rPr sz="2200" spc="-25" dirty="0">
                <a:latin typeface="Cambria"/>
                <a:cs typeface="Cambria"/>
              </a:rPr>
              <a:t>L2.</a:t>
            </a:r>
            <a:endParaRPr sz="2200">
              <a:latin typeface="Cambria"/>
              <a:cs typeface="Cambria"/>
            </a:endParaRPr>
          </a:p>
          <a:p>
            <a:pPr marL="12700">
              <a:lnSpc>
                <a:spcPts val="2510"/>
              </a:lnSpc>
              <a:spcBef>
                <a:spcPts val="9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If</a:t>
            </a:r>
            <a:r>
              <a:rPr sz="2200" spc="-85" dirty="0">
                <a:latin typeface="Cambria"/>
                <a:cs typeface="Cambria"/>
              </a:rPr>
              <a:t> </a:t>
            </a:r>
            <a:r>
              <a:rPr sz="2200" dirty="0">
                <a:latin typeface="Cambria"/>
                <a:cs typeface="Cambria"/>
              </a:rPr>
              <a:t>a</a:t>
            </a:r>
            <a:r>
              <a:rPr sz="2200" spc="-40" dirty="0">
                <a:latin typeface="Cambria"/>
                <a:cs typeface="Cambria"/>
              </a:rPr>
              <a:t> </a:t>
            </a:r>
            <a:r>
              <a:rPr sz="2200" dirty="0">
                <a:latin typeface="Cambria"/>
                <a:cs typeface="Cambria"/>
              </a:rPr>
              <a:t>is</a:t>
            </a:r>
            <a:r>
              <a:rPr sz="2200" spc="-25" dirty="0">
                <a:latin typeface="Cambria"/>
                <a:cs typeface="Cambria"/>
              </a:rPr>
              <a:t> </a:t>
            </a:r>
            <a:r>
              <a:rPr sz="2200" dirty="0">
                <a:latin typeface="Cambria"/>
                <a:cs typeface="Cambria"/>
              </a:rPr>
              <a:t>allocated in</a:t>
            </a:r>
            <a:r>
              <a:rPr sz="2200" spc="-35" dirty="0">
                <a:latin typeface="Cambria"/>
                <a:cs typeface="Cambria"/>
              </a:rPr>
              <a:t> </a:t>
            </a:r>
            <a:r>
              <a:rPr sz="2200" dirty="0">
                <a:latin typeface="Cambria"/>
                <a:cs typeface="Cambria"/>
              </a:rPr>
              <a:t>L1</a:t>
            </a:r>
            <a:r>
              <a:rPr sz="2200" spc="-45" dirty="0">
                <a:latin typeface="Cambria"/>
                <a:cs typeface="Cambria"/>
              </a:rPr>
              <a:t> </a:t>
            </a:r>
            <a:r>
              <a:rPr sz="2200" dirty="0">
                <a:latin typeface="Cambria"/>
                <a:cs typeface="Cambria"/>
              </a:rPr>
              <a:t>and</a:t>
            </a:r>
            <a:r>
              <a:rPr sz="2200" spc="-30" dirty="0">
                <a:latin typeface="Cambria"/>
                <a:cs typeface="Cambria"/>
              </a:rPr>
              <a:t> </a:t>
            </a:r>
            <a:r>
              <a:rPr sz="2200" dirty="0">
                <a:latin typeface="Cambria"/>
                <a:cs typeface="Cambria"/>
              </a:rPr>
              <a:t>it</a:t>
            </a:r>
            <a:r>
              <a:rPr sz="2200" spc="-20"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not</a:t>
            </a:r>
            <a:r>
              <a:rPr sz="2200" spc="-20" dirty="0">
                <a:latin typeface="Cambria"/>
                <a:cs typeface="Cambria"/>
              </a:rPr>
              <a:t> </a:t>
            </a:r>
            <a:r>
              <a:rPr sz="2200" dirty="0">
                <a:latin typeface="Cambria"/>
                <a:cs typeface="Cambria"/>
              </a:rPr>
              <a:t>allocated</a:t>
            </a:r>
            <a:r>
              <a:rPr sz="2200" spc="-5" dirty="0">
                <a:latin typeface="Cambria"/>
                <a:cs typeface="Cambria"/>
              </a:rPr>
              <a:t> </a:t>
            </a:r>
            <a:r>
              <a:rPr sz="2200" dirty="0">
                <a:latin typeface="Cambria"/>
                <a:cs typeface="Cambria"/>
              </a:rPr>
              <a:t>in</a:t>
            </a:r>
            <a:r>
              <a:rPr sz="2200" spc="-30" dirty="0">
                <a:latin typeface="Cambria"/>
                <a:cs typeface="Cambria"/>
              </a:rPr>
              <a:t> </a:t>
            </a:r>
            <a:r>
              <a:rPr sz="2200" dirty="0">
                <a:latin typeface="Cambria"/>
                <a:cs typeface="Cambria"/>
              </a:rPr>
              <a:t>L2</a:t>
            </a:r>
            <a:r>
              <a:rPr sz="2200" spc="-45" dirty="0">
                <a:latin typeface="Cambria"/>
                <a:cs typeface="Cambria"/>
              </a:rPr>
              <a:t> </a:t>
            </a:r>
            <a:r>
              <a:rPr sz="2200" dirty="0">
                <a:latin typeface="Cambria"/>
                <a:cs typeface="Cambria"/>
              </a:rPr>
              <a:t>then</a:t>
            </a:r>
            <a:r>
              <a:rPr sz="2200" spc="-25" dirty="0">
                <a:latin typeface="Cambria"/>
                <a:cs typeface="Cambria"/>
              </a:rPr>
              <a:t> </a:t>
            </a:r>
            <a:r>
              <a:rPr sz="2200" dirty="0">
                <a:latin typeface="Cambria"/>
                <a:cs typeface="Cambria"/>
              </a:rPr>
              <a:t>store</a:t>
            </a:r>
            <a:r>
              <a:rPr sz="2200" spc="-10" dirty="0">
                <a:latin typeface="Cambria"/>
                <a:cs typeface="Cambria"/>
              </a:rPr>
              <a:t> </a:t>
            </a:r>
            <a:r>
              <a:rPr sz="2200" dirty="0">
                <a:latin typeface="Cambria"/>
                <a:cs typeface="Cambria"/>
              </a:rPr>
              <a:t>a</a:t>
            </a:r>
            <a:r>
              <a:rPr sz="2200" spc="-40" dirty="0">
                <a:latin typeface="Cambria"/>
                <a:cs typeface="Cambria"/>
              </a:rPr>
              <a:t> </a:t>
            </a:r>
            <a:r>
              <a:rPr sz="2200" spc="-25" dirty="0">
                <a:latin typeface="Cambria"/>
                <a:cs typeface="Cambria"/>
              </a:rPr>
              <a:t>on</a:t>
            </a:r>
            <a:endParaRPr sz="2200">
              <a:latin typeface="Cambria"/>
              <a:cs typeface="Cambria"/>
            </a:endParaRPr>
          </a:p>
          <a:p>
            <a:pPr marL="194945">
              <a:lnSpc>
                <a:spcPts val="2510"/>
              </a:lnSpc>
            </a:pPr>
            <a:r>
              <a:rPr sz="2200" dirty="0">
                <a:latin typeface="Cambria"/>
                <a:cs typeface="Cambria"/>
              </a:rPr>
              <a:t>entrance</a:t>
            </a:r>
            <a:r>
              <a:rPr sz="2200" spc="-25" dirty="0">
                <a:latin typeface="Cambria"/>
                <a:cs typeface="Cambria"/>
              </a:rPr>
              <a:t> </a:t>
            </a:r>
            <a:r>
              <a:rPr sz="2200" dirty="0">
                <a:latin typeface="Cambria"/>
                <a:cs typeface="Cambria"/>
              </a:rPr>
              <a:t>to</a:t>
            </a:r>
            <a:r>
              <a:rPr sz="2200" spc="-35" dirty="0">
                <a:latin typeface="Cambria"/>
                <a:cs typeface="Cambria"/>
              </a:rPr>
              <a:t> </a:t>
            </a:r>
            <a:r>
              <a:rPr sz="2200" dirty="0">
                <a:latin typeface="Cambria"/>
                <a:cs typeface="Cambria"/>
              </a:rPr>
              <a:t>L2</a:t>
            </a:r>
            <a:r>
              <a:rPr sz="2200" spc="-65" dirty="0">
                <a:latin typeface="Cambria"/>
                <a:cs typeface="Cambria"/>
              </a:rPr>
              <a:t> </a:t>
            </a:r>
            <a:r>
              <a:rPr sz="2200" dirty="0">
                <a:latin typeface="Cambria"/>
                <a:cs typeface="Cambria"/>
              </a:rPr>
              <a:t>and</a:t>
            </a:r>
            <a:r>
              <a:rPr sz="2200" spc="-30" dirty="0">
                <a:latin typeface="Cambria"/>
                <a:cs typeface="Cambria"/>
              </a:rPr>
              <a:t> </a:t>
            </a:r>
            <a:r>
              <a:rPr sz="2200" dirty="0">
                <a:latin typeface="Cambria"/>
                <a:cs typeface="Cambria"/>
              </a:rPr>
              <a:t>load</a:t>
            </a:r>
            <a:r>
              <a:rPr sz="2200" spc="-45" dirty="0">
                <a:latin typeface="Cambria"/>
                <a:cs typeface="Cambria"/>
              </a:rPr>
              <a:t> </a:t>
            </a:r>
            <a:r>
              <a:rPr sz="2200" dirty="0">
                <a:latin typeface="Cambria"/>
                <a:cs typeface="Cambria"/>
              </a:rPr>
              <a:t>a</a:t>
            </a:r>
            <a:r>
              <a:rPr sz="2200" spc="-50" dirty="0">
                <a:latin typeface="Cambria"/>
                <a:cs typeface="Cambria"/>
              </a:rPr>
              <a:t> </a:t>
            </a:r>
            <a:r>
              <a:rPr sz="2200" dirty="0">
                <a:latin typeface="Cambria"/>
                <a:cs typeface="Cambria"/>
              </a:rPr>
              <a:t>while</a:t>
            </a:r>
            <a:r>
              <a:rPr sz="2200" spc="-50" dirty="0">
                <a:latin typeface="Cambria"/>
                <a:cs typeface="Cambria"/>
              </a:rPr>
              <a:t> </a:t>
            </a:r>
            <a:r>
              <a:rPr sz="2200" spc="-10" dirty="0">
                <a:latin typeface="Cambria"/>
                <a:cs typeface="Cambria"/>
              </a:rPr>
              <a:t>leaving</a:t>
            </a:r>
            <a:r>
              <a:rPr sz="2200" spc="-25" dirty="0">
                <a:latin typeface="Cambria"/>
                <a:cs typeface="Cambria"/>
              </a:rPr>
              <a:t> L2.</a:t>
            </a:r>
            <a:endParaRPr sz="2200">
              <a:latin typeface="Cambria"/>
              <a:cs typeface="Cambria"/>
            </a:endParaRPr>
          </a:p>
          <a:p>
            <a:pPr marL="194945" marR="418465" indent="-182880">
              <a:lnSpc>
                <a:spcPts val="2380"/>
              </a:lnSpc>
              <a:spcBef>
                <a:spcPts val="12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If</a:t>
            </a:r>
            <a:r>
              <a:rPr sz="2200" spc="-75" dirty="0">
                <a:latin typeface="Cambria"/>
                <a:cs typeface="Cambria"/>
              </a:rPr>
              <a:t> </a:t>
            </a:r>
            <a:r>
              <a:rPr sz="2200" dirty="0">
                <a:latin typeface="Cambria"/>
                <a:cs typeface="Cambria"/>
              </a:rPr>
              <a:t>a</a:t>
            </a:r>
            <a:r>
              <a:rPr sz="2200" spc="-35" dirty="0">
                <a:latin typeface="Cambria"/>
                <a:cs typeface="Cambria"/>
              </a:rPr>
              <a:t> </a:t>
            </a:r>
            <a:r>
              <a:rPr sz="2200" dirty="0">
                <a:latin typeface="Cambria"/>
                <a:cs typeface="Cambria"/>
              </a:rPr>
              <a:t>is</a:t>
            </a:r>
            <a:r>
              <a:rPr sz="2200" spc="-20" dirty="0">
                <a:latin typeface="Cambria"/>
                <a:cs typeface="Cambria"/>
              </a:rPr>
              <a:t> </a:t>
            </a:r>
            <a:r>
              <a:rPr sz="2200" dirty="0">
                <a:latin typeface="Cambria"/>
                <a:cs typeface="Cambria"/>
              </a:rPr>
              <a:t>allocated</a:t>
            </a:r>
            <a:r>
              <a:rPr sz="2200" spc="10" dirty="0">
                <a:latin typeface="Cambria"/>
                <a:cs typeface="Cambria"/>
              </a:rPr>
              <a:t> </a:t>
            </a:r>
            <a:r>
              <a:rPr sz="2200" dirty="0">
                <a:latin typeface="Cambria"/>
                <a:cs typeface="Cambria"/>
              </a:rPr>
              <a:t>in</a:t>
            </a:r>
            <a:r>
              <a:rPr sz="2200" spc="-35" dirty="0">
                <a:latin typeface="Cambria"/>
                <a:cs typeface="Cambria"/>
              </a:rPr>
              <a:t> </a:t>
            </a:r>
            <a:r>
              <a:rPr sz="2200" dirty="0">
                <a:latin typeface="Cambria"/>
                <a:cs typeface="Cambria"/>
              </a:rPr>
              <a:t>L2</a:t>
            </a:r>
            <a:r>
              <a:rPr sz="2200" spc="-35" dirty="0">
                <a:latin typeface="Cambria"/>
                <a:cs typeface="Cambria"/>
              </a:rPr>
              <a:t> </a:t>
            </a:r>
            <a:r>
              <a:rPr sz="2200" dirty="0">
                <a:latin typeface="Cambria"/>
                <a:cs typeface="Cambria"/>
              </a:rPr>
              <a:t>and</a:t>
            </a:r>
            <a:r>
              <a:rPr sz="2200" spc="-25" dirty="0">
                <a:latin typeface="Cambria"/>
                <a:cs typeface="Cambria"/>
              </a:rPr>
              <a:t> </a:t>
            </a:r>
            <a:r>
              <a:rPr sz="2200" dirty="0">
                <a:latin typeface="Cambria"/>
                <a:cs typeface="Cambria"/>
              </a:rPr>
              <a:t>not</a:t>
            </a:r>
            <a:r>
              <a:rPr sz="2200" spc="-15" dirty="0">
                <a:latin typeface="Cambria"/>
                <a:cs typeface="Cambria"/>
              </a:rPr>
              <a:t> </a:t>
            </a:r>
            <a:r>
              <a:rPr sz="2200" dirty="0">
                <a:latin typeface="Cambria"/>
                <a:cs typeface="Cambria"/>
              </a:rPr>
              <a:t>in</a:t>
            </a:r>
            <a:r>
              <a:rPr sz="2200" spc="-35" dirty="0">
                <a:latin typeface="Cambria"/>
                <a:cs typeface="Cambria"/>
              </a:rPr>
              <a:t> </a:t>
            </a:r>
            <a:r>
              <a:rPr sz="2200" dirty="0">
                <a:latin typeface="Cambria"/>
                <a:cs typeface="Cambria"/>
              </a:rPr>
              <a:t>L1</a:t>
            </a:r>
            <a:r>
              <a:rPr sz="2200" spc="-35" dirty="0">
                <a:latin typeface="Cambria"/>
                <a:cs typeface="Cambria"/>
              </a:rPr>
              <a:t> </a:t>
            </a:r>
            <a:r>
              <a:rPr sz="2200" dirty="0">
                <a:latin typeface="Cambria"/>
                <a:cs typeface="Cambria"/>
              </a:rPr>
              <a:t>then</a:t>
            </a:r>
            <a:r>
              <a:rPr sz="2200" spc="-20" dirty="0">
                <a:latin typeface="Cambria"/>
                <a:cs typeface="Cambria"/>
              </a:rPr>
              <a:t> </a:t>
            </a:r>
            <a:r>
              <a:rPr sz="2200" dirty="0">
                <a:latin typeface="Cambria"/>
                <a:cs typeface="Cambria"/>
              </a:rPr>
              <a:t>load</a:t>
            </a:r>
            <a:r>
              <a:rPr sz="2200" spc="-20" dirty="0">
                <a:latin typeface="Cambria"/>
                <a:cs typeface="Cambria"/>
              </a:rPr>
              <a:t> </a:t>
            </a:r>
            <a:r>
              <a:rPr sz="2200" dirty="0">
                <a:latin typeface="Cambria"/>
                <a:cs typeface="Cambria"/>
              </a:rPr>
              <a:t>a</a:t>
            </a:r>
            <a:r>
              <a:rPr sz="2200" spc="-35" dirty="0">
                <a:latin typeface="Cambria"/>
                <a:cs typeface="Cambria"/>
              </a:rPr>
              <a:t> </a:t>
            </a:r>
            <a:r>
              <a:rPr sz="2200" dirty="0">
                <a:latin typeface="Cambria"/>
                <a:cs typeface="Cambria"/>
              </a:rPr>
              <a:t>on</a:t>
            </a:r>
            <a:r>
              <a:rPr sz="2200" spc="-25" dirty="0">
                <a:latin typeface="Cambria"/>
                <a:cs typeface="Cambria"/>
              </a:rPr>
              <a:t> </a:t>
            </a:r>
            <a:r>
              <a:rPr sz="2200" dirty="0">
                <a:latin typeface="Cambria"/>
                <a:cs typeface="Cambria"/>
              </a:rPr>
              <a:t>entrance</a:t>
            </a:r>
            <a:r>
              <a:rPr sz="2200" spc="-5" dirty="0">
                <a:latin typeface="Cambria"/>
                <a:cs typeface="Cambria"/>
              </a:rPr>
              <a:t> </a:t>
            </a:r>
            <a:r>
              <a:rPr sz="2200" dirty="0">
                <a:latin typeface="Cambria"/>
                <a:cs typeface="Cambria"/>
              </a:rPr>
              <a:t>of</a:t>
            </a:r>
            <a:r>
              <a:rPr sz="2200" spc="-35" dirty="0">
                <a:latin typeface="Cambria"/>
                <a:cs typeface="Cambria"/>
              </a:rPr>
              <a:t> </a:t>
            </a:r>
            <a:r>
              <a:rPr sz="2200" spc="-25" dirty="0">
                <a:latin typeface="Cambria"/>
                <a:cs typeface="Cambria"/>
              </a:rPr>
              <a:t>L2 </a:t>
            </a:r>
            <a:r>
              <a:rPr sz="2200" dirty="0">
                <a:latin typeface="Cambria"/>
                <a:cs typeface="Cambria"/>
              </a:rPr>
              <a:t>and</a:t>
            </a:r>
            <a:r>
              <a:rPr sz="2200" spc="-45" dirty="0">
                <a:latin typeface="Cambria"/>
                <a:cs typeface="Cambria"/>
              </a:rPr>
              <a:t> </a:t>
            </a:r>
            <a:r>
              <a:rPr sz="2200" dirty="0">
                <a:latin typeface="Cambria"/>
                <a:cs typeface="Cambria"/>
              </a:rPr>
              <a:t>store</a:t>
            </a:r>
            <a:r>
              <a:rPr sz="2200" spc="-30" dirty="0">
                <a:latin typeface="Cambria"/>
                <a:cs typeface="Cambria"/>
              </a:rPr>
              <a:t> </a:t>
            </a:r>
            <a:r>
              <a:rPr sz="2200" dirty="0">
                <a:latin typeface="Cambria"/>
                <a:cs typeface="Cambria"/>
              </a:rPr>
              <a:t>a</a:t>
            </a:r>
            <a:r>
              <a:rPr sz="2200" spc="-50" dirty="0">
                <a:latin typeface="Cambria"/>
                <a:cs typeface="Cambria"/>
              </a:rPr>
              <a:t> </a:t>
            </a:r>
            <a:r>
              <a:rPr sz="2200" dirty="0">
                <a:latin typeface="Cambria"/>
                <a:cs typeface="Cambria"/>
              </a:rPr>
              <a:t>on</a:t>
            </a:r>
            <a:r>
              <a:rPr sz="2200" spc="-45" dirty="0">
                <a:latin typeface="Cambria"/>
                <a:cs typeface="Cambria"/>
              </a:rPr>
              <a:t> </a:t>
            </a:r>
            <a:r>
              <a:rPr sz="2200" dirty="0">
                <a:latin typeface="Cambria"/>
                <a:cs typeface="Cambria"/>
              </a:rPr>
              <a:t>exit</a:t>
            </a:r>
            <a:r>
              <a:rPr sz="2200" spc="-35" dirty="0">
                <a:latin typeface="Cambria"/>
                <a:cs typeface="Cambria"/>
              </a:rPr>
              <a:t> </a:t>
            </a:r>
            <a:r>
              <a:rPr sz="2200" dirty="0">
                <a:latin typeface="Cambria"/>
                <a:cs typeface="Cambria"/>
              </a:rPr>
              <a:t>from</a:t>
            </a:r>
            <a:r>
              <a:rPr sz="2200" spc="-55" dirty="0">
                <a:latin typeface="Cambria"/>
                <a:cs typeface="Cambria"/>
              </a:rPr>
              <a:t> </a:t>
            </a:r>
            <a:r>
              <a:rPr sz="2200" spc="-25" dirty="0">
                <a:latin typeface="Cambria"/>
                <a:cs typeface="Cambria"/>
              </a:rPr>
              <a:t>L2.</a:t>
            </a:r>
            <a:endParaRPr sz="2200">
              <a:latin typeface="Cambria"/>
              <a:cs typeface="Cambria"/>
            </a:endParaRPr>
          </a:p>
        </p:txBody>
      </p:sp>
      <p:pic>
        <p:nvPicPr>
          <p:cNvPr id="5" name="object 5"/>
          <p:cNvPicPr/>
          <p:nvPr/>
        </p:nvPicPr>
        <p:blipFill>
          <a:blip r:embed="rId2" cstate="print"/>
          <a:stretch>
            <a:fillRect/>
          </a:stretch>
        </p:blipFill>
        <p:spPr>
          <a:xfrm>
            <a:off x="6480428" y="2005940"/>
            <a:ext cx="2828925" cy="138040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944880">
              <a:lnSpc>
                <a:spcPct val="90000"/>
              </a:lnSpc>
            </a:pPr>
            <a:r>
              <a:rPr sz="3600" b="1" spc="-10" dirty="0">
                <a:solidFill>
                  <a:srgbClr val="FFFFFF"/>
                </a:solidFill>
                <a:latin typeface="Cambria"/>
                <a:cs typeface="Cambria"/>
              </a:rPr>
              <a:t>Register Allocation </a:t>
            </a:r>
            <a:r>
              <a:rPr sz="3600" b="1" dirty="0">
                <a:solidFill>
                  <a:srgbClr val="FFFFFF"/>
                </a:solidFill>
                <a:latin typeface="Cambria"/>
                <a:cs typeface="Cambria"/>
              </a:rPr>
              <a:t>for</a:t>
            </a:r>
            <a:r>
              <a:rPr sz="3600" b="1" spc="-65" dirty="0">
                <a:solidFill>
                  <a:srgbClr val="FFFFFF"/>
                </a:solidFill>
                <a:latin typeface="Cambria"/>
                <a:cs typeface="Cambria"/>
              </a:rPr>
              <a:t> </a:t>
            </a:r>
            <a:r>
              <a:rPr sz="3600" b="1" spc="-10" dirty="0">
                <a:solidFill>
                  <a:srgbClr val="FFFFFF"/>
                </a:solidFill>
                <a:latin typeface="Cambria"/>
                <a:cs typeface="Cambria"/>
              </a:rPr>
              <a:t>Graph Coloring</a:t>
            </a:r>
            <a:endParaRPr sz="3600">
              <a:latin typeface="Cambria"/>
              <a:cs typeface="Cambria"/>
            </a:endParaRPr>
          </a:p>
        </p:txBody>
      </p:sp>
      <p:sp>
        <p:nvSpPr>
          <p:cNvPr id="3" name="object 3"/>
          <p:cNvSpPr txBox="1"/>
          <p:nvPr/>
        </p:nvSpPr>
        <p:spPr>
          <a:xfrm>
            <a:off x="3569334" y="353313"/>
            <a:ext cx="7834630" cy="662305"/>
          </a:xfrm>
          <a:prstGeom prst="rect">
            <a:avLst/>
          </a:prstGeom>
        </p:spPr>
        <p:txBody>
          <a:bodyPr vert="horz" wrap="square" lIns="0" tIns="49530" rIns="0" bIns="0" rtlCol="0">
            <a:spAutoFit/>
          </a:bodyPr>
          <a:lstStyle/>
          <a:p>
            <a:pPr marL="194945" marR="5080" indent="-182880">
              <a:lnSpc>
                <a:spcPts val="2380"/>
              </a:lnSpc>
              <a:spcBef>
                <a:spcPts val="3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The</a:t>
            </a:r>
            <a:r>
              <a:rPr sz="2200" spc="-114" dirty="0">
                <a:latin typeface="Cambria"/>
                <a:cs typeface="Cambria"/>
              </a:rPr>
              <a:t> </a:t>
            </a:r>
            <a:r>
              <a:rPr sz="2200" dirty="0">
                <a:latin typeface="Cambria"/>
                <a:cs typeface="Cambria"/>
              </a:rPr>
              <a:t>graph</a:t>
            </a:r>
            <a:r>
              <a:rPr sz="2200" spc="-45" dirty="0">
                <a:latin typeface="Cambria"/>
                <a:cs typeface="Cambria"/>
              </a:rPr>
              <a:t> </a:t>
            </a:r>
            <a:r>
              <a:rPr sz="2200" dirty="0">
                <a:latin typeface="Cambria"/>
                <a:cs typeface="Cambria"/>
              </a:rPr>
              <a:t>coloring</a:t>
            </a:r>
            <a:r>
              <a:rPr sz="2200" spc="-45" dirty="0">
                <a:latin typeface="Cambria"/>
                <a:cs typeface="Cambria"/>
              </a:rPr>
              <a:t> </a:t>
            </a:r>
            <a:r>
              <a:rPr sz="2200" dirty="0">
                <a:latin typeface="Cambria"/>
                <a:cs typeface="Cambria"/>
              </a:rPr>
              <a:t>works</a:t>
            </a:r>
            <a:r>
              <a:rPr sz="2200" spc="-55" dirty="0">
                <a:latin typeface="Cambria"/>
                <a:cs typeface="Cambria"/>
              </a:rPr>
              <a:t> </a:t>
            </a:r>
            <a:r>
              <a:rPr sz="2200" dirty="0">
                <a:latin typeface="Cambria"/>
                <a:cs typeface="Cambria"/>
              </a:rPr>
              <a:t>in</a:t>
            </a:r>
            <a:r>
              <a:rPr sz="2200" spc="-55" dirty="0">
                <a:latin typeface="Cambria"/>
                <a:cs typeface="Cambria"/>
              </a:rPr>
              <a:t> </a:t>
            </a:r>
            <a:r>
              <a:rPr sz="2200" dirty="0">
                <a:latin typeface="Cambria"/>
                <a:cs typeface="Cambria"/>
              </a:rPr>
              <a:t>two</a:t>
            </a:r>
            <a:r>
              <a:rPr sz="2200" spc="-50" dirty="0">
                <a:latin typeface="Cambria"/>
                <a:cs typeface="Cambria"/>
              </a:rPr>
              <a:t> </a:t>
            </a:r>
            <a:r>
              <a:rPr sz="2200" dirty="0">
                <a:latin typeface="Cambria"/>
                <a:cs typeface="Cambria"/>
              </a:rPr>
              <a:t>passes.</a:t>
            </a:r>
            <a:r>
              <a:rPr sz="2200" spc="-30" dirty="0">
                <a:latin typeface="Cambria"/>
                <a:cs typeface="Cambria"/>
              </a:rPr>
              <a:t> </a:t>
            </a:r>
            <a:r>
              <a:rPr sz="2200" dirty="0">
                <a:latin typeface="Cambria"/>
                <a:cs typeface="Cambria"/>
              </a:rPr>
              <a:t>The</a:t>
            </a:r>
            <a:r>
              <a:rPr sz="2200" spc="-60" dirty="0">
                <a:latin typeface="Cambria"/>
                <a:cs typeface="Cambria"/>
              </a:rPr>
              <a:t> </a:t>
            </a:r>
            <a:r>
              <a:rPr sz="2200" dirty="0">
                <a:latin typeface="Cambria"/>
                <a:cs typeface="Cambria"/>
              </a:rPr>
              <a:t>working</a:t>
            </a:r>
            <a:r>
              <a:rPr sz="2200" spc="-55"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as</a:t>
            </a:r>
            <a:r>
              <a:rPr sz="2200" spc="-50" dirty="0">
                <a:latin typeface="Cambria"/>
                <a:cs typeface="Cambria"/>
              </a:rPr>
              <a:t> </a:t>
            </a:r>
            <a:r>
              <a:rPr sz="2200" spc="-10" dirty="0">
                <a:latin typeface="Cambria"/>
                <a:cs typeface="Cambria"/>
              </a:rPr>
              <a:t>given below,</a:t>
            </a:r>
            <a:endParaRPr sz="2200">
              <a:latin typeface="Cambria"/>
              <a:cs typeface="Cambria"/>
            </a:endParaRPr>
          </a:p>
        </p:txBody>
      </p:sp>
      <p:sp>
        <p:nvSpPr>
          <p:cNvPr id="4" name="object 4"/>
          <p:cNvSpPr txBox="1">
            <a:spLocks noGrp="1"/>
          </p:cNvSpPr>
          <p:nvPr>
            <p:ph type="title"/>
          </p:nvPr>
        </p:nvSpPr>
        <p:spPr>
          <a:xfrm>
            <a:off x="3569334" y="1109217"/>
            <a:ext cx="7625080" cy="964565"/>
          </a:xfrm>
          <a:prstGeom prst="rect">
            <a:avLst/>
          </a:prstGeom>
        </p:spPr>
        <p:txBody>
          <a:bodyPr vert="horz" wrap="square" lIns="0" tIns="45085" rIns="0" bIns="0" rtlCol="0">
            <a:spAutoFit/>
          </a:bodyPr>
          <a:lstStyle/>
          <a:p>
            <a:pPr marL="194945" marR="5080" indent="-182880">
              <a:lnSpc>
                <a:spcPct val="90100"/>
              </a:lnSpc>
              <a:spcBef>
                <a:spcPts val="35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t>In</a:t>
            </a:r>
            <a:r>
              <a:rPr sz="2200" spc="-120" dirty="0"/>
              <a:t> </a:t>
            </a:r>
            <a:r>
              <a:rPr sz="2200" dirty="0"/>
              <a:t>the</a:t>
            </a:r>
            <a:r>
              <a:rPr sz="2200" spc="-30" dirty="0"/>
              <a:t> </a:t>
            </a:r>
            <a:r>
              <a:rPr sz="2200" dirty="0"/>
              <a:t>first</a:t>
            </a:r>
            <a:r>
              <a:rPr sz="2200" spc="-45" dirty="0"/>
              <a:t> </a:t>
            </a:r>
            <a:r>
              <a:rPr sz="2200" dirty="0"/>
              <a:t>pass</a:t>
            </a:r>
            <a:r>
              <a:rPr sz="2200" spc="-30" dirty="0"/>
              <a:t> </a:t>
            </a:r>
            <a:r>
              <a:rPr sz="2200" dirty="0"/>
              <a:t>the</a:t>
            </a:r>
            <a:r>
              <a:rPr sz="2200" spc="-35" dirty="0"/>
              <a:t> </a:t>
            </a:r>
            <a:r>
              <a:rPr sz="2200" dirty="0"/>
              <a:t>specific</a:t>
            </a:r>
            <a:r>
              <a:rPr sz="2200" spc="-35" dirty="0"/>
              <a:t> </a:t>
            </a:r>
            <a:r>
              <a:rPr sz="2200" dirty="0"/>
              <a:t>machine</a:t>
            </a:r>
            <a:r>
              <a:rPr sz="2200" spc="-35" dirty="0"/>
              <a:t> </a:t>
            </a:r>
            <a:r>
              <a:rPr sz="2200" dirty="0"/>
              <a:t>instruction</a:t>
            </a:r>
            <a:r>
              <a:rPr sz="2200" spc="-30" dirty="0"/>
              <a:t> </a:t>
            </a:r>
            <a:r>
              <a:rPr sz="2200" dirty="0"/>
              <a:t>is</a:t>
            </a:r>
            <a:r>
              <a:rPr sz="2200" spc="-50" dirty="0"/>
              <a:t> </a:t>
            </a:r>
            <a:r>
              <a:rPr sz="2200" dirty="0"/>
              <a:t>selected</a:t>
            </a:r>
            <a:r>
              <a:rPr sz="2200" spc="-10" dirty="0"/>
              <a:t> </a:t>
            </a:r>
            <a:r>
              <a:rPr sz="2200" spc="-25" dirty="0"/>
              <a:t>for </a:t>
            </a:r>
            <a:r>
              <a:rPr sz="2200" spc="-10" dirty="0"/>
              <a:t>register</a:t>
            </a:r>
            <a:r>
              <a:rPr sz="2200" spc="-40" dirty="0"/>
              <a:t> </a:t>
            </a:r>
            <a:r>
              <a:rPr sz="2200" spc="-10" dirty="0"/>
              <a:t>allocation.</a:t>
            </a:r>
            <a:r>
              <a:rPr sz="2200" spc="-50" dirty="0"/>
              <a:t> </a:t>
            </a:r>
            <a:r>
              <a:rPr sz="2200" dirty="0"/>
              <a:t>For</a:t>
            </a:r>
            <a:r>
              <a:rPr sz="2200" spc="-70" dirty="0"/>
              <a:t> </a:t>
            </a:r>
            <a:r>
              <a:rPr sz="2200" dirty="0"/>
              <a:t>each</a:t>
            </a:r>
            <a:r>
              <a:rPr sz="2200" spc="-50" dirty="0"/>
              <a:t> </a:t>
            </a:r>
            <a:r>
              <a:rPr sz="2200" spc="-10" dirty="0"/>
              <a:t>variable</a:t>
            </a:r>
            <a:r>
              <a:rPr sz="2200" spc="-45" dirty="0"/>
              <a:t> </a:t>
            </a:r>
            <a:r>
              <a:rPr sz="2200" dirty="0"/>
              <a:t>a</a:t>
            </a:r>
            <a:r>
              <a:rPr sz="2200" spc="-60" dirty="0"/>
              <a:t> </a:t>
            </a:r>
            <a:r>
              <a:rPr sz="2200" dirty="0"/>
              <a:t>symbolic</a:t>
            </a:r>
            <a:r>
              <a:rPr sz="2200" spc="-60" dirty="0"/>
              <a:t> </a:t>
            </a:r>
            <a:r>
              <a:rPr sz="2200" spc="-10" dirty="0"/>
              <a:t>register</a:t>
            </a:r>
            <a:r>
              <a:rPr sz="2200" spc="-35" dirty="0"/>
              <a:t> </a:t>
            </a:r>
            <a:r>
              <a:rPr sz="2200" spc="-25" dirty="0"/>
              <a:t>is </a:t>
            </a:r>
            <a:r>
              <a:rPr sz="2200" spc="-10" dirty="0"/>
              <a:t>allocated.</a:t>
            </a:r>
            <a:endParaRPr sz="2200">
              <a:latin typeface="Arial MT"/>
              <a:cs typeface="Arial MT"/>
            </a:endParaRPr>
          </a:p>
        </p:txBody>
      </p:sp>
      <p:sp>
        <p:nvSpPr>
          <p:cNvPr id="5" name="object 5"/>
          <p:cNvSpPr txBox="1"/>
          <p:nvPr/>
        </p:nvSpPr>
        <p:spPr>
          <a:xfrm>
            <a:off x="3569334" y="2047773"/>
            <a:ext cx="8074025" cy="4409440"/>
          </a:xfrm>
          <a:prstGeom prst="rect">
            <a:avLst/>
          </a:prstGeom>
        </p:spPr>
        <p:txBody>
          <a:bodyPr vert="horz" wrap="square" lIns="0" tIns="131445" rIns="0" bIns="0" rtlCol="0">
            <a:spAutoFit/>
          </a:bodyPr>
          <a:lstStyle/>
          <a:p>
            <a:pPr marL="12700">
              <a:lnSpc>
                <a:spcPct val="100000"/>
              </a:lnSpc>
              <a:spcBef>
                <a:spcPts val="10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In</a:t>
            </a:r>
            <a:r>
              <a:rPr sz="2200" spc="-125" dirty="0">
                <a:latin typeface="Cambria"/>
                <a:cs typeface="Cambria"/>
              </a:rPr>
              <a:t> </a:t>
            </a:r>
            <a:r>
              <a:rPr sz="2200" dirty="0">
                <a:latin typeface="Cambria"/>
                <a:cs typeface="Cambria"/>
              </a:rPr>
              <a:t>the</a:t>
            </a:r>
            <a:r>
              <a:rPr sz="2200" spc="-45" dirty="0">
                <a:latin typeface="Cambria"/>
                <a:cs typeface="Cambria"/>
              </a:rPr>
              <a:t> </a:t>
            </a:r>
            <a:r>
              <a:rPr sz="2200" dirty="0">
                <a:latin typeface="Cambria"/>
                <a:cs typeface="Cambria"/>
              </a:rPr>
              <a:t>second</a:t>
            </a:r>
            <a:r>
              <a:rPr sz="2200" spc="-40" dirty="0">
                <a:latin typeface="Cambria"/>
                <a:cs typeface="Cambria"/>
              </a:rPr>
              <a:t> </a:t>
            </a:r>
            <a:r>
              <a:rPr sz="2200" dirty="0">
                <a:latin typeface="Cambria"/>
                <a:cs typeface="Cambria"/>
              </a:rPr>
              <a:t>pass</a:t>
            </a:r>
            <a:r>
              <a:rPr sz="2200" spc="-45" dirty="0">
                <a:latin typeface="Cambria"/>
                <a:cs typeface="Cambria"/>
              </a:rPr>
              <a:t> </a:t>
            </a:r>
            <a:r>
              <a:rPr sz="2200" dirty="0">
                <a:latin typeface="Cambria"/>
                <a:cs typeface="Cambria"/>
              </a:rPr>
              <a:t>the</a:t>
            </a:r>
            <a:r>
              <a:rPr sz="2200" spc="-40" dirty="0">
                <a:latin typeface="Cambria"/>
                <a:cs typeface="Cambria"/>
              </a:rPr>
              <a:t> </a:t>
            </a:r>
            <a:r>
              <a:rPr sz="2200" dirty="0">
                <a:latin typeface="Cambria"/>
                <a:cs typeface="Cambria"/>
              </a:rPr>
              <a:t>register</a:t>
            </a:r>
            <a:r>
              <a:rPr sz="2200" spc="-15" dirty="0">
                <a:latin typeface="Cambria"/>
                <a:cs typeface="Cambria"/>
              </a:rPr>
              <a:t> </a:t>
            </a:r>
            <a:r>
              <a:rPr sz="2200" dirty="0">
                <a:latin typeface="Cambria"/>
                <a:cs typeface="Cambria"/>
              </a:rPr>
              <a:t>inference</a:t>
            </a:r>
            <a:r>
              <a:rPr sz="2200" spc="-35" dirty="0">
                <a:latin typeface="Cambria"/>
                <a:cs typeface="Cambria"/>
              </a:rPr>
              <a:t> </a:t>
            </a:r>
            <a:r>
              <a:rPr sz="2200" dirty="0">
                <a:latin typeface="Cambria"/>
                <a:cs typeface="Cambria"/>
              </a:rPr>
              <a:t>graph</a:t>
            </a:r>
            <a:r>
              <a:rPr sz="2200" spc="-40" dirty="0">
                <a:latin typeface="Cambria"/>
                <a:cs typeface="Cambria"/>
              </a:rPr>
              <a:t> </a:t>
            </a:r>
            <a:r>
              <a:rPr sz="2200" dirty="0">
                <a:latin typeface="Cambria"/>
                <a:cs typeface="Cambria"/>
              </a:rPr>
              <a:t>is</a:t>
            </a:r>
            <a:r>
              <a:rPr sz="2200" spc="-45" dirty="0">
                <a:latin typeface="Cambria"/>
                <a:cs typeface="Cambria"/>
              </a:rPr>
              <a:t> </a:t>
            </a:r>
            <a:r>
              <a:rPr sz="2200" spc="-10" dirty="0">
                <a:latin typeface="Cambria"/>
                <a:cs typeface="Cambria"/>
              </a:rPr>
              <a:t>prepared.</a:t>
            </a:r>
            <a:endParaRPr sz="2200">
              <a:latin typeface="Cambria"/>
              <a:cs typeface="Cambria"/>
            </a:endParaRPr>
          </a:p>
          <a:p>
            <a:pPr marL="194945" marR="219075" indent="-182880">
              <a:lnSpc>
                <a:spcPts val="2380"/>
              </a:lnSpc>
              <a:spcBef>
                <a:spcPts val="123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In</a:t>
            </a:r>
            <a:r>
              <a:rPr sz="2200" spc="-125" dirty="0">
                <a:latin typeface="Cambria"/>
                <a:cs typeface="Cambria"/>
              </a:rPr>
              <a:t> </a:t>
            </a:r>
            <a:r>
              <a:rPr sz="2200" dirty="0">
                <a:latin typeface="Cambria"/>
                <a:cs typeface="Cambria"/>
              </a:rPr>
              <a:t>register</a:t>
            </a:r>
            <a:r>
              <a:rPr sz="2200" spc="-70" dirty="0">
                <a:latin typeface="Cambria"/>
                <a:cs typeface="Cambria"/>
              </a:rPr>
              <a:t> </a:t>
            </a:r>
            <a:r>
              <a:rPr sz="2200" dirty="0">
                <a:latin typeface="Cambria"/>
                <a:cs typeface="Cambria"/>
              </a:rPr>
              <a:t>inference</a:t>
            </a:r>
            <a:r>
              <a:rPr sz="2200" spc="-45" dirty="0">
                <a:latin typeface="Cambria"/>
                <a:cs typeface="Cambria"/>
              </a:rPr>
              <a:t> </a:t>
            </a:r>
            <a:r>
              <a:rPr sz="2200" dirty="0">
                <a:latin typeface="Cambria"/>
                <a:cs typeface="Cambria"/>
              </a:rPr>
              <a:t>graph</a:t>
            </a:r>
            <a:r>
              <a:rPr sz="2200" spc="-55" dirty="0">
                <a:latin typeface="Cambria"/>
                <a:cs typeface="Cambria"/>
              </a:rPr>
              <a:t> </a:t>
            </a:r>
            <a:r>
              <a:rPr sz="2200" dirty="0">
                <a:latin typeface="Cambria"/>
                <a:cs typeface="Cambria"/>
              </a:rPr>
              <a:t>each</a:t>
            </a:r>
            <a:r>
              <a:rPr sz="2200" spc="-50" dirty="0">
                <a:latin typeface="Cambria"/>
                <a:cs typeface="Cambria"/>
              </a:rPr>
              <a:t> </a:t>
            </a:r>
            <a:r>
              <a:rPr sz="2200" dirty="0">
                <a:latin typeface="Cambria"/>
                <a:cs typeface="Cambria"/>
              </a:rPr>
              <a:t>node</a:t>
            </a:r>
            <a:r>
              <a:rPr sz="2200" spc="-65" dirty="0">
                <a:latin typeface="Cambria"/>
                <a:cs typeface="Cambria"/>
              </a:rPr>
              <a:t> </a:t>
            </a:r>
            <a:r>
              <a:rPr sz="2200" dirty="0">
                <a:latin typeface="Cambria"/>
                <a:cs typeface="Cambria"/>
              </a:rPr>
              <a:t>is</a:t>
            </a:r>
            <a:r>
              <a:rPr sz="2200" spc="-60" dirty="0">
                <a:latin typeface="Cambria"/>
                <a:cs typeface="Cambria"/>
              </a:rPr>
              <a:t> </a:t>
            </a:r>
            <a:r>
              <a:rPr sz="2200" dirty="0">
                <a:latin typeface="Cambria"/>
                <a:cs typeface="Cambria"/>
              </a:rPr>
              <a:t>a</a:t>
            </a:r>
            <a:r>
              <a:rPr sz="2200" spc="-70" dirty="0">
                <a:latin typeface="Cambria"/>
                <a:cs typeface="Cambria"/>
              </a:rPr>
              <a:t> </a:t>
            </a:r>
            <a:r>
              <a:rPr sz="2200" dirty="0">
                <a:latin typeface="Cambria"/>
                <a:cs typeface="Cambria"/>
              </a:rPr>
              <a:t>symbolic</a:t>
            </a:r>
            <a:r>
              <a:rPr sz="2200" spc="-50" dirty="0">
                <a:latin typeface="Cambria"/>
                <a:cs typeface="Cambria"/>
              </a:rPr>
              <a:t> </a:t>
            </a:r>
            <a:r>
              <a:rPr sz="2200" dirty="0">
                <a:latin typeface="Cambria"/>
                <a:cs typeface="Cambria"/>
              </a:rPr>
              <a:t>registers</a:t>
            </a:r>
            <a:r>
              <a:rPr sz="2200" spc="-30" dirty="0">
                <a:latin typeface="Cambria"/>
                <a:cs typeface="Cambria"/>
              </a:rPr>
              <a:t> </a:t>
            </a:r>
            <a:r>
              <a:rPr sz="2200" spc="-25" dirty="0">
                <a:latin typeface="Cambria"/>
                <a:cs typeface="Cambria"/>
              </a:rPr>
              <a:t>and </a:t>
            </a:r>
            <a:r>
              <a:rPr sz="2200" dirty="0">
                <a:latin typeface="Cambria"/>
                <a:cs typeface="Cambria"/>
              </a:rPr>
              <a:t>an</a:t>
            </a:r>
            <a:r>
              <a:rPr sz="2200" spc="-60" dirty="0">
                <a:latin typeface="Cambria"/>
                <a:cs typeface="Cambria"/>
              </a:rPr>
              <a:t> </a:t>
            </a:r>
            <a:r>
              <a:rPr sz="2200" dirty="0">
                <a:latin typeface="Cambria"/>
                <a:cs typeface="Cambria"/>
              </a:rPr>
              <a:t>edge</a:t>
            </a:r>
            <a:r>
              <a:rPr sz="2200" spc="-25" dirty="0">
                <a:latin typeface="Cambria"/>
                <a:cs typeface="Cambria"/>
              </a:rPr>
              <a:t> </a:t>
            </a:r>
            <a:r>
              <a:rPr sz="2200" dirty="0">
                <a:latin typeface="Cambria"/>
                <a:cs typeface="Cambria"/>
              </a:rPr>
              <a:t>connects</a:t>
            </a:r>
            <a:r>
              <a:rPr sz="2200" spc="-35" dirty="0">
                <a:latin typeface="Cambria"/>
                <a:cs typeface="Cambria"/>
              </a:rPr>
              <a:t> </a:t>
            </a:r>
            <a:r>
              <a:rPr sz="2200" dirty="0">
                <a:latin typeface="Cambria"/>
                <a:cs typeface="Cambria"/>
              </a:rPr>
              <a:t>two</a:t>
            </a:r>
            <a:r>
              <a:rPr sz="2200" spc="-50" dirty="0">
                <a:latin typeface="Cambria"/>
                <a:cs typeface="Cambria"/>
              </a:rPr>
              <a:t> </a:t>
            </a:r>
            <a:r>
              <a:rPr sz="2200" dirty="0">
                <a:latin typeface="Cambria"/>
                <a:cs typeface="Cambria"/>
              </a:rPr>
              <a:t>nodes</a:t>
            </a:r>
            <a:r>
              <a:rPr sz="2200" spc="-45" dirty="0">
                <a:latin typeface="Cambria"/>
                <a:cs typeface="Cambria"/>
              </a:rPr>
              <a:t> </a:t>
            </a:r>
            <a:r>
              <a:rPr sz="2200" dirty="0">
                <a:latin typeface="Cambria"/>
                <a:cs typeface="Cambria"/>
              </a:rPr>
              <a:t>where</a:t>
            </a:r>
            <a:r>
              <a:rPr sz="2200" spc="-45" dirty="0">
                <a:latin typeface="Cambria"/>
                <a:cs typeface="Cambria"/>
              </a:rPr>
              <a:t> </a:t>
            </a:r>
            <a:r>
              <a:rPr sz="2200" dirty="0">
                <a:latin typeface="Cambria"/>
                <a:cs typeface="Cambria"/>
              </a:rPr>
              <a:t>one</a:t>
            </a:r>
            <a:r>
              <a:rPr sz="2200" spc="-55"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live</a:t>
            </a:r>
            <a:r>
              <a:rPr sz="2200" spc="-30" dirty="0">
                <a:latin typeface="Cambria"/>
                <a:cs typeface="Cambria"/>
              </a:rPr>
              <a:t> </a:t>
            </a:r>
            <a:r>
              <a:rPr sz="2200" dirty="0">
                <a:latin typeface="Cambria"/>
                <a:cs typeface="Cambria"/>
              </a:rPr>
              <a:t>at</a:t>
            </a:r>
            <a:r>
              <a:rPr sz="2200" spc="-50" dirty="0">
                <a:latin typeface="Cambria"/>
                <a:cs typeface="Cambria"/>
              </a:rPr>
              <a:t> </a:t>
            </a:r>
            <a:r>
              <a:rPr sz="2200" dirty="0">
                <a:latin typeface="Cambria"/>
                <a:cs typeface="Cambria"/>
              </a:rPr>
              <a:t>a</a:t>
            </a:r>
            <a:r>
              <a:rPr sz="2200" spc="-45" dirty="0">
                <a:latin typeface="Cambria"/>
                <a:cs typeface="Cambria"/>
              </a:rPr>
              <a:t> </a:t>
            </a:r>
            <a:r>
              <a:rPr sz="2200" dirty="0">
                <a:latin typeface="Cambria"/>
                <a:cs typeface="Cambria"/>
              </a:rPr>
              <a:t>point</a:t>
            </a:r>
            <a:r>
              <a:rPr sz="2200" spc="-45" dirty="0">
                <a:latin typeface="Cambria"/>
                <a:cs typeface="Cambria"/>
              </a:rPr>
              <a:t> </a:t>
            </a:r>
            <a:r>
              <a:rPr sz="2200" spc="-10" dirty="0">
                <a:latin typeface="Cambria"/>
                <a:cs typeface="Cambria"/>
              </a:rPr>
              <a:t>where </a:t>
            </a:r>
            <a:r>
              <a:rPr sz="2200" dirty="0">
                <a:latin typeface="Cambria"/>
                <a:cs typeface="Cambria"/>
              </a:rPr>
              <a:t>other</a:t>
            </a:r>
            <a:r>
              <a:rPr sz="2200" spc="-20" dirty="0">
                <a:latin typeface="Cambria"/>
                <a:cs typeface="Cambria"/>
              </a:rPr>
              <a:t> </a:t>
            </a:r>
            <a:r>
              <a:rPr sz="2200" dirty="0">
                <a:latin typeface="Cambria"/>
                <a:cs typeface="Cambria"/>
              </a:rPr>
              <a:t>is</a:t>
            </a:r>
            <a:r>
              <a:rPr sz="2200" spc="-40" dirty="0">
                <a:latin typeface="Cambria"/>
                <a:cs typeface="Cambria"/>
              </a:rPr>
              <a:t> </a:t>
            </a:r>
            <a:r>
              <a:rPr sz="2200" spc="-10" dirty="0">
                <a:latin typeface="Cambria"/>
                <a:cs typeface="Cambria"/>
              </a:rPr>
              <a:t>defined.</a:t>
            </a:r>
            <a:endParaRPr sz="2200">
              <a:latin typeface="Cambria"/>
              <a:cs typeface="Cambria"/>
            </a:endParaRPr>
          </a:p>
          <a:p>
            <a:pPr marL="12700">
              <a:lnSpc>
                <a:spcPts val="2510"/>
              </a:lnSpc>
              <a:spcBef>
                <a:spcPts val="894"/>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Then</a:t>
            </a:r>
            <a:r>
              <a:rPr sz="2200" spc="-105" dirty="0">
                <a:latin typeface="Cambria"/>
                <a:cs typeface="Cambria"/>
              </a:rPr>
              <a:t> </a:t>
            </a:r>
            <a:r>
              <a:rPr sz="2200" dirty="0">
                <a:latin typeface="Cambria"/>
                <a:cs typeface="Cambria"/>
              </a:rPr>
              <a:t>a</a:t>
            </a:r>
            <a:r>
              <a:rPr sz="2200" spc="-55" dirty="0">
                <a:latin typeface="Cambria"/>
                <a:cs typeface="Cambria"/>
              </a:rPr>
              <a:t> </a:t>
            </a:r>
            <a:r>
              <a:rPr sz="2200" dirty="0">
                <a:latin typeface="Cambria"/>
                <a:cs typeface="Cambria"/>
              </a:rPr>
              <a:t>graph</a:t>
            </a:r>
            <a:r>
              <a:rPr sz="2200" spc="-40" dirty="0">
                <a:latin typeface="Cambria"/>
                <a:cs typeface="Cambria"/>
              </a:rPr>
              <a:t> </a:t>
            </a:r>
            <a:r>
              <a:rPr sz="2200" dirty="0">
                <a:latin typeface="Cambria"/>
                <a:cs typeface="Cambria"/>
              </a:rPr>
              <a:t>coloring</a:t>
            </a:r>
            <a:r>
              <a:rPr sz="2200" spc="-55" dirty="0">
                <a:latin typeface="Cambria"/>
                <a:cs typeface="Cambria"/>
              </a:rPr>
              <a:t> </a:t>
            </a:r>
            <a:r>
              <a:rPr sz="2200" dirty="0">
                <a:latin typeface="Cambria"/>
                <a:cs typeface="Cambria"/>
              </a:rPr>
              <a:t>technique</a:t>
            </a:r>
            <a:r>
              <a:rPr sz="2200" spc="-30"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applied</a:t>
            </a:r>
            <a:r>
              <a:rPr sz="2200" spc="-35" dirty="0">
                <a:latin typeface="Cambria"/>
                <a:cs typeface="Cambria"/>
              </a:rPr>
              <a:t> </a:t>
            </a:r>
            <a:r>
              <a:rPr sz="2200" dirty="0">
                <a:latin typeface="Cambria"/>
                <a:cs typeface="Cambria"/>
              </a:rPr>
              <a:t>for</a:t>
            </a:r>
            <a:r>
              <a:rPr sz="2200" spc="-45" dirty="0">
                <a:latin typeface="Cambria"/>
                <a:cs typeface="Cambria"/>
              </a:rPr>
              <a:t> </a:t>
            </a:r>
            <a:r>
              <a:rPr sz="2200" dirty="0">
                <a:latin typeface="Cambria"/>
                <a:cs typeface="Cambria"/>
              </a:rPr>
              <a:t>this</a:t>
            </a:r>
            <a:r>
              <a:rPr sz="2200" spc="-40" dirty="0">
                <a:latin typeface="Cambria"/>
                <a:cs typeface="Cambria"/>
              </a:rPr>
              <a:t> </a:t>
            </a:r>
            <a:r>
              <a:rPr sz="2200" spc="-10" dirty="0">
                <a:latin typeface="Cambria"/>
                <a:cs typeface="Cambria"/>
              </a:rPr>
              <a:t>register</a:t>
            </a:r>
            <a:endParaRPr sz="2200">
              <a:latin typeface="Cambria"/>
              <a:cs typeface="Cambria"/>
            </a:endParaRPr>
          </a:p>
          <a:p>
            <a:pPr marL="194945">
              <a:lnSpc>
                <a:spcPts val="2510"/>
              </a:lnSpc>
            </a:pPr>
            <a:r>
              <a:rPr sz="2200" spc="-10" dirty="0">
                <a:latin typeface="Cambria"/>
                <a:cs typeface="Cambria"/>
              </a:rPr>
              <a:t>inference</a:t>
            </a:r>
            <a:r>
              <a:rPr sz="2200" spc="-35" dirty="0">
                <a:latin typeface="Cambria"/>
                <a:cs typeface="Cambria"/>
              </a:rPr>
              <a:t> </a:t>
            </a:r>
            <a:r>
              <a:rPr sz="2200" dirty="0">
                <a:latin typeface="Cambria"/>
                <a:cs typeface="Cambria"/>
              </a:rPr>
              <a:t>graph</a:t>
            </a:r>
            <a:r>
              <a:rPr sz="2200" spc="-45" dirty="0">
                <a:latin typeface="Cambria"/>
                <a:cs typeface="Cambria"/>
              </a:rPr>
              <a:t> </a:t>
            </a:r>
            <a:r>
              <a:rPr sz="2200" dirty="0">
                <a:latin typeface="Cambria"/>
                <a:cs typeface="Cambria"/>
              </a:rPr>
              <a:t>using</a:t>
            </a:r>
            <a:r>
              <a:rPr sz="2200" spc="-50" dirty="0">
                <a:latin typeface="Cambria"/>
                <a:cs typeface="Cambria"/>
              </a:rPr>
              <a:t> </a:t>
            </a:r>
            <a:r>
              <a:rPr sz="2200" dirty="0">
                <a:latin typeface="Cambria"/>
                <a:cs typeface="Cambria"/>
              </a:rPr>
              <a:t>k-</a:t>
            </a:r>
            <a:r>
              <a:rPr sz="2200" spc="-55" dirty="0">
                <a:latin typeface="Cambria"/>
                <a:cs typeface="Cambria"/>
              </a:rPr>
              <a:t> </a:t>
            </a:r>
            <a:r>
              <a:rPr sz="2200" spc="-10" dirty="0">
                <a:latin typeface="Cambria"/>
                <a:cs typeface="Cambria"/>
              </a:rPr>
              <a:t>color.</a:t>
            </a:r>
            <a:endParaRPr sz="2200">
              <a:latin typeface="Cambria"/>
              <a:cs typeface="Cambria"/>
            </a:endParaRPr>
          </a:p>
          <a:p>
            <a:pPr marL="12700">
              <a:lnSpc>
                <a:spcPct val="100000"/>
              </a:lnSpc>
              <a:spcBef>
                <a:spcPts val="94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The</a:t>
            </a:r>
            <a:r>
              <a:rPr sz="2200" spc="-95" dirty="0">
                <a:latin typeface="Cambria"/>
                <a:cs typeface="Cambria"/>
              </a:rPr>
              <a:t> </a:t>
            </a:r>
            <a:r>
              <a:rPr sz="2200" dirty="0">
                <a:latin typeface="Cambria"/>
                <a:cs typeface="Cambria"/>
              </a:rPr>
              <a:t>k-colors</a:t>
            </a:r>
            <a:r>
              <a:rPr sz="2200" spc="-45" dirty="0">
                <a:latin typeface="Cambria"/>
                <a:cs typeface="Cambria"/>
              </a:rPr>
              <a:t> </a:t>
            </a:r>
            <a:r>
              <a:rPr sz="2200" dirty="0">
                <a:latin typeface="Cambria"/>
                <a:cs typeface="Cambria"/>
              </a:rPr>
              <a:t>can</a:t>
            </a:r>
            <a:r>
              <a:rPr sz="2200" spc="-35" dirty="0">
                <a:latin typeface="Cambria"/>
                <a:cs typeface="Cambria"/>
              </a:rPr>
              <a:t> </a:t>
            </a:r>
            <a:r>
              <a:rPr sz="2200" dirty="0">
                <a:latin typeface="Cambria"/>
                <a:cs typeface="Cambria"/>
              </a:rPr>
              <a:t>be</a:t>
            </a:r>
            <a:r>
              <a:rPr sz="2200" spc="-45" dirty="0">
                <a:latin typeface="Cambria"/>
                <a:cs typeface="Cambria"/>
              </a:rPr>
              <a:t> </a:t>
            </a:r>
            <a:r>
              <a:rPr sz="2200" dirty="0">
                <a:latin typeface="Cambria"/>
                <a:cs typeface="Cambria"/>
              </a:rPr>
              <a:t>assumed</a:t>
            </a:r>
            <a:r>
              <a:rPr sz="2200" spc="-15" dirty="0">
                <a:latin typeface="Cambria"/>
                <a:cs typeface="Cambria"/>
              </a:rPr>
              <a:t> </a:t>
            </a:r>
            <a:r>
              <a:rPr sz="2200" dirty="0">
                <a:latin typeface="Cambria"/>
                <a:cs typeface="Cambria"/>
              </a:rPr>
              <a:t>to</a:t>
            </a:r>
            <a:r>
              <a:rPr sz="2200" spc="-40" dirty="0">
                <a:latin typeface="Cambria"/>
                <a:cs typeface="Cambria"/>
              </a:rPr>
              <a:t> </a:t>
            </a:r>
            <a:r>
              <a:rPr sz="2200" dirty="0">
                <a:latin typeface="Cambria"/>
                <a:cs typeface="Cambria"/>
              </a:rPr>
              <a:t>be</a:t>
            </a:r>
            <a:r>
              <a:rPr sz="2200" spc="-45" dirty="0">
                <a:latin typeface="Cambria"/>
                <a:cs typeface="Cambria"/>
              </a:rPr>
              <a:t> </a:t>
            </a:r>
            <a:r>
              <a:rPr sz="2200" dirty="0">
                <a:latin typeface="Cambria"/>
                <a:cs typeface="Cambria"/>
              </a:rPr>
              <a:t>number</a:t>
            </a:r>
            <a:r>
              <a:rPr sz="2200" spc="-30" dirty="0">
                <a:latin typeface="Cambria"/>
                <a:cs typeface="Cambria"/>
              </a:rPr>
              <a:t> </a:t>
            </a:r>
            <a:r>
              <a:rPr sz="2200" dirty="0">
                <a:latin typeface="Cambria"/>
                <a:cs typeface="Cambria"/>
              </a:rPr>
              <a:t>of</a:t>
            </a:r>
            <a:r>
              <a:rPr sz="2200" spc="-45" dirty="0">
                <a:latin typeface="Cambria"/>
                <a:cs typeface="Cambria"/>
              </a:rPr>
              <a:t> </a:t>
            </a:r>
            <a:r>
              <a:rPr sz="2200" dirty="0">
                <a:latin typeface="Cambria"/>
                <a:cs typeface="Cambria"/>
              </a:rPr>
              <a:t>assignable</a:t>
            </a:r>
            <a:r>
              <a:rPr sz="2200" spc="-15" dirty="0">
                <a:latin typeface="Cambria"/>
                <a:cs typeface="Cambria"/>
              </a:rPr>
              <a:t> </a:t>
            </a:r>
            <a:r>
              <a:rPr sz="2200" spc="-10" dirty="0">
                <a:latin typeface="Cambria"/>
                <a:cs typeface="Cambria"/>
              </a:rPr>
              <a:t>registers.</a:t>
            </a:r>
            <a:endParaRPr sz="2200">
              <a:latin typeface="Cambria"/>
              <a:cs typeface="Cambria"/>
            </a:endParaRPr>
          </a:p>
          <a:p>
            <a:pPr marL="194945" marR="25400" indent="-182880">
              <a:lnSpc>
                <a:spcPct val="90000"/>
              </a:lnSpc>
              <a:spcBef>
                <a:spcPts val="120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In</a:t>
            </a:r>
            <a:r>
              <a:rPr sz="2200" spc="-125" dirty="0">
                <a:latin typeface="Cambria"/>
                <a:cs typeface="Cambria"/>
              </a:rPr>
              <a:t> </a:t>
            </a:r>
            <a:r>
              <a:rPr sz="2200" dirty="0">
                <a:latin typeface="Cambria"/>
                <a:cs typeface="Cambria"/>
              </a:rPr>
              <a:t>graph</a:t>
            </a:r>
            <a:r>
              <a:rPr sz="2200" spc="-65" dirty="0">
                <a:latin typeface="Cambria"/>
                <a:cs typeface="Cambria"/>
              </a:rPr>
              <a:t> </a:t>
            </a:r>
            <a:r>
              <a:rPr sz="2200" dirty="0">
                <a:latin typeface="Cambria"/>
                <a:cs typeface="Cambria"/>
              </a:rPr>
              <a:t>coloring</a:t>
            </a:r>
            <a:r>
              <a:rPr sz="2200" spc="-60" dirty="0">
                <a:latin typeface="Cambria"/>
                <a:cs typeface="Cambria"/>
              </a:rPr>
              <a:t> </a:t>
            </a:r>
            <a:r>
              <a:rPr sz="2200" dirty="0">
                <a:latin typeface="Cambria"/>
                <a:cs typeface="Cambria"/>
              </a:rPr>
              <a:t>technique</a:t>
            </a:r>
            <a:r>
              <a:rPr sz="2200" spc="-30" dirty="0">
                <a:latin typeface="Cambria"/>
                <a:cs typeface="Cambria"/>
              </a:rPr>
              <a:t> </a:t>
            </a:r>
            <a:r>
              <a:rPr sz="2200" dirty="0">
                <a:latin typeface="Cambria"/>
                <a:cs typeface="Cambria"/>
              </a:rPr>
              <a:t>no</a:t>
            </a:r>
            <a:r>
              <a:rPr sz="2200" spc="-65" dirty="0">
                <a:latin typeface="Cambria"/>
                <a:cs typeface="Cambria"/>
              </a:rPr>
              <a:t> </a:t>
            </a:r>
            <a:r>
              <a:rPr sz="2200" dirty="0">
                <a:latin typeface="Cambria"/>
                <a:cs typeface="Cambria"/>
              </a:rPr>
              <a:t>two</a:t>
            </a:r>
            <a:r>
              <a:rPr sz="2200" spc="-60" dirty="0">
                <a:latin typeface="Cambria"/>
                <a:cs typeface="Cambria"/>
              </a:rPr>
              <a:t> </a:t>
            </a:r>
            <a:r>
              <a:rPr sz="2200" dirty="0">
                <a:latin typeface="Cambria"/>
                <a:cs typeface="Cambria"/>
              </a:rPr>
              <a:t>adjacent</a:t>
            </a:r>
            <a:r>
              <a:rPr sz="2200" spc="-30" dirty="0">
                <a:latin typeface="Cambria"/>
                <a:cs typeface="Cambria"/>
              </a:rPr>
              <a:t> </a:t>
            </a:r>
            <a:r>
              <a:rPr sz="2200" dirty="0">
                <a:latin typeface="Cambria"/>
                <a:cs typeface="Cambria"/>
              </a:rPr>
              <a:t>nodes</a:t>
            </a:r>
            <a:r>
              <a:rPr sz="2200" spc="-55" dirty="0">
                <a:latin typeface="Cambria"/>
                <a:cs typeface="Cambria"/>
              </a:rPr>
              <a:t> </a:t>
            </a:r>
            <a:r>
              <a:rPr sz="2200" dirty="0">
                <a:latin typeface="Cambria"/>
                <a:cs typeface="Cambria"/>
              </a:rPr>
              <a:t>can</a:t>
            </a:r>
            <a:r>
              <a:rPr sz="2200" spc="-45" dirty="0">
                <a:latin typeface="Cambria"/>
                <a:cs typeface="Cambria"/>
              </a:rPr>
              <a:t> </a:t>
            </a:r>
            <a:r>
              <a:rPr sz="2200" spc="-10" dirty="0">
                <a:latin typeface="Cambria"/>
                <a:cs typeface="Cambria"/>
              </a:rPr>
              <a:t>have</a:t>
            </a:r>
            <a:r>
              <a:rPr sz="2200" spc="-35" dirty="0">
                <a:latin typeface="Cambria"/>
                <a:cs typeface="Cambria"/>
              </a:rPr>
              <a:t> </a:t>
            </a:r>
            <a:r>
              <a:rPr sz="2200" spc="-20" dirty="0">
                <a:latin typeface="Cambria"/>
                <a:cs typeface="Cambria"/>
              </a:rPr>
              <a:t>same </a:t>
            </a:r>
            <a:r>
              <a:rPr sz="2200" spc="-30" dirty="0">
                <a:latin typeface="Cambria"/>
                <a:cs typeface="Cambria"/>
              </a:rPr>
              <a:t>color.</a:t>
            </a:r>
            <a:r>
              <a:rPr sz="2200" spc="-70" dirty="0">
                <a:latin typeface="Cambria"/>
                <a:cs typeface="Cambria"/>
              </a:rPr>
              <a:t> </a:t>
            </a:r>
            <a:r>
              <a:rPr sz="2200" dirty="0">
                <a:latin typeface="Cambria"/>
                <a:cs typeface="Cambria"/>
              </a:rPr>
              <a:t>Hence</a:t>
            </a:r>
            <a:r>
              <a:rPr sz="2200" spc="-55" dirty="0">
                <a:latin typeface="Cambria"/>
                <a:cs typeface="Cambria"/>
              </a:rPr>
              <a:t> </a:t>
            </a:r>
            <a:r>
              <a:rPr sz="2200" dirty="0">
                <a:latin typeface="Cambria"/>
                <a:cs typeface="Cambria"/>
              </a:rPr>
              <a:t>in</a:t>
            </a:r>
            <a:r>
              <a:rPr sz="2200" spc="-70" dirty="0">
                <a:latin typeface="Cambria"/>
                <a:cs typeface="Cambria"/>
              </a:rPr>
              <a:t> </a:t>
            </a:r>
            <a:r>
              <a:rPr sz="2200" spc="-10" dirty="0">
                <a:latin typeface="Cambria"/>
                <a:cs typeface="Cambria"/>
              </a:rPr>
              <a:t>register</a:t>
            </a:r>
            <a:r>
              <a:rPr sz="2200" spc="-35" dirty="0">
                <a:latin typeface="Cambria"/>
                <a:cs typeface="Cambria"/>
              </a:rPr>
              <a:t> </a:t>
            </a:r>
            <a:r>
              <a:rPr sz="2200" spc="-10" dirty="0">
                <a:latin typeface="Cambria"/>
                <a:cs typeface="Cambria"/>
              </a:rPr>
              <a:t>inference</a:t>
            </a:r>
            <a:r>
              <a:rPr sz="2200" spc="-45" dirty="0">
                <a:latin typeface="Cambria"/>
                <a:cs typeface="Cambria"/>
              </a:rPr>
              <a:t> </a:t>
            </a:r>
            <a:r>
              <a:rPr sz="2200" dirty="0">
                <a:latin typeface="Cambria"/>
                <a:cs typeface="Cambria"/>
              </a:rPr>
              <a:t>graph</a:t>
            </a:r>
            <a:r>
              <a:rPr sz="2200" spc="-55" dirty="0">
                <a:latin typeface="Cambria"/>
                <a:cs typeface="Cambria"/>
              </a:rPr>
              <a:t> </a:t>
            </a:r>
            <a:r>
              <a:rPr sz="2200" dirty="0">
                <a:latin typeface="Cambria"/>
                <a:cs typeface="Cambria"/>
              </a:rPr>
              <a:t>using</a:t>
            </a:r>
            <a:r>
              <a:rPr sz="2200" spc="-60" dirty="0">
                <a:latin typeface="Cambria"/>
                <a:cs typeface="Cambria"/>
              </a:rPr>
              <a:t> </a:t>
            </a:r>
            <a:r>
              <a:rPr sz="2200" dirty="0">
                <a:latin typeface="Cambria"/>
                <a:cs typeface="Cambria"/>
              </a:rPr>
              <a:t>such</a:t>
            </a:r>
            <a:r>
              <a:rPr sz="2200" spc="-60" dirty="0">
                <a:latin typeface="Cambria"/>
                <a:cs typeface="Cambria"/>
              </a:rPr>
              <a:t> </a:t>
            </a:r>
            <a:r>
              <a:rPr sz="2200" dirty="0">
                <a:latin typeface="Cambria"/>
                <a:cs typeface="Cambria"/>
              </a:rPr>
              <a:t>graph</a:t>
            </a:r>
            <a:r>
              <a:rPr sz="2200" spc="-55" dirty="0">
                <a:latin typeface="Cambria"/>
                <a:cs typeface="Cambria"/>
              </a:rPr>
              <a:t> </a:t>
            </a:r>
            <a:r>
              <a:rPr sz="2200" spc="-10" dirty="0">
                <a:latin typeface="Cambria"/>
                <a:cs typeface="Cambria"/>
              </a:rPr>
              <a:t>coloring </a:t>
            </a:r>
            <a:r>
              <a:rPr sz="2200" dirty="0">
                <a:latin typeface="Cambria"/>
                <a:cs typeface="Cambria"/>
              </a:rPr>
              <a:t>principle</a:t>
            </a:r>
            <a:r>
              <a:rPr sz="2200" spc="-50" dirty="0">
                <a:latin typeface="Cambria"/>
                <a:cs typeface="Cambria"/>
              </a:rPr>
              <a:t> </a:t>
            </a:r>
            <a:r>
              <a:rPr sz="2200" dirty="0">
                <a:latin typeface="Cambria"/>
                <a:cs typeface="Cambria"/>
              </a:rPr>
              <a:t>each</a:t>
            </a:r>
            <a:r>
              <a:rPr sz="2200" spc="-40" dirty="0">
                <a:latin typeface="Cambria"/>
                <a:cs typeface="Cambria"/>
              </a:rPr>
              <a:t> </a:t>
            </a:r>
            <a:r>
              <a:rPr sz="2200" dirty="0">
                <a:latin typeface="Cambria"/>
                <a:cs typeface="Cambria"/>
              </a:rPr>
              <a:t>node</a:t>
            </a:r>
            <a:r>
              <a:rPr sz="2200" spc="-60" dirty="0">
                <a:latin typeface="Cambria"/>
                <a:cs typeface="Cambria"/>
              </a:rPr>
              <a:t> </a:t>
            </a:r>
            <a:r>
              <a:rPr sz="2200" spc="-10" dirty="0">
                <a:latin typeface="Cambria"/>
                <a:cs typeface="Cambria"/>
              </a:rPr>
              <a:t>(actually</a:t>
            </a:r>
            <a:r>
              <a:rPr sz="2200" spc="-30" dirty="0">
                <a:latin typeface="Cambria"/>
                <a:cs typeface="Cambria"/>
              </a:rPr>
              <a:t> </a:t>
            </a:r>
            <a:r>
              <a:rPr sz="2200" dirty="0">
                <a:latin typeface="Cambria"/>
                <a:cs typeface="Cambria"/>
              </a:rPr>
              <a:t>a</a:t>
            </a:r>
            <a:r>
              <a:rPr sz="2200" spc="-65" dirty="0">
                <a:latin typeface="Cambria"/>
                <a:cs typeface="Cambria"/>
              </a:rPr>
              <a:t> </a:t>
            </a:r>
            <a:r>
              <a:rPr sz="2200" dirty="0">
                <a:latin typeface="Cambria"/>
                <a:cs typeface="Cambria"/>
              </a:rPr>
              <a:t>variable)</a:t>
            </a:r>
            <a:r>
              <a:rPr sz="2200" spc="-35" dirty="0">
                <a:latin typeface="Cambria"/>
                <a:cs typeface="Cambria"/>
              </a:rPr>
              <a:t> </a:t>
            </a:r>
            <a:r>
              <a:rPr sz="2200" dirty="0">
                <a:latin typeface="Cambria"/>
                <a:cs typeface="Cambria"/>
              </a:rPr>
              <a:t>is</a:t>
            </a:r>
            <a:r>
              <a:rPr sz="2200" spc="-50" dirty="0">
                <a:latin typeface="Cambria"/>
                <a:cs typeface="Cambria"/>
              </a:rPr>
              <a:t> </a:t>
            </a:r>
            <a:r>
              <a:rPr sz="2200" dirty="0">
                <a:latin typeface="Cambria"/>
                <a:cs typeface="Cambria"/>
              </a:rPr>
              <a:t>assigned</a:t>
            </a:r>
            <a:r>
              <a:rPr sz="2200" spc="-35" dirty="0">
                <a:latin typeface="Cambria"/>
                <a:cs typeface="Cambria"/>
              </a:rPr>
              <a:t> </a:t>
            </a:r>
            <a:r>
              <a:rPr sz="2200" dirty="0">
                <a:latin typeface="Cambria"/>
                <a:cs typeface="Cambria"/>
              </a:rPr>
              <a:t>the</a:t>
            </a:r>
            <a:r>
              <a:rPr sz="2200" spc="-60" dirty="0">
                <a:latin typeface="Cambria"/>
                <a:cs typeface="Cambria"/>
              </a:rPr>
              <a:t> </a:t>
            </a:r>
            <a:r>
              <a:rPr sz="2200" spc="-10" dirty="0">
                <a:latin typeface="Cambria"/>
                <a:cs typeface="Cambria"/>
              </a:rPr>
              <a:t>symbolic </a:t>
            </a:r>
            <a:r>
              <a:rPr sz="2200" dirty="0">
                <a:latin typeface="Cambria"/>
                <a:cs typeface="Cambria"/>
              </a:rPr>
              <a:t>registers</a:t>
            </a:r>
            <a:r>
              <a:rPr sz="2200" spc="-35" dirty="0">
                <a:latin typeface="Cambria"/>
                <a:cs typeface="Cambria"/>
              </a:rPr>
              <a:t> </a:t>
            </a:r>
            <a:r>
              <a:rPr sz="2200" dirty="0">
                <a:latin typeface="Cambria"/>
                <a:cs typeface="Cambria"/>
              </a:rPr>
              <a:t>so</a:t>
            </a:r>
            <a:r>
              <a:rPr sz="2200" spc="-70" dirty="0">
                <a:latin typeface="Cambria"/>
                <a:cs typeface="Cambria"/>
              </a:rPr>
              <a:t> </a:t>
            </a:r>
            <a:r>
              <a:rPr sz="2200" dirty="0">
                <a:latin typeface="Cambria"/>
                <a:cs typeface="Cambria"/>
              </a:rPr>
              <a:t>that</a:t>
            </a:r>
            <a:r>
              <a:rPr sz="2200" spc="-60" dirty="0">
                <a:latin typeface="Cambria"/>
                <a:cs typeface="Cambria"/>
              </a:rPr>
              <a:t> </a:t>
            </a:r>
            <a:r>
              <a:rPr sz="2200" dirty="0">
                <a:latin typeface="Cambria"/>
                <a:cs typeface="Cambria"/>
              </a:rPr>
              <a:t>no</a:t>
            </a:r>
            <a:r>
              <a:rPr sz="2200" spc="-75" dirty="0">
                <a:latin typeface="Cambria"/>
                <a:cs typeface="Cambria"/>
              </a:rPr>
              <a:t> </a:t>
            </a:r>
            <a:r>
              <a:rPr sz="2200" dirty="0">
                <a:latin typeface="Cambria"/>
                <a:cs typeface="Cambria"/>
              </a:rPr>
              <a:t>two</a:t>
            </a:r>
            <a:r>
              <a:rPr sz="2200" spc="-80" dirty="0">
                <a:latin typeface="Cambria"/>
                <a:cs typeface="Cambria"/>
              </a:rPr>
              <a:t> </a:t>
            </a:r>
            <a:r>
              <a:rPr sz="2200" dirty="0">
                <a:latin typeface="Cambria"/>
                <a:cs typeface="Cambria"/>
              </a:rPr>
              <a:t>symbolic</a:t>
            </a:r>
            <a:r>
              <a:rPr sz="2200" spc="-65" dirty="0">
                <a:latin typeface="Cambria"/>
                <a:cs typeface="Cambria"/>
              </a:rPr>
              <a:t> </a:t>
            </a:r>
            <a:r>
              <a:rPr sz="2200" dirty="0">
                <a:latin typeface="Cambria"/>
                <a:cs typeface="Cambria"/>
              </a:rPr>
              <a:t>registers</a:t>
            </a:r>
            <a:r>
              <a:rPr sz="2200" spc="-30" dirty="0">
                <a:latin typeface="Cambria"/>
                <a:cs typeface="Cambria"/>
              </a:rPr>
              <a:t> </a:t>
            </a:r>
            <a:r>
              <a:rPr sz="2200" dirty="0">
                <a:latin typeface="Cambria"/>
                <a:cs typeface="Cambria"/>
              </a:rPr>
              <a:t>can</a:t>
            </a:r>
            <a:r>
              <a:rPr sz="2200" spc="-60" dirty="0">
                <a:latin typeface="Cambria"/>
                <a:cs typeface="Cambria"/>
              </a:rPr>
              <a:t> </a:t>
            </a:r>
            <a:r>
              <a:rPr sz="2200" spc="-10" dirty="0">
                <a:latin typeface="Cambria"/>
                <a:cs typeface="Cambria"/>
              </a:rPr>
              <a:t>interfere</a:t>
            </a:r>
            <a:r>
              <a:rPr sz="2200" spc="-45" dirty="0">
                <a:latin typeface="Cambria"/>
                <a:cs typeface="Cambria"/>
              </a:rPr>
              <a:t> </a:t>
            </a:r>
            <a:r>
              <a:rPr sz="2200" dirty="0">
                <a:latin typeface="Cambria"/>
                <a:cs typeface="Cambria"/>
              </a:rPr>
              <a:t>with</a:t>
            </a:r>
            <a:r>
              <a:rPr sz="2200" spc="-70" dirty="0">
                <a:latin typeface="Cambria"/>
                <a:cs typeface="Cambria"/>
              </a:rPr>
              <a:t> </a:t>
            </a:r>
            <a:r>
              <a:rPr sz="2200" spc="-20" dirty="0">
                <a:latin typeface="Cambria"/>
                <a:cs typeface="Cambria"/>
              </a:rPr>
              <a:t>each </a:t>
            </a:r>
            <a:r>
              <a:rPr sz="2200" dirty="0">
                <a:latin typeface="Cambria"/>
                <a:cs typeface="Cambria"/>
              </a:rPr>
              <a:t>other</a:t>
            </a:r>
            <a:r>
              <a:rPr sz="2200" spc="-55" dirty="0">
                <a:latin typeface="Cambria"/>
                <a:cs typeface="Cambria"/>
              </a:rPr>
              <a:t> </a:t>
            </a:r>
            <a:r>
              <a:rPr sz="2200" dirty="0">
                <a:latin typeface="Cambria"/>
                <a:cs typeface="Cambria"/>
              </a:rPr>
              <a:t>with</a:t>
            </a:r>
            <a:r>
              <a:rPr sz="2200" spc="-60" dirty="0">
                <a:latin typeface="Cambria"/>
                <a:cs typeface="Cambria"/>
              </a:rPr>
              <a:t> </a:t>
            </a:r>
            <a:r>
              <a:rPr sz="2200" dirty="0">
                <a:latin typeface="Cambria"/>
                <a:cs typeface="Cambria"/>
              </a:rPr>
              <a:t>assigned</a:t>
            </a:r>
            <a:r>
              <a:rPr sz="2200" spc="-35" dirty="0">
                <a:latin typeface="Cambria"/>
                <a:cs typeface="Cambria"/>
              </a:rPr>
              <a:t> </a:t>
            </a:r>
            <a:r>
              <a:rPr sz="2200" spc="-10" dirty="0">
                <a:latin typeface="Cambria"/>
                <a:cs typeface="Cambria"/>
              </a:rPr>
              <a:t>physical</a:t>
            </a:r>
            <a:r>
              <a:rPr sz="2200" spc="-50" dirty="0">
                <a:latin typeface="Cambria"/>
                <a:cs typeface="Cambria"/>
              </a:rPr>
              <a:t> </a:t>
            </a:r>
            <a:r>
              <a:rPr sz="2200" spc="-10" dirty="0">
                <a:latin typeface="Cambria"/>
                <a:cs typeface="Cambria"/>
              </a:rPr>
              <a:t>registers.</a:t>
            </a:r>
            <a:endParaRPr sz="2200">
              <a:latin typeface="Cambria"/>
              <a:cs typeface="Cambri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066288" y="2118360"/>
            <a:ext cx="5992495" cy="2597150"/>
            <a:chOff x="3066288" y="2118360"/>
            <a:chExt cx="5992495" cy="2597150"/>
          </a:xfrm>
        </p:grpSpPr>
        <p:sp>
          <p:nvSpPr>
            <p:cNvPr id="3" name="object 3"/>
            <p:cNvSpPr/>
            <p:nvPr/>
          </p:nvSpPr>
          <p:spPr>
            <a:xfrm>
              <a:off x="3071622" y="2123694"/>
              <a:ext cx="5981700" cy="2586355"/>
            </a:xfrm>
            <a:custGeom>
              <a:avLst/>
              <a:gdLst/>
              <a:ahLst/>
              <a:cxnLst/>
              <a:rect l="l" t="t" r="r" b="b"/>
              <a:pathLst>
                <a:path w="5981700" h="2586354">
                  <a:moveTo>
                    <a:pt x="5550661" y="0"/>
                  </a:moveTo>
                  <a:lnTo>
                    <a:pt x="431038" y="0"/>
                  </a:lnTo>
                  <a:lnTo>
                    <a:pt x="384081" y="2529"/>
                  </a:lnTo>
                  <a:lnTo>
                    <a:pt x="338587" y="9944"/>
                  </a:lnTo>
                  <a:lnTo>
                    <a:pt x="294818" y="21980"/>
                  </a:lnTo>
                  <a:lnTo>
                    <a:pt x="253038" y="38373"/>
                  </a:lnTo>
                  <a:lnTo>
                    <a:pt x="213510" y="58862"/>
                  </a:lnTo>
                  <a:lnTo>
                    <a:pt x="176497" y="83181"/>
                  </a:lnTo>
                  <a:lnTo>
                    <a:pt x="142262" y="111069"/>
                  </a:lnTo>
                  <a:lnTo>
                    <a:pt x="111069" y="142262"/>
                  </a:lnTo>
                  <a:lnTo>
                    <a:pt x="83181" y="176497"/>
                  </a:lnTo>
                  <a:lnTo>
                    <a:pt x="58862" y="213510"/>
                  </a:lnTo>
                  <a:lnTo>
                    <a:pt x="38373" y="253038"/>
                  </a:lnTo>
                  <a:lnTo>
                    <a:pt x="21980" y="294818"/>
                  </a:lnTo>
                  <a:lnTo>
                    <a:pt x="9944" y="338587"/>
                  </a:lnTo>
                  <a:lnTo>
                    <a:pt x="2529" y="384081"/>
                  </a:lnTo>
                  <a:lnTo>
                    <a:pt x="0" y="431038"/>
                  </a:lnTo>
                  <a:lnTo>
                    <a:pt x="0" y="2155189"/>
                  </a:lnTo>
                  <a:lnTo>
                    <a:pt x="2529" y="2202146"/>
                  </a:lnTo>
                  <a:lnTo>
                    <a:pt x="9944" y="2247640"/>
                  </a:lnTo>
                  <a:lnTo>
                    <a:pt x="21980" y="2291409"/>
                  </a:lnTo>
                  <a:lnTo>
                    <a:pt x="38373" y="2333189"/>
                  </a:lnTo>
                  <a:lnTo>
                    <a:pt x="58862" y="2372717"/>
                  </a:lnTo>
                  <a:lnTo>
                    <a:pt x="83181" y="2409730"/>
                  </a:lnTo>
                  <a:lnTo>
                    <a:pt x="111069" y="2443965"/>
                  </a:lnTo>
                  <a:lnTo>
                    <a:pt x="142262" y="2475158"/>
                  </a:lnTo>
                  <a:lnTo>
                    <a:pt x="176497" y="2503046"/>
                  </a:lnTo>
                  <a:lnTo>
                    <a:pt x="213510" y="2527365"/>
                  </a:lnTo>
                  <a:lnTo>
                    <a:pt x="253038" y="2547854"/>
                  </a:lnTo>
                  <a:lnTo>
                    <a:pt x="294818" y="2564247"/>
                  </a:lnTo>
                  <a:lnTo>
                    <a:pt x="338587" y="2576283"/>
                  </a:lnTo>
                  <a:lnTo>
                    <a:pt x="384081" y="2583698"/>
                  </a:lnTo>
                  <a:lnTo>
                    <a:pt x="431038" y="2586228"/>
                  </a:lnTo>
                  <a:lnTo>
                    <a:pt x="5550661" y="2586228"/>
                  </a:lnTo>
                  <a:lnTo>
                    <a:pt x="5597618" y="2583698"/>
                  </a:lnTo>
                  <a:lnTo>
                    <a:pt x="5643112" y="2576283"/>
                  </a:lnTo>
                  <a:lnTo>
                    <a:pt x="5686881" y="2564247"/>
                  </a:lnTo>
                  <a:lnTo>
                    <a:pt x="5728661" y="2547854"/>
                  </a:lnTo>
                  <a:lnTo>
                    <a:pt x="5768189" y="2527365"/>
                  </a:lnTo>
                  <a:lnTo>
                    <a:pt x="5805202" y="2503046"/>
                  </a:lnTo>
                  <a:lnTo>
                    <a:pt x="5839437" y="2475158"/>
                  </a:lnTo>
                  <a:lnTo>
                    <a:pt x="5870630" y="2443965"/>
                  </a:lnTo>
                  <a:lnTo>
                    <a:pt x="5898518" y="2409730"/>
                  </a:lnTo>
                  <a:lnTo>
                    <a:pt x="5922837" y="2372717"/>
                  </a:lnTo>
                  <a:lnTo>
                    <a:pt x="5943326" y="2333189"/>
                  </a:lnTo>
                  <a:lnTo>
                    <a:pt x="5959719" y="2291409"/>
                  </a:lnTo>
                  <a:lnTo>
                    <a:pt x="5971755" y="2247640"/>
                  </a:lnTo>
                  <a:lnTo>
                    <a:pt x="5979170" y="2202146"/>
                  </a:lnTo>
                  <a:lnTo>
                    <a:pt x="5981700" y="2155189"/>
                  </a:lnTo>
                  <a:lnTo>
                    <a:pt x="5981700" y="431038"/>
                  </a:lnTo>
                  <a:lnTo>
                    <a:pt x="5979170" y="384081"/>
                  </a:lnTo>
                  <a:lnTo>
                    <a:pt x="5971755" y="338587"/>
                  </a:lnTo>
                  <a:lnTo>
                    <a:pt x="5959719" y="294818"/>
                  </a:lnTo>
                  <a:lnTo>
                    <a:pt x="5943326" y="253038"/>
                  </a:lnTo>
                  <a:lnTo>
                    <a:pt x="5922837" y="213510"/>
                  </a:lnTo>
                  <a:lnTo>
                    <a:pt x="5898518" y="176497"/>
                  </a:lnTo>
                  <a:lnTo>
                    <a:pt x="5870630" y="142262"/>
                  </a:lnTo>
                  <a:lnTo>
                    <a:pt x="5839437" y="111069"/>
                  </a:lnTo>
                  <a:lnTo>
                    <a:pt x="5805202" y="83181"/>
                  </a:lnTo>
                  <a:lnTo>
                    <a:pt x="5768189" y="58862"/>
                  </a:lnTo>
                  <a:lnTo>
                    <a:pt x="5728661" y="38373"/>
                  </a:lnTo>
                  <a:lnTo>
                    <a:pt x="5686881" y="21980"/>
                  </a:lnTo>
                  <a:lnTo>
                    <a:pt x="5643112" y="9944"/>
                  </a:lnTo>
                  <a:lnTo>
                    <a:pt x="5597618" y="2529"/>
                  </a:lnTo>
                  <a:lnTo>
                    <a:pt x="5550661" y="0"/>
                  </a:lnTo>
                  <a:close/>
                </a:path>
              </a:pathLst>
            </a:custGeom>
            <a:solidFill>
              <a:srgbClr val="40B9D2"/>
            </a:solidFill>
          </p:spPr>
          <p:txBody>
            <a:bodyPr wrap="square" lIns="0" tIns="0" rIns="0" bIns="0" rtlCol="0"/>
            <a:lstStyle/>
            <a:p>
              <a:endParaRPr/>
            </a:p>
          </p:txBody>
        </p:sp>
        <p:sp>
          <p:nvSpPr>
            <p:cNvPr id="4" name="object 4"/>
            <p:cNvSpPr/>
            <p:nvPr/>
          </p:nvSpPr>
          <p:spPr>
            <a:xfrm>
              <a:off x="3071622" y="2123694"/>
              <a:ext cx="5981700" cy="2586355"/>
            </a:xfrm>
            <a:custGeom>
              <a:avLst/>
              <a:gdLst/>
              <a:ahLst/>
              <a:cxnLst/>
              <a:rect l="l" t="t" r="r" b="b"/>
              <a:pathLst>
                <a:path w="5981700" h="2586354">
                  <a:moveTo>
                    <a:pt x="0" y="431038"/>
                  </a:moveTo>
                  <a:lnTo>
                    <a:pt x="2529" y="384081"/>
                  </a:lnTo>
                  <a:lnTo>
                    <a:pt x="9944" y="338587"/>
                  </a:lnTo>
                  <a:lnTo>
                    <a:pt x="21980" y="294818"/>
                  </a:lnTo>
                  <a:lnTo>
                    <a:pt x="38373" y="253038"/>
                  </a:lnTo>
                  <a:lnTo>
                    <a:pt x="58862" y="213510"/>
                  </a:lnTo>
                  <a:lnTo>
                    <a:pt x="83181" y="176497"/>
                  </a:lnTo>
                  <a:lnTo>
                    <a:pt x="111069" y="142262"/>
                  </a:lnTo>
                  <a:lnTo>
                    <a:pt x="142262" y="111069"/>
                  </a:lnTo>
                  <a:lnTo>
                    <a:pt x="176497" y="83181"/>
                  </a:lnTo>
                  <a:lnTo>
                    <a:pt x="213510" y="58862"/>
                  </a:lnTo>
                  <a:lnTo>
                    <a:pt x="253038" y="38373"/>
                  </a:lnTo>
                  <a:lnTo>
                    <a:pt x="294818" y="21980"/>
                  </a:lnTo>
                  <a:lnTo>
                    <a:pt x="338587" y="9944"/>
                  </a:lnTo>
                  <a:lnTo>
                    <a:pt x="384081" y="2529"/>
                  </a:lnTo>
                  <a:lnTo>
                    <a:pt x="431038" y="0"/>
                  </a:lnTo>
                  <a:lnTo>
                    <a:pt x="5550661" y="0"/>
                  </a:lnTo>
                  <a:lnTo>
                    <a:pt x="5597618" y="2529"/>
                  </a:lnTo>
                  <a:lnTo>
                    <a:pt x="5643112" y="9944"/>
                  </a:lnTo>
                  <a:lnTo>
                    <a:pt x="5686881" y="21980"/>
                  </a:lnTo>
                  <a:lnTo>
                    <a:pt x="5728661" y="38373"/>
                  </a:lnTo>
                  <a:lnTo>
                    <a:pt x="5768189" y="58862"/>
                  </a:lnTo>
                  <a:lnTo>
                    <a:pt x="5805202" y="83181"/>
                  </a:lnTo>
                  <a:lnTo>
                    <a:pt x="5839437" y="111069"/>
                  </a:lnTo>
                  <a:lnTo>
                    <a:pt x="5870630" y="142262"/>
                  </a:lnTo>
                  <a:lnTo>
                    <a:pt x="5898518" y="176497"/>
                  </a:lnTo>
                  <a:lnTo>
                    <a:pt x="5922837" y="213510"/>
                  </a:lnTo>
                  <a:lnTo>
                    <a:pt x="5943326" y="253038"/>
                  </a:lnTo>
                  <a:lnTo>
                    <a:pt x="5959719" y="294818"/>
                  </a:lnTo>
                  <a:lnTo>
                    <a:pt x="5971755" y="338587"/>
                  </a:lnTo>
                  <a:lnTo>
                    <a:pt x="5979170" y="384081"/>
                  </a:lnTo>
                  <a:lnTo>
                    <a:pt x="5981700" y="431038"/>
                  </a:lnTo>
                  <a:lnTo>
                    <a:pt x="5981700" y="2155189"/>
                  </a:lnTo>
                  <a:lnTo>
                    <a:pt x="5979170" y="2202146"/>
                  </a:lnTo>
                  <a:lnTo>
                    <a:pt x="5971755" y="2247640"/>
                  </a:lnTo>
                  <a:lnTo>
                    <a:pt x="5959719" y="2291409"/>
                  </a:lnTo>
                  <a:lnTo>
                    <a:pt x="5943326" y="2333189"/>
                  </a:lnTo>
                  <a:lnTo>
                    <a:pt x="5922837" y="2372717"/>
                  </a:lnTo>
                  <a:lnTo>
                    <a:pt x="5898518" y="2409730"/>
                  </a:lnTo>
                  <a:lnTo>
                    <a:pt x="5870630" y="2443965"/>
                  </a:lnTo>
                  <a:lnTo>
                    <a:pt x="5839437" y="2475158"/>
                  </a:lnTo>
                  <a:lnTo>
                    <a:pt x="5805202" y="2503046"/>
                  </a:lnTo>
                  <a:lnTo>
                    <a:pt x="5768189" y="2527365"/>
                  </a:lnTo>
                  <a:lnTo>
                    <a:pt x="5728661" y="2547854"/>
                  </a:lnTo>
                  <a:lnTo>
                    <a:pt x="5686881" y="2564247"/>
                  </a:lnTo>
                  <a:lnTo>
                    <a:pt x="5643112" y="2576283"/>
                  </a:lnTo>
                  <a:lnTo>
                    <a:pt x="5597618" y="2583698"/>
                  </a:lnTo>
                  <a:lnTo>
                    <a:pt x="5550661" y="2586228"/>
                  </a:lnTo>
                  <a:lnTo>
                    <a:pt x="431038" y="2586228"/>
                  </a:lnTo>
                  <a:lnTo>
                    <a:pt x="384081" y="2583698"/>
                  </a:lnTo>
                  <a:lnTo>
                    <a:pt x="338587" y="2576283"/>
                  </a:lnTo>
                  <a:lnTo>
                    <a:pt x="294818" y="2564247"/>
                  </a:lnTo>
                  <a:lnTo>
                    <a:pt x="253038" y="2547854"/>
                  </a:lnTo>
                  <a:lnTo>
                    <a:pt x="213510" y="2527365"/>
                  </a:lnTo>
                  <a:lnTo>
                    <a:pt x="176497" y="2503046"/>
                  </a:lnTo>
                  <a:lnTo>
                    <a:pt x="142262" y="2475158"/>
                  </a:lnTo>
                  <a:lnTo>
                    <a:pt x="111069" y="2443965"/>
                  </a:lnTo>
                  <a:lnTo>
                    <a:pt x="83181" y="2409730"/>
                  </a:lnTo>
                  <a:lnTo>
                    <a:pt x="58862" y="2372717"/>
                  </a:lnTo>
                  <a:lnTo>
                    <a:pt x="38373" y="2333189"/>
                  </a:lnTo>
                  <a:lnTo>
                    <a:pt x="21980" y="2291409"/>
                  </a:lnTo>
                  <a:lnTo>
                    <a:pt x="9944" y="2247640"/>
                  </a:lnTo>
                  <a:lnTo>
                    <a:pt x="2529" y="2202146"/>
                  </a:lnTo>
                  <a:lnTo>
                    <a:pt x="0" y="2155189"/>
                  </a:lnTo>
                  <a:lnTo>
                    <a:pt x="0" y="431038"/>
                  </a:lnTo>
                  <a:close/>
                </a:path>
              </a:pathLst>
            </a:custGeom>
            <a:ln w="10668">
              <a:solidFill>
                <a:srgbClr val="2C879A"/>
              </a:solidFill>
            </a:ln>
          </p:spPr>
          <p:txBody>
            <a:bodyPr wrap="square" lIns="0" tIns="0" rIns="0" bIns="0" rtlCol="0"/>
            <a:lstStyle/>
            <a:p>
              <a:endParaRPr/>
            </a:p>
          </p:txBody>
        </p:sp>
      </p:grpSp>
      <p:sp>
        <p:nvSpPr>
          <p:cNvPr id="5" name="object 5"/>
          <p:cNvSpPr txBox="1">
            <a:spLocks noGrp="1"/>
          </p:cNvSpPr>
          <p:nvPr>
            <p:ph type="title"/>
          </p:nvPr>
        </p:nvSpPr>
        <p:spPr>
          <a:xfrm>
            <a:off x="3456813" y="2632659"/>
            <a:ext cx="5210810" cy="1489075"/>
          </a:xfrm>
          <a:prstGeom prst="rect">
            <a:avLst/>
          </a:prstGeom>
        </p:spPr>
        <p:txBody>
          <a:bodyPr vert="horz" wrap="square" lIns="0" tIns="12700" rIns="0" bIns="0" rtlCol="0">
            <a:spAutoFit/>
          </a:bodyPr>
          <a:lstStyle/>
          <a:p>
            <a:pPr marL="870585" marR="5080" indent="-858519">
              <a:lnSpc>
                <a:spcPct val="100000"/>
              </a:lnSpc>
              <a:spcBef>
                <a:spcPts val="100"/>
              </a:spcBef>
            </a:pPr>
            <a:r>
              <a:rPr sz="4800" dirty="0">
                <a:solidFill>
                  <a:srgbClr val="FFFFFF"/>
                </a:solidFill>
                <a:latin typeface="Corbel"/>
                <a:cs typeface="Corbel"/>
              </a:rPr>
              <a:t>DAG</a:t>
            </a:r>
            <a:r>
              <a:rPr sz="4800" spc="-140" dirty="0">
                <a:solidFill>
                  <a:srgbClr val="FFFFFF"/>
                </a:solidFill>
                <a:latin typeface="Corbel"/>
                <a:cs typeface="Corbel"/>
              </a:rPr>
              <a:t> </a:t>
            </a:r>
            <a:r>
              <a:rPr sz="4800" spc="-10" dirty="0">
                <a:solidFill>
                  <a:srgbClr val="FFFFFF"/>
                </a:solidFill>
                <a:latin typeface="Corbel"/>
                <a:cs typeface="Corbel"/>
              </a:rPr>
              <a:t>Representation </a:t>
            </a:r>
            <a:r>
              <a:rPr sz="4800" dirty="0">
                <a:solidFill>
                  <a:srgbClr val="FFFFFF"/>
                </a:solidFill>
                <a:latin typeface="Corbel"/>
                <a:cs typeface="Corbel"/>
              </a:rPr>
              <a:t>of</a:t>
            </a:r>
            <a:r>
              <a:rPr sz="4800" spc="-40" dirty="0">
                <a:solidFill>
                  <a:srgbClr val="FFFFFF"/>
                </a:solidFill>
                <a:latin typeface="Corbel"/>
                <a:cs typeface="Corbel"/>
              </a:rPr>
              <a:t> </a:t>
            </a:r>
            <a:r>
              <a:rPr sz="4800" dirty="0">
                <a:solidFill>
                  <a:srgbClr val="FFFFFF"/>
                </a:solidFill>
                <a:latin typeface="Corbel"/>
                <a:cs typeface="Corbel"/>
              </a:rPr>
              <a:t>Basic</a:t>
            </a:r>
            <a:r>
              <a:rPr sz="4800" spc="-35" dirty="0">
                <a:solidFill>
                  <a:srgbClr val="FFFFFF"/>
                </a:solidFill>
                <a:latin typeface="Corbel"/>
                <a:cs typeface="Corbel"/>
              </a:rPr>
              <a:t> </a:t>
            </a:r>
            <a:r>
              <a:rPr sz="4800" spc="-20" dirty="0">
                <a:solidFill>
                  <a:srgbClr val="FFFFFF"/>
                </a:solidFill>
                <a:latin typeface="Corbel"/>
                <a:cs typeface="Corbel"/>
              </a:rPr>
              <a:t>Block</a:t>
            </a:r>
            <a:endParaRPr sz="4800">
              <a:latin typeface="Corbel"/>
              <a:cs typeface="Corbe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328287"/>
            <a:ext cx="8640960" cy="4216539"/>
          </a:xfrm>
          <a:prstGeom prst="rect">
            <a:avLst/>
          </a:prstGeom>
        </p:spPr>
        <p:txBody>
          <a:bodyPr wrap="square">
            <a:spAutoFit/>
          </a:bodyPr>
          <a:lstStyle/>
          <a:p>
            <a:r>
              <a:rPr lang="en-IN" sz="2800" u="sng" dirty="0">
                <a:latin typeface="Cambria" panose="02040503050406030204" pitchFamily="18" charset="0"/>
                <a:ea typeface="Cambria" panose="02040503050406030204" pitchFamily="18" charset="0"/>
              </a:rPr>
              <a:t>Directed Acyclic Graph</a:t>
            </a:r>
          </a:p>
          <a:p>
            <a:pPr algn="just"/>
            <a:r>
              <a:rPr lang="en-IN" sz="2400" dirty="0">
                <a:solidFill>
                  <a:schemeClr val="bg2">
                    <a:lumMod val="25000"/>
                  </a:schemeClr>
                </a:solidFill>
                <a:latin typeface="Cambria" panose="02040503050406030204" pitchFamily="18" charset="0"/>
                <a:ea typeface="Cambria" panose="02040503050406030204" pitchFamily="18" charset="0"/>
              </a:rPr>
              <a:t>Directed Acyclic Graph (DAG) is a tool that depicts the structure of basic blocks, helps to see the flow of values flowing among the basic blocks, and offers optimization too. DAG provides easy transformation on basic blocks. DAG can be understood here:</a:t>
            </a:r>
          </a:p>
          <a:p>
            <a:pPr lvl="0" algn="just"/>
            <a:endParaRPr lang="en-IN" sz="2400" dirty="0">
              <a:solidFill>
                <a:schemeClr val="bg2">
                  <a:lumMod val="2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IN" sz="2400" dirty="0">
                <a:solidFill>
                  <a:schemeClr val="bg2">
                    <a:lumMod val="25000"/>
                  </a:schemeClr>
                </a:solidFill>
                <a:latin typeface="Cambria" panose="02040503050406030204" pitchFamily="18" charset="0"/>
                <a:ea typeface="Cambria" panose="02040503050406030204" pitchFamily="18" charset="0"/>
              </a:rPr>
              <a:t>Leaf nodes represent identifiers, names or constants.</a:t>
            </a:r>
          </a:p>
          <a:p>
            <a:pPr marL="285750" indent="-285750" algn="just">
              <a:buFont typeface="Arial" panose="020B0604020202020204" pitchFamily="34" charset="0"/>
              <a:buChar char="•"/>
            </a:pPr>
            <a:r>
              <a:rPr lang="en-IN" sz="2400" dirty="0">
                <a:solidFill>
                  <a:schemeClr val="bg2">
                    <a:lumMod val="25000"/>
                  </a:schemeClr>
                </a:solidFill>
                <a:latin typeface="Cambria" panose="02040503050406030204" pitchFamily="18" charset="0"/>
                <a:ea typeface="Cambria" panose="02040503050406030204" pitchFamily="18" charset="0"/>
              </a:rPr>
              <a:t>Interior nodes represent operators.</a:t>
            </a:r>
          </a:p>
          <a:p>
            <a:pPr marL="285750" indent="-285750" algn="just">
              <a:buFont typeface="Arial" panose="020B0604020202020204" pitchFamily="34" charset="0"/>
              <a:buChar char="•"/>
            </a:pPr>
            <a:r>
              <a:rPr lang="en-IN" sz="2400" dirty="0">
                <a:solidFill>
                  <a:schemeClr val="bg2">
                    <a:lumMod val="25000"/>
                  </a:schemeClr>
                </a:solidFill>
                <a:latin typeface="Cambria" panose="02040503050406030204" pitchFamily="18" charset="0"/>
                <a:ea typeface="Cambria" panose="02040503050406030204" pitchFamily="18" charset="0"/>
              </a:rPr>
              <a:t>Interior nodes also represent the results of expressions or the identifiers/name where the values are to be stored or assigned.</a:t>
            </a:r>
          </a:p>
        </p:txBody>
      </p:sp>
      <p:sp>
        <p:nvSpPr>
          <p:cNvPr id="3" name="Rectangle 2"/>
          <p:cNvSpPr/>
          <p:nvPr/>
        </p:nvSpPr>
        <p:spPr>
          <a:xfrm>
            <a:off x="6324600" y="4628596"/>
            <a:ext cx="1553630" cy="461665"/>
          </a:xfrm>
          <a:prstGeom prst="rect">
            <a:avLst/>
          </a:prstGeom>
        </p:spPr>
        <p:txBody>
          <a:bodyPr wrap="none">
            <a:spAutoFit/>
          </a:bodyPr>
          <a:lstStyle/>
          <a:p>
            <a:r>
              <a:rPr lang="en-IN" sz="2400" b="1" dirty="0">
                <a:latin typeface="Cambria" panose="02040503050406030204" pitchFamily="18" charset="0"/>
                <a:ea typeface="Cambria" panose="02040503050406030204" pitchFamily="18" charset="0"/>
              </a:rPr>
              <a:t>Example</a:t>
            </a:r>
            <a:r>
              <a:rPr lang="en-IN" sz="2400" b="1" dirty="0"/>
              <a:t>:</a:t>
            </a:r>
            <a:endParaRPr lang="en-IN" sz="2400" dirty="0"/>
          </a:p>
        </p:txBody>
      </p:sp>
      <p:sp>
        <p:nvSpPr>
          <p:cNvPr id="4" name="Rectangle 3"/>
          <p:cNvSpPr/>
          <p:nvPr/>
        </p:nvSpPr>
        <p:spPr>
          <a:xfrm>
            <a:off x="7878230" y="5257800"/>
            <a:ext cx="4572000" cy="1200329"/>
          </a:xfrm>
          <a:prstGeom prst="rect">
            <a:avLst/>
          </a:prstGeom>
        </p:spPr>
        <p:txBody>
          <a:bodyPr>
            <a:spAutoFit/>
          </a:bodyPr>
          <a:lstStyle/>
          <a:p>
            <a:r>
              <a:rPr lang="en-IN" sz="2400" dirty="0"/>
              <a:t>t</a:t>
            </a:r>
            <a:r>
              <a:rPr lang="en-IN" sz="2400" baseline="-25000" dirty="0"/>
              <a:t>0</a:t>
            </a:r>
            <a:r>
              <a:rPr lang="en-IN" sz="2400" dirty="0"/>
              <a:t> = a + b</a:t>
            </a:r>
          </a:p>
          <a:p>
            <a:r>
              <a:rPr lang="en-IN" sz="2400" dirty="0"/>
              <a:t>t</a:t>
            </a:r>
            <a:r>
              <a:rPr lang="en-IN" sz="2400" baseline="-25000" dirty="0"/>
              <a:t>1</a:t>
            </a:r>
            <a:r>
              <a:rPr lang="en-IN" sz="2400" dirty="0"/>
              <a:t> = t</a:t>
            </a:r>
            <a:r>
              <a:rPr lang="en-IN" sz="2400" baseline="-25000" dirty="0"/>
              <a:t>0</a:t>
            </a:r>
            <a:r>
              <a:rPr lang="en-IN" sz="2400" dirty="0"/>
              <a:t> + c</a:t>
            </a:r>
          </a:p>
          <a:p>
            <a:r>
              <a:rPr lang="en-IN" sz="2400" dirty="0"/>
              <a:t>d = t</a:t>
            </a:r>
            <a:r>
              <a:rPr lang="en-IN" sz="2400" baseline="-25000" dirty="0"/>
              <a:t>0</a:t>
            </a:r>
            <a:r>
              <a:rPr lang="en-IN" sz="2400" dirty="0"/>
              <a:t> + t</a:t>
            </a:r>
            <a:r>
              <a:rPr lang="en-IN" sz="2400" baseline="-25000" dirty="0"/>
              <a:t>1</a:t>
            </a:r>
            <a:endParaRPr lang="en-IN" sz="2400" dirty="0"/>
          </a:p>
        </p:txBody>
      </p:sp>
      <p:sp>
        <p:nvSpPr>
          <p:cNvPr id="5" name="object 2">
            <a:extLst>
              <a:ext uri="{FF2B5EF4-FFF2-40B4-BE49-F238E27FC236}">
                <a16:creationId xmlns:a16="http://schemas.microsoft.com/office/drawing/2014/main" id="{2E6A4B48-BA5B-8D5D-8A5B-F5511E4B0D79}"/>
              </a:ext>
            </a:extLst>
          </p:cNvPr>
          <p:cNvSpPr txBox="1"/>
          <p:nvPr/>
        </p:nvSpPr>
        <p:spPr>
          <a:xfrm>
            <a:off x="-12551" y="1201602"/>
            <a:ext cx="2971800" cy="5098832"/>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210"/>
              </a:spcBef>
            </a:pPr>
            <a:endParaRPr sz="3600" dirty="0">
              <a:latin typeface="Times New Roman"/>
              <a:cs typeface="Times New Roman"/>
            </a:endParaRPr>
          </a:p>
          <a:p>
            <a:pPr marL="91440">
              <a:lnSpc>
                <a:spcPts val="4105"/>
              </a:lnSpc>
              <a:spcBef>
                <a:spcPts val="5"/>
              </a:spcBef>
            </a:pPr>
            <a:r>
              <a:rPr sz="3600" b="1" spc="-25" dirty="0">
                <a:solidFill>
                  <a:srgbClr val="FFFFFF"/>
                </a:solidFill>
                <a:latin typeface="Cambria"/>
                <a:cs typeface="Cambria"/>
              </a:rPr>
              <a:t>DAG</a:t>
            </a:r>
            <a:r>
              <a:rPr lang="en-IN" sz="3600" b="1" spc="-25" dirty="0">
                <a:solidFill>
                  <a:srgbClr val="FFFFFF"/>
                </a:solidFill>
                <a:latin typeface="Cambria"/>
                <a:cs typeface="Cambria"/>
              </a:rPr>
              <a:t>(</a:t>
            </a:r>
            <a:r>
              <a:rPr lang="en-IN" sz="3600" dirty="0">
                <a:solidFill>
                  <a:schemeClr val="bg1"/>
                </a:solidFill>
                <a:latin typeface="Cambria" panose="02040503050406030204" pitchFamily="18" charset="0"/>
                <a:ea typeface="Cambria" panose="02040503050406030204" pitchFamily="18" charset="0"/>
              </a:rPr>
              <a:t>Directed Acyclic Graph)</a:t>
            </a:r>
          </a:p>
          <a:p>
            <a:pPr marL="91440">
              <a:lnSpc>
                <a:spcPts val="4105"/>
              </a:lnSpc>
              <a:spcBef>
                <a:spcPts val="5"/>
              </a:spcBef>
            </a:pPr>
            <a:endParaRPr lang="en-IN" sz="3600" b="1" spc="-25" dirty="0">
              <a:solidFill>
                <a:srgbClr val="FFFFFF"/>
              </a:solidFill>
              <a:latin typeface="Cambria"/>
              <a:cs typeface="Cambria"/>
            </a:endParaRPr>
          </a:p>
          <a:p>
            <a:pPr marL="91440">
              <a:lnSpc>
                <a:spcPts val="4105"/>
              </a:lnSpc>
              <a:spcBef>
                <a:spcPts val="5"/>
              </a:spcBef>
            </a:pPr>
            <a:endParaRPr lang="en-IN" sz="3600" b="1" spc="-25" dirty="0">
              <a:solidFill>
                <a:srgbClr val="FFFFFF"/>
              </a:solidFill>
              <a:latin typeface="Cambria"/>
              <a:cs typeface="Cambria"/>
            </a:endParaRPr>
          </a:p>
          <a:p>
            <a:pPr marL="91440">
              <a:lnSpc>
                <a:spcPts val="4105"/>
              </a:lnSpc>
              <a:spcBef>
                <a:spcPts val="5"/>
              </a:spcBef>
            </a:pPr>
            <a:endParaRPr lang="en-IN" sz="3600" b="1" spc="-25" dirty="0">
              <a:solidFill>
                <a:srgbClr val="FFFFFF"/>
              </a:solidFill>
              <a:latin typeface="Cambria"/>
              <a:cs typeface="Cambria"/>
            </a:endParaRPr>
          </a:p>
          <a:p>
            <a:pPr marL="91440">
              <a:lnSpc>
                <a:spcPts val="4105"/>
              </a:lnSpc>
              <a:spcBef>
                <a:spcPts val="5"/>
              </a:spcBef>
            </a:pPr>
            <a:endParaRPr sz="3600" dirty="0">
              <a:latin typeface="Cambria"/>
              <a:cs typeface="Cambria"/>
            </a:endParaRPr>
          </a:p>
        </p:txBody>
      </p:sp>
    </p:spTree>
    <p:extLst>
      <p:ext uri="{BB962C8B-B14F-4D97-AF65-F5344CB8AC3E}">
        <p14:creationId xmlns:p14="http://schemas.microsoft.com/office/powerpoint/2010/main" val="7633971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3" descr="Directed Acyclic 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0426" y="350816"/>
            <a:ext cx="1700757" cy="150049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38836" y="2060849"/>
            <a:ext cx="1892347" cy="558743"/>
          </a:xfrm>
          <a:prstGeom prst="rect">
            <a:avLst/>
          </a:prstGeom>
        </p:spPr>
        <p:txBody>
          <a:bodyPr wrap="square">
            <a:spAutoFit/>
          </a:bodyPr>
          <a:lstStyle/>
          <a:p>
            <a:pPr marL="30480" marR="30480" algn="just">
              <a:lnSpc>
                <a:spcPct val="115000"/>
              </a:lnSpc>
              <a:spcBef>
                <a:spcPts val="600"/>
              </a:spcBef>
              <a:spcAft>
                <a:spcPts val="720"/>
              </a:spcAft>
            </a:pPr>
            <a:r>
              <a:rPr lang="en-IN" sz="2800" dirty="0"/>
              <a:t>[t</a:t>
            </a:r>
            <a:r>
              <a:rPr lang="en-IN" sz="1600" baseline="-25000" dirty="0"/>
              <a:t>0</a:t>
            </a:r>
            <a:r>
              <a:rPr lang="en-IN" sz="2800" dirty="0"/>
              <a:t> = a + b]</a:t>
            </a:r>
            <a:endParaRPr lang="en-IN" sz="2400" dirty="0">
              <a:ea typeface="Calibri"/>
              <a:cs typeface="Times New Roman"/>
            </a:endParaRPr>
          </a:p>
        </p:txBody>
      </p:sp>
      <p:pic>
        <p:nvPicPr>
          <p:cNvPr id="5" name="Picture 4" descr="Directed Acyclic Graph"/>
          <p:cNvPicPr/>
          <p:nvPr/>
        </p:nvPicPr>
        <p:blipFill>
          <a:blip r:embed="rId3">
            <a:extLst>
              <a:ext uri="{28A0092B-C50C-407E-A947-70E740481C1C}">
                <a14:useLocalDpi xmlns:a14="http://schemas.microsoft.com/office/drawing/2010/main" val="0"/>
              </a:ext>
            </a:extLst>
          </a:blip>
          <a:srcRect/>
          <a:stretch>
            <a:fillRect/>
          </a:stretch>
        </p:blipFill>
        <p:spPr bwMode="auto">
          <a:xfrm>
            <a:off x="1815774" y="3717033"/>
            <a:ext cx="2736304" cy="1975575"/>
          </a:xfrm>
          <a:prstGeom prst="rect">
            <a:avLst/>
          </a:prstGeom>
          <a:noFill/>
          <a:ln>
            <a:noFill/>
          </a:ln>
        </p:spPr>
      </p:pic>
      <p:sp>
        <p:nvSpPr>
          <p:cNvPr id="4" name="Rectangle 3"/>
          <p:cNvSpPr/>
          <p:nvPr/>
        </p:nvSpPr>
        <p:spPr>
          <a:xfrm>
            <a:off x="2420830" y="5878819"/>
            <a:ext cx="1845377" cy="523220"/>
          </a:xfrm>
          <a:prstGeom prst="rect">
            <a:avLst/>
          </a:prstGeom>
        </p:spPr>
        <p:txBody>
          <a:bodyPr wrap="none">
            <a:spAutoFit/>
          </a:bodyPr>
          <a:lstStyle/>
          <a:p>
            <a:r>
              <a:rPr lang="en-IN" sz="2800" dirty="0"/>
              <a:t>[t</a:t>
            </a:r>
            <a:r>
              <a:rPr lang="en-IN" sz="2800" baseline="-25000" dirty="0"/>
              <a:t>1</a:t>
            </a:r>
            <a:r>
              <a:rPr lang="en-IN" sz="2800" dirty="0"/>
              <a:t> = t</a:t>
            </a:r>
            <a:r>
              <a:rPr lang="en-IN" sz="2800" baseline="-25000" dirty="0"/>
              <a:t>0</a:t>
            </a:r>
            <a:r>
              <a:rPr lang="en-IN" sz="2800" dirty="0"/>
              <a:t> + c]</a:t>
            </a:r>
          </a:p>
        </p:txBody>
      </p:sp>
      <p:pic>
        <p:nvPicPr>
          <p:cNvPr id="7" name="Picture 6" descr="Directed Acyclic Graph"/>
          <p:cNvPicPr/>
          <p:nvPr/>
        </p:nvPicPr>
        <p:blipFill>
          <a:blip r:embed="rId4">
            <a:extLst>
              <a:ext uri="{28A0092B-C50C-407E-A947-70E740481C1C}">
                <a14:useLocalDpi xmlns:a14="http://schemas.microsoft.com/office/drawing/2010/main" val="0"/>
              </a:ext>
            </a:extLst>
          </a:blip>
          <a:srcRect/>
          <a:stretch>
            <a:fillRect/>
          </a:stretch>
        </p:blipFill>
        <p:spPr bwMode="auto">
          <a:xfrm>
            <a:off x="5951984" y="870235"/>
            <a:ext cx="3528392" cy="3350853"/>
          </a:xfrm>
          <a:prstGeom prst="rect">
            <a:avLst/>
          </a:prstGeom>
          <a:noFill/>
          <a:ln>
            <a:noFill/>
          </a:ln>
        </p:spPr>
      </p:pic>
      <p:sp>
        <p:nvSpPr>
          <p:cNvPr id="6" name="Rectangle 5"/>
          <p:cNvSpPr/>
          <p:nvPr/>
        </p:nvSpPr>
        <p:spPr>
          <a:xfrm>
            <a:off x="7227818" y="4738915"/>
            <a:ext cx="2348720" cy="646331"/>
          </a:xfrm>
          <a:prstGeom prst="rect">
            <a:avLst/>
          </a:prstGeom>
        </p:spPr>
        <p:txBody>
          <a:bodyPr wrap="none">
            <a:spAutoFit/>
          </a:bodyPr>
          <a:lstStyle/>
          <a:p>
            <a:r>
              <a:rPr lang="en-IN" sz="3600" dirty="0"/>
              <a:t>[d = t</a:t>
            </a:r>
            <a:r>
              <a:rPr lang="en-IN" sz="3600" baseline="-25000" dirty="0"/>
              <a:t>0</a:t>
            </a:r>
            <a:r>
              <a:rPr lang="en-IN" sz="3600" dirty="0"/>
              <a:t> + t</a:t>
            </a:r>
            <a:r>
              <a:rPr lang="en-IN" sz="3600" baseline="-25000" dirty="0"/>
              <a:t>1</a:t>
            </a:r>
            <a:r>
              <a:rPr lang="en-IN" sz="3600" dirty="0"/>
              <a:t>]</a:t>
            </a:r>
          </a:p>
        </p:txBody>
      </p:sp>
    </p:spTree>
    <p:extLst>
      <p:ext uri="{BB962C8B-B14F-4D97-AF65-F5344CB8AC3E}">
        <p14:creationId xmlns:p14="http://schemas.microsoft.com/office/powerpoint/2010/main" val="46884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1504" y="332657"/>
            <a:ext cx="8784976" cy="646331"/>
          </a:xfrm>
          <a:prstGeom prst="rect">
            <a:avLst/>
          </a:prstGeom>
        </p:spPr>
        <p:txBody>
          <a:bodyPr wrap="square">
            <a:spAutoFit/>
          </a:bodyPr>
          <a:lstStyle/>
          <a:p>
            <a:pPr fontAlgn="base"/>
            <a:r>
              <a:rPr lang="en-IN" dirty="0"/>
              <a:t>Consider the following expression and construct a DAG for it-</a:t>
            </a:r>
          </a:p>
          <a:p>
            <a:pPr fontAlgn="base"/>
            <a:r>
              <a:rPr lang="en-IN" dirty="0"/>
              <a:t>( a + b ) x ( a + b + c )</a:t>
            </a:r>
          </a:p>
        </p:txBody>
      </p:sp>
      <p:sp>
        <p:nvSpPr>
          <p:cNvPr id="3" name="Rectangle 2"/>
          <p:cNvSpPr/>
          <p:nvPr/>
        </p:nvSpPr>
        <p:spPr>
          <a:xfrm>
            <a:off x="2063552" y="1124744"/>
            <a:ext cx="4572000" cy="1754326"/>
          </a:xfrm>
          <a:prstGeom prst="rect">
            <a:avLst/>
          </a:prstGeom>
        </p:spPr>
        <p:txBody>
          <a:bodyPr>
            <a:spAutoFit/>
          </a:bodyPr>
          <a:lstStyle/>
          <a:p>
            <a:pPr fontAlgn="base"/>
            <a:r>
              <a:rPr lang="en-IN" dirty="0"/>
              <a:t>Three Address Code for the given expression is-</a:t>
            </a:r>
          </a:p>
          <a:p>
            <a:pPr fontAlgn="base"/>
            <a:r>
              <a:rPr lang="en-IN" dirty="0"/>
              <a:t> </a:t>
            </a:r>
          </a:p>
          <a:p>
            <a:pPr fontAlgn="base"/>
            <a:r>
              <a:rPr lang="en-IN" dirty="0"/>
              <a:t>T1 = a + b</a:t>
            </a:r>
          </a:p>
          <a:p>
            <a:pPr fontAlgn="base"/>
            <a:r>
              <a:rPr lang="en-IN" dirty="0"/>
              <a:t>T2 = T1 + c</a:t>
            </a:r>
          </a:p>
          <a:p>
            <a:pPr fontAlgn="base"/>
            <a:r>
              <a:rPr lang="en-IN" dirty="0"/>
              <a:t>T3 = T1 x T2</a:t>
            </a:r>
          </a:p>
        </p:txBody>
      </p:sp>
      <p:pic>
        <p:nvPicPr>
          <p:cNvPr id="4" name="Picture 3" descr="https://www.gatevidyalay.com/wp-content/uploads/2018/03/Directed-Acyclic-Graphs-Problem-01-DAG.png"/>
          <p:cNvPicPr/>
          <p:nvPr/>
        </p:nvPicPr>
        <p:blipFill>
          <a:blip r:embed="rId2">
            <a:extLst>
              <a:ext uri="{28A0092B-C50C-407E-A947-70E740481C1C}">
                <a14:useLocalDpi xmlns:a14="http://schemas.microsoft.com/office/drawing/2010/main" val="0"/>
              </a:ext>
            </a:extLst>
          </a:blip>
          <a:srcRect/>
          <a:stretch>
            <a:fillRect/>
          </a:stretch>
        </p:blipFill>
        <p:spPr bwMode="auto">
          <a:xfrm>
            <a:off x="4304730" y="3645025"/>
            <a:ext cx="3438525" cy="2600325"/>
          </a:xfrm>
          <a:prstGeom prst="rect">
            <a:avLst/>
          </a:prstGeom>
          <a:noFill/>
          <a:ln>
            <a:noFill/>
          </a:ln>
        </p:spPr>
      </p:pic>
    </p:spTree>
    <p:extLst>
      <p:ext uri="{BB962C8B-B14F-4D97-AF65-F5344CB8AC3E}">
        <p14:creationId xmlns:p14="http://schemas.microsoft.com/office/powerpoint/2010/main" val="902167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321310">
              <a:lnSpc>
                <a:spcPts val="3890"/>
              </a:lnSpc>
            </a:pPr>
            <a:r>
              <a:rPr sz="3600" b="1" spc="-75" dirty="0">
                <a:solidFill>
                  <a:srgbClr val="FFFFFF"/>
                </a:solidFill>
                <a:latin typeface="Cambria"/>
                <a:cs typeface="Cambria"/>
              </a:rPr>
              <a:t>Algorithm</a:t>
            </a:r>
            <a:r>
              <a:rPr sz="3600" b="1" spc="-55" dirty="0">
                <a:solidFill>
                  <a:srgbClr val="FFFFFF"/>
                </a:solidFill>
                <a:latin typeface="Cambria"/>
                <a:cs typeface="Cambria"/>
              </a:rPr>
              <a:t> </a:t>
            </a:r>
            <a:r>
              <a:rPr sz="3600" b="1" spc="-25" dirty="0">
                <a:solidFill>
                  <a:srgbClr val="FFFFFF"/>
                </a:solidFill>
                <a:latin typeface="Cambria"/>
                <a:cs typeface="Cambria"/>
              </a:rPr>
              <a:t>for </a:t>
            </a:r>
            <a:r>
              <a:rPr sz="3600" b="1" spc="-10" dirty="0">
                <a:solidFill>
                  <a:srgbClr val="FFFFFF"/>
                </a:solidFill>
                <a:latin typeface="Cambria"/>
                <a:cs typeface="Cambria"/>
              </a:rPr>
              <a:t>Constructing </a:t>
            </a:r>
            <a:r>
              <a:rPr sz="3600" b="1" spc="-25" dirty="0">
                <a:solidFill>
                  <a:srgbClr val="FFFFFF"/>
                </a:solidFill>
                <a:latin typeface="Cambria"/>
                <a:cs typeface="Cambria"/>
              </a:rPr>
              <a:t>DAG</a:t>
            </a:r>
            <a:endParaRPr sz="3600">
              <a:latin typeface="Cambria"/>
              <a:cs typeface="Cambria"/>
            </a:endParaRPr>
          </a:p>
        </p:txBody>
      </p:sp>
      <p:sp>
        <p:nvSpPr>
          <p:cNvPr id="3" name="object 3"/>
          <p:cNvSpPr txBox="1"/>
          <p:nvPr/>
        </p:nvSpPr>
        <p:spPr>
          <a:xfrm>
            <a:off x="3530600" y="194208"/>
            <a:ext cx="8108315" cy="6303010"/>
          </a:xfrm>
          <a:prstGeom prst="rect">
            <a:avLst/>
          </a:prstGeom>
        </p:spPr>
        <p:txBody>
          <a:bodyPr vert="horz" wrap="square" lIns="0" tIns="12700" rIns="0" bIns="0" rtlCol="0">
            <a:spAutoFit/>
          </a:bodyPr>
          <a:lstStyle/>
          <a:p>
            <a:pPr marL="927100" marR="206375" indent="-915035">
              <a:lnSpc>
                <a:spcPct val="135500"/>
              </a:lnSpc>
              <a:spcBef>
                <a:spcPts val="10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50" dirty="0">
                <a:latin typeface="Cambria"/>
                <a:cs typeface="Cambria"/>
              </a:rPr>
              <a:t>We</a:t>
            </a:r>
            <a:r>
              <a:rPr sz="2200" spc="-75" dirty="0">
                <a:latin typeface="Cambria"/>
                <a:cs typeface="Cambria"/>
              </a:rPr>
              <a:t> </a:t>
            </a:r>
            <a:r>
              <a:rPr sz="2200" dirty="0">
                <a:latin typeface="Cambria"/>
                <a:cs typeface="Cambria"/>
              </a:rPr>
              <a:t>assume</a:t>
            </a:r>
            <a:r>
              <a:rPr sz="2200" spc="-85" dirty="0">
                <a:latin typeface="Cambria"/>
                <a:cs typeface="Cambria"/>
              </a:rPr>
              <a:t> </a:t>
            </a:r>
            <a:r>
              <a:rPr sz="2200" dirty="0">
                <a:latin typeface="Cambria"/>
                <a:cs typeface="Cambria"/>
              </a:rPr>
              <a:t>the</a:t>
            </a:r>
            <a:r>
              <a:rPr sz="2200" spc="-30" dirty="0">
                <a:latin typeface="Cambria"/>
                <a:cs typeface="Cambria"/>
              </a:rPr>
              <a:t> </a:t>
            </a:r>
            <a:r>
              <a:rPr sz="2200" dirty="0">
                <a:latin typeface="Cambria"/>
                <a:cs typeface="Cambria"/>
              </a:rPr>
              <a:t>three</a:t>
            </a:r>
            <a:r>
              <a:rPr sz="2200" spc="-30" dirty="0">
                <a:latin typeface="Cambria"/>
                <a:cs typeface="Cambria"/>
              </a:rPr>
              <a:t> </a:t>
            </a:r>
            <a:r>
              <a:rPr sz="2200" dirty="0">
                <a:latin typeface="Cambria"/>
                <a:cs typeface="Cambria"/>
              </a:rPr>
              <a:t>address</a:t>
            </a:r>
            <a:r>
              <a:rPr sz="2200" spc="-25" dirty="0">
                <a:latin typeface="Cambria"/>
                <a:cs typeface="Cambria"/>
              </a:rPr>
              <a:t> </a:t>
            </a:r>
            <a:r>
              <a:rPr sz="2200" spc="-10" dirty="0">
                <a:latin typeface="Cambria"/>
                <a:cs typeface="Cambria"/>
              </a:rPr>
              <a:t>statement</a:t>
            </a:r>
            <a:r>
              <a:rPr sz="2200" spc="-15" dirty="0">
                <a:latin typeface="Cambria"/>
                <a:cs typeface="Cambria"/>
              </a:rPr>
              <a:t> </a:t>
            </a:r>
            <a:r>
              <a:rPr sz="2200" dirty="0">
                <a:latin typeface="Cambria"/>
                <a:cs typeface="Cambria"/>
              </a:rPr>
              <a:t>could</a:t>
            </a:r>
            <a:r>
              <a:rPr sz="2200" spc="-40" dirty="0">
                <a:latin typeface="Cambria"/>
                <a:cs typeface="Cambria"/>
              </a:rPr>
              <a:t> </a:t>
            </a:r>
            <a:r>
              <a:rPr sz="2200" dirty="0">
                <a:latin typeface="Cambria"/>
                <a:cs typeface="Cambria"/>
              </a:rPr>
              <a:t>of</a:t>
            </a:r>
            <a:r>
              <a:rPr sz="2200" spc="-50" dirty="0">
                <a:latin typeface="Cambria"/>
                <a:cs typeface="Cambria"/>
              </a:rPr>
              <a:t> </a:t>
            </a:r>
            <a:r>
              <a:rPr sz="2200" spc="-10" dirty="0">
                <a:latin typeface="Cambria"/>
                <a:cs typeface="Cambria"/>
              </a:rPr>
              <a:t>following</a:t>
            </a:r>
            <a:r>
              <a:rPr sz="2200" spc="-50" dirty="0">
                <a:latin typeface="Cambria"/>
                <a:cs typeface="Cambria"/>
              </a:rPr>
              <a:t> </a:t>
            </a:r>
            <a:r>
              <a:rPr sz="2200" spc="-10" dirty="0">
                <a:latin typeface="Cambria"/>
                <a:cs typeface="Cambria"/>
              </a:rPr>
              <a:t>types, </a:t>
            </a:r>
            <a:r>
              <a:rPr sz="2200" dirty="0">
                <a:latin typeface="Cambria"/>
                <a:cs typeface="Cambria"/>
              </a:rPr>
              <a:t>Case</a:t>
            </a:r>
            <a:r>
              <a:rPr sz="2200" spc="-25" dirty="0">
                <a:latin typeface="Cambria"/>
                <a:cs typeface="Cambria"/>
              </a:rPr>
              <a:t> </a:t>
            </a:r>
            <a:r>
              <a:rPr sz="2200" dirty="0">
                <a:latin typeface="Cambria"/>
                <a:cs typeface="Cambria"/>
              </a:rPr>
              <a:t>(i)</a:t>
            </a:r>
            <a:r>
              <a:rPr sz="2200" spc="-30" dirty="0">
                <a:latin typeface="Cambria"/>
                <a:cs typeface="Cambria"/>
              </a:rPr>
              <a:t> </a:t>
            </a:r>
            <a:r>
              <a:rPr sz="2200" dirty="0">
                <a:latin typeface="Cambria"/>
                <a:cs typeface="Cambria"/>
              </a:rPr>
              <a:t>x:=y</a:t>
            </a:r>
            <a:r>
              <a:rPr sz="2200" spc="-25" dirty="0">
                <a:latin typeface="Cambria"/>
                <a:cs typeface="Cambria"/>
              </a:rPr>
              <a:t> </a:t>
            </a:r>
            <a:r>
              <a:rPr sz="2200" dirty="0">
                <a:latin typeface="Cambria"/>
                <a:cs typeface="Cambria"/>
              </a:rPr>
              <a:t>op</a:t>
            </a:r>
            <a:r>
              <a:rPr sz="2200" spc="-30" dirty="0">
                <a:latin typeface="Cambria"/>
                <a:cs typeface="Cambria"/>
              </a:rPr>
              <a:t> </a:t>
            </a:r>
            <a:r>
              <a:rPr sz="2200" spc="-50" dirty="0">
                <a:latin typeface="Cambria"/>
                <a:cs typeface="Cambria"/>
              </a:rPr>
              <a:t>z</a:t>
            </a:r>
            <a:endParaRPr sz="2200">
              <a:latin typeface="Cambria"/>
              <a:cs typeface="Cambria"/>
            </a:endParaRPr>
          </a:p>
          <a:p>
            <a:pPr marL="927100" marR="5324475">
              <a:lnSpc>
                <a:spcPts val="3579"/>
              </a:lnSpc>
              <a:spcBef>
                <a:spcPts val="270"/>
              </a:spcBef>
            </a:pPr>
            <a:r>
              <a:rPr sz="2200" dirty="0">
                <a:latin typeface="Cambria"/>
                <a:cs typeface="Cambria"/>
              </a:rPr>
              <a:t>Case</a:t>
            </a:r>
            <a:r>
              <a:rPr sz="2200" spc="-35" dirty="0">
                <a:latin typeface="Cambria"/>
                <a:cs typeface="Cambria"/>
              </a:rPr>
              <a:t> </a:t>
            </a:r>
            <a:r>
              <a:rPr sz="2200" dirty="0">
                <a:latin typeface="Cambria"/>
                <a:cs typeface="Cambria"/>
              </a:rPr>
              <a:t>(ii)x:=op</a:t>
            </a:r>
            <a:r>
              <a:rPr sz="2200" spc="-40" dirty="0">
                <a:latin typeface="Cambria"/>
                <a:cs typeface="Cambria"/>
              </a:rPr>
              <a:t> </a:t>
            </a:r>
            <a:r>
              <a:rPr sz="2200" spc="-50" dirty="0">
                <a:latin typeface="Cambria"/>
                <a:cs typeface="Cambria"/>
              </a:rPr>
              <a:t>y </a:t>
            </a:r>
            <a:r>
              <a:rPr sz="2200" dirty="0">
                <a:latin typeface="Cambria"/>
                <a:cs typeface="Cambria"/>
              </a:rPr>
              <a:t>Case</a:t>
            </a:r>
            <a:r>
              <a:rPr sz="2200" spc="-30" dirty="0">
                <a:latin typeface="Cambria"/>
                <a:cs typeface="Cambria"/>
              </a:rPr>
              <a:t> </a:t>
            </a:r>
            <a:r>
              <a:rPr sz="2200" dirty="0">
                <a:latin typeface="Cambria"/>
                <a:cs typeface="Cambria"/>
              </a:rPr>
              <a:t>(iii)</a:t>
            </a:r>
            <a:r>
              <a:rPr sz="2200" spc="-40" dirty="0">
                <a:latin typeface="Cambria"/>
                <a:cs typeface="Cambria"/>
              </a:rPr>
              <a:t> </a:t>
            </a:r>
            <a:r>
              <a:rPr sz="2200" spc="-20" dirty="0">
                <a:latin typeface="Cambria"/>
                <a:cs typeface="Cambria"/>
              </a:rPr>
              <a:t>x:=y</a:t>
            </a:r>
            <a:endParaRPr sz="2200">
              <a:latin typeface="Cambria"/>
              <a:cs typeface="Cambria"/>
            </a:endParaRPr>
          </a:p>
          <a:p>
            <a:pPr marL="12700">
              <a:lnSpc>
                <a:spcPct val="100000"/>
              </a:lnSpc>
              <a:spcBef>
                <a:spcPts val="66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With</a:t>
            </a:r>
            <a:r>
              <a:rPr sz="2200" spc="-90" dirty="0">
                <a:latin typeface="Cambria"/>
                <a:cs typeface="Cambria"/>
              </a:rPr>
              <a:t> </a:t>
            </a:r>
            <a:r>
              <a:rPr sz="2200" dirty="0">
                <a:latin typeface="Cambria"/>
                <a:cs typeface="Cambria"/>
              </a:rPr>
              <a:t>the</a:t>
            </a:r>
            <a:r>
              <a:rPr sz="2200" spc="-25" dirty="0">
                <a:latin typeface="Cambria"/>
                <a:cs typeface="Cambria"/>
              </a:rPr>
              <a:t> </a:t>
            </a:r>
            <a:r>
              <a:rPr sz="2200" dirty="0">
                <a:latin typeface="Cambria"/>
                <a:cs typeface="Cambria"/>
              </a:rPr>
              <a:t>help</a:t>
            </a:r>
            <a:r>
              <a:rPr sz="2200" spc="-35" dirty="0">
                <a:latin typeface="Cambria"/>
                <a:cs typeface="Cambria"/>
              </a:rPr>
              <a:t> </a:t>
            </a:r>
            <a:r>
              <a:rPr sz="2200" dirty="0">
                <a:latin typeface="Cambria"/>
                <a:cs typeface="Cambria"/>
              </a:rPr>
              <a:t>of</a:t>
            </a:r>
            <a:r>
              <a:rPr sz="2200" spc="-45" dirty="0">
                <a:latin typeface="Cambria"/>
                <a:cs typeface="Cambria"/>
              </a:rPr>
              <a:t> </a:t>
            </a:r>
            <a:r>
              <a:rPr sz="2200" spc="-10" dirty="0">
                <a:latin typeface="Cambria"/>
                <a:cs typeface="Cambria"/>
              </a:rPr>
              <a:t>following</a:t>
            </a:r>
            <a:r>
              <a:rPr sz="2200" spc="-35" dirty="0">
                <a:latin typeface="Cambria"/>
                <a:cs typeface="Cambria"/>
              </a:rPr>
              <a:t> </a:t>
            </a:r>
            <a:r>
              <a:rPr sz="2200" dirty="0">
                <a:latin typeface="Cambria"/>
                <a:cs typeface="Cambria"/>
              </a:rPr>
              <a:t>steps</a:t>
            </a:r>
            <a:r>
              <a:rPr sz="2200" spc="-20" dirty="0">
                <a:latin typeface="Cambria"/>
                <a:cs typeface="Cambria"/>
              </a:rPr>
              <a:t> </a:t>
            </a:r>
            <a:r>
              <a:rPr sz="2200" dirty="0">
                <a:latin typeface="Cambria"/>
                <a:cs typeface="Cambria"/>
              </a:rPr>
              <a:t>the</a:t>
            </a:r>
            <a:r>
              <a:rPr sz="2200" spc="-30" dirty="0">
                <a:latin typeface="Cambria"/>
                <a:cs typeface="Cambria"/>
              </a:rPr>
              <a:t> </a:t>
            </a:r>
            <a:r>
              <a:rPr sz="2200" spc="-10" dirty="0">
                <a:latin typeface="Cambria"/>
                <a:cs typeface="Cambria"/>
              </a:rPr>
              <a:t>DAG</a:t>
            </a:r>
            <a:r>
              <a:rPr sz="2200" spc="-30" dirty="0">
                <a:latin typeface="Cambria"/>
                <a:cs typeface="Cambria"/>
              </a:rPr>
              <a:t> </a:t>
            </a:r>
            <a:r>
              <a:rPr sz="2200" dirty="0">
                <a:latin typeface="Cambria"/>
                <a:cs typeface="Cambria"/>
              </a:rPr>
              <a:t>can</a:t>
            </a:r>
            <a:r>
              <a:rPr sz="2200" spc="-30" dirty="0">
                <a:latin typeface="Cambria"/>
                <a:cs typeface="Cambria"/>
              </a:rPr>
              <a:t> </a:t>
            </a:r>
            <a:r>
              <a:rPr sz="2200" dirty="0">
                <a:latin typeface="Cambria"/>
                <a:cs typeface="Cambria"/>
              </a:rPr>
              <a:t>be</a:t>
            </a:r>
            <a:r>
              <a:rPr sz="2200" spc="-40" dirty="0">
                <a:latin typeface="Cambria"/>
                <a:cs typeface="Cambria"/>
              </a:rPr>
              <a:t> </a:t>
            </a:r>
            <a:r>
              <a:rPr sz="2200" spc="-10" dirty="0">
                <a:latin typeface="Cambria"/>
                <a:cs typeface="Cambria"/>
              </a:rPr>
              <a:t>constructed.</a:t>
            </a:r>
            <a:endParaRPr sz="2200">
              <a:latin typeface="Cambria"/>
              <a:cs typeface="Cambria"/>
            </a:endParaRPr>
          </a:p>
          <a:p>
            <a:pPr marL="195580" marR="805180" indent="-183515">
              <a:lnSpc>
                <a:spcPts val="2380"/>
              </a:lnSpc>
              <a:spcBef>
                <a:spcPts val="123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b="1" dirty="0">
                <a:latin typeface="Cambria"/>
                <a:cs typeface="Cambria"/>
              </a:rPr>
              <a:t>Step</a:t>
            </a:r>
            <a:r>
              <a:rPr sz="2200" b="1" spc="-110" dirty="0">
                <a:latin typeface="Cambria"/>
                <a:cs typeface="Cambria"/>
              </a:rPr>
              <a:t> </a:t>
            </a:r>
            <a:r>
              <a:rPr sz="2200" b="1" dirty="0">
                <a:latin typeface="Cambria"/>
                <a:cs typeface="Cambria"/>
              </a:rPr>
              <a:t>1:</a:t>
            </a:r>
            <a:r>
              <a:rPr sz="2200" b="1" spc="-45" dirty="0">
                <a:latin typeface="Cambria"/>
                <a:cs typeface="Cambria"/>
              </a:rPr>
              <a:t> </a:t>
            </a:r>
            <a:r>
              <a:rPr sz="2200" dirty="0">
                <a:latin typeface="Cambria"/>
                <a:cs typeface="Cambria"/>
              </a:rPr>
              <a:t>If</a:t>
            </a:r>
            <a:r>
              <a:rPr sz="2200" spc="-45" dirty="0">
                <a:latin typeface="Cambria"/>
                <a:cs typeface="Cambria"/>
              </a:rPr>
              <a:t> </a:t>
            </a:r>
            <a:r>
              <a:rPr sz="2200" dirty="0">
                <a:latin typeface="Cambria"/>
                <a:cs typeface="Cambria"/>
              </a:rPr>
              <a:t>y</a:t>
            </a:r>
            <a:r>
              <a:rPr sz="2200" spc="-45" dirty="0">
                <a:latin typeface="Cambria"/>
                <a:cs typeface="Cambria"/>
              </a:rPr>
              <a:t> </a:t>
            </a:r>
            <a:r>
              <a:rPr sz="2200" dirty="0">
                <a:latin typeface="Cambria"/>
                <a:cs typeface="Cambria"/>
              </a:rPr>
              <a:t>is</a:t>
            </a:r>
            <a:r>
              <a:rPr sz="2200" spc="-30" dirty="0">
                <a:latin typeface="Cambria"/>
                <a:cs typeface="Cambria"/>
              </a:rPr>
              <a:t> </a:t>
            </a:r>
            <a:r>
              <a:rPr sz="2200" dirty="0">
                <a:latin typeface="Cambria"/>
                <a:cs typeface="Cambria"/>
              </a:rPr>
              <a:t>undefined</a:t>
            </a:r>
            <a:r>
              <a:rPr sz="2200" spc="-15" dirty="0">
                <a:latin typeface="Cambria"/>
                <a:cs typeface="Cambria"/>
              </a:rPr>
              <a:t> </a:t>
            </a:r>
            <a:r>
              <a:rPr sz="2200" dirty="0">
                <a:latin typeface="Cambria"/>
                <a:cs typeface="Cambria"/>
              </a:rPr>
              <a:t>then</a:t>
            </a:r>
            <a:r>
              <a:rPr sz="2200" spc="-45" dirty="0">
                <a:latin typeface="Cambria"/>
                <a:cs typeface="Cambria"/>
              </a:rPr>
              <a:t> </a:t>
            </a:r>
            <a:r>
              <a:rPr sz="2200" dirty="0">
                <a:latin typeface="Cambria"/>
                <a:cs typeface="Cambria"/>
              </a:rPr>
              <a:t>create</a:t>
            </a:r>
            <a:r>
              <a:rPr sz="2200" spc="-10" dirty="0">
                <a:latin typeface="Cambria"/>
                <a:cs typeface="Cambria"/>
              </a:rPr>
              <a:t> </a:t>
            </a:r>
            <a:r>
              <a:rPr sz="2200" dirty="0">
                <a:latin typeface="Cambria"/>
                <a:cs typeface="Cambria"/>
              </a:rPr>
              <a:t>node(y).</a:t>
            </a:r>
            <a:r>
              <a:rPr sz="2200" spc="-35" dirty="0">
                <a:latin typeface="Cambria"/>
                <a:cs typeface="Cambria"/>
              </a:rPr>
              <a:t> </a:t>
            </a:r>
            <a:r>
              <a:rPr sz="2200" spc="-10" dirty="0">
                <a:latin typeface="Cambria"/>
                <a:cs typeface="Cambria"/>
              </a:rPr>
              <a:t>Similarly</a:t>
            </a:r>
            <a:r>
              <a:rPr sz="2200" spc="-20" dirty="0">
                <a:latin typeface="Cambria"/>
                <a:cs typeface="Cambria"/>
              </a:rPr>
              <a:t> </a:t>
            </a:r>
            <a:r>
              <a:rPr sz="2200" dirty="0">
                <a:latin typeface="Cambria"/>
                <a:cs typeface="Cambria"/>
              </a:rPr>
              <a:t>if</a:t>
            </a:r>
            <a:r>
              <a:rPr sz="2200" spc="-50" dirty="0">
                <a:latin typeface="Cambria"/>
                <a:cs typeface="Cambria"/>
              </a:rPr>
              <a:t> </a:t>
            </a:r>
            <a:r>
              <a:rPr sz="2200" dirty="0">
                <a:latin typeface="Cambria"/>
                <a:cs typeface="Cambria"/>
              </a:rPr>
              <a:t>z</a:t>
            </a:r>
            <a:r>
              <a:rPr sz="2200" spc="-45" dirty="0">
                <a:latin typeface="Cambria"/>
                <a:cs typeface="Cambria"/>
              </a:rPr>
              <a:t> </a:t>
            </a:r>
            <a:r>
              <a:rPr sz="2200" spc="-25" dirty="0">
                <a:latin typeface="Cambria"/>
                <a:cs typeface="Cambria"/>
              </a:rPr>
              <a:t>is </a:t>
            </a:r>
            <a:r>
              <a:rPr sz="2200" dirty="0">
                <a:latin typeface="Cambria"/>
                <a:cs typeface="Cambria"/>
              </a:rPr>
              <a:t>undefined</a:t>
            </a:r>
            <a:r>
              <a:rPr sz="2200" spc="-65" dirty="0">
                <a:latin typeface="Cambria"/>
                <a:cs typeface="Cambria"/>
              </a:rPr>
              <a:t> </a:t>
            </a:r>
            <a:r>
              <a:rPr sz="2200" dirty="0">
                <a:latin typeface="Cambria"/>
                <a:cs typeface="Cambria"/>
              </a:rPr>
              <a:t>create</a:t>
            </a:r>
            <a:r>
              <a:rPr sz="2200" spc="-45" dirty="0">
                <a:latin typeface="Cambria"/>
                <a:cs typeface="Cambria"/>
              </a:rPr>
              <a:t> </a:t>
            </a:r>
            <a:r>
              <a:rPr sz="2200" dirty="0">
                <a:latin typeface="Cambria"/>
                <a:cs typeface="Cambria"/>
              </a:rPr>
              <a:t>a</a:t>
            </a:r>
            <a:r>
              <a:rPr sz="2200" spc="-70" dirty="0">
                <a:latin typeface="Cambria"/>
                <a:cs typeface="Cambria"/>
              </a:rPr>
              <a:t> </a:t>
            </a:r>
            <a:r>
              <a:rPr sz="2200" spc="-10" dirty="0">
                <a:latin typeface="Cambria"/>
                <a:cs typeface="Cambria"/>
              </a:rPr>
              <a:t>node(z)</a:t>
            </a:r>
            <a:endParaRPr sz="2200">
              <a:latin typeface="Cambria"/>
              <a:cs typeface="Cambria"/>
            </a:endParaRPr>
          </a:p>
          <a:p>
            <a:pPr marL="12700">
              <a:lnSpc>
                <a:spcPct val="100000"/>
              </a:lnSpc>
              <a:spcBef>
                <a:spcPts val="90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b="1" dirty="0">
                <a:latin typeface="Cambria"/>
                <a:cs typeface="Cambria"/>
              </a:rPr>
              <a:t>Step</a:t>
            </a:r>
            <a:r>
              <a:rPr sz="2200" b="1" spc="-50" dirty="0">
                <a:latin typeface="Cambria"/>
                <a:cs typeface="Cambria"/>
              </a:rPr>
              <a:t> </a:t>
            </a:r>
            <a:r>
              <a:rPr sz="2200" b="1" spc="-25" dirty="0">
                <a:latin typeface="Cambria"/>
                <a:cs typeface="Cambria"/>
              </a:rPr>
              <a:t>2:</a:t>
            </a:r>
            <a:endParaRPr sz="2200">
              <a:latin typeface="Cambria"/>
              <a:cs typeface="Cambria"/>
            </a:endParaRPr>
          </a:p>
          <a:p>
            <a:pPr marL="698500" marR="5080" indent="-182880">
              <a:lnSpc>
                <a:spcPct val="90100"/>
              </a:lnSpc>
              <a:spcBef>
                <a:spcPts val="2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Case(i)</a:t>
            </a:r>
            <a:r>
              <a:rPr sz="2200" spc="-110" dirty="0">
                <a:latin typeface="Cambria"/>
                <a:cs typeface="Cambria"/>
              </a:rPr>
              <a:t> </a:t>
            </a:r>
            <a:r>
              <a:rPr sz="2200" dirty="0">
                <a:latin typeface="Cambria"/>
                <a:cs typeface="Cambria"/>
              </a:rPr>
              <a:t>create</a:t>
            </a:r>
            <a:r>
              <a:rPr sz="2200" spc="-20" dirty="0">
                <a:latin typeface="Cambria"/>
                <a:cs typeface="Cambria"/>
              </a:rPr>
              <a:t> </a:t>
            </a:r>
            <a:r>
              <a:rPr sz="2200" dirty="0">
                <a:latin typeface="Cambria"/>
                <a:cs typeface="Cambria"/>
              </a:rPr>
              <a:t>a</a:t>
            </a:r>
            <a:r>
              <a:rPr sz="2200" spc="-55" dirty="0">
                <a:latin typeface="Cambria"/>
                <a:cs typeface="Cambria"/>
              </a:rPr>
              <a:t> </a:t>
            </a:r>
            <a:r>
              <a:rPr sz="2200" dirty="0">
                <a:latin typeface="Cambria"/>
                <a:cs typeface="Cambria"/>
              </a:rPr>
              <a:t>node(op)</a:t>
            </a:r>
            <a:r>
              <a:rPr sz="2200" spc="-50" dirty="0">
                <a:latin typeface="Cambria"/>
                <a:cs typeface="Cambria"/>
              </a:rPr>
              <a:t> </a:t>
            </a:r>
            <a:r>
              <a:rPr sz="2200" dirty="0">
                <a:latin typeface="Cambria"/>
                <a:cs typeface="Cambria"/>
              </a:rPr>
              <a:t>whose</a:t>
            </a:r>
            <a:r>
              <a:rPr sz="2200" spc="-50" dirty="0">
                <a:latin typeface="Cambria"/>
                <a:cs typeface="Cambria"/>
              </a:rPr>
              <a:t> </a:t>
            </a:r>
            <a:r>
              <a:rPr sz="2200" dirty="0">
                <a:latin typeface="Cambria"/>
                <a:cs typeface="Cambria"/>
              </a:rPr>
              <a:t>left</a:t>
            </a:r>
            <a:r>
              <a:rPr sz="2200" spc="-45" dirty="0">
                <a:latin typeface="Cambria"/>
                <a:cs typeface="Cambria"/>
              </a:rPr>
              <a:t> </a:t>
            </a:r>
            <a:r>
              <a:rPr sz="2200" dirty="0">
                <a:latin typeface="Cambria"/>
                <a:cs typeface="Cambria"/>
              </a:rPr>
              <a:t>child</a:t>
            </a:r>
            <a:r>
              <a:rPr sz="2200" spc="-45"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node(y)</a:t>
            </a:r>
            <a:r>
              <a:rPr sz="2200" spc="-60" dirty="0">
                <a:latin typeface="Cambria"/>
                <a:cs typeface="Cambria"/>
              </a:rPr>
              <a:t> </a:t>
            </a:r>
            <a:r>
              <a:rPr sz="2200" spc="-25" dirty="0">
                <a:latin typeface="Cambria"/>
                <a:cs typeface="Cambria"/>
              </a:rPr>
              <a:t>and </a:t>
            </a:r>
            <a:r>
              <a:rPr sz="2200" dirty="0">
                <a:latin typeface="Cambria"/>
                <a:cs typeface="Cambria"/>
              </a:rPr>
              <a:t>node(z)</a:t>
            </a:r>
            <a:r>
              <a:rPr sz="2200" spc="-50" dirty="0">
                <a:latin typeface="Cambria"/>
                <a:cs typeface="Cambria"/>
              </a:rPr>
              <a:t> </a:t>
            </a:r>
            <a:r>
              <a:rPr sz="2200" dirty="0">
                <a:latin typeface="Cambria"/>
                <a:cs typeface="Cambria"/>
              </a:rPr>
              <a:t>will</a:t>
            </a:r>
            <a:r>
              <a:rPr sz="2200" spc="-45" dirty="0">
                <a:latin typeface="Cambria"/>
                <a:cs typeface="Cambria"/>
              </a:rPr>
              <a:t> </a:t>
            </a:r>
            <a:r>
              <a:rPr sz="2200" dirty="0">
                <a:latin typeface="Cambria"/>
                <a:cs typeface="Cambria"/>
              </a:rPr>
              <a:t>be</a:t>
            </a:r>
            <a:r>
              <a:rPr sz="2200" spc="-40" dirty="0">
                <a:latin typeface="Cambria"/>
                <a:cs typeface="Cambria"/>
              </a:rPr>
              <a:t> </a:t>
            </a:r>
            <a:r>
              <a:rPr sz="2200" dirty="0">
                <a:latin typeface="Cambria"/>
                <a:cs typeface="Cambria"/>
              </a:rPr>
              <a:t>the</a:t>
            </a:r>
            <a:r>
              <a:rPr sz="2200" spc="-50" dirty="0">
                <a:latin typeface="Cambria"/>
                <a:cs typeface="Cambria"/>
              </a:rPr>
              <a:t> </a:t>
            </a:r>
            <a:r>
              <a:rPr sz="2200" dirty="0">
                <a:latin typeface="Cambria"/>
                <a:cs typeface="Cambria"/>
              </a:rPr>
              <a:t>right</a:t>
            </a:r>
            <a:r>
              <a:rPr sz="2200" spc="-30" dirty="0">
                <a:latin typeface="Cambria"/>
                <a:cs typeface="Cambria"/>
              </a:rPr>
              <a:t> </a:t>
            </a:r>
            <a:r>
              <a:rPr sz="2200" dirty="0">
                <a:latin typeface="Cambria"/>
                <a:cs typeface="Cambria"/>
              </a:rPr>
              <a:t>child.</a:t>
            </a:r>
            <a:r>
              <a:rPr sz="2200" spc="-35" dirty="0">
                <a:latin typeface="Cambria"/>
                <a:cs typeface="Cambria"/>
              </a:rPr>
              <a:t> </a:t>
            </a:r>
            <a:r>
              <a:rPr sz="2200" dirty="0">
                <a:latin typeface="Cambria"/>
                <a:cs typeface="Cambria"/>
              </a:rPr>
              <a:t>Also</a:t>
            </a:r>
            <a:r>
              <a:rPr sz="2200" spc="-40" dirty="0">
                <a:latin typeface="Cambria"/>
                <a:cs typeface="Cambria"/>
              </a:rPr>
              <a:t> </a:t>
            </a:r>
            <a:r>
              <a:rPr sz="2200" dirty="0">
                <a:latin typeface="Cambria"/>
                <a:cs typeface="Cambria"/>
              </a:rPr>
              <a:t>check</a:t>
            </a:r>
            <a:r>
              <a:rPr sz="2200" spc="-45" dirty="0">
                <a:latin typeface="Cambria"/>
                <a:cs typeface="Cambria"/>
              </a:rPr>
              <a:t> </a:t>
            </a:r>
            <a:r>
              <a:rPr sz="2200" dirty="0">
                <a:latin typeface="Cambria"/>
                <a:cs typeface="Cambria"/>
              </a:rPr>
              <a:t>for</a:t>
            </a:r>
            <a:r>
              <a:rPr sz="2200" spc="-45" dirty="0">
                <a:latin typeface="Cambria"/>
                <a:cs typeface="Cambria"/>
              </a:rPr>
              <a:t> </a:t>
            </a:r>
            <a:r>
              <a:rPr sz="2200" dirty="0">
                <a:latin typeface="Cambria"/>
                <a:cs typeface="Cambria"/>
              </a:rPr>
              <a:t>any</a:t>
            </a:r>
            <a:r>
              <a:rPr sz="2200" spc="-35" dirty="0">
                <a:latin typeface="Cambria"/>
                <a:cs typeface="Cambria"/>
              </a:rPr>
              <a:t> </a:t>
            </a:r>
            <a:r>
              <a:rPr sz="2200" dirty="0">
                <a:latin typeface="Cambria"/>
                <a:cs typeface="Cambria"/>
              </a:rPr>
              <a:t>common</a:t>
            </a:r>
            <a:r>
              <a:rPr sz="2200" spc="-50" dirty="0">
                <a:latin typeface="Cambria"/>
                <a:cs typeface="Cambria"/>
              </a:rPr>
              <a:t> </a:t>
            </a:r>
            <a:r>
              <a:rPr sz="2200" spc="-25" dirty="0">
                <a:latin typeface="Cambria"/>
                <a:cs typeface="Cambria"/>
              </a:rPr>
              <a:t>sub </a:t>
            </a:r>
            <a:r>
              <a:rPr sz="2200" spc="-10" dirty="0">
                <a:latin typeface="Cambria"/>
                <a:cs typeface="Cambria"/>
              </a:rPr>
              <a:t>expressions.</a:t>
            </a:r>
            <a:endParaRPr sz="2200">
              <a:latin typeface="Cambria"/>
              <a:cs typeface="Cambria"/>
            </a:endParaRPr>
          </a:p>
          <a:p>
            <a:pPr marL="698500" marR="373380" indent="-182880">
              <a:lnSpc>
                <a:spcPts val="2380"/>
              </a:lnSpc>
              <a:spcBef>
                <a:spcPts val="6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Case(ii)</a:t>
            </a:r>
            <a:r>
              <a:rPr sz="2200" spc="-105" dirty="0">
                <a:latin typeface="Cambria"/>
                <a:cs typeface="Cambria"/>
              </a:rPr>
              <a:t> </a:t>
            </a:r>
            <a:r>
              <a:rPr sz="2200" dirty="0">
                <a:latin typeface="Cambria"/>
                <a:cs typeface="Cambria"/>
              </a:rPr>
              <a:t>determine</a:t>
            </a:r>
            <a:r>
              <a:rPr sz="2200" spc="-30" dirty="0">
                <a:latin typeface="Cambria"/>
                <a:cs typeface="Cambria"/>
              </a:rPr>
              <a:t> </a:t>
            </a:r>
            <a:r>
              <a:rPr sz="2200" dirty="0">
                <a:latin typeface="Cambria"/>
                <a:cs typeface="Cambria"/>
              </a:rPr>
              <a:t>whether</a:t>
            </a:r>
            <a:r>
              <a:rPr sz="2200" spc="-25" dirty="0">
                <a:latin typeface="Cambria"/>
                <a:cs typeface="Cambria"/>
              </a:rPr>
              <a:t> </a:t>
            </a:r>
            <a:r>
              <a:rPr sz="2200" dirty="0">
                <a:latin typeface="Cambria"/>
                <a:cs typeface="Cambria"/>
              </a:rPr>
              <a:t>is</a:t>
            </a:r>
            <a:r>
              <a:rPr sz="2200" spc="-55" dirty="0">
                <a:latin typeface="Cambria"/>
                <a:cs typeface="Cambria"/>
              </a:rPr>
              <a:t> </a:t>
            </a:r>
            <a:r>
              <a:rPr sz="2200" dirty="0">
                <a:latin typeface="Cambria"/>
                <a:cs typeface="Cambria"/>
              </a:rPr>
              <a:t>a</a:t>
            </a:r>
            <a:r>
              <a:rPr sz="2200" spc="-35" dirty="0">
                <a:latin typeface="Cambria"/>
                <a:cs typeface="Cambria"/>
              </a:rPr>
              <a:t> </a:t>
            </a:r>
            <a:r>
              <a:rPr sz="2200" dirty="0">
                <a:latin typeface="Cambria"/>
                <a:cs typeface="Cambria"/>
              </a:rPr>
              <a:t>node</a:t>
            </a:r>
            <a:r>
              <a:rPr sz="2200" spc="-45" dirty="0">
                <a:latin typeface="Cambria"/>
                <a:cs typeface="Cambria"/>
              </a:rPr>
              <a:t> </a:t>
            </a:r>
            <a:r>
              <a:rPr sz="2200" dirty="0">
                <a:latin typeface="Cambria"/>
                <a:cs typeface="Cambria"/>
              </a:rPr>
              <a:t>labeled</a:t>
            </a:r>
            <a:r>
              <a:rPr sz="2200" spc="-35" dirty="0">
                <a:latin typeface="Cambria"/>
                <a:cs typeface="Cambria"/>
              </a:rPr>
              <a:t> </a:t>
            </a:r>
            <a:r>
              <a:rPr sz="2200" dirty="0">
                <a:latin typeface="Cambria"/>
                <a:cs typeface="Cambria"/>
              </a:rPr>
              <a:t>op,</a:t>
            </a:r>
            <a:r>
              <a:rPr sz="2200" spc="-45" dirty="0">
                <a:latin typeface="Cambria"/>
                <a:cs typeface="Cambria"/>
              </a:rPr>
              <a:t> </a:t>
            </a:r>
            <a:r>
              <a:rPr sz="2200" dirty="0">
                <a:latin typeface="Cambria"/>
                <a:cs typeface="Cambria"/>
              </a:rPr>
              <a:t>such</a:t>
            </a:r>
            <a:r>
              <a:rPr sz="2200" spc="-35" dirty="0">
                <a:latin typeface="Cambria"/>
                <a:cs typeface="Cambria"/>
              </a:rPr>
              <a:t> </a:t>
            </a:r>
            <a:r>
              <a:rPr sz="2200" spc="-20" dirty="0">
                <a:latin typeface="Cambria"/>
                <a:cs typeface="Cambria"/>
              </a:rPr>
              <a:t>node </a:t>
            </a:r>
            <a:r>
              <a:rPr sz="2200" dirty="0">
                <a:latin typeface="Cambria"/>
                <a:cs typeface="Cambria"/>
              </a:rPr>
              <a:t>will</a:t>
            </a:r>
            <a:r>
              <a:rPr sz="2200" spc="-60" dirty="0">
                <a:latin typeface="Cambria"/>
                <a:cs typeface="Cambria"/>
              </a:rPr>
              <a:t> </a:t>
            </a:r>
            <a:r>
              <a:rPr sz="2200" spc="-10" dirty="0">
                <a:latin typeface="Cambria"/>
                <a:cs typeface="Cambria"/>
              </a:rPr>
              <a:t>have</a:t>
            </a:r>
            <a:r>
              <a:rPr sz="2200" spc="-20" dirty="0">
                <a:latin typeface="Cambria"/>
                <a:cs typeface="Cambria"/>
              </a:rPr>
              <a:t> </a:t>
            </a:r>
            <a:r>
              <a:rPr sz="2200" dirty="0">
                <a:latin typeface="Cambria"/>
                <a:cs typeface="Cambria"/>
              </a:rPr>
              <a:t>a</a:t>
            </a:r>
            <a:r>
              <a:rPr sz="2200" spc="-55" dirty="0">
                <a:latin typeface="Cambria"/>
                <a:cs typeface="Cambria"/>
              </a:rPr>
              <a:t> </a:t>
            </a:r>
            <a:r>
              <a:rPr sz="2200" dirty="0">
                <a:latin typeface="Cambria"/>
                <a:cs typeface="Cambria"/>
              </a:rPr>
              <a:t>child</a:t>
            </a:r>
            <a:r>
              <a:rPr sz="2200" spc="-45" dirty="0">
                <a:latin typeface="Cambria"/>
                <a:cs typeface="Cambria"/>
              </a:rPr>
              <a:t> </a:t>
            </a:r>
            <a:r>
              <a:rPr sz="2200" spc="-10" dirty="0">
                <a:latin typeface="Cambria"/>
                <a:cs typeface="Cambria"/>
              </a:rPr>
              <a:t>node(y).</a:t>
            </a:r>
            <a:endParaRPr sz="2200">
              <a:latin typeface="Cambria"/>
              <a:cs typeface="Cambria"/>
            </a:endParaRPr>
          </a:p>
          <a:p>
            <a:pPr marL="515620">
              <a:lnSpc>
                <a:spcPct val="100000"/>
              </a:lnSpc>
              <a:spcBef>
                <a:spcPts val="295"/>
              </a:spcBef>
            </a:pPr>
            <a:r>
              <a:rPr sz="2200" spc="-1145" dirty="0">
                <a:solidFill>
                  <a:srgbClr val="40B9D2"/>
                </a:solidFill>
                <a:latin typeface="Arial MT"/>
                <a:cs typeface="Arial MT"/>
              </a:rPr>
              <a:t>🞄</a:t>
            </a:r>
            <a:r>
              <a:rPr sz="2200" spc="30" dirty="0">
                <a:solidFill>
                  <a:srgbClr val="40B9D2"/>
                </a:solidFill>
                <a:latin typeface="Arial MT"/>
                <a:cs typeface="Arial MT"/>
              </a:rPr>
              <a:t> </a:t>
            </a:r>
            <a:r>
              <a:rPr sz="2200" dirty="0">
                <a:latin typeface="Cambria"/>
                <a:cs typeface="Cambria"/>
              </a:rPr>
              <a:t>Case(iii)</a:t>
            </a:r>
            <a:r>
              <a:rPr sz="2200" spc="-40" dirty="0">
                <a:latin typeface="Cambria"/>
                <a:cs typeface="Cambria"/>
              </a:rPr>
              <a:t> </a:t>
            </a:r>
            <a:r>
              <a:rPr sz="2200" dirty="0">
                <a:latin typeface="Cambria"/>
                <a:cs typeface="Cambria"/>
              </a:rPr>
              <a:t>node</a:t>
            </a:r>
            <a:r>
              <a:rPr sz="2200" spc="-30" dirty="0">
                <a:latin typeface="Cambria"/>
                <a:cs typeface="Cambria"/>
              </a:rPr>
              <a:t> </a:t>
            </a:r>
            <a:r>
              <a:rPr sz="2200" dirty="0">
                <a:latin typeface="Cambria"/>
                <a:cs typeface="Cambria"/>
              </a:rPr>
              <a:t>n</a:t>
            </a:r>
            <a:r>
              <a:rPr sz="2200" spc="-30" dirty="0">
                <a:latin typeface="Cambria"/>
                <a:cs typeface="Cambria"/>
              </a:rPr>
              <a:t> </a:t>
            </a:r>
            <a:r>
              <a:rPr sz="2200" dirty="0">
                <a:latin typeface="Cambria"/>
                <a:cs typeface="Cambria"/>
              </a:rPr>
              <a:t>win</a:t>
            </a:r>
            <a:r>
              <a:rPr sz="2200" spc="-30" dirty="0">
                <a:latin typeface="Cambria"/>
                <a:cs typeface="Cambria"/>
              </a:rPr>
              <a:t> </a:t>
            </a:r>
            <a:r>
              <a:rPr sz="2200" dirty="0">
                <a:latin typeface="Cambria"/>
                <a:cs typeface="Cambria"/>
              </a:rPr>
              <a:t>be</a:t>
            </a:r>
            <a:r>
              <a:rPr sz="2200" spc="-30" dirty="0">
                <a:latin typeface="Cambria"/>
                <a:cs typeface="Cambria"/>
              </a:rPr>
              <a:t> </a:t>
            </a:r>
            <a:r>
              <a:rPr sz="2200" spc="-10" dirty="0">
                <a:latin typeface="Cambria"/>
                <a:cs typeface="Cambria"/>
              </a:rPr>
              <a:t>node(y).</a:t>
            </a:r>
            <a:endParaRPr sz="2200">
              <a:latin typeface="Cambria"/>
              <a:cs typeface="Cambria"/>
            </a:endParaRPr>
          </a:p>
          <a:p>
            <a:pPr marL="195580" marR="406400" indent="-183515">
              <a:lnSpc>
                <a:spcPts val="2380"/>
              </a:lnSpc>
              <a:spcBef>
                <a:spcPts val="15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b="1" dirty="0">
                <a:latin typeface="Cambria"/>
                <a:cs typeface="Cambria"/>
              </a:rPr>
              <a:t>Step</a:t>
            </a:r>
            <a:r>
              <a:rPr sz="2200" b="1" spc="-120" dirty="0">
                <a:latin typeface="Cambria"/>
                <a:cs typeface="Cambria"/>
              </a:rPr>
              <a:t> </a:t>
            </a:r>
            <a:r>
              <a:rPr sz="2200" b="1" dirty="0">
                <a:latin typeface="Cambria"/>
                <a:cs typeface="Cambria"/>
              </a:rPr>
              <a:t>3:</a:t>
            </a:r>
            <a:r>
              <a:rPr sz="2200" b="1" spc="-40" dirty="0">
                <a:latin typeface="Cambria"/>
                <a:cs typeface="Cambria"/>
              </a:rPr>
              <a:t> </a:t>
            </a:r>
            <a:r>
              <a:rPr sz="2200" dirty="0">
                <a:latin typeface="Cambria"/>
                <a:cs typeface="Cambria"/>
              </a:rPr>
              <a:t>Delete</a:t>
            </a:r>
            <a:r>
              <a:rPr sz="2200" spc="-25" dirty="0">
                <a:latin typeface="Cambria"/>
                <a:cs typeface="Cambria"/>
              </a:rPr>
              <a:t> </a:t>
            </a:r>
            <a:r>
              <a:rPr sz="2200" dirty="0">
                <a:latin typeface="Cambria"/>
                <a:cs typeface="Cambria"/>
              </a:rPr>
              <a:t>x</a:t>
            </a:r>
            <a:r>
              <a:rPr sz="2200" spc="-45" dirty="0">
                <a:latin typeface="Cambria"/>
                <a:cs typeface="Cambria"/>
              </a:rPr>
              <a:t> </a:t>
            </a:r>
            <a:r>
              <a:rPr sz="2200" dirty="0">
                <a:latin typeface="Cambria"/>
                <a:cs typeface="Cambria"/>
              </a:rPr>
              <a:t>from</a:t>
            </a:r>
            <a:r>
              <a:rPr sz="2200" spc="-50" dirty="0">
                <a:latin typeface="Cambria"/>
                <a:cs typeface="Cambria"/>
              </a:rPr>
              <a:t> </a:t>
            </a:r>
            <a:r>
              <a:rPr sz="2200" dirty="0">
                <a:latin typeface="Cambria"/>
                <a:cs typeface="Cambria"/>
              </a:rPr>
              <a:t>list</a:t>
            </a:r>
            <a:r>
              <a:rPr sz="2200" spc="-25" dirty="0">
                <a:latin typeface="Cambria"/>
                <a:cs typeface="Cambria"/>
              </a:rPr>
              <a:t> </a:t>
            </a:r>
            <a:r>
              <a:rPr sz="2200" dirty="0">
                <a:latin typeface="Cambria"/>
                <a:cs typeface="Cambria"/>
              </a:rPr>
              <a:t>of</a:t>
            </a:r>
            <a:r>
              <a:rPr sz="2200" spc="-55" dirty="0">
                <a:latin typeface="Cambria"/>
                <a:cs typeface="Cambria"/>
              </a:rPr>
              <a:t> </a:t>
            </a:r>
            <a:r>
              <a:rPr sz="2200" dirty="0">
                <a:latin typeface="Cambria"/>
                <a:cs typeface="Cambria"/>
              </a:rPr>
              <a:t>identifiers</a:t>
            </a:r>
            <a:r>
              <a:rPr sz="2200" spc="-15" dirty="0">
                <a:latin typeface="Cambria"/>
                <a:cs typeface="Cambria"/>
              </a:rPr>
              <a:t> </a:t>
            </a:r>
            <a:r>
              <a:rPr sz="2200" dirty="0">
                <a:latin typeface="Cambria"/>
                <a:cs typeface="Cambria"/>
              </a:rPr>
              <a:t>for</a:t>
            </a:r>
            <a:r>
              <a:rPr sz="2200" spc="-40" dirty="0">
                <a:latin typeface="Cambria"/>
                <a:cs typeface="Cambria"/>
              </a:rPr>
              <a:t> </a:t>
            </a:r>
            <a:r>
              <a:rPr sz="2200" dirty="0">
                <a:latin typeface="Cambria"/>
                <a:cs typeface="Cambria"/>
              </a:rPr>
              <a:t>node(x).</a:t>
            </a:r>
            <a:r>
              <a:rPr sz="2200" spc="-40" dirty="0">
                <a:latin typeface="Cambria"/>
                <a:cs typeface="Cambria"/>
              </a:rPr>
              <a:t> </a:t>
            </a:r>
            <a:r>
              <a:rPr sz="2200" dirty="0">
                <a:latin typeface="Cambria"/>
                <a:cs typeface="Cambria"/>
              </a:rPr>
              <a:t>Append</a:t>
            </a:r>
            <a:r>
              <a:rPr sz="2200" spc="-25" dirty="0">
                <a:latin typeface="Cambria"/>
                <a:cs typeface="Cambria"/>
              </a:rPr>
              <a:t> </a:t>
            </a:r>
            <a:r>
              <a:rPr sz="2200" dirty="0">
                <a:latin typeface="Cambria"/>
                <a:cs typeface="Cambria"/>
              </a:rPr>
              <a:t>x</a:t>
            </a:r>
            <a:r>
              <a:rPr sz="2200" spc="-50" dirty="0">
                <a:latin typeface="Cambria"/>
                <a:cs typeface="Cambria"/>
              </a:rPr>
              <a:t> </a:t>
            </a:r>
            <a:r>
              <a:rPr sz="2200" spc="-25" dirty="0">
                <a:latin typeface="Cambria"/>
                <a:cs typeface="Cambria"/>
              </a:rPr>
              <a:t>to </a:t>
            </a:r>
            <a:r>
              <a:rPr sz="2200" dirty="0">
                <a:latin typeface="Cambria"/>
                <a:cs typeface="Cambria"/>
              </a:rPr>
              <a:t>the</a:t>
            </a:r>
            <a:r>
              <a:rPr sz="2200" spc="-30" dirty="0">
                <a:latin typeface="Cambria"/>
                <a:cs typeface="Cambria"/>
              </a:rPr>
              <a:t> </a:t>
            </a:r>
            <a:r>
              <a:rPr sz="2200" dirty="0">
                <a:latin typeface="Cambria"/>
                <a:cs typeface="Cambria"/>
              </a:rPr>
              <a:t>list</a:t>
            </a:r>
            <a:r>
              <a:rPr sz="2200" spc="-40" dirty="0">
                <a:latin typeface="Cambria"/>
                <a:cs typeface="Cambria"/>
              </a:rPr>
              <a:t> </a:t>
            </a:r>
            <a:r>
              <a:rPr sz="2200" dirty="0">
                <a:latin typeface="Cambria"/>
                <a:cs typeface="Cambria"/>
              </a:rPr>
              <a:t>of</a:t>
            </a:r>
            <a:r>
              <a:rPr sz="2200" spc="-50" dirty="0">
                <a:latin typeface="Cambria"/>
                <a:cs typeface="Cambria"/>
              </a:rPr>
              <a:t> </a:t>
            </a:r>
            <a:r>
              <a:rPr sz="2200" dirty="0">
                <a:latin typeface="Cambria"/>
                <a:cs typeface="Cambria"/>
              </a:rPr>
              <a:t>attached</a:t>
            </a:r>
            <a:r>
              <a:rPr sz="2200" spc="-5" dirty="0">
                <a:latin typeface="Cambria"/>
                <a:cs typeface="Cambria"/>
              </a:rPr>
              <a:t> </a:t>
            </a:r>
            <a:r>
              <a:rPr sz="2200" dirty="0">
                <a:latin typeface="Cambria"/>
                <a:cs typeface="Cambria"/>
              </a:rPr>
              <a:t>identifiers</a:t>
            </a:r>
            <a:r>
              <a:rPr sz="2200" spc="-15" dirty="0">
                <a:latin typeface="Cambria"/>
                <a:cs typeface="Cambria"/>
              </a:rPr>
              <a:t> </a:t>
            </a:r>
            <a:r>
              <a:rPr sz="2200" dirty="0">
                <a:latin typeface="Cambria"/>
                <a:cs typeface="Cambria"/>
              </a:rPr>
              <a:t>for</a:t>
            </a:r>
            <a:r>
              <a:rPr sz="2200" spc="-50" dirty="0">
                <a:latin typeface="Cambria"/>
                <a:cs typeface="Cambria"/>
              </a:rPr>
              <a:t> </a:t>
            </a:r>
            <a:r>
              <a:rPr sz="2200" dirty="0">
                <a:latin typeface="Cambria"/>
                <a:cs typeface="Cambria"/>
              </a:rPr>
              <a:t>node</a:t>
            </a:r>
            <a:r>
              <a:rPr sz="2200" spc="-45" dirty="0">
                <a:latin typeface="Cambria"/>
                <a:cs typeface="Cambria"/>
              </a:rPr>
              <a:t> </a:t>
            </a:r>
            <a:r>
              <a:rPr sz="2200" dirty="0">
                <a:latin typeface="Cambria"/>
                <a:cs typeface="Cambria"/>
              </a:rPr>
              <a:t>n</a:t>
            </a:r>
            <a:r>
              <a:rPr sz="2200" spc="-40" dirty="0">
                <a:latin typeface="Cambria"/>
                <a:cs typeface="Cambria"/>
              </a:rPr>
              <a:t> </a:t>
            </a:r>
            <a:r>
              <a:rPr sz="2200" dirty="0">
                <a:latin typeface="Cambria"/>
                <a:cs typeface="Cambria"/>
              </a:rPr>
              <a:t>found</a:t>
            </a:r>
            <a:r>
              <a:rPr sz="2200" spc="-35" dirty="0">
                <a:latin typeface="Cambria"/>
                <a:cs typeface="Cambria"/>
              </a:rPr>
              <a:t> </a:t>
            </a:r>
            <a:r>
              <a:rPr sz="2200" dirty="0">
                <a:latin typeface="Cambria"/>
                <a:cs typeface="Cambria"/>
              </a:rPr>
              <a:t>in</a:t>
            </a:r>
            <a:r>
              <a:rPr sz="2200" spc="-50" dirty="0">
                <a:latin typeface="Cambria"/>
                <a:cs typeface="Cambria"/>
              </a:rPr>
              <a:t> </a:t>
            </a:r>
            <a:r>
              <a:rPr sz="2200" spc="-25" dirty="0">
                <a:latin typeface="Cambria"/>
                <a:cs typeface="Cambria"/>
              </a:rPr>
              <a:t>2.</a:t>
            </a:r>
            <a:endParaRPr sz="2200">
              <a:latin typeface="Cambria"/>
              <a:cs typeface="Cambri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3512" y="260649"/>
            <a:ext cx="7848872" cy="646331"/>
          </a:xfrm>
          <a:prstGeom prst="rect">
            <a:avLst/>
          </a:prstGeom>
        </p:spPr>
        <p:txBody>
          <a:bodyPr wrap="square">
            <a:spAutoFit/>
          </a:bodyPr>
          <a:lstStyle/>
          <a:p>
            <a:pPr fontAlgn="base"/>
            <a:r>
              <a:rPr lang="en-IN" dirty="0"/>
              <a:t>Consider the following expression and construct a DAG for it-</a:t>
            </a:r>
          </a:p>
          <a:p>
            <a:pPr fontAlgn="base"/>
            <a:r>
              <a:rPr lang="en-IN" dirty="0"/>
              <a:t>( ( ( a + a ) + ( a + a ) ) + ( ( a + a ) + ( a + a ) ) )</a:t>
            </a:r>
          </a:p>
        </p:txBody>
      </p:sp>
      <p:pic>
        <p:nvPicPr>
          <p:cNvPr id="3" name="Picture 2" descr="https://www.gatevidyalay.com/wp-content/uploads/2018/03/Directed-Acyclic-Graphs-Problem-02-DAG.png"/>
          <p:cNvPicPr/>
          <p:nvPr/>
        </p:nvPicPr>
        <p:blipFill>
          <a:blip r:embed="rId2">
            <a:extLst>
              <a:ext uri="{28A0092B-C50C-407E-A947-70E740481C1C}">
                <a14:useLocalDpi xmlns:a14="http://schemas.microsoft.com/office/drawing/2010/main" val="0"/>
              </a:ext>
            </a:extLst>
          </a:blip>
          <a:srcRect/>
          <a:stretch>
            <a:fillRect/>
          </a:stretch>
        </p:blipFill>
        <p:spPr bwMode="auto">
          <a:xfrm>
            <a:off x="3359696" y="1268760"/>
            <a:ext cx="4896544" cy="4536504"/>
          </a:xfrm>
          <a:prstGeom prst="rect">
            <a:avLst/>
          </a:prstGeom>
          <a:noFill/>
          <a:ln>
            <a:noFill/>
          </a:ln>
        </p:spPr>
      </p:pic>
    </p:spTree>
    <p:extLst>
      <p:ext uri="{BB962C8B-B14F-4D97-AF65-F5344CB8AC3E}">
        <p14:creationId xmlns:p14="http://schemas.microsoft.com/office/powerpoint/2010/main" val="28597216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210"/>
              </a:spcBef>
            </a:pPr>
            <a:endParaRPr sz="3600">
              <a:latin typeface="Times New Roman"/>
              <a:cs typeface="Times New Roman"/>
            </a:endParaRPr>
          </a:p>
          <a:p>
            <a:pPr marL="91440">
              <a:lnSpc>
                <a:spcPts val="4105"/>
              </a:lnSpc>
              <a:spcBef>
                <a:spcPts val="5"/>
              </a:spcBef>
            </a:pPr>
            <a:r>
              <a:rPr sz="3600" b="1" spc="-25" dirty="0">
                <a:solidFill>
                  <a:srgbClr val="FFFFFF"/>
                </a:solidFill>
                <a:latin typeface="Cambria"/>
                <a:cs typeface="Cambria"/>
              </a:rPr>
              <a:t>DAG</a:t>
            </a:r>
            <a:endParaRPr sz="3600">
              <a:latin typeface="Cambria"/>
              <a:cs typeface="Cambria"/>
            </a:endParaRPr>
          </a:p>
          <a:p>
            <a:pPr marL="91440" marR="199390">
              <a:lnSpc>
                <a:spcPts val="3890"/>
              </a:lnSpc>
              <a:spcBef>
                <a:spcPts val="270"/>
              </a:spcBef>
            </a:pPr>
            <a:r>
              <a:rPr sz="3600" b="1" spc="-75" dirty="0">
                <a:solidFill>
                  <a:srgbClr val="FFFFFF"/>
                </a:solidFill>
                <a:latin typeface="Cambria"/>
                <a:cs typeface="Cambria"/>
              </a:rPr>
              <a:t>Representation </a:t>
            </a:r>
            <a:r>
              <a:rPr sz="3600" b="1" dirty="0">
                <a:solidFill>
                  <a:srgbClr val="FFFFFF"/>
                </a:solidFill>
                <a:latin typeface="Cambria"/>
                <a:cs typeface="Cambria"/>
              </a:rPr>
              <a:t>of</a:t>
            </a:r>
            <a:r>
              <a:rPr sz="3600" b="1" spc="-170" dirty="0">
                <a:solidFill>
                  <a:srgbClr val="FFFFFF"/>
                </a:solidFill>
                <a:latin typeface="Cambria"/>
                <a:cs typeface="Cambria"/>
              </a:rPr>
              <a:t> </a:t>
            </a:r>
            <a:r>
              <a:rPr sz="3600" b="1" spc="-60" dirty="0">
                <a:solidFill>
                  <a:srgbClr val="FFFFFF"/>
                </a:solidFill>
                <a:latin typeface="Cambria"/>
                <a:cs typeface="Cambria"/>
              </a:rPr>
              <a:t>Basic</a:t>
            </a:r>
            <a:r>
              <a:rPr sz="3600" b="1" spc="-135" dirty="0">
                <a:solidFill>
                  <a:srgbClr val="FFFFFF"/>
                </a:solidFill>
                <a:latin typeface="Cambria"/>
                <a:cs typeface="Cambria"/>
              </a:rPr>
              <a:t> </a:t>
            </a:r>
            <a:r>
              <a:rPr sz="3600" b="1" spc="-20" dirty="0">
                <a:solidFill>
                  <a:srgbClr val="FFFFFF"/>
                </a:solidFill>
                <a:latin typeface="Cambria"/>
                <a:cs typeface="Cambria"/>
              </a:rPr>
              <a:t>Block</a:t>
            </a:r>
            <a:endParaRPr sz="3600">
              <a:latin typeface="Cambria"/>
              <a:cs typeface="Cambria"/>
            </a:endParaRPr>
          </a:p>
        </p:txBody>
      </p:sp>
      <p:pic>
        <p:nvPicPr>
          <p:cNvPr id="3" name="object 3"/>
          <p:cNvPicPr/>
          <p:nvPr/>
        </p:nvPicPr>
        <p:blipFill>
          <a:blip r:embed="rId2" cstate="print"/>
          <a:stretch>
            <a:fillRect/>
          </a:stretch>
        </p:blipFill>
        <p:spPr>
          <a:xfrm>
            <a:off x="3611879" y="865366"/>
            <a:ext cx="7773474" cy="514681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32130">
              <a:lnSpc>
                <a:spcPts val="3890"/>
              </a:lnSpc>
            </a:pPr>
            <a:r>
              <a:rPr sz="3600" b="1" spc="-65" dirty="0">
                <a:solidFill>
                  <a:srgbClr val="FFFFFF"/>
                </a:solidFill>
                <a:latin typeface="Cambria"/>
                <a:cs typeface="Cambria"/>
              </a:rPr>
              <a:t>Applications </a:t>
            </a:r>
            <a:r>
              <a:rPr sz="3600" b="1" spc="-35" dirty="0">
                <a:solidFill>
                  <a:srgbClr val="FFFFFF"/>
                </a:solidFill>
                <a:latin typeface="Cambria"/>
                <a:cs typeface="Cambria"/>
              </a:rPr>
              <a:t>of</a:t>
            </a:r>
            <a:r>
              <a:rPr sz="3600" b="1" spc="-160" dirty="0">
                <a:solidFill>
                  <a:srgbClr val="FFFFFF"/>
                </a:solidFill>
                <a:latin typeface="Cambria"/>
                <a:cs typeface="Cambria"/>
              </a:rPr>
              <a:t> </a:t>
            </a:r>
            <a:r>
              <a:rPr sz="3600" b="1" spc="-25" dirty="0">
                <a:solidFill>
                  <a:srgbClr val="FFFFFF"/>
                </a:solidFill>
                <a:latin typeface="Cambria"/>
                <a:cs typeface="Cambria"/>
              </a:rPr>
              <a:t>DAG</a:t>
            </a:r>
            <a:endParaRPr sz="3600">
              <a:latin typeface="Cambria"/>
              <a:cs typeface="Cambria"/>
            </a:endParaRPr>
          </a:p>
        </p:txBody>
      </p:sp>
      <p:sp>
        <p:nvSpPr>
          <p:cNvPr id="3" name="object 3"/>
          <p:cNvSpPr txBox="1"/>
          <p:nvPr/>
        </p:nvSpPr>
        <p:spPr>
          <a:xfrm>
            <a:off x="3556508" y="1589049"/>
            <a:ext cx="8057515" cy="4209229"/>
          </a:xfrm>
          <a:prstGeom prst="rect">
            <a:avLst/>
          </a:prstGeom>
        </p:spPr>
        <p:txBody>
          <a:bodyPr vert="horz" wrap="square" lIns="0" tIns="131445" rIns="0" bIns="0" rtlCol="0">
            <a:spAutoFit/>
          </a:bodyPr>
          <a:lstStyle/>
          <a:p>
            <a:pPr marL="12700">
              <a:lnSpc>
                <a:spcPct val="100000"/>
              </a:lnSpc>
              <a:spcBef>
                <a:spcPts val="1035"/>
              </a:spcBef>
            </a:pPr>
            <a:r>
              <a:rPr sz="2200" dirty="0">
                <a:latin typeface="Cambria"/>
                <a:cs typeface="Cambria"/>
              </a:rPr>
              <a:t>The</a:t>
            </a:r>
            <a:r>
              <a:rPr sz="2200" spc="-60" dirty="0">
                <a:latin typeface="Cambria"/>
                <a:cs typeface="Cambria"/>
              </a:rPr>
              <a:t> </a:t>
            </a:r>
            <a:r>
              <a:rPr sz="2200" spc="-10" dirty="0">
                <a:latin typeface="Cambria"/>
                <a:cs typeface="Cambria"/>
              </a:rPr>
              <a:t>DAGs</a:t>
            </a:r>
            <a:r>
              <a:rPr sz="2200" spc="-55" dirty="0">
                <a:latin typeface="Cambria"/>
                <a:cs typeface="Cambria"/>
              </a:rPr>
              <a:t> </a:t>
            </a:r>
            <a:r>
              <a:rPr sz="2200" dirty="0">
                <a:latin typeface="Cambria"/>
                <a:cs typeface="Cambria"/>
              </a:rPr>
              <a:t>are</a:t>
            </a:r>
            <a:r>
              <a:rPr sz="2200" spc="-50" dirty="0">
                <a:latin typeface="Cambria"/>
                <a:cs typeface="Cambria"/>
              </a:rPr>
              <a:t> </a:t>
            </a:r>
            <a:r>
              <a:rPr sz="2200" dirty="0">
                <a:latin typeface="Cambria"/>
                <a:cs typeface="Cambria"/>
              </a:rPr>
              <a:t>used</a:t>
            </a:r>
            <a:r>
              <a:rPr sz="2200" spc="-45" dirty="0">
                <a:latin typeface="Cambria"/>
                <a:cs typeface="Cambria"/>
              </a:rPr>
              <a:t> </a:t>
            </a:r>
            <a:r>
              <a:rPr sz="2200" spc="-25" dirty="0">
                <a:latin typeface="Cambria"/>
                <a:cs typeface="Cambria"/>
              </a:rPr>
              <a:t>in:</a:t>
            </a:r>
            <a:endParaRPr sz="2200" dirty="0">
              <a:latin typeface="Cambria"/>
              <a:cs typeface="Cambria"/>
            </a:endParaRPr>
          </a:p>
          <a:p>
            <a:pPr marL="12700">
              <a:lnSpc>
                <a:spcPct val="100000"/>
              </a:lnSpc>
              <a:spcBef>
                <a:spcPts val="9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Determining</a:t>
            </a:r>
            <a:r>
              <a:rPr sz="2200" spc="-30" dirty="0">
                <a:latin typeface="Cambria"/>
                <a:cs typeface="Cambria"/>
              </a:rPr>
              <a:t> </a:t>
            </a:r>
            <a:r>
              <a:rPr sz="2200" dirty="0">
                <a:latin typeface="Cambria"/>
                <a:cs typeface="Cambria"/>
              </a:rPr>
              <a:t>the</a:t>
            </a:r>
            <a:r>
              <a:rPr sz="2200" spc="-25" dirty="0">
                <a:latin typeface="Cambria"/>
                <a:cs typeface="Cambria"/>
              </a:rPr>
              <a:t> </a:t>
            </a:r>
            <a:r>
              <a:rPr sz="2200" dirty="0">
                <a:latin typeface="Cambria"/>
                <a:cs typeface="Cambria"/>
              </a:rPr>
              <a:t>common</a:t>
            </a:r>
            <a:r>
              <a:rPr sz="2200" spc="-25" dirty="0">
                <a:latin typeface="Cambria"/>
                <a:cs typeface="Cambria"/>
              </a:rPr>
              <a:t> </a:t>
            </a:r>
            <a:r>
              <a:rPr sz="2200" spc="-10" dirty="0">
                <a:latin typeface="Cambria"/>
                <a:cs typeface="Cambria"/>
              </a:rPr>
              <a:t>sub-expressions.</a:t>
            </a:r>
            <a:r>
              <a:rPr lang="en-US" sz="2200" spc="-10" dirty="0">
                <a:latin typeface="Cambria"/>
                <a:cs typeface="Cambria"/>
              </a:rPr>
              <a:t> To determine the expressions which have been computed more than once (called common sub-expressions).</a:t>
            </a:r>
            <a:endParaRPr sz="2200" dirty="0">
              <a:latin typeface="Cambria"/>
              <a:cs typeface="Cambria"/>
            </a:endParaRPr>
          </a:p>
          <a:p>
            <a:pPr marL="194945" marR="1200785" indent="-182880">
              <a:lnSpc>
                <a:spcPts val="2380"/>
              </a:lnSpc>
              <a:spcBef>
                <a:spcPts val="12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Determining</a:t>
            </a:r>
            <a:r>
              <a:rPr sz="2200" spc="-95" dirty="0">
                <a:latin typeface="Cambria"/>
                <a:cs typeface="Cambria"/>
              </a:rPr>
              <a:t> </a:t>
            </a:r>
            <a:r>
              <a:rPr sz="2200" dirty="0">
                <a:latin typeface="Cambria"/>
                <a:cs typeface="Cambria"/>
              </a:rPr>
              <a:t>which</a:t>
            </a:r>
            <a:r>
              <a:rPr sz="2200" spc="-55" dirty="0">
                <a:latin typeface="Cambria"/>
                <a:cs typeface="Cambria"/>
              </a:rPr>
              <a:t> </a:t>
            </a:r>
            <a:r>
              <a:rPr sz="2200" dirty="0">
                <a:latin typeface="Cambria"/>
                <a:cs typeface="Cambria"/>
              </a:rPr>
              <a:t>names</a:t>
            </a:r>
            <a:r>
              <a:rPr sz="2200" spc="-25" dirty="0">
                <a:latin typeface="Cambria"/>
                <a:cs typeface="Cambria"/>
              </a:rPr>
              <a:t> </a:t>
            </a:r>
            <a:r>
              <a:rPr sz="2200" dirty="0">
                <a:latin typeface="Cambria"/>
                <a:cs typeface="Cambria"/>
              </a:rPr>
              <a:t>are</a:t>
            </a:r>
            <a:r>
              <a:rPr sz="2200" spc="-45" dirty="0">
                <a:latin typeface="Cambria"/>
                <a:cs typeface="Cambria"/>
              </a:rPr>
              <a:t> </a:t>
            </a:r>
            <a:r>
              <a:rPr sz="2200" dirty="0">
                <a:latin typeface="Cambria"/>
                <a:cs typeface="Cambria"/>
              </a:rPr>
              <a:t>used</a:t>
            </a:r>
            <a:r>
              <a:rPr sz="2200" spc="-45" dirty="0">
                <a:latin typeface="Cambria"/>
                <a:cs typeface="Cambria"/>
              </a:rPr>
              <a:t> </a:t>
            </a:r>
            <a:r>
              <a:rPr sz="2200" dirty="0">
                <a:latin typeface="Cambria"/>
                <a:cs typeface="Cambria"/>
              </a:rPr>
              <a:t>inside</a:t>
            </a:r>
            <a:r>
              <a:rPr sz="2200" spc="-40" dirty="0">
                <a:latin typeface="Cambria"/>
                <a:cs typeface="Cambria"/>
              </a:rPr>
              <a:t> </a:t>
            </a:r>
            <a:r>
              <a:rPr sz="2200" dirty="0">
                <a:latin typeface="Cambria"/>
                <a:cs typeface="Cambria"/>
              </a:rPr>
              <a:t>the</a:t>
            </a:r>
            <a:r>
              <a:rPr sz="2200" spc="-40" dirty="0">
                <a:latin typeface="Cambria"/>
                <a:cs typeface="Cambria"/>
              </a:rPr>
              <a:t> </a:t>
            </a:r>
            <a:r>
              <a:rPr sz="2200" dirty="0">
                <a:latin typeface="Cambria"/>
                <a:cs typeface="Cambria"/>
              </a:rPr>
              <a:t>block</a:t>
            </a:r>
            <a:r>
              <a:rPr sz="2200" spc="-55" dirty="0">
                <a:latin typeface="Cambria"/>
                <a:cs typeface="Cambria"/>
              </a:rPr>
              <a:t> </a:t>
            </a:r>
            <a:r>
              <a:rPr sz="2200" spc="-25" dirty="0">
                <a:latin typeface="Cambria"/>
                <a:cs typeface="Cambria"/>
              </a:rPr>
              <a:t>and </a:t>
            </a:r>
            <a:r>
              <a:rPr sz="2200" spc="-10" dirty="0">
                <a:latin typeface="Cambria"/>
                <a:cs typeface="Cambria"/>
              </a:rPr>
              <a:t>computed</a:t>
            </a:r>
            <a:r>
              <a:rPr sz="2200" spc="-40" dirty="0">
                <a:latin typeface="Cambria"/>
                <a:cs typeface="Cambria"/>
              </a:rPr>
              <a:t> </a:t>
            </a:r>
            <a:r>
              <a:rPr sz="2200" dirty="0">
                <a:latin typeface="Cambria"/>
                <a:cs typeface="Cambria"/>
              </a:rPr>
              <a:t>outside</a:t>
            </a:r>
            <a:r>
              <a:rPr sz="2200" spc="-45" dirty="0">
                <a:latin typeface="Cambria"/>
                <a:cs typeface="Cambria"/>
              </a:rPr>
              <a:t> </a:t>
            </a:r>
            <a:r>
              <a:rPr sz="2200" dirty="0">
                <a:latin typeface="Cambria"/>
                <a:cs typeface="Cambria"/>
              </a:rPr>
              <a:t>the</a:t>
            </a:r>
            <a:r>
              <a:rPr sz="2200" spc="-35" dirty="0">
                <a:latin typeface="Cambria"/>
                <a:cs typeface="Cambria"/>
              </a:rPr>
              <a:t> </a:t>
            </a:r>
            <a:r>
              <a:rPr sz="2200" spc="-10" dirty="0">
                <a:latin typeface="Cambria"/>
                <a:cs typeface="Cambria"/>
              </a:rPr>
              <a:t>block.</a:t>
            </a:r>
            <a:endParaRPr sz="2200" dirty="0">
              <a:latin typeface="Cambria"/>
              <a:cs typeface="Cambria"/>
            </a:endParaRPr>
          </a:p>
          <a:p>
            <a:pPr marL="194945" marR="760095" indent="-182880">
              <a:lnSpc>
                <a:spcPts val="2380"/>
              </a:lnSpc>
              <a:spcBef>
                <a:spcPts val="11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Determining</a:t>
            </a:r>
            <a:r>
              <a:rPr sz="2200" spc="-114" dirty="0">
                <a:latin typeface="Cambria"/>
                <a:cs typeface="Cambria"/>
              </a:rPr>
              <a:t> </a:t>
            </a:r>
            <a:r>
              <a:rPr sz="2200" dirty="0">
                <a:latin typeface="Cambria"/>
                <a:cs typeface="Cambria"/>
              </a:rPr>
              <a:t>which</a:t>
            </a:r>
            <a:r>
              <a:rPr sz="2200" spc="-65" dirty="0">
                <a:latin typeface="Cambria"/>
                <a:cs typeface="Cambria"/>
              </a:rPr>
              <a:t> </a:t>
            </a:r>
            <a:r>
              <a:rPr sz="2200" dirty="0">
                <a:latin typeface="Cambria"/>
                <a:cs typeface="Cambria"/>
              </a:rPr>
              <a:t>statements</a:t>
            </a:r>
            <a:r>
              <a:rPr sz="2200" spc="-20" dirty="0">
                <a:latin typeface="Cambria"/>
                <a:cs typeface="Cambria"/>
              </a:rPr>
              <a:t> </a:t>
            </a:r>
            <a:r>
              <a:rPr sz="2200" dirty="0">
                <a:latin typeface="Cambria"/>
                <a:cs typeface="Cambria"/>
              </a:rPr>
              <a:t>of</a:t>
            </a:r>
            <a:r>
              <a:rPr sz="2200" spc="-65" dirty="0">
                <a:latin typeface="Cambria"/>
                <a:cs typeface="Cambria"/>
              </a:rPr>
              <a:t> </a:t>
            </a:r>
            <a:r>
              <a:rPr sz="2200" dirty="0">
                <a:latin typeface="Cambria"/>
                <a:cs typeface="Cambria"/>
              </a:rPr>
              <a:t>the</a:t>
            </a:r>
            <a:r>
              <a:rPr sz="2200" spc="-45" dirty="0">
                <a:latin typeface="Cambria"/>
                <a:cs typeface="Cambria"/>
              </a:rPr>
              <a:t> </a:t>
            </a:r>
            <a:r>
              <a:rPr sz="2200" dirty="0">
                <a:latin typeface="Cambria"/>
                <a:cs typeface="Cambria"/>
              </a:rPr>
              <a:t>block</a:t>
            </a:r>
            <a:r>
              <a:rPr sz="2200" spc="-65" dirty="0">
                <a:latin typeface="Cambria"/>
                <a:cs typeface="Cambria"/>
              </a:rPr>
              <a:t> </a:t>
            </a:r>
            <a:r>
              <a:rPr sz="2200" dirty="0">
                <a:latin typeface="Cambria"/>
                <a:cs typeface="Cambria"/>
              </a:rPr>
              <a:t>could</a:t>
            </a:r>
            <a:r>
              <a:rPr sz="2200" spc="-55" dirty="0">
                <a:latin typeface="Cambria"/>
                <a:cs typeface="Cambria"/>
              </a:rPr>
              <a:t> </a:t>
            </a:r>
            <a:r>
              <a:rPr sz="2200" spc="-10" dirty="0">
                <a:latin typeface="Cambria"/>
                <a:cs typeface="Cambria"/>
              </a:rPr>
              <a:t>have</a:t>
            </a:r>
            <a:r>
              <a:rPr sz="2200" spc="-35" dirty="0">
                <a:latin typeface="Cambria"/>
                <a:cs typeface="Cambria"/>
              </a:rPr>
              <a:t> </a:t>
            </a:r>
            <a:r>
              <a:rPr sz="2200" spc="-10" dirty="0">
                <a:latin typeface="Cambria"/>
                <a:cs typeface="Cambria"/>
              </a:rPr>
              <a:t>their computed</a:t>
            </a:r>
            <a:r>
              <a:rPr sz="2200" spc="-55" dirty="0">
                <a:latin typeface="Cambria"/>
                <a:cs typeface="Cambria"/>
              </a:rPr>
              <a:t> </a:t>
            </a:r>
            <a:r>
              <a:rPr sz="2200" dirty="0">
                <a:latin typeface="Cambria"/>
                <a:cs typeface="Cambria"/>
              </a:rPr>
              <a:t>value</a:t>
            </a:r>
            <a:r>
              <a:rPr sz="2200" spc="-40" dirty="0">
                <a:latin typeface="Cambria"/>
                <a:cs typeface="Cambria"/>
              </a:rPr>
              <a:t> </a:t>
            </a:r>
            <a:r>
              <a:rPr sz="2200" dirty="0">
                <a:latin typeface="Cambria"/>
                <a:cs typeface="Cambria"/>
              </a:rPr>
              <a:t>outside</a:t>
            </a:r>
            <a:r>
              <a:rPr sz="2200" spc="-55" dirty="0">
                <a:latin typeface="Cambria"/>
                <a:cs typeface="Cambria"/>
              </a:rPr>
              <a:t> </a:t>
            </a:r>
            <a:r>
              <a:rPr sz="2200" dirty="0">
                <a:latin typeface="Cambria"/>
                <a:cs typeface="Cambria"/>
              </a:rPr>
              <a:t>the</a:t>
            </a:r>
            <a:r>
              <a:rPr sz="2200" spc="-55" dirty="0">
                <a:latin typeface="Cambria"/>
                <a:cs typeface="Cambria"/>
              </a:rPr>
              <a:t> </a:t>
            </a:r>
            <a:r>
              <a:rPr sz="2200" spc="-10" dirty="0">
                <a:latin typeface="Cambria"/>
                <a:cs typeface="Cambria"/>
              </a:rPr>
              <a:t>block.</a:t>
            </a:r>
            <a:endParaRPr sz="2200" dirty="0">
              <a:latin typeface="Cambria"/>
              <a:cs typeface="Cambria"/>
            </a:endParaRPr>
          </a:p>
          <a:p>
            <a:pPr marL="194945" marR="5080" indent="-182880">
              <a:lnSpc>
                <a:spcPct val="90100"/>
              </a:lnSpc>
              <a:spcBef>
                <a:spcPts val="1160"/>
              </a:spcBef>
            </a:pPr>
            <a:r>
              <a:rPr sz="2200" spc="-1145" dirty="0">
                <a:solidFill>
                  <a:srgbClr val="40B9D2"/>
                </a:solidFill>
                <a:latin typeface="Arial MT"/>
                <a:cs typeface="Arial MT"/>
              </a:rPr>
              <a:t>🞄</a:t>
            </a:r>
            <a:r>
              <a:rPr sz="2200" spc="30" dirty="0">
                <a:solidFill>
                  <a:srgbClr val="40B9D2"/>
                </a:solidFill>
                <a:latin typeface="Arial MT"/>
                <a:cs typeface="Arial MT"/>
              </a:rPr>
              <a:t> </a:t>
            </a:r>
            <a:r>
              <a:rPr sz="2200" spc="-10" dirty="0">
                <a:latin typeface="Cambria"/>
                <a:cs typeface="Cambria"/>
              </a:rPr>
              <a:t>Simplifying</a:t>
            </a:r>
            <a:r>
              <a:rPr sz="2200" spc="-80" dirty="0">
                <a:latin typeface="Cambria"/>
                <a:cs typeface="Cambria"/>
              </a:rPr>
              <a:t> </a:t>
            </a:r>
            <a:r>
              <a:rPr sz="2200" dirty="0">
                <a:latin typeface="Cambria"/>
                <a:cs typeface="Cambria"/>
              </a:rPr>
              <a:t>the</a:t>
            </a:r>
            <a:r>
              <a:rPr sz="2200" spc="-25" dirty="0">
                <a:latin typeface="Cambria"/>
                <a:cs typeface="Cambria"/>
              </a:rPr>
              <a:t> </a:t>
            </a:r>
            <a:r>
              <a:rPr sz="2200" dirty="0">
                <a:latin typeface="Cambria"/>
                <a:cs typeface="Cambria"/>
              </a:rPr>
              <a:t>list</a:t>
            </a:r>
            <a:r>
              <a:rPr sz="2200" spc="-40" dirty="0">
                <a:latin typeface="Cambria"/>
                <a:cs typeface="Cambria"/>
              </a:rPr>
              <a:t> </a:t>
            </a:r>
            <a:r>
              <a:rPr sz="2200" dirty="0">
                <a:latin typeface="Cambria"/>
                <a:cs typeface="Cambria"/>
              </a:rPr>
              <a:t>of</a:t>
            </a:r>
            <a:r>
              <a:rPr sz="2200" spc="-40" dirty="0">
                <a:latin typeface="Cambria"/>
                <a:cs typeface="Cambria"/>
              </a:rPr>
              <a:t> </a:t>
            </a:r>
            <a:r>
              <a:rPr sz="2200" dirty="0">
                <a:latin typeface="Cambria"/>
                <a:cs typeface="Cambria"/>
              </a:rPr>
              <a:t>quadruples</a:t>
            </a:r>
            <a:r>
              <a:rPr sz="2200" spc="-25" dirty="0">
                <a:latin typeface="Cambria"/>
                <a:cs typeface="Cambria"/>
              </a:rPr>
              <a:t> </a:t>
            </a:r>
            <a:r>
              <a:rPr sz="2200" dirty="0">
                <a:latin typeface="Cambria"/>
                <a:cs typeface="Cambria"/>
              </a:rPr>
              <a:t>by</a:t>
            </a:r>
            <a:r>
              <a:rPr sz="2200" spc="-25" dirty="0">
                <a:latin typeface="Cambria"/>
                <a:cs typeface="Cambria"/>
              </a:rPr>
              <a:t> </a:t>
            </a:r>
            <a:r>
              <a:rPr sz="2200" spc="-10" dirty="0">
                <a:latin typeface="Cambria"/>
                <a:cs typeface="Cambria"/>
              </a:rPr>
              <a:t>eliminating</a:t>
            </a:r>
            <a:r>
              <a:rPr sz="2200" spc="-25" dirty="0">
                <a:latin typeface="Cambria"/>
                <a:cs typeface="Cambria"/>
              </a:rPr>
              <a:t> </a:t>
            </a:r>
            <a:r>
              <a:rPr sz="2200" dirty="0">
                <a:latin typeface="Cambria"/>
                <a:cs typeface="Cambria"/>
              </a:rPr>
              <a:t>the</a:t>
            </a:r>
            <a:r>
              <a:rPr sz="2200" spc="-25" dirty="0">
                <a:latin typeface="Cambria"/>
                <a:cs typeface="Cambria"/>
              </a:rPr>
              <a:t> </a:t>
            </a:r>
            <a:r>
              <a:rPr sz="2200" dirty="0">
                <a:latin typeface="Cambria"/>
                <a:cs typeface="Cambria"/>
              </a:rPr>
              <a:t>common</a:t>
            </a:r>
            <a:r>
              <a:rPr sz="2200" spc="-45" dirty="0">
                <a:latin typeface="Cambria"/>
                <a:cs typeface="Cambria"/>
              </a:rPr>
              <a:t> </a:t>
            </a:r>
            <a:r>
              <a:rPr sz="2200" spc="-20" dirty="0">
                <a:latin typeface="Cambria"/>
                <a:cs typeface="Cambria"/>
              </a:rPr>
              <a:t>sub- </a:t>
            </a:r>
            <a:r>
              <a:rPr sz="2200" spc="-10" dirty="0">
                <a:latin typeface="Cambria"/>
                <a:cs typeface="Cambria"/>
              </a:rPr>
              <a:t>expressions</a:t>
            </a:r>
            <a:r>
              <a:rPr sz="2200" spc="-20" dirty="0">
                <a:latin typeface="Cambria"/>
                <a:cs typeface="Cambria"/>
              </a:rPr>
              <a:t> </a:t>
            </a:r>
            <a:r>
              <a:rPr sz="2200" dirty="0">
                <a:latin typeface="Cambria"/>
                <a:cs typeface="Cambria"/>
              </a:rPr>
              <a:t>and</a:t>
            </a:r>
            <a:r>
              <a:rPr sz="2200" spc="-30" dirty="0">
                <a:latin typeface="Cambria"/>
                <a:cs typeface="Cambria"/>
              </a:rPr>
              <a:t> </a:t>
            </a:r>
            <a:r>
              <a:rPr sz="2200" dirty="0">
                <a:latin typeface="Cambria"/>
                <a:cs typeface="Cambria"/>
              </a:rPr>
              <a:t>not</a:t>
            </a:r>
            <a:r>
              <a:rPr sz="2200" spc="-45" dirty="0">
                <a:latin typeface="Cambria"/>
                <a:cs typeface="Cambria"/>
              </a:rPr>
              <a:t> </a:t>
            </a:r>
            <a:r>
              <a:rPr sz="2200" spc="-10" dirty="0">
                <a:latin typeface="Cambria"/>
                <a:cs typeface="Cambria"/>
              </a:rPr>
              <a:t>performing</a:t>
            </a:r>
            <a:r>
              <a:rPr sz="2200" spc="-40" dirty="0">
                <a:latin typeface="Cambria"/>
                <a:cs typeface="Cambria"/>
              </a:rPr>
              <a:t> </a:t>
            </a:r>
            <a:r>
              <a:rPr sz="2200" dirty="0">
                <a:latin typeface="Cambria"/>
                <a:cs typeface="Cambria"/>
              </a:rPr>
              <a:t>the</a:t>
            </a:r>
            <a:r>
              <a:rPr sz="2200" spc="-45" dirty="0">
                <a:latin typeface="Cambria"/>
                <a:cs typeface="Cambria"/>
              </a:rPr>
              <a:t> </a:t>
            </a:r>
            <a:r>
              <a:rPr sz="2200" dirty="0">
                <a:latin typeface="Cambria"/>
                <a:cs typeface="Cambria"/>
              </a:rPr>
              <a:t>assignment</a:t>
            </a:r>
            <a:r>
              <a:rPr sz="2200" spc="-10" dirty="0">
                <a:latin typeface="Cambria"/>
                <a:cs typeface="Cambria"/>
              </a:rPr>
              <a:t> </a:t>
            </a:r>
            <a:r>
              <a:rPr sz="2200" dirty="0">
                <a:latin typeface="Cambria"/>
                <a:cs typeface="Cambria"/>
              </a:rPr>
              <a:t>of</a:t>
            </a:r>
            <a:r>
              <a:rPr sz="2200" spc="-55" dirty="0">
                <a:latin typeface="Cambria"/>
                <a:cs typeface="Cambria"/>
              </a:rPr>
              <a:t> </a:t>
            </a:r>
            <a:r>
              <a:rPr sz="2200" dirty="0">
                <a:latin typeface="Cambria"/>
                <a:cs typeface="Cambria"/>
              </a:rPr>
              <a:t>the</a:t>
            </a:r>
            <a:r>
              <a:rPr sz="2200" spc="-45" dirty="0">
                <a:latin typeface="Cambria"/>
                <a:cs typeface="Cambria"/>
              </a:rPr>
              <a:t> </a:t>
            </a:r>
            <a:r>
              <a:rPr sz="2200" dirty="0">
                <a:latin typeface="Cambria"/>
                <a:cs typeface="Cambria"/>
              </a:rPr>
              <a:t>form</a:t>
            </a:r>
            <a:r>
              <a:rPr sz="2200" spc="-50" dirty="0">
                <a:latin typeface="Cambria"/>
                <a:cs typeface="Cambria"/>
              </a:rPr>
              <a:t> </a:t>
            </a:r>
            <a:r>
              <a:rPr sz="2200" spc="-20" dirty="0">
                <a:latin typeface="Cambria"/>
                <a:cs typeface="Cambria"/>
              </a:rPr>
              <a:t>x:=y </a:t>
            </a:r>
            <a:r>
              <a:rPr sz="2200" dirty="0">
                <a:latin typeface="Cambria"/>
                <a:cs typeface="Cambria"/>
              </a:rPr>
              <a:t>unless</a:t>
            </a:r>
            <a:r>
              <a:rPr sz="2200" spc="-15" dirty="0">
                <a:latin typeface="Cambria"/>
                <a:cs typeface="Cambria"/>
              </a:rPr>
              <a:t> </a:t>
            </a:r>
            <a:r>
              <a:rPr sz="2200" dirty="0">
                <a:latin typeface="Cambria"/>
                <a:cs typeface="Cambria"/>
              </a:rPr>
              <a:t>and</a:t>
            </a:r>
            <a:r>
              <a:rPr sz="2200" spc="-30" dirty="0">
                <a:latin typeface="Cambria"/>
                <a:cs typeface="Cambria"/>
              </a:rPr>
              <a:t> </a:t>
            </a:r>
            <a:r>
              <a:rPr sz="2200" dirty="0">
                <a:latin typeface="Cambria"/>
                <a:cs typeface="Cambria"/>
              </a:rPr>
              <a:t>until</a:t>
            </a:r>
            <a:r>
              <a:rPr sz="2200" spc="-30" dirty="0">
                <a:latin typeface="Cambria"/>
                <a:cs typeface="Cambria"/>
              </a:rPr>
              <a:t> </a:t>
            </a:r>
            <a:r>
              <a:rPr sz="2200" dirty="0">
                <a:latin typeface="Cambria"/>
                <a:cs typeface="Cambria"/>
              </a:rPr>
              <a:t>it</a:t>
            </a:r>
            <a:r>
              <a:rPr sz="2200" spc="-20" dirty="0">
                <a:latin typeface="Cambria"/>
                <a:cs typeface="Cambria"/>
              </a:rPr>
              <a:t> </a:t>
            </a:r>
            <a:r>
              <a:rPr sz="2200" dirty="0">
                <a:latin typeface="Cambria"/>
                <a:cs typeface="Cambria"/>
              </a:rPr>
              <a:t>is</a:t>
            </a:r>
            <a:r>
              <a:rPr sz="2200" spc="-35" dirty="0">
                <a:latin typeface="Cambria"/>
                <a:cs typeface="Cambria"/>
              </a:rPr>
              <a:t> </a:t>
            </a:r>
            <a:r>
              <a:rPr sz="2200" dirty="0">
                <a:latin typeface="Cambria"/>
                <a:cs typeface="Cambria"/>
              </a:rPr>
              <a:t>a</a:t>
            </a:r>
            <a:r>
              <a:rPr sz="2200" spc="-20" dirty="0">
                <a:latin typeface="Cambria"/>
                <a:cs typeface="Cambria"/>
              </a:rPr>
              <a:t> </a:t>
            </a:r>
            <a:r>
              <a:rPr sz="2200" spc="-10" dirty="0">
                <a:latin typeface="Cambria"/>
                <a:cs typeface="Cambria"/>
              </a:rPr>
              <a:t>must.</a:t>
            </a:r>
            <a:endParaRPr sz="2200" dirty="0">
              <a:latin typeface="Cambria"/>
              <a:cs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16600" b="1" spc="-75" dirty="0">
                <a:solidFill>
                  <a:srgbClr val="FFFFFF"/>
                </a:solidFill>
                <a:latin typeface="Corbel"/>
                <a:cs typeface="Corbel"/>
              </a:rPr>
              <a:t>Thanks</a:t>
            </a:r>
            <a:endParaRPr sz="16600">
              <a:latin typeface="Corbel"/>
              <a:cs typeface="Corbe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497</TotalTime>
  <Words>5306</Words>
  <Application>Microsoft Office PowerPoint</Application>
  <PresentationFormat>Widescreen</PresentationFormat>
  <Paragraphs>772</Paragraphs>
  <Slides>69</Slides>
  <Notes>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69</vt:i4>
      </vt:variant>
    </vt:vector>
  </HeadingPairs>
  <TitlesOfParts>
    <vt:vector size="83" baseType="lpstr">
      <vt:lpstr>Aptos</vt:lpstr>
      <vt:lpstr>Arial</vt:lpstr>
      <vt:lpstr>Arial MT</vt:lpstr>
      <vt:lpstr>Calibri</vt:lpstr>
      <vt:lpstr>Cambria</vt:lpstr>
      <vt:lpstr>Cambria Math</vt:lpstr>
      <vt:lpstr>Candara</vt:lpstr>
      <vt:lpstr>Corbel</vt:lpstr>
      <vt:lpstr>Courier New</vt:lpstr>
      <vt:lpstr>Google Sans</vt:lpstr>
      <vt:lpstr>Segoe UI</vt:lpstr>
      <vt:lpstr>Times New Roman</vt:lpstr>
      <vt:lpstr>Wingdings</vt:lpstr>
      <vt:lpstr>Office Theme</vt:lpstr>
      <vt:lpstr>      PCD : PRINCIPLES  OF COMPILE DESIGN Code Optimization and Generation</vt:lpstr>
      <vt:lpstr>Outline :</vt:lpstr>
      <vt:lpstr>🞄 Optimization is the process of transforming a piece of code to make more efficient (in terms of time or space) without changing its output or side-effects.</vt:lpstr>
      <vt:lpstr>    Optimization Technique    </vt:lpstr>
      <vt:lpstr>    Optimization Technique</vt:lpstr>
      <vt:lpstr>PowerPoint Presentation</vt:lpstr>
      <vt:lpstr>    Optimization Technique</vt:lpstr>
      <vt:lpstr>🞄 It means Shifting of computation from run time to</vt:lpstr>
      <vt:lpstr>PowerPoint Presentation</vt:lpstr>
      <vt:lpstr>It means used of one variable instead of another.</vt:lpstr>
      <vt:lpstr>🞄 If variables used in a computation within a loop are not altered within the loop, the calculation can be performed outside of the loop and the results used within the loop.</vt:lpstr>
      <vt:lpstr>🞄 Replaces less efficient instructions with more efficient ones. For example, in array subscripting, an add instruction replaces a multiply instruction.</vt:lpstr>
      <vt:lpstr>🞄 The variable is said to be Dead at a point in a program, if</vt:lpstr>
      <vt:lpstr>🞄 It is a simple and effective technique for locally improving</vt:lpstr>
      <vt:lpstr>🞄 Redundant Load and Store can be eliminated.</vt:lpstr>
      <vt:lpstr>Constant folding: The code that can be simplified by the user itself, is simplified. Here simplification to be done at runtime are replaced with simplified code to avoid additional computation</vt:lpstr>
      <vt:lpstr>Null sequences/ Simplify Algebraic Expressions : Useless operations are deleted</vt:lpstr>
      <vt:lpstr>Combine operations: Several operations are replaced by a single equivalent operation.</vt:lpstr>
      <vt:lpstr>🞄 Unnecessary jumps can be eliminated in either the intermediate code or the target code by the following types of peephole optimization.</vt:lpstr>
      <vt:lpstr>PowerPoint Presentation</vt:lpstr>
      <vt:lpstr>PowerPoint Presentation</vt:lpstr>
      <vt:lpstr>🞄 Certain machine instructions are cheaper than other.</vt:lpstr>
      <vt:lpstr>🞄 The target</vt:lpstr>
      <vt:lpstr>🞄 The variable is said to be Dead at a point in a program, if</vt:lpstr>
      <vt:lpstr>🞄 In order to do code optimization and a good job of code generation , a compiler needs to collect information about the program as a whole and to distribute this information to each block in the flow graph.</vt:lpstr>
      <vt:lpstr>And can be read as</vt:lpstr>
      <vt:lpstr>gen[S] is the set of definitions “generated” by S while kill[S] is the set of definitions that never reach the end of S. </vt:lpstr>
      <vt:lpstr>🞄 The details of how data-flow analysis are set up and solved</vt:lpstr>
      <vt:lpstr>🞄 A program point at which a reference to a data item</vt:lpstr>
      <vt:lpstr>1. The expression x+y is said to be available at its evaluation</vt:lpstr>
      <vt:lpstr>PowerPoint Presentation</vt:lpstr>
      <vt:lpstr>🞄 It takes an intermediate representation of the source program as input and produces an equivalent target program as output.</vt:lpstr>
      <vt:lpstr>🞄 Instruction selection:</vt:lpstr>
      <vt:lpstr>Target code should have following property:</vt:lpstr>
      <vt:lpstr>Issues in Code Generation</vt:lpstr>
      <vt:lpstr>Issues in design of code generation are:</vt:lpstr>
      <vt:lpstr>🞄 Input to the code generator consists of the intermediate</vt:lpstr>
      <vt:lpstr>🞄 The output of the code generator is the target program.</vt:lpstr>
      <vt:lpstr>🞄 This refers to use of malloc/free, new/delete, and related</vt:lpstr>
      <vt:lpstr>🞄 If we do not care about the efficiency of the target program, instruction selection is straightforward. It requires special handling. For example, the sequence of statements</vt:lpstr>
      <vt:lpstr>PowerPoint Presentation</vt:lpstr>
      <vt:lpstr>🞄 T = A + B</vt:lpstr>
      <vt:lpstr>🞄 Some computation orders require fewer registers to hold</vt:lpstr>
      <vt:lpstr>MOV a, R0 ADD b, R0 MOV R0, T1</vt:lpstr>
      <vt:lpstr>   Approaches to code generator</vt:lpstr>
      <vt:lpstr>PowerPoint Presentation</vt:lpstr>
      <vt:lpstr>🞄 In order to find the basic blocks, we need to find the leaders in the program. Then a basic block will start from one leader to the next leader but not including next leader.</vt:lpstr>
      <vt:lpstr>🞄 Program in HLL: fact(x)</vt:lpstr>
      <vt:lpstr>Output of ICG (3-address code)</vt:lpstr>
      <vt:lpstr>PowerPoint Presentation</vt:lpstr>
      <vt:lpstr>PowerPoint Presentation</vt:lpstr>
      <vt:lpstr>PowerPoint Presentation</vt:lpstr>
      <vt:lpstr>PowerPoint Presentation</vt:lpstr>
      <vt:lpstr>PowerPoint Presentation</vt:lpstr>
      <vt:lpstr>Register Allocation and Assignment</vt:lpstr>
      <vt:lpstr>🞄 Efficient utilization of registers is important in generating good code.</vt:lpstr>
      <vt:lpstr>Strategies adopted while doing the global register</vt:lpstr>
      <vt:lpstr>🞄 The usage count gives the idea about how many units of cost can be saved by selecting a specific variable for global register allocation.</vt:lpstr>
      <vt:lpstr>   Register Assignment for Outer Loop</vt:lpstr>
      <vt:lpstr>🞄 In the first pass the specific machine instruction is selected for register allocation. For each variable a symbolic register is allocated.</vt:lpstr>
      <vt:lpstr>DAG Representation of Basic Block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Dhara Joshi</dc:creator>
  <cp:lastModifiedBy>2515012_ Vidyasree</cp:lastModifiedBy>
  <cp:revision>1</cp:revision>
  <dcterms:created xsi:type="dcterms:W3CDTF">2026-02-22T18:59:00Z</dcterms:created>
  <dcterms:modified xsi:type="dcterms:W3CDTF">2026-03-25T06:25:11Z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2024-10-29T00:00:00Z</vt:filetime>
  </property>
  <property fmtid="{D5CDD505-2E9C-101B-9397-08002B2CF9AE}" pid="3" name="Creator">
    <vt:lpwstr>Microsoft® PowerPoint® 2016</vt:lpwstr>
  </property>
  <property fmtid="{D5CDD505-2E9C-101B-9397-08002B2CF9AE}" pid="4" name="LastSaved">
    <vt:filetime>2026-02-22T00:00:00Z</vt:filetime>
  </property>
  <property fmtid="{D5CDD505-2E9C-101B-9397-08002B2CF9AE}" pid="5" name="Producer">
    <vt:lpwstr>Microsoft® PowerPoint® 2016</vt:lpwstr>
  </property>
</Properties>
</file>