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318" r:id="rId6"/>
    <p:sldId id="262" r:id="rId7"/>
    <p:sldId id="263" r:id="rId8"/>
    <p:sldId id="265" r:id="rId9"/>
    <p:sldId id="264" r:id="rId10"/>
    <p:sldId id="319" r:id="rId11"/>
    <p:sldId id="320"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36" r:id="rId25"/>
    <p:sldId id="277" r:id="rId26"/>
    <p:sldId id="279" r:id="rId27"/>
    <p:sldId id="280" r:id="rId28"/>
    <p:sldId id="281" r:id="rId29"/>
    <p:sldId id="282" r:id="rId30"/>
    <p:sldId id="291" r:id="rId31"/>
    <p:sldId id="292" r:id="rId32"/>
    <p:sldId id="293" r:id="rId33"/>
    <p:sldId id="294" r:id="rId34"/>
    <p:sldId id="295" r:id="rId35"/>
    <p:sldId id="296" r:id="rId36"/>
    <p:sldId id="297" r:id="rId37"/>
    <p:sldId id="298" r:id="rId38"/>
    <p:sldId id="299" r:id="rId39"/>
    <p:sldId id="300" r:id="rId40"/>
    <p:sldId id="302" r:id="rId41"/>
    <p:sldId id="303" r:id="rId42"/>
    <p:sldId id="304" r:id="rId43"/>
    <p:sldId id="305"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335"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15012_ Vidyasree" userId="2633e80093b3d421" providerId="LiveId" clId="{12EBA23A-46CD-4FA7-9690-46E67EF4679B}"/>
    <pc:docChg chg="custSel modSld">
      <pc:chgData name="2515012_ Vidyasree" userId="2633e80093b3d421" providerId="LiveId" clId="{12EBA23A-46CD-4FA7-9690-46E67EF4679B}" dt="2026-03-25T17:29:50.433" v="1" actId="478"/>
      <pc:docMkLst>
        <pc:docMk/>
      </pc:docMkLst>
      <pc:sldChg chg="delSp mod">
        <pc:chgData name="2515012_ Vidyasree" userId="2633e80093b3d421" providerId="LiveId" clId="{12EBA23A-46CD-4FA7-9690-46E67EF4679B}" dt="2026-03-25T17:29:50.433" v="1" actId="478"/>
        <pc:sldMkLst>
          <pc:docMk/>
          <pc:sldMk cId="4077736407" sldId="256"/>
        </pc:sldMkLst>
        <pc:spChg chg="del">
          <ac:chgData name="2515012_ Vidyasree" userId="2633e80093b3d421" providerId="LiveId" clId="{12EBA23A-46CD-4FA7-9690-46E67EF4679B}" dt="2026-03-25T17:29:50.433" v="1" actId="478"/>
          <ac:spMkLst>
            <pc:docMk/>
            <pc:sldMk cId="4077736407" sldId="256"/>
            <ac:spMk id="4" creationId="{00000000-0000-0000-0000-000000000000}"/>
          </ac:spMkLst>
        </pc:spChg>
      </pc:sldChg>
      <pc:sldChg chg="modSp mod">
        <pc:chgData name="2515012_ Vidyasree" userId="2633e80093b3d421" providerId="LiveId" clId="{12EBA23A-46CD-4FA7-9690-46E67EF4679B}" dt="2026-03-24T10:36:28.662" v="0" actId="14100"/>
        <pc:sldMkLst>
          <pc:docMk/>
          <pc:sldMk cId="763397199" sldId="307"/>
        </pc:sldMkLst>
        <pc:picChg chg="mod">
          <ac:chgData name="2515012_ Vidyasree" userId="2633e80093b3d421" providerId="LiveId" clId="{12EBA23A-46CD-4FA7-9690-46E67EF4679B}" dt="2026-03-24T10:36:28.662" v="0" actId="14100"/>
          <ac:picMkLst>
            <pc:docMk/>
            <pc:sldMk cId="763397199" sldId="307"/>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1754787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2276147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23484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2938940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409075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189346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1745418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959189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191846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38783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8A64F6-2AB3-4A06-8211-991F94892014}" type="datetimeFigureOut">
              <a:rPr lang="en-IN" smtClean="0"/>
              <a:t>25-03-2026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B098804-DE4B-422F-B774-7DDD3BE28B09}" type="slidenum">
              <a:rPr lang="en-IN" smtClean="0"/>
              <a:t>‹#›</a:t>
            </a:fld>
            <a:endParaRPr lang="en-IN" dirty="0"/>
          </a:p>
        </p:txBody>
      </p:sp>
    </p:spTree>
    <p:extLst>
      <p:ext uri="{BB962C8B-B14F-4D97-AF65-F5344CB8AC3E}">
        <p14:creationId xmlns:p14="http://schemas.microsoft.com/office/powerpoint/2010/main" val="2642403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A64F6-2AB3-4A06-8211-991F94892014}" type="datetimeFigureOut">
              <a:rPr lang="en-IN" smtClean="0"/>
              <a:t>25-03-2026</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098804-DE4B-422F-B774-7DDD3BE28B09}" type="slidenum">
              <a:rPr lang="en-IN" smtClean="0"/>
              <a:t>‹#›</a:t>
            </a:fld>
            <a:endParaRPr lang="en-IN" dirty="0"/>
          </a:p>
        </p:txBody>
      </p:sp>
    </p:spTree>
    <p:extLst>
      <p:ext uri="{BB962C8B-B14F-4D97-AF65-F5344CB8AC3E}">
        <p14:creationId xmlns:p14="http://schemas.microsoft.com/office/powerpoint/2010/main" val="620277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11560" y="1484784"/>
            <a:ext cx="8064896" cy="3108543"/>
          </a:xfrm>
          <a:prstGeom prst="rect">
            <a:avLst/>
          </a:prstGeom>
        </p:spPr>
        <p:txBody>
          <a:bodyPr wrap="square">
            <a:spAutoFit/>
          </a:bodyPr>
          <a:lstStyle/>
          <a:p>
            <a:r>
              <a:rPr lang="en-IN" sz="2800" u="sng" dirty="0"/>
              <a:t>CODE OPTIMIZATION AND CODE GENERATION </a:t>
            </a:r>
          </a:p>
          <a:p>
            <a:pPr algn="just"/>
            <a:r>
              <a:rPr lang="en-IN" sz="2800" dirty="0"/>
              <a:t>Principal Sources of Optimization-DAG- Optimization of Basic Blocks-Global Data Flow Analysis - Efficient Data Flow Algorithms</a:t>
            </a:r>
          </a:p>
          <a:p>
            <a:pPr algn="just"/>
            <a:r>
              <a:rPr lang="en-IN" sz="2800" dirty="0"/>
              <a:t>Issues in Design of a Code Generator - A Simple Code Generator Algorithm. Case Study: Single pass and two pass compilers.</a:t>
            </a:r>
          </a:p>
        </p:txBody>
      </p:sp>
    </p:spTree>
    <p:extLst>
      <p:ext uri="{BB962C8B-B14F-4D97-AF65-F5344CB8AC3E}">
        <p14:creationId xmlns:p14="http://schemas.microsoft.com/office/powerpoint/2010/main" val="4077736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404664"/>
            <a:ext cx="3326039" cy="523220"/>
          </a:xfrm>
          <a:prstGeom prst="rect">
            <a:avLst/>
          </a:prstGeom>
        </p:spPr>
        <p:txBody>
          <a:bodyPr wrap="none">
            <a:spAutoFit/>
          </a:bodyPr>
          <a:lstStyle/>
          <a:p>
            <a:r>
              <a:rPr lang="en-IN" sz="2800" b="1" dirty="0"/>
              <a:t>CODE OPTIMIZATION</a:t>
            </a:r>
            <a:endParaRPr lang="en-IN" sz="2800" dirty="0"/>
          </a:p>
        </p:txBody>
      </p:sp>
      <p:sp>
        <p:nvSpPr>
          <p:cNvPr id="5" name="Rectangle 4"/>
          <p:cNvSpPr/>
          <p:nvPr/>
        </p:nvSpPr>
        <p:spPr>
          <a:xfrm>
            <a:off x="899592" y="1268760"/>
            <a:ext cx="7488832" cy="4401205"/>
          </a:xfrm>
          <a:prstGeom prst="rect">
            <a:avLst/>
          </a:prstGeom>
        </p:spPr>
        <p:txBody>
          <a:bodyPr wrap="square">
            <a:spAutoFit/>
          </a:bodyPr>
          <a:lstStyle/>
          <a:p>
            <a:pPr algn="just"/>
            <a:r>
              <a:rPr lang="en-IN" sz="2800" dirty="0"/>
              <a:t>The code produced by the straight forward compiling algorithms can often be made to run faster or take less space, or both. </a:t>
            </a:r>
          </a:p>
          <a:p>
            <a:pPr algn="just"/>
            <a:endParaRPr lang="en-IN" sz="2800" dirty="0"/>
          </a:p>
          <a:p>
            <a:pPr algn="just"/>
            <a:r>
              <a:rPr lang="en-IN" sz="2800" dirty="0"/>
              <a:t>This improvement is achieved by program transformations that are traditionally called optimizations. </a:t>
            </a:r>
          </a:p>
          <a:p>
            <a:pPr algn="just"/>
            <a:endParaRPr lang="en-IN" sz="2800" dirty="0"/>
          </a:p>
          <a:p>
            <a:pPr algn="just"/>
            <a:r>
              <a:rPr lang="en-IN" sz="2800" dirty="0"/>
              <a:t>Compilers that apply code-improving transformations are called optimizing compilers.</a:t>
            </a:r>
          </a:p>
        </p:txBody>
      </p:sp>
    </p:spTree>
    <p:extLst>
      <p:ext uri="{BB962C8B-B14F-4D97-AF65-F5344CB8AC3E}">
        <p14:creationId xmlns:p14="http://schemas.microsoft.com/office/powerpoint/2010/main" val="49350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332656"/>
            <a:ext cx="8496944" cy="5262979"/>
          </a:xfrm>
          <a:prstGeom prst="rect">
            <a:avLst/>
          </a:prstGeom>
        </p:spPr>
        <p:txBody>
          <a:bodyPr wrap="square">
            <a:spAutoFit/>
          </a:bodyPr>
          <a:lstStyle/>
          <a:p>
            <a:pPr algn="just"/>
            <a:r>
              <a:rPr lang="en-IN" sz="2400" dirty="0"/>
              <a:t>Optimizations are classified into two categories. </a:t>
            </a:r>
          </a:p>
          <a:p>
            <a:pPr algn="just"/>
            <a:r>
              <a:rPr lang="en-IN" sz="2400" dirty="0"/>
              <a:t>They are</a:t>
            </a:r>
          </a:p>
          <a:p>
            <a:pPr algn="just"/>
            <a:r>
              <a:rPr lang="en-IN" sz="2400" dirty="0"/>
              <a:t>•     Machine independent optimizations:</a:t>
            </a:r>
          </a:p>
          <a:p>
            <a:pPr algn="just"/>
            <a:r>
              <a:rPr lang="en-IN" sz="2400" dirty="0"/>
              <a:t>•     Machine dependant optimizations:</a:t>
            </a:r>
          </a:p>
          <a:p>
            <a:pPr algn="just"/>
            <a:r>
              <a:rPr lang="en-IN" sz="2400" dirty="0"/>
              <a:t> </a:t>
            </a:r>
          </a:p>
          <a:p>
            <a:pPr algn="just"/>
            <a:endParaRPr lang="en-IN" sz="2400" b="1" dirty="0"/>
          </a:p>
          <a:p>
            <a:pPr algn="just"/>
            <a:r>
              <a:rPr lang="en-IN" sz="2400" b="1" dirty="0"/>
              <a:t>Machine independent optimizations:</a:t>
            </a:r>
            <a:endParaRPr lang="en-IN" sz="2400" dirty="0"/>
          </a:p>
          <a:p>
            <a:pPr algn="just"/>
            <a:r>
              <a:rPr lang="en-IN" sz="2400" dirty="0"/>
              <a:t>• Machine independent optimizations are program transformations that improve the target code without taking into consideration any properties of the target machine.</a:t>
            </a:r>
          </a:p>
          <a:p>
            <a:pPr algn="just"/>
            <a:endParaRPr lang="en-IN" sz="2400" dirty="0"/>
          </a:p>
          <a:p>
            <a:pPr algn="just"/>
            <a:r>
              <a:rPr lang="en-IN" sz="2400" b="1" dirty="0"/>
              <a:t>Machine dependant optimizations:</a:t>
            </a:r>
            <a:endParaRPr lang="en-IN" sz="2400" dirty="0"/>
          </a:p>
          <a:p>
            <a:pPr algn="just"/>
            <a:r>
              <a:rPr lang="en-IN" sz="2400" dirty="0"/>
              <a:t>• Machine dependant optimizations are based on register allocation and utilization of special machine-instruction sequences.</a:t>
            </a:r>
          </a:p>
        </p:txBody>
      </p:sp>
    </p:spTree>
    <p:extLst>
      <p:ext uri="{BB962C8B-B14F-4D97-AF65-F5344CB8AC3E}">
        <p14:creationId xmlns:p14="http://schemas.microsoft.com/office/powerpoint/2010/main" val="3713669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6632"/>
            <a:ext cx="8640960" cy="3447098"/>
          </a:xfrm>
          <a:prstGeom prst="rect">
            <a:avLst/>
          </a:prstGeom>
        </p:spPr>
        <p:txBody>
          <a:bodyPr wrap="square">
            <a:spAutoFit/>
          </a:bodyPr>
          <a:lstStyle/>
          <a:p>
            <a:r>
              <a:rPr lang="en-IN" sz="2800" b="1" u="sng" dirty="0"/>
              <a:t>PRINCIPAL SOURCES OF OPTIMISATION</a:t>
            </a:r>
            <a:endParaRPr lang="en-IN" sz="2800" u="sng" dirty="0"/>
          </a:p>
          <a:p>
            <a:r>
              <a:rPr lang="en-IN" dirty="0"/>
              <a:t> </a:t>
            </a:r>
          </a:p>
          <a:p>
            <a:pPr algn="just"/>
            <a:r>
              <a:rPr lang="en-IN" sz="2400" dirty="0"/>
              <a:t>A transformation of a program is called local if it can be performed by looking only at the statements in a basic block; otherwise, it is called global. </a:t>
            </a:r>
          </a:p>
          <a:p>
            <a:pPr algn="just"/>
            <a:endParaRPr lang="en-IN" sz="1000" dirty="0"/>
          </a:p>
          <a:p>
            <a:pPr algn="just"/>
            <a:r>
              <a:rPr lang="en-IN" sz="2400" dirty="0"/>
              <a:t>Many transformations can be performed at both the local and global levels. </a:t>
            </a:r>
          </a:p>
          <a:p>
            <a:pPr algn="just"/>
            <a:endParaRPr lang="en-IN" sz="1200" dirty="0"/>
          </a:p>
          <a:p>
            <a:pPr algn="just"/>
            <a:r>
              <a:rPr lang="en-IN" sz="2400" dirty="0"/>
              <a:t>Local transformations are usually performed first.</a:t>
            </a:r>
          </a:p>
        </p:txBody>
      </p:sp>
      <p:sp>
        <p:nvSpPr>
          <p:cNvPr id="3" name="Rectangle 2"/>
          <p:cNvSpPr/>
          <p:nvPr/>
        </p:nvSpPr>
        <p:spPr>
          <a:xfrm>
            <a:off x="112021" y="3861048"/>
            <a:ext cx="8568952" cy="1200329"/>
          </a:xfrm>
          <a:prstGeom prst="rect">
            <a:avLst/>
          </a:prstGeom>
        </p:spPr>
        <p:txBody>
          <a:bodyPr wrap="square">
            <a:spAutoFit/>
          </a:bodyPr>
          <a:lstStyle/>
          <a:p>
            <a:r>
              <a:rPr lang="en-IN" sz="2400" b="1" dirty="0"/>
              <a:t>Function-Preserving Transformations</a:t>
            </a:r>
            <a:endParaRPr lang="en-IN" sz="2400" dirty="0"/>
          </a:p>
          <a:p>
            <a:pPr algn="just"/>
            <a:r>
              <a:rPr lang="en-IN" sz="2400" dirty="0"/>
              <a:t>There are a number of ways in which a compiler can improve a program without changing the function it computes.</a:t>
            </a:r>
          </a:p>
        </p:txBody>
      </p:sp>
    </p:spTree>
    <p:extLst>
      <p:ext uri="{BB962C8B-B14F-4D97-AF65-F5344CB8AC3E}">
        <p14:creationId xmlns:p14="http://schemas.microsoft.com/office/powerpoint/2010/main" val="342665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www.gatevidyalay.com/wp-content/uploads/2018/03/Code-Optimization-Techniques.png"/>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2656"/>
            <a:ext cx="8064896" cy="6120680"/>
          </a:xfrm>
          <a:prstGeom prst="rect">
            <a:avLst/>
          </a:prstGeom>
          <a:noFill/>
          <a:ln>
            <a:noFill/>
          </a:ln>
        </p:spPr>
      </p:pic>
    </p:spTree>
    <p:extLst>
      <p:ext uri="{BB962C8B-B14F-4D97-AF65-F5344CB8AC3E}">
        <p14:creationId xmlns:p14="http://schemas.microsoft.com/office/powerpoint/2010/main" val="1523066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122" y="332656"/>
            <a:ext cx="8784976" cy="1631216"/>
          </a:xfrm>
          <a:prstGeom prst="rect">
            <a:avLst/>
          </a:prstGeom>
        </p:spPr>
        <p:txBody>
          <a:bodyPr wrap="square">
            <a:spAutoFit/>
          </a:bodyPr>
          <a:lstStyle/>
          <a:p>
            <a:r>
              <a:rPr lang="en-IN" sz="2000" b="1" dirty="0"/>
              <a:t>Common Sub expressions elimination:</a:t>
            </a:r>
            <a:endParaRPr lang="en-IN" sz="2000" dirty="0"/>
          </a:p>
          <a:p>
            <a:pPr algn="just"/>
            <a:r>
              <a:rPr lang="en-IN" sz="2000" dirty="0"/>
              <a:t>An occurrence of an expression E is called a common sub-expression if E was previously computed, and the values of variables in E have not changed since the previous computation. We can avoid </a:t>
            </a:r>
            <a:r>
              <a:rPr lang="en-IN" sz="2000" dirty="0" err="1"/>
              <a:t>recomputing</a:t>
            </a:r>
            <a:r>
              <a:rPr lang="en-IN" sz="2000" dirty="0"/>
              <a:t> the expression if we can use the previously computed value.</a:t>
            </a:r>
            <a:endParaRPr lang="en-IN" dirty="0"/>
          </a:p>
        </p:txBody>
      </p:sp>
      <p:sp>
        <p:nvSpPr>
          <p:cNvPr id="3" name="TextBox 2"/>
          <p:cNvSpPr txBox="1"/>
          <p:nvPr/>
        </p:nvSpPr>
        <p:spPr>
          <a:xfrm>
            <a:off x="3203848" y="2415371"/>
            <a:ext cx="5760640" cy="2308324"/>
          </a:xfrm>
          <a:prstGeom prst="rect">
            <a:avLst/>
          </a:prstGeom>
          <a:noFill/>
        </p:spPr>
        <p:txBody>
          <a:bodyPr wrap="square" rtlCol="0">
            <a:spAutoFit/>
          </a:bodyPr>
          <a:lstStyle/>
          <a:p>
            <a:r>
              <a:rPr lang="en-IN" dirty="0"/>
              <a:t>The above code can be optimized using the common sub-expression elimination as</a:t>
            </a:r>
          </a:p>
          <a:p>
            <a:r>
              <a:rPr lang="en-IN" b="1" dirty="0"/>
              <a:t>t1: = 4*</a:t>
            </a:r>
            <a:r>
              <a:rPr lang="en-IN" b="1" dirty="0" err="1"/>
              <a:t>i</a:t>
            </a:r>
            <a:endParaRPr lang="en-IN" dirty="0"/>
          </a:p>
          <a:p>
            <a:r>
              <a:rPr lang="en-IN" b="1" dirty="0"/>
              <a:t> t2: = a [t1]</a:t>
            </a:r>
            <a:endParaRPr lang="en-IN" dirty="0"/>
          </a:p>
          <a:p>
            <a:r>
              <a:rPr lang="en-IN" b="1" dirty="0"/>
              <a:t>t3: = 4*j</a:t>
            </a:r>
            <a:endParaRPr lang="en-IN" dirty="0"/>
          </a:p>
          <a:p>
            <a:r>
              <a:rPr lang="en-IN" b="1" dirty="0"/>
              <a:t>t5: = n</a:t>
            </a:r>
            <a:endParaRPr lang="en-IN" dirty="0"/>
          </a:p>
          <a:p>
            <a:r>
              <a:rPr lang="en-IN" b="1" dirty="0"/>
              <a:t>t6: = b [t1] +t5</a:t>
            </a:r>
            <a:endParaRPr lang="en-IN" dirty="0"/>
          </a:p>
          <a:p>
            <a:endParaRPr lang="en-IN" dirty="0"/>
          </a:p>
        </p:txBody>
      </p:sp>
      <p:sp>
        <p:nvSpPr>
          <p:cNvPr id="4" name="Rectangle 3"/>
          <p:cNvSpPr/>
          <p:nvPr/>
        </p:nvSpPr>
        <p:spPr>
          <a:xfrm>
            <a:off x="196040" y="5085184"/>
            <a:ext cx="8619140" cy="646331"/>
          </a:xfrm>
          <a:prstGeom prst="rect">
            <a:avLst/>
          </a:prstGeom>
        </p:spPr>
        <p:txBody>
          <a:bodyPr wrap="square">
            <a:spAutoFit/>
          </a:bodyPr>
          <a:lstStyle/>
          <a:p>
            <a:r>
              <a:rPr lang="en-IN" dirty="0"/>
              <a:t>The common sub expression t4: =4*</a:t>
            </a:r>
            <a:r>
              <a:rPr lang="en-IN" dirty="0" err="1"/>
              <a:t>i</a:t>
            </a:r>
            <a:r>
              <a:rPr lang="en-IN" dirty="0"/>
              <a:t> is eliminated as its computation is already in t1 and the value of </a:t>
            </a:r>
            <a:r>
              <a:rPr lang="en-IN" dirty="0" err="1"/>
              <a:t>i</a:t>
            </a:r>
            <a:r>
              <a:rPr lang="en-IN" dirty="0"/>
              <a:t> is not been changed from definition to use.</a:t>
            </a:r>
          </a:p>
        </p:txBody>
      </p:sp>
      <p:sp>
        <p:nvSpPr>
          <p:cNvPr id="5" name="TextBox 4"/>
          <p:cNvSpPr txBox="1"/>
          <p:nvPr/>
        </p:nvSpPr>
        <p:spPr>
          <a:xfrm>
            <a:off x="196040" y="2276872"/>
            <a:ext cx="2702055" cy="2585323"/>
          </a:xfrm>
          <a:prstGeom prst="rect">
            <a:avLst/>
          </a:prstGeom>
          <a:noFill/>
        </p:spPr>
        <p:txBody>
          <a:bodyPr wrap="square" rtlCol="0">
            <a:spAutoFit/>
          </a:bodyPr>
          <a:lstStyle/>
          <a:p>
            <a:r>
              <a:rPr lang="en-IN" dirty="0"/>
              <a:t>•   For example</a:t>
            </a:r>
          </a:p>
          <a:p>
            <a:r>
              <a:rPr lang="en-IN" dirty="0"/>
              <a:t> </a:t>
            </a:r>
          </a:p>
          <a:p>
            <a:r>
              <a:rPr lang="en-IN" b="1" dirty="0"/>
              <a:t>t1: = 4*</a:t>
            </a:r>
            <a:r>
              <a:rPr lang="en-IN" b="1" dirty="0" err="1"/>
              <a:t>i</a:t>
            </a:r>
            <a:endParaRPr lang="en-IN" dirty="0"/>
          </a:p>
          <a:p>
            <a:r>
              <a:rPr lang="en-IN" b="1" dirty="0"/>
              <a:t>t2: = a [t1]</a:t>
            </a:r>
            <a:endParaRPr lang="en-IN" dirty="0"/>
          </a:p>
          <a:p>
            <a:r>
              <a:rPr lang="en-IN" b="1" dirty="0"/>
              <a:t>t3: = 4*j</a:t>
            </a:r>
            <a:endParaRPr lang="en-IN" dirty="0"/>
          </a:p>
          <a:p>
            <a:r>
              <a:rPr lang="en-IN" b="1" dirty="0"/>
              <a:t>t4: = 4*</a:t>
            </a:r>
            <a:r>
              <a:rPr lang="en-IN" b="1" dirty="0" err="1"/>
              <a:t>i</a:t>
            </a:r>
            <a:endParaRPr lang="en-IN" dirty="0"/>
          </a:p>
          <a:p>
            <a:r>
              <a:rPr lang="en-IN" b="1" dirty="0"/>
              <a:t>t5: = n</a:t>
            </a:r>
            <a:endParaRPr lang="en-IN" dirty="0"/>
          </a:p>
          <a:p>
            <a:r>
              <a:rPr lang="en-IN" b="1" dirty="0"/>
              <a:t>t6: = b [t4] +t5</a:t>
            </a:r>
            <a:endParaRPr lang="en-IN" dirty="0"/>
          </a:p>
          <a:p>
            <a:endParaRPr lang="en-IN" dirty="0"/>
          </a:p>
        </p:txBody>
      </p:sp>
    </p:spTree>
    <p:extLst>
      <p:ext uri="{BB962C8B-B14F-4D97-AF65-F5344CB8AC3E}">
        <p14:creationId xmlns:p14="http://schemas.microsoft.com/office/powerpoint/2010/main" val="3426657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4345"/>
            <a:ext cx="8640960" cy="5416868"/>
          </a:xfrm>
          <a:prstGeom prst="rect">
            <a:avLst/>
          </a:prstGeom>
        </p:spPr>
        <p:txBody>
          <a:bodyPr wrap="square">
            <a:spAutoFit/>
          </a:bodyPr>
          <a:lstStyle/>
          <a:p>
            <a:r>
              <a:rPr lang="en-IN" sz="2800" b="1" u="sng" dirty="0"/>
              <a:t>Copy Propagation:</a:t>
            </a:r>
            <a:endParaRPr lang="en-IN" sz="2800" u="sng" dirty="0"/>
          </a:p>
          <a:p>
            <a:r>
              <a:rPr lang="en-IN" dirty="0"/>
              <a:t> </a:t>
            </a:r>
          </a:p>
          <a:p>
            <a:pPr algn="just"/>
            <a:r>
              <a:rPr lang="en-IN" sz="2000" dirty="0"/>
              <a:t>Assignments of the form f : = g called copy statements, or copies for short. The idea behind the copy-propagation transformation is to use g for f, whenever possible after the copy statement f: = g. </a:t>
            </a:r>
          </a:p>
          <a:p>
            <a:pPr algn="just"/>
            <a:r>
              <a:rPr lang="en-IN" sz="2000" dirty="0"/>
              <a:t>Copy propagation means use of one variable instead of another. This may not appear to be an improvement, but as we shall see it gives us an opportunity to eliminate x.</a:t>
            </a:r>
          </a:p>
          <a:p>
            <a:r>
              <a:rPr lang="en-IN" sz="2000" dirty="0"/>
              <a:t> </a:t>
            </a:r>
          </a:p>
          <a:p>
            <a:r>
              <a:rPr lang="en-IN" sz="2000" dirty="0"/>
              <a:t>• For example:</a:t>
            </a:r>
          </a:p>
          <a:p>
            <a:r>
              <a:rPr lang="en-IN" sz="2000" dirty="0"/>
              <a:t>x=Pi;</a:t>
            </a:r>
          </a:p>
          <a:p>
            <a:r>
              <a:rPr lang="en-IN" sz="2000" dirty="0"/>
              <a:t> </a:t>
            </a:r>
          </a:p>
          <a:p>
            <a:r>
              <a:rPr lang="en-IN" sz="2000" dirty="0"/>
              <a:t>A=x*r*r;</a:t>
            </a:r>
          </a:p>
          <a:p>
            <a:r>
              <a:rPr lang="en-IN" sz="2000" dirty="0"/>
              <a:t> </a:t>
            </a:r>
          </a:p>
          <a:p>
            <a:r>
              <a:rPr lang="en-IN" sz="2000" dirty="0"/>
              <a:t>The optimization using copy propagation can be done as follows: A=Pi*r*r;</a:t>
            </a:r>
          </a:p>
          <a:p>
            <a:r>
              <a:rPr lang="en-IN" sz="2000" dirty="0"/>
              <a:t> </a:t>
            </a:r>
          </a:p>
          <a:p>
            <a:r>
              <a:rPr lang="en-IN" sz="2000" dirty="0"/>
              <a:t>Here the variable x is eliminated</a:t>
            </a:r>
          </a:p>
        </p:txBody>
      </p:sp>
    </p:spTree>
    <p:extLst>
      <p:ext uri="{BB962C8B-B14F-4D97-AF65-F5344CB8AC3E}">
        <p14:creationId xmlns:p14="http://schemas.microsoft.com/office/powerpoint/2010/main" val="3426657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8280920" cy="4493538"/>
          </a:xfrm>
          <a:prstGeom prst="rect">
            <a:avLst/>
          </a:prstGeom>
        </p:spPr>
        <p:txBody>
          <a:bodyPr wrap="square">
            <a:spAutoFit/>
          </a:bodyPr>
          <a:lstStyle/>
          <a:p>
            <a:r>
              <a:rPr lang="en-IN" sz="2800" b="1" u="sng" dirty="0"/>
              <a:t>Constant folding:</a:t>
            </a:r>
            <a:endParaRPr lang="en-IN" sz="2800" u="sng" dirty="0"/>
          </a:p>
          <a:p>
            <a:r>
              <a:rPr lang="en-IN" dirty="0"/>
              <a:t> </a:t>
            </a:r>
          </a:p>
          <a:p>
            <a:pPr algn="just"/>
            <a:r>
              <a:rPr lang="en-IN" sz="2400" dirty="0"/>
              <a:t>Deducing at compile time that the value of an expression is a constant and using the constant instead is known as constant folding. </a:t>
            </a:r>
          </a:p>
          <a:p>
            <a:pPr algn="just"/>
            <a:endParaRPr lang="en-IN" sz="2400" dirty="0"/>
          </a:p>
          <a:p>
            <a:pPr algn="just"/>
            <a:r>
              <a:rPr lang="en-IN" sz="2400" dirty="0"/>
              <a:t>One advantage of copy propagation is that it often turns the copy statement into dead code.</a:t>
            </a:r>
          </a:p>
          <a:p>
            <a:r>
              <a:rPr lang="en-IN" sz="2400" dirty="0"/>
              <a:t> </a:t>
            </a:r>
          </a:p>
          <a:p>
            <a:r>
              <a:rPr lang="en-IN" sz="2400" dirty="0"/>
              <a:t>For example,</a:t>
            </a:r>
          </a:p>
          <a:p>
            <a:r>
              <a:rPr lang="en-IN" sz="2400" dirty="0"/>
              <a:t>a=3.14157/2 can be replaced by</a:t>
            </a:r>
          </a:p>
          <a:p>
            <a:r>
              <a:rPr lang="en-IN" sz="2400" dirty="0"/>
              <a:t>a=1.570 there by eliminating a division operation.</a:t>
            </a:r>
          </a:p>
        </p:txBody>
      </p:sp>
    </p:spTree>
    <p:extLst>
      <p:ext uri="{BB962C8B-B14F-4D97-AF65-F5344CB8AC3E}">
        <p14:creationId xmlns:p14="http://schemas.microsoft.com/office/powerpoint/2010/main" val="3426657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712968" cy="6432530"/>
          </a:xfrm>
          <a:prstGeom prst="rect">
            <a:avLst/>
          </a:prstGeom>
        </p:spPr>
        <p:txBody>
          <a:bodyPr wrap="square">
            <a:spAutoFit/>
          </a:bodyPr>
          <a:lstStyle/>
          <a:p>
            <a:r>
              <a:rPr lang="en-IN" sz="2800" b="1" u="sng" dirty="0"/>
              <a:t>Dead-Code Eliminations:</a:t>
            </a:r>
            <a:endParaRPr lang="en-IN" sz="2800" u="sng" dirty="0"/>
          </a:p>
          <a:p>
            <a:pPr algn="just"/>
            <a:r>
              <a:rPr lang="en-IN" sz="2400" dirty="0"/>
              <a:t>A variable is live at a point in a program if its value can be used subsequently; otherwise, it is dead at that point. </a:t>
            </a:r>
          </a:p>
          <a:p>
            <a:pPr algn="just"/>
            <a:r>
              <a:rPr lang="en-IN" sz="2400" dirty="0"/>
              <a:t>A related idea is dead or useless code, statements that compute values that never get used. </a:t>
            </a:r>
          </a:p>
          <a:p>
            <a:pPr algn="just"/>
            <a:r>
              <a:rPr lang="en-IN" sz="2400" dirty="0"/>
              <a:t>While the programmer is unlikely to introduce any dead code intentionally, it may appear as the result of previous transformations.</a:t>
            </a:r>
          </a:p>
          <a:p>
            <a:r>
              <a:rPr lang="en-IN" sz="2400" dirty="0"/>
              <a:t> </a:t>
            </a:r>
          </a:p>
          <a:p>
            <a:r>
              <a:rPr lang="en-IN" sz="2400" dirty="0"/>
              <a:t>Example:</a:t>
            </a:r>
          </a:p>
          <a:p>
            <a:r>
              <a:rPr lang="en-IN" sz="2400" dirty="0"/>
              <a:t> </a:t>
            </a:r>
            <a:r>
              <a:rPr lang="en-IN" sz="2400" dirty="0" err="1"/>
              <a:t>i</a:t>
            </a:r>
            <a:r>
              <a:rPr lang="en-IN" sz="2400" dirty="0"/>
              <a:t>=0;</a:t>
            </a:r>
          </a:p>
          <a:p>
            <a:r>
              <a:rPr lang="en-IN" sz="2400" dirty="0"/>
              <a:t>if(</a:t>
            </a:r>
            <a:r>
              <a:rPr lang="en-IN" sz="2400" dirty="0" err="1"/>
              <a:t>i</a:t>
            </a:r>
            <a:r>
              <a:rPr lang="en-IN" sz="2400" dirty="0"/>
              <a:t>=1)</a:t>
            </a:r>
          </a:p>
          <a:p>
            <a:r>
              <a:rPr lang="en-IN" sz="2400" dirty="0"/>
              <a:t>{</a:t>
            </a:r>
          </a:p>
          <a:p>
            <a:r>
              <a:rPr lang="en-IN" sz="2400" dirty="0"/>
              <a:t>a=b+5;</a:t>
            </a:r>
          </a:p>
          <a:p>
            <a:r>
              <a:rPr lang="en-IN" sz="2400" dirty="0"/>
              <a:t>}</a:t>
            </a:r>
          </a:p>
          <a:p>
            <a:r>
              <a:rPr lang="en-IN" sz="2400" dirty="0"/>
              <a:t>Here, ‘if’ statement is dead code because this condition will never get satisfied.</a:t>
            </a:r>
          </a:p>
        </p:txBody>
      </p:sp>
    </p:spTree>
    <p:extLst>
      <p:ext uri="{BB962C8B-B14F-4D97-AF65-F5344CB8AC3E}">
        <p14:creationId xmlns:p14="http://schemas.microsoft.com/office/powerpoint/2010/main" val="3426657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289679"/>
            <a:ext cx="8784976" cy="3170099"/>
          </a:xfrm>
          <a:prstGeom prst="rect">
            <a:avLst/>
          </a:prstGeom>
        </p:spPr>
        <p:txBody>
          <a:bodyPr wrap="square">
            <a:spAutoFit/>
          </a:bodyPr>
          <a:lstStyle/>
          <a:p>
            <a:pPr fontAlgn="base"/>
            <a:r>
              <a:rPr lang="en-IN" sz="3200" u="sng" dirty="0"/>
              <a:t>Code Movement</a:t>
            </a:r>
          </a:p>
          <a:p>
            <a:pPr fontAlgn="base"/>
            <a:r>
              <a:rPr lang="en-IN" sz="2400" dirty="0"/>
              <a:t> In this technique,</a:t>
            </a:r>
          </a:p>
          <a:p>
            <a:pPr marL="285750" lvl="0" indent="-285750" algn="just" fontAlgn="base">
              <a:buFont typeface="Arial" panose="020B0604020202020204" pitchFamily="34" charset="0"/>
              <a:buChar char="•"/>
            </a:pPr>
            <a:r>
              <a:rPr lang="en-IN" sz="2400" dirty="0"/>
              <a:t>As the name suggests, it involves movement of the code.</a:t>
            </a:r>
          </a:p>
          <a:p>
            <a:pPr marL="285750" lvl="0" indent="-285750" algn="just" fontAlgn="base">
              <a:buFont typeface="Arial" panose="020B0604020202020204" pitchFamily="34" charset="0"/>
              <a:buChar char="•"/>
            </a:pPr>
            <a:r>
              <a:rPr lang="en-IN" sz="2400" dirty="0"/>
              <a:t>The code present inside the loop is moved out if it does not matter whether it is present inside or outside.</a:t>
            </a:r>
          </a:p>
          <a:p>
            <a:pPr marL="285750" lvl="0" indent="-285750" algn="just" fontAlgn="base">
              <a:buFont typeface="Arial" panose="020B0604020202020204" pitchFamily="34" charset="0"/>
              <a:buChar char="•"/>
            </a:pPr>
            <a:r>
              <a:rPr lang="en-IN" sz="2400" dirty="0"/>
              <a:t>Such a code unnecessarily gets execute again and again with each iteration of the loop.</a:t>
            </a:r>
          </a:p>
          <a:p>
            <a:pPr marL="285750" lvl="0" indent="-285750" algn="just" fontAlgn="base">
              <a:buFont typeface="Arial" panose="020B0604020202020204" pitchFamily="34" charset="0"/>
              <a:buChar char="•"/>
            </a:pPr>
            <a:r>
              <a:rPr lang="en-IN" sz="2400" dirty="0"/>
              <a:t>This leads to the wastage of time at run time.</a:t>
            </a:r>
          </a:p>
        </p:txBody>
      </p:sp>
      <p:sp>
        <p:nvSpPr>
          <p:cNvPr id="5" name="Rectangle 4"/>
          <p:cNvSpPr/>
          <p:nvPr/>
        </p:nvSpPr>
        <p:spPr>
          <a:xfrm>
            <a:off x="467544" y="3717032"/>
            <a:ext cx="2752741" cy="2185214"/>
          </a:xfrm>
          <a:prstGeom prst="rect">
            <a:avLst/>
          </a:prstGeom>
        </p:spPr>
        <p:txBody>
          <a:bodyPr wrap="none">
            <a:spAutoFit/>
          </a:bodyPr>
          <a:lstStyle/>
          <a:p>
            <a:r>
              <a:rPr lang="en-IN" b="1" dirty="0"/>
              <a:t>Code Before Optimization</a:t>
            </a:r>
          </a:p>
          <a:p>
            <a:endParaRPr lang="en-US" b="1" dirty="0"/>
          </a:p>
          <a:p>
            <a:r>
              <a:rPr lang="en-IN" sz="2000" b="1" dirty="0"/>
              <a:t>for ( </a:t>
            </a:r>
            <a:r>
              <a:rPr lang="en-IN" sz="2000" b="1" dirty="0" err="1"/>
              <a:t>int</a:t>
            </a:r>
            <a:r>
              <a:rPr lang="en-IN" sz="2000" b="1" dirty="0"/>
              <a:t> j = 0 ; j &lt; n ; j ++)</a:t>
            </a:r>
          </a:p>
          <a:p>
            <a:pPr fontAlgn="base"/>
            <a:r>
              <a:rPr lang="en-IN" sz="2000" b="1" dirty="0"/>
              <a:t>{</a:t>
            </a:r>
          </a:p>
          <a:p>
            <a:pPr fontAlgn="base"/>
            <a:r>
              <a:rPr lang="en-IN" sz="2000" b="1" dirty="0"/>
              <a:t>x = y + z ;</a:t>
            </a:r>
          </a:p>
          <a:p>
            <a:pPr fontAlgn="base"/>
            <a:r>
              <a:rPr lang="en-IN" sz="2000" b="1" dirty="0"/>
              <a:t>a[j] = 6 x j;</a:t>
            </a:r>
          </a:p>
          <a:p>
            <a:r>
              <a:rPr lang="en-IN" sz="2000" b="1" dirty="0"/>
              <a:t>}</a:t>
            </a:r>
          </a:p>
        </p:txBody>
      </p:sp>
      <p:sp>
        <p:nvSpPr>
          <p:cNvPr id="6" name="Rectangle 5"/>
          <p:cNvSpPr/>
          <p:nvPr/>
        </p:nvSpPr>
        <p:spPr>
          <a:xfrm>
            <a:off x="5004048" y="3717032"/>
            <a:ext cx="2752741" cy="2185214"/>
          </a:xfrm>
          <a:prstGeom prst="rect">
            <a:avLst/>
          </a:prstGeom>
        </p:spPr>
        <p:txBody>
          <a:bodyPr wrap="none">
            <a:spAutoFit/>
          </a:bodyPr>
          <a:lstStyle/>
          <a:p>
            <a:r>
              <a:rPr lang="en-IN" b="1" dirty="0"/>
              <a:t>Code After Optimization</a:t>
            </a:r>
          </a:p>
          <a:p>
            <a:endParaRPr lang="en-IN" dirty="0"/>
          </a:p>
          <a:p>
            <a:r>
              <a:rPr lang="en-IN" sz="2000" b="1" dirty="0"/>
              <a:t>x = y + z ;</a:t>
            </a:r>
          </a:p>
          <a:p>
            <a:pPr fontAlgn="base"/>
            <a:r>
              <a:rPr lang="en-IN" sz="2000" b="1" dirty="0"/>
              <a:t>for ( </a:t>
            </a:r>
            <a:r>
              <a:rPr lang="en-IN" sz="2000" b="1" dirty="0" err="1"/>
              <a:t>int</a:t>
            </a:r>
            <a:r>
              <a:rPr lang="en-IN" sz="2000" b="1" dirty="0"/>
              <a:t> j = 0 ; j &lt; n ; j ++)</a:t>
            </a:r>
          </a:p>
          <a:p>
            <a:pPr fontAlgn="base"/>
            <a:r>
              <a:rPr lang="en-IN" sz="2000" b="1" dirty="0"/>
              <a:t>{</a:t>
            </a:r>
          </a:p>
          <a:p>
            <a:pPr fontAlgn="base"/>
            <a:r>
              <a:rPr lang="en-IN" sz="2000" b="1" dirty="0"/>
              <a:t>a[j] = 6 x j;</a:t>
            </a:r>
          </a:p>
          <a:p>
            <a:r>
              <a:rPr lang="en-IN" sz="2000" b="1" dirty="0"/>
              <a:t>}</a:t>
            </a:r>
          </a:p>
        </p:txBody>
      </p:sp>
    </p:spTree>
    <p:extLst>
      <p:ext uri="{BB962C8B-B14F-4D97-AF65-F5344CB8AC3E}">
        <p14:creationId xmlns:p14="http://schemas.microsoft.com/office/powerpoint/2010/main" val="113896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289679"/>
            <a:ext cx="8568952" cy="3662541"/>
          </a:xfrm>
          <a:prstGeom prst="rect">
            <a:avLst/>
          </a:prstGeom>
        </p:spPr>
        <p:txBody>
          <a:bodyPr wrap="square">
            <a:spAutoFit/>
          </a:bodyPr>
          <a:lstStyle/>
          <a:p>
            <a:pPr fontAlgn="base"/>
            <a:r>
              <a:rPr lang="en-IN" sz="2800" u="sng" dirty="0"/>
              <a:t>Strength Reduction-</a:t>
            </a:r>
            <a:endParaRPr lang="en-IN" sz="2800" b="1" dirty="0"/>
          </a:p>
          <a:p>
            <a:pPr fontAlgn="base"/>
            <a:r>
              <a:rPr lang="en-IN" dirty="0"/>
              <a:t> </a:t>
            </a:r>
          </a:p>
          <a:p>
            <a:pPr algn="just" fontAlgn="base"/>
            <a:r>
              <a:rPr lang="en-IN" sz="2400" dirty="0"/>
              <a:t>In this technique,</a:t>
            </a:r>
          </a:p>
          <a:p>
            <a:pPr lvl="0" algn="just" fontAlgn="base"/>
            <a:r>
              <a:rPr lang="en-IN" sz="2400" dirty="0"/>
              <a:t>As the name suggests, it involves reducing the strength of expressions.</a:t>
            </a:r>
          </a:p>
          <a:p>
            <a:pPr lvl="0" algn="just" fontAlgn="base"/>
            <a:r>
              <a:rPr lang="en-IN" sz="2400" dirty="0"/>
              <a:t>This technique replaces the expensive and costly operators with the simple and cheaper ones.</a:t>
            </a:r>
          </a:p>
          <a:p>
            <a:pPr algn="just" fontAlgn="base"/>
            <a:r>
              <a:rPr lang="en-IN" sz="2400" dirty="0"/>
              <a:t> </a:t>
            </a:r>
          </a:p>
          <a:p>
            <a:pPr algn="just" fontAlgn="base"/>
            <a:r>
              <a:rPr lang="en-IN" sz="2400" u="sng" dirty="0"/>
              <a:t>Example-</a:t>
            </a:r>
            <a:endParaRPr lang="en-IN" sz="2400" b="1" dirty="0"/>
          </a:p>
          <a:p>
            <a:pPr fontAlgn="base"/>
            <a:r>
              <a:rPr lang="en-IN" dirty="0"/>
              <a:t> </a:t>
            </a:r>
          </a:p>
        </p:txBody>
      </p:sp>
      <p:sp>
        <p:nvSpPr>
          <p:cNvPr id="5" name="Rectangle 4"/>
          <p:cNvSpPr/>
          <p:nvPr/>
        </p:nvSpPr>
        <p:spPr>
          <a:xfrm>
            <a:off x="600528" y="3767554"/>
            <a:ext cx="2647648" cy="646331"/>
          </a:xfrm>
          <a:prstGeom prst="rect">
            <a:avLst/>
          </a:prstGeom>
        </p:spPr>
        <p:txBody>
          <a:bodyPr wrap="none">
            <a:spAutoFit/>
          </a:bodyPr>
          <a:lstStyle/>
          <a:p>
            <a:r>
              <a:rPr lang="en-IN" b="1" dirty="0"/>
              <a:t>Code Before Optimization</a:t>
            </a:r>
          </a:p>
          <a:p>
            <a:r>
              <a:rPr lang="en-IN" dirty="0"/>
              <a:t>B = A x 2</a:t>
            </a:r>
          </a:p>
        </p:txBody>
      </p:sp>
      <p:sp>
        <p:nvSpPr>
          <p:cNvPr id="6" name="Rectangle 5"/>
          <p:cNvSpPr/>
          <p:nvPr/>
        </p:nvSpPr>
        <p:spPr>
          <a:xfrm>
            <a:off x="4932040" y="3765184"/>
            <a:ext cx="2503442" cy="646331"/>
          </a:xfrm>
          <a:prstGeom prst="rect">
            <a:avLst/>
          </a:prstGeom>
        </p:spPr>
        <p:txBody>
          <a:bodyPr wrap="none">
            <a:spAutoFit/>
          </a:bodyPr>
          <a:lstStyle/>
          <a:p>
            <a:r>
              <a:rPr lang="en-IN" b="1" dirty="0"/>
              <a:t>Code After Optimization</a:t>
            </a:r>
          </a:p>
          <a:p>
            <a:r>
              <a:rPr lang="en-IN" dirty="0"/>
              <a:t>B = A + A</a:t>
            </a:r>
          </a:p>
        </p:txBody>
      </p:sp>
      <p:sp>
        <p:nvSpPr>
          <p:cNvPr id="7" name="Rectangle 6"/>
          <p:cNvSpPr/>
          <p:nvPr/>
        </p:nvSpPr>
        <p:spPr>
          <a:xfrm>
            <a:off x="360040" y="4725144"/>
            <a:ext cx="8532440" cy="1569660"/>
          </a:xfrm>
          <a:prstGeom prst="rect">
            <a:avLst/>
          </a:prstGeom>
        </p:spPr>
        <p:txBody>
          <a:bodyPr wrap="square">
            <a:spAutoFit/>
          </a:bodyPr>
          <a:lstStyle/>
          <a:p>
            <a:pPr algn="just" fontAlgn="base"/>
            <a:r>
              <a:rPr lang="en-IN" sz="2400" dirty="0"/>
              <a:t>Here,</a:t>
            </a:r>
          </a:p>
          <a:p>
            <a:pPr lvl="0" algn="just" fontAlgn="base"/>
            <a:r>
              <a:rPr lang="en-IN" sz="2400" dirty="0"/>
              <a:t>The expression “A x 2” is replaced with the expression “A + A”.</a:t>
            </a:r>
          </a:p>
          <a:p>
            <a:pPr lvl="0" algn="just" fontAlgn="base"/>
            <a:r>
              <a:rPr lang="en-IN" sz="2400" dirty="0"/>
              <a:t>This is because the cost of multiplication operator is higher than that of addition operator</a:t>
            </a:r>
            <a:r>
              <a:rPr lang="en-IN" dirty="0"/>
              <a:t>.</a:t>
            </a:r>
          </a:p>
        </p:txBody>
      </p:sp>
    </p:spTree>
    <p:extLst>
      <p:ext uri="{BB962C8B-B14F-4D97-AF65-F5344CB8AC3E}">
        <p14:creationId xmlns:p14="http://schemas.microsoft.com/office/powerpoint/2010/main" val="1112275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260648"/>
            <a:ext cx="2039213" cy="523220"/>
          </a:xfrm>
          <a:prstGeom prst="rect">
            <a:avLst/>
          </a:prstGeom>
        </p:spPr>
        <p:txBody>
          <a:bodyPr wrap="none">
            <a:spAutoFit/>
          </a:bodyPr>
          <a:lstStyle/>
          <a:p>
            <a:pPr fontAlgn="base"/>
            <a:r>
              <a:rPr lang="en-IN" sz="2800" u="sng" dirty="0"/>
              <a:t>Basic Blocks-</a:t>
            </a:r>
            <a:endParaRPr lang="en-IN" sz="2800" b="1" dirty="0"/>
          </a:p>
        </p:txBody>
      </p:sp>
      <p:sp>
        <p:nvSpPr>
          <p:cNvPr id="5" name="Rectangle 4"/>
          <p:cNvSpPr/>
          <p:nvPr/>
        </p:nvSpPr>
        <p:spPr>
          <a:xfrm>
            <a:off x="467544" y="764704"/>
            <a:ext cx="8352928" cy="830997"/>
          </a:xfrm>
          <a:prstGeom prst="rect">
            <a:avLst/>
          </a:prstGeom>
        </p:spPr>
        <p:txBody>
          <a:bodyPr wrap="square">
            <a:spAutoFit/>
          </a:bodyPr>
          <a:lstStyle/>
          <a:p>
            <a:pPr algn="just"/>
            <a:r>
              <a:rPr lang="en-IN" sz="2400" dirty="0"/>
              <a:t>Basic block is a set of statements that always executes in a sequence one after the other.</a:t>
            </a:r>
          </a:p>
        </p:txBody>
      </p:sp>
      <p:sp>
        <p:nvSpPr>
          <p:cNvPr id="6" name="Rectangle 5"/>
          <p:cNvSpPr/>
          <p:nvPr/>
        </p:nvSpPr>
        <p:spPr>
          <a:xfrm>
            <a:off x="467544" y="2136339"/>
            <a:ext cx="8064896" cy="2308324"/>
          </a:xfrm>
          <a:prstGeom prst="rect">
            <a:avLst/>
          </a:prstGeom>
        </p:spPr>
        <p:txBody>
          <a:bodyPr wrap="square">
            <a:spAutoFit/>
          </a:bodyPr>
          <a:lstStyle/>
          <a:p>
            <a:pPr algn="just" fontAlgn="base"/>
            <a:r>
              <a:rPr lang="en-IN" sz="2400" dirty="0"/>
              <a:t>The characteristics of basic blocks are-</a:t>
            </a:r>
          </a:p>
          <a:p>
            <a:pPr marL="285750" lvl="0" indent="-285750" algn="just" fontAlgn="base">
              <a:buFont typeface="Arial" panose="020B0604020202020204" pitchFamily="34" charset="0"/>
              <a:buChar char="•"/>
            </a:pPr>
            <a:r>
              <a:rPr lang="en-IN" sz="2400" dirty="0"/>
              <a:t>They do not contain any kind of jump statements in them.</a:t>
            </a:r>
          </a:p>
          <a:p>
            <a:pPr marL="285750" lvl="0" indent="-285750" algn="just" fontAlgn="base">
              <a:buFont typeface="Arial" panose="020B0604020202020204" pitchFamily="34" charset="0"/>
              <a:buChar char="•"/>
            </a:pPr>
            <a:r>
              <a:rPr lang="en-IN" sz="2400" dirty="0"/>
              <a:t>There is no possibility of branching or getting halt in the middle.</a:t>
            </a:r>
          </a:p>
          <a:p>
            <a:pPr marL="285750" lvl="0" indent="-285750" algn="just" fontAlgn="base">
              <a:buFont typeface="Arial" panose="020B0604020202020204" pitchFamily="34" charset="0"/>
              <a:buChar char="•"/>
            </a:pPr>
            <a:r>
              <a:rPr lang="en-IN" sz="2400" dirty="0"/>
              <a:t>All the statements execute in the same order they appear.</a:t>
            </a:r>
          </a:p>
          <a:p>
            <a:pPr marL="285750" lvl="0" indent="-285750" algn="just" fontAlgn="base">
              <a:buFont typeface="Arial" panose="020B0604020202020204" pitchFamily="34" charset="0"/>
              <a:buChar char="•"/>
            </a:pPr>
            <a:r>
              <a:rPr lang="en-IN" sz="2400" dirty="0"/>
              <a:t>They do not lose </a:t>
            </a:r>
            <a:r>
              <a:rPr lang="en-IN" sz="2400" dirty="0" err="1"/>
              <a:t>lose</a:t>
            </a:r>
            <a:r>
              <a:rPr lang="en-IN" sz="2400" dirty="0"/>
              <a:t> the flow control of the program.</a:t>
            </a:r>
          </a:p>
        </p:txBody>
      </p:sp>
    </p:spTree>
    <p:extLst>
      <p:ext uri="{BB962C8B-B14F-4D97-AF65-F5344CB8AC3E}">
        <p14:creationId xmlns:p14="http://schemas.microsoft.com/office/powerpoint/2010/main" val="117130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6672"/>
            <a:ext cx="3144643" cy="461665"/>
          </a:xfrm>
          <a:prstGeom prst="rect">
            <a:avLst/>
          </a:prstGeom>
        </p:spPr>
        <p:txBody>
          <a:bodyPr wrap="none">
            <a:spAutoFit/>
          </a:bodyPr>
          <a:lstStyle/>
          <a:p>
            <a:pPr fontAlgn="base"/>
            <a:r>
              <a:rPr lang="en-IN" sz="2400" u="sng" dirty="0"/>
              <a:t>Example Of Basic Block-</a:t>
            </a:r>
            <a:endParaRPr lang="en-IN" sz="2400" b="1" dirty="0"/>
          </a:p>
        </p:txBody>
      </p:sp>
      <p:sp>
        <p:nvSpPr>
          <p:cNvPr id="3" name="Rectangle 2"/>
          <p:cNvSpPr/>
          <p:nvPr/>
        </p:nvSpPr>
        <p:spPr>
          <a:xfrm>
            <a:off x="611560" y="965919"/>
            <a:ext cx="7560840" cy="461665"/>
          </a:xfrm>
          <a:prstGeom prst="rect">
            <a:avLst/>
          </a:prstGeom>
        </p:spPr>
        <p:txBody>
          <a:bodyPr wrap="square">
            <a:spAutoFit/>
          </a:bodyPr>
          <a:lstStyle/>
          <a:p>
            <a:pPr fontAlgn="base"/>
            <a:r>
              <a:rPr lang="en-IN" sz="2400" dirty="0"/>
              <a:t>Three Address Code for the expression </a:t>
            </a:r>
            <a:r>
              <a:rPr lang="en-IN" sz="2400" b="1" dirty="0"/>
              <a:t>a = b + c + d</a:t>
            </a:r>
            <a:r>
              <a:rPr lang="en-IN" sz="2400" dirty="0"/>
              <a:t> is-</a:t>
            </a:r>
          </a:p>
        </p:txBody>
      </p:sp>
      <p:pic>
        <p:nvPicPr>
          <p:cNvPr id="4" name="Picture 3" descr="https://www.gatevidyalay.com/wp-content/uploads/2018/03/Example-Of-Basic-Block.png"/>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700809"/>
            <a:ext cx="4032448" cy="2592287"/>
          </a:xfrm>
          <a:prstGeom prst="rect">
            <a:avLst/>
          </a:prstGeom>
          <a:noFill/>
          <a:ln>
            <a:noFill/>
          </a:ln>
        </p:spPr>
      </p:pic>
      <p:sp>
        <p:nvSpPr>
          <p:cNvPr id="5" name="Rectangle 4"/>
          <p:cNvSpPr/>
          <p:nvPr/>
        </p:nvSpPr>
        <p:spPr>
          <a:xfrm>
            <a:off x="332446" y="5157193"/>
            <a:ext cx="8055977" cy="1200329"/>
          </a:xfrm>
          <a:prstGeom prst="rect">
            <a:avLst/>
          </a:prstGeom>
        </p:spPr>
        <p:txBody>
          <a:bodyPr wrap="square">
            <a:spAutoFit/>
          </a:bodyPr>
          <a:lstStyle/>
          <a:p>
            <a:pPr fontAlgn="base"/>
            <a:r>
              <a:rPr lang="en-IN" sz="2400" dirty="0"/>
              <a:t>Here,</a:t>
            </a:r>
          </a:p>
          <a:p>
            <a:pPr marL="285750" lvl="0" indent="-285750" fontAlgn="base">
              <a:buFont typeface="Arial" panose="020B0604020202020204" pitchFamily="34" charset="0"/>
              <a:buChar char="•"/>
            </a:pPr>
            <a:r>
              <a:rPr lang="en-IN" sz="2400" dirty="0"/>
              <a:t>All the statements execute in a sequence one after the other.</a:t>
            </a:r>
          </a:p>
          <a:p>
            <a:pPr marL="285750" lvl="0" indent="-285750" fontAlgn="base">
              <a:buFont typeface="Arial" panose="020B0604020202020204" pitchFamily="34" charset="0"/>
              <a:buChar char="•"/>
            </a:pPr>
            <a:r>
              <a:rPr lang="en-IN" sz="2400" dirty="0"/>
              <a:t>Thus, they form a basic block.</a:t>
            </a:r>
          </a:p>
        </p:txBody>
      </p:sp>
    </p:spTree>
    <p:extLst>
      <p:ext uri="{BB962C8B-B14F-4D97-AF65-F5344CB8AC3E}">
        <p14:creationId xmlns:p14="http://schemas.microsoft.com/office/powerpoint/2010/main" val="76339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04664"/>
            <a:ext cx="3923703" cy="461665"/>
          </a:xfrm>
          <a:prstGeom prst="rect">
            <a:avLst/>
          </a:prstGeom>
        </p:spPr>
        <p:txBody>
          <a:bodyPr wrap="none">
            <a:spAutoFit/>
          </a:bodyPr>
          <a:lstStyle/>
          <a:p>
            <a:pPr fontAlgn="base"/>
            <a:r>
              <a:rPr lang="en-IN" sz="2400" u="sng" dirty="0"/>
              <a:t>Example Of Not A Basic Block-</a:t>
            </a:r>
            <a:endParaRPr lang="en-IN" sz="2400" b="1" dirty="0"/>
          </a:p>
        </p:txBody>
      </p:sp>
      <p:sp>
        <p:nvSpPr>
          <p:cNvPr id="3" name="Rectangle 2"/>
          <p:cNvSpPr/>
          <p:nvPr/>
        </p:nvSpPr>
        <p:spPr>
          <a:xfrm>
            <a:off x="683568" y="980728"/>
            <a:ext cx="7992888" cy="461665"/>
          </a:xfrm>
          <a:prstGeom prst="rect">
            <a:avLst/>
          </a:prstGeom>
        </p:spPr>
        <p:txBody>
          <a:bodyPr wrap="square">
            <a:spAutoFit/>
          </a:bodyPr>
          <a:lstStyle/>
          <a:p>
            <a:pPr fontAlgn="base"/>
            <a:r>
              <a:rPr lang="en-IN" sz="2400" dirty="0"/>
              <a:t>Three Address Code for the expression </a:t>
            </a:r>
            <a:r>
              <a:rPr lang="en-IN" sz="2400" b="1" dirty="0"/>
              <a:t>If A&lt;B then 1 else 0</a:t>
            </a:r>
            <a:r>
              <a:rPr lang="en-IN" sz="2400" dirty="0"/>
              <a:t> is-</a:t>
            </a:r>
          </a:p>
        </p:txBody>
      </p:sp>
      <p:pic>
        <p:nvPicPr>
          <p:cNvPr id="4" name="Picture 3" descr="https://www.gatevidyalay.com/wp-content/uploads/2018/03/Example-Of-Not-A-Basic-Block-1.png"/>
          <p:cNvPicPr/>
          <p:nvPr/>
        </p:nvPicPr>
        <p:blipFill>
          <a:blip r:embed="rId2">
            <a:extLst>
              <a:ext uri="{28A0092B-C50C-407E-A947-70E740481C1C}">
                <a14:useLocalDpi xmlns:a14="http://schemas.microsoft.com/office/drawing/2010/main" val="0"/>
              </a:ext>
            </a:extLst>
          </a:blip>
          <a:srcRect/>
          <a:stretch>
            <a:fillRect/>
          </a:stretch>
        </p:blipFill>
        <p:spPr bwMode="auto">
          <a:xfrm>
            <a:off x="2357388" y="1484784"/>
            <a:ext cx="2888606" cy="3960440"/>
          </a:xfrm>
          <a:prstGeom prst="rect">
            <a:avLst/>
          </a:prstGeom>
          <a:noFill/>
          <a:ln>
            <a:noFill/>
          </a:ln>
        </p:spPr>
      </p:pic>
      <p:sp>
        <p:nvSpPr>
          <p:cNvPr id="5" name="Rectangle 4"/>
          <p:cNvSpPr/>
          <p:nvPr/>
        </p:nvSpPr>
        <p:spPr>
          <a:xfrm>
            <a:off x="179512" y="5445224"/>
            <a:ext cx="8712967" cy="1200329"/>
          </a:xfrm>
          <a:prstGeom prst="rect">
            <a:avLst/>
          </a:prstGeom>
        </p:spPr>
        <p:txBody>
          <a:bodyPr wrap="square">
            <a:spAutoFit/>
          </a:bodyPr>
          <a:lstStyle/>
          <a:p>
            <a:pPr algn="just" fontAlgn="base"/>
            <a:r>
              <a:rPr lang="en-IN" sz="2400" dirty="0"/>
              <a:t>Here,</a:t>
            </a:r>
          </a:p>
          <a:p>
            <a:pPr marL="285750" lvl="0" indent="-285750" algn="just" fontAlgn="base">
              <a:buFont typeface="Arial" panose="020B0604020202020204" pitchFamily="34" charset="0"/>
              <a:buChar char="•"/>
            </a:pPr>
            <a:r>
              <a:rPr lang="en-IN" sz="2400" dirty="0"/>
              <a:t>The statements do not execute in a sequence one after the other.</a:t>
            </a:r>
          </a:p>
          <a:p>
            <a:pPr marL="285750" lvl="0" indent="-285750" algn="just" fontAlgn="base">
              <a:buFont typeface="Arial" panose="020B0604020202020204" pitchFamily="34" charset="0"/>
              <a:buChar char="•"/>
            </a:pPr>
            <a:r>
              <a:rPr lang="en-IN" sz="2400" dirty="0"/>
              <a:t>Thus, they do not form a basic block.</a:t>
            </a:r>
          </a:p>
        </p:txBody>
      </p:sp>
    </p:spTree>
    <p:extLst>
      <p:ext uri="{BB962C8B-B14F-4D97-AF65-F5344CB8AC3E}">
        <p14:creationId xmlns:p14="http://schemas.microsoft.com/office/powerpoint/2010/main" val="763397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260648"/>
            <a:ext cx="7344816" cy="461665"/>
          </a:xfrm>
          <a:prstGeom prst="rect">
            <a:avLst/>
          </a:prstGeom>
        </p:spPr>
        <p:txBody>
          <a:bodyPr wrap="square">
            <a:spAutoFit/>
          </a:bodyPr>
          <a:lstStyle/>
          <a:p>
            <a:pPr fontAlgn="base"/>
            <a:r>
              <a:rPr lang="en-IN" sz="2400" u="sng" dirty="0"/>
              <a:t>Partitioning Intermediate Code Into Basic Blocks-</a:t>
            </a:r>
            <a:endParaRPr lang="en-IN" sz="2400" b="1" dirty="0"/>
          </a:p>
        </p:txBody>
      </p:sp>
      <p:sp>
        <p:nvSpPr>
          <p:cNvPr id="3" name="Rectangle 2"/>
          <p:cNvSpPr/>
          <p:nvPr/>
        </p:nvSpPr>
        <p:spPr>
          <a:xfrm>
            <a:off x="251520" y="758197"/>
            <a:ext cx="8784976" cy="830997"/>
          </a:xfrm>
          <a:prstGeom prst="rect">
            <a:avLst/>
          </a:prstGeom>
        </p:spPr>
        <p:txBody>
          <a:bodyPr wrap="square">
            <a:spAutoFit/>
          </a:bodyPr>
          <a:lstStyle/>
          <a:p>
            <a:pPr fontAlgn="base"/>
            <a:r>
              <a:rPr lang="en-IN" sz="2400" dirty="0"/>
              <a:t>Any given code can be partitioned into basic blocks using the following rules-</a:t>
            </a:r>
          </a:p>
        </p:txBody>
      </p:sp>
      <p:sp>
        <p:nvSpPr>
          <p:cNvPr id="4" name="Rectangle 3"/>
          <p:cNvSpPr/>
          <p:nvPr/>
        </p:nvSpPr>
        <p:spPr>
          <a:xfrm>
            <a:off x="264598" y="1596834"/>
            <a:ext cx="8627881" cy="2308324"/>
          </a:xfrm>
          <a:prstGeom prst="rect">
            <a:avLst/>
          </a:prstGeom>
        </p:spPr>
        <p:txBody>
          <a:bodyPr wrap="square">
            <a:spAutoFit/>
          </a:bodyPr>
          <a:lstStyle/>
          <a:p>
            <a:pPr fontAlgn="base"/>
            <a:r>
              <a:rPr lang="en-IN" sz="2400" u="sng" dirty="0"/>
              <a:t>Rule-01: Determining Leaders-</a:t>
            </a:r>
            <a:endParaRPr lang="en-IN" sz="2400" b="1" dirty="0"/>
          </a:p>
          <a:p>
            <a:pPr fontAlgn="base"/>
            <a:r>
              <a:rPr lang="en-IN" sz="2400" dirty="0"/>
              <a:t> Following statements of the code are called as </a:t>
            </a:r>
            <a:r>
              <a:rPr lang="en-IN" sz="2400" b="1" dirty="0"/>
              <a:t>Leaders</a:t>
            </a:r>
            <a:r>
              <a:rPr lang="en-IN" sz="2400" dirty="0"/>
              <a:t>–</a:t>
            </a:r>
          </a:p>
          <a:p>
            <a:pPr marL="285750" lvl="0" indent="-285750" fontAlgn="base">
              <a:buFont typeface="Arial" panose="020B0604020202020204" pitchFamily="34" charset="0"/>
              <a:buChar char="•"/>
            </a:pPr>
            <a:r>
              <a:rPr lang="en-IN" sz="2400" dirty="0"/>
              <a:t>First statement of the code.</a:t>
            </a:r>
          </a:p>
          <a:p>
            <a:pPr marL="285750" lvl="0" indent="-285750" fontAlgn="base">
              <a:buFont typeface="Arial" panose="020B0604020202020204" pitchFamily="34" charset="0"/>
              <a:buChar char="•"/>
            </a:pPr>
            <a:r>
              <a:rPr lang="en-IN" sz="2400" dirty="0"/>
              <a:t>Statement that is a target of the conditional or unconditional </a:t>
            </a:r>
            <a:r>
              <a:rPr lang="en-IN" sz="2400" dirty="0" err="1"/>
              <a:t>goto</a:t>
            </a:r>
            <a:r>
              <a:rPr lang="en-IN" sz="2400" dirty="0"/>
              <a:t> statement.</a:t>
            </a:r>
          </a:p>
          <a:p>
            <a:pPr marL="285750" lvl="0" indent="-285750" fontAlgn="base">
              <a:buFont typeface="Arial" panose="020B0604020202020204" pitchFamily="34" charset="0"/>
              <a:buChar char="•"/>
            </a:pPr>
            <a:r>
              <a:rPr lang="en-IN" sz="2400" dirty="0"/>
              <a:t>Statement that appears immediately after a </a:t>
            </a:r>
            <a:r>
              <a:rPr lang="en-IN" sz="2400" dirty="0" err="1"/>
              <a:t>goto</a:t>
            </a:r>
            <a:r>
              <a:rPr lang="en-IN" sz="2400" dirty="0"/>
              <a:t> statement.</a:t>
            </a:r>
          </a:p>
        </p:txBody>
      </p:sp>
      <p:sp>
        <p:nvSpPr>
          <p:cNvPr id="5" name="Rectangle 4"/>
          <p:cNvSpPr/>
          <p:nvPr/>
        </p:nvSpPr>
        <p:spPr>
          <a:xfrm>
            <a:off x="274764" y="4221088"/>
            <a:ext cx="7992888" cy="1938992"/>
          </a:xfrm>
          <a:prstGeom prst="rect">
            <a:avLst/>
          </a:prstGeom>
        </p:spPr>
        <p:txBody>
          <a:bodyPr wrap="square">
            <a:spAutoFit/>
          </a:bodyPr>
          <a:lstStyle/>
          <a:p>
            <a:pPr fontAlgn="base"/>
            <a:r>
              <a:rPr lang="en-IN" sz="2400" u="sng" dirty="0"/>
              <a:t>Rule-02: Determining Basic Blocks-</a:t>
            </a:r>
            <a:endParaRPr lang="en-IN" sz="2400" b="1" dirty="0"/>
          </a:p>
          <a:p>
            <a:pPr fontAlgn="base"/>
            <a:r>
              <a:rPr lang="en-IN" sz="2400" dirty="0"/>
              <a:t> All the statements that follow the leader (including the leader) till the next leader appears form one basic block.</a:t>
            </a:r>
          </a:p>
          <a:p>
            <a:pPr marL="285750" lvl="0" indent="-285750" fontAlgn="base">
              <a:buFont typeface="Arial" panose="020B0604020202020204" pitchFamily="34" charset="0"/>
              <a:buChar char="•"/>
            </a:pPr>
            <a:r>
              <a:rPr lang="en-IN" sz="2400" dirty="0"/>
              <a:t>The first statement of the code is called as the first leader.</a:t>
            </a:r>
          </a:p>
          <a:p>
            <a:pPr marL="285750" lvl="0" indent="-285750" fontAlgn="base">
              <a:buFont typeface="Arial" panose="020B0604020202020204" pitchFamily="34" charset="0"/>
              <a:buChar char="•"/>
            </a:pPr>
            <a:r>
              <a:rPr lang="en-IN" sz="2400" dirty="0"/>
              <a:t>The block containing the first leader is called as Initial block.</a:t>
            </a:r>
          </a:p>
        </p:txBody>
      </p:sp>
    </p:spTree>
    <p:extLst>
      <p:ext uri="{BB962C8B-B14F-4D97-AF65-F5344CB8AC3E}">
        <p14:creationId xmlns:p14="http://schemas.microsoft.com/office/powerpoint/2010/main" val="763397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88640"/>
            <a:ext cx="2378793" cy="584775"/>
          </a:xfrm>
          <a:prstGeom prst="rect">
            <a:avLst/>
          </a:prstGeom>
        </p:spPr>
        <p:txBody>
          <a:bodyPr wrap="none">
            <a:spAutoFit/>
          </a:bodyPr>
          <a:lstStyle/>
          <a:p>
            <a:pPr fontAlgn="base"/>
            <a:r>
              <a:rPr lang="en-IN" sz="3200" u="sng" dirty="0"/>
              <a:t>Flow Graphs-</a:t>
            </a:r>
            <a:endParaRPr lang="en-IN" sz="3200" b="1" dirty="0"/>
          </a:p>
        </p:txBody>
      </p:sp>
      <p:sp>
        <p:nvSpPr>
          <p:cNvPr id="3" name="Rectangle 2"/>
          <p:cNvSpPr/>
          <p:nvPr/>
        </p:nvSpPr>
        <p:spPr>
          <a:xfrm>
            <a:off x="539552" y="796260"/>
            <a:ext cx="7848872" cy="954107"/>
          </a:xfrm>
          <a:prstGeom prst="rect">
            <a:avLst/>
          </a:prstGeom>
        </p:spPr>
        <p:txBody>
          <a:bodyPr wrap="square">
            <a:spAutoFit/>
          </a:bodyPr>
          <a:lstStyle/>
          <a:p>
            <a:pPr algn="just"/>
            <a:r>
              <a:rPr lang="en-IN" sz="2800" dirty="0"/>
              <a:t>A flow graph is a directed graph with flow control information added to the basic blocks.</a:t>
            </a:r>
          </a:p>
        </p:txBody>
      </p:sp>
      <p:sp>
        <p:nvSpPr>
          <p:cNvPr id="4" name="Rectangle 3"/>
          <p:cNvSpPr/>
          <p:nvPr/>
        </p:nvSpPr>
        <p:spPr>
          <a:xfrm>
            <a:off x="539552" y="2132856"/>
            <a:ext cx="8064896" cy="1384995"/>
          </a:xfrm>
          <a:prstGeom prst="rect">
            <a:avLst/>
          </a:prstGeom>
        </p:spPr>
        <p:txBody>
          <a:bodyPr wrap="square">
            <a:spAutoFit/>
          </a:bodyPr>
          <a:lstStyle/>
          <a:p>
            <a:pPr marL="285750" lvl="0" indent="-285750" algn="just" fontAlgn="base">
              <a:buFont typeface="Arial" panose="020B0604020202020204" pitchFamily="34" charset="0"/>
              <a:buChar char="•"/>
            </a:pPr>
            <a:r>
              <a:rPr lang="en-IN" sz="2800" dirty="0"/>
              <a:t>The basic blocks serve as nodes of the flow graph.</a:t>
            </a:r>
          </a:p>
          <a:p>
            <a:pPr marL="285750" indent="-285750" algn="just">
              <a:buFont typeface="Arial" panose="020B0604020202020204" pitchFamily="34" charset="0"/>
              <a:buChar char="•"/>
            </a:pPr>
            <a:r>
              <a:rPr lang="en-IN" sz="2800" dirty="0"/>
              <a:t>There is a directed edge from block B1 to block B2 if B2 appears immediately after B1 in the code</a:t>
            </a:r>
          </a:p>
        </p:txBody>
      </p:sp>
    </p:spTree>
    <p:extLst>
      <p:ext uri="{BB962C8B-B14F-4D97-AF65-F5344CB8AC3E}">
        <p14:creationId xmlns:p14="http://schemas.microsoft.com/office/powerpoint/2010/main" val="763397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669" y="55565"/>
            <a:ext cx="3168352" cy="461665"/>
          </a:xfrm>
          <a:prstGeom prst="rect">
            <a:avLst/>
          </a:prstGeom>
          <a:noFill/>
        </p:spPr>
        <p:txBody>
          <a:bodyPr wrap="square" rtlCol="0">
            <a:spAutoFit/>
          </a:bodyPr>
          <a:lstStyle/>
          <a:p>
            <a:r>
              <a:rPr lang="en-US" sz="2400" dirty="0"/>
              <a:t>Example</a:t>
            </a:r>
            <a:endParaRPr lang="en-IN" sz="2400" dirty="0"/>
          </a:p>
        </p:txBody>
      </p:sp>
      <p:sp>
        <p:nvSpPr>
          <p:cNvPr id="3" name="Rectangle 2"/>
          <p:cNvSpPr/>
          <p:nvPr/>
        </p:nvSpPr>
        <p:spPr>
          <a:xfrm>
            <a:off x="683568" y="517230"/>
            <a:ext cx="7272808" cy="3785652"/>
          </a:xfrm>
          <a:prstGeom prst="rect">
            <a:avLst/>
          </a:prstGeom>
        </p:spPr>
        <p:txBody>
          <a:bodyPr wrap="square">
            <a:spAutoFit/>
          </a:bodyPr>
          <a:lstStyle/>
          <a:p>
            <a:pPr fontAlgn="base"/>
            <a:r>
              <a:rPr lang="en-IN" sz="2000" dirty="0"/>
              <a:t>Compute the basic blocks for the given three address statements-</a:t>
            </a:r>
          </a:p>
          <a:p>
            <a:pPr fontAlgn="base"/>
            <a:r>
              <a:rPr lang="en-IN" sz="2000" dirty="0"/>
              <a:t> (1) PROD = 0</a:t>
            </a:r>
          </a:p>
          <a:p>
            <a:pPr fontAlgn="base"/>
            <a:r>
              <a:rPr lang="en-IN" sz="2000" dirty="0"/>
              <a:t>(2) I = 1</a:t>
            </a:r>
          </a:p>
          <a:p>
            <a:pPr fontAlgn="base"/>
            <a:r>
              <a:rPr lang="en-IN" sz="2000" dirty="0"/>
              <a:t>(3) T2 = </a:t>
            </a:r>
            <a:r>
              <a:rPr lang="en-IN" sz="2000" dirty="0" err="1"/>
              <a:t>addr</a:t>
            </a:r>
            <a:r>
              <a:rPr lang="en-IN" sz="2000" dirty="0"/>
              <a:t>(A) – 4</a:t>
            </a:r>
          </a:p>
          <a:p>
            <a:pPr fontAlgn="base"/>
            <a:r>
              <a:rPr lang="en-IN" sz="2000" dirty="0"/>
              <a:t>(4) T4 = </a:t>
            </a:r>
            <a:r>
              <a:rPr lang="en-IN" sz="2000" dirty="0" err="1"/>
              <a:t>addr</a:t>
            </a:r>
            <a:r>
              <a:rPr lang="en-IN" sz="2000" dirty="0"/>
              <a:t>(B) – 4</a:t>
            </a:r>
          </a:p>
          <a:p>
            <a:pPr fontAlgn="base"/>
            <a:r>
              <a:rPr lang="en-IN" sz="2000" dirty="0"/>
              <a:t>(5) T1 = 4 x I</a:t>
            </a:r>
          </a:p>
          <a:p>
            <a:pPr fontAlgn="base"/>
            <a:r>
              <a:rPr lang="en-IN" sz="2000" dirty="0"/>
              <a:t>(6) T3 = T2[T1]</a:t>
            </a:r>
          </a:p>
          <a:p>
            <a:pPr fontAlgn="base"/>
            <a:r>
              <a:rPr lang="en-IN" sz="2000" dirty="0"/>
              <a:t>(7) T5 = T4[T1]</a:t>
            </a:r>
          </a:p>
          <a:p>
            <a:pPr fontAlgn="base"/>
            <a:r>
              <a:rPr lang="en-IN" sz="2000" dirty="0"/>
              <a:t>(8) T6 = T3 x T5</a:t>
            </a:r>
          </a:p>
          <a:p>
            <a:pPr fontAlgn="base"/>
            <a:r>
              <a:rPr lang="en-IN" sz="2000" dirty="0"/>
              <a:t>(9) PROD = PROD + T6</a:t>
            </a:r>
          </a:p>
          <a:p>
            <a:pPr fontAlgn="base"/>
            <a:r>
              <a:rPr lang="en-IN" sz="2000" dirty="0"/>
              <a:t>(10) I = I + 1</a:t>
            </a:r>
          </a:p>
          <a:p>
            <a:pPr fontAlgn="base"/>
            <a:r>
              <a:rPr lang="en-IN" sz="2000" dirty="0"/>
              <a:t>(11) IF I &lt;=20 GOTO (5)</a:t>
            </a:r>
            <a:endParaRPr lang="en-IN" dirty="0"/>
          </a:p>
        </p:txBody>
      </p:sp>
      <p:sp>
        <p:nvSpPr>
          <p:cNvPr id="4" name="Rectangle 3"/>
          <p:cNvSpPr/>
          <p:nvPr/>
        </p:nvSpPr>
        <p:spPr>
          <a:xfrm>
            <a:off x="323528" y="4437112"/>
            <a:ext cx="8424936" cy="2308324"/>
          </a:xfrm>
          <a:prstGeom prst="rect">
            <a:avLst/>
          </a:prstGeom>
        </p:spPr>
        <p:txBody>
          <a:bodyPr wrap="square">
            <a:spAutoFit/>
          </a:bodyPr>
          <a:lstStyle/>
          <a:p>
            <a:pPr fontAlgn="base"/>
            <a:r>
              <a:rPr lang="en-IN" sz="2400" dirty="0"/>
              <a:t>We have-</a:t>
            </a:r>
          </a:p>
          <a:p>
            <a:pPr marL="285750" lvl="0" indent="-285750" algn="just" fontAlgn="base">
              <a:buFont typeface="Arial" panose="020B0604020202020204" pitchFamily="34" charset="0"/>
              <a:buChar char="•"/>
            </a:pPr>
            <a:r>
              <a:rPr lang="en-IN" sz="2400" dirty="0"/>
              <a:t>PROD = 0 is a leader since first statement of the code is a leader.</a:t>
            </a:r>
          </a:p>
          <a:p>
            <a:pPr marL="285750" lvl="0" indent="-285750" algn="just" fontAlgn="base">
              <a:buFont typeface="Arial" panose="020B0604020202020204" pitchFamily="34" charset="0"/>
              <a:buChar char="•"/>
            </a:pPr>
            <a:r>
              <a:rPr lang="en-IN" sz="2400" dirty="0"/>
              <a:t>T1 = 4 x I is a leader since target of the conditional </a:t>
            </a:r>
            <a:r>
              <a:rPr lang="en-IN" sz="2400" dirty="0" err="1"/>
              <a:t>goto</a:t>
            </a:r>
            <a:r>
              <a:rPr lang="en-IN" sz="2400" dirty="0"/>
              <a:t> statement is a leader.</a:t>
            </a:r>
          </a:p>
          <a:p>
            <a:pPr fontAlgn="base"/>
            <a:r>
              <a:rPr lang="en-IN" sz="2400" dirty="0"/>
              <a:t> </a:t>
            </a:r>
          </a:p>
          <a:p>
            <a:pPr fontAlgn="base"/>
            <a:r>
              <a:rPr lang="en-IN" sz="2400" dirty="0"/>
              <a:t>Now, the given code can be partitioned into two basic blocks as-</a:t>
            </a:r>
          </a:p>
        </p:txBody>
      </p:sp>
    </p:spTree>
    <p:extLst>
      <p:ext uri="{BB962C8B-B14F-4D97-AF65-F5344CB8AC3E}">
        <p14:creationId xmlns:p14="http://schemas.microsoft.com/office/powerpoint/2010/main" val="763397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www.gatevidyalay.com/wp-content/uploads/2018/03/Basic-Blocks-and-Flow-Graphs-Problem-01-Basic-Blocks.png"/>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32657"/>
            <a:ext cx="6264696" cy="6264696"/>
          </a:xfrm>
          <a:prstGeom prst="rect">
            <a:avLst/>
          </a:prstGeom>
          <a:noFill/>
          <a:ln>
            <a:noFill/>
          </a:ln>
        </p:spPr>
      </p:pic>
    </p:spTree>
    <p:extLst>
      <p:ext uri="{BB962C8B-B14F-4D97-AF65-F5344CB8AC3E}">
        <p14:creationId xmlns:p14="http://schemas.microsoft.com/office/powerpoint/2010/main" val="76339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10217"/>
            <a:ext cx="8352928" cy="369332"/>
          </a:xfrm>
          <a:prstGeom prst="rect">
            <a:avLst/>
          </a:prstGeom>
        </p:spPr>
        <p:txBody>
          <a:bodyPr wrap="square">
            <a:spAutoFit/>
          </a:bodyPr>
          <a:lstStyle/>
          <a:p>
            <a:pPr fontAlgn="base"/>
            <a:r>
              <a:rPr lang="en-IN" dirty="0"/>
              <a:t>Draw a flow graph for the three address statements given in example above.</a:t>
            </a:r>
          </a:p>
        </p:txBody>
      </p:sp>
      <p:pic>
        <p:nvPicPr>
          <p:cNvPr id="3" name="Picture 2" descr="https://www.gatevidyalay.com/wp-content/uploads/2018/03/Basic-Blocks-and-Flow-Graphs-Problem-02-Flow-Graphs.png"/>
          <p:cNvPicPr/>
          <p:nvPr/>
        </p:nvPicPr>
        <p:blipFill>
          <a:blip r:embed="rId2">
            <a:extLst>
              <a:ext uri="{28A0092B-C50C-407E-A947-70E740481C1C}">
                <a14:useLocalDpi xmlns:a14="http://schemas.microsoft.com/office/drawing/2010/main" val="0"/>
              </a:ext>
            </a:extLst>
          </a:blip>
          <a:srcRect/>
          <a:stretch>
            <a:fillRect/>
          </a:stretch>
        </p:blipFill>
        <p:spPr bwMode="auto">
          <a:xfrm>
            <a:off x="1606352" y="629980"/>
            <a:ext cx="5472607" cy="6111388"/>
          </a:xfrm>
          <a:prstGeom prst="rect">
            <a:avLst/>
          </a:prstGeom>
          <a:noFill/>
          <a:ln>
            <a:noFill/>
          </a:ln>
        </p:spPr>
      </p:pic>
    </p:spTree>
    <p:extLst>
      <p:ext uri="{BB962C8B-B14F-4D97-AF65-F5344CB8AC3E}">
        <p14:creationId xmlns:p14="http://schemas.microsoft.com/office/powerpoint/2010/main" val="763397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7437" y="260648"/>
            <a:ext cx="8640960" cy="3847207"/>
          </a:xfrm>
          <a:prstGeom prst="rect">
            <a:avLst/>
          </a:prstGeom>
        </p:spPr>
        <p:txBody>
          <a:bodyPr wrap="square">
            <a:spAutoFit/>
          </a:bodyPr>
          <a:lstStyle/>
          <a:p>
            <a:r>
              <a:rPr lang="en-IN" sz="2800" u="sng" dirty="0"/>
              <a:t>Directed Acyclic Graph</a:t>
            </a:r>
          </a:p>
          <a:p>
            <a:pPr algn="just"/>
            <a:r>
              <a:rPr lang="en-IN" sz="2400" dirty="0"/>
              <a:t>Directed Acyclic Graph (DAG) is a tool that depicts the structure of basic blocks, </a:t>
            </a:r>
            <a:r>
              <a:rPr lang="en-IN" sz="2400" dirty="0">
                <a:solidFill>
                  <a:srgbClr val="FF0000"/>
                </a:solidFill>
              </a:rPr>
              <a:t>helps to see the flow of values flowing among the basic blocks, and offers optimization too</a:t>
            </a:r>
            <a:r>
              <a:rPr lang="en-IN" sz="2400" dirty="0"/>
              <a:t>. DAG provides easy transformation on basic blocks. DAG can be understood here:</a:t>
            </a:r>
          </a:p>
          <a:p>
            <a:pPr lvl="0" algn="just"/>
            <a:endParaRPr lang="en-IN" sz="2400" dirty="0"/>
          </a:p>
          <a:p>
            <a:pPr marL="285750" lvl="0" indent="-285750" algn="just">
              <a:buFont typeface="Arial" panose="020B0604020202020204" pitchFamily="34" charset="0"/>
              <a:buChar char="•"/>
            </a:pPr>
            <a:r>
              <a:rPr lang="en-IN" sz="2400" dirty="0"/>
              <a:t>Leaf nodes represent </a:t>
            </a:r>
            <a:r>
              <a:rPr lang="en-IN" sz="2400" dirty="0">
                <a:solidFill>
                  <a:srgbClr val="FF0000"/>
                </a:solidFill>
              </a:rPr>
              <a:t>identifiers, names or constants</a:t>
            </a:r>
            <a:r>
              <a:rPr lang="en-IN" sz="2400" dirty="0"/>
              <a:t>.</a:t>
            </a:r>
          </a:p>
          <a:p>
            <a:pPr marL="285750" lvl="0" indent="-285750" algn="just">
              <a:buFont typeface="Arial" panose="020B0604020202020204" pitchFamily="34" charset="0"/>
              <a:buChar char="•"/>
            </a:pPr>
            <a:r>
              <a:rPr lang="en-IN" sz="2400" dirty="0"/>
              <a:t>Interior nodes represent </a:t>
            </a:r>
            <a:r>
              <a:rPr lang="en-IN" sz="2400" dirty="0">
                <a:solidFill>
                  <a:srgbClr val="FF0000"/>
                </a:solidFill>
              </a:rPr>
              <a:t>operators</a:t>
            </a:r>
            <a:r>
              <a:rPr lang="en-IN" sz="2400" dirty="0"/>
              <a:t>.</a:t>
            </a:r>
          </a:p>
          <a:p>
            <a:pPr marL="285750" indent="-285750" algn="just">
              <a:buFont typeface="Arial" panose="020B0604020202020204" pitchFamily="34" charset="0"/>
              <a:buChar char="•"/>
            </a:pPr>
            <a:r>
              <a:rPr lang="en-IN" sz="2400" dirty="0"/>
              <a:t>Interior nodes also represent </a:t>
            </a:r>
            <a:r>
              <a:rPr lang="en-IN" sz="2400" dirty="0">
                <a:solidFill>
                  <a:srgbClr val="FF0000"/>
                </a:solidFill>
              </a:rPr>
              <a:t>the results of expressions </a:t>
            </a:r>
            <a:r>
              <a:rPr lang="en-IN" sz="2400" dirty="0"/>
              <a:t>or the </a:t>
            </a:r>
            <a:r>
              <a:rPr lang="en-IN" sz="2400" dirty="0">
                <a:solidFill>
                  <a:srgbClr val="FF0000"/>
                </a:solidFill>
              </a:rPr>
              <a:t>identifiers/name</a:t>
            </a:r>
            <a:r>
              <a:rPr lang="en-IN" sz="2400" dirty="0"/>
              <a:t> where the </a:t>
            </a:r>
            <a:r>
              <a:rPr lang="en-IN" sz="2400" dirty="0">
                <a:solidFill>
                  <a:srgbClr val="FF0000"/>
                </a:solidFill>
              </a:rPr>
              <a:t>values are to be stored or assigned</a:t>
            </a:r>
            <a:r>
              <a:rPr lang="en-IN" sz="2400" dirty="0"/>
              <a:t>.</a:t>
            </a:r>
          </a:p>
        </p:txBody>
      </p:sp>
      <p:sp>
        <p:nvSpPr>
          <p:cNvPr id="3" name="Rectangle 2"/>
          <p:cNvSpPr/>
          <p:nvPr/>
        </p:nvSpPr>
        <p:spPr>
          <a:xfrm>
            <a:off x="135534" y="4355812"/>
            <a:ext cx="1354858" cy="461665"/>
          </a:xfrm>
          <a:prstGeom prst="rect">
            <a:avLst/>
          </a:prstGeom>
        </p:spPr>
        <p:txBody>
          <a:bodyPr wrap="none">
            <a:spAutoFit/>
          </a:bodyPr>
          <a:lstStyle/>
          <a:p>
            <a:r>
              <a:rPr lang="en-IN" sz="2400" b="1" dirty="0"/>
              <a:t>Example:</a:t>
            </a:r>
            <a:endParaRPr lang="en-IN" sz="2400" dirty="0"/>
          </a:p>
        </p:txBody>
      </p:sp>
      <p:sp>
        <p:nvSpPr>
          <p:cNvPr id="4" name="Rectangle 3"/>
          <p:cNvSpPr/>
          <p:nvPr/>
        </p:nvSpPr>
        <p:spPr>
          <a:xfrm>
            <a:off x="1187624" y="4859428"/>
            <a:ext cx="4572000" cy="1200329"/>
          </a:xfrm>
          <a:prstGeom prst="rect">
            <a:avLst/>
          </a:prstGeom>
        </p:spPr>
        <p:txBody>
          <a:bodyPr>
            <a:spAutoFit/>
          </a:bodyPr>
          <a:lstStyle/>
          <a:p>
            <a:r>
              <a:rPr lang="en-IN" sz="2400" dirty="0"/>
              <a:t>t</a:t>
            </a:r>
            <a:r>
              <a:rPr lang="en-IN" sz="2400" baseline="-25000" dirty="0"/>
              <a:t>0</a:t>
            </a:r>
            <a:r>
              <a:rPr lang="en-IN" sz="2400" dirty="0"/>
              <a:t> = a + b</a:t>
            </a:r>
          </a:p>
          <a:p>
            <a:r>
              <a:rPr lang="en-IN" sz="2400" dirty="0"/>
              <a:t>t</a:t>
            </a:r>
            <a:r>
              <a:rPr lang="en-IN" sz="2400" baseline="-25000" dirty="0"/>
              <a:t>1</a:t>
            </a:r>
            <a:r>
              <a:rPr lang="en-IN" sz="2400" dirty="0"/>
              <a:t> = t</a:t>
            </a:r>
            <a:r>
              <a:rPr lang="en-IN" sz="2400" baseline="-25000" dirty="0"/>
              <a:t>0</a:t>
            </a:r>
            <a:r>
              <a:rPr lang="en-IN" sz="2400" dirty="0"/>
              <a:t> + c</a:t>
            </a:r>
          </a:p>
          <a:p>
            <a:r>
              <a:rPr lang="en-IN" sz="2400" dirty="0"/>
              <a:t>d = t</a:t>
            </a:r>
            <a:r>
              <a:rPr lang="en-IN" sz="2400" baseline="-25000" dirty="0"/>
              <a:t>0</a:t>
            </a:r>
            <a:r>
              <a:rPr lang="en-IN" sz="2400" dirty="0"/>
              <a:t> + t</a:t>
            </a:r>
            <a:r>
              <a:rPr lang="en-IN" sz="2400" baseline="-25000" dirty="0"/>
              <a:t>1</a:t>
            </a:r>
            <a:endParaRPr lang="en-IN" sz="2400" dirty="0"/>
          </a:p>
        </p:txBody>
      </p:sp>
    </p:spTree>
    <p:extLst>
      <p:ext uri="{BB962C8B-B14F-4D97-AF65-F5344CB8AC3E}">
        <p14:creationId xmlns:p14="http://schemas.microsoft.com/office/powerpoint/2010/main" val="763397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3" descr="Directed Acyclic 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25" y="350816"/>
            <a:ext cx="1700757" cy="150049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14835" y="2060848"/>
            <a:ext cx="1892347" cy="558743"/>
          </a:xfrm>
          <a:prstGeom prst="rect">
            <a:avLst/>
          </a:prstGeom>
        </p:spPr>
        <p:txBody>
          <a:bodyPr wrap="square">
            <a:spAutoFit/>
          </a:bodyPr>
          <a:lstStyle/>
          <a:p>
            <a:pPr marL="30480" marR="30480" algn="just">
              <a:lnSpc>
                <a:spcPct val="115000"/>
              </a:lnSpc>
              <a:spcBef>
                <a:spcPts val="600"/>
              </a:spcBef>
              <a:spcAft>
                <a:spcPts val="720"/>
              </a:spcAft>
            </a:pPr>
            <a:r>
              <a:rPr lang="en-IN" sz="2800" dirty="0"/>
              <a:t>[t</a:t>
            </a:r>
            <a:r>
              <a:rPr lang="en-IN" sz="1600" baseline="-25000" dirty="0"/>
              <a:t>0</a:t>
            </a:r>
            <a:r>
              <a:rPr lang="en-IN" sz="2800" dirty="0"/>
              <a:t> = a + b]</a:t>
            </a:r>
            <a:endParaRPr lang="en-IN" sz="2400" dirty="0">
              <a:ea typeface="Calibri"/>
              <a:cs typeface="Times New Roman"/>
            </a:endParaRPr>
          </a:p>
        </p:txBody>
      </p:sp>
      <p:pic>
        <p:nvPicPr>
          <p:cNvPr id="5" name="Picture 4" descr="Directed Acyclic Graph"/>
          <p:cNvPicPr/>
          <p:nvPr/>
        </p:nvPicPr>
        <p:blipFill>
          <a:blip r:embed="rId3">
            <a:extLst>
              <a:ext uri="{28A0092B-C50C-407E-A947-70E740481C1C}">
                <a14:useLocalDpi xmlns:a14="http://schemas.microsoft.com/office/drawing/2010/main" val="0"/>
              </a:ext>
            </a:extLst>
          </a:blip>
          <a:srcRect/>
          <a:stretch>
            <a:fillRect/>
          </a:stretch>
        </p:blipFill>
        <p:spPr bwMode="auto">
          <a:xfrm>
            <a:off x="291774" y="3717032"/>
            <a:ext cx="2736304" cy="1975575"/>
          </a:xfrm>
          <a:prstGeom prst="rect">
            <a:avLst/>
          </a:prstGeom>
          <a:noFill/>
          <a:ln>
            <a:noFill/>
          </a:ln>
        </p:spPr>
      </p:pic>
      <p:sp>
        <p:nvSpPr>
          <p:cNvPr id="4" name="Rectangle 3"/>
          <p:cNvSpPr/>
          <p:nvPr/>
        </p:nvSpPr>
        <p:spPr>
          <a:xfrm>
            <a:off x="896829" y="5878819"/>
            <a:ext cx="1728358" cy="523220"/>
          </a:xfrm>
          <a:prstGeom prst="rect">
            <a:avLst/>
          </a:prstGeom>
        </p:spPr>
        <p:txBody>
          <a:bodyPr wrap="none">
            <a:spAutoFit/>
          </a:bodyPr>
          <a:lstStyle/>
          <a:p>
            <a:r>
              <a:rPr lang="en-IN" sz="2800" dirty="0"/>
              <a:t>[t</a:t>
            </a:r>
            <a:r>
              <a:rPr lang="en-IN" sz="2800" baseline="-25000" dirty="0"/>
              <a:t>1</a:t>
            </a:r>
            <a:r>
              <a:rPr lang="en-IN" sz="2800" dirty="0"/>
              <a:t> = t</a:t>
            </a:r>
            <a:r>
              <a:rPr lang="en-IN" sz="2800" baseline="-25000" dirty="0"/>
              <a:t>0</a:t>
            </a:r>
            <a:r>
              <a:rPr lang="en-IN" sz="2800" dirty="0"/>
              <a:t> + c]</a:t>
            </a:r>
          </a:p>
        </p:txBody>
      </p:sp>
      <p:pic>
        <p:nvPicPr>
          <p:cNvPr id="7" name="Picture 6" descr="Directed Acyclic Graph"/>
          <p:cNvPicPr/>
          <p:nvPr/>
        </p:nvPicPr>
        <p:blipFill>
          <a:blip r:embed="rId4">
            <a:extLst>
              <a:ext uri="{28A0092B-C50C-407E-A947-70E740481C1C}">
                <a14:useLocalDpi xmlns:a14="http://schemas.microsoft.com/office/drawing/2010/main" val="0"/>
              </a:ext>
            </a:extLst>
          </a:blip>
          <a:srcRect/>
          <a:stretch>
            <a:fillRect/>
          </a:stretch>
        </p:blipFill>
        <p:spPr bwMode="auto">
          <a:xfrm>
            <a:off x="4427984" y="870234"/>
            <a:ext cx="3528392" cy="3350853"/>
          </a:xfrm>
          <a:prstGeom prst="rect">
            <a:avLst/>
          </a:prstGeom>
          <a:noFill/>
          <a:ln>
            <a:noFill/>
          </a:ln>
        </p:spPr>
      </p:pic>
      <p:sp>
        <p:nvSpPr>
          <p:cNvPr id="6" name="Rectangle 5"/>
          <p:cNvSpPr/>
          <p:nvPr/>
        </p:nvSpPr>
        <p:spPr>
          <a:xfrm>
            <a:off x="5703818" y="4738914"/>
            <a:ext cx="2202847" cy="646331"/>
          </a:xfrm>
          <a:prstGeom prst="rect">
            <a:avLst/>
          </a:prstGeom>
        </p:spPr>
        <p:txBody>
          <a:bodyPr wrap="none">
            <a:spAutoFit/>
          </a:bodyPr>
          <a:lstStyle/>
          <a:p>
            <a:r>
              <a:rPr lang="en-IN" sz="3600" dirty="0"/>
              <a:t>[d = t</a:t>
            </a:r>
            <a:r>
              <a:rPr lang="en-IN" sz="3600" baseline="-25000" dirty="0"/>
              <a:t>0</a:t>
            </a:r>
            <a:r>
              <a:rPr lang="en-IN" sz="3600" dirty="0"/>
              <a:t> + t</a:t>
            </a:r>
            <a:r>
              <a:rPr lang="en-IN" sz="3600" baseline="-25000" dirty="0"/>
              <a:t>1</a:t>
            </a:r>
            <a:r>
              <a:rPr lang="en-IN" sz="3600" dirty="0"/>
              <a:t>]</a:t>
            </a:r>
          </a:p>
        </p:txBody>
      </p:sp>
    </p:spTree>
    <p:extLst>
      <p:ext uri="{BB962C8B-B14F-4D97-AF65-F5344CB8AC3E}">
        <p14:creationId xmlns:p14="http://schemas.microsoft.com/office/powerpoint/2010/main" val="76339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332656"/>
            <a:ext cx="8784976" cy="646331"/>
          </a:xfrm>
          <a:prstGeom prst="rect">
            <a:avLst/>
          </a:prstGeom>
        </p:spPr>
        <p:txBody>
          <a:bodyPr wrap="square">
            <a:spAutoFit/>
          </a:bodyPr>
          <a:lstStyle/>
          <a:p>
            <a:pPr fontAlgn="base"/>
            <a:r>
              <a:rPr lang="en-IN" dirty="0"/>
              <a:t>Consider the following expression and construct a DAG for it-</a:t>
            </a:r>
          </a:p>
          <a:p>
            <a:pPr fontAlgn="base"/>
            <a:r>
              <a:rPr lang="en-IN" dirty="0"/>
              <a:t>( a + b ) x ( a + b + c )</a:t>
            </a:r>
          </a:p>
        </p:txBody>
      </p:sp>
      <p:sp>
        <p:nvSpPr>
          <p:cNvPr id="3" name="Rectangle 2"/>
          <p:cNvSpPr/>
          <p:nvPr/>
        </p:nvSpPr>
        <p:spPr>
          <a:xfrm>
            <a:off x="539552" y="1124744"/>
            <a:ext cx="4572000" cy="1754326"/>
          </a:xfrm>
          <a:prstGeom prst="rect">
            <a:avLst/>
          </a:prstGeom>
        </p:spPr>
        <p:txBody>
          <a:bodyPr>
            <a:spAutoFit/>
          </a:bodyPr>
          <a:lstStyle/>
          <a:p>
            <a:pPr fontAlgn="base"/>
            <a:r>
              <a:rPr lang="en-IN" dirty="0"/>
              <a:t>Three Address Code for the given expression is-</a:t>
            </a:r>
          </a:p>
          <a:p>
            <a:pPr fontAlgn="base"/>
            <a:r>
              <a:rPr lang="en-IN" dirty="0"/>
              <a:t> </a:t>
            </a:r>
          </a:p>
          <a:p>
            <a:pPr fontAlgn="base"/>
            <a:r>
              <a:rPr lang="en-IN" dirty="0"/>
              <a:t>T1 = a + b</a:t>
            </a:r>
          </a:p>
          <a:p>
            <a:pPr fontAlgn="base"/>
            <a:r>
              <a:rPr lang="en-IN" dirty="0"/>
              <a:t>T2 = T1 + c</a:t>
            </a:r>
          </a:p>
          <a:p>
            <a:pPr fontAlgn="base"/>
            <a:r>
              <a:rPr lang="en-IN" dirty="0"/>
              <a:t>T3 = T1 x T2</a:t>
            </a:r>
          </a:p>
        </p:txBody>
      </p:sp>
      <p:pic>
        <p:nvPicPr>
          <p:cNvPr id="4" name="Picture 3" descr="https://www.gatevidyalay.com/wp-content/uploads/2018/03/Directed-Acyclic-Graphs-Problem-01-DAG.png"/>
          <p:cNvPicPr/>
          <p:nvPr/>
        </p:nvPicPr>
        <p:blipFill>
          <a:blip r:embed="rId2">
            <a:extLst>
              <a:ext uri="{28A0092B-C50C-407E-A947-70E740481C1C}">
                <a14:useLocalDpi xmlns:a14="http://schemas.microsoft.com/office/drawing/2010/main" val="0"/>
              </a:ext>
            </a:extLst>
          </a:blip>
          <a:srcRect/>
          <a:stretch>
            <a:fillRect/>
          </a:stretch>
        </p:blipFill>
        <p:spPr bwMode="auto">
          <a:xfrm>
            <a:off x="2780729" y="3645024"/>
            <a:ext cx="3438525" cy="2600325"/>
          </a:xfrm>
          <a:prstGeom prst="rect">
            <a:avLst/>
          </a:prstGeom>
          <a:noFill/>
          <a:ln>
            <a:noFill/>
          </a:ln>
        </p:spPr>
      </p:pic>
    </p:spTree>
    <p:extLst>
      <p:ext uri="{BB962C8B-B14F-4D97-AF65-F5344CB8AC3E}">
        <p14:creationId xmlns:p14="http://schemas.microsoft.com/office/powerpoint/2010/main" val="763397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7848872" cy="646331"/>
          </a:xfrm>
          <a:prstGeom prst="rect">
            <a:avLst/>
          </a:prstGeom>
        </p:spPr>
        <p:txBody>
          <a:bodyPr wrap="square">
            <a:spAutoFit/>
          </a:bodyPr>
          <a:lstStyle/>
          <a:p>
            <a:pPr fontAlgn="base"/>
            <a:r>
              <a:rPr lang="en-IN" dirty="0"/>
              <a:t>Consider the following expression and construct a DAG for it-</a:t>
            </a:r>
          </a:p>
          <a:p>
            <a:pPr fontAlgn="base"/>
            <a:r>
              <a:rPr lang="en-IN" dirty="0"/>
              <a:t>( ( ( a + a ) + ( a + a ) ) + ( ( a + a ) + ( a + a ) ) )</a:t>
            </a:r>
          </a:p>
        </p:txBody>
      </p:sp>
      <p:pic>
        <p:nvPicPr>
          <p:cNvPr id="3" name="Picture 2" descr="https://www.gatevidyalay.com/wp-content/uploads/2018/03/Directed-Acyclic-Graphs-Problem-02-DAG.png"/>
          <p:cNvPicPr/>
          <p:nvPr/>
        </p:nvPicPr>
        <p:blipFill>
          <a:blip r:embed="rId2">
            <a:extLst>
              <a:ext uri="{28A0092B-C50C-407E-A947-70E740481C1C}">
                <a14:useLocalDpi xmlns:a14="http://schemas.microsoft.com/office/drawing/2010/main" val="0"/>
              </a:ext>
            </a:extLst>
          </a:blip>
          <a:srcRect/>
          <a:stretch>
            <a:fillRect/>
          </a:stretch>
        </p:blipFill>
        <p:spPr bwMode="auto">
          <a:xfrm>
            <a:off x="1835696" y="1268760"/>
            <a:ext cx="4896544" cy="4536504"/>
          </a:xfrm>
          <a:prstGeom prst="rect">
            <a:avLst/>
          </a:prstGeom>
          <a:noFill/>
          <a:ln>
            <a:noFill/>
          </a:ln>
        </p:spPr>
      </p:pic>
    </p:spTree>
    <p:extLst>
      <p:ext uri="{BB962C8B-B14F-4D97-AF65-F5344CB8AC3E}">
        <p14:creationId xmlns:p14="http://schemas.microsoft.com/office/powerpoint/2010/main" val="763397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260648"/>
            <a:ext cx="4248472" cy="584775"/>
          </a:xfrm>
          <a:prstGeom prst="rect">
            <a:avLst/>
          </a:prstGeom>
          <a:noFill/>
        </p:spPr>
        <p:txBody>
          <a:bodyPr wrap="square" rtlCol="0">
            <a:spAutoFit/>
          </a:bodyPr>
          <a:lstStyle/>
          <a:p>
            <a:r>
              <a:rPr lang="en-US" sz="3200" dirty="0"/>
              <a:t>APPLICATION OF DAGs</a:t>
            </a:r>
            <a:endParaRPr lang="en-IN" sz="3200" dirty="0"/>
          </a:p>
        </p:txBody>
      </p:sp>
      <p:sp>
        <p:nvSpPr>
          <p:cNvPr id="5" name="Rectangle 4"/>
          <p:cNvSpPr/>
          <p:nvPr/>
        </p:nvSpPr>
        <p:spPr>
          <a:xfrm>
            <a:off x="179512" y="982176"/>
            <a:ext cx="8568952" cy="3785652"/>
          </a:xfrm>
          <a:prstGeom prst="rect">
            <a:avLst/>
          </a:prstGeom>
        </p:spPr>
        <p:txBody>
          <a:bodyPr wrap="square">
            <a:spAutoFit/>
          </a:bodyPr>
          <a:lstStyle/>
          <a:p>
            <a:pPr algn="just" fontAlgn="base"/>
            <a:r>
              <a:rPr lang="en-IN" sz="2400" dirty="0"/>
              <a:t>DAGs are used for the following purposes-</a:t>
            </a:r>
          </a:p>
          <a:p>
            <a:pPr algn="just" fontAlgn="base"/>
            <a:endParaRPr lang="en-IN" sz="2400" dirty="0"/>
          </a:p>
          <a:p>
            <a:pPr marL="342900" lvl="0" indent="-342900" algn="just" fontAlgn="base">
              <a:buFont typeface="Arial" panose="020B0604020202020204" pitchFamily="34" charset="0"/>
              <a:buChar char="•"/>
            </a:pPr>
            <a:r>
              <a:rPr lang="en-IN" sz="2400" dirty="0"/>
              <a:t>To determine the expressions which have been computed more than once (called common sub-expressions).</a:t>
            </a:r>
          </a:p>
          <a:p>
            <a:pPr marL="342900" lvl="0" indent="-342900" algn="just" fontAlgn="base">
              <a:buFont typeface="Arial" panose="020B0604020202020204" pitchFamily="34" charset="0"/>
              <a:buChar char="•"/>
            </a:pPr>
            <a:endParaRPr lang="en-IN" sz="2400" dirty="0"/>
          </a:p>
          <a:p>
            <a:pPr marL="342900" lvl="0" indent="-342900" algn="just" fontAlgn="base">
              <a:buFont typeface="Arial" panose="020B0604020202020204" pitchFamily="34" charset="0"/>
              <a:buChar char="•"/>
            </a:pPr>
            <a:r>
              <a:rPr lang="en-IN" sz="2400" dirty="0"/>
              <a:t>To determine the names whose computation has been done outside the block but used inside the block.</a:t>
            </a:r>
          </a:p>
          <a:p>
            <a:pPr marL="342900" lvl="0" indent="-342900" algn="just" fontAlgn="base">
              <a:buFont typeface="Arial" panose="020B0604020202020204" pitchFamily="34" charset="0"/>
              <a:buChar char="•"/>
            </a:pPr>
            <a:endParaRPr lang="en-IN" sz="2400" dirty="0"/>
          </a:p>
          <a:p>
            <a:pPr marL="342900" lvl="0" indent="-342900" algn="just" fontAlgn="base">
              <a:buFont typeface="Arial" panose="020B0604020202020204" pitchFamily="34" charset="0"/>
              <a:buChar char="•"/>
            </a:pPr>
            <a:r>
              <a:rPr lang="en-IN" sz="2400" dirty="0"/>
              <a:t>To determine the statements of the block whose computed value can be made available outside the block.</a:t>
            </a:r>
          </a:p>
        </p:txBody>
      </p:sp>
    </p:spTree>
    <p:extLst>
      <p:ext uri="{BB962C8B-B14F-4D97-AF65-F5344CB8AC3E}">
        <p14:creationId xmlns:p14="http://schemas.microsoft.com/office/powerpoint/2010/main" val="3220231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60648"/>
            <a:ext cx="7992888" cy="1938992"/>
          </a:xfrm>
          <a:prstGeom prst="rect">
            <a:avLst/>
          </a:prstGeom>
        </p:spPr>
        <p:txBody>
          <a:bodyPr wrap="square">
            <a:spAutoFit/>
          </a:bodyPr>
          <a:lstStyle/>
          <a:p>
            <a:r>
              <a:rPr lang="en-IN" sz="2400" b="1" dirty="0"/>
              <a:t>OPTIMIZATION OF BASIC BLOCKS</a:t>
            </a:r>
            <a:endParaRPr lang="en-IN" sz="2400" dirty="0"/>
          </a:p>
          <a:p>
            <a:r>
              <a:rPr lang="en-IN" sz="2400" dirty="0"/>
              <a:t> </a:t>
            </a:r>
          </a:p>
          <a:p>
            <a:r>
              <a:rPr lang="en-IN" sz="2400" dirty="0"/>
              <a:t>There are two types of basic block optimizations. They are :</a:t>
            </a:r>
          </a:p>
          <a:p>
            <a:r>
              <a:rPr lang="en-IN" sz="2400" dirty="0"/>
              <a:t>Ø     Structure-Preserving Transformations</a:t>
            </a:r>
          </a:p>
          <a:p>
            <a:r>
              <a:rPr lang="en-IN" sz="2400" dirty="0"/>
              <a:t>Ø     Algebraic Transformations</a:t>
            </a:r>
          </a:p>
        </p:txBody>
      </p:sp>
      <p:sp>
        <p:nvSpPr>
          <p:cNvPr id="3" name="Rectangle 2"/>
          <p:cNvSpPr/>
          <p:nvPr/>
        </p:nvSpPr>
        <p:spPr>
          <a:xfrm>
            <a:off x="107504" y="2564904"/>
            <a:ext cx="8496944" cy="2677656"/>
          </a:xfrm>
          <a:prstGeom prst="rect">
            <a:avLst/>
          </a:prstGeom>
        </p:spPr>
        <p:txBody>
          <a:bodyPr wrap="square">
            <a:spAutoFit/>
          </a:bodyPr>
          <a:lstStyle/>
          <a:p>
            <a:r>
              <a:rPr lang="en-IN" sz="2400" b="1" dirty="0"/>
              <a:t>Structure-Preserving Transformations:</a:t>
            </a:r>
            <a:endParaRPr lang="en-IN" sz="2400" dirty="0"/>
          </a:p>
          <a:p>
            <a:r>
              <a:rPr lang="en-IN" sz="2400" dirty="0"/>
              <a:t>The primary Structure-Preserving Transformation on basic blocks are:</a:t>
            </a:r>
          </a:p>
          <a:p>
            <a:r>
              <a:rPr lang="en-IN" sz="2400" dirty="0"/>
              <a:t>Ø</a:t>
            </a:r>
            <a:r>
              <a:rPr lang="en-IN" sz="2400"/>
              <a:t>  </a:t>
            </a:r>
            <a:r>
              <a:rPr lang="en-IN" sz="2400" dirty="0"/>
              <a:t>   Common sub-expression elimination</a:t>
            </a:r>
          </a:p>
          <a:p>
            <a:r>
              <a:rPr lang="en-IN" sz="2400" dirty="0"/>
              <a:t>Ø     Dead code elimination</a:t>
            </a:r>
          </a:p>
          <a:p>
            <a:r>
              <a:rPr lang="en-IN" sz="2400" dirty="0"/>
              <a:t>Ø     Renaming of temporary variables</a:t>
            </a:r>
          </a:p>
          <a:p>
            <a:r>
              <a:rPr lang="en-IN" sz="2400" dirty="0"/>
              <a:t>Ø     Interchange of two independent adjacent statements</a:t>
            </a:r>
          </a:p>
        </p:txBody>
      </p:sp>
    </p:spTree>
    <p:extLst>
      <p:ext uri="{BB962C8B-B14F-4D97-AF65-F5344CB8AC3E}">
        <p14:creationId xmlns:p14="http://schemas.microsoft.com/office/powerpoint/2010/main" val="3426657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17693"/>
            <a:ext cx="8424936" cy="6740307"/>
          </a:xfrm>
          <a:prstGeom prst="rect">
            <a:avLst/>
          </a:prstGeom>
        </p:spPr>
        <p:txBody>
          <a:bodyPr wrap="square">
            <a:spAutoFit/>
          </a:bodyPr>
          <a:lstStyle/>
          <a:p>
            <a:r>
              <a:rPr lang="en-IN" sz="2400" b="1" dirty="0"/>
              <a:t>Common sub-expression elimination:</a:t>
            </a:r>
            <a:endParaRPr lang="en-IN" sz="2400" dirty="0"/>
          </a:p>
          <a:p>
            <a:r>
              <a:rPr lang="en-IN" sz="2400" dirty="0"/>
              <a:t>Common sub expressions need not be computed over and over again. Instead they can be computed once and kept in store from where it’s referenced.</a:t>
            </a:r>
          </a:p>
          <a:p>
            <a:r>
              <a:rPr lang="en-IN" sz="2400" dirty="0"/>
              <a:t> Example:</a:t>
            </a:r>
          </a:p>
          <a:p>
            <a:r>
              <a:rPr lang="en-IN" sz="2400" dirty="0"/>
              <a:t> </a:t>
            </a:r>
            <a:r>
              <a:rPr lang="en-IN" sz="2400" b="1" dirty="0"/>
              <a:t>a:</a:t>
            </a:r>
            <a:r>
              <a:rPr lang="en-IN" sz="2400" dirty="0"/>
              <a:t> </a:t>
            </a:r>
            <a:r>
              <a:rPr lang="en-IN" sz="2400" b="1" dirty="0"/>
              <a:t>=</a:t>
            </a:r>
            <a:r>
              <a:rPr lang="en-IN" sz="2400" b="1" dirty="0" err="1"/>
              <a:t>b+c</a:t>
            </a:r>
            <a:endParaRPr lang="en-IN" sz="2400" dirty="0"/>
          </a:p>
          <a:p>
            <a:r>
              <a:rPr lang="en-IN" sz="2400" b="1" dirty="0"/>
              <a:t>b:</a:t>
            </a:r>
            <a:r>
              <a:rPr lang="en-IN" sz="2400" dirty="0"/>
              <a:t> </a:t>
            </a:r>
            <a:r>
              <a:rPr lang="en-IN" sz="2400" b="1" dirty="0"/>
              <a:t>=a-d</a:t>
            </a:r>
            <a:endParaRPr lang="en-IN" sz="2400" dirty="0"/>
          </a:p>
          <a:p>
            <a:r>
              <a:rPr lang="en-IN" sz="2400" b="1" dirty="0"/>
              <a:t>c:</a:t>
            </a:r>
            <a:r>
              <a:rPr lang="en-IN" sz="2400" dirty="0"/>
              <a:t> </a:t>
            </a:r>
            <a:r>
              <a:rPr lang="en-IN" sz="2400" b="1" dirty="0"/>
              <a:t>=</a:t>
            </a:r>
            <a:r>
              <a:rPr lang="en-IN" sz="2400" b="1" dirty="0" err="1"/>
              <a:t>b+c</a:t>
            </a:r>
            <a:endParaRPr lang="en-IN" sz="2400" dirty="0"/>
          </a:p>
          <a:p>
            <a:r>
              <a:rPr lang="en-IN" sz="2400" b="1" dirty="0"/>
              <a:t>d:</a:t>
            </a:r>
            <a:r>
              <a:rPr lang="en-IN" sz="2400" dirty="0"/>
              <a:t> </a:t>
            </a:r>
            <a:r>
              <a:rPr lang="en-IN" sz="2400" b="1" dirty="0"/>
              <a:t>=a-d</a:t>
            </a:r>
            <a:endParaRPr lang="en-IN" sz="2400" dirty="0"/>
          </a:p>
          <a:p>
            <a:r>
              <a:rPr lang="en-IN" sz="2400" dirty="0"/>
              <a:t> </a:t>
            </a:r>
          </a:p>
          <a:p>
            <a:r>
              <a:rPr lang="en-IN" sz="2400" dirty="0"/>
              <a:t>The 2nd and 4th statements compute the same expression: </a:t>
            </a:r>
            <a:r>
              <a:rPr lang="en-IN" sz="2400" dirty="0" err="1"/>
              <a:t>b+c</a:t>
            </a:r>
            <a:r>
              <a:rPr lang="en-IN" sz="2400" dirty="0"/>
              <a:t> and a-d</a:t>
            </a:r>
          </a:p>
          <a:p>
            <a:r>
              <a:rPr lang="en-IN" sz="2400" dirty="0"/>
              <a:t> </a:t>
            </a:r>
          </a:p>
          <a:p>
            <a:r>
              <a:rPr lang="en-IN" sz="2400" dirty="0"/>
              <a:t>Basic block can be transformed to</a:t>
            </a:r>
          </a:p>
          <a:p>
            <a:r>
              <a:rPr lang="en-IN" sz="2400" b="1" dirty="0"/>
              <a:t>a:</a:t>
            </a:r>
            <a:r>
              <a:rPr lang="en-IN" sz="2400" dirty="0"/>
              <a:t> </a:t>
            </a:r>
            <a:r>
              <a:rPr lang="en-IN" sz="2400" b="1" dirty="0"/>
              <a:t>= </a:t>
            </a:r>
            <a:r>
              <a:rPr lang="en-IN" sz="2400" b="1" dirty="0" err="1"/>
              <a:t>b+c</a:t>
            </a:r>
            <a:endParaRPr lang="en-IN" sz="2400" dirty="0"/>
          </a:p>
          <a:p>
            <a:r>
              <a:rPr lang="en-IN" sz="2400" b="1" dirty="0"/>
              <a:t>b:</a:t>
            </a:r>
            <a:r>
              <a:rPr lang="en-IN" sz="2400" dirty="0"/>
              <a:t> </a:t>
            </a:r>
            <a:r>
              <a:rPr lang="en-IN" sz="2400" b="1" dirty="0"/>
              <a:t>= a-d</a:t>
            </a:r>
            <a:endParaRPr lang="en-IN" sz="2400" dirty="0"/>
          </a:p>
          <a:p>
            <a:r>
              <a:rPr lang="en-IN" sz="2400" b="1" dirty="0"/>
              <a:t>c:</a:t>
            </a:r>
            <a:r>
              <a:rPr lang="en-IN" sz="2400" dirty="0"/>
              <a:t> </a:t>
            </a:r>
            <a:r>
              <a:rPr lang="en-IN" sz="2400" b="1" dirty="0"/>
              <a:t>= a</a:t>
            </a:r>
            <a:endParaRPr lang="en-IN" sz="2400" dirty="0"/>
          </a:p>
          <a:p>
            <a:r>
              <a:rPr lang="en-IN" sz="2400" b="1" dirty="0"/>
              <a:t>d:</a:t>
            </a:r>
            <a:r>
              <a:rPr lang="en-IN" sz="2400" dirty="0"/>
              <a:t> </a:t>
            </a:r>
            <a:r>
              <a:rPr lang="en-IN" sz="2400" b="1" dirty="0"/>
              <a:t>= b</a:t>
            </a:r>
            <a:endParaRPr lang="en-IN" sz="2400" dirty="0"/>
          </a:p>
        </p:txBody>
      </p:sp>
    </p:spTree>
    <p:extLst>
      <p:ext uri="{BB962C8B-B14F-4D97-AF65-F5344CB8AC3E}">
        <p14:creationId xmlns:p14="http://schemas.microsoft.com/office/powerpoint/2010/main" val="143400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467" y="116632"/>
            <a:ext cx="8640960" cy="6463308"/>
          </a:xfrm>
          <a:prstGeom prst="rect">
            <a:avLst/>
          </a:prstGeom>
        </p:spPr>
        <p:txBody>
          <a:bodyPr wrap="square">
            <a:spAutoFit/>
          </a:bodyPr>
          <a:lstStyle/>
          <a:p>
            <a:r>
              <a:rPr lang="en-IN" b="1" dirty="0"/>
              <a:t>Dead code elimination:</a:t>
            </a:r>
            <a:endParaRPr lang="en-IN" dirty="0"/>
          </a:p>
          <a:p>
            <a:r>
              <a:rPr lang="en-IN" dirty="0"/>
              <a:t> </a:t>
            </a:r>
          </a:p>
          <a:p>
            <a:r>
              <a:rPr lang="en-IN" dirty="0"/>
              <a:t>It is possible that a large amount of dead (useless) code may exist in the program. This might be especially caused when introducing variables and procedures as part of construction or error-correction of a program - once declared and defined, one forgets to remove them in case they serve no purpose. Eliminating these will definitely optimize the code.</a:t>
            </a:r>
          </a:p>
          <a:p>
            <a:r>
              <a:rPr lang="en-IN" dirty="0"/>
              <a:t> </a:t>
            </a:r>
          </a:p>
          <a:p>
            <a:r>
              <a:rPr lang="en-IN" b="1" dirty="0"/>
              <a:t>Renaming of temporary variables:</a:t>
            </a:r>
            <a:endParaRPr lang="en-IN" dirty="0"/>
          </a:p>
          <a:p>
            <a:r>
              <a:rPr lang="en-IN" dirty="0"/>
              <a:t> </a:t>
            </a:r>
          </a:p>
          <a:p>
            <a:r>
              <a:rPr lang="en-IN" dirty="0"/>
              <a:t>A statement t:=b+c where t is a temporary name can be changed to u:=b+c where u is another temporary name, and change all uses of t to u. In this a basic block is transformed to its equivalent block called normal-form block.</a:t>
            </a:r>
          </a:p>
          <a:p>
            <a:r>
              <a:rPr lang="en-IN" dirty="0"/>
              <a:t> </a:t>
            </a:r>
          </a:p>
          <a:p>
            <a:r>
              <a:rPr lang="en-IN" b="1" dirty="0"/>
              <a:t>Interchange of two independent adjacent statements:</a:t>
            </a:r>
            <a:endParaRPr lang="en-IN" dirty="0"/>
          </a:p>
          <a:p>
            <a:r>
              <a:rPr lang="en-IN" dirty="0"/>
              <a:t> </a:t>
            </a:r>
          </a:p>
          <a:p>
            <a:r>
              <a:rPr lang="en-IN" dirty="0"/>
              <a:t>• Two statements</a:t>
            </a:r>
          </a:p>
          <a:p>
            <a:r>
              <a:rPr lang="en-IN" dirty="0"/>
              <a:t> </a:t>
            </a:r>
          </a:p>
          <a:p>
            <a:r>
              <a:rPr lang="en-IN" b="1" dirty="0"/>
              <a:t>t1:=</a:t>
            </a:r>
            <a:r>
              <a:rPr lang="en-IN" b="1" dirty="0" err="1"/>
              <a:t>b+c</a:t>
            </a:r>
            <a:endParaRPr lang="en-IN" dirty="0"/>
          </a:p>
          <a:p>
            <a:r>
              <a:rPr lang="en-IN" b="1" dirty="0"/>
              <a:t>t2:=</a:t>
            </a:r>
            <a:r>
              <a:rPr lang="en-IN" b="1" dirty="0" err="1"/>
              <a:t>x+y</a:t>
            </a:r>
            <a:endParaRPr lang="en-IN" dirty="0"/>
          </a:p>
          <a:p>
            <a:r>
              <a:rPr lang="en-IN" dirty="0"/>
              <a:t> </a:t>
            </a:r>
          </a:p>
          <a:p>
            <a:r>
              <a:rPr lang="en-IN" dirty="0"/>
              <a:t>can be interchanged or reordered in its computation in the basic block when value of t1 does not affect the value of t2.</a:t>
            </a:r>
          </a:p>
        </p:txBody>
      </p:sp>
    </p:spTree>
    <p:extLst>
      <p:ext uri="{BB962C8B-B14F-4D97-AF65-F5344CB8AC3E}">
        <p14:creationId xmlns:p14="http://schemas.microsoft.com/office/powerpoint/2010/main" val="3242503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640960" cy="6063198"/>
          </a:xfrm>
          <a:prstGeom prst="rect">
            <a:avLst/>
          </a:prstGeom>
        </p:spPr>
        <p:txBody>
          <a:bodyPr wrap="square">
            <a:spAutoFit/>
          </a:bodyPr>
          <a:lstStyle/>
          <a:p>
            <a:r>
              <a:rPr lang="en-IN" sz="2800" b="1" u="sng" dirty="0"/>
              <a:t>Algebraic Transformations:</a:t>
            </a:r>
            <a:endParaRPr lang="en-IN" sz="2800" u="sng" dirty="0"/>
          </a:p>
          <a:p>
            <a:pPr algn="just"/>
            <a:r>
              <a:rPr lang="en-IN" sz="2400" dirty="0"/>
              <a:t>This includes simplifying expressions or replacing expensive operation by cheaper ones i.e. reduction in strength. </a:t>
            </a:r>
          </a:p>
          <a:p>
            <a:pPr algn="just"/>
            <a:endParaRPr lang="en-IN" sz="2400" dirty="0"/>
          </a:p>
          <a:p>
            <a:pPr algn="just"/>
            <a:r>
              <a:rPr lang="en-IN" sz="2400" dirty="0"/>
              <a:t>Another class of related optimizations is constant folding. Here we evaluate constant expressions at compile time and replace the constant expressions by their values. Thus the expression 2*3.14 would be replaced by 6.28.</a:t>
            </a:r>
          </a:p>
          <a:p>
            <a:pPr algn="just"/>
            <a:r>
              <a:rPr lang="en-IN" sz="2400" dirty="0"/>
              <a:t>The relational operators &lt;=, &gt;=, &lt;, &gt;, + and = sometimes generate unexpected common sub expressions. Associative laws may also be applied to expose common sub expressions. For example, if the source code has the assignments</a:t>
            </a:r>
          </a:p>
          <a:p>
            <a:pPr lvl="6"/>
            <a:r>
              <a:rPr lang="en-IN" sz="2400" b="1" dirty="0"/>
              <a:t>a :=</a:t>
            </a:r>
            <a:r>
              <a:rPr lang="en-IN" sz="2400" b="1" dirty="0" err="1"/>
              <a:t>b+c</a:t>
            </a:r>
            <a:endParaRPr lang="en-IN" sz="2400" dirty="0"/>
          </a:p>
          <a:p>
            <a:pPr lvl="6"/>
            <a:r>
              <a:rPr lang="en-IN" sz="2400" b="1" dirty="0"/>
              <a:t>e :=</a:t>
            </a:r>
            <a:r>
              <a:rPr lang="en-IN" sz="2400" b="1" dirty="0" err="1"/>
              <a:t>c+d+b</a:t>
            </a:r>
            <a:endParaRPr lang="en-IN" sz="2400" dirty="0"/>
          </a:p>
          <a:p>
            <a:r>
              <a:rPr lang="en-IN" sz="2400" dirty="0"/>
              <a:t> the following intermediate code may be generated: </a:t>
            </a:r>
            <a:r>
              <a:rPr lang="en-IN" sz="2400" b="1" dirty="0"/>
              <a:t>a :=</a:t>
            </a:r>
            <a:r>
              <a:rPr lang="en-IN" sz="2400" b="1" dirty="0" err="1"/>
              <a:t>b+c</a:t>
            </a:r>
            <a:endParaRPr lang="en-IN" sz="2400" dirty="0"/>
          </a:p>
          <a:p>
            <a:r>
              <a:rPr lang="en-IN" sz="2400" dirty="0"/>
              <a:t> 			</a:t>
            </a:r>
            <a:r>
              <a:rPr lang="en-IN" sz="2400" b="1" dirty="0"/>
              <a:t>t :=</a:t>
            </a:r>
            <a:r>
              <a:rPr lang="en-IN" sz="2400" b="1" dirty="0" err="1"/>
              <a:t>c+d</a:t>
            </a:r>
            <a:r>
              <a:rPr lang="en-IN" sz="2400" b="1" dirty="0"/>
              <a:t> e :=</a:t>
            </a:r>
            <a:r>
              <a:rPr lang="en-IN" sz="2400" b="1" dirty="0" err="1"/>
              <a:t>t+b</a:t>
            </a:r>
            <a:endParaRPr lang="en-IN" sz="2400" dirty="0"/>
          </a:p>
        </p:txBody>
      </p:sp>
    </p:spTree>
    <p:extLst>
      <p:ext uri="{BB962C8B-B14F-4D97-AF65-F5344CB8AC3E}">
        <p14:creationId xmlns:p14="http://schemas.microsoft.com/office/powerpoint/2010/main" val="3824652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7846" y="404664"/>
            <a:ext cx="8424936" cy="5632311"/>
          </a:xfrm>
          <a:prstGeom prst="rect">
            <a:avLst/>
          </a:prstGeom>
        </p:spPr>
        <p:txBody>
          <a:bodyPr wrap="square">
            <a:spAutoFit/>
          </a:bodyPr>
          <a:lstStyle/>
          <a:p>
            <a:pPr algn="just"/>
            <a:r>
              <a:rPr lang="en-IN" sz="2400" dirty="0"/>
              <a:t>Example:</a:t>
            </a:r>
          </a:p>
          <a:p>
            <a:pPr algn="just"/>
            <a:r>
              <a:rPr lang="en-IN" sz="2400" dirty="0"/>
              <a:t>x:=x+0 =0+ x can be removed</a:t>
            </a:r>
          </a:p>
          <a:p>
            <a:pPr algn="just"/>
            <a:r>
              <a:rPr lang="en-US" sz="2400" dirty="0"/>
              <a:t>X-0 = X</a:t>
            </a:r>
          </a:p>
          <a:p>
            <a:pPr algn="just"/>
            <a:r>
              <a:rPr lang="en-US" sz="2400" dirty="0"/>
              <a:t>X*1 = 1*X = X</a:t>
            </a:r>
          </a:p>
          <a:p>
            <a:pPr algn="just"/>
            <a:r>
              <a:rPr lang="en-US" sz="2400" dirty="0"/>
              <a:t>X/1 = X</a:t>
            </a:r>
            <a:endParaRPr lang="en-IN" sz="2400" dirty="0"/>
          </a:p>
          <a:p>
            <a:pPr algn="just"/>
            <a:r>
              <a:rPr lang="en-IN" sz="2400" dirty="0"/>
              <a:t>x:=y**2 can be replaced by a cheaper statement x:=y*y</a:t>
            </a:r>
          </a:p>
          <a:p>
            <a:pPr algn="just"/>
            <a:r>
              <a:rPr lang="en-IN" sz="2400" dirty="0"/>
              <a:t> x/2 = x*0.5</a:t>
            </a:r>
          </a:p>
          <a:p>
            <a:pPr algn="just"/>
            <a:endParaRPr lang="en-IN" sz="2400" dirty="0"/>
          </a:p>
          <a:p>
            <a:pPr algn="just"/>
            <a:r>
              <a:rPr lang="en-IN" sz="2400" dirty="0"/>
              <a:t>The compiler writer should examine the language specification carefully to determine what rearrangements of computations are permitted, since computer arithmetic does not always obey the algebraic identities of mathematics. </a:t>
            </a:r>
          </a:p>
          <a:p>
            <a:pPr algn="just"/>
            <a:endParaRPr lang="en-IN" sz="2400" dirty="0"/>
          </a:p>
          <a:p>
            <a:pPr algn="just"/>
            <a:r>
              <a:rPr lang="en-IN" sz="2400" dirty="0"/>
              <a:t>Thus, a compiler may evaluate x*y-x*z as x*(y-z) but it may not evaluate a+(b-c) as (</a:t>
            </a:r>
            <a:r>
              <a:rPr lang="en-IN" sz="2400" dirty="0" err="1"/>
              <a:t>a+b</a:t>
            </a:r>
            <a:r>
              <a:rPr lang="en-IN" sz="2400" dirty="0"/>
              <a:t>)-c.</a:t>
            </a:r>
          </a:p>
        </p:txBody>
      </p:sp>
    </p:spTree>
    <p:extLst>
      <p:ext uri="{BB962C8B-B14F-4D97-AF65-F5344CB8AC3E}">
        <p14:creationId xmlns:p14="http://schemas.microsoft.com/office/powerpoint/2010/main" val="1903634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2676525"/>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altLang="en-US" sz="1400" b="1" i="0" u="none" strike="noStrike" cap="none" normalizeH="0" baseline="0">
                <a:ln>
                  <a:noFill/>
                </a:ln>
                <a:solidFill>
                  <a:srgbClr val="333333"/>
                </a:solidFill>
                <a:effectLst/>
                <a:latin typeface="Arial" pitchFamily="34" charset="0"/>
                <a:ea typeface="Times New Roman" pitchFamily="18" charset="0"/>
                <a:cs typeface="Arial" pitchFamily="34" charset="0"/>
              </a:rPr>
            </a:br>
            <a:br>
              <a:rPr kumimoji="0" lang="en-US" altLang="en-US" sz="1400" b="1" i="0" u="none" strike="noStrike" cap="none" normalizeH="0" baseline="0">
                <a:ln>
                  <a:noFill/>
                </a:ln>
                <a:solidFill>
                  <a:srgbClr val="333333"/>
                </a:solidFill>
                <a:effectLst/>
                <a:latin typeface="Arial" pitchFamily="34" charset="0"/>
                <a:ea typeface="Times New Roman" pitchFamily="18" charset="0"/>
                <a:cs typeface="Arial" pitchFamily="34" charset="0"/>
              </a:rPr>
            </a:b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Rectangle 5"/>
          <p:cNvSpPr/>
          <p:nvPr/>
        </p:nvSpPr>
        <p:spPr>
          <a:xfrm>
            <a:off x="287524" y="116632"/>
            <a:ext cx="8568952" cy="2646878"/>
          </a:xfrm>
          <a:prstGeom prst="rect">
            <a:avLst/>
          </a:prstGeom>
        </p:spPr>
        <p:txBody>
          <a:bodyPr wrap="square">
            <a:spAutoFit/>
          </a:bodyPr>
          <a:lstStyle/>
          <a:p>
            <a:r>
              <a:rPr lang="en-IN" sz="2800" b="1" dirty="0"/>
              <a:t>CODE GENERATION</a:t>
            </a:r>
            <a:endParaRPr lang="en-IN" sz="2800" dirty="0"/>
          </a:p>
          <a:p>
            <a:r>
              <a:rPr lang="en-IN" dirty="0"/>
              <a:t> </a:t>
            </a:r>
          </a:p>
          <a:p>
            <a:pPr algn="just"/>
            <a:r>
              <a:rPr lang="en-IN" sz="2400" dirty="0"/>
              <a:t>The final phase in compiler model is the code generator. It takes as input an intermediate representation of the source program and produces as output an equivalent target program. The code generation techniques presented below can be used whether or not an optimizing phase occurs before code generation.</a:t>
            </a:r>
          </a:p>
        </p:txBody>
      </p:sp>
      <p:pic>
        <p:nvPicPr>
          <p:cNvPr id="8" name="Picture 7" descr="http://img.brainkart.com/extra/nSvng7b.jpg"/>
          <p:cNvPicPr/>
          <p:nvPr/>
        </p:nvPicPr>
        <p:blipFill>
          <a:blip r:embed="rId2">
            <a:extLst>
              <a:ext uri="{28A0092B-C50C-407E-A947-70E740481C1C}">
                <a14:useLocalDpi xmlns:a14="http://schemas.microsoft.com/office/drawing/2010/main" val="0"/>
              </a:ext>
            </a:extLst>
          </a:blip>
          <a:srcRect/>
          <a:stretch>
            <a:fillRect/>
          </a:stretch>
        </p:blipFill>
        <p:spPr bwMode="auto">
          <a:xfrm>
            <a:off x="539552" y="2802137"/>
            <a:ext cx="8064896" cy="3701951"/>
          </a:xfrm>
          <a:prstGeom prst="rect">
            <a:avLst/>
          </a:prstGeom>
          <a:noFill/>
          <a:ln>
            <a:noFill/>
          </a:ln>
        </p:spPr>
      </p:pic>
    </p:spTree>
    <p:extLst>
      <p:ext uri="{BB962C8B-B14F-4D97-AF65-F5344CB8AC3E}">
        <p14:creationId xmlns:p14="http://schemas.microsoft.com/office/powerpoint/2010/main" val="4219607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692696"/>
            <a:ext cx="8856983" cy="4462760"/>
          </a:xfrm>
          <a:prstGeom prst="rect">
            <a:avLst/>
          </a:prstGeom>
        </p:spPr>
        <p:txBody>
          <a:bodyPr wrap="square">
            <a:spAutoFit/>
          </a:bodyPr>
          <a:lstStyle/>
          <a:p>
            <a:r>
              <a:rPr lang="en-IN" sz="3200" b="1" dirty="0"/>
              <a:t>ISSUES IN THE DESIGN OF A CODE GENERATOR</a:t>
            </a:r>
            <a:endParaRPr lang="en-IN" sz="3200" dirty="0"/>
          </a:p>
          <a:p>
            <a:endParaRPr lang="en-IN" sz="2800" dirty="0"/>
          </a:p>
          <a:p>
            <a:r>
              <a:rPr lang="en-IN" sz="2800" dirty="0"/>
              <a:t>The following issues arise during the code generation phase:</a:t>
            </a:r>
          </a:p>
          <a:p>
            <a:r>
              <a:rPr lang="en-IN" sz="2800" dirty="0"/>
              <a:t>1.   Input to code generator</a:t>
            </a:r>
          </a:p>
          <a:p>
            <a:r>
              <a:rPr lang="en-IN" sz="2800" dirty="0"/>
              <a:t>2.   Target program</a:t>
            </a:r>
          </a:p>
          <a:p>
            <a:r>
              <a:rPr lang="en-IN" sz="2800" dirty="0"/>
              <a:t>3.   Memory management</a:t>
            </a:r>
          </a:p>
          <a:p>
            <a:r>
              <a:rPr lang="en-IN" sz="2800" dirty="0"/>
              <a:t>4.   Instruction selection</a:t>
            </a:r>
          </a:p>
          <a:p>
            <a:r>
              <a:rPr lang="en-IN" sz="2800" dirty="0"/>
              <a:t>5.   Register allocation</a:t>
            </a:r>
          </a:p>
          <a:p>
            <a:r>
              <a:rPr lang="en-IN" sz="2800" dirty="0"/>
              <a:t>6.   Evaluation order</a:t>
            </a:r>
          </a:p>
        </p:txBody>
      </p:sp>
    </p:spTree>
    <p:extLst>
      <p:ext uri="{BB962C8B-B14F-4D97-AF65-F5344CB8AC3E}">
        <p14:creationId xmlns:p14="http://schemas.microsoft.com/office/powerpoint/2010/main" val="639440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260648"/>
            <a:ext cx="8640960" cy="6370975"/>
          </a:xfrm>
          <a:prstGeom prst="rect">
            <a:avLst/>
          </a:prstGeom>
        </p:spPr>
        <p:txBody>
          <a:bodyPr wrap="square">
            <a:spAutoFit/>
          </a:bodyPr>
          <a:lstStyle/>
          <a:p>
            <a:pPr algn="just"/>
            <a:r>
              <a:rPr lang="en-IN" sz="2400" b="1" dirty="0"/>
              <a:t>1. Input to code generator:</a:t>
            </a:r>
            <a:endParaRPr lang="en-IN" sz="2400" dirty="0"/>
          </a:p>
          <a:p>
            <a:pPr algn="just"/>
            <a:r>
              <a:rPr lang="en-IN" sz="2400" dirty="0"/>
              <a:t>The input to the code generation consists of the intermediate representation of the source program produced by front end , together with information in the symbol table to determine run-time addresses of the data objects denoted by the names in the intermediate representation.</a:t>
            </a:r>
          </a:p>
          <a:p>
            <a:pPr algn="just"/>
            <a:r>
              <a:rPr lang="en-IN" sz="2400" dirty="0"/>
              <a:t> </a:t>
            </a:r>
          </a:p>
          <a:p>
            <a:pPr algn="just"/>
            <a:r>
              <a:rPr lang="en-IN" sz="2400" dirty="0"/>
              <a:t> • Intermediate representation can be :</a:t>
            </a:r>
          </a:p>
          <a:p>
            <a:pPr algn="just"/>
            <a:r>
              <a:rPr lang="en-IN" sz="2400" dirty="0"/>
              <a:t> a.   Linear representation such as postfix notation</a:t>
            </a:r>
          </a:p>
          <a:p>
            <a:pPr algn="just"/>
            <a:r>
              <a:rPr lang="en-IN" sz="2400" dirty="0"/>
              <a:t>b.   Three address representation such as quadruples</a:t>
            </a:r>
          </a:p>
          <a:p>
            <a:pPr algn="just"/>
            <a:r>
              <a:rPr lang="en-IN" sz="2400" dirty="0"/>
              <a:t>c.   Virtual machine representation such as stack machine code</a:t>
            </a:r>
          </a:p>
          <a:p>
            <a:pPr algn="just"/>
            <a:r>
              <a:rPr lang="en-IN" sz="2400" dirty="0"/>
              <a:t>d.   Graphical representations such as syntax trees and DAGs.</a:t>
            </a:r>
          </a:p>
          <a:p>
            <a:pPr algn="just"/>
            <a:endParaRPr lang="en-IN" sz="2400" dirty="0"/>
          </a:p>
          <a:p>
            <a:pPr algn="just"/>
            <a:r>
              <a:rPr lang="en-IN" sz="2400" dirty="0"/>
              <a:t>Prior to code generation, the front end must be scanned, parsed and translated into intermediate representation along with necessary type checking. Therefore, input to code generation is assumed to be error-free.</a:t>
            </a:r>
            <a:r>
              <a:rPr lang="en-IN" b="1" dirty="0"/>
              <a:t> </a:t>
            </a:r>
            <a:endParaRPr lang="en-IN" dirty="0"/>
          </a:p>
        </p:txBody>
      </p:sp>
    </p:spTree>
    <p:extLst>
      <p:ext uri="{BB962C8B-B14F-4D97-AF65-F5344CB8AC3E}">
        <p14:creationId xmlns:p14="http://schemas.microsoft.com/office/powerpoint/2010/main" val="3957576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7705" y="188640"/>
            <a:ext cx="8784976" cy="5816977"/>
          </a:xfrm>
          <a:prstGeom prst="rect">
            <a:avLst/>
          </a:prstGeom>
        </p:spPr>
        <p:txBody>
          <a:bodyPr wrap="square">
            <a:spAutoFit/>
          </a:bodyPr>
          <a:lstStyle/>
          <a:p>
            <a:r>
              <a:rPr lang="en-IN" sz="3600" b="1" u="sng" dirty="0"/>
              <a:t>2. Target program:</a:t>
            </a:r>
            <a:endParaRPr lang="en-IN" sz="3600" u="sng" dirty="0"/>
          </a:p>
          <a:p>
            <a:r>
              <a:rPr lang="en-IN" sz="2800" dirty="0"/>
              <a:t>The output of the code generator is the target program. </a:t>
            </a:r>
          </a:p>
          <a:p>
            <a:endParaRPr lang="en-IN" sz="2800" dirty="0"/>
          </a:p>
          <a:p>
            <a:r>
              <a:rPr lang="en-IN" sz="2800" dirty="0"/>
              <a:t>The output may be : </a:t>
            </a:r>
          </a:p>
          <a:p>
            <a:r>
              <a:rPr lang="en-IN" sz="2800" b="1" dirty="0"/>
              <a:t>a. Absolute machine language</a:t>
            </a:r>
          </a:p>
          <a:p>
            <a:r>
              <a:rPr lang="en-IN" sz="2800" dirty="0"/>
              <a:t>-  It can be placed in a fixed memory location and can be executed immediately. </a:t>
            </a:r>
          </a:p>
          <a:p>
            <a:endParaRPr lang="en-IN" sz="2800" dirty="0"/>
          </a:p>
          <a:p>
            <a:r>
              <a:rPr lang="en-IN" sz="2800" b="1" dirty="0"/>
              <a:t>b. Relocatable machine language</a:t>
            </a:r>
          </a:p>
          <a:p>
            <a:r>
              <a:rPr lang="en-IN" sz="2800" dirty="0"/>
              <a:t>-  It allows subprograms to be compiled separately.</a:t>
            </a:r>
          </a:p>
          <a:p>
            <a:endParaRPr lang="en-IN" sz="2800" dirty="0"/>
          </a:p>
          <a:p>
            <a:r>
              <a:rPr lang="en-IN" sz="2800" b="1" dirty="0"/>
              <a:t>c. Assembly language</a:t>
            </a:r>
          </a:p>
          <a:p>
            <a:r>
              <a:rPr lang="en-IN" sz="2800" dirty="0"/>
              <a:t>- Code generation is made easier.</a:t>
            </a:r>
          </a:p>
        </p:txBody>
      </p:sp>
    </p:spTree>
    <p:extLst>
      <p:ext uri="{BB962C8B-B14F-4D97-AF65-F5344CB8AC3E}">
        <p14:creationId xmlns:p14="http://schemas.microsoft.com/office/powerpoint/2010/main" val="968427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131694"/>
            <a:ext cx="8784976" cy="6755696"/>
          </a:xfrm>
          <a:prstGeom prst="rect">
            <a:avLst/>
          </a:prstGeom>
        </p:spPr>
        <p:txBody>
          <a:bodyPr wrap="square">
            <a:spAutoFit/>
          </a:bodyPr>
          <a:lstStyle/>
          <a:p>
            <a:r>
              <a:rPr lang="en-IN" sz="2400" b="1" dirty="0"/>
              <a:t>3. Memory management:</a:t>
            </a:r>
            <a:endParaRPr lang="en-IN" sz="2400" dirty="0"/>
          </a:p>
          <a:p>
            <a:pPr algn="just"/>
            <a:r>
              <a:rPr lang="en-IN" sz="2400" dirty="0"/>
              <a:t>Names in the source program are mapped to addresses of data objects in run-time memory by the front end and code generator.</a:t>
            </a:r>
          </a:p>
          <a:p>
            <a:pPr algn="just"/>
            <a:endParaRPr lang="en-IN" sz="1400" dirty="0"/>
          </a:p>
          <a:p>
            <a:pPr algn="just"/>
            <a:r>
              <a:rPr lang="en-IN" sz="2400" dirty="0"/>
              <a:t>It makes use of symbol table, that is, a name in a three-address statement refers to a symbol-table entry for the name.</a:t>
            </a:r>
          </a:p>
          <a:p>
            <a:pPr algn="just"/>
            <a:endParaRPr lang="en-IN" sz="1100" dirty="0"/>
          </a:p>
          <a:p>
            <a:pPr algn="just"/>
            <a:r>
              <a:rPr lang="en-IN" sz="2400" dirty="0"/>
              <a:t>Labels in three-address statements have to be converted to addresses of instructions. For example,</a:t>
            </a:r>
          </a:p>
          <a:p>
            <a:pPr algn="just"/>
            <a:r>
              <a:rPr lang="en-IN" sz="2400" dirty="0"/>
              <a:t>                   j: </a:t>
            </a:r>
            <a:r>
              <a:rPr lang="en-IN" sz="2400" dirty="0" err="1"/>
              <a:t>goto</a:t>
            </a:r>
            <a:r>
              <a:rPr lang="en-IN" sz="2400" dirty="0"/>
              <a:t> </a:t>
            </a:r>
            <a:r>
              <a:rPr lang="en-IN" sz="2400" dirty="0" err="1"/>
              <a:t>i</a:t>
            </a:r>
            <a:r>
              <a:rPr lang="en-IN" sz="2400" dirty="0"/>
              <a:t> generates jump instruction as follows:</a:t>
            </a:r>
          </a:p>
          <a:p>
            <a:pPr algn="just"/>
            <a:r>
              <a:rPr lang="en-IN" sz="2400" dirty="0"/>
              <a:t> </a:t>
            </a:r>
          </a:p>
          <a:p>
            <a:pPr algn="just"/>
            <a:r>
              <a:rPr lang="en-IN" sz="2400" dirty="0"/>
              <a:t>if </a:t>
            </a:r>
            <a:r>
              <a:rPr lang="en-IN" sz="2400" dirty="0" err="1"/>
              <a:t>i</a:t>
            </a:r>
            <a:r>
              <a:rPr lang="en-IN" sz="2400" dirty="0"/>
              <a:t> &lt; j, a backward jump instruction with target address equal to location of code for quadruple </a:t>
            </a:r>
            <a:r>
              <a:rPr lang="en-IN" sz="2400" dirty="0" err="1"/>
              <a:t>i</a:t>
            </a:r>
            <a:r>
              <a:rPr lang="en-IN" sz="2400" dirty="0"/>
              <a:t> is generated.</a:t>
            </a:r>
          </a:p>
          <a:p>
            <a:pPr algn="just"/>
            <a:endParaRPr lang="en-IN" sz="2400" dirty="0"/>
          </a:p>
          <a:p>
            <a:pPr algn="just"/>
            <a:r>
              <a:rPr lang="en-IN" sz="2400" dirty="0"/>
              <a:t>if </a:t>
            </a:r>
            <a:r>
              <a:rPr lang="en-IN" sz="2400" dirty="0" err="1"/>
              <a:t>i</a:t>
            </a:r>
            <a:r>
              <a:rPr lang="en-IN" sz="2400" dirty="0"/>
              <a:t> &gt; j, the jump is forward. We must store on a list for quadruple </a:t>
            </a:r>
            <a:r>
              <a:rPr lang="en-IN" sz="2400" dirty="0" err="1"/>
              <a:t>i</a:t>
            </a:r>
            <a:r>
              <a:rPr lang="en-IN" sz="2400" dirty="0"/>
              <a:t> the location of the first machine instruction generated for quadruple j. </a:t>
            </a:r>
          </a:p>
          <a:p>
            <a:pPr algn="just"/>
            <a:endParaRPr lang="en-IN" sz="2400" dirty="0"/>
          </a:p>
          <a:p>
            <a:pPr algn="just"/>
            <a:r>
              <a:rPr lang="en-IN" sz="2400" dirty="0"/>
              <a:t>When </a:t>
            </a:r>
            <a:r>
              <a:rPr lang="en-IN" sz="2400" dirty="0" err="1"/>
              <a:t>i</a:t>
            </a:r>
            <a:r>
              <a:rPr lang="en-IN" sz="2400" dirty="0"/>
              <a:t> is processed, the machine locations for all instructions that forward jumps to </a:t>
            </a:r>
            <a:r>
              <a:rPr lang="en-IN" sz="2400" dirty="0" err="1"/>
              <a:t>i</a:t>
            </a:r>
            <a:r>
              <a:rPr lang="en-IN" sz="2400" dirty="0"/>
              <a:t> are filled.</a:t>
            </a:r>
          </a:p>
        </p:txBody>
      </p:sp>
    </p:spTree>
    <p:extLst>
      <p:ext uri="{BB962C8B-B14F-4D97-AF65-F5344CB8AC3E}">
        <p14:creationId xmlns:p14="http://schemas.microsoft.com/office/powerpoint/2010/main" val="2744301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496944" cy="6540252"/>
          </a:xfrm>
          <a:prstGeom prst="rect">
            <a:avLst/>
          </a:prstGeom>
        </p:spPr>
        <p:txBody>
          <a:bodyPr wrap="square">
            <a:spAutoFit/>
          </a:bodyPr>
          <a:lstStyle/>
          <a:p>
            <a:pPr algn="just"/>
            <a:r>
              <a:rPr lang="en-IN" sz="2400" b="1" dirty="0"/>
              <a:t>4. Instruction selection:</a:t>
            </a:r>
            <a:endParaRPr lang="en-IN" sz="2400" dirty="0"/>
          </a:p>
          <a:p>
            <a:pPr algn="just"/>
            <a:r>
              <a:rPr lang="en-IN" sz="2400" dirty="0"/>
              <a:t>The instructions of target machine should be complete and uniform.</a:t>
            </a:r>
          </a:p>
          <a:p>
            <a:pPr algn="just"/>
            <a:endParaRPr lang="en-IN" sz="1200" dirty="0"/>
          </a:p>
          <a:p>
            <a:pPr algn="just"/>
            <a:r>
              <a:rPr lang="en-IN" sz="2400" dirty="0"/>
              <a:t>Instruction speeds and machine idioms are important factors when efficiency of target program is considered.</a:t>
            </a:r>
          </a:p>
          <a:p>
            <a:pPr algn="just"/>
            <a:endParaRPr lang="en-IN" sz="1100" dirty="0"/>
          </a:p>
          <a:p>
            <a:pPr algn="just"/>
            <a:r>
              <a:rPr lang="en-IN" sz="2400" dirty="0"/>
              <a:t>The quality of the generated code is determined by its speed and size.</a:t>
            </a:r>
          </a:p>
          <a:p>
            <a:pPr algn="just"/>
            <a:endParaRPr lang="en-IN" sz="1200" dirty="0"/>
          </a:p>
          <a:p>
            <a:pPr algn="just"/>
            <a:r>
              <a:rPr lang="en-IN" sz="2400" dirty="0"/>
              <a:t>The former statement can be translated into the latter statement as shown below:</a:t>
            </a:r>
          </a:p>
          <a:p>
            <a:pPr algn="just"/>
            <a:r>
              <a:rPr lang="en-IN" sz="2400" dirty="0"/>
              <a:t>		a:=b+c</a:t>
            </a:r>
          </a:p>
          <a:p>
            <a:pPr algn="just"/>
            <a:r>
              <a:rPr lang="en-IN" sz="2400" dirty="0"/>
              <a:t>		d:=a+e</a:t>
            </a:r>
          </a:p>
          <a:p>
            <a:pPr lvl="8" algn="just"/>
            <a:r>
              <a:rPr lang="en-IN" sz="2000" b="1" dirty="0"/>
              <a:t>MOV b,R0</a:t>
            </a:r>
          </a:p>
          <a:p>
            <a:pPr lvl="8" algn="just"/>
            <a:r>
              <a:rPr lang="en-IN" sz="2000" b="1" dirty="0"/>
              <a:t>ADD c,R0</a:t>
            </a:r>
          </a:p>
          <a:p>
            <a:pPr lvl="8" algn="just"/>
            <a:r>
              <a:rPr lang="en-IN" sz="2000" b="1" dirty="0"/>
              <a:t>MOV R0,a</a:t>
            </a:r>
          </a:p>
          <a:p>
            <a:pPr lvl="8" algn="just"/>
            <a:r>
              <a:rPr lang="en-IN" sz="2000" b="1" dirty="0"/>
              <a:t>MOV a,R0</a:t>
            </a:r>
          </a:p>
          <a:p>
            <a:pPr lvl="8" algn="just"/>
            <a:r>
              <a:rPr lang="en-IN" sz="2000" b="1" dirty="0"/>
              <a:t>ADD e,R0</a:t>
            </a:r>
          </a:p>
          <a:p>
            <a:pPr lvl="8" algn="just"/>
            <a:r>
              <a:rPr lang="en-IN" sz="2000" b="1" dirty="0"/>
              <a:t>MOV R0,d</a:t>
            </a:r>
          </a:p>
        </p:txBody>
      </p:sp>
    </p:spTree>
    <p:extLst>
      <p:ext uri="{BB962C8B-B14F-4D97-AF65-F5344CB8AC3E}">
        <p14:creationId xmlns:p14="http://schemas.microsoft.com/office/powerpoint/2010/main" val="1954835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5846"/>
            <a:ext cx="8496944" cy="6370975"/>
          </a:xfrm>
          <a:prstGeom prst="rect">
            <a:avLst/>
          </a:prstGeom>
        </p:spPr>
        <p:txBody>
          <a:bodyPr wrap="square">
            <a:spAutoFit/>
          </a:bodyPr>
          <a:lstStyle/>
          <a:p>
            <a:pPr algn="just"/>
            <a:r>
              <a:rPr lang="en-IN" sz="2400" b="1" dirty="0"/>
              <a:t>5. Register allocation</a:t>
            </a:r>
            <a:endParaRPr lang="en-IN" sz="2400" dirty="0"/>
          </a:p>
          <a:p>
            <a:pPr algn="just"/>
            <a:r>
              <a:rPr lang="en-IN" sz="2400" dirty="0"/>
              <a:t>Instructions involving register operands are shorter and faster than those involving operands in memory. The use of registers is subdivided into two sub problems :</a:t>
            </a:r>
          </a:p>
          <a:p>
            <a:pPr algn="just"/>
            <a:endParaRPr lang="en-IN" sz="2400" dirty="0"/>
          </a:p>
          <a:p>
            <a:pPr algn="just"/>
            <a:r>
              <a:rPr lang="en-IN" sz="2400" dirty="0"/>
              <a:t>1. Register allocation - the set of variables that will reside in registers at a point in the program is selected.</a:t>
            </a:r>
          </a:p>
          <a:p>
            <a:pPr algn="just"/>
            <a:r>
              <a:rPr lang="en-IN" sz="2400" dirty="0"/>
              <a:t>2. Register assignment - the specific register that a value picked</a:t>
            </a:r>
          </a:p>
          <a:p>
            <a:pPr algn="just"/>
            <a:endParaRPr lang="en-IN" sz="2400" dirty="0"/>
          </a:p>
          <a:p>
            <a:pPr algn="just"/>
            <a:r>
              <a:rPr lang="en-IN" sz="2400" dirty="0"/>
              <a:t>Certain machine requires even-odd register pairs for some operands and results. </a:t>
            </a:r>
          </a:p>
          <a:p>
            <a:pPr algn="just"/>
            <a:r>
              <a:rPr lang="en-IN" sz="2400" dirty="0"/>
              <a:t>For example , consider the division instruction of the form :D x, y</a:t>
            </a:r>
          </a:p>
          <a:p>
            <a:pPr algn="just"/>
            <a:r>
              <a:rPr lang="en-IN" sz="2400" dirty="0"/>
              <a:t>where, x - dividend even register /odd register pair y-divisor</a:t>
            </a:r>
          </a:p>
          <a:p>
            <a:pPr algn="just"/>
            <a:r>
              <a:rPr lang="en-IN" sz="2400" dirty="0"/>
              <a:t> </a:t>
            </a:r>
          </a:p>
          <a:p>
            <a:pPr algn="just"/>
            <a:r>
              <a:rPr lang="en-IN" sz="2400" dirty="0"/>
              <a:t> even register holds the remainder</a:t>
            </a:r>
          </a:p>
          <a:p>
            <a:pPr algn="just"/>
            <a:r>
              <a:rPr lang="en-IN" sz="2400" dirty="0"/>
              <a:t> odd register holds the quotient</a:t>
            </a:r>
          </a:p>
          <a:p>
            <a:pPr algn="just"/>
            <a:r>
              <a:rPr lang="en-IN" sz="2400" dirty="0"/>
              <a:t> </a:t>
            </a:r>
          </a:p>
        </p:txBody>
      </p:sp>
    </p:spTree>
    <p:extLst>
      <p:ext uri="{BB962C8B-B14F-4D97-AF65-F5344CB8AC3E}">
        <p14:creationId xmlns:p14="http://schemas.microsoft.com/office/powerpoint/2010/main" val="2734133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692696"/>
            <a:ext cx="8568952" cy="2677656"/>
          </a:xfrm>
          <a:prstGeom prst="rect">
            <a:avLst/>
          </a:prstGeom>
        </p:spPr>
        <p:txBody>
          <a:bodyPr wrap="square">
            <a:spAutoFit/>
          </a:bodyPr>
          <a:lstStyle/>
          <a:p>
            <a:pPr algn="just"/>
            <a:r>
              <a:rPr lang="en-IN" sz="2400" b="1" dirty="0"/>
              <a:t>6. Evaluation order</a:t>
            </a:r>
          </a:p>
          <a:p>
            <a:pPr algn="just"/>
            <a:endParaRPr lang="en-IN" sz="2400" dirty="0"/>
          </a:p>
          <a:p>
            <a:pPr algn="just"/>
            <a:r>
              <a:rPr lang="en-IN" sz="2400" dirty="0"/>
              <a:t>The order in which the computations are performed can affect the efficiency of the target code.</a:t>
            </a:r>
          </a:p>
          <a:p>
            <a:pPr algn="just"/>
            <a:r>
              <a:rPr lang="en-IN" sz="2400" dirty="0"/>
              <a:t> </a:t>
            </a:r>
          </a:p>
          <a:p>
            <a:pPr algn="just"/>
            <a:r>
              <a:rPr lang="en-IN" sz="2400" dirty="0"/>
              <a:t>Some computation orders require fewer registers to hold intermediate results than others.</a:t>
            </a:r>
          </a:p>
        </p:txBody>
      </p:sp>
    </p:spTree>
    <p:extLst>
      <p:ext uri="{BB962C8B-B14F-4D97-AF65-F5344CB8AC3E}">
        <p14:creationId xmlns:p14="http://schemas.microsoft.com/office/powerpoint/2010/main" val="2734133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568952" cy="1969770"/>
          </a:xfrm>
          <a:prstGeom prst="rect">
            <a:avLst/>
          </a:prstGeom>
        </p:spPr>
        <p:txBody>
          <a:bodyPr wrap="square">
            <a:spAutoFit/>
          </a:bodyPr>
          <a:lstStyle/>
          <a:p>
            <a:r>
              <a:rPr lang="en-IN" sz="3200" b="1" u="sng" dirty="0"/>
              <a:t>A code-generation algorithm:</a:t>
            </a:r>
            <a:endParaRPr lang="en-IN" sz="3200" u="sng" dirty="0"/>
          </a:p>
          <a:p>
            <a:r>
              <a:rPr lang="en-IN" dirty="0"/>
              <a:t> </a:t>
            </a:r>
          </a:p>
          <a:p>
            <a:pPr algn="just"/>
            <a:r>
              <a:rPr lang="en-IN" sz="2400" dirty="0"/>
              <a:t>The algorithm takes as input a sequence of three-address statements constituting a basic block. For each three-address statement of the form x : = y op z, perform the following actions:</a:t>
            </a:r>
          </a:p>
        </p:txBody>
      </p:sp>
      <p:sp>
        <p:nvSpPr>
          <p:cNvPr id="3" name="Rectangle 2"/>
          <p:cNvSpPr/>
          <p:nvPr/>
        </p:nvSpPr>
        <p:spPr>
          <a:xfrm>
            <a:off x="251520" y="2636912"/>
            <a:ext cx="8424936" cy="3046988"/>
          </a:xfrm>
          <a:prstGeom prst="rect">
            <a:avLst/>
          </a:prstGeom>
        </p:spPr>
        <p:txBody>
          <a:bodyPr wrap="square">
            <a:spAutoFit/>
          </a:bodyPr>
          <a:lstStyle/>
          <a:p>
            <a:pPr algn="just"/>
            <a:r>
              <a:rPr lang="en-IN" sz="2400" dirty="0"/>
              <a:t>1.   Invoke a function </a:t>
            </a:r>
            <a:r>
              <a:rPr lang="en-IN" sz="2400" dirty="0" err="1"/>
              <a:t>getreg</a:t>
            </a:r>
            <a:r>
              <a:rPr lang="en-IN" sz="2400" dirty="0"/>
              <a:t> to determine the location L where the result of the computation y op z should be stored.</a:t>
            </a:r>
          </a:p>
          <a:p>
            <a:pPr algn="just"/>
            <a:r>
              <a:rPr lang="en-IN" sz="2400" dirty="0"/>
              <a:t> </a:t>
            </a:r>
          </a:p>
          <a:p>
            <a:pPr algn="just"/>
            <a:r>
              <a:rPr lang="en-IN" sz="2400" dirty="0"/>
              <a:t>2.     Consult the address descriptor for y to determine y’, the current location of y. Prefer the register for y’ if the value of y is currently both in memory and a register. If the value of y is not already in L, generate the instruction MOV y’ , L to place a copy of y in L.</a:t>
            </a:r>
          </a:p>
        </p:txBody>
      </p:sp>
    </p:spTree>
    <p:extLst>
      <p:ext uri="{BB962C8B-B14F-4D97-AF65-F5344CB8AC3E}">
        <p14:creationId xmlns:p14="http://schemas.microsoft.com/office/powerpoint/2010/main" val="2734133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692696"/>
            <a:ext cx="8640960" cy="4401205"/>
          </a:xfrm>
          <a:prstGeom prst="rect">
            <a:avLst/>
          </a:prstGeom>
        </p:spPr>
        <p:txBody>
          <a:bodyPr wrap="square">
            <a:spAutoFit/>
          </a:bodyPr>
          <a:lstStyle/>
          <a:p>
            <a:pPr algn="just"/>
            <a:r>
              <a:rPr lang="en-IN" sz="2800" dirty="0"/>
              <a:t>3.    Generate the instruction OP z’ , L where z’ is a current location of z. Prefer a register to a memory location if z is in both. Update the address descriptor of x to indicate that x is in location L. If x is in L, update its descriptor and remove x from all other descriptors.</a:t>
            </a:r>
          </a:p>
          <a:p>
            <a:pPr algn="just"/>
            <a:r>
              <a:rPr lang="en-IN" sz="2800" dirty="0"/>
              <a:t> </a:t>
            </a:r>
          </a:p>
          <a:p>
            <a:pPr algn="just"/>
            <a:r>
              <a:rPr lang="en-IN" sz="2800" dirty="0"/>
              <a:t>4. If the current values of y or z have no next uses, are not live on exit from the block, and are in registers, alter the register descriptor to indicate that, after execution of x : = y op z , those registers will no longer contain y or z</a:t>
            </a:r>
          </a:p>
        </p:txBody>
      </p:sp>
    </p:spTree>
    <p:extLst>
      <p:ext uri="{BB962C8B-B14F-4D97-AF65-F5344CB8AC3E}">
        <p14:creationId xmlns:p14="http://schemas.microsoft.com/office/powerpoint/2010/main" val="273413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img.brainkart.com/extra/tFwGvlq.jpg"/>
          <p:cNvPicPr/>
          <p:nvPr/>
        </p:nvPicPr>
        <p:blipFill>
          <a:blip r:embed="rId2">
            <a:extLst>
              <a:ext uri="{28A0092B-C50C-407E-A947-70E740481C1C}">
                <a14:useLocalDpi xmlns:a14="http://schemas.microsoft.com/office/drawing/2010/main" val="0"/>
              </a:ext>
            </a:extLst>
          </a:blip>
          <a:srcRect/>
          <a:stretch>
            <a:fillRect/>
          </a:stretch>
        </p:blipFill>
        <p:spPr bwMode="auto">
          <a:xfrm>
            <a:off x="-4936" y="692696"/>
            <a:ext cx="8820472" cy="6165304"/>
          </a:xfrm>
          <a:prstGeom prst="rect">
            <a:avLst/>
          </a:prstGeom>
          <a:noFill/>
          <a:ln>
            <a:noFill/>
          </a:ln>
        </p:spPr>
      </p:pic>
      <p:sp>
        <p:nvSpPr>
          <p:cNvPr id="3" name="Rectangle 2"/>
          <p:cNvSpPr/>
          <p:nvPr/>
        </p:nvSpPr>
        <p:spPr>
          <a:xfrm>
            <a:off x="82682" y="50919"/>
            <a:ext cx="8953814" cy="954107"/>
          </a:xfrm>
          <a:prstGeom prst="rect">
            <a:avLst/>
          </a:prstGeom>
        </p:spPr>
        <p:txBody>
          <a:bodyPr wrap="square">
            <a:spAutoFit/>
          </a:bodyPr>
          <a:lstStyle/>
          <a:p>
            <a:r>
              <a:rPr lang="en-IN" sz="2000" b="1" u="sng" dirty="0"/>
              <a:t>Generating Code for Assignment Statements:</a:t>
            </a:r>
            <a:endParaRPr lang="en-IN" sz="2000" u="sng" dirty="0"/>
          </a:p>
          <a:p>
            <a:r>
              <a:rPr lang="en-IN" dirty="0"/>
              <a:t>The assignment d : = (a-b) + (a-c) + (a-c) might be translated into the following three-address code sequence:</a:t>
            </a:r>
          </a:p>
        </p:txBody>
      </p:sp>
    </p:spTree>
    <p:extLst>
      <p:ext uri="{BB962C8B-B14F-4D97-AF65-F5344CB8AC3E}">
        <p14:creationId xmlns:p14="http://schemas.microsoft.com/office/powerpoint/2010/main" val="2734133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8568952" cy="1200329"/>
          </a:xfrm>
          <a:prstGeom prst="rect">
            <a:avLst/>
          </a:prstGeom>
        </p:spPr>
        <p:txBody>
          <a:bodyPr wrap="square">
            <a:spAutoFit/>
          </a:bodyPr>
          <a:lstStyle/>
          <a:p>
            <a:pPr algn="just"/>
            <a:r>
              <a:rPr lang="en-IN" sz="2400" b="1" dirty="0"/>
              <a:t>Generating Code for Indexed Assignments</a:t>
            </a:r>
            <a:endParaRPr lang="en-IN" sz="2400" dirty="0"/>
          </a:p>
          <a:p>
            <a:pPr algn="just"/>
            <a:r>
              <a:rPr lang="en-IN" sz="2400" dirty="0"/>
              <a:t>The table shows the code sequences generated for the indexed assignment a:= b[ </a:t>
            </a:r>
            <a:r>
              <a:rPr lang="en-IN" sz="2400" dirty="0" err="1"/>
              <a:t>i</a:t>
            </a:r>
            <a:r>
              <a:rPr lang="en-IN" sz="2400" dirty="0"/>
              <a:t> ] and a[ </a:t>
            </a:r>
            <a:r>
              <a:rPr lang="en-IN" sz="2400" dirty="0" err="1"/>
              <a:t>i</a:t>
            </a:r>
            <a:r>
              <a:rPr lang="en-IN" sz="2400" dirty="0"/>
              <a:t> ]:= b</a:t>
            </a:r>
          </a:p>
        </p:txBody>
      </p:sp>
      <p:pic>
        <p:nvPicPr>
          <p:cNvPr id="3" name="Picture 2" descr="http://img.brainkart.com/extra/QRv7O3g.jpg"/>
          <p:cNvPicPr/>
          <p:nvPr/>
        </p:nvPicPr>
        <p:blipFill>
          <a:blip r:embed="rId2">
            <a:extLst>
              <a:ext uri="{28A0092B-C50C-407E-A947-70E740481C1C}">
                <a14:useLocalDpi xmlns:a14="http://schemas.microsoft.com/office/drawing/2010/main" val="0"/>
              </a:ext>
            </a:extLst>
          </a:blip>
          <a:srcRect/>
          <a:stretch>
            <a:fillRect/>
          </a:stretch>
        </p:blipFill>
        <p:spPr bwMode="auto">
          <a:xfrm>
            <a:off x="719573" y="1400689"/>
            <a:ext cx="6516724" cy="1175935"/>
          </a:xfrm>
          <a:prstGeom prst="rect">
            <a:avLst/>
          </a:prstGeom>
          <a:noFill/>
          <a:ln>
            <a:noFill/>
          </a:ln>
        </p:spPr>
      </p:pic>
      <p:sp>
        <p:nvSpPr>
          <p:cNvPr id="4" name="Rectangle 3"/>
          <p:cNvSpPr/>
          <p:nvPr/>
        </p:nvSpPr>
        <p:spPr>
          <a:xfrm>
            <a:off x="156142" y="2605114"/>
            <a:ext cx="8568952" cy="984885"/>
          </a:xfrm>
          <a:prstGeom prst="rect">
            <a:avLst/>
          </a:prstGeom>
        </p:spPr>
        <p:txBody>
          <a:bodyPr wrap="square">
            <a:spAutoFit/>
          </a:bodyPr>
          <a:lstStyle/>
          <a:p>
            <a:r>
              <a:rPr lang="en-IN" b="1" dirty="0"/>
              <a:t>Generating Code for Pointer Assignments</a:t>
            </a:r>
            <a:endParaRPr lang="en-IN" dirty="0"/>
          </a:p>
          <a:p>
            <a:r>
              <a:rPr lang="en-IN" sz="2000" dirty="0"/>
              <a:t>The table shows the code sequences generated for the pointer assignments </a:t>
            </a:r>
          </a:p>
          <a:p>
            <a:r>
              <a:rPr lang="en-IN" sz="2000" dirty="0"/>
              <a:t> a : = *p and *p : = a</a:t>
            </a:r>
          </a:p>
        </p:txBody>
      </p:sp>
      <p:pic>
        <p:nvPicPr>
          <p:cNvPr id="5" name="Picture 4" descr="http://img.brainkart.com/extra/AzL61DB.jpg"/>
          <p:cNvPicPr/>
          <p:nvPr/>
        </p:nvPicPr>
        <p:blipFill>
          <a:blip r:embed="rId3">
            <a:extLst>
              <a:ext uri="{28A0092B-C50C-407E-A947-70E740481C1C}">
                <a14:useLocalDpi xmlns:a14="http://schemas.microsoft.com/office/drawing/2010/main" val="0"/>
              </a:ext>
            </a:extLst>
          </a:blip>
          <a:srcRect/>
          <a:stretch>
            <a:fillRect/>
          </a:stretch>
        </p:blipFill>
        <p:spPr bwMode="auto">
          <a:xfrm>
            <a:off x="156142" y="3519166"/>
            <a:ext cx="6216058" cy="3217297"/>
          </a:xfrm>
          <a:prstGeom prst="rect">
            <a:avLst/>
          </a:prstGeom>
          <a:noFill/>
          <a:ln>
            <a:noFill/>
          </a:ln>
        </p:spPr>
      </p:pic>
      <p:sp>
        <p:nvSpPr>
          <p:cNvPr id="6" name="TextBox 5"/>
          <p:cNvSpPr txBox="1"/>
          <p:nvPr/>
        </p:nvSpPr>
        <p:spPr>
          <a:xfrm>
            <a:off x="6876256" y="4149080"/>
            <a:ext cx="2088232" cy="1477328"/>
          </a:xfrm>
          <a:prstGeom prst="rect">
            <a:avLst/>
          </a:prstGeom>
          <a:noFill/>
        </p:spPr>
        <p:txBody>
          <a:bodyPr wrap="square" rtlCol="0">
            <a:spAutoFit/>
          </a:bodyPr>
          <a:lstStyle/>
          <a:p>
            <a:r>
              <a:rPr lang="en-IN" dirty="0"/>
              <a:t>if x &lt; 0 </a:t>
            </a:r>
            <a:r>
              <a:rPr lang="en-IN" dirty="0" err="1"/>
              <a:t>goto</a:t>
            </a:r>
            <a:r>
              <a:rPr lang="en-IN" dirty="0"/>
              <a:t> z </a:t>
            </a:r>
          </a:p>
          <a:p>
            <a:r>
              <a:rPr lang="en-IN" dirty="0"/>
              <a:t>               ADD z, R0</a:t>
            </a:r>
          </a:p>
          <a:p>
            <a:r>
              <a:rPr lang="en-IN" dirty="0"/>
              <a:t>               MOV R0,x</a:t>
            </a:r>
          </a:p>
          <a:p>
            <a:r>
              <a:rPr lang="en-IN" dirty="0"/>
              <a:t>              CJ&lt; z</a:t>
            </a:r>
          </a:p>
          <a:p>
            <a:endParaRPr lang="en-IN" dirty="0"/>
          </a:p>
        </p:txBody>
      </p:sp>
    </p:spTree>
    <p:extLst>
      <p:ext uri="{BB962C8B-B14F-4D97-AF65-F5344CB8AC3E}">
        <p14:creationId xmlns:p14="http://schemas.microsoft.com/office/powerpoint/2010/main" val="2734133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188640"/>
            <a:ext cx="6984776" cy="369332"/>
          </a:xfrm>
          <a:prstGeom prst="rect">
            <a:avLst/>
          </a:prstGeom>
        </p:spPr>
        <p:txBody>
          <a:bodyPr wrap="square">
            <a:spAutoFit/>
          </a:bodyPr>
          <a:lstStyle/>
          <a:p>
            <a:r>
              <a:rPr lang="en-IN" b="1" dirty="0"/>
              <a:t>Single pass, Two pass, and Multi pass Compilers</a:t>
            </a:r>
            <a:endParaRPr lang="en-IN" dirty="0"/>
          </a:p>
        </p:txBody>
      </p:sp>
      <p:sp>
        <p:nvSpPr>
          <p:cNvPr id="3" name="Rectangle 2"/>
          <p:cNvSpPr/>
          <p:nvPr/>
        </p:nvSpPr>
        <p:spPr>
          <a:xfrm>
            <a:off x="210668" y="692696"/>
            <a:ext cx="8753819" cy="923330"/>
          </a:xfrm>
          <a:prstGeom prst="rect">
            <a:avLst/>
          </a:prstGeom>
        </p:spPr>
        <p:txBody>
          <a:bodyPr wrap="square">
            <a:spAutoFit/>
          </a:bodyPr>
          <a:lstStyle/>
          <a:p>
            <a:pPr fontAlgn="base"/>
            <a:r>
              <a:rPr lang="en-IN" dirty="0"/>
              <a:t>A </a:t>
            </a:r>
            <a:r>
              <a:rPr lang="en-IN" b="1" dirty="0"/>
              <a:t>Compiler pass</a:t>
            </a:r>
            <a:r>
              <a:rPr lang="en-IN" dirty="0"/>
              <a:t> refers to the traversal of a compiler through the entire program. Compiler pass are two types: Single Pass Compiler, and Two Pass Compiler </a:t>
            </a:r>
            <a:r>
              <a:rPr lang="en-IN" i="1" dirty="0"/>
              <a:t>or</a:t>
            </a:r>
            <a:r>
              <a:rPr lang="en-IN" dirty="0"/>
              <a:t> Multi Pass Compiler. These are explained as following below.</a:t>
            </a:r>
          </a:p>
        </p:txBody>
      </p:sp>
      <p:sp>
        <p:nvSpPr>
          <p:cNvPr id="4" name="Rectangle 3"/>
          <p:cNvSpPr/>
          <p:nvPr/>
        </p:nvSpPr>
        <p:spPr>
          <a:xfrm>
            <a:off x="172196" y="1772816"/>
            <a:ext cx="8648275" cy="923330"/>
          </a:xfrm>
          <a:prstGeom prst="rect">
            <a:avLst/>
          </a:prstGeom>
        </p:spPr>
        <p:txBody>
          <a:bodyPr wrap="square">
            <a:spAutoFit/>
          </a:bodyPr>
          <a:lstStyle/>
          <a:p>
            <a:pPr fontAlgn="base"/>
            <a:r>
              <a:rPr lang="en-IN" b="1" dirty="0"/>
              <a:t>1. Single Pass Compiler:</a:t>
            </a:r>
            <a:br>
              <a:rPr lang="en-IN" dirty="0"/>
            </a:br>
            <a:r>
              <a:rPr lang="en-IN" dirty="0"/>
              <a:t>If we combine or group all the phases of compiler design in a </a:t>
            </a:r>
            <a:r>
              <a:rPr lang="en-IN" b="1" dirty="0"/>
              <a:t>single</a:t>
            </a:r>
            <a:r>
              <a:rPr lang="en-IN" dirty="0"/>
              <a:t> module known as single pass compiler.</a:t>
            </a:r>
          </a:p>
        </p:txBody>
      </p:sp>
      <p:pic>
        <p:nvPicPr>
          <p:cNvPr id="5" name="Picture 4" descr="https://media.geeksforgeeks.org/wp-content/uploads/20190313112110/a28.jpg"/>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696146"/>
            <a:ext cx="6192687" cy="4161854"/>
          </a:xfrm>
          <a:prstGeom prst="rect">
            <a:avLst/>
          </a:prstGeom>
          <a:noFill/>
          <a:ln>
            <a:noFill/>
          </a:ln>
        </p:spPr>
      </p:pic>
    </p:spTree>
    <p:extLst>
      <p:ext uri="{BB962C8B-B14F-4D97-AF65-F5344CB8AC3E}">
        <p14:creationId xmlns:p14="http://schemas.microsoft.com/office/powerpoint/2010/main" val="2734133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764704"/>
            <a:ext cx="8424936" cy="5632311"/>
          </a:xfrm>
          <a:prstGeom prst="rect">
            <a:avLst/>
          </a:prstGeom>
        </p:spPr>
        <p:txBody>
          <a:bodyPr wrap="square">
            <a:spAutoFit/>
          </a:bodyPr>
          <a:lstStyle/>
          <a:p>
            <a:pPr marL="342900" lvl="0" indent="-342900" algn="just" fontAlgn="base">
              <a:buFont typeface="+mj-lt"/>
              <a:buAutoNum type="arabicPeriod"/>
            </a:pPr>
            <a:r>
              <a:rPr lang="en-IN" sz="2400" dirty="0"/>
              <a:t>A one pass/single pass compiler is that type of compiler that passes through the part of each compilation unit exactly once.</a:t>
            </a:r>
          </a:p>
          <a:p>
            <a:pPr marL="342900" lvl="0" indent="-342900" algn="just" fontAlgn="base">
              <a:buFont typeface="+mj-lt"/>
              <a:buAutoNum type="arabicPeriod"/>
            </a:pPr>
            <a:endParaRPr lang="en-IN" sz="2400" dirty="0"/>
          </a:p>
          <a:p>
            <a:pPr marL="342900" lvl="0" indent="-342900" algn="just" fontAlgn="base">
              <a:buFont typeface="+mj-lt"/>
              <a:buAutoNum type="arabicPeriod"/>
            </a:pPr>
            <a:r>
              <a:rPr lang="en-IN" sz="2400" dirty="0"/>
              <a:t>Single pass compiler is faster and smaller than the multi pass compiler.</a:t>
            </a:r>
          </a:p>
          <a:p>
            <a:pPr marL="342900" lvl="0" indent="-342900" algn="just" fontAlgn="base">
              <a:buFont typeface="+mj-lt"/>
              <a:buAutoNum type="arabicPeriod"/>
            </a:pPr>
            <a:endParaRPr lang="en-IN" sz="2400" dirty="0"/>
          </a:p>
          <a:p>
            <a:pPr marL="342900" lvl="0" indent="-342900" algn="just" fontAlgn="base">
              <a:buFont typeface="+mj-lt"/>
              <a:buAutoNum type="arabicPeriod"/>
            </a:pPr>
            <a:r>
              <a:rPr lang="en-IN" sz="2400" dirty="0"/>
              <a:t>As a disadvantage of single pass compiler is that it is less efficient in comparison with </a:t>
            </a:r>
            <a:r>
              <a:rPr lang="en-IN" sz="2400" dirty="0" err="1"/>
              <a:t>multipass</a:t>
            </a:r>
            <a:r>
              <a:rPr lang="en-IN" sz="2400" dirty="0"/>
              <a:t> compiler.</a:t>
            </a:r>
          </a:p>
          <a:p>
            <a:pPr marL="342900" lvl="0" indent="-342900" algn="just" fontAlgn="base">
              <a:buFont typeface="+mj-lt"/>
              <a:buAutoNum type="arabicPeriod"/>
            </a:pPr>
            <a:endParaRPr lang="en-IN" sz="2400" dirty="0"/>
          </a:p>
          <a:p>
            <a:pPr marL="342900" lvl="0" indent="-342900" algn="just" fontAlgn="base">
              <a:buFont typeface="+mj-lt"/>
              <a:buAutoNum type="arabicPeriod"/>
            </a:pPr>
            <a:r>
              <a:rPr lang="en-IN" sz="2400" dirty="0"/>
              <a:t>Single pass compiler is one that processes the input </a:t>
            </a:r>
            <a:r>
              <a:rPr lang="en-IN" sz="2400" i="1" dirty="0"/>
              <a:t>exactly once</a:t>
            </a:r>
            <a:r>
              <a:rPr lang="en-IN" sz="2400" dirty="0"/>
              <a:t>, so going directly from lexical analysis to code generator, and then going back for the next read.</a:t>
            </a:r>
          </a:p>
          <a:p>
            <a:pPr marL="342900" lvl="0" indent="-342900" algn="just" fontAlgn="base">
              <a:buFont typeface="+mj-lt"/>
              <a:buAutoNum type="arabicPeriod"/>
            </a:pPr>
            <a:endParaRPr lang="en-IN" sz="2400" dirty="0"/>
          </a:p>
          <a:p>
            <a:pPr algn="just" fontAlgn="base"/>
            <a:r>
              <a:rPr lang="en-IN" sz="2400" b="1" dirty="0"/>
              <a:t>Note:</a:t>
            </a:r>
            <a:r>
              <a:rPr lang="en-IN" sz="2400" dirty="0"/>
              <a:t> Single pass compiler almost never done, early </a:t>
            </a:r>
            <a:r>
              <a:rPr lang="en-IN" sz="2400" b="1" dirty="0"/>
              <a:t>Pascal compiler</a:t>
            </a:r>
            <a:r>
              <a:rPr lang="en-IN" sz="2400" dirty="0"/>
              <a:t> did this as an introduction.</a:t>
            </a:r>
          </a:p>
        </p:txBody>
      </p:sp>
    </p:spTree>
    <p:extLst>
      <p:ext uri="{BB962C8B-B14F-4D97-AF65-F5344CB8AC3E}">
        <p14:creationId xmlns:p14="http://schemas.microsoft.com/office/powerpoint/2010/main" val="2734133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2855" y="369363"/>
            <a:ext cx="8640960" cy="3539430"/>
          </a:xfrm>
          <a:prstGeom prst="rect">
            <a:avLst/>
          </a:prstGeom>
        </p:spPr>
        <p:txBody>
          <a:bodyPr wrap="square">
            <a:spAutoFit/>
          </a:bodyPr>
          <a:lstStyle/>
          <a:p>
            <a:pPr algn="just" fontAlgn="base"/>
            <a:r>
              <a:rPr lang="en-IN" sz="2800" b="1" dirty="0"/>
              <a:t>Problems with single pass compiler:</a:t>
            </a:r>
            <a:endParaRPr lang="en-IN" sz="2800" dirty="0"/>
          </a:p>
          <a:p>
            <a:pPr marL="514350" lvl="0" indent="-514350" algn="just" fontAlgn="base">
              <a:buFont typeface="+mj-lt"/>
              <a:buAutoNum type="arabicPeriod"/>
            </a:pPr>
            <a:r>
              <a:rPr lang="en-IN" sz="2800" dirty="0"/>
              <a:t>We can not optimize very well due to the context of expressions are limited.</a:t>
            </a:r>
          </a:p>
          <a:p>
            <a:pPr marL="514350" lvl="0" indent="-514350" algn="just" fontAlgn="base">
              <a:buFont typeface="+mj-lt"/>
              <a:buAutoNum type="arabicPeriod"/>
            </a:pPr>
            <a:r>
              <a:rPr lang="en-IN" sz="2800" dirty="0"/>
              <a:t>As we can’t backup and process, it again so grammar should be limited or simplified.</a:t>
            </a:r>
          </a:p>
          <a:p>
            <a:pPr marL="514350" lvl="0" indent="-514350" algn="just" fontAlgn="base">
              <a:buFont typeface="+mj-lt"/>
              <a:buAutoNum type="arabicPeriod"/>
            </a:pPr>
            <a:r>
              <a:rPr lang="en-IN" sz="2800" dirty="0"/>
              <a:t>Command interpreters such as </a:t>
            </a:r>
            <a:r>
              <a:rPr lang="en-IN" sz="2800" i="1" dirty="0"/>
              <a:t>bash/</a:t>
            </a:r>
            <a:r>
              <a:rPr lang="en-IN" sz="2800" i="1" dirty="0" err="1"/>
              <a:t>sh</a:t>
            </a:r>
            <a:r>
              <a:rPr lang="en-IN" sz="2800" i="1" dirty="0"/>
              <a:t>/</a:t>
            </a:r>
            <a:r>
              <a:rPr lang="en-IN" sz="2800" i="1" dirty="0" err="1"/>
              <a:t>tcsh</a:t>
            </a:r>
            <a:r>
              <a:rPr lang="en-IN" sz="2800" dirty="0"/>
              <a:t> can be considered as Single pass compiler, but they also execute entry as soon as they are processed.</a:t>
            </a:r>
          </a:p>
        </p:txBody>
      </p:sp>
    </p:spTree>
    <p:extLst>
      <p:ext uri="{BB962C8B-B14F-4D97-AF65-F5344CB8AC3E}">
        <p14:creationId xmlns:p14="http://schemas.microsoft.com/office/powerpoint/2010/main" val="4949907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712968" cy="1200329"/>
          </a:xfrm>
          <a:prstGeom prst="rect">
            <a:avLst/>
          </a:prstGeom>
        </p:spPr>
        <p:txBody>
          <a:bodyPr wrap="square">
            <a:spAutoFit/>
          </a:bodyPr>
          <a:lstStyle/>
          <a:p>
            <a:pPr fontAlgn="base"/>
            <a:r>
              <a:rPr lang="en-IN" b="1" dirty="0"/>
              <a:t>2. Two Pass compiler </a:t>
            </a:r>
            <a:r>
              <a:rPr lang="en-IN" b="1" i="1" dirty="0"/>
              <a:t>or</a:t>
            </a:r>
            <a:r>
              <a:rPr lang="en-IN" b="1" dirty="0"/>
              <a:t> Multi Pass compiler:</a:t>
            </a:r>
            <a:br>
              <a:rPr lang="en-IN" dirty="0"/>
            </a:br>
            <a:r>
              <a:rPr lang="en-IN" dirty="0"/>
              <a:t>A Two pass/multi-pass Compiler is a type of compiler that processes the </a:t>
            </a:r>
            <a:r>
              <a:rPr lang="en-IN" i="1" dirty="0"/>
              <a:t>source code</a:t>
            </a:r>
            <a:r>
              <a:rPr lang="en-IN" dirty="0"/>
              <a:t> or abstract syntax tree of a program multiple times. In </a:t>
            </a:r>
            <a:r>
              <a:rPr lang="en-IN" dirty="0" err="1"/>
              <a:t>multipass</a:t>
            </a:r>
            <a:r>
              <a:rPr lang="en-IN" dirty="0"/>
              <a:t> Compiler we divide phases in two pass as:</a:t>
            </a:r>
          </a:p>
        </p:txBody>
      </p:sp>
      <p:pic>
        <p:nvPicPr>
          <p:cNvPr id="5" name="Picture 4" descr="https://media.geeksforgeeks.org/wp-content/uploads/20190313112900/a33.jpg"/>
          <p:cNvPicPr/>
          <p:nvPr/>
        </p:nvPicPr>
        <p:blipFill>
          <a:blip r:embed="rId2">
            <a:extLst>
              <a:ext uri="{28A0092B-C50C-407E-A947-70E740481C1C}">
                <a14:useLocalDpi xmlns:a14="http://schemas.microsoft.com/office/drawing/2010/main" val="0"/>
              </a:ext>
            </a:extLst>
          </a:blip>
          <a:srcRect/>
          <a:stretch>
            <a:fillRect/>
          </a:stretch>
        </p:blipFill>
        <p:spPr bwMode="auto">
          <a:xfrm>
            <a:off x="1992821" y="1628800"/>
            <a:ext cx="5086350" cy="4867275"/>
          </a:xfrm>
          <a:prstGeom prst="rect">
            <a:avLst/>
          </a:prstGeom>
          <a:noFill/>
          <a:ln>
            <a:noFill/>
          </a:ln>
        </p:spPr>
      </p:pic>
    </p:spTree>
    <p:extLst>
      <p:ext uri="{BB962C8B-B14F-4D97-AF65-F5344CB8AC3E}">
        <p14:creationId xmlns:p14="http://schemas.microsoft.com/office/powerpoint/2010/main" val="42695982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620688"/>
            <a:ext cx="8784976" cy="4893647"/>
          </a:xfrm>
          <a:prstGeom prst="rect">
            <a:avLst/>
          </a:prstGeom>
        </p:spPr>
        <p:txBody>
          <a:bodyPr wrap="square">
            <a:spAutoFit/>
          </a:bodyPr>
          <a:lstStyle/>
          <a:p>
            <a:pPr lvl="0" algn="just" fontAlgn="base"/>
            <a:r>
              <a:rPr lang="en-IN" sz="2400" b="1" dirty="0"/>
              <a:t>First Pass:</a:t>
            </a:r>
            <a:r>
              <a:rPr lang="en-IN" sz="2400" dirty="0"/>
              <a:t> is refers as</a:t>
            </a:r>
            <a:endParaRPr lang="en-IN" dirty="0"/>
          </a:p>
          <a:p>
            <a:pPr lvl="1" algn="just" fontAlgn="base"/>
            <a:r>
              <a:rPr lang="en-IN" sz="2400" b="1" dirty="0"/>
              <a:t>(a).</a:t>
            </a:r>
            <a:r>
              <a:rPr lang="en-IN" sz="2400" dirty="0"/>
              <a:t> Front end</a:t>
            </a:r>
            <a:endParaRPr lang="en-IN" dirty="0"/>
          </a:p>
          <a:p>
            <a:pPr lvl="1" algn="just" fontAlgn="base"/>
            <a:r>
              <a:rPr lang="en-IN" sz="2400" b="1" dirty="0"/>
              <a:t>(b).</a:t>
            </a:r>
            <a:r>
              <a:rPr lang="en-IN" sz="2400" dirty="0"/>
              <a:t> Analytic part</a:t>
            </a:r>
            <a:endParaRPr lang="en-IN" dirty="0"/>
          </a:p>
          <a:p>
            <a:pPr lvl="1" algn="just" fontAlgn="base"/>
            <a:r>
              <a:rPr lang="en-IN" sz="2400" b="1" dirty="0"/>
              <a:t>(c).</a:t>
            </a:r>
            <a:r>
              <a:rPr lang="en-IN" sz="2400" dirty="0"/>
              <a:t> Platform independent</a:t>
            </a:r>
            <a:endParaRPr lang="en-IN" dirty="0"/>
          </a:p>
          <a:p>
            <a:pPr algn="just" fontAlgn="base"/>
            <a:endParaRPr lang="en-IN" sz="2400" dirty="0"/>
          </a:p>
          <a:p>
            <a:pPr algn="just" fontAlgn="base"/>
            <a:r>
              <a:rPr lang="en-IN" sz="2400" dirty="0"/>
              <a:t>In first pass the included phases are as Lexical </a:t>
            </a:r>
            <a:r>
              <a:rPr lang="en-IN" sz="2400" dirty="0" err="1"/>
              <a:t>analyzer</a:t>
            </a:r>
            <a:r>
              <a:rPr lang="en-IN" sz="2400" dirty="0"/>
              <a:t>, syntax </a:t>
            </a:r>
            <a:r>
              <a:rPr lang="en-IN" sz="2400" dirty="0" err="1"/>
              <a:t>analyzer</a:t>
            </a:r>
            <a:r>
              <a:rPr lang="en-IN" sz="2400" dirty="0"/>
              <a:t>, semantic </a:t>
            </a:r>
            <a:r>
              <a:rPr lang="en-IN" sz="2400" dirty="0" err="1"/>
              <a:t>analyzer</a:t>
            </a:r>
            <a:r>
              <a:rPr lang="en-IN" sz="2400" dirty="0"/>
              <a:t>, intermediate code generator are work as front end and analytic part means all phases </a:t>
            </a:r>
            <a:r>
              <a:rPr lang="en-IN" sz="2400" dirty="0" err="1"/>
              <a:t>analyze</a:t>
            </a:r>
            <a:r>
              <a:rPr lang="en-IN" sz="2400" dirty="0"/>
              <a:t> the High level language and convert them </a:t>
            </a:r>
            <a:r>
              <a:rPr lang="en-IN" sz="2400" b="1" dirty="0"/>
              <a:t>three address code</a:t>
            </a:r>
            <a:r>
              <a:rPr lang="en-IN" sz="2400" dirty="0"/>
              <a:t> and first pass is platform independent because the output of first pass is as three address code which is useful for every system and the requirement is to change the </a:t>
            </a:r>
            <a:r>
              <a:rPr lang="en-IN" sz="2400" b="1" dirty="0"/>
              <a:t>code optimization and code generator phase</a:t>
            </a:r>
            <a:r>
              <a:rPr lang="en-IN" sz="2400" dirty="0"/>
              <a:t> which are comes to the second pass.</a:t>
            </a:r>
            <a:endParaRPr lang="en-IN" dirty="0"/>
          </a:p>
        </p:txBody>
      </p:sp>
    </p:spTree>
    <p:extLst>
      <p:ext uri="{BB962C8B-B14F-4D97-AF65-F5344CB8AC3E}">
        <p14:creationId xmlns:p14="http://schemas.microsoft.com/office/powerpoint/2010/main" val="1699242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4027" y="692696"/>
            <a:ext cx="8640960" cy="4524315"/>
          </a:xfrm>
          <a:prstGeom prst="rect">
            <a:avLst/>
          </a:prstGeom>
        </p:spPr>
        <p:txBody>
          <a:bodyPr wrap="square">
            <a:spAutoFit/>
          </a:bodyPr>
          <a:lstStyle/>
          <a:p>
            <a:pPr lvl="0" algn="just" fontAlgn="base"/>
            <a:r>
              <a:rPr lang="en-IN" sz="2400" b="1" dirty="0"/>
              <a:t>Second Pass:</a:t>
            </a:r>
            <a:r>
              <a:rPr lang="en-IN" sz="2400" dirty="0"/>
              <a:t> is refers as</a:t>
            </a:r>
            <a:endParaRPr lang="en-IN" dirty="0"/>
          </a:p>
          <a:p>
            <a:pPr lvl="1" algn="just" fontAlgn="base"/>
            <a:r>
              <a:rPr lang="en-IN" sz="2400" b="1" dirty="0"/>
              <a:t>(a).</a:t>
            </a:r>
            <a:r>
              <a:rPr lang="en-IN" sz="2400" dirty="0"/>
              <a:t> Back end</a:t>
            </a:r>
            <a:endParaRPr lang="en-IN" dirty="0"/>
          </a:p>
          <a:p>
            <a:pPr lvl="1" algn="just" fontAlgn="base"/>
            <a:r>
              <a:rPr lang="en-IN" sz="2400" b="1" dirty="0"/>
              <a:t>(b).</a:t>
            </a:r>
            <a:r>
              <a:rPr lang="en-IN" sz="2400" dirty="0"/>
              <a:t> Synthesis Part</a:t>
            </a:r>
            <a:endParaRPr lang="en-IN" dirty="0"/>
          </a:p>
          <a:p>
            <a:pPr lvl="1" algn="just" fontAlgn="base"/>
            <a:r>
              <a:rPr lang="en-IN" sz="2400" b="1" dirty="0"/>
              <a:t>(c).</a:t>
            </a:r>
            <a:r>
              <a:rPr lang="en-IN" sz="2400" dirty="0"/>
              <a:t> Platform Dependent</a:t>
            </a:r>
            <a:endParaRPr lang="en-IN" dirty="0"/>
          </a:p>
          <a:p>
            <a:pPr algn="just" fontAlgn="base"/>
            <a:endParaRPr lang="en-IN" sz="2400" dirty="0"/>
          </a:p>
          <a:p>
            <a:pPr algn="just" fontAlgn="base"/>
            <a:r>
              <a:rPr lang="en-IN" sz="2400" dirty="0"/>
              <a:t>In second Pass the included phases are as Code optimization and Code generator are work as back end and the synthesis part refers to taking input as three address code and convert them into Low level language/assembly language and second pass is platform dependent because final stage of a typical compiler converts the intermediate representation of program into an executable set of instructions which is dependent on the system.</a:t>
            </a:r>
            <a:endParaRPr lang="en-IN" dirty="0"/>
          </a:p>
        </p:txBody>
      </p:sp>
    </p:spTree>
    <p:extLst>
      <p:ext uri="{BB962C8B-B14F-4D97-AF65-F5344CB8AC3E}">
        <p14:creationId xmlns:p14="http://schemas.microsoft.com/office/powerpoint/2010/main" val="1923760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88640"/>
            <a:ext cx="8712968" cy="1200329"/>
          </a:xfrm>
          <a:prstGeom prst="rect">
            <a:avLst/>
          </a:prstGeom>
        </p:spPr>
        <p:txBody>
          <a:bodyPr wrap="square">
            <a:spAutoFit/>
          </a:bodyPr>
          <a:lstStyle/>
          <a:p>
            <a:pPr fontAlgn="base"/>
            <a:r>
              <a:rPr lang="en-IN" b="1" dirty="0"/>
              <a:t>With multi-pass Compiler we can solve these 2 basic problems:</a:t>
            </a:r>
            <a:endParaRPr lang="en-IN" dirty="0"/>
          </a:p>
          <a:p>
            <a:pPr lvl="0" fontAlgn="base"/>
            <a:r>
              <a:rPr lang="en-IN" dirty="0"/>
              <a:t>If we want to design a compiler for different programming language for same machine. In this case for each programming language there is requirement of making Front end/first pass for each of them and only one Back end/second pass as:</a:t>
            </a:r>
          </a:p>
        </p:txBody>
      </p:sp>
      <p:pic>
        <p:nvPicPr>
          <p:cNvPr id="5" name="Picture 4" descr="https://media.geeksforgeeks.org/wp-content/uploads/20190307191028/prob12.png"/>
          <p:cNvPicPr/>
          <p:nvPr/>
        </p:nvPicPr>
        <p:blipFill>
          <a:blip r:embed="rId2">
            <a:extLst>
              <a:ext uri="{28A0092B-C50C-407E-A947-70E740481C1C}">
                <a14:useLocalDpi xmlns:a14="http://schemas.microsoft.com/office/drawing/2010/main" val="0"/>
              </a:ext>
            </a:extLst>
          </a:blip>
          <a:srcRect/>
          <a:stretch>
            <a:fillRect/>
          </a:stretch>
        </p:blipFill>
        <p:spPr bwMode="auto">
          <a:xfrm>
            <a:off x="755576" y="1484784"/>
            <a:ext cx="7776864" cy="4320480"/>
          </a:xfrm>
          <a:prstGeom prst="rect">
            <a:avLst/>
          </a:prstGeom>
          <a:noFill/>
          <a:ln>
            <a:noFill/>
          </a:ln>
        </p:spPr>
      </p:pic>
      <p:sp>
        <p:nvSpPr>
          <p:cNvPr id="6" name="Rectangle 5"/>
          <p:cNvSpPr/>
          <p:nvPr/>
        </p:nvSpPr>
        <p:spPr>
          <a:xfrm>
            <a:off x="0" y="5805264"/>
            <a:ext cx="8811910" cy="923330"/>
          </a:xfrm>
          <a:prstGeom prst="rect">
            <a:avLst/>
          </a:prstGeom>
        </p:spPr>
        <p:txBody>
          <a:bodyPr wrap="square">
            <a:spAutoFit/>
          </a:bodyPr>
          <a:lstStyle/>
          <a:p>
            <a:pPr lvl="0" fontAlgn="base"/>
            <a:r>
              <a:rPr lang="en-IN" dirty="0"/>
              <a:t>If we want to design a compiler for same programming language for different machine/system. In this case we make different Back end for different Machine/system and make only one </a:t>
            </a:r>
            <a:r>
              <a:rPr lang="en-IN" b="1" dirty="0"/>
              <a:t>Front end</a:t>
            </a:r>
            <a:r>
              <a:rPr lang="en-IN" dirty="0"/>
              <a:t> for same programming language as:</a:t>
            </a:r>
          </a:p>
        </p:txBody>
      </p:sp>
    </p:spTree>
    <p:extLst>
      <p:ext uri="{BB962C8B-B14F-4D97-AF65-F5344CB8AC3E}">
        <p14:creationId xmlns:p14="http://schemas.microsoft.com/office/powerpoint/2010/main" val="2505432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media.geeksforgeeks.org/wp-content/uploads/20190307190913/prob2.jpg"/>
          <p:cNvPicPr/>
          <p:nvPr/>
        </p:nvPicPr>
        <p:blipFill>
          <a:blip r:embed="rId2">
            <a:extLst>
              <a:ext uri="{28A0092B-C50C-407E-A947-70E740481C1C}">
                <a14:useLocalDpi xmlns:a14="http://schemas.microsoft.com/office/drawing/2010/main" val="0"/>
              </a:ext>
            </a:extLst>
          </a:blip>
          <a:srcRect/>
          <a:stretch>
            <a:fillRect/>
          </a:stretch>
        </p:blipFill>
        <p:spPr bwMode="auto">
          <a:xfrm>
            <a:off x="827584" y="404664"/>
            <a:ext cx="7776864" cy="5904655"/>
          </a:xfrm>
          <a:prstGeom prst="rect">
            <a:avLst/>
          </a:prstGeom>
          <a:noFill/>
          <a:ln>
            <a:noFill/>
          </a:ln>
        </p:spPr>
      </p:pic>
    </p:spTree>
    <p:extLst>
      <p:ext uri="{BB962C8B-B14F-4D97-AF65-F5344CB8AC3E}">
        <p14:creationId xmlns:p14="http://schemas.microsoft.com/office/powerpoint/2010/main" val="1853335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260648"/>
            <a:ext cx="8856984" cy="523220"/>
          </a:xfrm>
          <a:prstGeom prst="rect">
            <a:avLst/>
          </a:prstGeom>
        </p:spPr>
        <p:txBody>
          <a:bodyPr wrap="square">
            <a:spAutoFit/>
          </a:bodyPr>
          <a:lstStyle/>
          <a:p>
            <a:pPr fontAlgn="base"/>
            <a:r>
              <a:rPr lang="en-IN" sz="2800" b="1" dirty="0"/>
              <a:t>Differences between Single Pass and </a:t>
            </a:r>
            <a:r>
              <a:rPr lang="en-IN" sz="2800" b="1" dirty="0" err="1"/>
              <a:t>Multipass</a:t>
            </a:r>
            <a:r>
              <a:rPr lang="en-IN" sz="2800" b="1" dirty="0"/>
              <a:t> Compilers:</a:t>
            </a:r>
            <a:endParaRPr lang="en-IN" sz="2800" dirty="0"/>
          </a:p>
        </p:txBody>
      </p:sp>
      <p:graphicFrame>
        <p:nvGraphicFramePr>
          <p:cNvPr id="5" name="Table 4"/>
          <p:cNvGraphicFramePr>
            <a:graphicFrameLocks noGrp="1"/>
          </p:cNvGraphicFramePr>
          <p:nvPr>
            <p:extLst>
              <p:ext uri="{D42A27DB-BD31-4B8C-83A1-F6EECF244321}">
                <p14:modId xmlns:p14="http://schemas.microsoft.com/office/powerpoint/2010/main" val="3637196391"/>
              </p:ext>
            </p:extLst>
          </p:nvPr>
        </p:nvGraphicFramePr>
        <p:xfrm>
          <a:off x="827584" y="1241776"/>
          <a:ext cx="6768753" cy="4368103"/>
        </p:xfrm>
        <a:graphic>
          <a:graphicData uri="http://schemas.openxmlformats.org/drawingml/2006/table">
            <a:tbl>
              <a:tblPr firstRow="1" firstCol="1" bandRow="1">
                <a:tableStyleId>{5C22544A-7EE6-4342-B048-85BDC9FD1C3A}</a:tableStyleId>
              </a:tblPr>
              <a:tblGrid>
                <a:gridCol w="2256251">
                  <a:extLst>
                    <a:ext uri="{9D8B030D-6E8A-4147-A177-3AD203B41FA5}">
                      <a16:colId xmlns:a16="http://schemas.microsoft.com/office/drawing/2014/main" val="20000"/>
                    </a:ext>
                  </a:extLst>
                </a:gridCol>
                <a:gridCol w="2256251">
                  <a:extLst>
                    <a:ext uri="{9D8B030D-6E8A-4147-A177-3AD203B41FA5}">
                      <a16:colId xmlns:a16="http://schemas.microsoft.com/office/drawing/2014/main" val="20001"/>
                    </a:ext>
                  </a:extLst>
                </a:gridCol>
                <a:gridCol w="2256251">
                  <a:extLst>
                    <a:ext uri="{9D8B030D-6E8A-4147-A177-3AD203B41FA5}">
                      <a16:colId xmlns:a16="http://schemas.microsoft.com/office/drawing/2014/main" val="20002"/>
                    </a:ext>
                  </a:extLst>
                </a:gridCol>
              </a:tblGrid>
              <a:tr h="435293">
                <a:tc>
                  <a:txBody>
                    <a:bodyPr/>
                    <a:lstStyle/>
                    <a:p>
                      <a:pPr>
                        <a:lnSpc>
                          <a:spcPct val="115000"/>
                        </a:lnSpc>
                        <a:spcAft>
                          <a:spcPts val="0"/>
                        </a:spcAft>
                      </a:pPr>
                      <a:r>
                        <a:rPr lang="en-IN" sz="3200" dirty="0">
                          <a:effectLst/>
                        </a:rPr>
                        <a:t>Parameters</a:t>
                      </a:r>
                      <a:endParaRPr lang="en-IN" sz="2800" dirty="0">
                        <a:effectLst/>
                        <a:latin typeface="Calibri"/>
                        <a:ea typeface="Calibri"/>
                        <a:cs typeface="Times New Roman"/>
                      </a:endParaRPr>
                    </a:p>
                  </a:txBody>
                  <a:tcPr marL="0" marR="0" marT="0" marB="0" anchor="b"/>
                </a:tc>
                <a:tc>
                  <a:txBody>
                    <a:bodyPr/>
                    <a:lstStyle/>
                    <a:p>
                      <a:pPr>
                        <a:lnSpc>
                          <a:spcPct val="115000"/>
                        </a:lnSpc>
                        <a:spcAft>
                          <a:spcPts val="0"/>
                        </a:spcAft>
                      </a:pPr>
                      <a:r>
                        <a:rPr lang="en-IN" sz="3200">
                          <a:effectLst/>
                        </a:rPr>
                        <a:t>Single pass</a:t>
                      </a:r>
                      <a:endParaRPr lang="en-IN" sz="2800">
                        <a:effectLst/>
                        <a:latin typeface="Calibri"/>
                        <a:ea typeface="Calibri"/>
                        <a:cs typeface="Times New Roman"/>
                      </a:endParaRPr>
                    </a:p>
                  </a:txBody>
                  <a:tcPr marL="0" marR="0" marT="0" marB="0" anchor="b"/>
                </a:tc>
                <a:tc>
                  <a:txBody>
                    <a:bodyPr/>
                    <a:lstStyle/>
                    <a:p>
                      <a:pPr>
                        <a:lnSpc>
                          <a:spcPct val="115000"/>
                        </a:lnSpc>
                        <a:spcAft>
                          <a:spcPts val="0"/>
                        </a:spcAft>
                      </a:pPr>
                      <a:r>
                        <a:rPr lang="en-IN" sz="3200">
                          <a:effectLst/>
                        </a:rPr>
                        <a:t>multi Pass</a:t>
                      </a:r>
                      <a:endParaRPr lang="en-IN" sz="2800">
                        <a:effectLst/>
                        <a:latin typeface="Calibri"/>
                        <a:ea typeface="Calibri"/>
                        <a:cs typeface="Times New Roman"/>
                      </a:endParaRPr>
                    </a:p>
                  </a:txBody>
                  <a:tcPr marL="0" marR="0" marT="0" marB="0" anchor="b"/>
                </a:tc>
                <a:extLst>
                  <a:ext uri="{0D108BD9-81ED-4DB2-BD59-A6C34878D82A}">
                    <a16:rowId xmlns:a16="http://schemas.microsoft.com/office/drawing/2014/main" val="10000"/>
                  </a:ext>
                </a:extLst>
              </a:tr>
              <a:tr h="960041">
                <a:tc>
                  <a:txBody>
                    <a:bodyPr/>
                    <a:lstStyle/>
                    <a:p>
                      <a:pPr>
                        <a:lnSpc>
                          <a:spcPct val="115000"/>
                        </a:lnSpc>
                        <a:spcAft>
                          <a:spcPts val="0"/>
                        </a:spcAft>
                      </a:pPr>
                      <a:r>
                        <a:rPr lang="en-IN" sz="3200" dirty="0">
                          <a:effectLst/>
                        </a:rPr>
                        <a:t>Speed</a:t>
                      </a:r>
                      <a:endParaRPr lang="en-IN" sz="2800" dirty="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dirty="0">
                          <a:effectLst/>
                        </a:rPr>
                        <a:t>Fast</a:t>
                      </a:r>
                      <a:endParaRPr lang="en-IN" sz="2800" dirty="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a:effectLst/>
                        </a:rPr>
                        <a:t>Slow</a:t>
                      </a:r>
                      <a:endParaRPr lang="en-IN" sz="2800">
                        <a:effectLst/>
                        <a:latin typeface="Calibri"/>
                        <a:ea typeface="Calibri"/>
                        <a:cs typeface="Times New Roman"/>
                      </a:endParaRPr>
                    </a:p>
                  </a:txBody>
                  <a:tcPr marL="95250" marR="95250" marT="133350" marB="133350" anchor="b"/>
                </a:tc>
                <a:extLst>
                  <a:ext uri="{0D108BD9-81ED-4DB2-BD59-A6C34878D82A}">
                    <a16:rowId xmlns:a16="http://schemas.microsoft.com/office/drawing/2014/main" val="10001"/>
                  </a:ext>
                </a:extLst>
              </a:tr>
              <a:tr h="960041">
                <a:tc>
                  <a:txBody>
                    <a:bodyPr/>
                    <a:lstStyle/>
                    <a:p>
                      <a:pPr>
                        <a:lnSpc>
                          <a:spcPct val="115000"/>
                        </a:lnSpc>
                        <a:spcAft>
                          <a:spcPts val="0"/>
                        </a:spcAft>
                      </a:pPr>
                      <a:r>
                        <a:rPr lang="en-IN" sz="3200" dirty="0">
                          <a:effectLst/>
                        </a:rPr>
                        <a:t>Memory</a:t>
                      </a:r>
                      <a:endParaRPr lang="en-IN" sz="2800" dirty="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dirty="0">
                          <a:effectLst/>
                        </a:rPr>
                        <a:t>More</a:t>
                      </a:r>
                      <a:endParaRPr lang="en-IN" sz="2800" dirty="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a:effectLst/>
                        </a:rPr>
                        <a:t>Less</a:t>
                      </a:r>
                      <a:endParaRPr lang="en-IN" sz="2800">
                        <a:effectLst/>
                        <a:latin typeface="Calibri"/>
                        <a:ea typeface="Calibri"/>
                        <a:cs typeface="Times New Roman"/>
                      </a:endParaRPr>
                    </a:p>
                  </a:txBody>
                  <a:tcPr marL="95250" marR="95250" marT="133350" marB="133350" anchor="b"/>
                </a:tc>
                <a:extLst>
                  <a:ext uri="{0D108BD9-81ED-4DB2-BD59-A6C34878D82A}">
                    <a16:rowId xmlns:a16="http://schemas.microsoft.com/office/drawing/2014/main" val="10002"/>
                  </a:ext>
                </a:extLst>
              </a:tr>
              <a:tr h="960041">
                <a:tc>
                  <a:txBody>
                    <a:bodyPr/>
                    <a:lstStyle/>
                    <a:p>
                      <a:pPr>
                        <a:lnSpc>
                          <a:spcPct val="115000"/>
                        </a:lnSpc>
                        <a:spcAft>
                          <a:spcPts val="0"/>
                        </a:spcAft>
                      </a:pPr>
                      <a:r>
                        <a:rPr lang="en-IN" sz="3200">
                          <a:effectLst/>
                        </a:rPr>
                        <a:t>Time</a:t>
                      </a:r>
                      <a:endParaRPr lang="en-IN" sz="28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dirty="0">
                          <a:effectLst/>
                        </a:rPr>
                        <a:t>Less</a:t>
                      </a:r>
                      <a:endParaRPr lang="en-IN" sz="2800" dirty="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dirty="0">
                          <a:effectLst/>
                        </a:rPr>
                        <a:t>More</a:t>
                      </a:r>
                      <a:endParaRPr lang="en-IN" sz="2800" dirty="0">
                        <a:effectLst/>
                        <a:latin typeface="Calibri"/>
                        <a:ea typeface="Calibri"/>
                        <a:cs typeface="Times New Roman"/>
                      </a:endParaRPr>
                    </a:p>
                  </a:txBody>
                  <a:tcPr marL="95250" marR="95250" marT="133350" marB="133350" anchor="b"/>
                </a:tc>
                <a:extLst>
                  <a:ext uri="{0D108BD9-81ED-4DB2-BD59-A6C34878D82A}">
                    <a16:rowId xmlns:a16="http://schemas.microsoft.com/office/drawing/2014/main" val="10003"/>
                  </a:ext>
                </a:extLst>
              </a:tr>
              <a:tr h="960041">
                <a:tc>
                  <a:txBody>
                    <a:bodyPr/>
                    <a:lstStyle/>
                    <a:p>
                      <a:pPr>
                        <a:lnSpc>
                          <a:spcPct val="115000"/>
                        </a:lnSpc>
                        <a:spcAft>
                          <a:spcPts val="0"/>
                        </a:spcAft>
                      </a:pPr>
                      <a:r>
                        <a:rPr lang="en-IN" sz="3200">
                          <a:effectLst/>
                        </a:rPr>
                        <a:t>Portability</a:t>
                      </a:r>
                      <a:endParaRPr lang="en-IN" sz="28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a:effectLst/>
                        </a:rPr>
                        <a:t>No</a:t>
                      </a:r>
                      <a:endParaRPr lang="en-IN" sz="2800">
                        <a:effectLst/>
                        <a:latin typeface="Calibri"/>
                        <a:ea typeface="Calibri"/>
                        <a:cs typeface="Times New Roman"/>
                      </a:endParaRPr>
                    </a:p>
                  </a:txBody>
                  <a:tcPr marL="95250" marR="95250" marT="133350" marB="133350" anchor="b"/>
                </a:tc>
                <a:tc>
                  <a:txBody>
                    <a:bodyPr/>
                    <a:lstStyle/>
                    <a:p>
                      <a:pPr>
                        <a:lnSpc>
                          <a:spcPct val="115000"/>
                        </a:lnSpc>
                        <a:spcAft>
                          <a:spcPts val="0"/>
                        </a:spcAft>
                      </a:pPr>
                      <a:r>
                        <a:rPr lang="en-IN" sz="3200" dirty="0">
                          <a:effectLst/>
                        </a:rPr>
                        <a:t>Yes</a:t>
                      </a:r>
                      <a:endParaRPr lang="en-IN" sz="2800" dirty="0">
                        <a:effectLst/>
                        <a:latin typeface="Calibri"/>
                        <a:ea typeface="Calibri"/>
                        <a:cs typeface="Times New Roman"/>
                      </a:endParaRPr>
                    </a:p>
                  </a:txBody>
                  <a:tcPr marL="95250" marR="95250" marT="133350" marB="13335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725460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332656"/>
            <a:ext cx="8640960" cy="5539978"/>
          </a:xfrm>
          <a:prstGeom prst="rect">
            <a:avLst/>
          </a:prstGeom>
        </p:spPr>
        <p:txBody>
          <a:bodyPr wrap="square">
            <a:spAutoFit/>
          </a:bodyPr>
          <a:lstStyle/>
          <a:p>
            <a:r>
              <a:rPr lang="en-IN" sz="2800" b="1" dirty="0"/>
              <a:t>INTRODUCTION TO GLOBAL DATAFLOW ANALYSIS</a:t>
            </a:r>
            <a:endParaRPr lang="en-IN" sz="2800" dirty="0"/>
          </a:p>
          <a:p>
            <a:pPr algn="just"/>
            <a:br>
              <a:rPr lang="en-IN" b="1" dirty="0"/>
            </a:br>
            <a:r>
              <a:rPr lang="en-IN" sz="2800" dirty="0"/>
              <a:t>In order to do code optimization and a good job of code generation , compiler needs to collect information about the program as a whole and to distribute this information to each block in the flow graph. </a:t>
            </a:r>
          </a:p>
          <a:p>
            <a:pPr algn="just"/>
            <a:endParaRPr lang="en-IN" sz="2800" dirty="0"/>
          </a:p>
          <a:p>
            <a:pPr algn="just"/>
            <a:r>
              <a:rPr lang="en-IN" sz="2800" dirty="0"/>
              <a:t>A compiler could take advantage of “reaching definitions” , such as knowing where a variable like debug was last defined before reaching a given block, in order to perform transformations are just a few examples of data-flow information that an optimizing compiler collects by a process known as data-flow analysis.</a:t>
            </a:r>
          </a:p>
        </p:txBody>
      </p:sp>
    </p:spTree>
    <p:extLst>
      <p:ext uri="{BB962C8B-B14F-4D97-AF65-F5344CB8AC3E}">
        <p14:creationId xmlns:p14="http://schemas.microsoft.com/office/powerpoint/2010/main" val="1736115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404664"/>
            <a:ext cx="8424936" cy="4401205"/>
          </a:xfrm>
          <a:prstGeom prst="rect">
            <a:avLst/>
          </a:prstGeom>
        </p:spPr>
        <p:txBody>
          <a:bodyPr wrap="square">
            <a:spAutoFit/>
          </a:bodyPr>
          <a:lstStyle/>
          <a:p>
            <a:pPr algn="just"/>
            <a:r>
              <a:rPr lang="en-IN" sz="2800" dirty="0"/>
              <a:t>Data-flow information can be collected by setting up and solving systems of equations of the form :</a:t>
            </a:r>
          </a:p>
          <a:p>
            <a:pPr algn="just"/>
            <a:r>
              <a:rPr lang="en-IN" sz="2800" dirty="0"/>
              <a:t> </a:t>
            </a:r>
          </a:p>
          <a:p>
            <a:pPr algn="just"/>
            <a:r>
              <a:rPr lang="en-IN" sz="2800" b="1" dirty="0"/>
              <a:t>out [S] = gen [S] U ( in [S] - kill [S] )</a:t>
            </a:r>
            <a:endParaRPr lang="en-IN" sz="2800" dirty="0"/>
          </a:p>
          <a:p>
            <a:pPr algn="just"/>
            <a:r>
              <a:rPr lang="en-IN" sz="2800" dirty="0"/>
              <a:t> </a:t>
            </a:r>
          </a:p>
          <a:p>
            <a:pPr algn="just"/>
            <a:r>
              <a:rPr lang="en-IN" sz="2800" dirty="0"/>
              <a:t>This equation can be read as “ the information at the end of a statement is either generated within the statement , or enters at the beginning and is not killed as control flows through the statement.” Such equations are called data-flow equation.</a:t>
            </a:r>
          </a:p>
        </p:txBody>
      </p:sp>
    </p:spTree>
    <p:extLst>
      <p:ext uri="{BB962C8B-B14F-4D97-AF65-F5344CB8AC3E}">
        <p14:creationId xmlns:p14="http://schemas.microsoft.com/office/powerpoint/2010/main" val="2310249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476672"/>
            <a:ext cx="8568952" cy="1631216"/>
          </a:xfrm>
          <a:prstGeom prst="rect">
            <a:avLst/>
          </a:prstGeom>
        </p:spPr>
        <p:txBody>
          <a:bodyPr wrap="square">
            <a:spAutoFit/>
          </a:bodyPr>
          <a:lstStyle/>
          <a:p>
            <a:pPr algn="just"/>
            <a:r>
              <a:rPr lang="en-IN" sz="2000" dirty="0"/>
              <a:t>1)The details of how data-flow equations are set and solved depend on three factors. The notions of generating and killing depend on the desired information, i.e., on the data flow analysis problem to be solved. Moreover, for some problems, instead of proceeding along with flow of control and defining out[S] in terms of in[S], we need to proceed backwards and define in[S] in terms of out[S].</a:t>
            </a:r>
          </a:p>
        </p:txBody>
      </p:sp>
      <p:sp>
        <p:nvSpPr>
          <p:cNvPr id="5" name="Rectangle 4"/>
          <p:cNvSpPr/>
          <p:nvPr/>
        </p:nvSpPr>
        <p:spPr>
          <a:xfrm>
            <a:off x="323528" y="2636912"/>
            <a:ext cx="8568952" cy="1631216"/>
          </a:xfrm>
          <a:prstGeom prst="rect">
            <a:avLst/>
          </a:prstGeom>
        </p:spPr>
        <p:txBody>
          <a:bodyPr wrap="square">
            <a:spAutoFit/>
          </a:bodyPr>
          <a:lstStyle/>
          <a:p>
            <a:pPr algn="just"/>
            <a:r>
              <a:rPr lang="en-IN" sz="2000" dirty="0"/>
              <a:t>2)Since data flows along control paths, data-flow analysis is affected by the constructs in a program. In fact, when we write out[s] we implicitly assume that there is unique end point where control leaves the statement; in general, equations are set up at the level of basic blocks rather than statements, because blocks do have unique end points.</a:t>
            </a:r>
          </a:p>
        </p:txBody>
      </p:sp>
      <p:sp>
        <p:nvSpPr>
          <p:cNvPr id="6" name="Rectangle 5"/>
          <p:cNvSpPr/>
          <p:nvPr/>
        </p:nvSpPr>
        <p:spPr>
          <a:xfrm>
            <a:off x="323528" y="4829196"/>
            <a:ext cx="8568952" cy="707886"/>
          </a:xfrm>
          <a:prstGeom prst="rect">
            <a:avLst/>
          </a:prstGeom>
        </p:spPr>
        <p:txBody>
          <a:bodyPr wrap="square">
            <a:spAutoFit/>
          </a:bodyPr>
          <a:lstStyle/>
          <a:p>
            <a:pPr algn="just"/>
            <a:r>
              <a:rPr lang="en-IN" sz="2000" dirty="0"/>
              <a:t>3)There are subtleties that go along with such statements as procedure calls, assignments through pointer variables, and even assignments to array variables.</a:t>
            </a:r>
          </a:p>
        </p:txBody>
      </p:sp>
    </p:spTree>
    <p:extLst>
      <p:ext uri="{BB962C8B-B14F-4D97-AF65-F5344CB8AC3E}">
        <p14:creationId xmlns:p14="http://schemas.microsoft.com/office/powerpoint/2010/main" val="770410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260648"/>
            <a:ext cx="8496944" cy="1200329"/>
          </a:xfrm>
          <a:prstGeom prst="rect">
            <a:avLst/>
          </a:prstGeom>
        </p:spPr>
        <p:txBody>
          <a:bodyPr wrap="square">
            <a:spAutoFit/>
          </a:bodyPr>
          <a:lstStyle/>
          <a:p>
            <a:r>
              <a:rPr lang="en-IN" b="1" dirty="0"/>
              <a:t>Points and Paths:</a:t>
            </a:r>
            <a:endParaRPr lang="en-IN" dirty="0"/>
          </a:p>
          <a:p>
            <a:r>
              <a:rPr lang="en-IN" dirty="0"/>
              <a:t>Within a basic block, we talk of the point between two adjacent statements, as well as the point before the first statement and after the last. Thus, block B1 has four points: one before any of the assignments and one after each of the three assignments.</a:t>
            </a:r>
          </a:p>
        </p:txBody>
      </p:sp>
      <p:pic>
        <p:nvPicPr>
          <p:cNvPr id="5" name="Picture 4" descr="http://img.brainkart.com/extra/9SwOMyk.jpg"/>
          <p:cNvPicPr/>
          <p:nvPr/>
        </p:nvPicPr>
        <p:blipFill>
          <a:blip r:embed="rId2">
            <a:extLst>
              <a:ext uri="{28A0092B-C50C-407E-A947-70E740481C1C}">
                <a14:useLocalDpi xmlns:a14="http://schemas.microsoft.com/office/drawing/2010/main" val="0"/>
              </a:ext>
            </a:extLst>
          </a:blip>
          <a:srcRect/>
          <a:stretch>
            <a:fillRect/>
          </a:stretch>
        </p:blipFill>
        <p:spPr bwMode="auto">
          <a:xfrm>
            <a:off x="179512" y="1426161"/>
            <a:ext cx="8208911" cy="5431839"/>
          </a:xfrm>
          <a:prstGeom prst="rect">
            <a:avLst/>
          </a:prstGeom>
          <a:noFill/>
          <a:ln>
            <a:noFill/>
          </a:ln>
        </p:spPr>
      </p:pic>
      <p:sp>
        <p:nvSpPr>
          <p:cNvPr id="6" name="Rectangle 5"/>
          <p:cNvSpPr/>
          <p:nvPr/>
        </p:nvSpPr>
        <p:spPr>
          <a:xfrm>
            <a:off x="6630074" y="3932889"/>
            <a:ext cx="2133213" cy="369332"/>
          </a:xfrm>
          <a:prstGeom prst="rect">
            <a:avLst/>
          </a:prstGeom>
        </p:spPr>
        <p:txBody>
          <a:bodyPr wrap="none">
            <a:spAutoFit/>
          </a:bodyPr>
          <a:lstStyle/>
          <a:p>
            <a:r>
              <a:rPr lang="en-IN" b="1" dirty="0"/>
              <a:t>Fig. 5.6 A flow graph</a:t>
            </a:r>
            <a:endParaRPr lang="en-IN" dirty="0"/>
          </a:p>
        </p:txBody>
      </p:sp>
    </p:spTree>
    <p:extLst>
      <p:ext uri="{BB962C8B-B14F-4D97-AF65-F5344CB8AC3E}">
        <p14:creationId xmlns:p14="http://schemas.microsoft.com/office/powerpoint/2010/main" val="38903427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548680"/>
            <a:ext cx="8496944" cy="3416320"/>
          </a:xfrm>
          <a:prstGeom prst="rect">
            <a:avLst/>
          </a:prstGeom>
        </p:spPr>
        <p:txBody>
          <a:bodyPr wrap="square">
            <a:spAutoFit/>
          </a:bodyPr>
          <a:lstStyle/>
          <a:p>
            <a:pPr algn="just"/>
            <a:r>
              <a:rPr lang="en-IN" sz="2400" dirty="0"/>
              <a:t>Now let us take a global view and consider all the points in all the blocks. A path from p1 to </a:t>
            </a:r>
            <a:r>
              <a:rPr lang="en-IN" sz="2400" dirty="0" err="1"/>
              <a:t>pn</a:t>
            </a:r>
            <a:r>
              <a:rPr lang="en-IN" sz="2400" dirty="0"/>
              <a:t> is a sequence of points p1, p2,….,</a:t>
            </a:r>
            <a:r>
              <a:rPr lang="en-IN" sz="2400" dirty="0" err="1"/>
              <a:t>pn</a:t>
            </a:r>
            <a:r>
              <a:rPr lang="en-IN" sz="2400" dirty="0"/>
              <a:t> such that for each </a:t>
            </a:r>
            <a:r>
              <a:rPr lang="en-IN" sz="2400" dirty="0" err="1"/>
              <a:t>i</a:t>
            </a:r>
            <a:r>
              <a:rPr lang="en-IN" sz="2400" dirty="0"/>
              <a:t> between 1 and n-1, either</a:t>
            </a:r>
          </a:p>
          <a:p>
            <a:pPr algn="just"/>
            <a:r>
              <a:rPr lang="en-IN" sz="2400" dirty="0"/>
              <a:t> </a:t>
            </a:r>
          </a:p>
          <a:p>
            <a:pPr algn="just"/>
            <a:r>
              <a:rPr lang="en-IN" sz="2400" dirty="0"/>
              <a:t>1.     Pi is the point immediately preceding a statement and pi+1 is the point immediately following that statement in the same block, or</a:t>
            </a:r>
          </a:p>
          <a:p>
            <a:pPr algn="just"/>
            <a:r>
              <a:rPr lang="en-IN" sz="2400" dirty="0"/>
              <a:t>2.     Pi is the end of some block and pi+1 is the beginning of a successor block.</a:t>
            </a:r>
          </a:p>
        </p:txBody>
      </p:sp>
    </p:spTree>
    <p:extLst>
      <p:ext uri="{BB962C8B-B14F-4D97-AF65-F5344CB8AC3E}">
        <p14:creationId xmlns:p14="http://schemas.microsoft.com/office/powerpoint/2010/main" val="1284951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544" y="1720840"/>
            <a:ext cx="8352928" cy="3416320"/>
          </a:xfrm>
          <a:prstGeom prst="rect">
            <a:avLst/>
          </a:prstGeom>
        </p:spPr>
        <p:txBody>
          <a:bodyPr wrap="square">
            <a:spAutoFit/>
          </a:bodyPr>
          <a:lstStyle/>
          <a:p>
            <a:pPr algn="just"/>
            <a:r>
              <a:rPr lang="en-IN" sz="2400" b="1" dirty="0"/>
              <a:t>Reaching definitions:</a:t>
            </a:r>
            <a:endParaRPr lang="en-IN" sz="2400" dirty="0"/>
          </a:p>
          <a:p>
            <a:pPr algn="just"/>
            <a:r>
              <a:rPr lang="en-IN" sz="2400" dirty="0"/>
              <a:t> </a:t>
            </a:r>
          </a:p>
          <a:p>
            <a:pPr algn="just"/>
            <a:r>
              <a:rPr lang="en-IN" sz="2400" dirty="0"/>
              <a:t>A definition of variable x is a statement that assigns, or may assign, a value to x. The most common forms of definition are assignments to x and statements that read a value from an i/o device and store it in x. These statements certainly define a value for x, and they are referred to as unambiguous definitions of x. There are certain kinds of statements that may define a value for x; they are called ambiguous definitions.</a:t>
            </a:r>
          </a:p>
        </p:txBody>
      </p:sp>
    </p:spTree>
    <p:extLst>
      <p:ext uri="{BB962C8B-B14F-4D97-AF65-F5344CB8AC3E}">
        <p14:creationId xmlns:p14="http://schemas.microsoft.com/office/powerpoint/2010/main" val="2439970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2964" y="548680"/>
            <a:ext cx="8064896" cy="2031325"/>
          </a:xfrm>
          <a:prstGeom prst="rect">
            <a:avLst/>
          </a:prstGeom>
        </p:spPr>
        <p:txBody>
          <a:bodyPr wrap="square">
            <a:spAutoFit/>
          </a:bodyPr>
          <a:lstStyle/>
          <a:p>
            <a:r>
              <a:rPr lang="en-IN" dirty="0"/>
              <a:t>The most usual forms of ambiguous definitions of x are:</a:t>
            </a:r>
          </a:p>
          <a:p>
            <a:r>
              <a:rPr lang="en-IN" dirty="0"/>
              <a:t> </a:t>
            </a:r>
          </a:p>
          <a:p>
            <a:r>
              <a:rPr lang="en-IN" dirty="0"/>
              <a:t>1.     A call of a procedure with x as a parameter or a procedure that can access x because x is in the scope of the procedure.</a:t>
            </a:r>
          </a:p>
          <a:p>
            <a:r>
              <a:rPr lang="en-IN" dirty="0"/>
              <a:t>2.     An assignment through a pointer that could refer to x. For example, the assignment *q:=y is a definition of x if it is possible that q points to x. we must assume that an assignment through a pointer is a definition of every variable.</a:t>
            </a:r>
          </a:p>
        </p:txBody>
      </p:sp>
      <p:sp>
        <p:nvSpPr>
          <p:cNvPr id="5" name="Rectangle 4"/>
          <p:cNvSpPr/>
          <p:nvPr/>
        </p:nvSpPr>
        <p:spPr>
          <a:xfrm>
            <a:off x="462964" y="3429000"/>
            <a:ext cx="8064896" cy="1200329"/>
          </a:xfrm>
          <a:prstGeom prst="rect">
            <a:avLst/>
          </a:prstGeom>
        </p:spPr>
        <p:txBody>
          <a:bodyPr wrap="square">
            <a:spAutoFit/>
          </a:bodyPr>
          <a:lstStyle/>
          <a:p>
            <a:r>
              <a:rPr lang="en-IN" dirty="0"/>
              <a:t>We say a definition d reaches a point p if there is a path from the point immediately following d to p, such that d is not “killed” along that path. Thus a point can be reached by an unambiguous definition and an ambiguous definition of the appearing later along one path.</a:t>
            </a:r>
          </a:p>
        </p:txBody>
      </p:sp>
    </p:spTree>
    <p:extLst>
      <p:ext uri="{BB962C8B-B14F-4D97-AF65-F5344CB8AC3E}">
        <p14:creationId xmlns:p14="http://schemas.microsoft.com/office/powerpoint/2010/main" val="21040224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img.brainkart.com/extra/0jgFySY.jpg"/>
          <p:cNvPicPr/>
          <p:nvPr/>
        </p:nvPicPr>
        <p:blipFill>
          <a:blip r:embed="rId2">
            <a:extLst>
              <a:ext uri="{28A0092B-C50C-407E-A947-70E740481C1C}">
                <a14:useLocalDpi xmlns:a14="http://schemas.microsoft.com/office/drawing/2010/main" val="0"/>
              </a:ext>
            </a:extLst>
          </a:blip>
          <a:srcRect/>
          <a:stretch>
            <a:fillRect/>
          </a:stretch>
        </p:blipFill>
        <p:spPr bwMode="auto">
          <a:xfrm>
            <a:off x="1395412" y="1338262"/>
            <a:ext cx="6353175" cy="4181475"/>
          </a:xfrm>
          <a:prstGeom prst="rect">
            <a:avLst/>
          </a:prstGeom>
          <a:noFill/>
          <a:ln>
            <a:noFill/>
          </a:ln>
        </p:spPr>
      </p:pic>
      <p:sp>
        <p:nvSpPr>
          <p:cNvPr id="5" name="Rectangle 4"/>
          <p:cNvSpPr/>
          <p:nvPr/>
        </p:nvSpPr>
        <p:spPr>
          <a:xfrm>
            <a:off x="2803029" y="5877272"/>
            <a:ext cx="3532827" cy="369332"/>
          </a:xfrm>
          <a:prstGeom prst="rect">
            <a:avLst/>
          </a:prstGeom>
        </p:spPr>
        <p:txBody>
          <a:bodyPr wrap="none">
            <a:spAutoFit/>
          </a:bodyPr>
          <a:lstStyle/>
          <a:p>
            <a:r>
              <a:rPr lang="en-IN" b="1" dirty="0"/>
              <a:t>Some structured control constructs</a:t>
            </a:r>
            <a:endParaRPr lang="en-IN" dirty="0"/>
          </a:p>
        </p:txBody>
      </p:sp>
    </p:spTree>
    <p:extLst>
      <p:ext uri="{BB962C8B-B14F-4D97-AF65-F5344CB8AC3E}">
        <p14:creationId xmlns:p14="http://schemas.microsoft.com/office/powerpoint/2010/main" val="1190792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TotalTime>
  <Words>4749</Words>
  <Application>Microsoft Office PowerPoint</Application>
  <PresentationFormat>On-screen Show (4:3)</PresentationFormat>
  <Paragraphs>436</Paragraphs>
  <Slides>58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LETS</dc:creator>
  <cp:lastModifiedBy>2515012_ Vidyasree</cp:lastModifiedBy>
  <cp:revision>37</cp:revision>
  <dcterms:created xsi:type="dcterms:W3CDTF">2021-04-28T06:13:01Z</dcterms:created>
  <dcterms:modified xsi:type="dcterms:W3CDTF">2026-03-25T17:29:53Z</dcterms:modified>
</cp:coreProperties>
</file>