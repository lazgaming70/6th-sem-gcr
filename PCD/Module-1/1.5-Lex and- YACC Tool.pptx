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slideLayouts/slideLayout1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8" r:id="rId2"/>
    <p:sldMasterId id="2147483663" r:id="rId3"/>
    <p:sldMasterId id="2147483665" r:id="rId4"/>
    <p:sldMasterId id="2147483667" r:id="rId5"/>
    <p:sldMasterId id="2147483669" r:id="rId6"/>
  </p:sldMasterIdLst>
  <p:notesMasterIdLst>
    <p:notesMasterId r:id="rId3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embeddedFontLst>
    <p:embeddedFont>
      <p:font typeface="Arial Black" panose="020B0A04020102020204" pitchFamily="34" charset="0"/>
      <p:regular r:id="rId35"/>
      <p:bold r:id="rId36"/>
    </p:embeddedFont>
    <p:embeddedFont>
      <p:font typeface="Comic Sans MS" panose="030F0702030302020204" pitchFamily="66" charset="0"/>
      <p:regular r:id="rId37"/>
      <p:bold r:id="rId38"/>
      <p:italic r:id="rId39"/>
      <p:boldItalic r:id="rId40"/>
    </p:embeddedFont>
    <p:embeddedFont>
      <p:font typeface="Constantia" panose="02030602050306030303" pitchFamily="18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jLRYH8IMjkdy5W6h92tML700Jo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font" Target="fonts/font5.fntdata"/><Relationship Id="rId21" Type="http://schemas.openxmlformats.org/officeDocument/2006/relationships/slide" Target="slides/slide15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customschemas.google.com/relationships/presentationmetadata" Target="meta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font" Target="fonts/font2.fntdata"/><Relationship Id="rId49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font" Target="fonts/font10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theme" Target="theme/theme1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font" Target="fonts/font4.fntdata"/><Relationship Id="rId46" Type="http://schemas.openxmlformats.org/officeDocument/2006/relationships/presProps" Target="presProps.xml"/><Relationship Id="rId20" Type="http://schemas.openxmlformats.org/officeDocument/2006/relationships/slide" Target="slides/slide14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3" name="Google Shape;1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" name="Google Shape;2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4" name="Google Shape;27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7" name="Google Shape;30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6" name="Google Shape;3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3" name="Google Shape;35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3" name="Google Shape;36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0" name="Google Shape;38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6" name="Google Shape;38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9" name="Google Shape;39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5" name="Google Shape;40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1" name="Google Shape;41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7" name="Google Shape;41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9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sz="5600" b="1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9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1EAEE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1EAEE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0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0"/>
          <p:cNvSpPr txBox="1">
            <a:spLocks noGrp="1"/>
          </p:cNvSpPr>
          <p:nvPr>
            <p:ph type="body" idx="1"/>
          </p:nvPr>
        </p:nvSpPr>
        <p:spPr>
          <a:xfrm>
            <a:off x="457200" y="1935162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718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Noto Sans Symbols"/>
              <a:buChar char="❖"/>
              <a:defRPr/>
            </a:lvl1pPr>
            <a:lvl2pPr marL="914400" lvl="1" indent="-32575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45C7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45C7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0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5445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marL="914400" lvl="1" indent="-35814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marL="137160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marL="182880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marL="2286000" lvl="4" indent="-30289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5445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marL="914400" lvl="1" indent="-35814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marL="137160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marL="182880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marL="2286000" lvl="4" indent="-30289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45C7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1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45C7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45C7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45C7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3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61315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marL="914400" lvl="1" indent="-3365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marL="1371600" lvl="2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marL="1828800" lvl="3" indent="-29463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marL="2286000" lvl="4" indent="-29463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61315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marL="914400" lvl="1" indent="-3365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marL="1371600" lvl="2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marL="1828800" lvl="3" indent="-29463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marL="2286000" lvl="4" indent="-29463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45C7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45C7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4"/>
          <p:cNvSpPr txBox="1">
            <a:spLocks noGrp="1"/>
          </p:cNvSpPr>
          <p:nvPr>
            <p:ph type="title"/>
          </p:nvPr>
        </p:nvSpPr>
        <p:spPr>
          <a:xfrm rot="5400000">
            <a:off x="5052218" y="2491583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4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3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718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45C7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45C7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body" idx="1"/>
          </p:nvPr>
        </p:nvSpPr>
        <p:spPr>
          <a:xfrm rot="5400000">
            <a:off x="2377281" y="15080"/>
            <a:ext cx="438943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718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45C7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45C7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6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sz="26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6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9751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marL="914400" lvl="1" indent="-368935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marL="1371600" lvl="2" indent="-33528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marL="1828800" lvl="3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marL="2286000" lvl="4" indent="-30289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45C7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45C7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sz="50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45C7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45C7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7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9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sz="5600" b="1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9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1EAEE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9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1EAEE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9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0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body" idx="1"/>
          </p:nvPr>
        </p:nvSpPr>
        <p:spPr>
          <a:xfrm>
            <a:off x="457200" y="1935162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5445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/>
            </a:lvl1pPr>
            <a:lvl2pPr marL="914400" lvl="1" indent="-35814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/>
            </a:lvl2pPr>
            <a:lvl3pPr marL="1371600" lvl="2" indent="-321944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Char char="⚫"/>
              <a:defRPr/>
            </a:lvl3pPr>
            <a:lvl4pPr marL="1828800" lvl="3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/>
            </a:lvl4pPr>
            <a:lvl5pPr marL="2286000" lvl="4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Char char="⚫"/>
              <a:defRPr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40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0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1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5445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800"/>
            </a:lvl1pPr>
            <a:lvl2pPr marL="914400" lvl="1" indent="-35814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marL="1371600" lvl="2" indent="-321944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Char char="⚫"/>
              <a:defRPr sz="2000"/>
            </a:lvl3pPr>
            <a:lvl4pPr marL="1828800" lvl="3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1800"/>
            </a:lvl4pPr>
            <a:lvl5pPr marL="2286000" lvl="4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 sz="1800"/>
            </a:lvl6pPr>
            <a:lvl7pPr marL="3200400" lvl="6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Char char="⚫"/>
              <a:defRPr sz="18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800"/>
            </a:lvl8pPr>
            <a:lvl9pPr marL="4114800" lvl="8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2" name="Google Shape;102;p4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5445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800"/>
            </a:lvl1pPr>
            <a:lvl2pPr marL="914400" lvl="1" indent="-35814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marL="1371600" lvl="2" indent="-321944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Char char="⚫"/>
              <a:defRPr sz="2000"/>
            </a:lvl3pPr>
            <a:lvl4pPr marL="1828800" lvl="3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1800"/>
            </a:lvl4pPr>
            <a:lvl5pPr marL="2286000" lvl="4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 sz="1800"/>
            </a:lvl6pPr>
            <a:lvl7pPr marL="3200400" lvl="6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Char char="⚫"/>
              <a:defRPr sz="18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800"/>
            </a:lvl8pPr>
            <a:lvl9pPr marL="4114800" lvl="8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3" name="Google Shape;103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1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1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2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42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4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544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  <a:defRPr/>
            </a:lvl1pPr>
            <a:lvl2pPr marL="914400" lvl="1" indent="-3581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⚫"/>
              <a:defRPr/>
            </a:lvl2pPr>
            <a:lvl3pPr marL="1371600" lvl="2" indent="-32194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0"/>
              <a:buChar char="⚫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⚫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⚫"/>
              <a:defRPr/>
            </a:lvl5pPr>
            <a:lvl6pPr marL="2743200" lvl="5" indent="-32003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0987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"/>
              <a:buChar char="⚫"/>
              <a:defRPr/>
            </a:lvl7pPr>
            <a:lvl8pPr marL="3657600" lvl="7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tantia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nstantia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44"/>
          <p:cNvSpPr txBox="1">
            <a:spLocks noGrp="1"/>
          </p:cNvSpPr>
          <p:nvPr>
            <p:ph type="sldNum" idx="12"/>
          </p:nvPr>
        </p:nvSpPr>
        <p:spPr>
          <a:xfrm>
            <a:off x="8556625" y="6332537"/>
            <a:ext cx="5492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 layout">
  <p:cSld name="End slide layou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8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sz="5600" b="1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48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1EAEE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48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1EAEE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48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0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50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marL="914400" lvl="1" indent="-293369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marL="1371600" lvl="2" indent="-2730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marL="1828800" lvl="3" indent="-265747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marL="2286000" lvl="4" indent="-265747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50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45C7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50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45C7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50"/>
          <p:cNvSpPr txBox="1">
            <a:spLocks noGrp="1"/>
          </p:cNvSpPr>
          <p:nvPr>
            <p:ph type="sldNum" idx="12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/>
          <p:nvPr/>
        </p:nvSpPr>
        <p:spPr>
          <a:xfrm>
            <a:off x="-9525" y="-7937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F">
                  <a:alpha val="44705"/>
                </a:srgbClr>
              </a:gs>
              <a:gs pos="100000">
                <a:srgbClr val="00EBF8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8"/>
          <p:cNvSpPr/>
          <p:nvPr/>
        </p:nvSpPr>
        <p:spPr>
          <a:xfrm>
            <a:off x="4381500" y="-7937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DB6"/>
              </a:gs>
              <a:gs pos="80000">
                <a:srgbClr val="009BE5"/>
              </a:gs>
              <a:gs pos="100000">
                <a:srgbClr val="009BE5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8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body" idx="1"/>
          </p:nvPr>
        </p:nvSpPr>
        <p:spPr>
          <a:xfrm>
            <a:off x="457200" y="1935162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5445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BD0D9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BD0D9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0CF9B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8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8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grpSp>
        <p:nvGrpSpPr>
          <p:cNvPr id="17" name="Google Shape;17;p28"/>
          <p:cNvGrpSpPr/>
          <p:nvPr/>
        </p:nvGrpSpPr>
        <p:grpSpPr>
          <a:xfrm>
            <a:off x="-29327" y="-14808"/>
            <a:ext cx="9198219" cy="1083716"/>
            <a:chOff x="-29322" y="-1971"/>
            <a:chExt cx="9198255" cy="1086266"/>
          </a:xfrm>
        </p:grpSpPr>
        <p:sp>
          <p:nvSpPr>
            <p:cNvPr id="18" name="Google Shape;18;p28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8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8"/>
          <p:cNvSpPr/>
          <p:nvPr/>
        </p:nvSpPr>
        <p:spPr>
          <a:xfrm>
            <a:off x="-9525" y="-7937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F">
                  <a:alpha val="44705"/>
                </a:srgbClr>
              </a:gs>
              <a:gs pos="100000">
                <a:srgbClr val="00EBF8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8"/>
          <p:cNvSpPr/>
          <p:nvPr/>
        </p:nvSpPr>
        <p:spPr>
          <a:xfrm>
            <a:off x="4381500" y="-7937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DB6"/>
              </a:gs>
              <a:gs pos="80000">
                <a:srgbClr val="009BE5"/>
              </a:gs>
              <a:gs pos="100000">
                <a:srgbClr val="009BE5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" name="Google Shape;79;p38"/>
          <p:cNvGrpSpPr/>
          <p:nvPr/>
        </p:nvGrpSpPr>
        <p:grpSpPr>
          <a:xfrm>
            <a:off x="-29327" y="-14808"/>
            <a:ext cx="9198219" cy="1083716"/>
            <a:chOff x="-29322" y="-1971"/>
            <a:chExt cx="9198255" cy="1086266"/>
          </a:xfrm>
        </p:grpSpPr>
        <p:sp>
          <p:nvSpPr>
            <p:cNvPr id="80" name="Google Shape;80;p38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8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38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body" idx="1"/>
          </p:nvPr>
        </p:nvSpPr>
        <p:spPr>
          <a:xfrm>
            <a:off x="457200" y="1935162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5445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BD0D9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BD0D9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0CF9B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84" name="Google Shape;84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38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38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3"/>
          <p:cNvSpPr/>
          <p:nvPr/>
        </p:nvSpPr>
        <p:spPr>
          <a:xfrm>
            <a:off x="-9525" y="-7937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F">
                  <a:alpha val="44705"/>
                </a:srgbClr>
              </a:gs>
              <a:gs pos="100000">
                <a:srgbClr val="00EBF8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3"/>
          <p:cNvSpPr/>
          <p:nvPr/>
        </p:nvSpPr>
        <p:spPr>
          <a:xfrm>
            <a:off x="4381500" y="-7937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DB6"/>
              </a:gs>
              <a:gs pos="80000">
                <a:srgbClr val="009BE5"/>
              </a:gs>
              <a:gs pos="100000">
                <a:srgbClr val="009BE5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p43"/>
          <p:cNvGrpSpPr/>
          <p:nvPr/>
        </p:nvGrpSpPr>
        <p:grpSpPr>
          <a:xfrm>
            <a:off x="-29327" y="-14808"/>
            <a:ext cx="9198219" cy="1083716"/>
            <a:chOff x="-29322" y="-1971"/>
            <a:chExt cx="9198255" cy="1086266"/>
          </a:xfrm>
        </p:grpSpPr>
        <p:sp>
          <p:nvSpPr>
            <p:cNvPr id="114" name="Google Shape;114;p43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3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43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43"/>
          <p:cNvSpPr txBox="1">
            <a:spLocks noGrp="1"/>
          </p:cNvSpPr>
          <p:nvPr>
            <p:ph type="body" idx="1"/>
          </p:nvPr>
        </p:nvSpPr>
        <p:spPr>
          <a:xfrm>
            <a:off x="457200" y="1935162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5445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BD0D9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BD0D9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0CF9B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18" name="Google Shape;118;p43"/>
          <p:cNvSpPr txBox="1">
            <a:spLocks noGrp="1"/>
          </p:cNvSpPr>
          <p:nvPr>
            <p:ph type="sldNum" idx="12"/>
          </p:nvPr>
        </p:nvSpPr>
        <p:spPr>
          <a:xfrm>
            <a:off x="8556625" y="6332537"/>
            <a:ext cx="5492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5"/>
          <p:cNvSpPr/>
          <p:nvPr/>
        </p:nvSpPr>
        <p:spPr>
          <a:xfrm>
            <a:off x="-9525" y="-7937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F">
                  <a:alpha val="44705"/>
                </a:srgbClr>
              </a:gs>
              <a:gs pos="100000">
                <a:srgbClr val="00EBF8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5"/>
          <p:cNvSpPr/>
          <p:nvPr/>
        </p:nvSpPr>
        <p:spPr>
          <a:xfrm>
            <a:off x="4381500" y="-7937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DB6"/>
              </a:gs>
              <a:gs pos="80000">
                <a:srgbClr val="009BE5"/>
              </a:gs>
              <a:gs pos="100000">
                <a:srgbClr val="009BE5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" name="Google Shape;126;p45"/>
          <p:cNvGrpSpPr/>
          <p:nvPr/>
        </p:nvGrpSpPr>
        <p:grpSpPr>
          <a:xfrm>
            <a:off x="-29327" y="-14808"/>
            <a:ext cx="9198219" cy="1083716"/>
            <a:chOff x="-29322" y="-1971"/>
            <a:chExt cx="9198255" cy="1086266"/>
          </a:xfrm>
        </p:grpSpPr>
        <p:sp>
          <p:nvSpPr>
            <p:cNvPr id="127" name="Google Shape;127;p45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5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45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45"/>
          <p:cNvSpPr txBox="1">
            <a:spLocks noGrp="1"/>
          </p:cNvSpPr>
          <p:nvPr>
            <p:ph type="body" idx="1"/>
          </p:nvPr>
        </p:nvSpPr>
        <p:spPr>
          <a:xfrm>
            <a:off x="457200" y="1935162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5445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BD0D9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BD0D9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0CF9B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7"/>
          <p:cNvSpPr/>
          <p:nvPr/>
        </p:nvSpPr>
        <p:spPr>
          <a:xfrm>
            <a:off x="-9525" y="-7937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F">
                  <a:alpha val="44705"/>
                </a:srgbClr>
              </a:gs>
              <a:gs pos="100000">
                <a:srgbClr val="00EBF8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7"/>
          <p:cNvSpPr/>
          <p:nvPr/>
        </p:nvSpPr>
        <p:spPr>
          <a:xfrm>
            <a:off x="4381500" y="-7937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DB6"/>
              </a:gs>
              <a:gs pos="80000">
                <a:srgbClr val="009BE5"/>
              </a:gs>
              <a:gs pos="100000">
                <a:srgbClr val="009BE5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" name="Google Shape;135;p47"/>
          <p:cNvGrpSpPr/>
          <p:nvPr/>
        </p:nvGrpSpPr>
        <p:grpSpPr>
          <a:xfrm>
            <a:off x="-29327" y="-14808"/>
            <a:ext cx="9198219" cy="1083716"/>
            <a:chOff x="-29322" y="-1971"/>
            <a:chExt cx="9198255" cy="1086266"/>
          </a:xfrm>
        </p:grpSpPr>
        <p:sp>
          <p:nvSpPr>
            <p:cNvPr id="136" name="Google Shape;136;p47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47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47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9" name="Google Shape;139;p47"/>
          <p:cNvSpPr txBox="1">
            <a:spLocks noGrp="1"/>
          </p:cNvSpPr>
          <p:nvPr>
            <p:ph type="body" idx="1"/>
          </p:nvPr>
        </p:nvSpPr>
        <p:spPr>
          <a:xfrm>
            <a:off x="457200" y="1935162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5445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BD0D9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BD0D9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0CF9B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40" name="Google Shape;140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47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47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9"/>
          <p:cNvSpPr/>
          <p:nvPr/>
        </p:nvSpPr>
        <p:spPr>
          <a:xfrm>
            <a:off x="-9525" y="-7937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F">
                  <a:alpha val="44705"/>
                </a:srgbClr>
              </a:gs>
              <a:gs pos="100000">
                <a:srgbClr val="00EBF8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9"/>
          <p:cNvSpPr/>
          <p:nvPr/>
        </p:nvSpPr>
        <p:spPr>
          <a:xfrm>
            <a:off x="4381500" y="-7937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DB6"/>
              </a:gs>
              <a:gs pos="80000">
                <a:srgbClr val="009BE5"/>
              </a:gs>
              <a:gs pos="100000">
                <a:srgbClr val="009BE5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" name="Google Shape;152;p49"/>
          <p:cNvGrpSpPr/>
          <p:nvPr/>
        </p:nvGrpSpPr>
        <p:grpSpPr>
          <a:xfrm>
            <a:off x="-29327" y="-14808"/>
            <a:ext cx="9198219" cy="1083716"/>
            <a:chOff x="-29322" y="-1971"/>
            <a:chExt cx="9198255" cy="1086266"/>
          </a:xfrm>
        </p:grpSpPr>
        <p:sp>
          <p:nvSpPr>
            <p:cNvPr id="153" name="Google Shape;153;p49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9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49"/>
          <p:cNvSpPr/>
          <p:nvPr/>
        </p:nvSpPr>
        <p:spPr>
          <a:xfrm rot="-10380000" flipH="1">
            <a:off x="3165475" y="1108075"/>
            <a:ext cx="5257800" cy="4114800"/>
          </a:xfrm>
          <a:custGeom>
            <a:avLst/>
            <a:gdLst/>
            <a:ahLst/>
            <a:cxnLst/>
            <a:rect l="l" t="t" r="r" b="b"/>
            <a:pathLst>
              <a:path w="5257800" h="4114800" extrusionOk="0">
                <a:moveTo>
                  <a:pt x="0" y="0"/>
                </a:moveTo>
                <a:lnTo>
                  <a:pt x="5107774" y="0"/>
                </a:lnTo>
                <a:lnTo>
                  <a:pt x="5257800" y="150026"/>
                </a:lnTo>
                <a:lnTo>
                  <a:pt x="5257800" y="4114800"/>
                </a:lnTo>
                <a:lnTo>
                  <a:pt x="0" y="411480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499" dir="7500041" sx="98500" sy="100079" kx="98485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9"/>
          <p:cNvSpPr/>
          <p:nvPr/>
        </p:nvSpPr>
        <p:spPr>
          <a:xfrm rot="-10380000" flipH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63500" dist="6350" dir="12899787">
              <a:srgbClr val="000000">
                <a:alpha val="4666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9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F">
                  <a:alpha val="44705"/>
                </a:srgbClr>
              </a:gs>
              <a:gs pos="100000">
                <a:srgbClr val="00EBF8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9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DB6"/>
              </a:gs>
              <a:gs pos="80000">
                <a:srgbClr val="009BE5"/>
              </a:gs>
              <a:gs pos="100000">
                <a:srgbClr val="009BE5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9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0" name="Google Shape;160;p49"/>
          <p:cNvSpPr txBox="1">
            <a:spLocks noGrp="1"/>
          </p:cNvSpPr>
          <p:nvPr>
            <p:ph type="body" idx="1"/>
          </p:nvPr>
        </p:nvSpPr>
        <p:spPr>
          <a:xfrm>
            <a:off x="457200" y="1935162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5445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BD0D9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BD0D9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0CF9B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61" name="Google Shape;161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49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49"/>
          <p:cNvSpPr txBox="1">
            <a:spLocks noGrp="1"/>
          </p:cNvSpPr>
          <p:nvPr>
            <p:ph type="sldNum" idx="12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arsing-set-3-slr-clr-and-lalr-parsers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"/>
          <p:cNvSpPr txBox="1">
            <a:spLocks noGrp="1"/>
          </p:cNvSpPr>
          <p:nvPr>
            <p:ph type="ctrTitle" idx="4294967295"/>
          </p:nvPr>
        </p:nvSpPr>
        <p:spPr>
          <a:xfrm>
            <a:off x="536791" y="1601735"/>
            <a:ext cx="7845056" cy="15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50" bIns="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40"/>
              <a:buFont typeface="Arial"/>
              <a:buNone/>
            </a:pPr>
            <a:r>
              <a:rPr lang="en-US" sz="2538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</a:t>
            </a:r>
            <a:br>
              <a:rPr lang="en-US" sz="2538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1" i="0" u="none" strike="noStrike" cap="non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PRINCIPLES OF COMPILER DESIGN</a:t>
            </a:r>
            <a:endParaRPr sz="2538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"/>
          <p:cNvSpPr txBox="1">
            <a:spLocks noGrp="1"/>
          </p:cNvSpPr>
          <p:nvPr>
            <p:ph type="subTitle" idx="1"/>
          </p:nvPr>
        </p:nvSpPr>
        <p:spPr>
          <a:xfrm>
            <a:off x="232246" y="3567197"/>
            <a:ext cx="8835553" cy="1447255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650" rIns="18250" bIns="45650" anchor="t" anchorCtr="0">
            <a:noAutofit/>
          </a:bodyPr>
          <a:lstStyle/>
          <a:p>
            <a:pPr marL="457200" lvl="0" indent="-38544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1798" b="1" dirty="0">
                <a:solidFill>
                  <a:srgbClr val="215968"/>
                </a:solidFill>
                <a:latin typeface="Arial"/>
                <a:ea typeface="Arial"/>
                <a:cs typeface="Arial"/>
                <a:sym typeface="Arial"/>
              </a:rPr>
              <a:t>MODULE	   :  I</a:t>
            </a:r>
            <a:endParaRPr dirty="0"/>
          </a:p>
          <a:p>
            <a:pPr marL="457200" lvl="0" indent="-38544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rPr lang="en-US" sz="1798" b="1" dirty="0">
                <a:solidFill>
                  <a:srgbClr val="215968"/>
                </a:solidFill>
                <a:latin typeface="Arial"/>
                <a:ea typeface="Arial"/>
                <a:cs typeface="Arial"/>
                <a:sym typeface="Arial"/>
              </a:rPr>
              <a:t>TOPIC		   :   LEXICAL ANALYSER GENERATOR&amp;PARSER 				        GENERATOR-YACC</a:t>
            </a:r>
            <a:endParaRPr dirty="0"/>
          </a:p>
          <a:p>
            <a:pPr marL="457200" lvl="0" indent="-38544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endParaRPr dirty="0"/>
          </a:p>
          <a:p>
            <a:pPr marL="457200" lvl="0" indent="-385445" algn="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endParaRPr sz="1798" b="1" dirty="0">
              <a:solidFill>
                <a:srgbClr val="2159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Lexical Analyzer Generator-Lex</a:t>
            </a:r>
            <a:endParaRPr/>
          </a:p>
        </p:txBody>
      </p:sp>
      <p:sp>
        <p:nvSpPr>
          <p:cNvPr id="183" name="Google Shape;183;p2"/>
          <p:cNvSpPr txBox="1">
            <a:spLocks noGrp="1"/>
          </p:cNvSpPr>
          <p:nvPr>
            <p:ph type="body" idx="1"/>
          </p:nvPr>
        </p:nvSpPr>
        <p:spPr>
          <a:xfrm>
            <a:off x="457200" y="1935162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0015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rPr lang="en-US" b="0" i="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Lex is a program designed to generate scanners, also known as </a:t>
            </a:r>
            <a:r>
              <a:rPr lang="en-US" b="0" i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tokenizers</a:t>
            </a:r>
            <a:r>
              <a:rPr lang="en-US" b="0" i="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, which </a:t>
            </a:r>
            <a:r>
              <a:rPr lang="en-US" b="0" i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recognize</a:t>
            </a:r>
            <a:r>
              <a:rPr lang="en-US" b="0" i="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 lexical patterns in text.</a:t>
            </a:r>
            <a:endParaRPr/>
          </a:p>
          <a:p>
            <a:pPr marL="120015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rPr lang="en-US" b="0" i="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84" name="Google Shape;184;p2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85" name="Google Shape;18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720" y="3200400"/>
            <a:ext cx="8010525" cy="391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Structure of lex program</a:t>
            </a:r>
            <a:endParaRPr/>
          </a:p>
        </p:txBody>
      </p:sp>
      <p:sp>
        <p:nvSpPr>
          <p:cNvPr id="191" name="Google Shape;191;p3"/>
          <p:cNvSpPr txBox="1">
            <a:spLocks noGrp="1"/>
          </p:cNvSpPr>
          <p:nvPr>
            <p:ph type="body" idx="1"/>
          </p:nvPr>
        </p:nvSpPr>
        <p:spPr>
          <a:xfrm>
            <a:off x="457200" y="1935162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0015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endParaRPr/>
          </a:p>
        </p:txBody>
      </p:sp>
      <p:sp>
        <p:nvSpPr>
          <p:cNvPr id="192" name="Google Shape;192;p3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93" name="Google Shape;19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1" y="1903411"/>
            <a:ext cx="7891462" cy="2725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Lex Source to C Program</a:t>
            </a:r>
            <a:endParaRPr/>
          </a:p>
        </p:txBody>
      </p:sp>
      <p:sp>
        <p:nvSpPr>
          <p:cNvPr id="199" name="Google Shape;199;p4"/>
          <p:cNvSpPr txBox="1">
            <a:spLocks noGrp="1"/>
          </p:cNvSpPr>
          <p:nvPr>
            <p:ph type="body" idx="1"/>
          </p:nvPr>
        </p:nvSpPr>
        <p:spPr>
          <a:xfrm>
            <a:off x="457200" y="1935162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7185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rPr lang="en-US"/>
              <a:t>The table is translated to a C program (lex.yy.c) which</a:t>
            </a:r>
            <a:endParaRPr/>
          </a:p>
          <a:p>
            <a:pPr marL="914400" lvl="1" indent="-32575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Font typeface="Noto Sans Symbols"/>
              <a:buChar char="❖"/>
            </a:pPr>
            <a:r>
              <a:rPr lang="en-US">
                <a:solidFill>
                  <a:srgbClr val="FF0000"/>
                </a:solidFill>
              </a:rPr>
              <a:t>reads an input stream</a:t>
            </a:r>
            <a:endParaRPr/>
          </a:p>
          <a:p>
            <a:pPr marL="914400" lvl="1" indent="-32575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Font typeface="Noto Sans Symbols"/>
              <a:buChar char="❖"/>
            </a:pPr>
            <a:r>
              <a:rPr lang="en-US">
                <a:solidFill>
                  <a:srgbClr val="FF0000"/>
                </a:solidFill>
              </a:rPr>
              <a:t>partitioning the input into strings which match the given expressions and</a:t>
            </a:r>
            <a:endParaRPr/>
          </a:p>
          <a:p>
            <a:pPr marL="914400" lvl="1" indent="-32575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Font typeface="Noto Sans Symbols"/>
              <a:buChar char="❖"/>
            </a:pPr>
            <a:r>
              <a:rPr lang="en-US">
                <a:solidFill>
                  <a:srgbClr val="FF0000"/>
                </a:solidFill>
              </a:rPr>
              <a:t>copying it to an output stream if necessary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dk1"/>
                </a:solidFill>
              </a:rPr>
              <a:t>Lex Specification</a:t>
            </a:r>
            <a:endParaRPr/>
          </a:p>
        </p:txBody>
      </p:sp>
      <p:sp>
        <p:nvSpPr>
          <p:cNvPr id="205" name="Google Shape;205;p5"/>
          <p:cNvSpPr txBox="1">
            <a:spLocks noGrp="1"/>
          </p:cNvSpPr>
          <p:nvPr>
            <p:ph type="body" idx="1"/>
          </p:nvPr>
        </p:nvSpPr>
        <p:spPr>
          <a:xfrm>
            <a:off x="457200" y="1935162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Noto Sans Symbols"/>
              <a:buChar char="❖"/>
            </a:pPr>
            <a:r>
              <a:rPr lang="en-US"/>
              <a:t>A LEX program consists of three parts:</a:t>
            </a:r>
            <a:endParaRPr b="1" i="1"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Noto Sans Symbols"/>
              <a:buChar char="❖"/>
            </a:pPr>
            <a:r>
              <a:rPr lang="en-US" b="1">
                <a:solidFill>
                  <a:srgbClr val="FF0000"/>
                </a:solidFill>
              </a:rPr>
              <a:t>{ declarations }</a:t>
            </a:r>
            <a:endParaRPr>
              <a:solidFill>
                <a:srgbClr val="FF0000"/>
              </a:solidFill>
            </a:endParaRPr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Noto Sans Symbols"/>
              <a:buChar char="❖"/>
            </a:pPr>
            <a:r>
              <a:rPr lang="en-US" b="1">
                <a:solidFill>
                  <a:srgbClr val="FF0000"/>
                </a:solidFill>
              </a:rPr>
              <a:t>%%</a:t>
            </a:r>
            <a:endParaRPr>
              <a:solidFill>
                <a:srgbClr val="FF0000"/>
              </a:solidFill>
            </a:endParaRPr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Noto Sans Symbols"/>
              <a:buChar char="❖"/>
            </a:pPr>
            <a:r>
              <a:rPr lang="en-US" b="1">
                <a:solidFill>
                  <a:srgbClr val="FF0000"/>
                </a:solidFill>
              </a:rPr>
              <a:t>{ translation rules }</a:t>
            </a:r>
            <a:endParaRPr>
              <a:solidFill>
                <a:srgbClr val="FF0000"/>
              </a:solidFill>
            </a:endParaRPr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Noto Sans Symbols"/>
              <a:buChar char="❖"/>
            </a:pPr>
            <a:r>
              <a:rPr lang="en-US" b="1">
                <a:solidFill>
                  <a:srgbClr val="FF0000"/>
                </a:solidFill>
              </a:rPr>
              <a:t>%%</a:t>
            </a:r>
            <a:endParaRPr>
              <a:solidFill>
                <a:srgbClr val="FF0000"/>
              </a:solidFill>
            </a:endParaRPr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Noto Sans Symbols"/>
              <a:buChar char="❖"/>
            </a:pPr>
            <a:r>
              <a:rPr lang="en-US" b="1">
                <a:solidFill>
                  <a:srgbClr val="FF0000"/>
                </a:solidFill>
              </a:rPr>
              <a:t>{ user subroutines }</a:t>
            </a:r>
            <a:endParaRPr>
              <a:solidFill>
                <a:srgbClr val="FF0000"/>
              </a:solidFill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Noto Sans Symbols"/>
              <a:buNone/>
            </a:pPr>
            <a:endParaRPr/>
          </a:p>
        </p:txBody>
      </p:sp>
      <p:sp>
        <p:nvSpPr>
          <p:cNvPr id="206" name="Google Shape;206;p5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Principles of  Compiler Design</a:t>
            </a:r>
            <a:endParaRPr/>
          </a:p>
        </p:txBody>
      </p:sp>
      <p:sp>
        <p:nvSpPr>
          <p:cNvPr id="207" name="Google Shape;207;p5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Lex Specification</a:t>
            </a:r>
            <a:endParaRPr/>
          </a:p>
        </p:txBody>
      </p:sp>
      <p:sp>
        <p:nvSpPr>
          <p:cNvPr id="213" name="Google Shape;213;p6"/>
          <p:cNvSpPr txBox="1">
            <a:spLocks noGrp="1"/>
          </p:cNvSpPr>
          <p:nvPr>
            <p:ph type="body" idx="1"/>
          </p:nvPr>
        </p:nvSpPr>
        <p:spPr>
          <a:xfrm>
            <a:off x="457200" y="1935162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❖"/>
            </a:pPr>
            <a:r>
              <a:rPr lang="en-US" b="1"/>
              <a:t>Definitions </a:t>
            </a:r>
            <a:r>
              <a:rPr lang="en-US"/>
              <a:t>include </a:t>
            </a:r>
            <a:endParaRPr/>
          </a:p>
          <a:p>
            <a:pPr marL="914400" lvl="1" indent="-32575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Font typeface="Noto Sans Symbols"/>
              <a:buChar char="❖"/>
            </a:pPr>
            <a:r>
              <a:rPr lang="en-US"/>
              <a:t>declarations of variables, constants, and </a:t>
            </a:r>
            <a:endParaRPr/>
          </a:p>
          <a:p>
            <a:pPr marL="914400" lvl="1" indent="-32575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Font typeface="Noto Sans Symbols"/>
              <a:buChar char="❖"/>
            </a:pPr>
            <a:r>
              <a:rPr lang="en-US"/>
              <a:t>regular definitions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❖"/>
            </a:pPr>
            <a:r>
              <a:rPr lang="en-US" b="1"/>
              <a:t>Rules </a:t>
            </a:r>
            <a:r>
              <a:rPr lang="en-US"/>
              <a:t>are statements of the form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nstantia"/>
              <a:buNone/>
            </a:pPr>
            <a:r>
              <a:rPr lang="en-US" b="1"/>
              <a:t>	</a:t>
            </a:r>
            <a:r>
              <a:rPr lang="en-US" b="1">
                <a:solidFill>
                  <a:srgbClr val="FF0000"/>
                </a:solidFill>
              </a:rPr>
              <a:t>p</a:t>
            </a:r>
            <a:r>
              <a:rPr lang="en-US" b="1" baseline="-25000">
                <a:solidFill>
                  <a:srgbClr val="FF0000"/>
                </a:solidFill>
              </a:rPr>
              <a:t>1</a:t>
            </a:r>
            <a:r>
              <a:rPr lang="en-US" b="1">
                <a:solidFill>
                  <a:srgbClr val="FF0000"/>
                </a:solidFill>
              </a:rPr>
              <a:t> {action</a:t>
            </a:r>
            <a:r>
              <a:rPr lang="en-US" b="1" baseline="-25000">
                <a:solidFill>
                  <a:srgbClr val="FF0000"/>
                </a:solidFill>
              </a:rPr>
              <a:t>1</a:t>
            </a:r>
            <a:r>
              <a:rPr lang="en-US" b="1">
                <a:solidFill>
                  <a:srgbClr val="FF0000"/>
                </a:solidFill>
              </a:rPr>
              <a:t>}</a:t>
            </a:r>
            <a:endParaRPr>
              <a:solidFill>
                <a:srgbClr val="FF0000"/>
              </a:solidFill>
            </a:endParaRPr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nstantia"/>
              <a:buNone/>
            </a:pPr>
            <a:r>
              <a:rPr lang="en-US" b="1">
                <a:solidFill>
                  <a:srgbClr val="FF0000"/>
                </a:solidFill>
              </a:rPr>
              <a:t>	p</a:t>
            </a:r>
            <a:r>
              <a:rPr lang="en-US" b="1" baseline="-25000">
                <a:solidFill>
                  <a:srgbClr val="FF0000"/>
                </a:solidFill>
              </a:rPr>
              <a:t>2</a:t>
            </a:r>
            <a:r>
              <a:rPr lang="en-US" b="1">
                <a:solidFill>
                  <a:srgbClr val="FF0000"/>
                </a:solidFill>
              </a:rPr>
              <a:t> {action</a:t>
            </a:r>
            <a:r>
              <a:rPr lang="en-US" b="1" baseline="-25000">
                <a:solidFill>
                  <a:srgbClr val="FF0000"/>
                </a:solidFill>
              </a:rPr>
              <a:t>2</a:t>
            </a:r>
            <a:r>
              <a:rPr lang="en-US" b="1">
                <a:solidFill>
                  <a:srgbClr val="FF0000"/>
                </a:solidFill>
              </a:rPr>
              <a:t>}</a:t>
            </a:r>
            <a:endParaRPr>
              <a:solidFill>
                <a:srgbClr val="FF0000"/>
              </a:solidFill>
            </a:endParaRPr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nstantia"/>
              <a:buNone/>
            </a:pPr>
            <a:r>
              <a:rPr lang="en-US" b="1">
                <a:solidFill>
                  <a:srgbClr val="FF0000"/>
                </a:solidFill>
              </a:rPr>
              <a:t>	…</a:t>
            </a:r>
            <a:endParaRPr>
              <a:solidFill>
                <a:srgbClr val="FF0000"/>
              </a:solidFill>
            </a:endParaRPr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nstantia"/>
              <a:buNone/>
            </a:pPr>
            <a:r>
              <a:rPr lang="en-US" b="1">
                <a:solidFill>
                  <a:srgbClr val="FF0000"/>
                </a:solidFill>
              </a:rPr>
              <a:t>	p</a:t>
            </a:r>
            <a:r>
              <a:rPr lang="en-US" b="1" baseline="-25000">
                <a:solidFill>
                  <a:srgbClr val="FF0000"/>
                </a:solidFill>
              </a:rPr>
              <a:t>n</a:t>
            </a:r>
            <a:r>
              <a:rPr lang="en-US" b="1">
                <a:solidFill>
                  <a:srgbClr val="FF0000"/>
                </a:solidFill>
              </a:rPr>
              <a:t> {action</a:t>
            </a:r>
            <a:r>
              <a:rPr lang="en-US" b="1" baseline="-25000">
                <a:solidFill>
                  <a:srgbClr val="FF0000"/>
                </a:solidFill>
              </a:rPr>
              <a:t>n</a:t>
            </a:r>
            <a:r>
              <a:rPr lang="en-US" b="1">
                <a:solidFill>
                  <a:srgbClr val="FF0000"/>
                </a:solidFill>
              </a:rPr>
              <a:t>}</a:t>
            </a:r>
            <a:endParaRPr>
              <a:solidFill>
                <a:srgbClr val="FF0000"/>
              </a:solidFill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endParaRPr/>
          </a:p>
        </p:txBody>
      </p:sp>
      <p:sp>
        <p:nvSpPr>
          <p:cNvPr id="214" name="Google Shape;214;p6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Principles of  Compiler Design</a:t>
            </a:r>
            <a:endParaRPr/>
          </a:p>
        </p:txBody>
      </p:sp>
      <p:sp>
        <p:nvSpPr>
          <p:cNvPr id="215" name="Google Shape;215;p6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Language for Specifying Lexical Analyzer</a:t>
            </a:r>
            <a:endParaRPr/>
          </a:p>
        </p:txBody>
      </p:sp>
      <p:sp>
        <p:nvSpPr>
          <p:cNvPr id="221" name="Google Shape;221;p7"/>
          <p:cNvSpPr txBox="1">
            <a:spLocks noGrp="1"/>
          </p:cNvSpPr>
          <p:nvPr>
            <p:ph type="body" idx="1"/>
          </p:nvPr>
        </p:nvSpPr>
        <p:spPr>
          <a:xfrm>
            <a:off x="457200" y="1935162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0015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endParaRPr/>
          </a:p>
        </p:txBody>
      </p:sp>
      <p:sp>
        <p:nvSpPr>
          <p:cNvPr id="222" name="Google Shape;222;p7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223" name="Google Shape;22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450" y="1952625"/>
            <a:ext cx="7372350" cy="490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p8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30" name="Google Shape;230;p8"/>
          <p:cNvSpPr txBox="1"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Simple Lex Example</a:t>
            </a:r>
            <a:endParaRPr/>
          </a:p>
        </p:txBody>
      </p:sp>
      <p:sp>
        <p:nvSpPr>
          <p:cNvPr id="231" name="Google Shape;231;p8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7185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    int num_lines = 0, num_chars = 0;</a:t>
            </a:r>
            <a:endParaRPr/>
          </a:p>
          <a:p>
            <a:pPr marL="457200" lvl="0" indent="-337185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urier New"/>
              <a:buNone/>
            </a:pPr>
            <a:r>
              <a:rPr lang="en-US" sz="24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%%</a:t>
            </a:r>
            <a:endParaRPr/>
          </a:p>
          <a:p>
            <a:pPr marL="457200" lvl="0" indent="-337185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\n      ++num_lines; ++num_chars;</a:t>
            </a:r>
            <a:endParaRPr/>
          </a:p>
          <a:p>
            <a:pPr marL="457200" lvl="0" indent="-337185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.       ++num_chars;</a:t>
            </a:r>
            <a:endParaRPr/>
          </a:p>
          <a:p>
            <a:pPr marL="457200" lvl="0" indent="-337185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urier New"/>
              <a:buNone/>
            </a:pPr>
            <a:r>
              <a:rPr lang="en-US" sz="24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%%</a:t>
            </a:r>
            <a:endParaRPr/>
          </a:p>
          <a:p>
            <a:pPr marL="457200" lvl="0" indent="-337185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main()</a:t>
            </a:r>
            <a:endParaRPr/>
          </a:p>
          <a:p>
            <a:pPr marL="457200" lvl="0" indent="-337185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457200" lvl="0" indent="-337185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    yylex();</a:t>
            </a:r>
            <a:endParaRPr/>
          </a:p>
          <a:p>
            <a:pPr marL="457200" lvl="0" indent="-337185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    printf( "# of lines = %d, </a:t>
            </a:r>
            <a:endParaRPr/>
          </a:p>
          <a:p>
            <a:pPr marL="457200" lvl="0" indent="-337185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            # of chars = %d\n",</a:t>
            </a:r>
            <a:endParaRPr/>
          </a:p>
          <a:p>
            <a:pPr marL="457200" lvl="0" indent="-337185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            num_lines, num_chars );</a:t>
            </a:r>
            <a:endParaRPr/>
          </a:p>
          <a:p>
            <a:pPr marL="457200" lvl="0" indent="-337185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457200" lvl="0" indent="-337185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nstantia"/>
              <a:buNone/>
            </a:pP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9"/>
          <p:cNvGrpSpPr/>
          <p:nvPr/>
        </p:nvGrpSpPr>
        <p:grpSpPr>
          <a:xfrm>
            <a:off x="827088" y="4365625"/>
            <a:ext cx="7056437" cy="1079500"/>
            <a:chOff x="612" y="2478"/>
            <a:chExt cx="4445" cy="680"/>
          </a:xfrm>
        </p:grpSpPr>
        <p:sp>
          <p:nvSpPr>
            <p:cNvPr id="237" name="Google Shape;237;p9"/>
            <p:cNvSpPr/>
            <p:nvPr/>
          </p:nvSpPr>
          <p:spPr>
            <a:xfrm>
              <a:off x="612" y="2478"/>
              <a:ext cx="4445" cy="68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9"/>
            <p:cNvSpPr txBox="1"/>
            <p:nvPr/>
          </p:nvSpPr>
          <p:spPr>
            <a:xfrm>
              <a:off x="3833" y="2614"/>
              <a:ext cx="953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(optional)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9"/>
          <p:cNvGrpSpPr/>
          <p:nvPr/>
        </p:nvGrpSpPr>
        <p:grpSpPr>
          <a:xfrm>
            <a:off x="827088" y="2781300"/>
            <a:ext cx="7056437" cy="1584325"/>
            <a:chOff x="612" y="1480"/>
            <a:chExt cx="4445" cy="998"/>
          </a:xfrm>
        </p:grpSpPr>
        <p:sp>
          <p:nvSpPr>
            <p:cNvPr id="240" name="Google Shape;240;p9"/>
            <p:cNvSpPr/>
            <p:nvPr/>
          </p:nvSpPr>
          <p:spPr>
            <a:xfrm>
              <a:off x="612" y="1480"/>
              <a:ext cx="4445" cy="998"/>
            </a:xfrm>
            <a:prstGeom prst="rect">
              <a:avLst/>
            </a:prstGeom>
            <a:solidFill>
              <a:srgbClr val="FF99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9"/>
            <p:cNvSpPr txBox="1"/>
            <p:nvPr/>
          </p:nvSpPr>
          <p:spPr>
            <a:xfrm>
              <a:off x="3833" y="1842"/>
              <a:ext cx="953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(required)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" name="Google Shape;242;p9"/>
          <p:cNvSpPr txBox="1">
            <a:spLocks noGrp="1"/>
          </p:cNvSpPr>
          <p:nvPr>
            <p:ph type="title"/>
          </p:nvPr>
        </p:nvSpPr>
        <p:spPr>
          <a:xfrm>
            <a:off x="685800" y="4762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Lex Source</a:t>
            </a:r>
            <a:endParaRPr/>
          </a:p>
        </p:txBody>
      </p:sp>
      <p:sp>
        <p:nvSpPr>
          <p:cNvPr id="243" name="Google Shape;243;p9"/>
          <p:cNvSpPr txBox="1">
            <a:spLocks noGrp="1"/>
          </p:cNvSpPr>
          <p:nvPr>
            <p:ph type="body" idx="1"/>
          </p:nvPr>
        </p:nvSpPr>
        <p:spPr>
          <a:xfrm>
            <a:off x="457200" y="1484313"/>
            <a:ext cx="8229600" cy="511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718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710"/>
              <a:buChar char="❖"/>
            </a:pPr>
            <a:r>
              <a:rPr lang="en-US" sz="2800"/>
              <a:t>Lex source is separated into </a:t>
            </a:r>
            <a:r>
              <a:rPr lang="en-US" sz="2800">
                <a:solidFill>
                  <a:srgbClr val="FF0000"/>
                </a:solidFill>
              </a:rPr>
              <a:t>three sections</a:t>
            </a:r>
            <a:r>
              <a:rPr lang="en-US" sz="2800"/>
              <a:t> by </a:t>
            </a:r>
            <a:r>
              <a:rPr lang="en-US" sz="2800">
                <a:solidFill>
                  <a:srgbClr val="FF6600"/>
                </a:solidFill>
              </a:rPr>
              <a:t>%%</a:t>
            </a:r>
            <a:r>
              <a:rPr lang="en-US" sz="2800"/>
              <a:t> delimiters</a:t>
            </a:r>
            <a:endParaRPr/>
          </a:p>
          <a:p>
            <a:pPr marL="457200" lvl="0" indent="-33718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710"/>
              <a:buChar char="❖"/>
            </a:pPr>
            <a:r>
              <a:rPr lang="en-US" sz="2800"/>
              <a:t>The general format of Lex source is</a:t>
            </a:r>
            <a:endParaRPr/>
          </a:p>
          <a:p>
            <a:pPr marL="457200" lvl="0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718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710"/>
              <a:buChar char="❖"/>
            </a:pPr>
            <a:r>
              <a:rPr lang="en-US" sz="2800"/>
              <a:t>The absolute minimum Lex program is thus</a:t>
            </a:r>
            <a:endParaRPr/>
          </a:p>
          <a:p>
            <a:pPr marL="457200" lvl="0" indent="-33718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nstantia"/>
              <a:buNone/>
            </a:pPr>
            <a:r>
              <a:rPr lang="en-US" sz="2800"/>
              <a:t>	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827088" y="2781300"/>
            <a:ext cx="7056437" cy="26638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18800" rIns="91425" bIns="118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3275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{definitions}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%%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{transition rules}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%%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{user subroutines}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827088" y="6092825"/>
            <a:ext cx="7058025" cy="504825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Lex vs Yacc</a:t>
            </a:r>
            <a:endParaRPr/>
          </a:p>
        </p:txBody>
      </p:sp>
      <p:sp>
        <p:nvSpPr>
          <p:cNvPr id="251" name="Google Shape;251;p10"/>
          <p:cNvSpPr txBox="1">
            <a:spLocks noGrp="1"/>
          </p:cNvSpPr>
          <p:nvPr>
            <p:ph type="body" idx="1"/>
          </p:nvPr>
        </p:nvSpPr>
        <p:spPr>
          <a:xfrm>
            <a:off x="457200" y="1935162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718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710"/>
              <a:buChar char="❖"/>
            </a:pPr>
            <a:r>
              <a:rPr lang="en-US" sz="2800"/>
              <a:t>Lex</a:t>
            </a:r>
            <a:endParaRPr/>
          </a:p>
          <a:p>
            <a:pPr marL="914400" lvl="1" indent="-32575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530"/>
              <a:buFont typeface="Noto Sans Symbols"/>
              <a:buChar char="❑"/>
            </a:pPr>
            <a:r>
              <a:rPr lang="en-US" sz="2400"/>
              <a:t>Lex generates C code for a lexical analyzer, or </a:t>
            </a:r>
            <a:r>
              <a:rPr lang="en-US" sz="2400">
                <a:solidFill>
                  <a:srgbClr val="FF6600"/>
                </a:solidFill>
              </a:rPr>
              <a:t>scanner</a:t>
            </a:r>
            <a:endParaRPr/>
          </a:p>
          <a:p>
            <a:pPr marL="914400" lvl="1" indent="-32575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530"/>
              <a:buFont typeface="Noto Sans Symbols"/>
              <a:buChar char="❑"/>
            </a:pPr>
            <a:r>
              <a:rPr lang="en-US" sz="2400"/>
              <a:t>Lex uses patterns that match strings in the input and converts the strings to tokens</a:t>
            </a:r>
            <a:endParaRPr/>
          </a:p>
          <a:p>
            <a:pPr marL="457200" lvl="0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Noto Sans Symbols"/>
              <a:buNone/>
            </a:pPr>
            <a:endParaRPr sz="2800"/>
          </a:p>
          <a:p>
            <a:pPr marL="457200" lvl="0" indent="-33718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710"/>
              <a:buChar char="❖"/>
            </a:pPr>
            <a:r>
              <a:rPr lang="en-US" sz="2800"/>
              <a:t>Yacc</a:t>
            </a:r>
            <a:endParaRPr sz="2800"/>
          </a:p>
          <a:p>
            <a:pPr marL="914400" lvl="1" indent="-32575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530"/>
              <a:buFont typeface="Noto Sans Symbols"/>
              <a:buChar char="❑"/>
            </a:pPr>
            <a:r>
              <a:rPr lang="en-US" sz="2400"/>
              <a:t>Yacc generates C code for syntax analyzer, or </a:t>
            </a:r>
            <a:r>
              <a:rPr lang="en-US" sz="2400">
                <a:solidFill>
                  <a:srgbClr val="FF6600"/>
                </a:solidFill>
              </a:rPr>
              <a:t>parser</a:t>
            </a:r>
            <a:r>
              <a:rPr lang="en-US" sz="2400"/>
              <a:t>.</a:t>
            </a:r>
            <a:endParaRPr/>
          </a:p>
          <a:p>
            <a:pPr marL="914400" lvl="1" indent="-325755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530"/>
              <a:buFont typeface="Noto Sans Symbols"/>
              <a:buChar char="❑"/>
            </a:pPr>
            <a:r>
              <a:rPr lang="en-US" sz="2400"/>
              <a:t>Yacc uses grammar rules that allow it to analyze tokens from Lex and create a syntax tree.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"/>
          <p:cNvSpPr txBox="1">
            <a:spLocks noGrp="1"/>
          </p:cNvSpPr>
          <p:nvPr>
            <p:ph type="body" idx="1"/>
          </p:nvPr>
        </p:nvSpPr>
        <p:spPr>
          <a:xfrm>
            <a:off x="381000" y="76200"/>
            <a:ext cx="4800600" cy="6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%{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int c=0,w=0,l=0,s=0;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%}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 %%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[\n] l++;s++;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[\t ''] s++;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[^ '' \t \n]+ w++;c+=yyleng;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%%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int main(int argc,char *argv[])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{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        if(argc==2)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{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yyin=fopen(argv[1],"r");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yylex();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printf("\nNumber of spaces = %d",s);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printf("\nNumber of characters = %d",c);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printf("\nNumber of lines = %d",l);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printf("\nNumber of words = %d\n",w);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}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else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printf("ERROR");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 b="1"/>
              <a:t>}</a:t>
            </a:r>
            <a:endParaRPr/>
          </a:p>
        </p:txBody>
      </p:sp>
      <p:sp>
        <p:nvSpPr>
          <p:cNvPr id="257" name="Google Shape;257;p11"/>
          <p:cNvSpPr txBox="1"/>
          <p:nvPr/>
        </p:nvSpPr>
        <p:spPr>
          <a:xfrm>
            <a:off x="5638800" y="381000"/>
            <a:ext cx="3048000" cy="5821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marR="0" lvl="0" indent="-1263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abc.txt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hai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hello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are you?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: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lex l1.l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cc lex.yy.c -ll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./a.out abc.txt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 of spaces =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 of characters = 18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 of lines =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 of words =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85420" algn="l" rtl="0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"/>
          <p:cNvSpPr txBox="1">
            <a:spLocks noGrp="1"/>
          </p:cNvSpPr>
          <p:nvPr>
            <p:ph type="body" idx="1"/>
          </p:nvPr>
        </p:nvSpPr>
        <p:spPr>
          <a:xfrm>
            <a:off x="381000" y="76200"/>
            <a:ext cx="5029200" cy="6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1800" b="1"/>
              <a:t>%{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1800" b="1"/>
              <a:t>#include&lt;stdio.h&gt;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1800" b="1"/>
              <a:t>%}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1800" b="1"/>
              <a:t>letter [a-zA-Z]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1800" b="1"/>
              <a:t>digit[0-9]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1800" b="1"/>
              <a:t>operators [+*/=%&amp;|&lt;&gt;-]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1800" b="1"/>
              <a:t>specialcharacters [();{}"]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1800" b="1"/>
              <a:t>%%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1800" b="1"/>
              <a:t>(#include&lt;stdio.h&gt;|void|main|int|float|char|printf|while|do|for|if|else|double|break|continue|scanf|switch|case)+ {printf(" Keyword ");}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1800" b="1"/>
              <a:t>{letter}({letter}|{digit})* {printf(" Variable ");}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1800" b="1"/>
              <a:t>{digit}+ {printf(" Number ");}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1800" b="1"/>
              <a:t>{operators}+ {printf(" Operator ");}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1800" b="1"/>
              <a:t>{specialcharacters}+ {printf(" Specialcharacter ");}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1800" b="1"/>
              <a:t>%%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1800" b="1"/>
              <a:t>int main(int argc,char *argv[])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1800" b="1"/>
              <a:t>{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1800" b="1"/>
              <a:t>      yyin = fopen(argv[1],"r");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1800" b="1"/>
              <a:t>      yylex();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1800" b="1"/>
              <a:t>}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endParaRPr sz="2000" b="1"/>
          </a:p>
        </p:txBody>
      </p:sp>
      <p:sp>
        <p:nvSpPr>
          <p:cNvPr id="263" name="Google Shape;263;p12"/>
          <p:cNvSpPr txBox="1"/>
          <p:nvPr/>
        </p:nvSpPr>
        <p:spPr>
          <a:xfrm>
            <a:off x="5638800" y="381000"/>
            <a:ext cx="3048000" cy="5821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342900" marR="0" lvl="0" indent="-168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abc.c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#include&lt;stdio.h&gt;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void main()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a=b+3;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printf("Hello world");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: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 lex l2.l 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 cc lex.yy.c -ll 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 ./a.out abc.c 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Keyword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Keyword   Keyword  Special character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Special character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Variable  Operator  Variable  Operator  Number  Special character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Keyword  Special character  Variable   Variable  Special character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87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"/>
          <p:cNvSpPr txBox="1">
            <a:spLocks noGrp="1"/>
          </p:cNvSpPr>
          <p:nvPr>
            <p:ph type="title"/>
          </p:nvPr>
        </p:nvSpPr>
        <p:spPr>
          <a:xfrm>
            <a:off x="477416" y="792162"/>
            <a:ext cx="8229600" cy="27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YACC-Parser Generator</a:t>
            </a:r>
            <a:endParaRPr/>
          </a:p>
        </p:txBody>
      </p:sp>
      <p:sp>
        <p:nvSpPr>
          <p:cNvPr id="269" name="Google Shape;269;p13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25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Noto Sans Symbols"/>
              <a:buChar char="❖"/>
            </a:pPr>
            <a:r>
              <a:rPr lang="en-US" sz="2400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A parser generator is a program that takes as input a specification of a syntax, and produces as output a procedure for recognizing that language.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Noto Sans Symbols"/>
              <a:buChar char="❖"/>
            </a:pPr>
            <a:r>
              <a:rPr lang="en-US" sz="2400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Historically, they are also called compiler-compilers.</a:t>
            </a:r>
            <a:br>
              <a:rPr lang="en-US" sz="2400"/>
            </a:br>
            <a:r>
              <a:rPr lang="en-US" sz="2400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YACC (yet another compiler-compiler) is an </a:t>
            </a:r>
            <a:r>
              <a:rPr lang="en-US" sz="2400" b="0" i="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LALR(1)</a:t>
            </a:r>
            <a:r>
              <a:rPr lang="en-US" sz="2400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(LookAhead, Left-to-right, Rightmost derivation producer with 1 lookahead token) parser generator.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Noto Sans Symbols"/>
              <a:buChar char="❖"/>
            </a:pPr>
            <a:r>
              <a:rPr lang="en-US" sz="2400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YACC was originally designed for being complemented by Lex.</a:t>
            </a:r>
            <a:endParaRPr sz="2400"/>
          </a:p>
        </p:txBody>
      </p:sp>
      <p:sp>
        <p:nvSpPr>
          <p:cNvPr id="270" name="Google Shape;270;p13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71" name="Google Shape;27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19400" y="4178559"/>
            <a:ext cx="5638800" cy="2161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YACC- Parser Generator</a:t>
            </a:r>
            <a:endParaRPr/>
          </a:p>
        </p:txBody>
      </p:sp>
      <p:sp>
        <p:nvSpPr>
          <p:cNvPr id="277" name="Google Shape;277;p14"/>
          <p:cNvSpPr txBox="1">
            <a:spLocks noGrp="1"/>
          </p:cNvSpPr>
          <p:nvPr>
            <p:ph type="body" idx="1"/>
          </p:nvPr>
        </p:nvSpPr>
        <p:spPr>
          <a:xfrm>
            <a:off x="457200" y="1935162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0015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endParaRPr/>
          </a:p>
        </p:txBody>
      </p:sp>
      <p:sp>
        <p:nvSpPr>
          <p:cNvPr id="278" name="Google Shape;278;p14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79" name="Google Shape;27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1935162"/>
            <a:ext cx="7086600" cy="4071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"/>
          <p:cNvSpPr txBox="1">
            <a:spLocks noGrp="1"/>
          </p:cNvSpPr>
          <p:nvPr>
            <p:ph type="title"/>
          </p:nvPr>
        </p:nvSpPr>
        <p:spPr>
          <a:xfrm>
            <a:off x="685800" y="40481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Lex with Yacc</a:t>
            </a:r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2338388" y="2852738"/>
            <a:ext cx="1371600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5003800" y="2852738"/>
            <a:ext cx="1371600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Yacc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2338388" y="4605338"/>
            <a:ext cx="1371600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yylex()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5003800" y="4605338"/>
            <a:ext cx="1371600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yyparse()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p15"/>
          <p:cNvCxnSpPr/>
          <p:nvPr/>
        </p:nvCxnSpPr>
        <p:spPr>
          <a:xfrm>
            <a:off x="3024188" y="2395538"/>
            <a:ext cx="0" cy="4572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0" name="Google Shape;290;p15"/>
          <p:cNvCxnSpPr/>
          <p:nvPr/>
        </p:nvCxnSpPr>
        <p:spPr>
          <a:xfrm>
            <a:off x="3024188" y="3767138"/>
            <a:ext cx="0" cy="4572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1" name="Google Shape;291;p15"/>
          <p:cNvCxnSpPr/>
          <p:nvPr/>
        </p:nvCxnSpPr>
        <p:spPr>
          <a:xfrm>
            <a:off x="5689600" y="2395538"/>
            <a:ext cx="0" cy="4572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2" name="Google Shape;292;p15"/>
          <p:cNvCxnSpPr/>
          <p:nvPr/>
        </p:nvCxnSpPr>
        <p:spPr>
          <a:xfrm>
            <a:off x="5689600" y="3767138"/>
            <a:ext cx="0" cy="4572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93" name="Google Shape;293;p15"/>
          <p:cNvSpPr txBox="1"/>
          <p:nvPr/>
        </p:nvSpPr>
        <p:spPr>
          <a:xfrm>
            <a:off x="1763713" y="1628775"/>
            <a:ext cx="243046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Lex source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(Lexical Rules)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4427538" y="1628775"/>
            <a:ext cx="23007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Yacc source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(Grammar Rules)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" name="Google Shape;295;p15"/>
          <p:cNvCxnSpPr/>
          <p:nvPr/>
        </p:nvCxnSpPr>
        <p:spPr>
          <a:xfrm>
            <a:off x="1652588" y="5062538"/>
            <a:ext cx="685800" cy="0"/>
          </a:xfrm>
          <a:prstGeom prst="straightConnector1">
            <a:avLst/>
          </a:prstGeom>
          <a:noFill/>
          <a:ln w="57150" cap="flat" cmpd="sng">
            <a:solidFill>
              <a:srgbClr val="FFCC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6" name="Google Shape;296;p15"/>
          <p:cNvCxnSpPr/>
          <p:nvPr/>
        </p:nvCxnSpPr>
        <p:spPr>
          <a:xfrm>
            <a:off x="3706813" y="5084763"/>
            <a:ext cx="1296987" cy="0"/>
          </a:xfrm>
          <a:prstGeom prst="straightConnector1">
            <a:avLst/>
          </a:prstGeom>
          <a:noFill/>
          <a:ln w="57150" cap="flat" cmpd="sng">
            <a:solidFill>
              <a:srgbClr val="FFCC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7" name="Google Shape;297;p15"/>
          <p:cNvCxnSpPr/>
          <p:nvPr/>
        </p:nvCxnSpPr>
        <p:spPr>
          <a:xfrm>
            <a:off x="6375400" y="5062538"/>
            <a:ext cx="685800" cy="0"/>
          </a:xfrm>
          <a:prstGeom prst="straightConnector1">
            <a:avLst/>
          </a:prstGeom>
          <a:noFill/>
          <a:ln w="57150" cap="flat" cmpd="sng">
            <a:solidFill>
              <a:srgbClr val="FFCC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98" name="Google Shape;298;p15"/>
          <p:cNvSpPr txBox="1"/>
          <p:nvPr/>
        </p:nvSpPr>
        <p:spPr>
          <a:xfrm>
            <a:off x="814388" y="4832350"/>
            <a:ext cx="8620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5"/>
          <p:cNvSpPr txBox="1"/>
          <p:nvPr/>
        </p:nvSpPr>
        <p:spPr>
          <a:xfrm>
            <a:off x="7164388" y="4652963"/>
            <a:ext cx="102239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Parsed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5"/>
          <p:cNvSpPr txBox="1"/>
          <p:nvPr/>
        </p:nvSpPr>
        <p:spPr>
          <a:xfrm>
            <a:off x="2338388" y="4071938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lex.yy.c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5"/>
          <p:cNvSpPr txBox="1"/>
          <p:nvPr/>
        </p:nvSpPr>
        <p:spPr>
          <a:xfrm>
            <a:off x="5003800" y="4071938"/>
            <a:ext cx="1387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y.tab.c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5"/>
          <p:cNvSpPr txBox="1"/>
          <p:nvPr/>
        </p:nvSpPr>
        <p:spPr>
          <a:xfrm>
            <a:off x="3490913" y="5661025"/>
            <a:ext cx="18113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 token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15"/>
          <p:cNvCxnSpPr/>
          <p:nvPr/>
        </p:nvCxnSpPr>
        <p:spPr>
          <a:xfrm rot="10800000">
            <a:off x="3779838" y="4795838"/>
            <a:ext cx="1223962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4" name="Google Shape;304;p15"/>
          <p:cNvSpPr txBox="1"/>
          <p:nvPr/>
        </p:nvSpPr>
        <p:spPr>
          <a:xfrm>
            <a:off x="4138613" y="4292600"/>
            <a:ext cx="6004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"/>
          <p:cNvSpPr txBox="1">
            <a:spLocks noGrp="1"/>
          </p:cNvSpPr>
          <p:nvPr>
            <p:ph type="title"/>
          </p:nvPr>
        </p:nvSpPr>
        <p:spPr>
          <a:xfrm>
            <a:off x="783981" y="260350"/>
            <a:ext cx="7772400" cy="654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8888"/>
              <a:buNone/>
            </a:pPr>
            <a:r>
              <a:rPr lang="en-US" sz="4000"/>
              <a:t>Design of a parser generator.</a:t>
            </a:r>
            <a:endParaRPr sz="4000" b="1"/>
          </a:p>
        </p:txBody>
      </p:sp>
      <p:sp>
        <p:nvSpPr>
          <p:cNvPr id="310" name="Google Shape;310;p16"/>
          <p:cNvSpPr/>
          <p:nvPr/>
        </p:nvSpPr>
        <p:spPr>
          <a:xfrm>
            <a:off x="1392116" y="5772151"/>
            <a:ext cx="954107" cy="794802"/>
          </a:xfrm>
          <a:prstGeom prst="flowChartMagneticDisk">
            <a:avLst/>
          </a:prstGeom>
          <a:solidFill>
            <a:srgbClr val="FFFFCC"/>
          </a:solidFill>
          <a:ln w="9525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a.out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6"/>
          <p:cNvSpPr txBox="1"/>
          <p:nvPr/>
        </p:nvSpPr>
        <p:spPr>
          <a:xfrm>
            <a:off x="3575538" y="1557339"/>
            <a:ext cx="260840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containing desired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grammar in yacc format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6"/>
          <p:cNvSpPr txBox="1"/>
          <p:nvPr/>
        </p:nvSpPr>
        <p:spPr>
          <a:xfrm>
            <a:off x="3575539" y="2640013"/>
            <a:ext cx="15824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yacc program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6"/>
          <p:cNvSpPr txBox="1"/>
          <p:nvPr/>
        </p:nvSpPr>
        <p:spPr>
          <a:xfrm>
            <a:off x="3575538" y="3649663"/>
            <a:ext cx="37112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source program created by yacc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6"/>
          <p:cNvSpPr txBox="1"/>
          <p:nvPr/>
        </p:nvSpPr>
        <p:spPr>
          <a:xfrm>
            <a:off x="3575539" y="4752975"/>
            <a:ext cx="12875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compiler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6"/>
          <p:cNvSpPr txBox="1"/>
          <p:nvPr/>
        </p:nvSpPr>
        <p:spPr>
          <a:xfrm>
            <a:off x="3575539" y="5683251"/>
            <a:ext cx="372409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Executable program that will parse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grammar given in gram.y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1740878" y="2163763"/>
            <a:ext cx="184638" cy="546100"/>
          </a:xfrm>
          <a:prstGeom prst="downArrow">
            <a:avLst>
              <a:gd name="adj1" fmla="val 50000"/>
              <a:gd name="adj2" fmla="val 68254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1740878" y="2982913"/>
            <a:ext cx="184638" cy="546100"/>
          </a:xfrm>
          <a:prstGeom prst="downArrow">
            <a:avLst>
              <a:gd name="adj1" fmla="val 50000"/>
              <a:gd name="adj2" fmla="val 68254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1740878" y="4092575"/>
            <a:ext cx="184638" cy="546100"/>
          </a:xfrm>
          <a:prstGeom prst="downArrow">
            <a:avLst>
              <a:gd name="adj1" fmla="val 50000"/>
              <a:gd name="adj2" fmla="val 68254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1740878" y="5205413"/>
            <a:ext cx="184638" cy="546100"/>
          </a:xfrm>
          <a:prstGeom prst="downArrow">
            <a:avLst>
              <a:gd name="adj1" fmla="val 50000"/>
              <a:gd name="adj2" fmla="val 68254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1321778" y="1625600"/>
            <a:ext cx="1107997" cy="794802"/>
          </a:xfrm>
          <a:prstGeom prst="flowChartMagneticDisk">
            <a:avLst/>
          </a:prstGeom>
          <a:solidFill>
            <a:srgbClr val="FFFFCC"/>
          </a:solidFill>
          <a:ln w="9525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gram.y</a:t>
            </a:r>
            <a:endParaRPr sz="20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1371601" y="2728913"/>
            <a:ext cx="1063347" cy="400110"/>
          </a:xfrm>
          <a:prstGeom prst="flowChartPredefinedProcess">
            <a:avLst/>
          </a:prstGeom>
          <a:solidFill>
            <a:srgbClr val="FFFF99"/>
          </a:solidFill>
          <a:ln w="9525" cap="flat" cmpd="sng">
            <a:solidFill>
              <a:srgbClr val="9933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yacc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1251439" y="3560763"/>
            <a:ext cx="1261885" cy="794802"/>
          </a:xfrm>
          <a:prstGeom prst="flowChartMagneticDisk">
            <a:avLst/>
          </a:prstGeom>
          <a:solidFill>
            <a:srgbClr val="FFFFCC"/>
          </a:solidFill>
          <a:ln w="9525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y.tab.c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1244112" y="4664075"/>
            <a:ext cx="1344522" cy="677108"/>
          </a:xfrm>
          <a:prstGeom prst="flowChartPredefinedProcess">
            <a:avLst/>
          </a:prstGeom>
          <a:solidFill>
            <a:srgbClr val="FFFF99"/>
          </a:solidFill>
          <a:ln w="9525" cap="flat" cmpd="sng">
            <a:solidFill>
              <a:srgbClr val="9933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or gcc</a:t>
            </a:r>
            <a:endParaRPr sz="20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"/>
          <p:cNvSpPr/>
          <p:nvPr/>
        </p:nvSpPr>
        <p:spPr>
          <a:xfrm>
            <a:off x="3505200" y="1295400"/>
            <a:ext cx="2438400" cy="11430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yacc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" name="Google Shape;329;p17"/>
          <p:cNvCxnSpPr/>
          <p:nvPr/>
        </p:nvCxnSpPr>
        <p:spPr>
          <a:xfrm>
            <a:off x="2743200" y="1828800"/>
            <a:ext cx="7620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0" name="Google Shape;330;p17"/>
          <p:cNvCxnSpPr/>
          <p:nvPr/>
        </p:nvCxnSpPr>
        <p:spPr>
          <a:xfrm>
            <a:off x="5943600" y="1447800"/>
            <a:ext cx="7620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1" name="Google Shape;331;p17"/>
          <p:cNvCxnSpPr/>
          <p:nvPr/>
        </p:nvCxnSpPr>
        <p:spPr>
          <a:xfrm>
            <a:off x="5943600" y="1828800"/>
            <a:ext cx="7620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2" name="Google Shape;332;p17"/>
          <p:cNvCxnSpPr/>
          <p:nvPr/>
        </p:nvCxnSpPr>
        <p:spPr>
          <a:xfrm>
            <a:off x="5943600" y="2209800"/>
            <a:ext cx="7620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3" name="Google Shape;333;p17"/>
          <p:cNvSpPr txBox="1"/>
          <p:nvPr/>
        </p:nvSpPr>
        <p:spPr>
          <a:xfrm>
            <a:off x="2590800" y="304800"/>
            <a:ext cx="373730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YACC 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7"/>
          <p:cNvSpPr txBox="1"/>
          <p:nvPr/>
        </p:nvSpPr>
        <p:spPr>
          <a:xfrm>
            <a:off x="3328988" y="2438400"/>
            <a:ext cx="33858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 Parser generation 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7"/>
          <p:cNvSpPr txBox="1"/>
          <p:nvPr/>
        </p:nvSpPr>
        <p:spPr>
          <a:xfrm>
            <a:off x="496888" y="1600200"/>
            <a:ext cx="255345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YACC source (*.y)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7"/>
          <p:cNvSpPr txBox="1"/>
          <p:nvPr/>
        </p:nvSpPr>
        <p:spPr>
          <a:xfrm>
            <a:off x="7223125" y="1143000"/>
            <a:ext cx="10014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y.tab.h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7"/>
          <p:cNvSpPr txBox="1"/>
          <p:nvPr/>
        </p:nvSpPr>
        <p:spPr>
          <a:xfrm>
            <a:off x="7200900" y="1524000"/>
            <a:ext cx="98379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y.tab.c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3352800" y="3124200"/>
            <a:ext cx="2438400" cy="11430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compiler/linker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" name="Google Shape;339;p17"/>
          <p:cNvCxnSpPr/>
          <p:nvPr/>
        </p:nvCxnSpPr>
        <p:spPr>
          <a:xfrm>
            <a:off x="2590800" y="3657600"/>
            <a:ext cx="7620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0" name="Google Shape;340;p17"/>
          <p:cNvCxnSpPr/>
          <p:nvPr/>
        </p:nvCxnSpPr>
        <p:spPr>
          <a:xfrm>
            <a:off x="5791200" y="3657600"/>
            <a:ext cx="7620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1" name="Google Shape;341;p17"/>
          <p:cNvSpPr txBox="1"/>
          <p:nvPr/>
        </p:nvSpPr>
        <p:spPr>
          <a:xfrm>
            <a:off x="3675063" y="4267200"/>
            <a:ext cx="230063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 Compile 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7"/>
          <p:cNvSpPr txBox="1"/>
          <p:nvPr/>
        </p:nvSpPr>
        <p:spPr>
          <a:xfrm>
            <a:off x="1069975" y="3429000"/>
            <a:ext cx="98379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y.tab.c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7"/>
          <p:cNvSpPr txBox="1"/>
          <p:nvPr/>
        </p:nvSpPr>
        <p:spPr>
          <a:xfrm>
            <a:off x="7146925" y="3352800"/>
            <a:ext cx="79060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a.out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3429000" y="4876800"/>
            <a:ext cx="2438400" cy="11430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a.out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5" name="Google Shape;345;p17"/>
          <p:cNvCxnSpPr/>
          <p:nvPr/>
        </p:nvCxnSpPr>
        <p:spPr>
          <a:xfrm>
            <a:off x="2667000" y="5410200"/>
            <a:ext cx="7620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6" name="Google Shape;346;p17"/>
          <p:cNvCxnSpPr/>
          <p:nvPr/>
        </p:nvCxnSpPr>
        <p:spPr>
          <a:xfrm>
            <a:off x="5867400" y="5410200"/>
            <a:ext cx="7620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7" name="Google Shape;347;p17"/>
          <p:cNvSpPr txBox="1"/>
          <p:nvPr/>
        </p:nvSpPr>
        <p:spPr>
          <a:xfrm>
            <a:off x="3997325" y="6019800"/>
            <a:ext cx="175560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(3) Run 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7"/>
          <p:cNvSpPr txBox="1"/>
          <p:nvPr/>
        </p:nvSpPr>
        <p:spPr>
          <a:xfrm>
            <a:off x="755650" y="5181600"/>
            <a:ext cx="184473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Token stream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7"/>
          <p:cNvSpPr txBox="1"/>
          <p:nvPr/>
        </p:nvSpPr>
        <p:spPr>
          <a:xfrm>
            <a:off x="7029450" y="4740275"/>
            <a:ext cx="1226619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7"/>
          <p:cNvSpPr txBox="1"/>
          <p:nvPr/>
        </p:nvSpPr>
        <p:spPr>
          <a:xfrm>
            <a:off x="7208838" y="1905000"/>
            <a:ext cx="11809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y.output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"/>
          <p:cNvSpPr txBox="1"/>
          <p:nvPr/>
        </p:nvSpPr>
        <p:spPr>
          <a:xfrm>
            <a:off x="2404697" y="273051"/>
            <a:ext cx="450328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Works with Lex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6" name="Google Shape;356;p18"/>
          <p:cNvGraphicFramePr/>
          <p:nvPr/>
        </p:nvGraphicFramePr>
        <p:xfrm>
          <a:off x="983274" y="3284538"/>
          <a:ext cx="1815611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15611" imgH="1485900" progId="Visio.Drawing.11">
                  <p:embed/>
                </p:oleObj>
              </mc:Choice>
              <mc:Fallback>
                <p:oleObj r:id="rId3" imgW="1815611" imgH="1485900" progId="Visio.Drawing.11">
                  <p:embed/>
                  <p:pic>
                    <p:nvPicPr>
                      <p:cNvPr id="356" name="Google Shape;356;p18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983274" y="3284538"/>
                        <a:ext cx="1815611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" name="Google Shape;357;p18"/>
          <p:cNvGraphicFramePr/>
          <p:nvPr/>
        </p:nvGraphicFramePr>
        <p:xfrm>
          <a:off x="6367097" y="3429000"/>
          <a:ext cx="1713034" cy="216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713034" imgH="2160588" progId="Visio.Drawing.11">
                  <p:embed/>
                </p:oleObj>
              </mc:Choice>
              <mc:Fallback>
                <p:oleObj r:id="rId5" imgW="1713034" imgH="2160588" progId="Visio.Drawing.11">
                  <p:embed/>
                  <p:pic>
                    <p:nvPicPr>
                      <p:cNvPr id="357" name="Google Shape;357;p1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6367097" y="3429000"/>
                        <a:ext cx="1713034" cy="216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" name="Google Shape;358;p18"/>
          <p:cNvGraphicFramePr/>
          <p:nvPr/>
        </p:nvGraphicFramePr>
        <p:xfrm>
          <a:off x="3774831" y="1700213"/>
          <a:ext cx="1727689" cy="141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727689" imgH="1414462" progId="Visio.Drawing.11">
                  <p:embed/>
                </p:oleObj>
              </mc:Choice>
              <mc:Fallback>
                <p:oleObj r:id="rId7" imgW="1727689" imgH="1414462" progId="Visio.Drawing.11">
                  <p:embed/>
                  <p:pic>
                    <p:nvPicPr>
                      <p:cNvPr id="358" name="Google Shape;358;p18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3774831" y="1700213"/>
                        <a:ext cx="1727689" cy="141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9" name="Google Shape;359;p18"/>
          <p:cNvSpPr/>
          <p:nvPr/>
        </p:nvSpPr>
        <p:spPr>
          <a:xfrm>
            <a:off x="3508131" y="4005264"/>
            <a:ext cx="2259623" cy="719137"/>
          </a:xfrm>
          <a:prstGeom prst="wedgeRoundRectCallout">
            <a:avLst>
              <a:gd name="adj1" fmla="val -35602"/>
              <a:gd name="adj2" fmla="val 169866"/>
              <a:gd name="adj3" fmla="val 16667"/>
            </a:avLst>
          </a:prstGeom>
          <a:solidFill>
            <a:srgbClr val="FFCC99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work 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Google Shape;360;p18" descr="ANI11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46385" y="5084764"/>
            <a:ext cx="1334966" cy="140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9"/>
          <p:cNvSpPr txBox="1"/>
          <p:nvPr/>
        </p:nvSpPr>
        <p:spPr>
          <a:xfrm>
            <a:off x="2404697" y="273051"/>
            <a:ext cx="450328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Works with Lex</a:t>
            </a:r>
            <a:endParaRPr sz="40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aphicFrame>
        <p:nvGraphicFramePr>
          <p:cNvPr id="366" name="Google Shape;366;p19"/>
          <p:cNvGraphicFramePr/>
          <p:nvPr/>
        </p:nvGraphicFramePr>
        <p:xfrm>
          <a:off x="983274" y="3284538"/>
          <a:ext cx="1815611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15611" imgH="1485900" progId="Visio.Drawing.11">
                  <p:embed/>
                </p:oleObj>
              </mc:Choice>
              <mc:Fallback>
                <p:oleObj r:id="rId3" imgW="1815611" imgH="1485900" progId="Visio.Drawing.11">
                  <p:embed/>
                  <p:pic>
                    <p:nvPicPr>
                      <p:cNvPr id="366" name="Google Shape;366;p19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983274" y="3284538"/>
                        <a:ext cx="1815611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" name="Google Shape;367;p19"/>
          <p:cNvGraphicFramePr/>
          <p:nvPr/>
        </p:nvGraphicFramePr>
        <p:xfrm>
          <a:off x="6367097" y="3429000"/>
          <a:ext cx="1713034" cy="216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713034" imgH="2160588" progId="Visio.Drawing.11">
                  <p:embed/>
                </p:oleObj>
              </mc:Choice>
              <mc:Fallback>
                <p:oleObj r:id="rId5" imgW="1713034" imgH="2160588" progId="Visio.Drawing.11">
                  <p:embed/>
                  <p:pic>
                    <p:nvPicPr>
                      <p:cNvPr id="367" name="Google Shape;367;p1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6367097" y="3429000"/>
                        <a:ext cx="1713034" cy="216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" name="Google Shape;368;p19"/>
          <p:cNvGraphicFramePr/>
          <p:nvPr/>
        </p:nvGraphicFramePr>
        <p:xfrm>
          <a:off x="3774831" y="1700213"/>
          <a:ext cx="1727689" cy="141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727689" imgH="1414462" progId="Visio.Drawing.11">
                  <p:embed/>
                </p:oleObj>
              </mc:Choice>
              <mc:Fallback>
                <p:oleObj r:id="rId7" imgW="1727689" imgH="1414462" progId="Visio.Drawing.11">
                  <p:embed/>
                  <p:pic>
                    <p:nvPicPr>
                      <p:cNvPr id="368" name="Google Shape;368;p19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3774831" y="1700213"/>
                        <a:ext cx="1727689" cy="141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" name="Google Shape;369;p19"/>
          <p:cNvSpPr/>
          <p:nvPr/>
        </p:nvSpPr>
        <p:spPr>
          <a:xfrm>
            <a:off x="1647092" y="1700214"/>
            <a:ext cx="1928446" cy="151288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600" y="6079"/>
                </a:moveTo>
                <a:lnTo>
                  <a:pt x="14968" y="0"/>
                </a:lnTo>
                <a:lnTo>
                  <a:pt x="14968" y="4006"/>
                </a:lnTo>
                <a:lnTo>
                  <a:pt x="12427" y="4006"/>
                </a:lnTo>
                <a:cubicBezTo>
                  <a:pt x="5564" y="4006"/>
                  <a:pt x="0" y="7656"/>
                  <a:pt x="0" y="12158"/>
                </a:cubicBezTo>
                <a:lnTo>
                  <a:pt x="0" y="21600"/>
                </a:lnTo>
                <a:lnTo>
                  <a:pt x="4238" y="21600"/>
                </a:lnTo>
                <a:lnTo>
                  <a:pt x="4238" y="12158"/>
                </a:lnTo>
                <a:cubicBezTo>
                  <a:pt x="4238" y="9946"/>
                  <a:pt x="7904" y="8152"/>
                  <a:pt x="12427" y="8152"/>
                </a:cubicBezTo>
                <a:lnTo>
                  <a:pt x="14968" y="8152"/>
                </a:lnTo>
                <a:lnTo>
                  <a:pt x="14968" y="12158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9"/>
          <p:cNvSpPr txBox="1"/>
          <p:nvPr/>
        </p:nvSpPr>
        <p:spPr>
          <a:xfrm>
            <a:off x="1182566" y="2281238"/>
            <a:ext cx="13385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 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yylex()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9"/>
          <p:cNvSpPr txBox="1"/>
          <p:nvPr/>
        </p:nvSpPr>
        <p:spPr>
          <a:xfrm>
            <a:off x="5635869" y="2060575"/>
            <a:ext cx="1594338" cy="1077218"/>
          </a:xfrm>
          <a:prstGeom prst="rect">
            <a:avLst/>
          </a:prstGeom>
          <a:solidFill>
            <a:srgbClr val="CC99F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[0-9]+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19"/>
          <p:cNvCxnSpPr/>
          <p:nvPr/>
        </p:nvCxnSpPr>
        <p:spPr>
          <a:xfrm>
            <a:off x="5369169" y="3141663"/>
            <a:ext cx="0" cy="1655762"/>
          </a:xfrm>
          <a:prstGeom prst="straightConnector1">
            <a:avLst/>
          </a:prstGeom>
          <a:noFill/>
          <a:ln w="34925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3" name="Google Shape;373;p19"/>
          <p:cNvCxnSpPr/>
          <p:nvPr/>
        </p:nvCxnSpPr>
        <p:spPr>
          <a:xfrm>
            <a:off x="5369169" y="4797425"/>
            <a:ext cx="1330569" cy="0"/>
          </a:xfrm>
          <a:prstGeom prst="straightConnector1">
            <a:avLst/>
          </a:prstGeom>
          <a:noFill/>
          <a:ln w="34925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4" name="Google Shape;374;p19"/>
          <p:cNvCxnSpPr/>
          <p:nvPr/>
        </p:nvCxnSpPr>
        <p:spPr>
          <a:xfrm rot="10800000">
            <a:off x="6699738" y="4508501"/>
            <a:ext cx="0" cy="288925"/>
          </a:xfrm>
          <a:prstGeom prst="straightConnector1">
            <a:avLst/>
          </a:prstGeom>
          <a:noFill/>
          <a:ln w="34925" cap="flat" cmpd="sng">
            <a:solidFill>
              <a:srgbClr val="8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5" name="Google Shape;375;p19"/>
          <p:cNvSpPr/>
          <p:nvPr/>
        </p:nvSpPr>
        <p:spPr>
          <a:xfrm rot="10800000">
            <a:off x="2916116" y="3224214"/>
            <a:ext cx="1921120" cy="158432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600" y="6079"/>
                </a:moveTo>
                <a:lnTo>
                  <a:pt x="12973" y="0"/>
                </a:lnTo>
                <a:lnTo>
                  <a:pt x="12973" y="4072"/>
                </a:lnTo>
                <a:lnTo>
                  <a:pt x="12427" y="4072"/>
                </a:lnTo>
                <a:cubicBezTo>
                  <a:pt x="5564" y="4072"/>
                  <a:pt x="0" y="7692"/>
                  <a:pt x="0" y="12158"/>
                </a:cubicBezTo>
                <a:lnTo>
                  <a:pt x="0" y="21600"/>
                </a:lnTo>
                <a:lnTo>
                  <a:pt x="4103" y="21600"/>
                </a:lnTo>
                <a:lnTo>
                  <a:pt x="4103" y="12158"/>
                </a:lnTo>
                <a:cubicBezTo>
                  <a:pt x="4103" y="9909"/>
                  <a:pt x="7830" y="8086"/>
                  <a:pt x="12427" y="8086"/>
                </a:cubicBezTo>
                <a:lnTo>
                  <a:pt x="12973" y="8086"/>
                </a:lnTo>
                <a:lnTo>
                  <a:pt x="12973" y="12158"/>
                </a:lnTo>
                <a:close/>
              </a:path>
            </a:pathLst>
          </a:custGeom>
          <a:solidFill>
            <a:srgbClr val="CCFFCC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9"/>
          <p:cNvSpPr txBox="1"/>
          <p:nvPr/>
        </p:nvSpPr>
        <p:spPr>
          <a:xfrm>
            <a:off x="2976197" y="4149725"/>
            <a:ext cx="19211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token is </a:t>
            </a:r>
            <a:r>
              <a:rPr lang="en-US"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NUM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9"/>
          <p:cNvSpPr txBox="1"/>
          <p:nvPr/>
        </p:nvSpPr>
        <p:spPr>
          <a:xfrm>
            <a:off x="583223" y="4868864"/>
            <a:ext cx="2791558" cy="1077218"/>
          </a:xfrm>
          <a:prstGeom prst="rect">
            <a:avLst/>
          </a:prstGeom>
          <a:solidFill>
            <a:srgbClr val="CC99F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NUM ‘+’ NUM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"/>
          <p:cNvSpPr txBox="1">
            <a:spLocks noGrp="1"/>
          </p:cNvSpPr>
          <p:nvPr>
            <p:ph type="title"/>
          </p:nvPr>
        </p:nvSpPr>
        <p:spPr>
          <a:xfrm>
            <a:off x="783982" y="260350"/>
            <a:ext cx="790868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YACC File Format</a:t>
            </a:r>
            <a:endParaRPr/>
          </a:p>
        </p:txBody>
      </p:sp>
      <p:sp>
        <p:nvSpPr>
          <p:cNvPr id="383" name="Google Shape;383;p20"/>
          <p:cNvSpPr txBox="1">
            <a:spLocks noGrp="1"/>
          </p:cNvSpPr>
          <p:nvPr>
            <p:ph type="body" idx="1"/>
          </p:nvPr>
        </p:nvSpPr>
        <p:spPr>
          <a:xfrm>
            <a:off x="6858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lvl="0" indent="-609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nstantia"/>
              <a:buNone/>
            </a:pPr>
            <a:r>
              <a:rPr lang="en-US" sz="2800"/>
              <a:t>     </a:t>
            </a:r>
            <a:r>
              <a:rPr lang="en-US" sz="2400"/>
              <a:t>%{</a:t>
            </a:r>
            <a:endParaRPr/>
          </a:p>
          <a:p>
            <a:pPr marL="990600" lvl="1" indent="-5334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Font typeface="Constantia"/>
              <a:buNone/>
            </a:pPr>
            <a:r>
              <a:rPr lang="en-US" sz="2400" b="1" i="1"/>
              <a:t>	</a:t>
            </a:r>
            <a:r>
              <a:rPr lang="en-US" sz="2400" b="1" i="1">
                <a:solidFill>
                  <a:srgbClr val="339933"/>
                </a:solidFill>
              </a:rPr>
              <a:t>C declarations</a:t>
            </a:r>
            <a:endParaRPr/>
          </a:p>
          <a:p>
            <a:pPr marL="990600" lvl="1" indent="-5334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Font typeface="Constantia"/>
              <a:buNone/>
            </a:pPr>
            <a:r>
              <a:rPr lang="en-US" sz="2400"/>
              <a:t>%}</a:t>
            </a:r>
            <a:endParaRPr/>
          </a:p>
          <a:p>
            <a:pPr marL="990600" lvl="1" indent="-5334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Font typeface="Constantia"/>
              <a:buNone/>
            </a:pPr>
            <a:r>
              <a:rPr lang="en-US" sz="2400" i="1"/>
              <a:t>	</a:t>
            </a:r>
            <a:r>
              <a:rPr lang="en-US" sz="2400" b="1" i="1">
                <a:solidFill>
                  <a:srgbClr val="008080"/>
                </a:solidFill>
              </a:rPr>
              <a:t>yacc declarations</a:t>
            </a:r>
            <a:endParaRPr sz="2400" b="1">
              <a:solidFill>
                <a:srgbClr val="008080"/>
              </a:solidFill>
            </a:endParaRPr>
          </a:p>
          <a:p>
            <a:pPr marL="990600" lvl="1" indent="-5334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Font typeface="Constantia"/>
              <a:buNone/>
            </a:pPr>
            <a:r>
              <a:rPr lang="en-US" sz="2400"/>
              <a:t>%%</a:t>
            </a:r>
            <a:endParaRPr/>
          </a:p>
          <a:p>
            <a:pPr marL="990600" lvl="1" indent="-5334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Font typeface="Constantia"/>
              <a:buNone/>
            </a:pPr>
            <a:r>
              <a:rPr lang="en-US" sz="2400" i="1"/>
              <a:t>	</a:t>
            </a:r>
            <a:r>
              <a:rPr lang="en-US" sz="2400" b="1" i="1">
                <a:solidFill>
                  <a:srgbClr val="FF6600"/>
                </a:solidFill>
              </a:rPr>
              <a:t>Grammar rules</a:t>
            </a:r>
            <a:endParaRPr/>
          </a:p>
          <a:p>
            <a:pPr marL="990600" lvl="1" indent="-5334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Font typeface="Constantia"/>
              <a:buNone/>
            </a:pPr>
            <a:r>
              <a:rPr lang="en-US" sz="2400"/>
              <a:t>%%</a:t>
            </a:r>
            <a:endParaRPr/>
          </a:p>
          <a:p>
            <a:pPr marL="990600" lvl="1" indent="-5334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Font typeface="Constantia"/>
              <a:buNone/>
            </a:pPr>
            <a:r>
              <a:rPr lang="en-US" sz="2400" i="1"/>
              <a:t>	</a:t>
            </a:r>
            <a:r>
              <a:rPr lang="en-US" sz="2400" b="1" i="1">
                <a:solidFill>
                  <a:srgbClr val="CC0099"/>
                </a:solidFill>
              </a:rPr>
              <a:t>Additional C code</a:t>
            </a:r>
            <a:endParaRPr sz="2400" b="1">
              <a:solidFill>
                <a:srgbClr val="CC0099"/>
              </a:solidFill>
            </a:endParaRPr>
          </a:p>
          <a:p>
            <a:pPr marL="990600" lvl="1" indent="-5334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Font typeface="Noto Sans Symbols"/>
              <a:buChar char="❖"/>
            </a:pPr>
            <a:r>
              <a:rPr lang="en-US" sz="2400" b="1"/>
              <a:t>Comments enclosed in /* ... */ may appear in any of the sections.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1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784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Definition Section</a:t>
            </a:r>
            <a:endParaRPr/>
          </a:p>
        </p:txBody>
      </p:sp>
      <p:sp>
        <p:nvSpPr>
          <p:cNvPr id="389" name="Google Shape;389;p21"/>
          <p:cNvSpPr txBox="1">
            <a:spLocks noGrp="1"/>
          </p:cNvSpPr>
          <p:nvPr>
            <p:ph type="body" idx="1"/>
          </p:nvPr>
        </p:nvSpPr>
        <p:spPr>
          <a:xfrm>
            <a:off x="457200" y="1935162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%{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#include &lt;stdio.h&gt;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#include &lt;stdlib.h&gt;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%}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lang="en-US" b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token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ID NUM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lang="en-US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expr</a:t>
            </a:r>
            <a:endParaRPr/>
          </a:p>
        </p:txBody>
      </p:sp>
      <p:sp>
        <p:nvSpPr>
          <p:cNvPr id="390" name="Google Shape;390;p21"/>
          <p:cNvSpPr/>
          <p:nvPr/>
        </p:nvSpPr>
        <p:spPr>
          <a:xfrm>
            <a:off x="4110404" y="3602038"/>
            <a:ext cx="3187211" cy="60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2650" y="22500"/>
                </a:moveTo>
                <a:lnTo>
                  <a:pt x="-17377" y="22500"/>
                </a:lnTo>
                <a:lnTo>
                  <a:pt x="-32662" y="107812"/>
                </a:lnTo>
              </a:path>
            </a:pathLst>
          </a:custGeom>
          <a:solidFill>
            <a:srgbClr val="CC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a terminal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2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Start Symbol</a:t>
            </a:r>
            <a:endParaRPr/>
          </a:p>
        </p:txBody>
      </p:sp>
      <p:sp>
        <p:nvSpPr>
          <p:cNvPr id="396" name="Google Shape;396;p22"/>
          <p:cNvSpPr txBox="1">
            <a:spLocks noGrp="1"/>
          </p:cNvSpPr>
          <p:nvPr>
            <p:ph type="body" idx="1"/>
          </p:nvPr>
        </p:nvSpPr>
        <p:spPr>
          <a:xfrm>
            <a:off x="457200" y="1935162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Noto Sans Symbols"/>
              <a:buChar char="❖"/>
            </a:pPr>
            <a:r>
              <a:rPr lang="en-US"/>
              <a:t>The first non-terminal specified in the grammar specification section.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Noto Sans Symbols"/>
              <a:buChar char="❖"/>
            </a:pPr>
            <a:r>
              <a:rPr lang="en-US"/>
              <a:t>To overwrite it with %start declaraction.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nstantia"/>
              <a:buNone/>
            </a:pPr>
            <a:r>
              <a:rPr lang="en-US"/>
              <a:t>   </a:t>
            </a:r>
            <a:r>
              <a:rPr lang="en-US" i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%start  non-terminal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3"/>
          <p:cNvSpPr txBox="1">
            <a:spLocks noGrp="1"/>
          </p:cNvSpPr>
          <p:nvPr>
            <p:ph type="body" idx="1"/>
          </p:nvPr>
        </p:nvSpPr>
        <p:spPr>
          <a:xfrm>
            <a:off x="304800" y="685800"/>
            <a:ext cx="4267200" cy="551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30"/>
              <a:buNone/>
            </a:pPr>
            <a:r>
              <a:rPr lang="en-US" b="1">
                <a:solidFill>
                  <a:srgbClr val="FF0000"/>
                </a:solidFill>
              </a:rPr>
              <a:t>lexx1.l</a:t>
            </a:r>
            <a:endParaRPr>
              <a:solidFill>
                <a:srgbClr val="FF0000"/>
              </a:solidFill>
            </a:endParaRPr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30"/>
              <a:buNone/>
            </a:pPr>
            <a:r>
              <a:rPr lang="en-US" b="1"/>
              <a:t>%{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30"/>
              <a:buNone/>
            </a:pPr>
            <a:r>
              <a:rPr lang="en-US" b="1"/>
              <a:t>#include "y.tab.h"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30"/>
              <a:buNone/>
            </a:pPr>
            <a:r>
              <a:rPr lang="en-US" b="1"/>
              <a:t>extern int yylval;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30"/>
              <a:buNone/>
            </a:pPr>
            <a:r>
              <a:rPr lang="en-US" b="1"/>
              <a:t>%}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30"/>
              <a:buNone/>
            </a:pPr>
            <a:r>
              <a:rPr lang="en-US" b="1"/>
              <a:t> 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30"/>
              <a:buNone/>
            </a:pPr>
            <a:r>
              <a:rPr lang="en-US" b="1"/>
              <a:t>%%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30"/>
              <a:buNone/>
            </a:pPr>
            <a:r>
              <a:rPr lang="en-US" b="1"/>
              <a:t>[0-9]+ {yylval=atoi(yytext);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30"/>
              <a:buNone/>
            </a:pPr>
            <a:r>
              <a:rPr lang="en-US" b="1"/>
              <a:t>printf("Scanned the number %d\n",yylval);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30"/>
              <a:buNone/>
            </a:pPr>
            <a:r>
              <a:rPr lang="en-US" b="1"/>
              <a:t>return NUMBER;}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30"/>
              <a:buNone/>
            </a:pPr>
            <a:r>
              <a:rPr lang="en-US" b="1"/>
              <a:t>[a-zA-Z]+ {printf("Scanned a name\n");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30"/>
              <a:buNone/>
            </a:pPr>
            <a:r>
              <a:rPr lang="en-US" b="1"/>
              <a:t>return NAME;}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30"/>
              <a:buNone/>
            </a:pPr>
            <a:r>
              <a:rPr lang="en-US" b="1"/>
              <a:t>[\t] {printf("Skipped whitespace\n");}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30"/>
              <a:buNone/>
            </a:pPr>
            <a:r>
              <a:rPr lang="en-US" b="1"/>
              <a:t>\n {return 0;}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30"/>
              <a:buNone/>
            </a:pPr>
            <a:r>
              <a:rPr lang="en-US" b="1"/>
              <a:t>{printf("Found other data \"%s\"\n",yytext);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30"/>
              <a:buNone/>
            </a:pPr>
            <a:r>
              <a:rPr lang="en-US" b="1"/>
              <a:t>return yytext[0];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30"/>
              <a:buNone/>
            </a:pPr>
            <a:r>
              <a:rPr lang="en-US" b="1"/>
              <a:t>}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30"/>
              <a:buNone/>
            </a:pPr>
            <a:r>
              <a:rPr lang="en-US" b="1"/>
              <a:t>%% 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30"/>
              <a:buFont typeface="Noto Sans Symbols"/>
              <a:buNone/>
            </a:pPr>
            <a:endParaRPr/>
          </a:p>
        </p:txBody>
      </p:sp>
      <p:sp>
        <p:nvSpPr>
          <p:cNvPr id="402" name="Google Shape;402;p23"/>
          <p:cNvSpPr txBox="1"/>
          <p:nvPr/>
        </p:nvSpPr>
        <p:spPr>
          <a:xfrm>
            <a:off x="4648200" y="381000"/>
            <a:ext cx="4191000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yacc1.y</a:t>
            </a:r>
            <a:endParaRPr sz="3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%{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#include&lt;stdio.h&gt;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%}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%token NAME NUMBER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%%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stmt:S {printf("SUCCESS\n");}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 : '('L')'{}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|NAME{}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|NUMBER{}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;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 : L','S{}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|S{}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;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%%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main(void)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return yyparse();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yyerror(char *msg)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return fprintf(stderr,"YACC:%s\n",msg);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61620" algn="l" rtl="0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4"/>
          <p:cNvSpPr txBox="1">
            <a:spLocks noGrp="1"/>
          </p:cNvSpPr>
          <p:nvPr>
            <p:ph type="body" idx="1"/>
          </p:nvPr>
        </p:nvSpPr>
        <p:spPr>
          <a:xfrm>
            <a:off x="304800" y="685800"/>
            <a:ext cx="4267200" cy="551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1101"/>
              <a:buNone/>
            </a:pPr>
            <a:r>
              <a:rPr lang="en-US" b="1"/>
              <a:t>$ lex lexx1.l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1101"/>
              <a:buNone/>
            </a:pPr>
            <a:r>
              <a:rPr lang="en-US" b="1"/>
              <a:t>$ yacc -d yacc1.y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1101"/>
              <a:buNone/>
            </a:pPr>
            <a:r>
              <a:rPr lang="en-US" b="1"/>
              <a:t>$ cc lex.yy.c y.tab.c -ll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1101"/>
              <a:buNone/>
            </a:pPr>
            <a:r>
              <a:rPr lang="en-US" b="1"/>
              <a:t>$ ./a.out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1101"/>
              <a:buNone/>
            </a:pPr>
            <a:r>
              <a:rPr lang="en-US" b="1">
                <a:solidFill>
                  <a:srgbClr val="FF0000"/>
                </a:solidFill>
              </a:rPr>
              <a:t>(id,(id,1))        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1101"/>
              <a:buNone/>
            </a:pPr>
            <a:r>
              <a:rPr lang="en-US"/>
              <a:t>Found other data "("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1101"/>
              <a:buNone/>
            </a:pPr>
            <a:r>
              <a:rPr lang="en-US"/>
              <a:t>Scanned a name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1101"/>
              <a:buNone/>
            </a:pPr>
            <a:r>
              <a:rPr lang="en-US"/>
              <a:t>Found other data ","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1101"/>
              <a:buNone/>
            </a:pPr>
            <a:r>
              <a:rPr lang="en-US"/>
              <a:t>Found other data "("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1101"/>
              <a:buNone/>
            </a:pPr>
            <a:r>
              <a:rPr lang="en-US"/>
              <a:t>Scanned a name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1101"/>
              <a:buNone/>
            </a:pPr>
            <a:r>
              <a:rPr lang="en-US"/>
              <a:t>Found other data ","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1101"/>
              <a:buNone/>
            </a:pPr>
            <a:r>
              <a:rPr lang="en-US"/>
              <a:t>Scanned the number 1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1101"/>
              <a:buNone/>
            </a:pPr>
            <a:r>
              <a:rPr lang="en-US"/>
              <a:t>Found other data ")"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1101"/>
              <a:buNone/>
            </a:pPr>
            <a:r>
              <a:rPr lang="en-US"/>
              <a:t>Found other data ")"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1101"/>
              <a:buNone/>
            </a:pPr>
            <a:r>
              <a:rPr lang="en-US"/>
              <a:t>SUCCESS 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1101"/>
              <a:buFont typeface="Noto Sans Symbols"/>
              <a:buNone/>
            </a:pPr>
            <a:endParaRPr/>
          </a:p>
        </p:txBody>
      </p:sp>
      <p:sp>
        <p:nvSpPr>
          <p:cNvPr id="408" name="Google Shape;408;p24"/>
          <p:cNvSpPr txBox="1"/>
          <p:nvPr/>
        </p:nvSpPr>
        <p:spPr>
          <a:xfrm>
            <a:off x="4648200" y="381000"/>
            <a:ext cx="4191000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 ./a.out 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(id))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Found other data "("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Scanned a name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Found other data ")"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Found other data ")"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YACC:syntax error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5"/>
          <p:cNvSpPr txBox="1">
            <a:spLocks noGrp="1"/>
          </p:cNvSpPr>
          <p:nvPr>
            <p:ph type="body" idx="1"/>
          </p:nvPr>
        </p:nvSpPr>
        <p:spPr>
          <a:xfrm>
            <a:off x="304800" y="381000"/>
            <a:ext cx="4267200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6875"/>
              <a:buNone/>
            </a:pPr>
            <a:r>
              <a:rPr lang="en-US" sz="4000" b="1">
                <a:solidFill>
                  <a:srgbClr val="FF0000"/>
                </a:solidFill>
              </a:rPr>
              <a:t>lexx2.l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6875"/>
              <a:buNone/>
            </a:pPr>
            <a:endParaRPr sz="4000"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6875"/>
              <a:buNone/>
            </a:pPr>
            <a:r>
              <a:rPr lang="en-US" sz="4000" b="1"/>
              <a:t>%{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6875"/>
              <a:buNone/>
            </a:pPr>
            <a:r>
              <a:rPr lang="en-US" sz="4000" b="1"/>
              <a:t>#include "y.tab.h"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6875"/>
              <a:buNone/>
            </a:pPr>
            <a:r>
              <a:rPr lang="en-US" sz="4000" b="1"/>
              <a:t>extern int yylval;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6875"/>
              <a:buNone/>
            </a:pPr>
            <a:r>
              <a:rPr lang="en-US" sz="4000" b="1"/>
              <a:t>%}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6875"/>
              <a:buNone/>
            </a:pPr>
            <a:r>
              <a:rPr lang="en-US" sz="4000" b="1"/>
              <a:t> 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6875"/>
              <a:buNone/>
            </a:pPr>
            <a:r>
              <a:rPr lang="en-US" sz="4000" b="1"/>
              <a:t>%%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6875"/>
              <a:buNone/>
            </a:pPr>
            <a:r>
              <a:rPr lang="en-US" sz="4000" b="1"/>
              <a:t>[0-9]+ {yylval=atoi(yytext);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6875"/>
              <a:buNone/>
            </a:pPr>
            <a:r>
              <a:rPr lang="en-US" sz="4000" b="1"/>
              <a:t>printf("Scanned the number %d\n",yylval);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6875"/>
              <a:buNone/>
            </a:pPr>
            <a:r>
              <a:rPr lang="en-US" sz="4000" b="1"/>
              <a:t>return NUMBER;}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6875"/>
              <a:buNone/>
            </a:pPr>
            <a:r>
              <a:rPr lang="en-US" sz="4000" b="1"/>
              <a:t>[a-zA-Z]+ {printf("Scanned a name\n");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6875"/>
              <a:buNone/>
            </a:pPr>
            <a:r>
              <a:rPr lang="en-US" sz="4000" b="1"/>
              <a:t>return NAME;}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6875"/>
              <a:buNone/>
            </a:pPr>
            <a:r>
              <a:rPr lang="en-US" sz="4000" b="1"/>
              <a:t>[\t] {printf("Skipped whitespace\n");}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6875"/>
              <a:buNone/>
            </a:pPr>
            <a:r>
              <a:rPr lang="en-US" sz="4000" b="1"/>
              <a:t>\n {return 0;}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6875"/>
              <a:buNone/>
            </a:pPr>
            <a:r>
              <a:rPr lang="en-US" sz="4000" b="1"/>
              <a:t>. {printf("Found other data \"%s\"\n",yytext);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6875"/>
              <a:buNone/>
            </a:pPr>
            <a:r>
              <a:rPr lang="en-US" sz="4000" b="1"/>
              <a:t>return yytext[0];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6875"/>
              <a:buNone/>
            </a:pPr>
            <a:r>
              <a:rPr lang="en-US" sz="4000" b="1"/>
              <a:t>}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6875"/>
              <a:buNone/>
            </a:pPr>
            <a:r>
              <a:rPr lang="en-US" sz="4000" b="1"/>
              <a:t>%%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4423"/>
              <a:buNone/>
            </a:pPr>
            <a:endParaRPr b="1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4423"/>
              <a:buFont typeface="Noto Sans Symbols"/>
              <a:buNone/>
            </a:pPr>
            <a:endParaRPr/>
          </a:p>
        </p:txBody>
      </p:sp>
      <p:sp>
        <p:nvSpPr>
          <p:cNvPr id="414" name="Google Shape;414;p25"/>
          <p:cNvSpPr txBox="1"/>
          <p:nvPr/>
        </p:nvSpPr>
        <p:spPr>
          <a:xfrm>
            <a:off x="4648200" y="76200"/>
            <a:ext cx="4191000" cy="70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yacc2.y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%{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#include&lt;stdio.h&gt;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%}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%token NAME NUMBER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%%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stmt:E {printf("SUCCESS\n");}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: E'+'T{}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|T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;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: T'*'F{}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|F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;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: '('E')'{}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|NAME{}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|NUMBER{}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;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%%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main(void)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return yyparse();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yyerror(char *msg)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return fprintf(stderr,"YACC:%s\n",msg);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5494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6"/>
          <p:cNvSpPr txBox="1">
            <a:spLocks noGrp="1"/>
          </p:cNvSpPr>
          <p:nvPr>
            <p:ph type="body" idx="1"/>
          </p:nvPr>
        </p:nvSpPr>
        <p:spPr>
          <a:xfrm>
            <a:off x="304800" y="685800"/>
            <a:ext cx="4267200" cy="551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rPr lang="en-US" sz="2600" b="1"/>
              <a:t>OUTPUT :</a:t>
            </a:r>
            <a:endParaRPr sz="2600"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rPr lang="en-US" sz="2600" b="1"/>
              <a:t>$ lex lexx2.l </a:t>
            </a:r>
            <a:endParaRPr sz="2600"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rPr lang="en-US" sz="2600" b="1"/>
              <a:t>$ yacc -d yacc2.y </a:t>
            </a:r>
            <a:endParaRPr sz="2600"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rPr lang="en-US" sz="2600" b="1"/>
              <a:t>$ cc lex.yy.c y.tab.c -ll </a:t>
            </a:r>
            <a:endParaRPr sz="2600"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rPr lang="en-US" sz="2600" b="1"/>
              <a:t>$ ./a.out </a:t>
            </a:r>
            <a:endParaRPr sz="2600"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rPr lang="en-US" sz="2600" b="1">
                <a:solidFill>
                  <a:srgbClr val="FF0000"/>
                </a:solidFill>
              </a:rPr>
              <a:t>id*id+id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rPr lang="en-US" sz="2600"/>
              <a:t>Scanned a name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rPr lang="en-US" sz="2600"/>
              <a:t>Found other data "*"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rPr lang="en-US" sz="2600"/>
              <a:t>Scanned a name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rPr lang="en-US" sz="2600"/>
              <a:t>Found other data "+"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rPr lang="en-US" sz="2600"/>
              <a:t>Scanned a name </a:t>
            </a:r>
            <a:endParaRPr/>
          </a:p>
          <a:p>
            <a:pPr marL="457200" lvl="0" indent="-33718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rPr lang="en-US" sz="2600"/>
              <a:t>SUCCESS 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Noto Sans Symbols"/>
              <a:buNone/>
            </a:pPr>
            <a:endParaRPr/>
          </a:p>
        </p:txBody>
      </p:sp>
      <p:sp>
        <p:nvSpPr>
          <p:cNvPr id="420" name="Google Shape;420;p26"/>
          <p:cNvSpPr txBox="1"/>
          <p:nvPr/>
        </p:nvSpPr>
        <p:spPr>
          <a:xfrm>
            <a:off x="4648200" y="381000"/>
            <a:ext cx="4191000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 ./a.out 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id*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Scanned a name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Found other data "*"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YACC:syntax error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7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	</a:t>
            </a:r>
            <a:endParaRPr/>
          </a:p>
        </p:txBody>
      </p:sp>
      <p:sp>
        <p:nvSpPr>
          <p:cNvPr id="426" name="Google Shape;426;p27"/>
          <p:cNvSpPr txBox="1">
            <a:spLocks noGrp="1"/>
          </p:cNvSpPr>
          <p:nvPr>
            <p:ph type="body" idx="1"/>
          </p:nvPr>
        </p:nvSpPr>
        <p:spPr>
          <a:xfrm>
            <a:off x="457200" y="1935162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0015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endParaRPr sz="4000"/>
          </a:p>
          <a:p>
            <a:pPr marL="120015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endParaRPr sz="4000"/>
          </a:p>
          <a:p>
            <a:pPr marL="120015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rPr lang="en-US" sz="4000"/>
              <a:t>              THANK YOU</a:t>
            </a:r>
            <a:endParaRPr/>
          </a:p>
        </p:txBody>
      </p:sp>
      <p:sp>
        <p:nvSpPr>
          <p:cNvPr id="427" name="Google Shape;427;p27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3_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1664</Words>
  <Application>Microsoft Office PowerPoint</Application>
  <PresentationFormat>On-screen Show (4:3)</PresentationFormat>
  <Paragraphs>388</Paragraphs>
  <Slides>27</Slides>
  <Notes>27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2" baseType="lpstr">
      <vt:lpstr>Comic Sans MS</vt:lpstr>
      <vt:lpstr>Arial Black</vt:lpstr>
      <vt:lpstr>Courier New</vt:lpstr>
      <vt:lpstr>Noto Sans Symbols</vt:lpstr>
      <vt:lpstr>Constantia</vt:lpstr>
      <vt:lpstr>Arial</vt:lpstr>
      <vt:lpstr>Calibri</vt:lpstr>
      <vt:lpstr>Times New Roman</vt:lpstr>
      <vt:lpstr>Flow</vt:lpstr>
      <vt:lpstr>1_Flow</vt:lpstr>
      <vt:lpstr>4_Flow</vt:lpstr>
      <vt:lpstr>5_Flow</vt:lpstr>
      <vt:lpstr>2_Flow</vt:lpstr>
      <vt:lpstr>3_Flow</vt:lpstr>
      <vt:lpstr>Visio.Drawing.11</vt:lpstr>
      <vt:lpstr>DEPARTMENT OF COMPUTER SCIENCE AND ENGINEERING PRINCIPLES OF COMPILER DESIGN</vt:lpstr>
      <vt:lpstr>Lexical Analyzer Generator-Lex</vt:lpstr>
      <vt:lpstr>Structure of lex program</vt:lpstr>
      <vt:lpstr>Lex Source to C Program</vt:lpstr>
      <vt:lpstr>Lex Specification</vt:lpstr>
      <vt:lpstr>Lex Specification</vt:lpstr>
      <vt:lpstr>Language for Specifying Lexical Analyzer</vt:lpstr>
      <vt:lpstr>Simple Lex Example</vt:lpstr>
      <vt:lpstr>Lex Source</vt:lpstr>
      <vt:lpstr>Lex vs Yacc</vt:lpstr>
      <vt:lpstr>PowerPoint Presentation</vt:lpstr>
      <vt:lpstr>PowerPoint Presentation</vt:lpstr>
      <vt:lpstr>YACC-Parser Generator</vt:lpstr>
      <vt:lpstr>YACC- Parser Generator</vt:lpstr>
      <vt:lpstr>Lex with Yacc</vt:lpstr>
      <vt:lpstr>Design of a parser generator.</vt:lpstr>
      <vt:lpstr>PowerPoint Presentation</vt:lpstr>
      <vt:lpstr>PowerPoint Presentation</vt:lpstr>
      <vt:lpstr>PowerPoint Presentation</vt:lpstr>
      <vt:lpstr>YACC File Format</vt:lpstr>
      <vt:lpstr>Definition Section</vt:lpstr>
      <vt:lpstr>Start Symbol</vt:lpstr>
      <vt:lpstr>PowerPoint Presentation</vt:lpstr>
      <vt:lpstr>PowerPoint Presentation</vt:lpstr>
      <vt:lpstr>PowerPoint Presentation</vt:lpstr>
      <vt:lpstr>PowerPoint Presentation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Sudha</dc:creator>
  <cp:lastModifiedBy>2515012_ Vidyasree</cp:lastModifiedBy>
  <cp:revision>1</cp:revision>
  <dcterms:created xsi:type="dcterms:W3CDTF">2017-02-07T04:12:55Z</dcterms:created>
  <dcterms:modified xsi:type="dcterms:W3CDTF">2026-03-10T08:49:28Z</dcterms:modified>
</cp:coreProperties>
</file>