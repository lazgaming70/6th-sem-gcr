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1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90" r:id="rId20"/>
    <p:sldId id="291" r:id="rId21"/>
    <p:sldId id="29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314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1" r:id="rId57"/>
    <p:sldId id="312" r:id="rId5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92C14B-95AB-4DA6-BFB4-83A1EB26768C}" v="4" dt="2026-02-16T18:13:19.1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515012_ Vidyasree" userId="2633e80093b3d421" providerId="LiveId" clId="{12EBA23A-46CD-4FA7-9690-46E67EF4679B}"/>
    <pc:docChg chg="delSld modSld">
      <pc:chgData name="2515012_ Vidyasree" userId="2633e80093b3d421" providerId="LiveId" clId="{12EBA23A-46CD-4FA7-9690-46E67EF4679B}" dt="2026-02-16T18:21:05.931" v="42" actId="2696"/>
      <pc:docMkLst>
        <pc:docMk/>
      </pc:docMkLst>
      <pc:sldChg chg="modSp mod">
        <pc:chgData name="2515012_ Vidyasree" userId="2633e80093b3d421" providerId="LiveId" clId="{12EBA23A-46CD-4FA7-9690-46E67EF4679B}" dt="2026-02-16T18:15:30.796" v="41" actId="20577"/>
        <pc:sldMkLst>
          <pc:docMk/>
          <pc:sldMk cId="0" sldId="256"/>
        </pc:sldMkLst>
        <pc:spChg chg="mod">
          <ac:chgData name="2515012_ Vidyasree" userId="2633e80093b3d421" providerId="LiveId" clId="{12EBA23A-46CD-4FA7-9690-46E67EF4679B}" dt="2026-02-16T18:15:30.796" v="4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2515012_ Vidyasree" userId="2633e80093b3d421" providerId="LiveId" clId="{12EBA23A-46CD-4FA7-9690-46E67EF4679B}" dt="2026-02-16T18:15:24.224" v="40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2515012_ Vidyasree" userId="2633e80093b3d421" providerId="LiveId" clId="{12EBA23A-46CD-4FA7-9690-46E67EF4679B}" dt="2026-02-16T17:19:33.697" v="20" actId="1076"/>
        <pc:sldMkLst>
          <pc:docMk/>
          <pc:sldMk cId="0" sldId="288"/>
        </pc:sldMkLst>
        <pc:spChg chg="mod">
          <ac:chgData name="2515012_ Vidyasree" userId="2633e80093b3d421" providerId="LiveId" clId="{12EBA23A-46CD-4FA7-9690-46E67EF4679B}" dt="2026-02-16T17:19:33.697" v="20" actId="1076"/>
          <ac:spMkLst>
            <pc:docMk/>
            <pc:sldMk cId="0" sldId="288"/>
            <ac:spMk id="11" creationId="{00000000-0000-0000-0000-000000000000}"/>
          </ac:spMkLst>
        </pc:spChg>
      </pc:sldChg>
      <pc:sldChg chg="modSp mod">
        <pc:chgData name="2515012_ Vidyasree" userId="2633e80093b3d421" providerId="LiveId" clId="{12EBA23A-46CD-4FA7-9690-46E67EF4679B}" dt="2026-02-16T17:18:07.866" v="16" actId="1076"/>
        <pc:sldMkLst>
          <pc:docMk/>
          <pc:sldMk cId="0" sldId="292"/>
        </pc:sldMkLst>
        <pc:spChg chg="mod">
          <ac:chgData name="2515012_ Vidyasree" userId="2633e80093b3d421" providerId="LiveId" clId="{12EBA23A-46CD-4FA7-9690-46E67EF4679B}" dt="2026-02-16T17:17:36.907" v="12" actId="20577"/>
          <ac:spMkLst>
            <pc:docMk/>
            <pc:sldMk cId="0" sldId="292"/>
            <ac:spMk id="3" creationId="{00000000-0000-0000-0000-000000000000}"/>
          </ac:spMkLst>
        </pc:spChg>
        <pc:spChg chg="mod">
          <ac:chgData name="2515012_ Vidyasree" userId="2633e80093b3d421" providerId="LiveId" clId="{12EBA23A-46CD-4FA7-9690-46E67EF4679B}" dt="2026-02-16T17:17:57.204" v="15" actId="20577"/>
          <ac:spMkLst>
            <pc:docMk/>
            <pc:sldMk cId="0" sldId="292"/>
            <ac:spMk id="4" creationId="{00000000-0000-0000-0000-000000000000}"/>
          </ac:spMkLst>
        </pc:spChg>
        <pc:picChg chg="mod">
          <ac:chgData name="2515012_ Vidyasree" userId="2633e80093b3d421" providerId="LiveId" clId="{12EBA23A-46CD-4FA7-9690-46E67EF4679B}" dt="2026-02-16T17:17:43.099" v="13" actId="1076"/>
          <ac:picMkLst>
            <pc:docMk/>
            <pc:sldMk cId="0" sldId="292"/>
            <ac:picMk id="5" creationId="{1BEB8267-8C77-989E-C7D9-EA28E191036E}"/>
          </ac:picMkLst>
        </pc:picChg>
        <pc:picChg chg="mod">
          <ac:chgData name="2515012_ Vidyasree" userId="2633e80093b3d421" providerId="LiveId" clId="{12EBA23A-46CD-4FA7-9690-46E67EF4679B}" dt="2026-02-16T17:18:07.866" v="16" actId="1076"/>
          <ac:picMkLst>
            <pc:docMk/>
            <pc:sldMk cId="0" sldId="292"/>
            <ac:picMk id="6" creationId="{EC910D8D-1BB9-E6D4-621A-2C8E1AB68345}"/>
          </ac:picMkLst>
        </pc:picChg>
      </pc:sldChg>
      <pc:sldChg chg="del">
        <pc:chgData name="2515012_ Vidyasree" userId="2633e80093b3d421" providerId="LiveId" clId="{12EBA23A-46CD-4FA7-9690-46E67EF4679B}" dt="2026-02-16T18:21:05.931" v="42" actId="2696"/>
        <pc:sldMkLst>
          <pc:docMk/>
          <pc:sldMk cId="0" sldId="310"/>
        </pc:sldMkLst>
      </pc:sldChg>
      <pc:sldChg chg="modSp mod">
        <pc:chgData name="2515012_ Vidyasree" userId="2633e80093b3d421" providerId="LiveId" clId="{12EBA23A-46CD-4FA7-9690-46E67EF4679B}" dt="2026-02-16T17:16:14.118" v="10" actId="20577"/>
        <pc:sldMkLst>
          <pc:docMk/>
          <pc:sldMk cId="3733660768" sldId="313"/>
        </pc:sldMkLst>
        <pc:spChg chg="mod">
          <ac:chgData name="2515012_ Vidyasree" userId="2633e80093b3d421" providerId="LiveId" clId="{12EBA23A-46CD-4FA7-9690-46E67EF4679B}" dt="2026-02-16T17:16:14.118" v="10" actId="20577"/>
          <ac:spMkLst>
            <pc:docMk/>
            <pc:sldMk cId="3733660768" sldId="313"/>
            <ac:spMk id="3" creationId="{36ED8437-829B-4316-13D8-8E7A2E4267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1724" y="1863978"/>
            <a:ext cx="2218690" cy="156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211451" y="1585086"/>
            <a:ext cx="4127500" cy="3879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58951"/>
            <a:ext cx="3444240" cy="5331460"/>
          </a:xfrm>
          <a:custGeom>
            <a:avLst/>
            <a:gdLst/>
            <a:ahLst/>
            <a:cxnLst/>
            <a:rect l="l" t="t" r="r" b="b"/>
            <a:pathLst>
              <a:path w="3444240" h="5331460">
                <a:moveTo>
                  <a:pt x="3444240" y="0"/>
                </a:moveTo>
                <a:lnTo>
                  <a:pt x="0" y="0"/>
                </a:lnTo>
                <a:lnTo>
                  <a:pt x="0" y="5330952"/>
                </a:lnTo>
                <a:lnTo>
                  <a:pt x="3444240" y="5330952"/>
                </a:lnTo>
                <a:lnTo>
                  <a:pt x="3444240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1724" y="2851784"/>
            <a:ext cx="1797685" cy="1054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48429" y="2475103"/>
            <a:ext cx="7158990" cy="267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399" y="1144867"/>
            <a:ext cx="9141460" cy="5334000"/>
          </a:xfrm>
          <a:custGeom>
            <a:avLst/>
            <a:gdLst/>
            <a:ahLst/>
            <a:cxnLst/>
            <a:rect l="l" t="t" r="r" b="b"/>
            <a:pathLst>
              <a:path w="9141460" h="5334000">
                <a:moveTo>
                  <a:pt x="9140952" y="0"/>
                </a:moveTo>
                <a:lnTo>
                  <a:pt x="0" y="0"/>
                </a:lnTo>
                <a:lnTo>
                  <a:pt x="0" y="5334000"/>
                </a:lnTo>
                <a:lnTo>
                  <a:pt x="9140952" y="5334000"/>
                </a:lnTo>
                <a:lnTo>
                  <a:pt x="9140952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0492" y="762000"/>
            <a:ext cx="2921635" cy="5334000"/>
          </a:xfrm>
          <a:custGeom>
            <a:avLst/>
            <a:gdLst/>
            <a:ahLst/>
            <a:cxnLst/>
            <a:rect l="l" t="t" r="r" b="b"/>
            <a:pathLst>
              <a:path w="2921634" h="5334000">
                <a:moveTo>
                  <a:pt x="2921507" y="0"/>
                </a:moveTo>
                <a:lnTo>
                  <a:pt x="0" y="0"/>
                </a:lnTo>
                <a:lnTo>
                  <a:pt x="0" y="5334000"/>
                </a:lnTo>
                <a:lnTo>
                  <a:pt x="2921507" y="5334000"/>
                </a:lnTo>
                <a:lnTo>
                  <a:pt x="292150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95" y="2438400"/>
            <a:ext cx="1496568" cy="14965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70492" y="762000"/>
            <a:ext cx="2921635" cy="5345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2400" spc="-10" dirty="0">
                <a:solidFill>
                  <a:srgbClr val="0097A2"/>
                </a:solidFill>
                <a:latin typeface="Candara"/>
                <a:cs typeface="Candara"/>
              </a:rPr>
              <a:t>Department</a:t>
            </a:r>
            <a:r>
              <a:rPr sz="2400" spc="-8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0097A2"/>
                </a:solidFill>
                <a:latin typeface="Candara"/>
                <a:cs typeface="Candara"/>
              </a:rPr>
              <a:t>of</a:t>
            </a:r>
            <a:r>
              <a:rPr sz="2400" spc="-10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lang="en-IN" sz="2400" spc="-25" dirty="0">
                <a:solidFill>
                  <a:srgbClr val="0097A2"/>
                </a:solidFill>
                <a:latin typeface="Candara"/>
                <a:cs typeface="Candara"/>
              </a:rPr>
              <a:t>IT</a:t>
            </a:r>
            <a:endParaRPr sz="24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400" dirty="0">
              <a:latin typeface="Candara"/>
              <a:cs typeface="Candara"/>
            </a:endParaRPr>
          </a:p>
          <a:p>
            <a:pPr marL="182880" marR="79375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97A2"/>
                </a:solidFill>
                <a:latin typeface="Candara"/>
                <a:cs typeface="Candara"/>
              </a:rPr>
              <a:t>Unit</a:t>
            </a:r>
            <a:r>
              <a:rPr sz="2400" spc="-2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0097A2"/>
                </a:solidFill>
                <a:latin typeface="Candara"/>
                <a:cs typeface="Candara"/>
              </a:rPr>
              <a:t>no</a:t>
            </a:r>
            <a:r>
              <a:rPr sz="2400" spc="-15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0097A2"/>
                </a:solidFill>
                <a:latin typeface="Candara"/>
                <a:cs typeface="Candara"/>
              </a:rPr>
              <a:t>:</a:t>
            </a:r>
            <a:r>
              <a:rPr sz="2400" spc="-3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spc="-50" dirty="0">
                <a:solidFill>
                  <a:srgbClr val="0097A2"/>
                </a:solidFill>
                <a:latin typeface="Candara"/>
                <a:cs typeface="Candara"/>
              </a:rPr>
              <a:t>1 </a:t>
            </a:r>
            <a:r>
              <a:rPr sz="2400" spc="-25" dirty="0">
                <a:solidFill>
                  <a:srgbClr val="0097A2"/>
                </a:solidFill>
                <a:latin typeface="Candara"/>
                <a:cs typeface="Candara"/>
              </a:rPr>
              <a:t>Introduction</a:t>
            </a:r>
            <a:r>
              <a:rPr sz="2400" spc="-55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spc="-25" dirty="0">
                <a:solidFill>
                  <a:srgbClr val="0097A2"/>
                </a:solidFill>
                <a:latin typeface="Candara"/>
                <a:cs typeface="Candara"/>
              </a:rPr>
              <a:t>to </a:t>
            </a:r>
            <a:r>
              <a:rPr sz="2400" spc="-10" dirty="0">
                <a:solidFill>
                  <a:srgbClr val="0097A2"/>
                </a:solidFill>
                <a:latin typeface="Candara"/>
                <a:cs typeface="Candara"/>
              </a:rPr>
              <a:t>Compilers </a:t>
            </a:r>
            <a:r>
              <a:rPr lang="en-IN" sz="2400" spc="-10" dirty="0">
                <a:solidFill>
                  <a:srgbClr val="0097A2"/>
                </a:solidFill>
                <a:latin typeface="Candara"/>
                <a:cs typeface="Candara"/>
              </a:rPr>
              <a:t>&amp;</a:t>
            </a:r>
          </a:p>
          <a:p>
            <a:pPr marL="182880" marR="793750">
              <a:spcBef>
                <a:spcPts val="5"/>
              </a:spcBef>
            </a:pPr>
            <a:r>
              <a:rPr lang="en-IN" sz="2400" spc="-70" dirty="0">
                <a:solidFill>
                  <a:schemeClr val="accent5"/>
                </a:solidFill>
                <a:latin typeface="Cambria"/>
                <a:cs typeface="Cambria"/>
              </a:rPr>
              <a:t>Phases</a:t>
            </a:r>
            <a:r>
              <a:rPr lang="en-IN" sz="2400" spc="-100" dirty="0">
                <a:solidFill>
                  <a:schemeClr val="accent5"/>
                </a:solidFill>
                <a:latin typeface="Cambria"/>
                <a:cs typeface="Cambria"/>
              </a:rPr>
              <a:t> </a:t>
            </a:r>
            <a:r>
              <a:rPr lang="en-IN" sz="2400" spc="-25" dirty="0">
                <a:solidFill>
                  <a:schemeClr val="accent5"/>
                </a:solidFill>
                <a:latin typeface="Cambria"/>
                <a:cs typeface="Cambria"/>
              </a:rPr>
              <a:t>of </a:t>
            </a:r>
            <a:r>
              <a:rPr lang="en-IN" sz="2400" spc="-35" dirty="0">
                <a:solidFill>
                  <a:schemeClr val="accent5"/>
                </a:solidFill>
                <a:latin typeface="Cambria"/>
                <a:cs typeface="Cambria"/>
              </a:rPr>
              <a:t>Compiler</a:t>
            </a:r>
            <a:endParaRPr lang="en-IN" sz="2400" dirty="0">
              <a:solidFill>
                <a:schemeClr val="accent5"/>
              </a:solidFill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Candara"/>
              <a:cs typeface="Candara"/>
            </a:endParaRPr>
          </a:p>
          <a:p>
            <a:pPr marL="372110">
              <a:lnSpc>
                <a:spcPct val="100000"/>
              </a:lnSpc>
            </a:pPr>
            <a:r>
              <a:rPr lang="en-IN" sz="2000" dirty="0">
                <a:solidFill>
                  <a:srgbClr val="0070C0"/>
                </a:solidFill>
                <a:latin typeface="Candara"/>
                <a:cs typeface="Candara"/>
              </a:rPr>
              <a:t>FACULTY:</a:t>
            </a:r>
          </a:p>
          <a:p>
            <a:pPr marL="372110">
              <a:lnSpc>
                <a:spcPct val="100000"/>
              </a:lnSpc>
            </a:pPr>
            <a:r>
              <a:rPr lang="en-IN" sz="2000" dirty="0">
                <a:solidFill>
                  <a:srgbClr val="0070C0"/>
                </a:solidFill>
                <a:latin typeface="Candara"/>
                <a:cs typeface="Candara"/>
              </a:rPr>
              <a:t>MS.</a:t>
            </a:r>
            <a:r>
              <a:rPr lang="en-IN" sz="1800" dirty="0">
                <a:solidFill>
                  <a:srgbClr val="0070C0"/>
                </a:solidFill>
                <a:latin typeface="Candara"/>
                <a:cs typeface="Candara"/>
              </a:rPr>
              <a:t>G.VIDYASREE</a:t>
            </a:r>
          </a:p>
          <a:p>
            <a:pPr marL="372110">
              <a:lnSpc>
                <a:spcPct val="100000"/>
              </a:lnSpc>
            </a:pPr>
            <a:endParaRPr sz="2000" dirty="0">
              <a:latin typeface="Candara"/>
              <a:cs typeface="Candar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36064" y="2296675"/>
            <a:ext cx="5964936" cy="375872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7150" algn="ctr">
              <a:lnSpc>
                <a:spcPct val="100000"/>
              </a:lnSpc>
              <a:spcBef>
                <a:spcPts val="285"/>
              </a:spcBef>
              <a:tabLst>
                <a:tab pos="2454275" algn="l"/>
              </a:tabLst>
            </a:pPr>
            <a:r>
              <a:rPr lang="en-IN" sz="3200" b="1" spc="-65" dirty="0">
                <a:latin typeface="Candara" panose="020E0502030303020204" pitchFamily="34" charset="0"/>
                <a:cs typeface="Corbel"/>
              </a:rPr>
              <a:t>P</a:t>
            </a:r>
            <a:r>
              <a:rPr sz="3200" b="1" spc="-65" dirty="0">
                <a:latin typeface="Candara" panose="020E0502030303020204" pitchFamily="34" charset="0"/>
                <a:cs typeface="Corbel"/>
              </a:rPr>
              <a:t>CD</a:t>
            </a:r>
            <a:r>
              <a:rPr sz="3200" b="1" spc="-195" dirty="0">
                <a:latin typeface="Candara" panose="020E0502030303020204" pitchFamily="34" charset="0"/>
                <a:cs typeface="Corbel"/>
              </a:rPr>
              <a:t> </a:t>
            </a:r>
            <a:r>
              <a:rPr sz="3200" b="1" spc="-10" dirty="0">
                <a:latin typeface="Candara" panose="020E0502030303020204" pitchFamily="34" charset="0"/>
                <a:cs typeface="Corbel"/>
              </a:rPr>
              <a:t>:</a:t>
            </a:r>
            <a:r>
              <a:rPr sz="3200" b="1" spc="-295" dirty="0">
                <a:latin typeface="Candara" panose="020E0502030303020204" pitchFamily="34" charset="0"/>
                <a:cs typeface="Corbel"/>
              </a:rPr>
              <a:t> </a:t>
            </a:r>
            <a:r>
              <a:rPr lang="en-IN" sz="3200" b="1" spc="-295" dirty="0">
                <a:latin typeface="Candara" panose="020E0502030303020204" pitchFamily="34" charset="0"/>
                <a:cs typeface="Corbel"/>
              </a:rPr>
              <a:t>PRINCIPALS   OF</a:t>
            </a:r>
            <a:br>
              <a:rPr lang="en-IN" sz="3200" b="1" spc="-295" dirty="0">
                <a:latin typeface="Candara" panose="020E0502030303020204" pitchFamily="34" charset="0"/>
                <a:cs typeface="Corbel"/>
              </a:rPr>
            </a:br>
            <a:r>
              <a:rPr sz="3200" b="1" spc="-10" dirty="0">
                <a:latin typeface="Candara" panose="020E0502030303020204" pitchFamily="34" charset="0"/>
                <a:cs typeface="Corbel"/>
              </a:rPr>
              <a:t>COMPILER</a:t>
            </a:r>
            <a:r>
              <a:rPr lang="en-IN" sz="3200" b="1" spc="-10" dirty="0">
                <a:latin typeface="Candara" panose="020E0502030303020204" pitchFamily="34" charset="0"/>
                <a:cs typeface="Corbel"/>
              </a:rPr>
              <a:t> </a:t>
            </a:r>
            <a:r>
              <a:rPr sz="3200" b="1" spc="-10" dirty="0">
                <a:latin typeface="Candara" panose="020E0502030303020204" pitchFamily="34" charset="0"/>
                <a:cs typeface="Corbel"/>
              </a:rPr>
              <a:t>DESIGN</a:t>
            </a:r>
            <a:endParaRPr sz="3200" dirty="0">
              <a:latin typeface="Candara" panose="020E0502030303020204" pitchFamily="34" charset="0"/>
              <a:cs typeface="Corbel"/>
            </a:endParaRPr>
          </a:p>
          <a:p>
            <a:pPr marL="12700" marR="5080" algn="ctr">
              <a:lnSpc>
                <a:spcPts val="5190"/>
              </a:lnSpc>
              <a:spcBef>
                <a:spcPts val="985"/>
              </a:spcBef>
            </a:pPr>
            <a:r>
              <a:rPr sz="3200" b="1" spc="-105" dirty="0">
                <a:latin typeface="Candara" panose="020E0502030303020204" pitchFamily="34" charset="0"/>
                <a:cs typeface="Corbel"/>
              </a:rPr>
              <a:t>Introduction</a:t>
            </a:r>
            <a:r>
              <a:rPr sz="3200" b="1" spc="-180" dirty="0">
                <a:latin typeface="Candara" panose="020E0502030303020204" pitchFamily="34" charset="0"/>
                <a:cs typeface="Corbel"/>
              </a:rPr>
              <a:t> </a:t>
            </a:r>
            <a:r>
              <a:rPr sz="3200" b="1" spc="-25" dirty="0">
                <a:latin typeface="Candara" panose="020E0502030303020204" pitchFamily="34" charset="0"/>
                <a:cs typeface="Corbel"/>
              </a:rPr>
              <a:t>to </a:t>
            </a:r>
            <a:r>
              <a:rPr sz="3200" b="1" spc="-10" dirty="0">
                <a:latin typeface="Candara" panose="020E0502030303020204" pitchFamily="34" charset="0"/>
                <a:cs typeface="Corbel"/>
              </a:rPr>
              <a:t>Compilers</a:t>
            </a:r>
            <a:br>
              <a:rPr lang="en-IN" sz="3200" b="1" spc="-10" dirty="0">
                <a:latin typeface="Candara" panose="020E0502030303020204" pitchFamily="34" charset="0"/>
                <a:cs typeface="Corbel"/>
              </a:rPr>
            </a:br>
            <a:r>
              <a:rPr lang="en-IN" sz="3200" b="1" spc="-10" dirty="0">
                <a:latin typeface="Candara" panose="020E0502030303020204" pitchFamily="34" charset="0"/>
                <a:cs typeface="Corbel"/>
              </a:rPr>
              <a:t>&amp;</a:t>
            </a:r>
            <a:br>
              <a:rPr lang="en-IN" sz="3200" b="1" spc="-10" dirty="0">
                <a:latin typeface="Candara" panose="020E0502030303020204" pitchFamily="34" charset="0"/>
                <a:cs typeface="Corbel"/>
              </a:rPr>
            </a:br>
            <a:r>
              <a:rPr lang="en-IN" sz="3200" spc="-70" dirty="0">
                <a:latin typeface="Candara" panose="020E0502030303020204" pitchFamily="34" charset="0"/>
              </a:rPr>
              <a:t>Phases</a:t>
            </a:r>
            <a:r>
              <a:rPr lang="en-IN" sz="3200" spc="-100" dirty="0">
                <a:latin typeface="Candara" panose="020E0502030303020204" pitchFamily="34" charset="0"/>
              </a:rPr>
              <a:t> </a:t>
            </a:r>
            <a:r>
              <a:rPr lang="en-IN" sz="3200" spc="-25" dirty="0">
                <a:latin typeface="Candara" panose="020E0502030303020204" pitchFamily="34" charset="0"/>
              </a:rPr>
              <a:t>of </a:t>
            </a:r>
            <a:r>
              <a:rPr lang="en-IN" sz="3200" spc="-35" dirty="0">
                <a:latin typeface="Candara" panose="020E0502030303020204" pitchFamily="34" charset="0"/>
              </a:rPr>
              <a:t>Compiler</a:t>
            </a:r>
            <a:br>
              <a:rPr lang="en-IN" sz="3200" dirty="0">
                <a:latin typeface="Candara" panose="020E0502030303020204" pitchFamily="34" charset="0"/>
              </a:rPr>
            </a:br>
            <a:endParaRPr sz="3200" dirty="0">
              <a:latin typeface="Candara" panose="020E0502030303020204" pitchFamily="34" charset="0"/>
              <a:cs typeface="Corbel"/>
            </a:endParaRPr>
          </a:p>
        </p:txBody>
      </p:sp>
      <p:pic>
        <p:nvPicPr>
          <p:cNvPr id="9" name="Google Shape;208;p37">
            <a:extLst>
              <a:ext uri="{FF2B5EF4-FFF2-40B4-BE49-F238E27FC236}">
                <a16:creationId xmlns:a16="http://schemas.microsoft.com/office/drawing/2014/main" id="{1EFEF05B-DF33-6FA5-2CCE-37C64A0797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52400"/>
            <a:ext cx="11534139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62000"/>
            <a:ext cx="9141460" cy="5334000"/>
          </a:xfrm>
          <a:custGeom>
            <a:avLst/>
            <a:gdLst/>
            <a:ahLst/>
            <a:cxnLst/>
            <a:rect l="l" t="t" r="r" b="b"/>
            <a:pathLst>
              <a:path w="9141460" h="5334000">
                <a:moveTo>
                  <a:pt x="9140952" y="0"/>
                </a:moveTo>
                <a:lnTo>
                  <a:pt x="0" y="0"/>
                </a:lnTo>
                <a:lnTo>
                  <a:pt x="0" y="5334000"/>
                </a:lnTo>
                <a:lnTo>
                  <a:pt x="9140952" y="5334000"/>
                </a:lnTo>
                <a:lnTo>
                  <a:pt x="9140952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70492" y="762000"/>
            <a:ext cx="2921635" cy="5334000"/>
          </a:xfrm>
          <a:custGeom>
            <a:avLst/>
            <a:gdLst/>
            <a:ahLst/>
            <a:cxnLst/>
            <a:rect l="l" t="t" r="r" b="b"/>
            <a:pathLst>
              <a:path w="2921634" h="5334000">
                <a:moveTo>
                  <a:pt x="2921507" y="0"/>
                </a:moveTo>
                <a:lnTo>
                  <a:pt x="0" y="0"/>
                </a:lnTo>
                <a:lnTo>
                  <a:pt x="0" y="5334000"/>
                </a:lnTo>
                <a:lnTo>
                  <a:pt x="2921507" y="5334000"/>
                </a:lnTo>
                <a:lnTo>
                  <a:pt x="292150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95" y="2438400"/>
            <a:ext cx="1496568" cy="14965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70492" y="762000"/>
            <a:ext cx="2921635" cy="3885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2400" spc="-10" dirty="0">
                <a:solidFill>
                  <a:srgbClr val="0097A2"/>
                </a:solidFill>
                <a:latin typeface="Candara"/>
                <a:cs typeface="Candara"/>
              </a:rPr>
              <a:t>Department</a:t>
            </a:r>
            <a:r>
              <a:rPr sz="2400" spc="-8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0097A2"/>
                </a:solidFill>
                <a:latin typeface="Candara"/>
                <a:cs typeface="Candara"/>
              </a:rPr>
              <a:t>of</a:t>
            </a:r>
            <a:r>
              <a:rPr sz="2400" spc="-10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lang="en-IN" sz="2400" spc="-25" dirty="0">
                <a:solidFill>
                  <a:srgbClr val="0097A2"/>
                </a:solidFill>
                <a:latin typeface="Candara"/>
                <a:cs typeface="Candara"/>
              </a:rPr>
              <a:t>IT</a:t>
            </a:r>
            <a:endParaRPr sz="24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400" dirty="0">
              <a:latin typeface="Candara"/>
              <a:cs typeface="Candara"/>
            </a:endParaRPr>
          </a:p>
          <a:p>
            <a:pPr marL="182880" marR="79375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97A2"/>
                </a:solidFill>
                <a:latin typeface="Candara"/>
                <a:cs typeface="Candara"/>
              </a:rPr>
              <a:t>Unit</a:t>
            </a:r>
            <a:r>
              <a:rPr sz="2400" spc="-2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0097A2"/>
                </a:solidFill>
                <a:latin typeface="Candara"/>
                <a:cs typeface="Candara"/>
              </a:rPr>
              <a:t>no</a:t>
            </a:r>
            <a:r>
              <a:rPr sz="2400" spc="-15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0097A2"/>
                </a:solidFill>
                <a:latin typeface="Candara"/>
                <a:cs typeface="Candara"/>
              </a:rPr>
              <a:t>:</a:t>
            </a:r>
            <a:r>
              <a:rPr sz="2400" spc="-30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spc="-50" dirty="0">
                <a:solidFill>
                  <a:srgbClr val="0097A2"/>
                </a:solidFill>
                <a:latin typeface="Candara"/>
                <a:cs typeface="Candara"/>
              </a:rPr>
              <a:t>1 </a:t>
            </a:r>
            <a:r>
              <a:rPr sz="2400" spc="-25" dirty="0">
                <a:solidFill>
                  <a:srgbClr val="0097A2"/>
                </a:solidFill>
                <a:latin typeface="Candara"/>
                <a:cs typeface="Candara"/>
              </a:rPr>
              <a:t>Introduction</a:t>
            </a:r>
            <a:r>
              <a:rPr sz="2400" spc="-55" dirty="0">
                <a:solidFill>
                  <a:srgbClr val="0097A2"/>
                </a:solidFill>
                <a:latin typeface="Candara"/>
                <a:cs typeface="Candara"/>
              </a:rPr>
              <a:t> </a:t>
            </a:r>
            <a:r>
              <a:rPr sz="2400" spc="-25" dirty="0">
                <a:solidFill>
                  <a:srgbClr val="0097A2"/>
                </a:solidFill>
                <a:latin typeface="Candara"/>
                <a:cs typeface="Candara"/>
              </a:rPr>
              <a:t>to </a:t>
            </a:r>
            <a:r>
              <a:rPr sz="2400" spc="-10" dirty="0">
                <a:solidFill>
                  <a:srgbClr val="0097A2"/>
                </a:solidFill>
                <a:latin typeface="Candara"/>
                <a:cs typeface="Candara"/>
              </a:rPr>
              <a:t>Compilers </a:t>
            </a:r>
            <a:endParaRPr sz="24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2400" dirty="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2400" dirty="0">
              <a:latin typeface="Candara"/>
              <a:cs typeface="Candar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11451" y="1043381"/>
            <a:ext cx="18180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mbria"/>
                <a:cs typeface="Cambria"/>
              </a:rPr>
              <a:t>Outline</a:t>
            </a:r>
            <a:r>
              <a:rPr b="1" spc="-65" dirty="0">
                <a:latin typeface="Cambria"/>
                <a:cs typeface="Cambria"/>
              </a:rPr>
              <a:t> </a:t>
            </a:r>
            <a:r>
              <a:rPr b="1" spc="-50" dirty="0">
                <a:latin typeface="Cambria"/>
                <a:cs typeface="Cambria"/>
              </a:rPr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11451" y="1585086"/>
            <a:ext cx="4127500" cy="38792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Translator</a:t>
            </a:r>
            <a:endParaRPr sz="2400">
              <a:latin typeface="Corbel"/>
              <a:cs typeface="Corbel"/>
            </a:endParaRPr>
          </a:p>
          <a:p>
            <a:pPr marL="12700" marR="5080">
              <a:lnSpc>
                <a:spcPct val="131700"/>
              </a:lnSpc>
            </a:pP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Compiler,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orbel"/>
                <a:cs typeface="Corbel"/>
              </a:rPr>
              <a:t>Interpreter,</a:t>
            </a:r>
            <a:r>
              <a:rPr sz="2400" spc="-9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Assembler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Cousins</a:t>
            </a:r>
            <a:r>
              <a:rPr sz="24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sz="2400" spc="-1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endParaRPr sz="2400">
              <a:latin typeface="Corbel"/>
              <a:cs typeface="Corbel"/>
            </a:endParaRPr>
          </a:p>
          <a:p>
            <a:pPr marL="12700" marR="1662430" algn="just">
              <a:lnSpc>
                <a:spcPct val="131700"/>
              </a:lnSpc>
            </a:pP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Phases</a:t>
            </a:r>
            <a:r>
              <a:rPr sz="2400" spc="-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sz="2400" spc="-10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Compiler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Grouping</a:t>
            </a:r>
            <a:r>
              <a:rPr sz="24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sz="24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Phases </a:t>
            </a:r>
            <a:r>
              <a:rPr sz="2400" spc="-20" dirty="0">
                <a:solidFill>
                  <a:srgbClr val="FFFFFF"/>
                </a:solidFill>
                <a:latin typeface="Corbel"/>
                <a:cs typeface="Corbel"/>
              </a:rPr>
              <a:t>Types</a:t>
            </a:r>
            <a:r>
              <a:rPr sz="24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sz="2400" spc="-1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endParaRPr sz="2400">
              <a:latin typeface="Corbel"/>
              <a:cs typeface="Corbel"/>
            </a:endParaRPr>
          </a:p>
          <a:p>
            <a:pPr marL="12700" marR="625475" algn="just">
              <a:lnSpc>
                <a:spcPct val="131700"/>
              </a:lnSpc>
            </a:pP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r>
              <a:rPr sz="2400" spc="-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construction</a:t>
            </a:r>
            <a:r>
              <a:rPr sz="2400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tools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Pass</a:t>
            </a:r>
            <a:r>
              <a:rPr sz="24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24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Phase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67530" y="208705"/>
            <a:ext cx="7524750" cy="5941060"/>
            <a:chOff x="3867530" y="208705"/>
            <a:chExt cx="7524750" cy="5941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7530" y="2301239"/>
              <a:ext cx="3067050" cy="38481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5476" y="208705"/>
              <a:ext cx="7036325" cy="345829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76773" y="340233"/>
            <a:ext cx="267970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782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Corbel"/>
                <a:cs typeface="Corbel"/>
              </a:rPr>
              <a:t>What</a:t>
            </a:r>
            <a:r>
              <a:rPr sz="4800" b="1" spc="-135" dirty="0">
                <a:latin typeface="Corbel"/>
                <a:cs typeface="Corbel"/>
              </a:rPr>
              <a:t> </a:t>
            </a:r>
            <a:r>
              <a:rPr sz="4800" b="1" spc="-25" dirty="0">
                <a:latin typeface="Corbel"/>
                <a:cs typeface="Corbel"/>
              </a:rPr>
              <a:t>is </a:t>
            </a:r>
            <a:r>
              <a:rPr sz="4800" b="1" spc="-10" dirty="0">
                <a:latin typeface="Corbel"/>
                <a:cs typeface="Corbel"/>
              </a:rPr>
              <a:t>Compiler?</a:t>
            </a:r>
            <a:endParaRPr sz="48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724" y="2604338"/>
            <a:ext cx="2421890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Basic </a:t>
            </a:r>
            <a:r>
              <a:rPr sz="3600" spc="-95" dirty="0">
                <a:solidFill>
                  <a:srgbClr val="FFFFFF"/>
                </a:solidFill>
                <a:latin typeface="Cambria"/>
                <a:cs typeface="Cambria"/>
              </a:rPr>
              <a:t>Terminology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7222" y="1944370"/>
            <a:ext cx="21310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Corbel"/>
                <a:cs typeface="Corbel"/>
              </a:rPr>
              <a:t>Why</a:t>
            </a:r>
            <a:r>
              <a:rPr sz="4800" b="1" spc="-1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4800" b="1" spc="-25" dirty="0">
                <a:solidFill>
                  <a:srgbClr val="FFFFFF"/>
                </a:solidFill>
                <a:latin typeface="Corbel"/>
                <a:cs typeface="Corbel"/>
              </a:rPr>
              <a:t>we </a:t>
            </a:r>
            <a:r>
              <a:rPr sz="4800" b="1" dirty="0">
                <a:solidFill>
                  <a:srgbClr val="FFFFFF"/>
                </a:solidFill>
                <a:latin typeface="Corbel"/>
                <a:cs typeface="Corbel"/>
              </a:rPr>
              <a:t>need </a:t>
            </a:r>
            <a:r>
              <a:rPr sz="4800" b="1" spc="-25" dirty="0">
                <a:solidFill>
                  <a:srgbClr val="FFFFFF"/>
                </a:solidFill>
                <a:latin typeface="Corbel"/>
                <a:cs typeface="Corbel"/>
              </a:rPr>
              <a:t>it?</a:t>
            </a:r>
            <a:endParaRPr sz="4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3098672"/>
            <a:ext cx="1995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Translator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6367" y="173736"/>
            <a:ext cx="7193280" cy="34076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4787" y="3759389"/>
            <a:ext cx="4140856" cy="29416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06367" y="3901440"/>
            <a:ext cx="2811780" cy="2811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3098672"/>
            <a:ext cx="1995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Translator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8429" y="737781"/>
            <a:ext cx="7477125" cy="245808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5"/>
              </a:spcBef>
            </a:pPr>
            <a:r>
              <a:rPr sz="2400" spc="-20" dirty="0">
                <a:latin typeface="Cambria"/>
                <a:cs typeface="Cambria"/>
              </a:rPr>
              <a:t>Translator</a:t>
            </a:r>
            <a:r>
              <a:rPr sz="2400" spc="-50" dirty="0">
                <a:latin typeface="Cambria"/>
                <a:cs typeface="Cambria"/>
              </a:rPr>
              <a:t> :</a:t>
            </a:r>
            <a:endParaRPr sz="2400">
              <a:latin typeface="Cambria"/>
              <a:cs typeface="Cambria"/>
            </a:endParaRPr>
          </a:p>
          <a:p>
            <a:pPr marL="353060" marR="5080" indent="-340360" algn="just">
              <a:lnSpc>
                <a:spcPct val="901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translator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program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which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takes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one</a:t>
            </a:r>
            <a:r>
              <a:rPr sz="2400" b="1" spc="29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program 	</a:t>
            </a:r>
            <a:r>
              <a:rPr sz="2400" dirty="0">
                <a:latin typeface="Cambria"/>
                <a:cs typeface="Cambria"/>
              </a:rPr>
              <a:t>(written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4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language)</a:t>
            </a:r>
            <a:r>
              <a:rPr sz="2400" spc="4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as</a:t>
            </a:r>
            <a:r>
              <a:rPr sz="2400" b="1" spc="4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input</a:t>
            </a:r>
            <a:r>
              <a:rPr sz="2400" b="1" spc="4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4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converts</a:t>
            </a:r>
            <a:r>
              <a:rPr sz="2400" b="1" spc="44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it 	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another</a:t>
            </a:r>
            <a:r>
              <a:rPr sz="2400" b="1" spc="-7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language</a:t>
            </a:r>
            <a:r>
              <a:rPr sz="2400" b="1" spc="-8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(Target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language).</a:t>
            </a:r>
            <a:endParaRPr sz="2400">
              <a:latin typeface="Cambria"/>
              <a:cs typeface="Cambria"/>
            </a:endParaRPr>
          </a:p>
          <a:p>
            <a:pPr marL="353060" marR="5080" indent="-340360" algn="just">
              <a:lnSpc>
                <a:spcPts val="2590"/>
              </a:lnSpc>
              <a:spcBef>
                <a:spcPts val="12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Input</a:t>
            </a:r>
            <a:r>
              <a:rPr sz="2400" spc="229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Language</a:t>
            </a:r>
            <a:r>
              <a:rPr sz="2400" spc="229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470" dirty="0">
                <a:latin typeface="Cambria"/>
                <a:cs typeface="Cambria"/>
              </a:rPr>
              <a:t>  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23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Language</a:t>
            </a:r>
            <a:r>
              <a:rPr sz="2400" spc="229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225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Output 	</a:t>
            </a:r>
            <a:r>
              <a:rPr sz="2400" dirty="0">
                <a:latin typeface="Cambria"/>
                <a:cs typeface="Cambria"/>
              </a:rPr>
              <a:t>Language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Target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Language.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8429" y="3170301"/>
            <a:ext cx="7102475" cy="243395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There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types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Translator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910"/>
              </a:spcBef>
              <a:buAutoNum type="arabicParenR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Compiler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915"/>
              </a:spcBef>
              <a:buAutoNum type="arabicParenR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Interpreter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915"/>
              </a:spcBef>
              <a:buAutoNum type="arabicParenR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Assembler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detects</a:t>
            </a:r>
            <a:r>
              <a:rPr sz="2400" b="1" spc="-6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and</a:t>
            </a:r>
            <a:r>
              <a:rPr sz="2400" b="1" spc="-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reports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error</a:t>
            </a:r>
            <a:r>
              <a:rPr sz="2400" b="1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during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translation.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3084957"/>
            <a:ext cx="17691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7600" cy="3599179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15"/>
              </a:spcBef>
            </a:pPr>
            <a:r>
              <a:rPr sz="2400" b="1" dirty="0">
                <a:latin typeface="Cambria"/>
                <a:cs typeface="Cambria"/>
              </a:rPr>
              <a:t>Compiler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195580" marR="5080" indent="-183515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that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reads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written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95" dirty="0">
                <a:latin typeface="Cambria"/>
                <a:cs typeface="Cambria"/>
              </a:rPr>
              <a:t>in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one</a:t>
            </a:r>
            <a:r>
              <a:rPr sz="2400" spc="17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language</a:t>
            </a:r>
            <a:r>
              <a:rPr sz="2400" spc="16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that</a:t>
            </a:r>
            <a:r>
              <a:rPr sz="2400" spc="16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means</a:t>
            </a:r>
            <a:r>
              <a:rPr sz="2400" spc="16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source</a:t>
            </a:r>
            <a:r>
              <a:rPr sz="2400" spc="16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language</a:t>
            </a:r>
            <a:r>
              <a:rPr sz="2400" spc="16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and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translates</a:t>
            </a:r>
            <a:r>
              <a:rPr sz="2400" spc="10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10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into</a:t>
            </a:r>
            <a:r>
              <a:rPr sz="2400" spc="108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equivalent</a:t>
            </a:r>
            <a:r>
              <a:rPr sz="2400" spc="10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</a:t>
            </a:r>
            <a:r>
              <a:rPr sz="2400" spc="10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into</a:t>
            </a:r>
            <a:r>
              <a:rPr sz="2400" spc="10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another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language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that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target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language.</a:t>
            </a:r>
            <a:endParaRPr sz="2400">
              <a:latin typeface="Cambria"/>
              <a:cs typeface="Cambria"/>
            </a:endParaRPr>
          </a:p>
          <a:p>
            <a:pPr marL="195580" marR="6350" indent="-183515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50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program</a:t>
            </a:r>
            <a:r>
              <a:rPr sz="2400" spc="5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which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translates</a:t>
            </a:r>
            <a:r>
              <a:rPr sz="2400" spc="505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higher</a:t>
            </a:r>
            <a:r>
              <a:rPr sz="2400" b="1" spc="500" dirty="0">
                <a:latin typeface="Cambria"/>
                <a:cs typeface="Cambria"/>
              </a:rPr>
              <a:t> </a:t>
            </a:r>
            <a:r>
              <a:rPr sz="2400" b="1" spc="-70" dirty="0">
                <a:latin typeface="Cambria"/>
                <a:cs typeface="Cambria"/>
              </a:rPr>
              <a:t>level</a:t>
            </a:r>
            <a:r>
              <a:rPr sz="2400" b="1" spc="-5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language</a:t>
            </a:r>
            <a:r>
              <a:rPr sz="2400" b="1" spc="740" dirty="0">
                <a:latin typeface="Cambria"/>
                <a:cs typeface="Cambria"/>
              </a:rPr>
              <a:t> </a:t>
            </a:r>
            <a:r>
              <a:rPr sz="2400" b="1" spc="-5" dirty="0">
                <a:latin typeface="Cambria"/>
                <a:cs typeface="Cambria"/>
              </a:rPr>
              <a:t>in</a:t>
            </a:r>
            <a:r>
              <a:rPr sz="2400" b="1" spc="-35" dirty="0">
                <a:latin typeface="Cambria"/>
                <a:cs typeface="Cambria"/>
              </a:rPr>
              <a:t>t</a:t>
            </a:r>
            <a:r>
              <a:rPr sz="2400" b="1" dirty="0">
                <a:latin typeface="Cambria"/>
                <a:cs typeface="Cambria"/>
              </a:rPr>
              <a:t>o</a:t>
            </a:r>
            <a:r>
              <a:rPr sz="2400" b="1" spc="750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functionally</a:t>
            </a:r>
            <a:r>
              <a:rPr sz="2400" b="1" spc="730" dirty="0">
                <a:latin typeface="Cambria"/>
                <a:cs typeface="Cambria"/>
              </a:rPr>
              <a:t> </a:t>
            </a:r>
            <a:r>
              <a:rPr sz="2400" b="1" spc="-30" dirty="0">
                <a:latin typeface="Cambria"/>
                <a:cs typeface="Cambria"/>
              </a:rPr>
              <a:t>equivalent</a:t>
            </a:r>
            <a:r>
              <a:rPr sz="2400" b="1" spc="750" dirty="0">
                <a:latin typeface="Cambria"/>
                <a:cs typeface="Cambria"/>
              </a:rPr>
              <a:t> </a:t>
            </a:r>
            <a:r>
              <a:rPr sz="2400" b="1" spc="-35" dirty="0">
                <a:latin typeface="Cambria"/>
                <a:cs typeface="Cambria"/>
              </a:rPr>
              <a:t>lower</a:t>
            </a:r>
            <a:r>
              <a:rPr sz="2400" b="1" spc="745" dirty="0">
                <a:latin typeface="Cambria"/>
                <a:cs typeface="Cambria"/>
              </a:rPr>
              <a:t> </a:t>
            </a:r>
            <a:r>
              <a:rPr sz="2400" b="1" spc="-30" dirty="0">
                <a:latin typeface="Cambria"/>
                <a:cs typeface="Cambria"/>
              </a:rPr>
              <a:t>level</a:t>
            </a:r>
            <a:r>
              <a:rPr sz="2400" b="1" spc="-5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language.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88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detects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reports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error.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7953" y="4443497"/>
            <a:ext cx="1158240" cy="98996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400" spc="-10" dirty="0">
                <a:latin typeface="Cambria"/>
                <a:cs typeface="Cambria"/>
              </a:rPr>
              <a:t>Source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spc="-10" dirty="0">
                <a:latin typeface="Cambria"/>
                <a:cs typeface="Cambria"/>
              </a:rPr>
              <a:t>Program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5683" y="4443497"/>
            <a:ext cx="1158240" cy="98996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15"/>
              </a:spcBef>
            </a:pPr>
            <a:r>
              <a:rPr sz="2400" spc="-10" dirty="0">
                <a:latin typeface="Cambria"/>
                <a:cs typeface="Cambria"/>
              </a:rPr>
              <a:t>Target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spc="-10" dirty="0">
                <a:latin typeface="Cambria"/>
                <a:cs typeface="Cambria"/>
              </a:rPr>
              <a:t>Program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25561" y="5515762"/>
            <a:ext cx="853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"/>
                <a:cs typeface="Cambria"/>
              </a:rPr>
              <a:t>Error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3021" y="4533138"/>
            <a:ext cx="2240280" cy="94678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71145" rIns="0" bIns="0" rtlCol="0">
            <a:spAutoFit/>
          </a:bodyPr>
          <a:lstStyle/>
          <a:p>
            <a:pPr marL="523875">
              <a:lnSpc>
                <a:spcPct val="100000"/>
              </a:lnSpc>
              <a:spcBef>
                <a:spcPts val="2135"/>
              </a:spcBef>
            </a:pPr>
            <a:r>
              <a:rPr sz="2400" b="1" spc="-1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37938" y="4958841"/>
            <a:ext cx="1814195" cy="96520"/>
          </a:xfrm>
          <a:custGeom>
            <a:avLst/>
            <a:gdLst/>
            <a:ahLst/>
            <a:cxnLst/>
            <a:rect l="l" t="t" r="r" b="b"/>
            <a:pathLst>
              <a:path w="1814195" h="96520">
                <a:moveTo>
                  <a:pt x="1718056" y="0"/>
                </a:moveTo>
                <a:lnTo>
                  <a:pt x="1718056" y="96011"/>
                </a:lnTo>
                <a:lnTo>
                  <a:pt x="1782064" y="64007"/>
                </a:lnTo>
                <a:lnTo>
                  <a:pt x="1734058" y="64007"/>
                </a:lnTo>
                <a:lnTo>
                  <a:pt x="1734058" y="32003"/>
                </a:lnTo>
                <a:lnTo>
                  <a:pt x="1782064" y="32003"/>
                </a:lnTo>
                <a:lnTo>
                  <a:pt x="1718056" y="0"/>
                </a:lnTo>
                <a:close/>
              </a:path>
              <a:path w="1814195" h="96520">
                <a:moveTo>
                  <a:pt x="0" y="30733"/>
                </a:moveTo>
                <a:lnTo>
                  <a:pt x="0" y="62737"/>
                </a:lnTo>
                <a:lnTo>
                  <a:pt x="1734057" y="64007"/>
                </a:lnTo>
                <a:lnTo>
                  <a:pt x="1718056" y="64007"/>
                </a:lnTo>
                <a:lnTo>
                  <a:pt x="1718056" y="32003"/>
                </a:lnTo>
                <a:lnTo>
                  <a:pt x="1734057" y="32003"/>
                </a:lnTo>
                <a:lnTo>
                  <a:pt x="0" y="30733"/>
                </a:lnTo>
                <a:close/>
              </a:path>
              <a:path w="1814195" h="96520">
                <a:moveTo>
                  <a:pt x="1782064" y="32003"/>
                </a:moveTo>
                <a:lnTo>
                  <a:pt x="1734058" y="32003"/>
                </a:lnTo>
                <a:lnTo>
                  <a:pt x="1734058" y="64007"/>
                </a:lnTo>
                <a:lnTo>
                  <a:pt x="1782064" y="64007"/>
                </a:lnTo>
                <a:lnTo>
                  <a:pt x="1814067" y="48005"/>
                </a:lnTo>
                <a:lnTo>
                  <a:pt x="1782064" y="32003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93302" y="4957317"/>
            <a:ext cx="1814195" cy="96520"/>
          </a:xfrm>
          <a:custGeom>
            <a:avLst/>
            <a:gdLst/>
            <a:ahLst/>
            <a:cxnLst/>
            <a:rect l="l" t="t" r="r" b="b"/>
            <a:pathLst>
              <a:path w="1814195" h="96520">
                <a:moveTo>
                  <a:pt x="1718055" y="0"/>
                </a:moveTo>
                <a:lnTo>
                  <a:pt x="1718055" y="96011"/>
                </a:lnTo>
                <a:lnTo>
                  <a:pt x="1782064" y="64007"/>
                </a:lnTo>
                <a:lnTo>
                  <a:pt x="1734057" y="64007"/>
                </a:lnTo>
                <a:lnTo>
                  <a:pt x="1734057" y="32003"/>
                </a:lnTo>
                <a:lnTo>
                  <a:pt x="1782064" y="32003"/>
                </a:lnTo>
                <a:lnTo>
                  <a:pt x="1718055" y="0"/>
                </a:lnTo>
                <a:close/>
              </a:path>
              <a:path w="1814195" h="96520">
                <a:moveTo>
                  <a:pt x="0" y="30733"/>
                </a:moveTo>
                <a:lnTo>
                  <a:pt x="0" y="62737"/>
                </a:lnTo>
                <a:lnTo>
                  <a:pt x="1734057" y="64007"/>
                </a:lnTo>
                <a:lnTo>
                  <a:pt x="1718055" y="64007"/>
                </a:lnTo>
                <a:lnTo>
                  <a:pt x="1718055" y="32003"/>
                </a:lnTo>
                <a:lnTo>
                  <a:pt x="1734057" y="32003"/>
                </a:lnTo>
                <a:lnTo>
                  <a:pt x="0" y="30733"/>
                </a:lnTo>
                <a:close/>
              </a:path>
              <a:path w="1814195" h="96520">
                <a:moveTo>
                  <a:pt x="1782064" y="32003"/>
                </a:moveTo>
                <a:lnTo>
                  <a:pt x="1734057" y="32003"/>
                </a:lnTo>
                <a:lnTo>
                  <a:pt x="1734057" y="64007"/>
                </a:lnTo>
                <a:lnTo>
                  <a:pt x="1782064" y="64007"/>
                </a:lnTo>
                <a:lnTo>
                  <a:pt x="1814068" y="48005"/>
                </a:lnTo>
                <a:lnTo>
                  <a:pt x="1782064" y="32003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25156" y="5479541"/>
            <a:ext cx="96520" cy="572770"/>
          </a:xfrm>
          <a:custGeom>
            <a:avLst/>
            <a:gdLst/>
            <a:ahLst/>
            <a:cxnLst/>
            <a:rect l="l" t="t" r="r" b="b"/>
            <a:pathLst>
              <a:path w="96520" h="572770">
                <a:moveTo>
                  <a:pt x="32003" y="476529"/>
                </a:moveTo>
                <a:lnTo>
                  <a:pt x="0" y="476529"/>
                </a:lnTo>
                <a:lnTo>
                  <a:pt x="48005" y="572541"/>
                </a:lnTo>
                <a:lnTo>
                  <a:pt x="88011" y="492531"/>
                </a:lnTo>
                <a:lnTo>
                  <a:pt x="32003" y="492531"/>
                </a:lnTo>
                <a:lnTo>
                  <a:pt x="32003" y="476529"/>
                </a:lnTo>
                <a:close/>
              </a:path>
              <a:path w="96520" h="572770">
                <a:moveTo>
                  <a:pt x="64008" y="0"/>
                </a:moveTo>
                <a:lnTo>
                  <a:pt x="32003" y="0"/>
                </a:lnTo>
                <a:lnTo>
                  <a:pt x="32003" y="492531"/>
                </a:lnTo>
                <a:lnTo>
                  <a:pt x="64008" y="492531"/>
                </a:lnTo>
                <a:lnTo>
                  <a:pt x="64008" y="0"/>
                </a:lnTo>
                <a:close/>
              </a:path>
              <a:path w="96520" h="572770">
                <a:moveTo>
                  <a:pt x="96012" y="476529"/>
                </a:moveTo>
                <a:lnTo>
                  <a:pt x="64008" y="476529"/>
                </a:lnTo>
                <a:lnTo>
                  <a:pt x="64008" y="492531"/>
                </a:lnTo>
                <a:lnTo>
                  <a:pt x="88011" y="492531"/>
                </a:lnTo>
                <a:lnTo>
                  <a:pt x="96012" y="476529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ED8437-829B-4316-13D8-8E7A2E426736}"/>
              </a:ext>
            </a:extLst>
          </p:cNvPr>
          <p:cNvSpPr txBox="1"/>
          <p:nvPr/>
        </p:nvSpPr>
        <p:spPr>
          <a:xfrm>
            <a:off x="3962400" y="685800"/>
            <a:ext cx="6781800" cy="521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buNone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Operations of Compilers</a:t>
            </a:r>
          </a:p>
          <a:p>
            <a:pPr algn="l" fontAlgn="base">
              <a:lnSpc>
                <a:spcPts val="2100"/>
              </a:lnSpc>
              <a:buNone/>
            </a:pPr>
            <a:endParaRPr lang="en-US" sz="2400" b="1" i="0" dirty="0">
              <a:solidFill>
                <a:srgbClr val="273239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rtl="0" fontAlgn="base">
              <a:spcAft>
                <a:spcPts val="750"/>
              </a:spcAft>
              <a:buNone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are some operations that are done by the compiler.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Breaks source programs into smaller parts.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Enables the creation of symbol tables and        intermediate representations.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Helps in Error Detection.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Saves all codes and variables.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Analyses the full program and translates it.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Convert source code to machine code.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037D64A-5807-B140-60DF-6896F8B0D114}"/>
              </a:ext>
            </a:extLst>
          </p:cNvPr>
          <p:cNvSpPr txBox="1"/>
          <p:nvPr/>
        </p:nvSpPr>
        <p:spPr>
          <a:xfrm>
            <a:off x="331724" y="3084957"/>
            <a:ext cx="17691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73366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3084957"/>
            <a:ext cx="2136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Interpreter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6330" cy="212915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400" b="1" spc="-10" dirty="0">
                <a:latin typeface="Cambria"/>
                <a:cs typeface="Cambria"/>
              </a:rPr>
              <a:t>Interpreter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195580" marR="5080" indent="-183515">
              <a:lnSpc>
                <a:spcPts val="2590"/>
              </a:lnSpc>
              <a:spcBef>
                <a:spcPts val="1240"/>
              </a:spcBef>
              <a:tabLst>
                <a:tab pos="1812289" algn="l"/>
                <a:tab pos="2187575" algn="l"/>
                <a:tab pos="2495550" algn="l"/>
                <a:tab pos="3947795" algn="l"/>
                <a:tab pos="4894580" algn="l"/>
                <a:tab pos="5269230" algn="l"/>
                <a:tab pos="6046470" algn="l"/>
                <a:tab pos="6467475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Interpreter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translator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which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used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convert </a:t>
            </a:r>
            <a:r>
              <a:rPr sz="2400" dirty="0">
                <a:latin typeface="Cambria"/>
                <a:cs typeface="Cambria"/>
              </a:rPr>
              <a:t>programs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high-</a:t>
            </a:r>
            <a:r>
              <a:rPr sz="2400" dirty="0">
                <a:latin typeface="Cambria"/>
                <a:cs typeface="Cambria"/>
              </a:rPr>
              <a:t>level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language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low-</a:t>
            </a:r>
            <a:r>
              <a:rPr sz="2400" dirty="0">
                <a:latin typeface="Cambria"/>
                <a:cs typeface="Cambria"/>
              </a:rPr>
              <a:t>level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language.</a:t>
            </a:r>
            <a:endParaRPr sz="2400">
              <a:latin typeface="Cambria"/>
              <a:cs typeface="Cambria"/>
            </a:endParaRPr>
          </a:p>
          <a:p>
            <a:pPr marL="195580" marR="5080" indent="-183515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Interpreter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translates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line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by</a:t>
            </a:r>
            <a:r>
              <a:rPr sz="2400" b="1" spc="-4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line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reports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error </a:t>
            </a:r>
            <a:r>
              <a:rPr sz="2400" dirty="0">
                <a:latin typeface="Cambria"/>
                <a:cs typeface="Cambria"/>
              </a:rPr>
              <a:t>once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encountered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during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translation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process.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7953" y="2974213"/>
            <a:ext cx="1158240" cy="989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8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Source </a:t>
            </a:r>
            <a:r>
              <a:rPr sz="2400" spc="-20" dirty="0">
                <a:latin typeface="Cambria"/>
                <a:cs typeface="Cambria"/>
              </a:rPr>
              <a:t>Program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5683" y="2974213"/>
            <a:ext cx="1158240" cy="989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">
              <a:lnSpc>
                <a:spcPct val="1318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Target </a:t>
            </a:r>
            <a:r>
              <a:rPr sz="2400" spc="-20" dirty="0">
                <a:latin typeface="Cambria"/>
                <a:cs typeface="Cambria"/>
              </a:rPr>
              <a:t>Program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3285" y="4046347"/>
            <a:ext cx="853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"/>
                <a:cs typeface="Cambria"/>
              </a:rPr>
              <a:t>Error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3021" y="3124961"/>
            <a:ext cx="2240280" cy="94678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2130"/>
              </a:spcBef>
            </a:pPr>
            <a:r>
              <a:rPr sz="2400" b="1" spc="-10" dirty="0">
                <a:solidFill>
                  <a:srgbClr val="FFFFFF"/>
                </a:solidFill>
                <a:latin typeface="Corbel"/>
                <a:cs typeface="Corbel"/>
              </a:rPr>
              <a:t>Interpreter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37938" y="3550665"/>
            <a:ext cx="1814195" cy="96520"/>
          </a:xfrm>
          <a:custGeom>
            <a:avLst/>
            <a:gdLst/>
            <a:ahLst/>
            <a:cxnLst/>
            <a:rect l="l" t="t" r="r" b="b"/>
            <a:pathLst>
              <a:path w="1814195" h="96520">
                <a:moveTo>
                  <a:pt x="1718056" y="0"/>
                </a:moveTo>
                <a:lnTo>
                  <a:pt x="1718056" y="96012"/>
                </a:lnTo>
                <a:lnTo>
                  <a:pt x="1782064" y="64008"/>
                </a:lnTo>
                <a:lnTo>
                  <a:pt x="1734058" y="64008"/>
                </a:lnTo>
                <a:lnTo>
                  <a:pt x="1734058" y="32004"/>
                </a:lnTo>
                <a:lnTo>
                  <a:pt x="1782064" y="32004"/>
                </a:lnTo>
                <a:lnTo>
                  <a:pt x="1718056" y="0"/>
                </a:lnTo>
                <a:close/>
              </a:path>
              <a:path w="1814195" h="96520">
                <a:moveTo>
                  <a:pt x="0" y="30734"/>
                </a:moveTo>
                <a:lnTo>
                  <a:pt x="0" y="62738"/>
                </a:lnTo>
                <a:lnTo>
                  <a:pt x="1734057" y="64008"/>
                </a:lnTo>
                <a:lnTo>
                  <a:pt x="1718056" y="64008"/>
                </a:lnTo>
                <a:lnTo>
                  <a:pt x="1718056" y="32004"/>
                </a:lnTo>
                <a:lnTo>
                  <a:pt x="1734057" y="32004"/>
                </a:lnTo>
                <a:lnTo>
                  <a:pt x="0" y="30734"/>
                </a:lnTo>
                <a:close/>
              </a:path>
              <a:path w="1814195" h="96520">
                <a:moveTo>
                  <a:pt x="1782064" y="32004"/>
                </a:moveTo>
                <a:lnTo>
                  <a:pt x="1734058" y="32004"/>
                </a:lnTo>
                <a:lnTo>
                  <a:pt x="1734058" y="64008"/>
                </a:lnTo>
                <a:lnTo>
                  <a:pt x="1782064" y="64008"/>
                </a:lnTo>
                <a:lnTo>
                  <a:pt x="1814067" y="48006"/>
                </a:lnTo>
                <a:lnTo>
                  <a:pt x="1782064" y="32004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93302" y="3549141"/>
            <a:ext cx="1814195" cy="96520"/>
          </a:xfrm>
          <a:custGeom>
            <a:avLst/>
            <a:gdLst/>
            <a:ahLst/>
            <a:cxnLst/>
            <a:rect l="l" t="t" r="r" b="b"/>
            <a:pathLst>
              <a:path w="1814195" h="96520">
                <a:moveTo>
                  <a:pt x="1718055" y="0"/>
                </a:moveTo>
                <a:lnTo>
                  <a:pt x="1718055" y="96012"/>
                </a:lnTo>
                <a:lnTo>
                  <a:pt x="1782064" y="64008"/>
                </a:lnTo>
                <a:lnTo>
                  <a:pt x="1734057" y="64008"/>
                </a:lnTo>
                <a:lnTo>
                  <a:pt x="1734057" y="32004"/>
                </a:lnTo>
                <a:lnTo>
                  <a:pt x="1782064" y="32004"/>
                </a:lnTo>
                <a:lnTo>
                  <a:pt x="1718055" y="0"/>
                </a:lnTo>
                <a:close/>
              </a:path>
              <a:path w="1814195" h="96520">
                <a:moveTo>
                  <a:pt x="0" y="30734"/>
                </a:moveTo>
                <a:lnTo>
                  <a:pt x="0" y="62738"/>
                </a:lnTo>
                <a:lnTo>
                  <a:pt x="1734057" y="64008"/>
                </a:lnTo>
                <a:lnTo>
                  <a:pt x="1718055" y="64008"/>
                </a:lnTo>
                <a:lnTo>
                  <a:pt x="1718055" y="32004"/>
                </a:lnTo>
                <a:lnTo>
                  <a:pt x="1734057" y="32004"/>
                </a:lnTo>
                <a:lnTo>
                  <a:pt x="0" y="30734"/>
                </a:lnTo>
                <a:close/>
              </a:path>
              <a:path w="1814195" h="96520">
                <a:moveTo>
                  <a:pt x="1782064" y="32004"/>
                </a:moveTo>
                <a:lnTo>
                  <a:pt x="1734057" y="32004"/>
                </a:lnTo>
                <a:lnTo>
                  <a:pt x="1734057" y="64008"/>
                </a:lnTo>
                <a:lnTo>
                  <a:pt x="1782064" y="64008"/>
                </a:lnTo>
                <a:lnTo>
                  <a:pt x="1814068" y="48006"/>
                </a:lnTo>
                <a:lnTo>
                  <a:pt x="1782064" y="32004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25156" y="4071365"/>
            <a:ext cx="96520" cy="572770"/>
          </a:xfrm>
          <a:custGeom>
            <a:avLst/>
            <a:gdLst/>
            <a:ahLst/>
            <a:cxnLst/>
            <a:rect l="l" t="t" r="r" b="b"/>
            <a:pathLst>
              <a:path w="96520" h="572770">
                <a:moveTo>
                  <a:pt x="32003" y="476503"/>
                </a:moveTo>
                <a:lnTo>
                  <a:pt x="0" y="476503"/>
                </a:lnTo>
                <a:lnTo>
                  <a:pt x="48005" y="572515"/>
                </a:lnTo>
                <a:lnTo>
                  <a:pt x="88011" y="492505"/>
                </a:lnTo>
                <a:lnTo>
                  <a:pt x="32003" y="492505"/>
                </a:lnTo>
                <a:lnTo>
                  <a:pt x="32003" y="476503"/>
                </a:lnTo>
                <a:close/>
              </a:path>
              <a:path w="96520" h="572770">
                <a:moveTo>
                  <a:pt x="64008" y="0"/>
                </a:moveTo>
                <a:lnTo>
                  <a:pt x="32003" y="0"/>
                </a:lnTo>
                <a:lnTo>
                  <a:pt x="32003" y="492505"/>
                </a:lnTo>
                <a:lnTo>
                  <a:pt x="64008" y="492505"/>
                </a:lnTo>
                <a:lnTo>
                  <a:pt x="64008" y="0"/>
                </a:lnTo>
                <a:close/>
              </a:path>
              <a:path w="96520" h="572770">
                <a:moveTo>
                  <a:pt x="96012" y="476503"/>
                </a:moveTo>
                <a:lnTo>
                  <a:pt x="64008" y="476503"/>
                </a:lnTo>
                <a:lnTo>
                  <a:pt x="64008" y="492505"/>
                </a:lnTo>
                <a:lnTo>
                  <a:pt x="88011" y="492505"/>
                </a:lnTo>
                <a:lnTo>
                  <a:pt x="96012" y="476503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3084957"/>
            <a:ext cx="20313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5" dirty="0">
                <a:solidFill>
                  <a:srgbClr val="FFFFFF"/>
                </a:solidFill>
                <a:latin typeface="Cambria"/>
                <a:cs typeface="Cambria"/>
              </a:rPr>
              <a:t>Assembler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505205"/>
            <a:ext cx="1667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Assembler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spc="-60" dirty="0"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987044"/>
            <a:ext cx="2143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9940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Cambria"/>
                <a:cs typeface="Cambria"/>
              </a:rPr>
              <a:t>An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assembler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8216" y="987044"/>
            <a:ext cx="37261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2150" algn="l"/>
                <a:tab pos="1075055" algn="l"/>
                <a:tab pos="2602230" algn="l"/>
                <a:tab pos="3452495" algn="l"/>
              </a:tabLst>
            </a:pP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translator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used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43819" y="987044"/>
            <a:ext cx="1181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translate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7954" y="1200404"/>
            <a:ext cx="7468870" cy="197675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95580" algn="just">
              <a:lnSpc>
                <a:spcPct val="100000"/>
              </a:lnSpc>
              <a:spcBef>
                <a:spcPts val="1010"/>
              </a:spcBef>
            </a:pPr>
            <a:r>
              <a:rPr sz="2400" b="1" spc="-10" dirty="0">
                <a:latin typeface="Cambria"/>
                <a:cs typeface="Cambria"/>
              </a:rPr>
              <a:t>assembly</a:t>
            </a:r>
            <a:r>
              <a:rPr sz="2400" b="1" spc="-9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language</a:t>
            </a:r>
            <a:r>
              <a:rPr sz="2400" b="1" spc="-8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to</a:t>
            </a:r>
            <a:r>
              <a:rPr sz="2400" b="1" spc="-10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machine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language.</a:t>
            </a:r>
            <a:endParaRPr sz="2400" dirty="0">
              <a:latin typeface="Cambria"/>
              <a:cs typeface="Cambria"/>
            </a:endParaRPr>
          </a:p>
          <a:p>
            <a:pPr marL="195580" marR="5080" indent="-183515" algn="just">
              <a:lnSpc>
                <a:spcPct val="90000"/>
              </a:lnSpc>
              <a:spcBef>
                <a:spcPts val="120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12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assembler</a:t>
            </a:r>
            <a:r>
              <a:rPr sz="2400" spc="12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translates</a:t>
            </a:r>
            <a:r>
              <a:rPr sz="2400" spc="12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12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low-</a:t>
            </a:r>
            <a:r>
              <a:rPr sz="2400" spc="-30" dirty="0">
                <a:latin typeface="Cambria"/>
                <a:cs typeface="Cambria"/>
              </a:rPr>
              <a:t>level</a:t>
            </a:r>
            <a:r>
              <a:rPr sz="2400" spc="12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language,</a:t>
            </a:r>
            <a:r>
              <a:rPr sz="2400" spc="1280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an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assembly</a:t>
            </a:r>
            <a:r>
              <a:rPr sz="2400" spc="7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language</a:t>
            </a:r>
            <a:r>
              <a:rPr sz="2400" spc="7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o</a:t>
            </a:r>
            <a:r>
              <a:rPr sz="2400" spc="7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7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even</a:t>
            </a:r>
            <a:r>
              <a:rPr sz="2400" spc="7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lower-</a:t>
            </a:r>
            <a:r>
              <a:rPr sz="2400" spc="-30" dirty="0">
                <a:latin typeface="Cambria"/>
                <a:cs typeface="Cambria"/>
              </a:rPr>
              <a:t>level</a:t>
            </a:r>
            <a:r>
              <a:rPr sz="2400" spc="7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language,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which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machine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code.</a:t>
            </a:r>
            <a:r>
              <a:rPr sz="2400" spc="11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machine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code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can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directly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understood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by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CP</a:t>
            </a:r>
            <a:r>
              <a:rPr sz="2400" spc="-55" dirty="0">
                <a:latin typeface="Cambria"/>
                <a:cs typeface="Cambria"/>
              </a:rPr>
              <a:t>U</a:t>
            </a:r>
            <a:r>
              <a:rPr sz="2400" dirty="0">
                <a:latin typeface="Cambria"/>
                <a:cs typeface="Cambria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57953" y="3633342"/>
            <a:ext cx="1158240" cy="988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Source </a:t>
            </a:r>
            <a:r>
              <a:rPr sz="2400" spc="-20" dirty="0">
                <a:latin typeface="Cambria"/>
                <a:cs typeface="Cambria"/>
              </a:rPr>
              <a:t>Program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55683" y="3633342"/>
            <a:ext cx="1158240" cy="988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">
              <a:lnSpc>
                <a:spcPct val="1317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Target </a:t>
            </a:r>
            <a:r>
              <a:rPr sz="2400" spc="-20" dirty="0">
                <a:latin typeface="Cambria"/>
                <a:cs typeface="Cambria"/>
              </a:rPr>
              <a:t>Program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25561" y="4704969"/>
            <a:ext cx="853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"/>
                <a:cs typeface="Cambria"/>
              </a:rPr>
              <a:t>Error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53021" y="3752850"/>
            <a:ext cx="2240280" cy="94678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69875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2125"/>
              </a:spcBef>
            </a:pPr>
            <a:r>
              <a:rPr sz="2400" b="1" spc="-10" dirty="0">
                <a:solidFill>
                  <a:srgbClr val="FFFFFF"/>
                </a:solidFill>
                <a:latin typeface="Corbel"/>
                <a:cs typeface="Corbel"/>
              </a:rPr>
              <a:t>Assembler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37938" y="4177029"/>
            <a:ext cx="1814195" cy="96520"/>
          </a:xfrm>
          <a:custGeom>
            <a:avLst/>
            <a:gdLst/>
            <a:ahLst/>
            <a:cxnLst/>
            <a:rect l="l" t="t" r="r" b="b"/>
            <a:pathLst>
              <a:path w="1814195" h="96520">
                <a:moveTo>
                  <a:pt x="1718056" y="0"/>
                </a:moveTo>
                <a:lnTo>
                  <a:pt x="1718056" y="96012"/>
                </a:lnTo>
                <a:lnTo>
                  <a:pt x="1782064" y="64008"/>
                </a:lnTo>
                <a:lnTo>
                  <a:pt x="1734058" y="64008"/>
                </a:lnTo>
                <a:lnTo>
                  <a:pt x="1734058" y="32004"/>
                </a:lnTo>
                <a:lnTo>
                  <a:pt x="1782064" y="32004"/>
                </a:lnTo>
                <a:lnTo>
                  <a:pt x="1718056" y="0"/>
                </a:lnTo>
                <a:close/>
              </a:path>
              <a:path w="1814195" h="96520">
                <a:moveTo>
                  <a:pt x="0" y="30734"/>
                </a:moveTo>
                <a:lnTo>
                  <a:pt x="0" y="62738"/>
                </a:lnTo>
                <a:lnTo>
                  <a:pt x="1734057" y="64008"/>
                </a:lnTo>
                <a:lnTo>
                  <a:pt x="1718056" y="64008"/>
                </a:lnTo>
                <a:lnTo>
                  <a:pt x="1718056" y="32004"/>
                </a:lnTo>
                <a:lnTo>
                  <a:pt x="1734057" y="32004"/>
                </a:lnTo>
                <a:lnTo>
                  <a:pt x="0" y="30734"/>
                </a:lnTo>
                <a:close/>
              </a:path>
              <a:path w="1814195" h="96520">
                <a:moveTo>
                  <a:pt x="1782064" y="32004"/>
                </a:moveTo>
                <a:lnTo>
                  <a:pt x="1734058" y="32004"/>
                </a:lnTo>
                <a:lnTo>
                  <a:pt x="1734058" y="64008"/>
                </a:lnTo>
                <a:lnTo>
                  <a:pt x="1782064" y="64008"/>
                </a:lnTo>
                <a:lnTo>
                  <a:pt x="1814067" y="48006"/>
                </a:lnTo>
                <a:lnTo>
                  <a:pt x="1782064" y="32004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93302" y="4175505"/>
            <a:ext cx="1814195" cy="96520"/>
          </a:xfrm>
          <a:custGeom>
            <a:avLst/>
            <a:gdLst/>
            <a:ahLst/>
            <a:cxnLst/>
            <a:rect l="l" t="t" r="r" b="b"/>
            <a:pathLst>
              <a:path w="1814195" h="96520">
                <a:moveTo>
                  <a:pt x="1718055" y="0"/>
                </a:moveTo>
                <a:lnTo>
                  <a:pt x="1718055" y="96012"/>
                </a:lnTo>
                <a:lnTo>
                  <a:pt x="1782064" y="64008"/>
                </a:lnTo>
                <a:lnTo>
                  <a:pt x="1734057" y="64008"/>
                </a:lnTo>
                <a:lnTo>
                  <a:pt x="1734057" y="32004"/>
                </a:lnTo>
                <a:lnTo>
                  <a:pt x="1782064" y="32004"/>
                </a:lnTo>
                <a:lnTo>
                  <a:pt x="1718055" y="0"/>
                </a:lnTo>
                <a:close/>
              </a:path>
              <a:path w="1814195" h="96520">
                <a:moveTo>
                  <a:pt x="0" y="30734"/>
                </a:moveTo>
                <a:lnTo>
                  <a:pt x="0" y="62738"/>
                </a:lnTo>
                <a:lnTo>
                  <a:pt x="1734057" y="64008"/>
                </a:lnTo>
                <a:lnTo>
                  <a:pt x="1718055" y="64008"/>
                </a:lnTo>
                <a:lnTo>
                  <a:pt x="1718055" y="32004"/>
                </a:lnTo>
                <a:lnTo>
                  <a:pt x="1734057" y="32004"/>
                </a:lnTo>
                <a:lnTo>
                  <a:pt x="0" y="30734"/>
                </a:lnTo>
                <a:close/>
              </a:path>
              <a:path w="1814195" h="96520">
                <a:moveTo>
                  <a:pt x="1782064" y="32004"/>
                </a:moveTo>
                <a:lnTo>
                  <a:pt x="1734057" y="32004"/>
                </a:lnTo>
                <a:lnTo>
                  <a:pt x="1734057" y="64008"/>
                </a:lnTo>
                <a:lnTo>
                  <a:pt x="1782064" y="64008"/>
                </a:lnTo>
                <a:lnTo>
                  <a:pt x="1814068" y="48006"/>
                </a:lnTo>
                <a:lnTo>
                  <a:pt x="1782064" y="32004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25156" y="4699253"/>
            <a:ext cx="96520" cy="572770"/>
          </a:xfrm>
          <a:custGeom>
            <a:avLst/>
            <a:gdLst/>
            <a:ahLst/>
            <a:cxnLst/>
            <a:rect l="l" t="t" r="r" b="b"/>
            <a:pathLst>
              <a:path w="96520" h="572770">
                <a:moveTo>
                  <a:pt x="32003" y="476504"/>
                </a:moveTo>
                <a:lnTo>
                  <a:pt x="0" y="476504"/>
                </a:lnTo>
                <a:lnTo>
                  <a:pt x="48005" y="572516"/>
                </a:lnTo>
                <a:lnTo>
                  <a:pt x="88011" y="492506"/>
                </a:lnTo>
                <a:lnTo>
                  <a:pt x="32003" y="492506"/>
                </a:lnTo>
                <a:lnTo>
                  <a:pt x="32003" y="476504"/>
                </a:lnTo>
                <a:close/>
              </a:path>
              <a:path w="96520" h="572770">
                <a:moveTo>
                  <a:pt x="64008" y="0"/>
                </a:moveTo>
                <a:lnTo>
                  <a:pt x="32003" y="0"/>
                </a:lnTo>
                <a:lnTo>
                  <a:pt x="32003" y="492506"/>
                </a:lnTo>
                <a:lnTo>
                  <a:pt x="64008" y="492506"/>
                </a:lnTo>
                <a:lnTo>
                  <a:pt x="64008" y="0"/>
                </a:lnTo>
                <a:close/>
              </a:path>
              <a:path w="96520" h="572770">
                <a:moveTo>
                  <a:pt x="96012" y="476504"/>
                </a:moveTo>
                <a:lnTo>
                  <a:pt x="64008" y="476504"/>
                </a:lnTo>
                <a:lnTo>
                  <a:pt x="64008" y="492506"/>
                </a:lnTo>
                <a:lnTo>
                  <a:pt x="88011" y="492506"/>
                </a:lnTo>
                <a:lnTo>
                  <a:pt x="96012" y="476504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2604338"/>
            <a:ext cx="2136775" cy="15487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ct val="88800"/>
              </a:lnSpc>
              <a:spcBef>
                <a:spcPts val="585"/>
              </a:spcBef>
            </a:pPr>
            <a:r>
              <a:rPr spc="-10" dirty="0"/>
              <a:t>Compiler </a:t>
            </a:r>
            <a:r>
              <a:rPr spc="-25" dirty="0"/>
              <a:t>Vs </a:t>
            </a:r>
            <a:r>
              <a:rPr spc="-75" dirty="0"/>
              <a:t>Interpreter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59200" y="726820"/>
          <a:ext cx="7315200" cy="4879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Compiler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Interpreter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takes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whole</a:t>
                      </a:r>
                      <a:r>
                        <a:rPr sz="1800" spc="-6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program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input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takes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single</a:t>
                      </a:r>
                      <a:r>
                        <a:rPr sz="1800" spc="-4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instruction</a:t>
                      </a:r>
                      <a:r>
                        <a:rPr sz="1800" spc="-5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input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generates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intermediate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object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mbria"/>
                          <a:cs typeface="Cambria"/>
                        </a:rPr>
                        <a:t>code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does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generate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any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intermediate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object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code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2673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requirement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more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due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creation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object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code.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3759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requirement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less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(memory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efficient)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does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not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create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intermediate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object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code.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1479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takes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large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amount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time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to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analyze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source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code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but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overall execution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comparatively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faster.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485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takes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less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amount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time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to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analyze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source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code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but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overall execution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slower.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Compilation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done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before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execution.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Compilation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execution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take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place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simultaneously.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 marR="735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Display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all</a:t>
                      </a:r>
                      <a:r>
                        <a:rPr sz="18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errors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after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entire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program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checked.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3187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Display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errors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each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line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by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one.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Ex :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,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++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Ex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BASIC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,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Python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2604338"/>
            <a:ext cx="2031364" cy="15487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ct val="88800"/>
              </a:lnSpc>
              <a:spcBef>
                <a:spcPts val="585"/>
              </a:spcBef>
            </a:pPr>
            <a:r>
              <a:rPr spc="-10" dirty="0"/>
              <a:t>Compiler </a:t>
            </a:r>
            <a:r>
              <a:rPr spc="-25" dirty="0"/>
              <a:t>Vs </a:t>
            </a:r>
            <a:r>
              <a:rPr spc="-65" dirty="0"/>
              <a:t>Assembler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59200" y="746633"/>
          <a:ext cx="7315200" cy="2942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Compiler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Assembler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Input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compiler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Pre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processed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Source</a:t>
                      </a:r>
                      <a:r>
                        <a:rPr sz="18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code.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Input</a:t>
                      </a:r>
                      <a:r>
                        <a:rPr sz="18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Assembler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Assembly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language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code.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210">
                <a:tc>
                  <a:txBody>
                    <a:bodyPr/>
                    <a:lstStyle/>
                    <a:p>
                      <a:pPr marL="91440" marR="518795" algn="just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generates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assembly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language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code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directly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executable code.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9017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generates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relocatable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machine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code.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There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8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Phases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compiler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makes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Two</a:t>
                      </a:r>
                      <a:r>
                        <a:rPr sz="18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passes</a:t>
                      </a:r>
                      <a:r>
                        <a:rPr sz="18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over</a:t>
                      </a:r>
                      <a:r>
                        <a:rPr sz="18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given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input.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Ex :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,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++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Ex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8085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,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8086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1122629"/>
            <a:ext cx="2494280" cy="25501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434975">
              <a:lnSpc>
                <a:spcPct val="90000"/>
              </a:lnSpc>
              <a:spcBef>
                <a:spcPts val="535"/>
              </a:spcBef>
            </a:pPr>
            <a:r>
              <a:rPr spc="-10" dirty="0"/>
              <a:t>Language </a:t>
            </a:r>
            <a:r>
              <a:rPr spc="-75" dirty="0"/>
              <a:t>Processing </a:t>
            </a:r>
            <a:r>
              <a:rPr spc="-10" dirty="0"/>
              <a:t>System</a:t>
            </a:r>
          </a:p>
          <a:p>
            <a:pPr marL="12700" marR="5080">
              <a:lnSpc>
                <a:spcPts val="3890"/>
              </a:lnSpc>
              <a:spcBef>
                <a:spcPts val="55"/>
              </a:spcBef>
            </a:pPr>
            <a:r>
              <a:rPr dirty="0"/>
              <a:t>/</a:t>
            </a:r>
            <a:r>
              <a:rPr spc="-135" dirty="0"/>
              <a:t> </a:t>
            </a:r>
            <a:r>
              <a:rPr spc="-85" dirty="0"/>
              <a:t>Translation </a:t>
            </a:r>
            <a:r>
              <a:rPr spc="-10" dirty="0"/>
              <a:t>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1724" y="3592144"/>
            <a:ext cx="2244725" cy="20427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Context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 marR="66040">
              <a:lnSpc>
                <a:spcPts val="3779"/>
              </a:lnSpc>
              <a:spcBef>
                <a:spcPts val="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/Cousins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58704" y="859472"/>
            <a:ext cx="2252980" cy="783590"/>
            <a:chOff x="3858704" y="859472"/>
            <a:chExt cx="2252980" cy="783590"/>
          </a:xfrm>
        </p:grpSpPr>
        <p:sp>
          <p:nvSpPr>
            <p:cNvPr id="5" name="object 5"/>
            <p:cNvSpPr/>
            <p:nvPr/>
          </p:nvSpPr>
          <p:spPr>
            <a:xfrm>
              <a:off x="3864101" y="864870"/>
              <a:ext cx="2242185" cy="772795"/>
            </a:xfrm>
            <a:custGeom>
              <a:avLst/>
              <a:gdLst/>
              <a:ahLst/>
              <a:cxnLst/>
              <a:rect l="l" t="t" r="r" b="b"/>
              <a:pathLst>
                <a:path w="2242185" h="772794">
                  <a:moveTo>
                    <a:pt x="2241804" y="0"/>
                  </a:moveTo>
                  <a:lnTo>
                    <a:pt x="0" y="0"/>
                  </a:lnTo>
                  <a:lnTo>
                    <a:pt x="0" y="772667"/>
                  </a:lnTo>
                  <a:lnTo>
                    <a:pt x="2241804" y="772667"/>
                  </a:lnTo>
                  <a:lnTo>
                    <a:pt x="2241804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64101" y="864870"/>
              <a:ext cx="2242185" cy="772795"/>
            </a:xfrm>
            <a:custGeom>
              <a:avLst/>
              <a:gdLst/>
              <a:ahLst/>
              <a:cxnLst/>
              <a:rect l="l" t="t" r="r" b="b"/>
              <a:pathLst>
                <a:path w="2242185" h="772794">
                  <a:moveTo>
                    <a:pt x="0" y="772667"/>
                  </a:moveTo>
                  <a:lnTo>
                    <a:pt x="2241804" y="772667"/>
                  </a:lnTo>
                  <a:lnTo>
                    <a:pt x="2241804" y="0"/>
                  </a:lnTo>
                  <a:lnTo>
                    <a:pt x="0" y="0"/>
                  </a:lnTo>
                  <a:lnTo>
                    <a:pt x="0" y="772667"/>
                  </a:lnTo>
                  <a:close/>
                </a:path>
              </a:pathLst>
            </a:custGeom>
            <a:ln w="10668">
              <a:solidFill>
                <a:srgbClr val="2C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99103" y="1047750"/>
            <a:ext cx="1972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mbria"/>
                <a:cs typeface="Cambria"/>
              </a:rPr>
              <a:t>Pre</a:t>
            </a:r>
            <a:r>
              <a:rPr sz="2400" b="1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mbria"/>
                <a:cs typeface="Cambria"/>
              </a:rPr>
              <a:t>Processor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704" y="2177732"/>
            <a:ext cx="2252980" cy="783590"/>
            <a:chOff x="3858704" y="2177732"/>
            <a:chExt cx="2252980" cy="783590"/>
          </a:xfrm>
        </p:grpSpPr>
        <p:sp>
          <p:nvSpPr>
            <p:cNvPr id="9" name="object 9"/>
            <p:cNvSpPr/>
            <p:nvPr/>
          </p:nvSpPr>
          <p:spPr>
            <a:xfrm>
              <a:off x="3864101" y="2183130"/>
              <a:ext cx="2242185" cy="772795"/>
            </a:xfrm>
            <a:custGeom>
              <a:avLst/>
              <a:gdLst/>
              <a:ahLst/>
              <a:cxnLst/>
              <a:rect l="l" t="t" r="r" b="b"/>
              <a:pathLst>
                <a:path w="2242185" h="772794">
                  <a:moveTo>
                    <a:pt x="2241804" y="0"/>
                  </a:moveTo>
                  <a:lnTo>
                    <a:pt x="0" y="0"/>
                  </a:lnTo>
                  <a:lnTo>
                    <a:pt x="0" y="772668"/>
                  </a:lnTo>
                  <a:lnTo>
                    <a:pt x="2241804" y="772668"/>
                  </a:lnTo>
                  <a:lnTo>
                    <a:pt x="2241804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64101" y="2183130"/>
              <a:ext cx="2242185" cy="772795"/>
            </a:xfrm>
            <a:custGeom>
              <a:avLst/>
              <a:gdLst/>
              <a:ahLst/>
              <a:cxnLst/>
              <a:rect l="l" t="t" r="r" b="b"/>
              <a:pathLst>
                <a:path w="2242185" h="772794">
                  <a:moveTo>
                    <a:pt x="0" y="772668"/>
                  </a:moveTo>
                  <a:lnTo>
                    <a:pt x="2241804" y="772668"/>
                  </a:lnTo>
                  <a:lnTo>
                    <a:pt x="2241804" y="0"/>
                  </a:lnTo>
                  <a:lnTo>
                    <a:pt x="0" y="0"/>
                  </a:lnTo>
                  <a:lnTo>
                    <a:pt x="0" y="772668"/>
                  </a:lnTo>
                  <a:close/>
                </a:path>
              </a:pathLst>
            </a:custGeom>
            <a:ln w="10668">
              <a:solidFill>
                <a:srgbClr val="2C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26763" y="2365628"/>
            <a:ext cx="1317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64102" y="3499865"/>
            <a:ext cx="2242185" cy="772795"/>
          </a:xfrm>
          <a:prstGeom prst="rect">
            <a:avLst/>
          </a:prstGeom>
          <a:solidFill>
            <a:srgbClr val="40B9D2"/>
          </a:solidFill>
          <a:ln w="10668">
            <a:solidFill>
              <a:srgbClr val="2C879A"/>
            </a:solidFill>
          </a:ln>
        </p:spPr>
        <p:txBody>
          <a:bodyPr vert="horz" wrap="square" lIns="0" tIns="19621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1545"/>
              </a:spcBef>
            </a:pPr>
            <a:r>
              <a:rPr sz="2400" b="1" spc="-10" dirty="0">
                <a:solidFill>
                  <a:srgbClr val="FFFFFF"/>
                </a:solidFill>
                <a:latin typeface="Cambria"/>
                <a:cs typeface="Cambria"/>
              </a:rPr>
              <a:t>Assembler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4102" y="4952238"/>
            <a:ext cx="2242185" cy="774700"/>
          </a:xfrm>
          <a:prstGeom prst="rect">
            <a:avLst/>
          </a:prstGeom>
          <a:solidFill>
            <a:srgbClr val="40B9D2"/>
          </a:solidFill>
          <a:ln w="10668">
            <a:solidFill>
              <a:srgbClr val="2C879A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627380" marR="502920" indent="-116205">
              <a:lnSpc>
                <a:spcPct val="100000"/>
              </a:lnSpc>
              <a:spcBef>
                <a:spcPts val="110"/>
              </a:spcBef>
            </a:pPr>
            <a:r>
              <a:rPr sz="2400" b="1" dirty="0">
                <a:solidFill>
                  <a:srgbClr val="FFFFFF"/>
                </a:solidFill>
                <a:latin typeface="Cambria"/>
                <a:cs typeface="Cambria"/>
              </a:rPr>
              <a:t>Linker</a:t>
            </a:r>
            <a:r>
              <a:rPr sz="2400" b="1" spc="-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mbria"/>
                <a:cs typeface="Cambria"/>
              </a:rPr>
              <a:t>&amp; </a:t>
            </a:r>
            <a:r>
              <a:rPr sz="2400" b="1" spc="-10" dirty="0">
                <a:solidFill>
                  <a:srgbClr val="FFFFFF"/>
                </a:solidFill>
                <a:latin typeface="Cambria"/>
                <a:cs typeface="Cambria"/>
              </a:rPr>
              <a:t>Loader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37760" y="314705"/>
            <a:ext cx="96520" cy="3185160"/>
          </a:xfrm>
          <a:custGeom>
            <a:avLst/>
            <a:gdLst/>
            <a:ahLst/>
            <a:cxnLst/>
            <a:rect l="l" t="t" r="r" b="b"/>
            <a:pathLst>
              <a:path w="96520" h="3185160">
                <a:moveTo>
                  <a:pt x="96012" y="3088894"/>
                </a:moveTo>
                <a:lnTo>
                  <a:pt x="64008" y="3088894"/>
                </a:lnTo>
                <a:lnTo>
                  <a:pt x="64008" y="2601468"/>
                </a:lnTo>
                <a:lnTo>
                  <a:pt x="32004" y="2601468"/>
                </a:lnTo>
                <a:lnTo>
                  <a:pt x="32004" y="3088894"/>
                </a:lnTo>
                <a:lnTo>
                  <a:pt x="0" y="3088894"/>
                </a:lnTo>
                <a:lnTo>
                  <a:pt x="48006" y="3184906"/>
                </a:lnTo>
                <a:lnTo>
                  <a:pt x="88011" y="3104896"/>
                </a:lnTo>
                <a:lnTo>
                  <a:pt x="96012" y="3088894"/>
                </a:lnTo>
                <a:close/>
              </a:path>
              <a:path w="96520" h="3185160">
                <a:moveTo>
                  <a:pt x="96012" y="1772031"/>
                </a:moveTo>
                <a:lnTo>
                  <a:pt x="64008" y="1772031"/>
                </a:lnTo>
                <a:lnTo>
                  <a:pt x="64008" y="1252728"/>
                </a:lnTo>
                <a:lnTo>
                  <a:pt x="32004" y="1252728"/>
                </a:lnTo>
                <a:lnTo>
                  <a:pt x="32004" y="1772031"/>
                </a:lnTo>
                <a:lnTo>
                  <a:pt x="0" y="1772031"/>
                </a:lnTo>
                <a:lnTo>
                  <a:pt x="48006" y="1868043"/>
                </a:lnTo>
                <a:lnTo>
                  <a:pt x="88011" y="1788033"/>
                </a:lnTo>
                <a:lnTo>
                  <a:pt x="96012" y="1772031"/>
                </a:lnTo>
                <a:close/>
              </a:path>
              <a:path w="96520" h="3185160">
                <a:moveTo>
                  <a:pt x="96012" y="454787"/>
                </a:moveTo>
                <a:lnTo>
                  <a:pt x="64008" y="454787"/>
                </a:lnTo>
                <a:lnTo>
                  <a:pt x="64008" y="0"/>
                </a:lnTo>
                <a:lnTo>
                  <a:pt x="32004" y="0"/>
                </a:lnTo>
                <a:lnTo>
                  <a:pt x="32004" y="454787"/>
                </a:lnTo>
                <a:lnTo>
                  <a:pt x="0" y="454787"/>
                </a:lnTo>
                <a:lnTo>
                  <a:pt x="48006" y="550799"/>
                </a:lnTo>
                <a:lnTo>
                  <a:pt x="87998" y="470789"/>
                </a:lnTo>
                <a:lnTo>
                  <a:pt x="96012" y="454787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37759" y="4272534"/>
            <a:ext cx="96520" cy="668020"/>
          </a:xfrm>
          <a:custGeom>
            <a:avLst/>
            <a:gdLst/>
            <a:ahLst/>
            <a:cxnLst/>
            <a:rect l="l" t="t" r="r" b="b"/>
            <a:pathLst>
              <a:path w="96520" h="668020">
                <a:moveTo>
                  <a:pt x="32003" y="572008"/>
                </a:moveTo>
                <a:lnTo>
                  <a:pt x="0" y="572008"/>
                </a:lnTo>
                <a:lnTo>
                  <a:pt x="48005" y="668020"/>
                </a:lnTo>
                <a:lnTo>
                  <a:pt x="88011" y="588010"/>
                </a:lnTo>
                <a:lnTo>
                  <a:pt x="32003" y="588010"/>
                </a:lnTo>
                <a:lnTo>
                  <a:pt x="32003" y="572008"/>
                </a:lnTo>
                <a:close/>
              </a:path>
              <a:path w="96520" h="668020">
                <a:moveTo>
                  <a:pt x="64007" y="0"/>
                </a:moveTo>
                <a:lnTo>
                  <a:pt x="32003" y="0"/>
                </a:lnTo>
                <a:lnTo>
                  <a:pt x="32003" y="588010"/>
                </a:lnTo>
                <a:lnTo>
                  <a:pt x="64007" y="588010"/>
                </a:lnTo>
                <a:lnTo>
                  <a:pt x="64007" y="0"/>
                </a:lnTo>
                <a:close/>
              </a:path>
              <a:path w="96520" h="668020">
                <a:moveTo>
                  <a:pt x="96012" y="572008"/>
                </a:moveTo>
                <a:lnTo>
                  <a:pt x="64007" y="572008"/>
                </a:lnTo>
                <a:lnTo>
                  <a:pt x="64007" y="588010"/>
                </a:lnTo>
                <a:lnTo>
                  <a:pt x="88011" y="588010"/>
                </a:lnTo>
                <a:lnTo>
                  <a:pt x="96012" y="572008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37759" y="5737097"/>
            <a:ext cx="96520" cy="668020"/>
          </a:xfrm>
          <a:custGeom>
            <a:avLst/>
            <a:gdLst/>
            <a:ahLst/>
            <a:cxnLst/>
            <a:rect l="l" t="t" r="r" b="b"/>
            <a:pathLst>
              <a:path w="96520" h="668020">
                <a:moveTo>
                  <a:pt x="32003" y="571982"/>
                </a:moveTo>
                <a:lnTo>
                  <a:pt x="0" y="571982"/>
                </a:lnTo>
                <a:lnTo>
                  <a:pt x="48005" y="667994"/>
                </a:lnTo>
                <a:lnTo>
                  <a:pt x="88011" y="587984"/>
                </a:lnTo>
                <a:lnTo>
                  <a:pt x="32003" y="587984"/>
                </a:lnTo>
                <a:lnTo>
                  <a:pt x="32003" y="571982"/>
                </a:lnTo>
                <a:close/>
              </a:path>
              <a:path w="96520" h="668020">
                <a:moveTo>
                  <a:pt x="64007" y="0"/>
                </a:moveTo>
                <a:lnTo>
                  <a:pt x="32003" y="0"/>
                </a:lnTo>
                <a:lnTo>
                  <a:pt x="32003" y="587984"/>
                </a:lnTo>
                <a:lnTo>
                  <a:pt x="64007" y="587984"/>
                </a:lnTo>
                <a:lnTo>
                  <a:pt x="64007" y="0"/>
                </a:lnTo>
                <a:close/>
              </a:path>
              <a:path w="96520" h="668020">
                <a:moveTo>
                  <a:pt x="96012" y="571982"/>
                </a:moveTo>
                <a:lnTo>
                  <a:pt x="64007" y="571982"/>
                </a:lnTo>
                <a:lnTo>
                  <a:pt x="64007" y="587984"/>
                </a:lnTo>
                <a:lnTo>
                  <a:pt x="88011" y="587984"/>
                </a:lnTo>
                <a:lnTo>
                  <a:pt x="96012" y="571982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67629" y="469519"/>
            <a:ext cx="427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"/>
                <a:cs typeface="Cambria"/>
              </a:rPr>
              <a:t>HLL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67629" y="1766061"/>
            <a:ext cx="938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Pure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HLL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67629" y="3050540"/>
            <a:ext cx="1953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"/>
                <a:cs typeface="Cambria"/>
              </a:rPr>
              <a:t>Assembly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Language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4378" y="4475479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Relocatable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Machine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code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64378" y="5900420"/>
            <a:ext cx="227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Absolute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Machine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code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05905" y="5291328"/>
            <a:ext cx="855344" cy="96520"/>
          </a:xfrm>
          <a:custGeom>
            <a:avLst/>
            <a:gdLst/>
            <a:ahLst/>
            <a:cxnLst/>
            <a:rect l="l" t="t" r="r" b="b"/>
            <a:pathLst>
              <a:path w="855345" h="96520">
                <a:moveTo>
                  <a:pt x="96012" y="0"/>
                </a:moveTo>
                <a:lnTo>
                  <a:pt x="0" y="48006"/>
                </a:lnTo>
                <a:lnTo>
                  <a:pt x="96012" y="96012"/>
                </a:lnTo>
                <a:lnTo>
                  <a:pt x="96012" y="64008"/>
                </a:lnTo>
                <a:lnTo>
                  <a:pt x="80010" y="64008"/>
                </a:lnTo>
                <a:lnTo>
                  <a:pt x="80010" y="32004"/>
                </a:lnTo>
                <a:lnTo>
                  <a:pt x="96012" y="32004"/>
                </a:lnTo>
                <a:lnTo>
                  <a:pt x="96012" y="0"/>
                </a:lnTo>
                <a:close/>
              </a:path>
              <a:path w="855345" h="96520">
                <a:moveTo>
                  <a:pt x="96012" y="32004"/>
                </a:moveTo>
                <a:lnTo>
                  <a:pt x="80010" y="32004"/>
                </a:lnTo>
                <a:lnTo>
                  <a:pt x="80010" y="64008"/>
                </a:lnTo>
                <a:lnTo>
                  <a:pt x="96012" y="64008"/>
                </a:lnTo>
                <a:lnTo>
                  <a:pt x="96012" y="32004"/>
                </a:lnTo>
                <a:close/>
              </a:path>
              <a:path w="855345" h="96520">
                <a:moveTo>
                  <a:pt x="855345" y="32004"/>
                </a:moveTo>
                <a:lnTo>
                  <a:pt x="96012" y="32004"/>
                </a:lnTo>
                <a:lnTo>
                  <a:pt x="96012" y="64008"/>
                </a:lnTo>
                <a:lnTo>
                  <a:pt x="855345" y="64008"/>
                </a:lnTo>
                <a:lnTo>
                  <a:pt x="855345" y="32004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29398" y="5089905"/>
            <a:ext cx="22567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Library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,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Relocatable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object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files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1122629"/>
            <a:ext cx="2494280" cy="25501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434975">
              <a:lnSpc>
                <a:spcPct val="90000"/>
              </a:lnSpc>
              <a:spcBef>
                <a:spcPts val="535"/>
              </a:spcBef>
            </a:pPr>
            <a:r>
              <a:rPr spc="-10" dirty="0"/>
              <a:t>Language </a:t>
            </a:r>
            <a:r>
              <a:rPr spc="-75" dirty="0"/>
              <a:t>Processing </a:t>
            </a:r>
            <a:r>
              <a:rPr spc="-10" dirty="0"/>
              <a:t>System</a:t>
            </a:r>
          </a:p>
          <a:p>
            <a:pPr marL="12700" marR="5080">
              <a:lnSpc>
                <a:spcPts val="3890"/>
              </a:lnSpc>
              <a:spcBef>
                <a:spcPts val="55"/>
              </a:spcBef>
            </a:pPr>
            <a:r>
              <a:rPr dirty="0"/>
              <a:t>/</a:t>
            </a:r>
            <a:r>
              <a:rPr spc="-135" dirty="0"/>
              <a:t> </a:t>
            </a:r>
            <a:r>
              <a:rPr spc="-85" dirty="0"/>
              <a:t>Translation </a:t>
            </a:r>
            <a:r>
              <a:rPr spc="-10" dirty="0"/>
              <a:t>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1724" y="3592144"/>
            <a:ext cx="2244725" cy="20427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Context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 marR="66040">
              <a:lnSpc>
                <a:spcPts val="3779"/>
              </a:lnSpc>
              <a:spcBef>
                <a:spcPts val="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/Cousins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389127"/>
            <a:ext cx="4857750" cy="195262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There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cousins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</a:t>
            </a:r>
            <a:endParaRPr sz="24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10"/>
              </a:spcBef>
              <a:buAutoNum type="arabicParenR"/>
              <a:tabLst>
                <a:tab pos="469900" algn="l"/>
              </a:tabLst>
            </a:pPr>
            <a:r>
              <a:rPr sz="2400" spc="-10" dirty="0">
                <a:latin typeface="Cambria"/>
                <a:cs typeface="Cambria"/>
              </a:rPr>
              <a:t>Preprocessor</a:t>
            </a:r>
            <a:endParaRPr sz="24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15"/>
              </a:spcBef>
              <a:buAutoNum type="arabicParenR"/>
              <a:tabLst>
                <a:tab pos="469900" algn="l"/>
              </a:tabLst>
            </a:pPr>
            <a:r>
              <a:rPr sz="2400" spc="-10" dirty="0">
                <a:latin typeface="Cambria"/>
                <a:cs typeface="Cambria"/>
              </a:rPr>
              <a:t>Assembler</a:t>
            </a:r>
            <a:endParaRPr sz="24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10"/>
              </a:spcBef>
              <a:buAutoNum type="arabicParenR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Linker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Loader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1122629"/>
            <a:ext cx="2494280" cy="25501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434975">
              <a:lnSpc>
                <a:spcPct val="90000"/>
              </a:lnSpc>
              <a:spcBef>
                <a:spcPts val="535"/>
              </a:spcBef>
            </a:pPr>
            <a:r>
              <a:rPr spc="-10" dirty="0"/>
              <a:t>Language </a:t>
            </a:r>
            <a:r>
              <a:rPr spc="-75" dirty="0"/>
              <a:t>Processing </a:t>
            </a:r>
            <a:r>
              <a:rPr spc="-10" dirty="0"/>
              <a:t>System</a:t>
            </a:r>
          </a:p>
          <a:p>
            <a:pPr marL="12700" marR="5080">
              <a:lnSpc>
                <a:spcPts val="3890"/>
              </a:lnSpc>
              <a:spcBef>
                <a:spcPts val="55"/>
              </a:spcBef>
            </a:pPr>
            <a:r>
              <a:rPr dirty="0"/>
              <a:t>/</a:t>
            </a:r>
            <a:r>
              <a:rPr spc="-135" dirty="0"/>
              <a:t> </a:t>
            </a:r>
            <a:r>
              <a:rPr spc="-85" dirty="0"/>
              <a:t>Translation </a:t>
            </a:r>
            <a:r>
              <a:rPr spc="-10" dirty="0"/>
              <a:t>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1724" y="3592144"/>
            <a:ext cx="2244725" cy="20427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Context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 marR="66040">
              <a:lnSpc>
                <a:spcPts val="3779"/>
              </a:lnSpc>
              <a:spcBef>
                <a:spcPts val="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/Cousins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388518"/>
            <a:ext cx="7467600" cy="5872762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  <a:tabLst>
                <a:tab pos="469900" algn="l"/>
              </a:tabLst>
            </a:pPr>
            <a:r>
              <a:rPr sz="2000" b="1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Preprocessor</a:t>
            </a:r>
            <a:endParaRPr lang="en-IN" sz="20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  <a:tabLst>
                <a:tab pos="469900" algn="l"/>
              </a:tabLst>
            </a:pPr>
            <a:endParaRPr lang="en-IN" sz="20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rtl="0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preprocessor processes the source code before compilation begins.</a:t>
            </a:r>
          </a:p>
          <a:p>
            <a:pPr rtl="0" fontAlgn="base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rtl="0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performs the following tasks:</a:t>
            </a:r>
          </a:p>
          <a:p>
            <a:pPr rtl="0" fontAlgn="base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File inclusion (#include)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Macro expansion (#define)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Removal of comments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Conditional compilation</a:t>
            </a:r>
          </a:p>
          <a:p>
            <a:pPr fontAlgn="base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rtl="0" fontAlgn="base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the program contains #include &lt;stdio.h&gt;, the preprocessor replaces this directive with the actual contents of the stdio.h file in the output.</a:t>
            </a: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AutoNum type="arabicParenR"/>
              <a:tabLst>
                <a:tab pos="469900" algn="l"/>
              </a:tabLst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600" spc="-114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🞄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1122629"/>
            <a:ext cx="2494280" cy="25501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434975">
              <a:lnSpc>
                <a:spcPct val="90000"/>
              </a:lnSpc>
              <a:spcBef>
                <a:spcPts val="535"/>
              </a:spcBef>
            </a:pPr>
            <a:r>
              <a:rPr spc="-10" dirty="0"/>
              <a:t>Language </a:t>
            </a:r>
            <a:r>
              <a:rPr spc="-75" dirty="0"/>
              <a:t>Processing </a:t>
            </a:r>
            <a:r>
              <a:rPr spc="-10" dirty="0"/>
              <a:t>System</a:t>
            </a:r>
          </a:p>
          <a:p>
            <a:pPr marL="12700" marR="5080">
              <a:lnSpc>
                <a:spcPts val="3890"/>
              </a:lnSpc>
              <a:spcBef>
                <a:spcPts val="55"/>
              </a:spcBef>
            </a:pPr>
            <a:r>
              <a:rPr dirty="0"/>
              <a:t>/</a:t>
            </a:r>
            <a:r>
              <a:rPr spc="-135" dirty="0"/>
              <a:t> </a:t>
            </a:r>
            <a:r>
              <a:rPr spc="-85" dirty="0"/>
              <a:t>Translation </a:t>
            </a:r>
            <a:r>
              <a:rPr spc="-10" dirty="0"/>
              <a:t>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1724" y="3592144"/>
            <a:ext cx="2244725" cy="20427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Context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 marR="66040">
              <a:lnSpc>
                <a:spcPts val="3779"/>
              </a:lnSpc>
              <a:spcBef>
                <a:spcPts val="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/Cousins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389127"/>
            <a:ext cx="6700520" cy="195262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469900" algn="l"/>
              </a:tabLst>
            </a:pPr>
            <a:r>
              <a:rPr sz="2400" b="1" spc="-25" dirty="0">
                <a:latin typeface="Cambria"/>
                <a:cs typeface="Cambria"/>
              </a:rPr>
              <a:t>1)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10" dirty="0">
                <a:latin typeface="Cambria"/>
                <a:cs typeface="Cambria"/>
              </a:rPr>
              <a:t>Preprocessor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Macro</a:t>
            </a:r>
            <a:r>
              <a:rPr sz="2400" spc="-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processor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deal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two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kinds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statement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Cambria"/>
                <a:cs typeface="Cambria"/>
              </a:rPr>
              <a:t>Macro</a:t>
            </a:r>
            <a:r>
              <a:rPr sz="2400" spc="-1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Definition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Cambria"/>
                <a:cs typeface="Cambria"/>
              </a:rPr>
              <a:t>Macro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Use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7954" y="4602680"/>
            <a:ext cx="7929246" cy="2230739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15"/>
              </a:spcBef>
              <a:buFont typeface="Wingdings" panose="05000000000000000000" pitchFamily="2" charset="2"/>
              <a:buChar char="q"/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Formal</a:t>
            </a:r>
            <a:r>
              <a:rPr sz="2000" spc="-12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0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Parameters</a:t>
            </a:r>
            <a:endParaRPr lang="en-IN" sz="2000" spc="-35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lang="en-IN" sz="20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add(5, 3)</a:t>
            </a: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lang="en-IN" sz="20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 = 5</a:t>
            </a: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lang="en-IN" sz="2000" spc="-3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b = 3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Font typeface="Wingdings" panose="05000000000000000000" pitchFamily="2" charset="2"/>
              <a:buChar char="q"/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Actual</a:t>
            </a:r>
            <a:r>
              <a:rPr sz="2000" spc="-9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0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Parameters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7823" y="2507027"/>
            <a:ext cx="4597712" cy="21411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122629"/>
            <a:ext cx="2494280" cy="45123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434975">
              <a:lnSpc>
                <a:spcPct val="90000"/>
              </a:lnSpc>
              <a:spcBef>
                <a:spcPts val="535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Processing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ts val="3890"/>
              </a:lnSpc>
              <a:spcBef>
                <a:spcPts val="55"/>
              </a:spcBef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Translation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Processor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Context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890"/>
              </a:lnSpc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 marR="316230">
              <a:lnSpc>
                <a:spcPts val="3779"/>
              </a:lnSpc>
              <a:spcBef>
                <a:spcPts val="360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/Cousins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505205"/>
            <a:ext cx="1970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400" b="1" spc="-25" dirty="0">
                <a:latin typeface="Cambria"/>
                <a:cs typeface="Cambria"/>
              </a:rPr>
              <a:t>2)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10" dirty="0">
                <a:latin typeface="Cambria"/>
                <a:cs typeface="Cambria"/>
              </a:rPr>
              <a:t>Assembler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987044"/>
            <a:ext cx="3204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9940" algn="l"/>
                <a:tab pos="2362835" algn="l"/>
                <a:tab pos="3042920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Cambria"/>
                <a:cs typeface="Cambria"/>
              </a:rPr>
              <a:t>An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assembler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70826" y="987044"/>
            <a:ext cx="4054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9875" algn="l"/>
                <a:tab pos="2390140" algn="l"/>
                <a:tab pos="2885440" algn="l"/>
              </a:tabLst>
            </a:pPr>
            <a:r>
              <a:rPr sz="2400" spc="-10" dirty="0">
                <a:latin typeface="Cambria"/>
                <a:cs typeface="Cambria"/>
              </a:rPr>
              <a:t>translator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used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translate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1089" y="1316228"/>
            <a:ext cx="5679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mbria"/>
                <a:cs typeface="Cambria"/>
              </a:rPr>
              <a:t>assembly</a:t>
            </a:r>
            <a:r>
              <a:rPr sz="2400" b="1" spc="-9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language</a:t>
            </a:r>
            <a:r>
              <a:rPr sz="2400" b="1" spc="-8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to</a:t>
            </a:r>
            <a:r>
              <a:rPr sz="2400" b="1" spc="-10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machine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language.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7954" y="1797811"/>
            <a:ext cx="7468870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5580" marR="5080" indent="-183515" algn="just">
              <a:lnSpc>
                <a:spcPct val="90000"/>
              </a:lnSpc>
              <a:spcBef>
                <a:spcPts val="38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An</a:t>
            </a:r>
            <a:r>
              <a:rPr sz="2400" spc="12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assembler</a:t>
            </a:r>
            <a:r>
              <a:rPr sz="2400" spc="127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translates</a:t>
            </a:r>
            <a:r>
              <a:rPr sz="2400" spc="12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12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low-</a:t>
            </a:r>
            <a:r>
              <a:rPr sz="2400" spc="-30" dirty="0">
                <a:latin typeface="Cambria"/>
                <a:cs typeface="Cambria"/>
              </a:rPr>
              <a:t>level</a:t>
            </a:r>
            <a:r>
              <a:rPr sz="2400" spc="12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language,</a:t>
            </a:r>
            <a:r>
              <a:rPr sz="2400" spc="1280" dirty="0">
                <a:latin typeface="Cambria"/>
                <a:cs typeface="Cambria"/>
              </a:rPr>
              <a:t> </a:t>
            </a:r>
            <a:r>
              <a:rPr sz="2400" spc="-90" dirty="0">
                <a:latin typeface="Cambria"/>
                <a:cs typeface="Cambria"/>
              </a:rPr>
              <a:t>an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assembly</a:t>
            </a:r>
            <a:r>
              <a:rPr sz="2400" spc="7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language</a:t>
            </a:r>
            <a:r>
              <a:rPr sz="2400" spc="7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o</a:t>
            </a:r>
            <a:r>
              <a:rPr sz="2400" spc="7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7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even</a:t>
            </a:r>
            <a:r>
              <a:rPr sz="2400" spc="7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lower-</a:t>
            </a:r>
            <a:r>
              <a:rPr sz="2400" spc="-30" dirty="0">
                <a:latin typeface="Cambria"/>
                <a:cs typeface="Cambria"/>
              </a:rPr>
              <a:t>level</a:t>
            </a:r>
            <a:r>
              <a:rPr sz="2400" spc="7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language,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which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machine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code.</a:t>
            </a:r>
            <a:r>
              <a:rPr sz="2400" spc="11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machine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code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can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be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directly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understood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by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CP</a:t>
            </a:r>
            <a:r>
              <a:rPr sz="2400" spc="-55" dirty="0">
                <a:latin typeface="Cambria"/>
                <a:cs typeface="Cambria"/>
              </a:rPr>
              <a:t>U</a:t>
            </a:r>
            <a:r>
              <a:rPr sz="240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7953" y="3633342"/>
            <a:ext cx="1158240" cy="988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Source </a:t>
            </a:r>
            <a:r>
              <a:rPr sz="2400" spc="-20" dirty="0">
                <a:latin typeface="Cambria"/>
                <a:cs typeface="Cambria"/>
              </a:rPr>
              <a:t>Program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55683" y="3633342"/>
            <a:ext cx="1158240" cy="988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">
              <a:lnSpc>
                <a:spcPct val="1317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Target </a:t>
            </a:r>
            <a:r>
              <a:rPr sz="2400" spc="-20" dirty="0">
                <a:latin typeface="Cambria"/>
                <a:cs typeface="Cambria"/>
              </a:rPr>
              <a:t>Program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59090" y="4712589"/>
            <a:ext cx="737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Error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53021" y="3748278"/>
            <a:ext cx="2240280" cy="94678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2130"/>
              </a:spcBef>
            </a:pPr>
            <a:r>
              <a:rPr sz="2400" b="1" spc="-10" dirty="0">
                <a:solidFill>
                  <a:srgbClr val="FFFFFF"/>
                </a:solidFill>
                <a:latin typeface="Corbel"/>
                <a:cs typeface="Corbel"/>
              </a:rPr>
              <a:t>Assembler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37938" y="4173982"/>
            <a:ext cx="1814195" cy="96520"/>
          </a:xfrm>
          <a:custGeom>
            <a:avLst/>
            <a:gdLst/>
            <a:ahLst/>
            <a:cxnLst/>
            <a:rect l="l" t="t" r="r" b="b"/>
            <a:pathLst>
              <a:path w="1814195" h="96520">
                <a:moveTo>
                  <a:pt x="1718056" y="0"/>
                </a:moveTo>
                <a:lnTo>
                  <a:pt x="1718056" y="96012"/>
                </a:lnTo>
                <a:lnTo>
                  <a:pt x="1782064" y="64008"/>
                </a:lnTo>
                <a:lnTo>
                  <a:pt x="1734058" y="64008"/>
                </a:lnTo>
                <a:lnTo>
                  <a:pt x="1734058" y="32004"/>
                </a:lnTo>
                <a:lnTo>
                  <a:pt x="1782064" y="32004"/>
                </a:lnTo>
                <a:lnTo>
                  <a:pt x="1718056" y="0"/>
                </a:lnTo>
                <a:close/>
              </a:path>
              <a:path w="1814195" h="96520">
                <a:moveTo>
                  <a:pt x="0" y="30734"/>
                </a:moveTo>
                <a:lnTo>
                  <a:pt x="0" y="62738"/>
                </a:lnTo>
                <a:lnTo>
                  <a:pt x="1734057" y="64008"/>
                </a:lnTo>
                <a:lnTo>
                  <a:pt x="1718056" y="64008"/>
                </a:lnTo>
                <a:lnTo>
                  <a:pt x="1718056" y="32004"/>
                </a:lnTo>
                <a:lnTo>
                  <a:pt x="1734057" y="32004"/>
                </a:lnTo>
                <a:lnTo>
                  <a:pt x="0" y="30734"/>
                </a:lnTo>
                <a:close/>
              </a:path>
              <a:path w="1814195" h="96520">
                <a:moveTo>
                  <a:pt x="1782064" y="32004"/>
                </a:moveTo>
                <a:lnTo>
                  <a:pt x="1734058" y="32004"/>
                </a:lnTo>
                <a:lnTo>
                  <a:pt x="1734058" y="64008"/>
                </a:lnTo>
                <a:lnTo>
                  <a:pt x="1782064" y="64008"/>
                </a:lnTo>
                <a:lnTo>
                  <a:pt x="1814067" y="48006"/>
                </a:lnTo>
                <a:lnTo>
                  <a:pt x="1782064" y="32004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93302" y="4172458"/>
            <a:ext cx="1814195" cy="96520"/>
          </a:xfrm>
          <a:custGeom>
            <a:avLst/>
            <a:gdLst/>
            <a:ahLst/>
            <a:cxnLst/>
            <a:rect l="l" t="t" r="r" b="b"/>
            <a:pathLst>
              <a:path w="1814195" h="96520">
                <a:moveTo>
                  <a:pt x="1718055" y="0"/>
                </a:moveTo>
                <a:lnTo>
                  <a:pt x="1718055" y="96012"/>
                </a:lnTo>
                <a:lnTo>
                  <a:pt x="1782063" y="64008"/>
                </a:lnTo>
                <a:lnTo>
                  <a:pt x="1734057" y="64008"/>
                </a:lnTo>
                <a:lnTo>
                  <a:pt x="1734057" y="32004"/>
                </a:lnTo>
                <a:lnTo>
                  <a:pt x="1782064" y="32004"/>
                </a:lnTo>
                <a:lnTo>
                  <a:pt x="1718055" y="0"/>
                </a:lnTo>
                <a:close/>
              </a:path>
              <a:path w="1814195" h="96520">
                <a:moveTo>
                  <a:pt x="0" y="30734"/>
                </a:moveTo>
                <a:lnTo>
                  <a:pt x="0" y="62738"/>
                </a:lnTo>
                <a:lnTo>
                  <a:pt x="1734057" y="64008"/>
                </a:lnTo>
                <a:lnTo>
                  <a:pt x="1718055" y="64008"/>
                </a:lnTo>
                <a:lnTo>
                  <a:pt x="1718055" y="32004"/>
                </a:lnTo>
                <a:lnTo>
                  <a:pt x="1734057" y="32004"/>
                </a:lnTo>
                <a:lnTo>
                  <a:pt x="0" y="30734"/>
                </a:lnTo>
                <a:close/>
              </a:path>
              <a:path w="1814195" h="96520">
                <a:moveTo>
                  <a:pt x="1782064" y="32004"/>
                </a:moveTo>
                <a:lnTo>
                  <a:pt x="1734057" y="32004"/>
                </a:lnTo>
                <a:lnTo>
                  <a:pt x="1734057" y="64008"/>
                </a:lnTo>
                <a:lnTo>
                  <a:pt x="1782063" y="64008"/>
                </a:lnTo>
                <a:lnTo>
                  <a:pt x="1814068" y="48006"/>
                </a:lnTo>
                <a:lnTo>
                  <a:pt x="1782064" y="32004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25156" y="4694682"/>
            <a:ext cx="96520" cy="572770"/>
          </a:xfrm>
          <a:custGeom>
            <a:avLst/>
            <a:gdLst/>
            <a:ahLst/>
            <a:cxnLst/>
            <a:rect l="l" t="t" r="r" b="b"/>
            <a:pathLst>
              <a:path w="96520" h="572770">
                <a:moveTo>
                  <a:pt x="32003" y="476504"/>
                </a:moveTo>
                <a:lnTo>
                  <a:pt x="0" y="476504"/>
                </a:lnTo>
                <a:lnTo>
                  <a:pt x="48005" y="572516"/>
                </a:lnTo>
                <a:lnTo>
                  <a:pt x="88011" y="492506"/>
                </a:lnTo>
                <a:lnTo>
                  <a:pt x="32003" y="492506"/>
                </a:lnTo>
                <a:lnTo>
                  <a:pt x="32003" y="476504"/>
                </a:lnTo>
                <a:close/>
              </a:path>
              <a:path w="96520" h="572770">
                <a:moveTo>
                  <a:pt x="64008" y="0"/>
                </a:moveTo>
                <a:lnTo>
                  <a:pt x="32003" y="0"/>
                </a:lnTo>
                <a:lnTo>
                  <a:pt x="32003" y="492506"/>
                </a:lnTo>
                <a:lnTo>
                  <a:pt x="64008" y="492506"/>
                </a:lnTo>
                <a:lnTo>
                  <a:pt x="64008" y="0"/>
                </a:lnTo>
                <a:close/>
              </a:path>
              <a:path w="96520" h="572770">
                <a:moveTo>
                  <a:pt x="96012" y="476504"/>
                </a:moveTo>
                <a:lnTo>
                  <a:pt x="64008" y="476504"/>
                </a:lnTo>
                <a:lnTo>
                  <a:pt x="64008" y="492506"/>
                </a:lnTo>
                <a:lnTo>
                  <a:pt x="88011" y="492506"/>
                </a:lnTo>
                <a:lnTo>
                  <a:pt x="96012" y="476504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122629"/>
            <a:ext cx="2494280" cy="45123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434975">
              <a:lnSpc>
                <a:spcPct val="90000"/>
              </a:lnSpc>
              <a:spcBef>
                <a:spcPts val="535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Processing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ts val="3890"/>
              </a:lnSpc>
              <a:spcBef>
                <a:spcPts val="55"/>
              </a:spcBef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Translation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Processor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Context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890"/>
              </a:lnSpc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 marR="316230">
              <a:lnSpc>
                <a:spcPts val="3779"/>
              </a:lnSpc>
              <a:spcBef>
                <a:spcPts val="360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/Cousins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6965" cy="164782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15"/>
              </a:spcBef>
            </a:pPr>
            <a:r>
              <a:rPr sz="2400" b="1" dirty="0">
                <a:latin typeface="Cambria"/>
                <a:cs typeface="Cambria"/>
              </a:rPr>
              <a:t>2)</a:t>
            </a:r>
            <a:r>
              <a:rPr sz="2400" b="1" spc="60" dirty="0">
                <a:latin typeface="Cambria"/>
                <a:cs typeface="Cambria"/>
              </a:rPr>
              <a:t>  </a:t>
            </a:r>
            <a:r>
              <a:rPr sz="2400" b="1" spc="-10" dirty="0">
                <a:latin typeface="Cambria"/>
                <a:cs typeface="Cambria"/>
              </a:rPr>
              <a:t>Assembler</a:t>
            </a:r>
            <a:endParaRPr sz="2400">
              <a:latin typeface="Cambria"/>
              <a:cs typeface="Cambria"/>
            </a:endParaRPr>
          </a:p>
          <a:p>
            <a:pPr marL="195580" marR="5080" indent="-183515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Cambria"/>
                <a:cs typeface="Cambria"/>
              </a:rPr>
              <a:t>Assembly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code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mnemonic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version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machine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code,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which</a:t>
            </a:r>
            <a:r>
              <a:rPr sz="2400" spc="4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names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are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used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instead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binary</a:t>
            </a:r>
            <a:r>
              <a:rPr sz="2400" spc="4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codes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</a:t>
            </a:r>
            <a:r>
              <a:rPr sz="2400" dirty="0">
                <a:latin typeface="Cambria"/>
                <a:cs typeface="Cambria"/>
              </a:rPr>
              <a:t>or </a:t>
            </a:r>
            <a:r>
              <a:rPr sz="2400" spc="-15" dirty="0">
                <a:latin typeface="Cambria"/>
                <a:cs typeface="Cambria"/>
              </a:rPr>
              <a:t>operation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and</a:t>
            </a:r>
            <a:r>
              <a:rPr sz="2400" spc="-15" dirty="0">
                <a:latin typeface="Cambria"/>
                <a:cs typeface="Cambria"/>
              </a:rPr>
              <a:t> names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are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also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given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memory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address.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1332" y="2787781"/>
            <a:ext cx="4277868" cy="32685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122629"/>
            <a:ext cx="2494280" cy="45123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434975">
              <a:lnSpc>
                <a:spcPct val="90000"/>
              </a:lnSpc>
              <a:spcBef>
                <a:spcPts val="535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Language 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Processing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ts val="3890"/>
              </a:lnSpc>
              <a:spcBef>
                <a:spcPts val="55"/>
              </a:spcBef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Translation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Processor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Context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890"/>
              </a:lnSpc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 marR="316230">
              <a:lnSpc>
                <a:spcPts val="3779"/>
              </a:lnSpc>
              <a:spcBef>
                <a:spcPts val="360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/Cousins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8870" cy="489140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15"/>
              </a:spcBef>
            </a:pPr>
            <a:r>
              <a:rPr sz="2400" dirty="0">
                <a:latin typeface="Cambria"/>
                <a:cs typeface="Cambria"/>
              </a:rPr>
              <a:t>3)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Linker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and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Loader</a:t>
            </a:r>
            <a:endParaRPr sz="2400">
              <a:latin typeface="Cambria"/>
              <a:cs typeface="Cambria"/>
            </a:endParaRPr>
          </a:p>
          <a:p>
            <a:pPr marL="195580" marR="7620" indent="-183515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called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loader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performs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two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functions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120" dirty="0">
                <a:latin typeface="Cambria"/>
                <a:cs typeface="Cambria"/>
              </a:rPr>
              <a:t>of</a:t>
            </a:r>
            <a:r>
              <a:rPr sz="2400" spc="-15" dirty="0">
                <a:latin typeface="Cambria"/>
                <a:cs typeface="Cambria"/>
              </a:rPr>
              <a:t> loading</a:t>
            </a:r>
            <a:r>
              <a:rPr sz="2400" spc="-10" dirty="0">
                <a:latin typeface="Cambria"/>
                <a:cs typeface="Cambria"/>
              </a:rPr>
              <a:t> and</a:t>
            </a:r>
            <a:r>
              <a:rPr sz="2400" spc="-5" dirty="0">
                <a:latin typeface="Cambria"/>
                <a:cs typeface="Cambria"/>
              </a:rPr>
              <a:t> lin</a:t>
            </a:r>
            <a:r>
              <a:rPr sz="2400" dirty="0">
                <a:latin typeface="Cambria"/>
                <a:cs typeface="Cambria"/>
              </a:rPr>
              <a:t>k</a:t>
            </a:r>
            <a:r>
              <a:rPr sz="2400" spc="-5" dirty="0">
                <a:latin typeface="Cambria"/>
                <a:cs typeface="Cambria"/>
              </a:rPr>
              <a:t> editing</a:t>
            </a:r>
            <a:endParaRPr sz="2400">
              <a:latin typeface="Cambria"/>
              <a:cs typeface="Cambria"/>
            </a:endParaRPr>
          </a:p>
          <a:p>
            <a:pPr marL="195580" marR="5715" indent="-183515" algn="just">
              <a:lnSpc>
                <a:spcPct val="90000"/>
              </a:lnSpc>
              <a:spcBef>
                <a:spcPts val="116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7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process</a:t>
            </a:r>
            <a:r>
              <a:rPr sz="2400" spc="7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7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loading</a:t>
            </a:r>
            <a:r>
              <a:rPr sz="2400" spc="6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consist</a:t>
            </a:r>
            <a:r>
              <a:rPr sz="2400" spc="7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7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taking</a:t>
            </a:r>
            <a:r>
              <a:rPr sz="2400" spc="69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relocatable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machine</a:t>
            </a:r>
            <a:r>
              <a:rPr sz="2400" spc="66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code</a:t>
            </a:r>
            <a:r>
              <a:rPr sz="2400" spc="6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68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al</a:t>
            </a:r>
            <a:r>
              <a:rPr sz="2400" spc="-25" dirty="0">
                <a:latin typeface="Cambria"/>
                <a:cs typeface="Cambria"/>
              </a:rPr>
              <a:t>t</a:t>
            </a:r>
            <a:r>
              <a:rPr sz="2400" spc="-5" dirty="0">
                <a:latin typeface="Cambria"/>
                <a:cs typeface="Cambria"/>
              </a:rPr>
              <a:t>erin</a:t>
            </a:r>
            <a:r>
              <a:rPr sz="2400" dirty="0">
                <a:latin typeface="Cambria"/>
                <a:cs typeface="Cambria"/>
              </a:rPr>
              <a:t>g</a:t>
            </a:r>
            <a:r>
              <a:rPr sz="2400" spc="6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6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relocatable</a:t>
            </a:r>
            <a:r>
              <a:rPr sz="2400" spc="6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address</a:t>
            </a:r>
            <a:r>
              <a:rPr sz="2400" spc="6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and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placing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altered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instructions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and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data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memory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at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proper </a:t>
            </a:r>
            <a:r>
              <a:rPr sz="2400" spc="-10" dirty="0">
                <a:latin typeface="Cambria"/>
                <a:cs typeface="Cambria"/>
              </a:rPr>
              <a:t>location.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ts val="2735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Linker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allows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make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single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program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several</a:t>
            </a:r>
            <a:endParaRPr sz="2400">
              <a:latin typeface="Cambria"/>
              <a:cs typeface="Cambria"/>
            </a:endParaRPr>
          </a:p>
          <a:p>
            <a:pPr marL="195580" algn="just">
              <a:lnSpc>
                <a:spcPts val="2735"/>
              </a:lnSpc>
            </a:pPr>
            <a:r>
              <a:rPr sz="2400" dirty="0">
                <a:latin typeface="Cambria"/>
                <a:cs typeface="Cambria"/>
              </a:rPr>
              <a:t>files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relocatable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machine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code.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9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Types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Linking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Dynamic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ts val="2735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Types</a:t>
            </a:r>
            <a:r>
              <a:rPr sz="2400" spc="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7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Loader</a:t>
            </a:r>
            <a:r>
              <a:rPr sz="2400" spc="8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Compile</a:t>
            </a:r>
            <a:r>
              <a:rPr sz="2400" spc="8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Go</a:t>
            </a:r>
            <a:r>
              <a:rPr sz="2400" spc="7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loader,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Absolute</a:t>
            </a:r>
            <a:endParaRPr sz="2400">
              <a:latin typeface="Cambria"/>
              <a:cs typeface="Cambria"/>
            </a:endParaRPr>
          </a:p>
          <a:p>
            <a:pPr marL="195580" algn="just">
              <a:lnSpc>
                <a:spcPts val="2735"/>
              </a:lnSpc>
            </a:pPr>
            <a:r>
              <a:rPr sz="2400" spc="-35" dirty="0">
                <a:latin typeface="Cambria"/>
                <a:cs typeface="Cambria"/>
              </a:rPr>
              <a:t>Loader,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Relocating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Loader.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01917" y="3490721"/>
            <a:ext cx="2425065" cy="3142615"/>
          </a:xfrm>
          <a:custGeom>
            <a:avLst/>
            <a:gdLst/>
            <a:ahLst/>
            <a:cxnLst/>
            <a:rect l="l" t="t" r="r" b="b"/>
            <a:pathLst>
              <a:path w="2425065" h="3142615">
                <a:moveTo>
                  <a:pt x="0" y="404113"/>
                </a:moveTo>
                <a:lnTo>
                  <a:pt x="2719" y="356994"/>
                </a:lnTo>
                <a:lnTo>
                  <a:pt x="10675" y="311469"/>
                </a:lnTo>
                <a:lnTo>
                  <a:pt x="23564" y="267841"/>
                </a:lnTo>
                <a:lnTo>
                  <a:pt x="41082" y="226415"/>
                </a:lnTo>
                <a:lnTo>
                  <a:pt x="62927" y="187494"/>
                </a:lnTo>
                <a:lnTo>
                  <a:pt x="88794" y="151381"/>
                </a:lnTo>
                <a:lnTo>
                  <a:pt x="118379" y="118379"/>
                </a:lnTo>
                <a:lnTo>
                  <a:pt x="151381" y="88794"/>
                </a:lnTo>
                <a:lnTo>
                  <a:pt x="187494" y="62927"/>
                </a:lnTo>
                <a:lnTo>
                  <a:pt x="226415" y="41082"/>
                </a:lnTo>
                <a:lnTo>
                  <a:pt x="267841" y="23564"/>
                </a:lnTo>
                <a:lnTo>
                  <a:pt x="311469" y="10675"/>
                </a:lnTo>
                <a:lnTo>
                  <a:pt x="356994" y="2719"/>
                </a:lnTo>
                <a:lnTo>
                  <a:pt x="404113" y="0"/>
                </a:lnTo>
                <a:lnTo>
                  <a:pt x="2020570" y="0"/>
                </a:lnTo>
                <a:lnTo>
                  <a:pt x="2067689" y="2719"/>
                </a:lnTo>
                <a:lnTo>
                  <a:pt x="2113214" y="10675"/>
                </a:lnTo>
                <a:lnTo>
                  <a:pt x="2156842" y="23564"/>
                </a:lnTo>
                <a:lnTo>
                  <a:pt x="2198268" y="41082"/>
                </a:lnTo>
                <a:lnTo>
                  <a:pt x="2237189" y="62927"/>
                </a:lnTo>
                <a:lnTo>
                  <a:pt x="2273302" y="88794"/>
                </a:lnTo>
                <a:lnTo>
                  <a:pt x="2306304" y="118379"/>
                </a:lnTo>
                <a:lnTo>
                  <a:pt x="2335889" y="151381"/>
                </a:lnTo>
                <a:lnTo>
                  <a:pt x="2361756" y="187494"/>
                </a:lnTo>
                <a:lnTo>
                  <a:pt x="2383601" y="226415"/>
                </a:lnTo>
                <a:lnTo>
                  <a:pt x="2401119" y="267841"/>
                </a:lnTo>
                <a:lnTo>
                  <a:pt x="2414008" y="311469"/>
                </a:lnTo>
                <a:lnTo>
                  <a:pt x="2421964" y="356994"/>
                </a:lnTo>
                <a:lnTo>
                  <a:pt x="2424684" y="404113"/>
                </a:lnTo>
                <a:lnTo>
                  <a:pt x="2424684" y="2738361"/>
                </a:lnTo>
                <a:lnTo>
                  <a:pt x="2421964" y="2785490"/>
                </a:lnTo>
                <a:lnTo>
                  <a:pt x="2414008" y="2831022"/>
                </a:lnTo>
                <a:lnTo>
                  <a:pt x="2401119" y="2874655"/>
                </a:lnTo>
                <a:lnTo>
                  <a:pt x="2383601" y="2916084"/>
                </a:lnTo>
                <a:lnTo>
                  <a:pt x="2361756" y="2955007"/>
                </a:lnTo>
                <a:lnTo>
                  <a:pt x="2335889" y="2991120"/>
                </a:lnTo>
                <a:lnTo>
                  <a:pt x="2306304" y="3024120"/>
                </a:lnTo>
                <a:lnTo>
                  <a:pt x="2273302" y="3053704"/>
                </a:lnTo>
                <a:lnTo>
                  <a:pt x="2237189" y="3079569"/>
                </a:lnTo>
                <a:lnTo>
                  <a:pt x="2198268" y="3101411"/>
                </a:lnTo>
                <a:lnTo>
                  <a:pt x="2156842" y="3118927"/>
                </a:lnTo>
                <a:lnTo>
                  <a:pt x="2113214" y="3131814"/>
                </a:lnTo>
                <a:lnTo>
                  <a:pt x="2067689" y="3139769"/>
                </a:lnTo>
                <a:lnTo>
                  <a:pt x="2020570" y="3142488"/>
                </a:lnTo>
                <a:lnTo>
                  <a:pt x="404113" y="3142488"/>
                </a:lnTo>
                <a:lnTo>
                  <a:pt x="356994" y="3139769"/>
                </a:lnTo>
                <a:lnTo>
                  <a:pt x="311469" y="3131814"/>
                </a:lnTo>
                <a:lnTo>
                  <a:pt x="267841" y="3118927"/>
                </a:lnTo>
                <a:lnTo>
                  <a:pt x="226415" y="3101411"/>
                </a:lnTo>
                <a:lnTo>
                  <a:pt x="187494" y="3079569"/>
                </a:lnTo>
                <a:lnTo>
                  <a:pt x="151381" y="3053704"/>
                </a:lnTo>
                <a:lnTo>
                  <a:pt x="118379" y="3024120"/>
                </a:lnTo>
                <a:lnTo>
                  <a:pt x="88794" y="2991120"/>
                </a:lnTo>
                <a:lnTo>
                  <a:pt x="62927" y="2955007"/>
                </a:lnTo>
                <a:lnTo>
                  <a:pt x="41082" y="2916084"/>
                </a:lnTo>
                <a:lnTo>
                  <a:pt x="23564" y="2874655"/>
                </a:lnTo>
                <a:lnTo>
                  <a:pt x="10675" y="2831022"/>
                </a:lnTo>
                <a:lnTo>
                  <a:pt x="2719" y="2785490"/>
                </a:lnTo>
                <a:lnTo>
                  <a:pt x="0" y="2738361"/>
                </a:lnTo>
                <a:lnTo>
                  <a:pt x="0" y="404113"/>
                </a:lnTo>
                <a:close/>
              </a:path>
            </a:pathLst>
          </a:custGeom>
          <a:ln w="32004">
            <a:solidFill>
              <a:srgbClr val="D439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01334" y="246125"/>
            <a:ext cx="2525395" cy="3124200"/>
          </a:xfrm>
          <a:custGeom>
            <a:avLst/>
            <a:gdLst/>
            <a:ahLst/>
            <a:cxnLst/>
            <a:rect l="l" t="t" r="r" b="b"/>
            <a:pathLst>
              <a:path w="2525395" h="3124200">
                <a:moveTo>
                  <a:pt x="0" y="420877"/>
                </a:moveTo>
                <a:lnTo>
                  <a:pt x="2832" y="371801"/>
                </a:lnTo>
                <a:lnTo>
                  <a:pt x="11117" y="324385"/>
                </a:lnTo>
                <a:lnTo>
                  <a:pt x="24540" y="278946"/>
                </a:lnTo>
                <a:lnTo>
                  <a:pt x="42784" y="235801"/>
                </a:lnTo>
                <a:lnTo>
                  <a:pt x="65534" y="195265"/>
                </a:lnTo>
                <a:lnTo>
                  <a:pt x="92473" y="157654"/>
                </a:lnTo>
                <a:lnTo>
                  <a:pt x="123285" y="123285"/>
                </a:lnTo>
                <a:lnTo>
                  <a:pt x="157654" y="92473"/>
                </a:lnTo>
                <a:lnTo>
                  <a:pt x="195265" y="65534"/>
                </a:lnTo>
                <a:lnTo>
                  <a:pt x="235801" y="42784"/>
                </a:lnTo>
                <a:lnTo>
                  <a:pt x="278946" y="24540"/>
                </a:lnTo>
                <a:lnTo>
                  <a:pt x="324385" y="11117"/>
                </a:lnTo>
                <a:lnTo>
                  <a:pt x="371801" y="2832"/>
                </a:lnTo>
                <a:lnTo>
                  <a:pt x="420877" y="0"/>
                </a:lnTo>
                <a:lnTo>
                  <a:pt x="2104390" y="0"/>
                </a:lnTo>
                <a:lnTo>
                  <a:pt x="2153466" y="2832"/>
                </a:lnTo>
                <a:lnTo>
                  <a:pt x="2200882" y="11117"/>
                </a:lnTo>
                <a:lnTo>
                  <a:pt x="2246321" y="24540"/>
                </a:lnTo>
                <a:lnTo>
                  <a:pt x="2289466" y="42784"/>
                </a:lnTo>
                <a:lnTo>
                  <a:pt x="2330002" y="65534"/>
                </a:lnTo>
                <a:lnTo>
                  <a:pt x="2367613" y="92473"/>
                </a:lnTo>
                <a:lnTo>
                  <a:pt x="2401982" y="123285"/>
                </a:lnTo>
                <a:lnTo>
                  <a:pt x="2432794" y="157654"/>
                </a:lnTo>
                <a:lnTo>
                  <a:pt x="2459733" y="195265"/>
                </a:lnTo>
                <a:lnTo>
                  <a:pt x="2482483" y="235801"/>
                </a:lnTo>
                <a:lnTo>
                  <a:pt x="2500727" y="278946"/>
                </a:lnTo>
                <a:lnTo>
                  <a:pt x="2514150" y="324385"/>
                </a:lnTo>
                <a:lnTo>
                  <a:pt x="2522435" y="371801"/>
                </a:lnTo>
                <a:lnTo>
                  <a:pt x="2525267" y="420877"/>
                </a:lnTo>
                <a:lnTo>
                  <a:pt x="2525267" y="2703322"/>
                </a:lnTo>
                <a:lnTo>
                  <a:pt x="2522435" y="2752398"/>
                </a:lnTo>
                <a:lnTo>
                  <a:pt x="2514150" y="2799814"/>
                </a:lnTo>
                <a:lnTo>
                  <a:pt x="2500727" y="2845253"/>
                </a:lnTo>
                <a:lnTo>
                  <a:pt x="2482483" y="2888398"/>
                </a:lnTo>
                <a:lnTo>
                  <a:pt x="2459733" y="2928934"/>
                </a:lnTo>
                <a:lnTo>
                  <a:pt x="2432794" y="2966545"/>
                </a:lnTo>
                <a:lnTo>
                  <a:pt x="2401982" y="3000914"/>
                </a:lnTo>
                <a:lnTo>
                  <a:pt x="2367613" y="3031726"/>
                </a:lnTo>
                <a:lnTo>
                  <a:pt x="2330002" y="3058665"/>
                </a:lnTo>
                <a:lnTo>
                  <a:pt x="2289466" y="3081415"/>
                </a:lnTo>
                <a:lnTo>
                  <a:pt x="2246321" y="3099659"/>
                </a:lnTo>
                <a:lnTo>
                  <a:pt x="2200882" y="3113082"/>
                </a:lnTo>
                <a:lnTo>
                  <a:pt x="2153466" y="3121367"/>
                </a:lnTo>
                <a:lnTo>
                  <a:pt x="2104390" y="3124200"/>
                </a:lnTo>
                <a:lnTo>
                  <a:pt x="420877" y="3124200"/>
                </a:lnTo>
                <a:lnTo>
                  <a:pt x="371801" y="3121367"/>
                </a:lnTo>
                <a:lnTo>
                  <a:pt x="324385" y="3113082"/>
                </a:lnTo>
                <a:lnTo>
                  <a:pt x="278946" y="3099659"/>
                </a:lnTo>
                <a:lnTo>
                  <a:pt x="235801" y="3081415"/>
                </a:lnTo>
                <a:lnTo>
                  <a:pt x="195265" y="3058665"/>
                </a:lnTo>
                <a:lnTo>
                  <a:pt x="157654" y="3031726"/>
                </a:lnTo>
                <a:lnTo>
                  <a:pt x="123285" y="3000914"/>
                </a:lnTo>
                <a:lnTo>
                  <a:pt x="92473" y="2966545"/>
                </a:lnTo>
                <a:lnTo>
                  <a:pt x="65534" y="2928934"/>
                </a:lnTo>
                <a:lnTo>
                  <a:pt x="42784" y="2888398"/>
                </a:lnTo>
                <a:lnTo>
                  <a:pt x="24540" y="2845253"/>
                </a:lnTo>
                <a:lnTo>
                  <a:pt x="11117" y="2799814"/>
                </a:lnTo>
                <a:lnTo>
                  <a:pt x="2832" y="2752398"/>
                </a:lnTo>
                <a:lnTo>
                  <a:pt x="0" y="2703322"/>
                </a:lnTo>
                <a:lnTo>
                  <a:pt x="0" y="420877"/>
                </a:lnTo>
                <a:close/>
              </a:path>
            </a:pathLst>
          </a:custGeom>
          <a:ln w="32004">
            <a:solidFill>
              <a:srgbClr val="D439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1724" y="2851784"/>
            <a:ext cx="1797685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87846" y="442722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550"/>
              </a:spcBef>
            </a:pPr>
            <a:r>
              <a:rPr sz="1800" dirty="0"/>
              <a:t>Lexical</a:t>
            </a:r>
            <a:r>
              <a:rPr sz="1800" spc="-80" dirty="0"/>
              <a:t> </a:t>
            </a:r>
            <a:r>
              <a:rPr sz="1800" spc="-10" dirty="0"/>
              <a:t>Analyzer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6387846" y="1495805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Syntax</a:t>
            </a:r>
            <a:r>
              <a:rPr sz="1800" spc="-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28916" y="1123950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40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40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40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87846" y="2548889"/>
            <a:ext cx="1979930" cy="68326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41020">
              <a:lnSpc>
                <a:spcPct val="100000"/>
              </a:lnSpc>
              <a:spcBef>
                <a:spcPts val="47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Semantic</a:t>
            </a:r>
            <a:endParaRPr sz="1800">
              <a:latin typeface="Cambria"/>
              <a:cs typeface="Cambria"/>
            </a:endParaRPr>
          </a:p>
          <a:p>
            <a:pPr marL="55626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38059" y="2177033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4" y="274700"/>
                </a:moveTo>
                <a:lnTo>
                  <a:pt x="0" y="274700"/>
                </a:lnTo>
                <a:lnTo>
                  <a:pt x="48006" y="370713"/>
                </a:lnTo>
                <a:lnTo>
                  <a:pt x="88011" y="290702"/>
                </a:lnTo>
                <a:lnTo>
                  <a:pt x="32004" y="290702"/>
                </a:lnTo>
                <a:lnTo>
                  <a:pt x="32004" y="274700"/>
                </a:lnTo>
                <a:close/>
              </a:path>
              <a:path w="96520" h="370839">
                <a:moveTo>
                  <a:pt x="64008" y="0"/>
                </a:moveTo>
                <a:lnTo>
                  <a:pt x="32004" y="0"/>
                </a:lnTo>
                <a:lnTo>
                  <a:pt x="32004" y="290702"/>
                </a:lnTo>
                <a:lnTo>
                  <a:pt x="64008" y="290702"/>
                </a:lnTo>
                <a:lnTo>
                  <a:pt x="64008" y="0"/>
                </a:lnTo>
                <a:close/>
              </a:path>
              <a:path w="96520" h="370839">
                <a:moveTo>
                  <a:pt x="96012" y="274700"/>
                </a:moveTo>
                <a:lnTo>
                  <a:pt x="64008" y="274700"/>
                </a:lnTo>
                <a:lnTo>
                  <a:pt x="64008" y="290702"/>
                </a:lnTo>
                <a:lnTo>
                  <a:pt x="88011" y="290702"/>
                </a:lnTo>
                <a:lnTo>
                  <a:pt x="96012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96990" y="3601973"/>
            <a:ext cx="1979930" cy="68326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47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Intermediate</a:t>
            </a:r>
            <a:endParaRPr sz="1800">
              <a:latin typeface="Cambria"/>
              <a:cs typeface="Cambria"/>
            </a:endParaRPr>
          </a:p>
          <a:p>
            <a:pPr marL="22732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Generator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28916" y="3231642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3"/>
                </a:lnTo>
                <a:lnTo>
                  <a:pt x="32003" y="290703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3"/>
                </a:lnTo>
                <a:lnTo>
                  <a:pt x="64007" y="290703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3"/>
                </a:lnTo>
                <a:lnTo>
                  <a:pt x="88010" y="290703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96990" y="4655058"/>
            <a:ext cx="1979930" cy="68326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56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Optimizer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28916" y="4284726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3"/>
                </a:lnTo>
                <a:lnTo>
                  <a:pt x="32003" y="290703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3"/>
                </a:lnTo>
                <a:lnTo>
                  <a:pt x="64007" y="290703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3"/>
                </a:lnTo>
                <a:lnTo>
                  <a:pt x="88010" y="290703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87846" y="5708141"/>
            <a:ext cx="1979930" cy="68326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56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Generator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38059" y="5337809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4" y="274751"/>
                </a:moveTo>
                <a:lnTo>
                  <a:pt x="0" y="274751"/>
                </a:lnTo>
                <a:lnTo>
                  <a:pt x="48006" y="370763"/>
                </a:lnTo>
                <a:lnTo>
                  <a:pt x="88011" y="290753"/>
                </a:lnTo>
                <a:lnTo>
                  <a:pt x="32004" y="290753"/>
                </a:lnTo>
                <a:lnTo>
                  <a:pt x="32004" y="274751"/>
                </a:lnTo>
                <a:close/>
              </a:path>
              <a:path w="96520" h="370839">
                <a:moveTo>
                  <a:pt x="64008" y="0"/>
                </a:moveTo>
                <a:lnTo>
                  <a:pt x="32004" y="0"/>
                </a:lnTo>
                <a:lnTo>
                  <a:pt x="32004" y="290753"/>
                </a:lnTo>
                <a:lnTo>
                  <a:pt x="64008" y="290753"/>
                </a:lnTo>
                <a:lnTo>
                  <a:pt x="64008" y="0"/>
                </a:lnTo>
                <a:close/>
              </a:path>
              <a:path w="96520" h="370839">
                <a:moveTo>
                  <a:pt x="96012" y="274751"/>
                </a:moveTo>
                <a:lnTo>
                  <a:pt x="64008" y="274751"/>
                </a:lnTo>
                <a:lnTo>
                  <a:pt x="64008" y="290753"/>
                </a:lnTo>
                <a:lnTo>
                  <a:pt x="88011" y="290753"/>
                </a:lnTo>
                <a:lnTo>
                  <a:pt x="96012" y="274751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28916" y="70865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40">
                <a:moveTo>
                  <a:pt x="32003" y="274700"/>
                </a:moveTo>
                <a:lnTo>
                  <a:pt x="0" y="274700"/>
                </a:lnTo>
                <a:lnTo>
                  <a:pt x="48005" y="370712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40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40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38059" y="6390894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40">
                <a:moveTo>
                  <a:pt x="32004" y="274751"/>
                </a:moveTo>
                <a:lnTo>
                  <a:pt x="0" y="274751"/>
                </a:lnTo>
                <a:lnTo>
                  <a:pt x="48006" y="370762"/>
                </a:lnTo>
                <a:lnTo>
                  <a:pt x="88010" y="290753"/>
                </a:lnTo>
                <a:lnTo>
                  <a:pt x="32004" y="290753"/>
                </a:lnTo>
                <a:lnTo>
                  <a:pt x="32004" y="274751"/>
                </a:lnTo>
                <a:close/>
              </a:path>
              <a:path w="96520" h="370840">
                <a:moveTo>
                  <a:pt x="64008" y="0"/>
                </a:moveTo>
                <a:lnTo>
                  <a:pt x="32004" y="0"/>
                </a:lnTo>
                <a:lnTo>
                  <a:pt x="32004" y="290753"/>
                </a:lnTo>
                <a:lnTo>
                  <a:pt x="64008" y="290753"/>
                </a:lnTo>
                <a:lnTo>
                  <a:pt x="64008" y="0"/>
                </a:lnTo>
                <a:close/>
              </a:path>
              <a:path w="96520" h="370840">
                <a:moveTo>
                  <a:pt x="96012" y="274751"/>
                </a:moveTo>
                <a:lnTo>
                  <a:pt x="64008" y="274751"/>
                </a:lnTo>
                <a:lnTo>
                  <a:pt x="64008" y="290753"/>
                </a:lnTo>
                <a:lnTo>
                  <a:pt x="88010" y="290753"/>
                </a:lnTo>
                <a:lnTo>
                  <a:pt x="96012" y="274751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531870" y="2919222"/>
            <a:ext cx="1493520" cy="902335"/>
          </a:xfrm>
          <a:prstGeom prst="rect">
            <a:avLst/>
          </a:prstGeom>
          <a:solidFill>
            <a:srgbClr val="40B9D2"/>
          </a:solidFill>
          <a:ln w="10668">
            <a:solidFill>
              <a:srgbClr val="2C879A"/>
            </a:solidFill>
          </a:ln>
        </p:spPr>
        <p:txBody>
          <a:bodyPr vert="horz" wrap="square" lIns="0" tIns="170815" rIns="0" bIns="0" rtlCol="0">
            <a:spAutoFit/>
          </a:bodyPr>
          <a:lstStyle/>
          <a:p>
            <a:pPr marL="318770" marR="89535" indent="-222885">
              <a:lnSpc>
                <a:spcPct val="100000"/>
              </a:lnSpc>
              <a:spcBef>
                <a:spcPts val="1345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Symbol</a:t>
            </a:r>
            <a:r>
              <a:rPr sz="1800" spc="-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mbria"/>
                <a:cs typeface="Cambria"/>
              </a:rPr>
              <a:t>Table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Manager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16261" y="2919222"/>
            <a:ext cx="1493520" cy="90233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70815" rIns="0" bIns="0" rtlCol="0">
            <a:spAutoFit/>
          </a:bodyPr>
          <a:lstStyle/>
          <a:p>
            <a:pPr marL="367030" marR="357505" indent="112395">
              <a:lnSpc>
                <a:spcPct val="100000"/>
              </a:lnSpc>
              <a:spcBef>
                <a:spcPts val="134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Error handler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25390" y="784098"/>
            <a:ext cx="4692650" cy="5264785"/>
          </a:xfrm>
          <a:custGeom>
            <a:avLst/>
            <a:gdLst/>
            <a:ahLst/>
            <a:cxnLst/>
            <a:rect l="l" t="t" r="r" b="b"/>
            <a:pathLst>
              <a:path w="4692650" h="5264785">
                <a:moveTo>
                  <a:pt x="0" y="2587243"/>
                </a:moveTo>
                <a:lnTo>
                  <a:pt x="1362456" y="0"/>
                </a:lnTo>
              </a:path>
              <a:path w="4692650" h="5264785">
                <a:moveTo>
                  <a:pt x="0" y="2587243"/>
                </a:moveTo>
                <a:lnTo>
                  <a:pt x="1362456" y="1053084"/>
                </a:lnTo>
              </a:path>
              <a:path w="4692650" h="5264785">
                <a:moveTo>
                  <a:pt x="0" y="2587116"/>
                </a:moveTo>
                <a:lnTo>
                  <a:pt x="1362456" y="2106167"/>
                </a:lnTo>
              </a:path>
              <a:path w="4692650" h="5264785">
                <a:moveTo>
                  <a:pt x="0" y="2586228"/>
                </a:moveTo>
                <a:lnTo>
                  <a:pt x="1371600" y="3158363"/>
                </a:lnTo>
              </a:path>
              <a:path w="4692650" h="5264785">
                <a:moveTo>
                  <a:pt x="0" y="2586228"/>
                </a:moveTo>
                <a:lnTo>
                  <a:pt x="1371600" y="4211574"/>
                </a:lnTo>
              </a:path>
              <a:path w="4692650" h="5264785">
                <a:moveTo>
                  <a:pt x="0" y="2586228"/>
                </a:moveTo>
                <a:lnTo>
                  <a:pt x="1362456" y="5264683"/>
                </a:lnTo>
              </a:path>
              <a:path w="4692650" h="5264785">
                <a:moveTo>
                  <a:pt x="4692142" y="2587243"/>
                </a:moveTo>
                <a:lnTo>
                  <a:pt x="3342132" y="0"/>
                </a:lnTo>
              </a:path>
              <a:path w="4692650" h="5264785">
                <a:moveTo>
                  <a:pt x="4692142" y="2587243"/>
                </a:moveTo>
                <a:lnTo>
                  <a:pt x="3342132" y="1053084"/>
                </a:lnTo>
              </a:path>
              <a:path w="4692650" h="5264785">
                <a:moveTo>
                  <a:pt x="4692142" y="2587116"/>
                </a:moveTo>
                <a:lnTo>
                  <a:pt x="3342132" y="2106167"/>
                </a:lnTo>
              </a:path>
              <a:path w="4692650" h="5264785">
                <a:moveTo>
                  <a:pt x="4692142" y="2586228"/>
                </a:moveTo>
                <a:lnTo>
                  <a:pt x="3351276" y="3158363"/>
                </a:lnTo>
              </a:path>
              <a:path w="4692650" h="5264785">
                <a:moveTo>
                  <a:pt x="4692142" y="2586228"/>
                </a:moveTo>
                <a:lnTo>
                  <a:pt x="3351276" y="4211574"/>
                </a:lnTo>
              </a:path>
              <a:path w="4692650" h="5264785">
                <a:moveTo>
                  <a:pt x="4692142" y="2586228"/>
                </a:moveTo>
                <a:lnTo>
                  <a:pt x="3342132" y="5264683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341866" y="971169"/>
            <a:ext cx="1464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Analysis</a:t>
            </a:r>
            <a:r>
              <a:rPr sz="1800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Phase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11716" y="5108194"/>
            <a:ext cx="1578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Synthesis</a:t>
            </a:r>
            <a:r>
              <a:rPr sz="1800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Phase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7600" cy="342201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There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two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parts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Compilation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Process</a:t>
            </a:r>
            <a:r>
              <a:rPr sz="2400" spc="-50" dirty="0">
                <a:latin typeface="Cambria"/>
                <a:cs typeface="Cambria"/>
              </a:rPr>
              <a:t> :</a:t>
            </a:r>
            <a:endParaRPr sz="2400">
              <a:latin typeface="Cambria"/>
              <a:cs typeface="Cambria"/>
            </a:endParaRPr>
          </a:p>
          <a:p>
            <a:pPr marL="468630" indent="-455930" algn="just">
              <a:lnSpc>
                <a:spcPct val="100000"/>
              </a:lnSpc>
              <a:spcBef>
                <a:spcPts val="910"/>
              </a:spcBef>
              <a:buAutoNum type="arabicParenR"/>
              <a:tabLst>
                <a:tab pos="468630" algn="l"/>
              </a:tabLst>
            </a:pPr>
            <a:r>
              <a:rPr sz="2400" spc="-10" dirty="0">
                <a:latin typeface="Cambria"/>
                <a:cs typeface="Cambria"/>
              </a:rPr>
              <a:t>Analysis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Phase</a:t>
            </a:r>
            <a:endParaRPr sz="2400">
              <a:latin typeface="Cambria"/>
              <a:cs typeface="Cambria"/>
            </a:endParaRPr>
          </a:p>
          <a:p>
            <a:pPr marL="532130" marR="5080" algn="just">
              <a:lnSpc>
                <a:spcPts val="2590"/>
              </a:lnSpc>
              <a:spcBef>
                <a:spcPts val="1240"/>
              </a:spcBef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breaks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up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program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small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pieces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and </a:t>
            </a:r>
            <a:r>
              <a:rPr sz="2400" dirty="0">
                <a:latin typeface="Cambria"/>
                <a:cs typeface="Cambria"/>
              </a:rPr>
              <a:t>create</a:t>
            </a:r>
            <a:r>
              <a:rPr sz="2400" spc="25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25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intermediate</a:t>
            </a:r>
            <a:r>
              <a:rPr sz="2400" spc="2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representation</a:t>
            </a:r>
            <a:r>
              <a:rPr sz="2400" spc="25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250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source program.</a:t>
            </a:r>
            <a:endParaRPr sz="2400">
              <a:latin typeface="Cambria"/>
              <a:cs typeface="Cambria"/>
            </a:endParaRPr>
          </a:p>
          <a:p>
            <a:pPr marL="468630" indent="-455930" algn="just">
              <a:lnSpc>
                <a:spcPct val="100000"/>
              </a:lnSpc>
              <a:spcBef>
                <a:spcPts val="880"/>
              </a:spcBef>
              <a:buAutoNum type="arabicParenR" startAt="2"/>
              <a:tabLst>
                <a:tab pos="468630" algn="l"/>
              </a:tabLst>
            </a:pPr>
            <a:r>
              <a:rPr sz="2400" spc="-10" dirty="0">
                <a:latin typeface="Cambria"/>
                <a:cs typeface="Cambria"/>
              </a:rPr>
              <a:t>Synthesis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Phase</a:t>
            </a:r>
            <a:endParaRPr sz="2400">
              <a:latin typeface="Cambria"/>
              <a:cs typeface="Cambria"/>
            </a:endParaRPr>
          </a:p>
          <a:p>
            <a:pPr marL="12700" marR="6350" indent="914400" algn="just">
              <a:lnSpc>
                <a:spcPts val="2590"/>
              </a:lnSpc>
              <a:spcBef>
                <a:spcPts val="1240"/>
              </a:spcBef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constructs</a:t>
            </a:r>
            <a:r>
              <a:rPr sz="2400" spc="1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desired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target</a:t>
            </a:r>
            <a:r>
              <a:rPr sz="2400" spc="10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program</a:t>
            </a:r>
            <a:r>
              <a:rPr sz="2400" spc="100" dirty="0">
                <a:latin typeface="Cambria"/>
                <a:cs typeface="Cambria"/>
              </a:rPr>
              <a:t>  </a:t>
            </a:r>
            <a:r>
              <a:rPr sz="2400" spc="-20" dirty="0">
                <a:latin typeface="Cambria"/>
                <a:cs typeface="Cambria"/>
              </a:rPr>
              <a:t>from </a:t>
            </a:r>
            <a:r>
              <a:rPr sz="2400" spc="-10" dirty="0">
                <a:latin typeface="Cambria"/>
                <a:cs typeface="Cambria"/>
              </a:rPr>
              <a:t>intermediate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representation.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417" y="1752600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 dirty="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 dirty="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5200" y="16761"/>
            <a:ext cx="8458200" cy="2387192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400" spc="-25" dirty="0">
                <a:latin typeface="Cambria"/>
                <a:cs typeface="Cambria"/>
              </a:rPr>
              <a:t>1)</a:t>
            </a:r>
            <a:r>
              <a:rPr sz="2400" spc="-10" dirty="0">
                <a:latin typeface="Cambria"/>
                <a:cs typeface="Cambria"/>
              </a:rPr>
              <a:t>Analysis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Phase</a:t>
            </a:r>
            <a:r>
              <a:rPr lang="en-IN" sz="2400" spc="-10" dirty="0">
                <a:latin typeface="Cambria"/>
                <a:cs typeface="Cambria"/>
              </a:rPr>
              <a:t>:</a:t>
            </a: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dirty="0">
                <a:latin typeface="Cambria"/>
                <a:cs typeface="Cambria"/>
              </a:rPr>
              <a:t>Consist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lang="en-IN" sz="2400" dirty="0">
                <a:latin typeface="Cambria"/>
                <a:cs typeface="Cambria"/>
              </a:rPr>
              <a:t> Sub</a:t>
            </a:r>
            <a:r>
              <a:rPr sz="2400" dirty="0">
                <a:latin typeface="Cambria"/>
                <a:cs typeface="Cambria"/>
              </a:rPr>
              <a:t>Phases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Lexical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analysis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Syntax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analysis</a:t>
            </a:r>
            <a:endParaRPr sz="2400" dirty="0">
              <a:latin typeface="Cambria"/>
              <a:cs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Semantic</a:t>
            </a:r>
            <a:r>
              <a:rPr sz="2400" spc="-1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analysis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9000" y="2969902"/>
            <a:ext cx="8458200" cy="2451312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400" dirty="0">
                <a:latin typeface="Cambria"/>
                <a:cs typeface="Cambria"/>
              </a:rPr>
              <a:t>2)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Synthesis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Phase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lang="e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400" dirty="0">
                <a:latin typeface="Cambria"/>
                <a:cs typeface="Cambria"/>
              </a:rPr>
              <a:t>Consist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Sub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Phases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Intermediate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generation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Optimization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Generation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5" name="Google Shape;226;p40">
            <a:extLst>
              <a:ext uri="{FF2B5EF4-FFF2-40B4-BE49-F238E27FC236}">
                <a16:creationId xmlns:a16="http://schemas.microsoft.com/office/drawing/2014/main" id="{1BEB8267-8C77-989E-C7D9-EA28E191036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48400" y="1278552"/>
            <a:ext cx="6344041" cy="87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7;p40">
            <a:extLst>
              <a:ext uri="{FF2B5EF4-FFF2-40B4-BE49-F238E27FC236}">
                <a16:creationId xmlns:a16="http://schemas.microsoft.com/office/drawing/2014/main" id="{EC910D8D-1BB9-E6D4-621A-2C8E1AB683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7444" y="4564549"/>
            <a:ext cx="6509632" cy="8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pc="-70" dirty="0"/>
              <a:t>Phases</a:t>
            </a:r>
            <a:r>
              <a:rPr spc="-100" dirty="0"/>
              <a:t> </a:t>
            </a:r>
            <a:r>
              <a:rPr spc="-25" dirty="0"/>
              <a:t>of </a:t>
            </a:r>
            <a:r>
              <a:rPr spc="-35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5321" y="784098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8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9505" cy="456247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15"/>
              </a:spcBef>
            </a:pPr>
            <a:r>
              <a:rPr sz="2400" b="1" dirty="0">
                <a:latin typeface="Cambria"/>
                <a:cs typeface="Cambria"/>
              </a:rPr>
              <a:t>1)</a:t>
            </a:r>
            <a:r>
              <a:rPr sz="2400" b="1" spc="59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Lexical</a:t>
            </a:r>
            <a:r>
              <a:rPr sz="2400" b="1" spc="-3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Analysis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Linear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analysis</a:t>
            </a:r>
            <a:r>
              <a:rPr sz="2400" b="1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scanning.</a:t>
            </a:r>
            <a:endParaRPr sz="2400">
              <a:latin typeface="Cambria"/>
              <a:cs typeface="Cambria"/>
            </a:endParaRPr>
          </a:p>
          <a:p>
            <a:pPr marL="195580" marR="6985" indent="-183515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this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phase,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input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character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from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source</a:t>
            </a:r>
            <a:r>
              <a:rPr sz="2400" b="1" spc="25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code</a:t>
            </a:r>
            <a:r>
              <a:rPr sz="2400" b="1" spc="2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is</a:t>
            </a:r>
            <a:r>
              <a:rPr sz="2400" b="1" spc="35" dirty="0">
                <a:latin typeface="Cambria"/>
                <a:cs typeface="Cambria"/>
              </a:rPr>
              <a:t> </a:t>
            </a:r>
            <a:r>
              <a:rPr sz="2400" b="1" spc="-70" dirty="0">
                <a:latin typeface="Cambria"/>
                <a:cs typeface="Cambria"/>
              </a:rPr>
              <a:t>read</a:t>
            </a:r>
            <a:r>
              <a:rPr sz="2400" b="1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from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left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right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b="1" spc="-25" dirty="0">
                <a:latin typeface="Cambria"/>
                <a:cs typeface="Cambria"/>
              </a:rPr>
              <a:t>break</a:t>
            </a:r>
            <a:r>
              <a:rPr sz="2400" b="1" spc="114" dirty="0">
                <a:latin typeface="Cambria"/>
                <a:cs typeface="Cambria"/>
              </a:rPr>
              <a:t> </a:t>
            </a:r>
            <a:r>
              <a:rPr sz="2400" b="1" spc="-5" dirty="0">
                <a:latin typeface="Cambria"/>
                <a:cs typeface="Cambria"/>
              </a:rPr>
              <a:t>in</a:t>
            </a:r>
            <a:r>
              <a:rPr sz="2400" b="1" spc="-35" dirty="0">
                <a:latin typeface="Cambria"/>
                <a:cs typeface="Cambria"/>
              </a:rPr>
              <a:t>t</a:t>
            </a:r>
            <a:r>
              <a:rPr sz="2400" b="1" dirty="0">
                <a:latin typeface="Cambria"/>
                <a:cs typeface="Cambria"/>
              </a:rPr>
              <a:t>o</a:t>
            </a:r>
            <a:r>
              <a:rPr sz="2400" b="1" spc="110" dirty="0">
                <a:latin typeface="Cambria"/>
                <a:cs typeface="Cambria"/>
              </a:rPr>
              <a:t> </a:t>
            </a:r>
            <a:r>
              <a:rPr sz="2400" b="1" spc="-25" dirty="0">
                <a:latin typeface="Cambria"/>
                <a:cs typeface="Cambria"/>
              </a:rPr>
              <a:t>stream</a:t>
            </a:r>
            <a:r>
              <a:rPr sz="2400" b="1" spc="114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of</a:t>
            </a:r>
            <a:r>
              <a:rPr sz="2400" b="1" spc="114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unit</a:t>
            </a:r>
            <a:r>
              <a:rPr sz="2400" b="1" spc="-10" dirty="0">
                <a:latin typeface="Cambria"/>
                <a:cs typeface="Cambria"/>
              </a:rPr>
              <a:t>s</a:t>
            </a:r>
            <a:r>
              <a:rPr sz="2400" dirty="0">
                <a:latin typeface="Cambria"/>
                <a:cs typeface="Cambria"/>
              </a:rPr>
              <a:t>. </a:t>
            </a:r>
            <a:r>
              <a:rPr sz="2400" spc="-15" dirty="0">
                <a:latin typeface="Cambria"/>
                <a:cs typeface="Cambria"/>
              </a:rPr>
              <a:t>These</a:t>
            </a:r>
            <a:r>
              <a:rPr sz="2400" dirty="0">
                <a:latin typeface="Cambria"/>
                <a:cs typeface="Cambria"/>
              </a:rPr>
              <a:t> units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are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called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Cambria"/>
                <a:cs typeface="Cambria"/>
              </a:rPr>
              <a:t>tokens.</a:t>
            </a:r>
            <a:endParaRPr sz="2400">
              <a:latin typeface="Cambria"/>
              <a:cs typeface="Cambria"/>
            </a:endParaRPr>
          </a:p>
          <a:p>
            <a:pPr marL="195580" marR="5080" indent="-183515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Cambria"/>
                <a:cs typeface="Cambria"/>
              </a:rPr>
              <a:t>Sequence</a:t>
            </a:r>
            <a:r>
              <a:rPr sz="2400" spc="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characters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having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collective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meaning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is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called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Token.</a:t>
            </a:r>
            <a:endParaRPr sz="2400">
              <a:latin typeface="Cambria"/>
              <a:cs typeface="Cambria"/>
            </a:endParaRPr>
          </a:p>
          <a:p>
            <a:pPr marL="195580" marR="6985" indent="-183515" algn="just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55" dirty="0">
                <a:latin typeface="Cambria"/>
                <a:cs typeface="Cambria"/>
              </a:rPr>
              <a:t>Tokens</a:t>
            </a:r>
            <a:r>
              <a:rPr sz="2400" spc="5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can</a:t>
            </a:r>
            <a:r>
              <a:rPr sz="2400" spc="53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be</a:t>
            </a:r>
            <a:r>
              <a:rPr sz="2400" spc="5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categorized</a:t>
            </a:r>
            <a:r>
              <a:rPr sz="2400" spc="509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into</a:t>
            </a:r>
            <a:r>
              <a:rPr sz="2400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identifiers,</a:t>
            </a:r>
            <a:r>
              <a:rPr sz="2400" dirty="0">
                <a:latin typeface="Cambria"/>
                <a:cs typeface="Cambria"/>
              </a:rPr>
              <a:t>  </a:t>
            </a:r>
            <a:r>
              <a:rPr sz="2400" spc="-30" dirty="0">
                <a:latin typeface="Cambria"/>
                <a:cs typeface="Cambria"/>
              </a:rPr>
              <a:t>constants,</a:t>
            </a:r>
            <a:r>
              <a:rPr sz="2400" spc="-15" dirty="0">
                <a:latin typeface="Cambria"/>
                <a:cs typeface="Cambria"/>
              </a:rPr>
              <a:t> literals,</a:t>
            </a:r>
            <a:r>
              <a:rPr sz="2400" spc="-25" dirty="0">
                <a:latin typeface="Cambria"/>
                <a:cs typeface="Cambria"/>
              </a:rPr>
              <a:t> keywords,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operators, delimeters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etc.</a:t>
            </a:r>
            <a:endParaRPr sz="2400">
              <a:latin typeface="Cambria"/>
              <a:cs typeface="Cambria"/>
            </a:endParaRPr>
          </a:p>
          <a:p>
            <a:pPr marL="195580" marR="5080" indent="-183515" algn="just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5" dirty="0">
                <a:latin typeface="Cambria"/>
                <a:cs typeface="Cambria"/>
              </a:rPr>
              <a:t>So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Token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smallest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meaningfu</a:t>
            </a:r>
            <a:r>
              <a:rPr sz="2400" dirty="0">
                <a:latin typeface="Cambria"/>
                <a:cs typeface="Cambria"/>
              </a:rPr>
              <a:t>l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entities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program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are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produced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output.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1989" y="273685"/>
            <a:ext cx="4912360" cy="147129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469265" algn="l"/>
              </a:tabLst>
            </a:pPr>
            <a:r>
              <a:rPr sz="2400" b="1" spc="-25" dirty="0">
                <a:latin typeface="Cambria"/>
                <a:cs typeface="Cambria"/>
              </a:rPr>
              <a:t>1)</a:t>
            </a:r>
            <a:r>
              <a:rPr sz="2400" b="1" dirty="0">
                <a:latin typeface="Cambria"/>
                <a:cs typeface="Cambria"/>
              </a:rPr>
              <a:t>	Lexical</a:t>
            </a:r>
            <a:r>
              <a:rPr sz="2400" b="1" spc="-9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Analysis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dirty="0">
                <a:latin typeface="Cambria"/>
                <a:cs typeface="Cambria"/>
              </a:rPr>
              <a:t>Example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position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rate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60</a:t>
            </a:r>
            <a:endParaRPr sz="2400">
              <a:latin typeface="Cambria"/>
              <a:cs typeface="Cambria"/>
            </a:endParaRPr>
          </a:p>
          <a:p>
            <a:pPr marL="1680210">
              <a:lnSpc>
                <a:spcPct val="100000"/>
              </a:lnSpc>
              <a:spcBef>
                <a:spcPts val="910"/>
              </a:spcBef>
              <a:tabLst>
                <a:tab pos="2368550" algn="l"/>
                <a:tab pos="2737485" algn="l"/>
                <a:tab pos="3359785" algn="l"/>
                <a:tab pos="3661410" algn="l"/>
                <a:tab pos="4217670" algn="l"/>
              </a:tabLst>
            </a:pPr>
            <a:r>
              <a:rPr sz="2400" spc="-25" dirty="0">
                <a:latin typeface="Cambria"/>
                <a:cs typeface="Cambria"/>
              </a:rPr>
              <a:t>id1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=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id2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id3</a:t>
            </a:r>
            <a:r>
              <a:rPr sz="2400" dirty="0">
                <a:latin typeface="Cambria"/>
                <a:cs typeface="Cambria"/>
              </a:rPr>
              <a:t>	*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60</a:t>
            </a:r>
            <a:endParaRPr sz="24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96079" y="3038220"/>
          <a:ext cx="3731895" cy="2391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8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Position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Identifier</a:t>
                      </a:r>
                      <a:r>
                        <a:rPr sz="1800" spc="-9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=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Equal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operator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Initial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Identifier</a:t>
                      </a:r>
                      <a:r>
                        <a:rPr sz="1800" spc="-9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+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Addition</a:t>
                      </a:r>
                      <a:r>
                        <a:rPr sz="1800" spc="-8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Operator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ts val="2100"/>
                        </a:lnSpc>
                        <a:spcBef>
                          <a:spcPts val="20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Rate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1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Identifier</a:t>
                      </a:r>
                      <a:r>
                        <a:rPr sz="1800" spc="-9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*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Multiplication</a:t>
                      </a:r>
                      <a:r>
                        <a:rPr sz="1800" spc="-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Operator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60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Constant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pc="-70" dirty="0"/>
              <a:t>Phases</a:t>
            </a:r>
            <a:r>
              <a:rPr spc="-100" dirty="0"/>
              <a:t> </a:t>
            </a:r>
            <a:r>
              <a:rPr spc="-25" dirty="0"/>
              <a:t>of </a:t>
            </a:r>
            <a:r>
              <a:rPr spc="-35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5321" y="784098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8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5321" y="1837182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Syntax</a:t>
            </a:r>
            <a:r>
              <a:rPr sz="18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47916" y="1465325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7600" cy="423291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516890" algn="l"/>
              </a:tabLst>
            </a:pPr>
            <a:r>
              <a:rPr sz="2400" b="1" spc="-25" dirty="0">
                <a:latin typeface="Cambria"/>
                <a:cs typeface="Cambria"/>
              </a:rPr>
              <a:t>2)</a:t>
            </a:r>
            <a:r>
              <a:rPr sz="2400" b="1" dirty="0">
                <a:latin typeface="Cambria"/>
                <a:cs typeface="Cambria"/>
              </a:rPr>
              <a:t>	Syntax</a:t>
            </a:r>
            <a:r>
              <a:rPr sz="2400" b="1" spc="-12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Analysis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Hierarchical</a:t>
            </a:r>
            <a:r>
              <a:rPr sz="2400" b="1" spc="-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analysis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Parsing.</a:t>
            </a:r>
            <a:endParaRPr sz="2400">
              <a:latin typeface="Cambria"/>
              <a:cs typeface="Cambria"/>
            </a:endParaRPr>
          </a:p>
          <a:p>
            <a:pPr marL="195580" marR="6985" indent="-183515">
              <a:lnSpc>
                <a:spcPts val="2590"/>
              </a:lnSpc>
              <a:spcBef>
                <a:spcPts val="1240"/>
              </a:spcBef>
              <a:tabLst>
                <a:tab pos="2435860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determines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if</a:t>
            </a:r>
            <a:r>
              <a:rPr sz="2400" dirty="0">
                <a:latin typeface="Cambria"/>
                <a:cs typeface="Cambria"/>
              </a:rPr>
              <a:t>	the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sentence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formed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words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syntactically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(grammatically)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correct.</a:t>
            </a:r>
            <a:endParaRPr sz="2400">
              <a:latin typeface="Cambria"/>
              <a:cs typeface="Cambria"/>
            </a:endParaRPr>
          </a:p>
          <a:p>
            <a:pPr marL="195580" marR="5715" indent="-183515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creates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syntax</a:t>
            </a:r>
            <a:r>
              <a:rPr sz="24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tree</a:t>
            </a:r>
            <a:r>
              <a:rPr sz="24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generated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tokens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code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error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free.</a:t>
            </a:r>
            <a:endParaRPr sz="2400">
              <a:latin typeface="Cambria"/>
              <a:cs typeface="Cambria"/>
            </a:endParaRPr>
          </a:p>
          <a:p>
            <a:pPr marL="195580" marR="5080" indent="-183515">
              <a:lnSpc>
                <a:spcPts val="2590"/>
              </a:lnSpc>
              <a:spcBef>
                <a:spcPts val="1200"/>
              </a:spcBef>
              <a:tabLst>
                <a:tab pos="1240790" algn="l"/>
                <a:tab pos="1937385" algn="l"/>
                <a:tab pos="3030220" algn="l"/>
                <a:tab pos="4475480" algn="l"/>
                <a:tab pos="4931410" algn="l"/>
                <a:tab pos="6137910" algn="l"/>
                <a:tab pos="6964045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Syntax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tree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consist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operators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internal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node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and </a:t>
            </a:r>
            <a:r>
              <a:rPr sz="2400" spc="-10" dirty="0">
                <a:latin typeface="Cambria"/>
                <a:cs typeface="Cambria"/>
              </a:rPr>
              <a:t>operands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leaf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node.</a:t>
            </a:r>
            <a:endParaRPr sz="2400">
              <a:latin typeface="Cambria"/>
              <a:cs typeface="Cambria"/>
            </a:endParaRPr>
          </a:p>
          <a:p>
            <a:pPr marL="195580" marR="7620" indent="-183515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phase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check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each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every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try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detect </a:t>
            </a:r>
            <a:r>
              <a:rPr sz="2400" dirty="0">
                <a:latin typeface="Cambria"/>
                <a:cs typeface="Cambria"/>
              </a:rPr>
              <a:t>errors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grammatically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(syntax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wise)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not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correct.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1863978"/>
            <a:ext cx="2218690" cy="15621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426084">
              <a:lnSpc>
                <a:spcPts val="3890"/>
              </a:lnSpc>
              <a:spcBef>
                <a:spcPts val="585"/>
              </a:spcBef>
            </a:pPr>
            <a:r>
              <a:rPr spc="-70" dirty="0"/>
              <a:t>Phases</a:t>
            </a:r>
            <a:r>
              <a:rPr spc="-100" dirty="0"/>
              <a:t> </a:t>
            </a:r>
            <a:r>
              <a:rPr spc="-25" dirty="0"/>
              <a:t>of </a:t>
            </a:r>
            <a:r>
              <a:rPr spc="-35" dirty="0"/>
              <a:t>Compiler</a:t>
            </a:r>
          </a:p>
          <a:p>
            <a:pPr marL="12700">
              <a:lnSpc>
                <a:spcPts val="3829"/>
              </a:lnSpc>
            </a:pPr>
            <a:r>
              <a:rPr dirty="0"/>
              <a:t>/</a:t>
            </a:r>
            <a:r>
              <a:rPr spc="-114" dirty="0"/>
              <a:t> </a:t>
            </a:r>
            <a:r>
              <a:rPr spc="-85" dirty="0"/>
              <a:t>Analysis</a:t>
            </a:r>
            <a:r>
              <a:rPr spc="-75" dirty="0"/>
              <a:t> </a:t>
            </a:r>
            <a:r>
              <a:rPr spc="-50" dirty="0"/>
              <a:t>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1724" y="3345560"/>
            <a:ext cx="2336165" cy="154876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ct val="88800"/>
              </a:lnSpc>
              <a:spcBef>
                <a:spcPts val="58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389127"/>
            <a:ext cx="3846829" cy="291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5410">
              <a:lnSpc>
                <a:spcPct val="131700"/>
              </a:lnSpc>
              <a:spcBef>
                <a:spcPts val="100"/>
              </a:spcBef>
              <a:tabLst>
                <a:tab pos="469900" algn="l"/>
                <a:tab pos="2435860" algn="l"/>
                <a:tab pos="2816860" algn="l"/>
                <a:tab pos="3197860" algn="l"/>
              </a:tabLst>
            </a:pPr>
            <a:r>
              <a:rPr sz="2400" b="1" spc="-25" dirty="0">
                <a:latin typeface="Cambria"/>
                <a:cs typeface="Cambria"/>
              </a:rPr>
              <a:t>2)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10" dirty="0">
                <a:latin typeface="Cambria"/>
                <a:cs typeface="Cambria"/>
              </a:rPr>
              <a:t>Syntax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Analysis</a:t>
            </a:r>
            <a:r>
              <a:rPr sz="2400" b="1" spc="6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position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rate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60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b="1" spc="-50" dirty="0">
                <a:solidFill>
                  <a:srgbClr val="EDAFB0"/>
                </a:solidFill>
                <a:latin typeface="Cambria"/>
                <a:cs typeface="Cambria"/>
              </a:rPr>
              <a:t>=</a:t>
            </a:r>
            <a:r>
              <a:rPr sz="2400" b="1" dirty="0">
                <a:solidFill>
                  <a:srgbClr val="EDAFB0"/>
                </a:solidFill>
                <a:latin typeface="Cambria"/>
                <a:cs typeface="Cambria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b="1" spc="-50" dirty="0">
                <a:solidFill>
                  <a:srgbClr val="6E171A"/>
                </a:solidFill>
                <a:latin typeface="Cambria"/>
                <a:cs typeface="Cambria"/>
              </a:rPr>
              <a:t>* </a:t>
            </a:r>
            <a:r>
              <a:rPr sz="2400" dirty="0">
                <a:latin typeface="Cambria"/>
                <a:cs typeface="Cambria"/>
              </a:rPr>
              <a:t>position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6E171A"/>
                </a:solidFill>
                <a:latin typeface="Cambria"/>
                <a:cs typeface="Cambria"/>
              </a:rPr>
              <a:t>rate</a:t>
            </a:r>
            <a:r>
              <a:rPr sz="2400" b="1" spc="-35" dirty="0">
                <a:solidFill>
                  <a:srgbClr val="6E171A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6E171A"/>
                </a:solidFill>
                <a:latin typeface="Cambria"/>
                <a:cs typeface="Cambria"/>
              </a:rPr>
              <a:t>*</a:t>
            </a:r>
            <a:r>
              <a:rPr sz="2400" b="1" spc="-40" dirty="0">
                <a:solidFill>
                  <a:srgbClr val="6E171A"/>
                </a:solidFill>
                <a:latin typeface="Cambria"/>
                <a:cs typeface="Cambria"/>
              </a:rPr>
              <a:t> </a:t>
            </a:r>
            <a:r>
              <a:rPr sz="2400" b="1" spc="-25" dirty="0">
                <a:solidFill>
                  <a:srgbClr val="6E171A"/>
                </a:solidFill>
                <a:latin typeface="Cambria"/>
                <a:cs typeface="Cambria"/>
              </a:rPr>
              <a:t>60 </a:t>
            </a:r>
            <a:r>
              <a:rPr sz="2400" dirty="0">
                <a:latin typeface="Cambria"/>
                <a:cs typeface="Cambria"/>
              </a:rPr>
              <a:t>position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initial</a:t>
            </a:r>
            <a:r>
              <a:rPr sz="24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sz="24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rate</a:t>
            </a:r>
            <a:r>
              <a:rPr sz="24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*</a:t>
            </a:r>
            <a:r>
              <a:rPr sz="24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mbria"/>
                <a:cs typeface="Cambria"/>
              </a:rPr>
              <a:t>60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b="1" dirty="0">
                <a:solidFill>
                  <a:srgbClr val="E6878A"/>
                </a:solidFill>
                <a:latin typeface="Cambria"/>
                <a:cs typeface="Cambria"/>
              </a:rPr>
              <a:t>position</a:t>
            </a:r>
            <a:r>
              <a:rPr sz="2400" b="1" spc="-70" dirty="0">
                <a:solidFill>
                  <a:srgbClr val="E6878A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E6878A"/>
                </a:solidFill>
                <a:latin typeface="Cambria"/>
                <a:cs typeface="Cambria"/>
              </a:rPr>
              <a:t>=</a:t>
            </a:r>
            <a:r>
              <a:rPr sz="2400" b="1" spc="-35" dirty="0">
                <a:solidFill>
                  <a:srgbClr val="E6878A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E6878A"/>
                </a:solidFill>
                <a:latin typeface="Cambria"/>
                <a:cs typeface="Cambria"/>
              </a:rPr>
              <a:t>initial</a:t>
            </a:r>
            <a:r>
              <a:rPr sz="2400" b="1" spc="-65" dirty="0">
                <a:solidFill>
                  <a:srgbClr val="E6878A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E6878A"/>
                </a:solidFill>
                <a:latin typeface="Cambria"/>
                <a:cs typeface="Cambria"/>
              </a:rPr>
              <a:t>+</a:t>
            </a:r>
            <a:r>
              <a:rPr sz="2400" b="1" spc="-30" dirty="0">
                <a:solidFill>
                  <a:srgbClr val="E6878A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E6878A"/>
                </a:solidFill>
                <a:latin typeface="Cambria"/>
                <a:cs typeface="Cambria"/>
              </a:rPr>
              <a:t>rate</a:t>
            </a:r>
            <a:r>
              <a:rPr sz="2400" b="1" spc="-30" dirty="0">
                <a:solidFill>
                  <a:srgbClr val="E6878A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E6878A"/>
                </a:solidFill>
                <a:latin typeface="Cambria"/>
                <a:cs typeface="Cambria"/>
              </a:rPr>
              <a:t>*</a:t>
            </a:r>
            <a:r>
              <a:rPr sz="2400" b="1" spc="-45" dirty="0">
                <a:solidFill>
                  <a:srgbClr val="E6878A"/>
                </a:solidFill>
                <a:latin typeface="Cambria"/>
                <a:cs typeface="Cambria"/>
              </a:rPr>
              <a:t> </a:t>
            </a:r>
            <a:r>
              <a:rPr sz="2400" b="1" spc="-25" dirty="0">
                <a:solidFill>
                  <a:srgbClr val="E6878A"/>
                </a:solidFill>
                <a:latin typeface="Cambria"/>
                <a:cs typeface="Cambria"/>
              </a:rPr>
              <a:t>60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6478" y="4425696"/>
            <a:ext cx="1294265" cy="9088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9026" y="3609582"/>
            <a:ext cx="2228147" cy="17991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43697" y="2911220"/>
            <a:ext cx="3056455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pc="-70" dirty="0"/>
              <a:t>Phases</a:t>
            </a:r>
            <a:r>
              <a:rPr spc="-100" dirty="0"/>
              <a:t> </a:t>
            </a:r>
            <a:r>
              <a:rPr spc="-25" dirty="0"/>
              <a:t>of </a:t>
            </a:r>
            <a:r>
              <a:rPr spc="-35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5321" y="784098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8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5321" y="1837182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Syntax</a:t>
            </a:r>
            <a:r>
              <a:rPr sz="18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47916" y="1465325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05321" y="2890266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56895" marR="534670" indent="-15240">
              <a:lnSpc>
                <a:spcPct val="100000"/>
              </a:lnSpc>
              <a:spcBef>
                <a:spcPts val="47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Semantic 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57059" y="2518410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4" y="274700"/>
                </a:moveTo>
                <a:lnTo>
                  <a:pt x="0" y="274700"/>
                </a:lnTo>
                <a:lnTo>
                  <a:pt x="48006" y="370713"/>
                </a:lnTo>
                <a:lnTo>
                  <a:pt x="88011" y="290702"/>
                </a:lnTo>
                <a:lnTo>
                  <a:pt x="32004" y="290702"/>
                </a:lnTo>
                <a:lnTo>
                  <a:pt x="32004" y="274700"/>
                </a:lnTo>
                <a:close/>
              </a:path>
              <a:path w="96520" h="370839">
                <a:moveTo>
                  <a:pt x="64008" y="0"/>
                </a:moveTo>
                <a:lnTo>
                  <a:pt x="32004" y="0"/>
                </a:lnTo>
                <a:lnTo>
                  <a:pt x="32004" y="290702"/>
                </a:lnTo>
                <a:lnTo>
                  <a:pt x="64008" y="290702"/>
                </a:lnTo>
                <a:lnTo>
                  <a:pt x="64008" y="0"/>
                </a:lnTo>
                <a:close/>
              </a:path>
              <a:path w="96520" h="370839">
                <a:moveTo>
                  <a:pt x="96012" y="274700"/>
                </a:moveTo>
                <a:lnTo>
                  <a:pt x="64008" y="274700"/>
                </a:lnTo>
                <a:lnTo>
                  <a:pt x="64008" y="290702"/>
                </a:lnTo>
                <a:lnTo>
                  <a:pt x="88011" y="290702"/>
                </a:lnTo>
                <a:lnTo>
                  <a:pt x="96012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8234" cy="5087931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15"/>
              </a:spcBef>
            </a:pPr>
            <a:r>
              <a:rPr sz="2400" b="1" dirty="0">
                <a:latin typeface="Cambria"/>
                <a:cs typeface="Cambria"/>
              </a:rPr>
              <a:t>3)</a:t>
            </a:r>
            <a:r>
              <a:rPr sz="2400" b="1" spc="215" dirty="0">
                <a:latin typeface="Cambria"/>
                <a:cs typeface="Cambria"/>
              </a:rPr>
              <a:t>  </a:t>
            </a:r>
            <a:r>
              <a:rPr sz="2400" b="1" dirty="0">
                <a:latin typeface="Cambria"/>
                <a:cs typeface="Cambria"/>
              </a:rPr>
              <a:t>Semantic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Analysis</a:t>
            </a:r>
            <a:endParaRPr sz="2400" dirty="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determines</a:t>
            </a:r>
            <a:r>
              <a:rPr sz="2400" b="1" spc="-1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meaning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459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string</a:t>
            </a:r>
            <a:endParaRPr sz="2400" dirty="0">
              <a:latin typeface="Cambria"/>
              <a:cs typeface="Cambria"/>
            </a:endParaRPr>
          </a:p>
          <a:p>
            <a:pPr marL="195580" marR="5715" indent="-183515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semantic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analysis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various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operations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are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performed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like</a:t>
            </a:r>
            <a:endParaRPr sz="2400" dirty="0">
              <a:latin typeface="Cambria"/>
              <a:cs typeface="Cambria"/>
            </a:endParaRPr>
          </a:p>
          <a:p>
            <a:pPr marL="195580" marR="5080" indent="-183515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Performing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check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;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whether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operator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have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compatible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arguments</a:t>
            </a:r>
            <a:r>
              <a:rPr sz="2400" spc="13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r</a:t>
            </a:r>
            <a:r>
              <a:rPr sz="2400" spc="13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not</a:t>
            </a:r>
            <a:r>
              <a:rPr sz="2400" spc="13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(type</a:t>
            </a:r>
            <a:r>
              <a:rPr sz="2400" spc="13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checking)</a:t>
            </a:r>
            <a:r>
              <a:rPr sz="2400" spc="13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13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matching</a:t>
            </a:r>
            <a:r>
              <a:rPr sz="2400" spc="13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 </a:t>
            </a:r>
            <a:r>
              <a:rPr sz="2400" spc="-15" dirty="0">
                <a:latin typeface="Cambria"/>
                <a:cs typeface="Cambria"/>
              </a:rPr>
              <a:t>parenthesis,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scope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operation</a:t>
            </a:r>
            <a:r>
              <a:rPr sz="2400" spc="-20" dirty="0">
                <a:latin typeface="Cambria"/>
                <a:cs typeface="Cambria"/>
              </a:rPr>
              <a:t> etc.</a:t>
            </a:r>
            <a:endParaRPr sz="2400" dirty="0">
              <a:latin typeface="Cambria"/>
              <a:cs typeface="Cambria"/>
            </a:endParaRPr>
          </a:p>
          <a:p>
            <a:pPr marL="195580" marR="6985" indent="-183515" algn="just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5" dirty="0">
                <a:latin typeface="Cambria"/>
                <a:cs typeface="Cambria"/>
              </a:rPr>
              <a:t>Ensuring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that</a:t>
            </a:r>
            <a:r>
              <a:rPr sz="2400" spc="4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components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program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fits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together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meaningfully.</a:t>
            </a:r>
            <a:endParaRPr lang="en-IN" sz="2400" spc="-30" dirty="0">
              <a:latin typeface="Cambria"/>
              <a:cs typeface="Cambria"/>
            </a:endParaRPr>
          </a:p>
          <a:p>
            <a:pPr marL="195580" marR="6985" indent="-183515" algn="just" rtl="0">
              <a:lnSpc>
                <a:spcPts val="2590"/>
              </a:lnSpc>
              <a:spcBef>
                <a:spcPts val="1205"/>
              </a:spcBef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Semantic analysis inserts a conversion from integer            to real</a:t>
            </a: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5580" marR="6985" indent="-183515" algn="just">
              <a:lnSpc>
                <a:spcPts val="2590"/>
              </a:lnSpc>
              <a:spcBef>
                <a:spcPts val="1205"/>
              </a:spcBef>
            </a:pP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218690" cy="15621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426084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829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1724" y="3345560"/>
            <a:ext cx="2336165" cy="154876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ct val="88800"/>
              </a:lnSpc>
              <a:spcBef>
                <a:spcPts val="58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389127"/>
            <a:ext cx="3574415" cy="98933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516890" algn="l"/>
              </a:tabLst>
            </a:pPr>
            <a:r>
              <a:rPr sz="2400" b="1" spc="-25" dirty="0">
                <a:latin typeface="Cambria"/>
                <a:cs typeface="Cambria"/>
              </a:rPr>
              <a:t>3)</a:t>
            </a:r>
            <a:r>
              <a:rPr sz="2400" b="1" dirty="0">
                <a:latin typeface="Cambria"/>
                <a:cs typeface="Cambria"/>
              </a:rPr>
              <a:t>	Semantic</a:t>
            </a:r>
            <a:r>
              <a:rPr sz="2400" b="1" spc="-10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Analysis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dirty="0">
                <a:latin typeface="Cambria"/>
                <a:cs typeface="Cambria"/>
              </a:rPr>
              <a:t>position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rate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60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3325" y="2603862"/>
            <a:ext cx="3623015" cy="29908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pc="-70" dirty="0"/>
              <a:t>Phases</a:t>
            </a:r>
            <a:r>
              <a:rPr spc="-100" dirty="0"/>
              <a:t> </a:t>
            </a:r>
            <a:r>
              <a:rPr spc="-25" dirty="0"/>
              <a:t>of </a:t>
            </a:r>
            <a:r>
              <a:rPr spc="-35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5321" y="784098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8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5321" y="1837182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Syntax</a:t>
            </a:r>
            <a:r>
              <a:rPr sz="18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47916" y="1465325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05321" y="2890266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56895" marR="534670" indent="-15240">
              <a:lnSpc>
                <a:spcPct val="100000"/>
              </a:lnSpc>
              <a:spcBef>
                <a:spcPts val="47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Semantic 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57059" y="2518410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4" y="274700"/>
                </a:moveTo>
                <a:lnTo>
                  <a:pt x="0" y="274700"/>
                </a:lnTo>
                <a:lnTo>
                  <a:pt x="48006" y="370713"/>
                </a:lnTo>
                <a:lnTo>
                  <a:pt x="88011" y="290702"/>
                </a:lnTo>
                <a:lnTo>
                  <a:pt x="32004" y="290702"/>
                </a:lnTo>
                <a:lnTo>
                  <a:pt x="32004" y="274700"/>
                </a:lnTo>
                <a:close/>
              </a:path>
              <a:path w="96520" h="370839">
                <a:moveTo>
                  <a:pt x="64008" y="0"/>
                </a:moveTo>
                <a:lnTo>
                  <a:pt x="32004" y="0"/>
                </a:lnTo>
                <a:lnTo>
                  <a:pt x="32004" y="290702"/>
                </a:lnTo>
                <a:lnTo>
                  <a:pt x="64008" y="290702"/>
                </a:lnTo>
                <a:lnTo>
                  <a:pt x="64008" y="0"/>
                </a:lnTo>
                <a:close/>
              </a:path>
              <a:path w="96520" h="370839">
                <a:moveTo>
                  <a:pt x="96012" y="274700"/>
                </a:moveTo>
                <a:lnTo>
                  <a:pt x="64008" y="274700"/>
                </a:lnTo>
                <a:lnTo>
                  <a:pt x="64008" y="290702"/>
                </a:lnTo>
                <a:lnTo>
                  <a:pt x="88011" y="290702"/>
                </a:lnTo>
                <a:lnTo>
                  <a:pt x="96012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14465" y="3943350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47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Intermediate</a:t>
            </a:r>
            <a:endParaRPr sz="1800">
              <a:latin typeface="Cambria"/>
              <a:cs typeface="Cambria"/>
            </a:endParaRPr>
          </a:p>
          <a:p>
            <a:pPr marL="22732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800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Generator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47916" y="3571494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2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505205"/>
            <a:ext cx="4622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00" b="1" spc="-25" dirty="0">
                <a:latin typeface="Cambria"/>
                <a:cs typeface="Cambria"/>
              </a:rPr>
              <a:t>4)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10" dirty="0">
                <a:latin typeface="Cambria"/>
                <a:cs typeface="Cambria"/>
              </a:rPr>
              <a:t>Intermediate</a:t>
            </a:r>
            <a:r>
              <a:rPr sz="2400" b="1" spc="-6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Code</a:t>
            </a:r>
            <a:r>
              <a:rPr sz="2400" b="1" spc="-8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Generator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987044"/>
            <a:ext cx="7466330" cy="29768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715" indent="-183515">
              <a:lnSpc>
                <a:spcPts val="2590"/>
              </a:lnSpc>
              <a:spcBef>
                <a:spcPts val="425"/>
              </a:spcBef>
              <a:tabLst>
                <a:tab pos="2409825" algn="l"/>
                <a:tab pos="3283585" algn="l"/>
                <a:tab pos="4949190" algn="l"/>
                <a:tab pos="6089650" algn="l"/>
                <a:tab pos="6955155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Intermediate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code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generation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should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have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30" dirty="0">
                <a:latin typeface="Cambria"/>
                <a:cs typeface="Cambria"/>
              </a:rPr>
              <a:t>two </a:t>
            </a:r>
            <a:r>
              <a:rPr sz="2400" dirty="0">
                <a:latin typeface="Cambria"/>
                <a:cs typeface="Cambria"/>
              </a:rPr>
              <a:t>properties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927100" marR="2832100">
              <a:lnSpc>
                <a:spcPts val="3790"/>
              </a:lnSpc>
              <a:spcBef>
                <a:spcPts val="245"/>
              </a:spcBef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should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easy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produce, </a:t>
            </a:r>
            <a:r>
              <a:rPr sz="2400" dirty="0">
                <a:latin typeface="Cambria"/>
                <a:cs typeface="Cambria"/>
              </a:rPr>
              <a:t>easy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translate.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Intermediate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“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Three</a:t>
            </a:r>
            <a:r>
              <a:rPr sz="2400" b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Code</a:t>
            </a:r>
            <a:r>
              <a:rPr sz="2400" spc="-10" dirty="0">
                <a:latin typeface="Cambria"/>
                <a:cs typeface="Cambria"/>
              </a:rPr>
              <a:t>”.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735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address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maximum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consist</a:t>
            </a:r>
            <a:endParaRPr sz="2400">
              <a:latin typeface="Cambria"/>
              <a:cs typeface="Cambria"/>
            </a:endParaRPr>
          </a:p>
          <a:p>
            <a:pPr marL="195580">
              <a:lnSpc>
                <a:spcPts val="2735"/>
              </a:lnSpc>
            </a:pP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operands.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5045710" cy="291592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516890" algn="l"/>
              </a:tabLst>
            </a:pPr>
            <a:r>
              <a:rPr sz="2400" b="1" spc="-25" dirty="0">
                <a:latin typeface="Cambria"/>
                <a:cs typeface="Cambria"/>
              </a:rPr>
              <a:t>4)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10" dirty="0">
                <a:latin typeface="Cambria"/>
                <a:cs typeface="Cambria"/>
              </a:rPr>
              <a:t>Intermediate</a:t>
            </a:r>
            <a:r>
              <a:rPr sz="2400" b="1" spc="-6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Code</a:t>
            </a:r>
            <a:r>
              <a:rPr sz="2400" b="1" spc="-8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Generator</a:t>
            </a:r>
            <a:endParaRPr sz="2400">
              <a:latin typeface="Cambria"/>
              <a:cs typeface="Cambria"/>
            </a:endParaRPr>
          </a:p>
          <a:p>
            <a:pPr marL="1012190" marR="5080" indent="-1000125">
              <a:lnSpc>
                <a:spcPct val="131700"/>
              </a:lnSpc>
              <a:tabLst>
                <a:tab pos="1483360" algn="l"/>
              </a:tabLst>
            </a:pPr>
            <a:r>
              <a:rPr sz="2400" dirty="0">
                <a:latin typeface="Cambria"/>
                <a:cs typeface="Cambria"/>
              </a:rPr>
              <a:t>Example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position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rate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60 </a:t>
            </a:r>
            <a:r>
              <a:rPr sz="2400" dirty="0">
                <a:latin typeface="Cambria"/>
                <a:cs typeface="Cambria"/>
              </a:rPr>
              <a:t>t1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inttoreal(60)</a:t>
            </a:r>
            <a:endParaRPr sz="2400">
              <a:latin typeface="Cambria"/>
              <a:cs typeface="Cambria"/>
            </a:endParaRPr>
          </a:p>
          <a:p>
            <a:pPr marL="1012190" marR="2119630">
              <a:lnSpc>
                <a:spcPct val="131700"/>
              </a:lnSpc>
            </a:pPr>
            <a:r>
              <a:rPr sz="2400" dirty="0">
                <a:latin typeface="Cambria"/>
                <a:cs typeface="Cambria"/>
              </a:rPr>
              <a:t>t2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rate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35" dirty="0">
                <a:latin typeface="Cambria"/>
                <a:cs typeface="Cambria"/>
              </a:rPr>
              <a:t> t1 </a:t>
            </a:r>
            <a:r>
              <a:rPr sz="2400" dirty="0">
                <a:latin typeface="Cambria"/>
                <a:cs typeface="Cambria"/>
              </a:rPr>
              <a:t>t3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t2 </a:t>
            </a:r>
            <a:r>
              <a:rPr sz="2400" dirty="0">
                <a:latin typeface="Cambria"/>
                <a:cs typeface="Cambria"/>
              </a:rPr>
              <a:t>position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t3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pc="-70" dirty="0"/>
              <a:t>Phases</a:t>
            </a:r>
            <a:r>
              <a:rPr spc="-100" dirty="0"/>
              <a:t> </a:t>
            </a:r>
            <a:r>
              <a:rPr spc="-25" dirty="0"/>
              <a:t>of </a:t>
            </a:r>
            <a:r>
              <a:rPr spc="-35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5321" y="784098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8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5321" y="1837182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Syntax</a:t>
            </a:r>
            <a:r>
              <a:rPr sz="18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47916" y="1465325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05321" y="2890266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56895" marR="534670" indent="-15240">
              <a:lnSpc>
                <a:spcPct val="100000"/>
              </a:lnSpc>
              <a:spcBef>
                <a:spcPts val="47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Semantic 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57059" y="2518410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4" y="274700"/>
                </a:moveTo>
                <a:lnTo>
                  <a:pt x="0" y="274700"/>
                </a:lnTo>
                <a:lnTo>
                  <a:pt x="48006" y="370713"/>
                </a:lnTo>
                <a:lnTo>
                  <a:pt x="88011" y="290702"/>
                </a:lnTo>
                <a:lnTo>
                  <a:pt x="32004" y="290702"/>
                </a:lnTo>
                <a:lnTo>
                  <a:pt x="32004" y="274700"/>
                </a:lnTo>
                <a:close/>
              </a:path>
              <a:path w="96520" h="370839">
                <a:moveTo>
                  <a:pt x="64008" y="0"/>
                </a:moveTo>
                <a:lnTo>
                  <a:pt x="32004" y="0"/>
                </a:lnTo>
                <a:lnTo>
                  <a:pt x="32004" y="290702"/>
                </a:lnTo>
                <a:lnTo>
                  <a:pt x="64008" y="290702"/>
                </a:lnTo>
                <a:lnTo>
                  <a:pt x="64008" y="0"/>
                </a:lnTo>
                <a:close/>
              </a:path>
              <a:path w="96520" h="370839">
                <a:moveTo>
                  <a:pt x="96012" y="274700"/>
                </a:moveTo>
                <a:lnTo>
                  <a:pt x="64008" y="274700"/>
                </a:lnTo>
                <a:lnTo>
                  <a:pt x="64008" y="290702"/>
                </a:lnTo>
                <a:lnTo>
                  <a:pt x="88011" y="290702"/>
                </a:lnTo>
                <a:lnTo>
                  <a:pt x="96012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14465" y="3943350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47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Intermediate</a:t>
            </a:r>
            <a:endParaRPr sz="1800">
              <a:latin typeface="Cambria"/>
              <a:cs typeface="Cambria"/>
            </a:endParaRPr>
          </a:p>
          <a:p>
            <a:pPr marL="22732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800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Generator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47916" y="3571494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2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14465" y="4996434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56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Optimizer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47916" y="4624578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1"/>
                </a:moveTo>
                <a:lnTo>
                  <a:pt x="0" y="274701"/>
                </a:lnTo>
                <a:lnTo>
                  <a:pt x="48005" y="370713"/>
                </a:lnTo>
                <a:lnTo>
                  <a:pt x="88010" y="290703"/>
                </a:lnTo>
                <a:lnTo>
                  <a:pt x="32003" y="290703"/>
                </a:lnTo>
                <a:lnTo>
                  <a:pt x="32003" y="274701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3"/>
                </a:lnTo>
                <a:lnTo>
                  <a:pt x="64007" y="290703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1"/>
                </a:moveTo>
                <a:lnTo>
                  <a:pt x="64007" y="274701"/>
                </a:lnTo>
                <a:lnTo>
                  <a:pt x="64007" y="290703"/>
                </a:lnTo>
                <a:lnTo>
                  <a:pt x="88010" y="290703"/>
                </a:lnTo>
                <a:lnTo>
                  <a:pt x="96011" y="274701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8870" cy="3751579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15"/>
              </a:spcBef>
            </a:pPr>
            <a:r>
              <a:rPr sz="2400" b="1" dirty="0">
                <a:latin typeface="Cambria"/>
                <a:cs typeface="Cambria"/>
              </a:rPr>
              <a:t>5)</a:t>
            </a:r>
            <a:r>
              <a:rPr sz="2400" b="1" spc="229" dirty="0">
                <a:latin typeface="Cambria"/>
                <a:cs typeface="Cambria"/>
              </a:rPr>
              <a:t>  </a:t>
            </a:r>
            <a:r>
              <a:rPr sz="2400" b="1" dirty="0">
                <a:latin typeface="Cambria"/>
                <a:cs typeface="Cambria"/>
              </a:rPr>
              <a:t>Code</a:t>
            </a:r>
            <a:r>
              <a:rPr sz="2400" b="1" spc="-2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Optimization</a:t>
            </a:r>
            <a:endParaRPr sz="2400">
              <a:latin typeface="Cambria"/>
              <a:cs typeface="Cambria"/>
            </a:endParaRPr>
          </a:p>
          <a:p>
            <a:pPr marL="195580" marR="5080" indent="-183515" algn="just">
              <a:lnSpc>
                <a:spcPct val="90000"/>
              </a:lnSpc>
              <a:spcBef>
                <a:spcPts val="120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This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phase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improves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the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intermediate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code,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such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-165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way</a:t>
            </a:r>
            <a:r>
              <a:rPr sz="2400" spc="9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that</a:t>
            </a:r>
            <a:r>
              <a:rPr sz="2400" spc="9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9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machine</a:t>
            </a:r>
            <a:r>
              <a:rPr sz="2400" spc="9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code</a:t>
            </a:r>
            <a:r>
              <a:rPr sz="2400" spc="9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can</a:t>
            </a:r>
            <a:r>
              <a:rPr sz="2400" spc="9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be</a:t>
            </a:r>
            <a:r>
              <a:rPr sz="2400" spc="9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produced,</a:t>
            </a:r>
            <a:r>
              <a:rPr sz="2400" spc="91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which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occupies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less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memory</a:t>
            </a:r>
            <a:r>
              <a:rPr sz="2400" b="1" spc="135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space</a:t>
            </a:r>
            <a:r>
              <a:rPr sz="2400" b="1" spc="1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l</a:t>
            </a:r>
            <a:r>
              <a:rPr sz="2400" b="1" spc="5" dirty="0">
                <a:latin typeface="Cambria"/>
                <a:cs typeface="Cambria"/>
              </a:rPr>
              <a:t>e</a:t>
            </a:r>
            <a:r>
              <a:rPr sz="2400" b="1" dirty="0">
                <a:latin typeface="Cambria"/>
                <a:cs typeface="Cambria"/>
              </a:rPr>
              <a:t>ss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execution</a:t>
            </a:r>
            <a:r>
              <a:rPr sz="2400" b="1" spc="135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t</a:t>
            </a:r>
            <a:r>
              <a:rPr sz="2400" b="1" dirty="0">
                <a:latin typeface="Cambria"/>
                <a:cs typeface="Cambria"/>
              </a:rPr>
              <a:t>ime </a:t>
            </a:r>
            <a:r>
              <a:rPr sz="2400" spc="-5" dirty="0">
                <a:latin typeface="Cambria"/>
                <a:cs typeface="Cambria"/>
              </a:rPr>
              <a:t>wi</a:t>
            </a:r>
            <a:r>
              <a:rPr sz="2400" spc="5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h</a:t>
            </a:r>
            <a:r>
              <a:rPr sz="2400" spc="-10" dirty="0">
                <a:latin typeface="Cambria"/>
                <a:cs typeface="Cambria"/>
              </a:rPr>
              <a:t>o</a:t>
            </a:r>
            <a:r>
              <a:rPr sz="2400" spc="-5" dirty="0">
                <a:latin typeface="Cambria"/>
                <a:cs typeface="Cambria"/>
              </a:rPr>
              <a:t>u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6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changing</a:t>
            </a:r>
            <a:r>
              <a:rPr sz="2400" spc="6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6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functi</a:t>
            </a:r>
            <a:r>
              <a:rPr sz="2400" spc="-10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nality</a:t>
            </a:r>
            <a:r>
              <a:rPr sz="2400" spc="67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r</a:t>
            </a:r>
            <a:r>
              <a:rPr sz="2400" spc="6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correctness</a:t>
            </a:r>
            <a:r>
              <a:rPr sz="2400" spc="6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 </a:t>
            </a:r>
            <a:r>
              <a:rPr sz="2400" spc="-15" dirty="0">
                <a:latin typeface="Cambria"/>
                <a:cs typeface="Cambria"/>
              </a:rPr>
              <a:t>program.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9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Example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880110" algn="just">
              <a:lnSpc>
                <a:spcPct val="100000"/>
              </a:lnSpc>
              <a:spcBef>
                <a:spcPts val="915"/>
              </a:spcBef>
            </a:pPr>
            <a:r>
              <a:rPr sz="2400" dirty="0">
                <a:latin typeface="Cambria"/>
                <a:cs typeface="Cambria"/>
              </a:rPr>
              <a:t>t1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rate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60.00</a:t>
            </a:r>
            <a:endParaRPr sz="2400">
              <a:latin typeface="Cambria"/>
              <a:cs typeface="Cambria"/>
            </a:endParaRPr>
          </a:p>
          <a:p>
            <a:pPr marL="880110" algn="just">
              <a:lnSpc>
                <a:spcPct val="100000"/>
              </a:lnSpc>
              <a:spcBef>
                <a:spcPts val="915"/>
              </a:spcBef>
            </a:pPr>
            <a:r>
              <a:rPr sz="2400" dirty="0">
                <a:latin typeface="Cambria"/>
                <a:cs typeface="Cambria"/>
              </a:rPr>
              <a:t>position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25" dirty="0">
                <a:latin typeface="Cambria"/>
                <a:cs typeface="Cambria"/>
              </a:rPr>
              <a:t> t1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51784"/>
            <a:ext cx="1797685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87846" y="442722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550"/>
              </a:spcBef>
            </a:pPr>
            <a:r>
              <a:rPr sz="1800" dirty="0"/>
              <a:t>Lexical</a:t>
            </a:r>
            <a:r>
              <a:rPr sz="1800" spc="-80" dirty="0"/>
              <a:t> </a:t>
            </a:r>
            <a:r>
              <a:rPr sz="1800" spc="-10" dirty="0"/>
              <a:t>Analyzer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6387846" y="1495805"/>
            <a:ext cx="1979930" cy="681355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155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Syntax</a:t>
            </a:r>
            <a:r>
              <a:rPr sz="1800" spc="-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28916" y="1123950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40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40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40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87846" y="2548889"/>
            <a:ext cx="1979930" cy="68326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41020">
              <a:lnSpc>
                <a:spcPct val="100000"/>
              </a:lnSpc>
              <a:spcBef>
                <a:spcPts val="47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Semantic</a:t>
            </a:r>
            <a:endParaRPr sz="1800">
              <a:latin typeface="Cambria"/>
              <a:cs typeface="Cambria"/>
            </a:endParaRPr>
          </a:p>
          <a:p>
            <a:pPr marL="55626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Analyzer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38059" y="2177033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4" y="274700"/>
                </a:moveTo>
                <a:lnTo>
                  <a:pt x="0" y="274700"/>
                </a:lnTo>
                <a:lnTo>
                  <a:pt x="48006" y="370713"/>
                </a:lnTo>
                <a:lnTo>
                  <a:pt x="88011" y="290702"/>
                </a:lnTo>
                <a:lnTo>
                  <a:pt x="32004" y="290702"/>
                </a:lnTo>
                <a:lnTo>
                  <a:pt x="32004" y="274700"/>
                </a:lnTo>
                <a:close/>
              </a:path>
              <a:path w="96520" h="370839">
                <a:moveTo>
                  <a:pt x="64008" y="0"/>
                </a:moveTo>
                <a:lnTo>
                  <a:pt x="32004" y="0"/>
                </a:lnTo>
                <a:lnTo>
                  <a:pt x="32004" y="290702"/>
                </a:lnTo>
                <a:lnTo>
                  <a:pt x="64008" y="290702"/>
                </a:lnTo>
                <a:lnTo>
                  <a:pt x="64008" y="0"/>
                </a:lnTo>
                <a:close/>
              </a:path>
              <a:path w="96520" h="370839">
                <a:moveTo>
                  <a:pt x="96012" y="274700"/>
                </a:moveTo>
                <a:lnTo>
                  <a:pt x="64008" y="274700"/>
                </a:lnTo>
                <a:lnTo>
                  <a:pt x="64008" y="290702"/>
                </a:lnTo>
                <a:lnTo>
                  <a:pt x="88011" y="290702"/>
                </a:lnTo>
                <a:lnTo>
                  <a:pt x="96012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96990" y="3601973"/>
            <a:ext cx="1979930" cy="68326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475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Intermediate</a:t>
            </a:r>
            <a:endParaRPr sz="1800">
              <a:latin typeface="Cambria"/>
              <a:cs typeface="Cambria"/>
            </a:endParaRPr>
          </a:p>
          <a:p>
            <a:pPr marL="22732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Generator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28916" y="3231642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3"/>
                </a:lnTo>
                <a:lnTo>
                  <a:pt x="32003" y="290703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3"/>
                </a:lnTo>
                <a:lnTo>
                  <a:pt x="64007" y="290703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3"/>
                </a:lnTo>
                <a:lnTo>
                  <a:pt x="88010" y="290703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96990" y="4655058"/>
            <a:ext cx="1979930" cy="68326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56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Optimizer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28916" y="4284726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3" y="274700"/>
                </a:moveTo>
                <a:lnTo>
                  <a:pt x="0" y="274700"/>
                </a:lnTo>
                <a:lnTo>
                  <a:pt x="48005" y="370713"/>
                </a:lnTo>
                <a:lnTo>
                  <a:pt x="88010" y="290703"/>
                </a:lnTo>
                <a:lnTo>
                  <a:pt x="32003" y="290703"/>
                </a:lnTo>
                <a:lnTo>
                  <a:pt x="32003" y="274700"/>
                </a:lnTo>
                <a:close/>
              </a:path>
              <a:path w="96520" h="370839">
                <a:moveTo>
                  <a:pt x="64007" y="0"/>
                </a:moveTo>
                <a:lnTo>
                  <a:pt x="32003" y="0"/>
                </a:lnTo>
                <a:lnTo>
                  <a:pt x="32003" y="290703"/>
                </a:lnTo>
                <a:lnTo>
                  <a:pt x="64007" y="290703"/>
                </a:lnTo>
                <a:lnTo>
                  <a:pt x="64007" y="0"/>
                </a:lnTo>
                <a:close/>
              </a:path>
              <a:path w="96520" h="370839">
                <a:moveTo>
                  <a:pt x="96011" y="274700"/>
                </a:moveTo>
                <a:lnTo>
                  <a:pt x="64007" y="274700"/>
                </a:lnTo>
                <a:lnTo>
                  <a:pt x="64007" y="290703"/>
                </a:lnTo>
                <a:lnTo>
                  <a:pt x="88010" y="290703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87846" y="5708141"/>
            <a:ext cx="1979930" cy="68326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56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Generator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38059" y="5337809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39">
                <a:moveTo>
                  <a:pt x="32004" y="274751"/>
                </a:moveTo>
                <a:lnTo>
                  <a:pt x="0" y="274751"/>
                </a:lnTo>
                <a:lnTo>
                  <a:pt x="48006" y="370763"/>
                </a:lnTo>
                <a:lnTo>
                  <a:pt x="88011" y="290753"/>
                </a:lnTo>
                <a:lnTo>
                  <a:pt x="32004" y="290753"/>
                </a:lnTo>
                <a:lnTo>
                  <a:pt x="32004" y="274751"/>
                </a:lnTo>
                <a:close/>
              </a:path>
              <a:path w="96520" h="370839">
                <a:moveTo>
                  <a:pt x="64008" y="0"/>
                </a:moveTo>
                <a:lnTo>
                  <a:pt x="32004" y="0"/>
                </a:lnTo>
                <a:lnTo>
                  <a:pt x="32004" y="290753"/>
                </a:lnTo>
                <a:lnTo>
                  <a:pt x="64008" y="290753"/>
                </a:lnTo>
                <a:lnTo>
                  <a:pt x="64008" y="0"/>
                </a:lnTo>
                <a:close/>
              </a:path>
              <a:path w="96520" h="370839">
                <a:moveTo>
                  <a:pt x="96012" y="274751"/>
                </a:moveTo>
                <a:lnTo>
                  <a:pt x="64008" y="274751"/>
                </a:lnTo>
                <a:lnTo>
                  <a:pt x="64008" y="290753"/>
                </a:lnTo>
                <a:lnTo>
                  <a:pt x="88011" y="290753"/>
                </a:lnTo>
                <a:lnTo>
                  <a:pt x="96012" y="274751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28916" y="70865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40">
                <a:moveTo>
                  <a:pt x="32003" y="274700"/>
                </a:moveTo>
                <a:lnTo>
                  <a:pt x="0" y="274700"/>
                </a:lnTo>
                <a:lnTo>
                  <a:pt x="48005" y="370712"/>
                </a:lnTo>
                <a:lnTo>
                  <a:pt x="88010" y="290702"/>
                </a:lnTo>
                <a:lnTo>
                  <a:pt x="32003" y="290702"/>
                </a:lnTo>
                <a:lnTo>
                  <a:pt x="32003" y="274700"/>
                </a:lnTo>
                <a:close/>
              </a:path>
              <a:path w="96520" h="370840">
                <a:moveTo>
                  <a:pt x="64007" y="0"/>
                </a:moveTo>
                <a:lnTo>
                  <a:pt x="32003" y="0"/>
                </a:lnTo>
                <a:lnTo>
                  <a:pt x="32003" y="290702"/>
                </a:lnTo>
                <a:lnTo>
                  <a:pt x="64007" y="290702"/>
                </a:lnTo>
                <a:lnTo>
                  <a:pt x="64007" y="0"/>
                </a:lnTo>
                <a:close/>
              </a:path>
              <a:path w="96520" h="370840">
                <a:moveTo>
                  <a:pt x="96011" y="274700"/>
                </a:moveTo>
                <a:lnTo>
                  <a:pt x="64007" y="274700"/>
                </a:lnTo>
                <a:lnTo>
                  <a:pt x="64007" y="290702"/>
                </a:lnTo>
                <a:lnTo>
                  <a:pt x="88010" y="290702"/>
                </a:lnTo>
                <a:lnTo>
                  <a:pt x="96011" y="27470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38059" y="6390894"/>
            <a:ext cx="96520" cy="370840"/>
          </a:xfrm>
          <a:custGeom>
            <a:avLst/>
            <a:gdLst/>
            <a:ahLst/>
            <a:cxnLst/>
            <a:rect l="l" t="t" r="r" b="b"/>
            <a:pathLst>
              <a:path w="96520" h="370840">
                <a:moveTo>
                  <a:pt x="32004" y="274751"/>
                </a:moveTo>
                <a:lnTo>
                  <a:pt x="0" y="274751"/>
                </a:lnTo>
                <a:lnTo>
                  <a:pt x="48006" y="370762"/>
                </a:lnTo>
                <a:lnTo>
                  <a:pt x="88010" y="290753"/>
                </a:lnTo>
                <a:lnTo>
                  <a:pt x="32004" y="290753"/>
                </a:lnTo>
                <a:lnTo>
                  <a:pt x="32004" y="274751"/>
                </a:lnTo>
                <a:close/>
              </a:path>
              <a:path w="96520" h="370840">
                <a:moveTo>
                  <a:pt x="64008" y="0"/>
                </a:moveTo>
                <a:lnTo>
                  <a:pt x="32004" y="0"/>
                </a:lnTo>
                <a:lnTo>
                  <a:pt x="32004" y="290753"/>
                </a:lnTo>
                <a:lnTo>
                  <a:pt x="64008" y="290753"/>
                </a:lnTo>
                <a:lnTo>
                  <a:pt x="64008" y="0"/>
                </a:lnTo>
                <a:close/>
              </a:path>
              <a:path w="96520" h="370840">
                <a:moveTo>
                  <a:pt x="96012" y="274751"/>
                </a:moveTo>
                <a:lnTo>
                  <a:pt x="64008" y="274751"/>
                </a:lnTo>
                <a:lnTo>
                  <a:pt x="64008" y="290753"/>
                </a:lnTo>
                <a:lnTo>
                  <a:pt x="88010" y="290753"/>
                </a:lnTo>
                <a:lnTo>
                  <a:pt x="96012" y="274751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6330" cy="131826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516890" algn="l"/>
              </a:tabLst>
            </a:pPr>
            <a:r>
              <a:rPr sz="2400" b="1" spc="-25" dirty="0">
                <a:latin typeface="Cambria"/>
                <a:cs typeface="Cambria"/>
              </a:rPr>
              <a:t>6)</a:t>
            </a:r>
            <a:r>
              <a:rPr sz="2400" b="1" dirty="0">
                <a:latin typeface="Cambria"/>
                <a:cs typeface="Cambria"/>
              </a:rPr>
              <a:t>	Code</a:t>
            </a:r>
            <a:r>
              <a:rPr sz="2400" b="1" spc="-6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Generation</a:t>
            </a:r>
            <a:endParaRPr sz="2400">
              <a:latin typeface="Cambria"/>
              <a:cs typeface="Cambria"/>
            </a:endParaRPr>
          </a:p>
          <a:p>
            <a:pPr marL="195580" marR="5080" indent="-183515">
              <a:lnSpc>
                <a:spcPts val="2590"/>
              </a:lnSpc>
              <a:spcBef>
                <a:spcPts val="1240"/>
              </a:spcBef>
              <a:tabLst>
                <a:tab pos="722630" algn="l"/>
                <a:tab pos="1633855" algn="l"/>
                <a:tab pos="3302000" algn="l"/>
                <a:tab pos="4327525" algn="l"/>
                <a:tab pos="5008880" algn="l"/>
                <a:tab pos="6045200" algn="l"/>
                <a:tab pos="6918325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Cambria"/>
                <a:cs typeface="Cambria"/>
              </a:rPr>
              <a:t>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Code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generation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phase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target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code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gets </a:t>
            </a:r>
            <a:r>
              <a:rPr sz="2400" spc="-10" dirty="0">
                <a:latin typeface="Cambria"/>
                <a:cs typeface="Cambria"/>
              </a:rPr>
              <a:t>generated.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1797811"/>
            <a:ext cx="7469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2315" algn="l"/>
                <a:tab pos="1509395" algn="l"/>
                <a:tab pos="2555240" algn="l"/>
                <a:tab pos="4519295" algn="l"/>
                <a:tab pos="6345555" algn="l"/>
                <a:tab pos="7239000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Cambria"/>
                <a:cs typeface="Cambria"/>
              </a:rPr>
              <a:t>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this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phase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intermediate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(optimized)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code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1089" y="2126691"/>
            <a:ext cx="7284084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translated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sequence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machine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instructions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that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latin typeface="Cambria"/>
                <a:cs typeface="Cambria"/>
              </a:rPr>
              <a:t>perform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same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7954" y="2821813"/>
            <a:ext cx="3209290" cy="291655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Example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880110" marR="5080">
              <a:lnSpc>
                <a:spcPct val="131700"/>
              </a:lnSpc>
              <a:tabLst>
                <a:tab pos="1769745" algn="l"/>
                <a:tab pos="1803400" algn="l"/>
                <a:tab pos="1870075" algn="l"/>
              </a:tabLst>
            </a:pPr>
            <a:r>
              <a:rPr sz="2400" spc="-20" dirty="0">
                <a:latin typeface="Cambria"/>
                <a:cs typeface="Cambria"/>
              </a:rPr>
              <a:t>MOVF</a:t>
            </a:r>
            <a:r>
              <a:rPr sz="2400" dirty="0">
                <a:latin typeface="Cambria"/>
                <a:cs typeface="Cambria"/>
              </a:rPr>
              <a:t>		</a:t>
            </a:r>
            <a:r>
              <a:rPr sz="2400" spc="-10" dirty="0">
                <a:latin typeface="Cambria"/>
                <a:cs typeface="Cambria"/>
              </a:rPr>
              <a:t>id3,R1 </a:t>
            </a:r>
            <a:r>
              <a:rPr sz="2400" spc="-20" dirty="0">
                <a:latin typeface="Cambria"/>
                <a:cs typeface="Cambria"/>
              </a:rPr>
              <a:t>MULF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4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#60.00,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R1 </a:t>
            </a:r>
            <a:r>
              <a:rPr sz="2400" spc="-20" dirty="0">
                <a:latin typeface="Cambria"/>
                <a:cs typeface="Cambria"/>
              </a:rPr>
              <a:t>MOVF</a:t>
            </a:r>
            <a:r>
              <a:rPr sz="2400" dirty="0">
                <a:latin typeface="Cambria"/>
                <a:cs typeface="Cambria"/>
              </a:rPr>
              <a:t>			id2,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R2 </a:t>
            </a:r>
            <a:r>
              <a:rPr sz="2400" spc="-20" dirty="0">
                <a:latin typeface="Cambria"/>
                <a:cs typeface="Cambria"/>
              </a:rPr>
              <a:t>ADDF</a:t>
            </a:r>
            <a:r>
              <a:rPr sz="2400" dirty="0">
                <a:latin typeface="Cambria"/>
                <a:cs typeface="Cambria"/>
              </a:rPr>
              <a:t>	R2,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R1 </a:t>
            </a:r>
            <a:r>
              <a:rPr sz="2400" spc="-20" dirty="0">
                <a:latin typeface="Cambria"/>
                <a:cs typeface="Cambria"/>
              </a:rPr>
              <a:t>MOVF</a:t>
            </a:r>
            <a:r>
              <a:rPr sz="2400" dirty="0">
                <a:latin typeface="Cambria"/>
                <a:cs typeface="Cambria"/>
              </a:rPr>
              <a:t>		R1,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id1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88935" y="3421407"/>
            <a:ext cx="4008754" cy="2686685"/>
            <a:chOff x="7488935" y="3421407"/>
            <a:chExt cx="4008754" cy="2686685"/>
          </a:xfrm>
        </p:grpSpPr>
        <p:sp>
          <p:nvSpPr>
            <p:cNvPr id="8" name="object 8"/>
            <p:cNvSpPr/>
            <p:nvPr/>
          </p:nvSpPr>
          <p:spPr>
            <a:xfrm>
              <a:off x="7488923" y="3421417"/>
              <a:ext cx="4008754" cy="2686685"/>
            </a:xfrm>
            <a:custGeom>
              <a:avLst/>
              <a:gdLst/>
              <a:ahLst/>
              <a:cxnLst/>
              <a:rect l="l" t="t" r="r" b="b"/>
              <a:pathLst>
                <a:path w="4008754" h="2686685">
                  <a:moveTo>
                    <a:pt x="4008259" y="50"/>
                  </a:moveTo>
                  <a:lnTo>
                    <a:pt x="9423" y="50"/>
                  </a:lnTo>
                  <a:lnTo>
                    <a:pt x="0" y="0"/>
                  </a:lnTo>
                  <a:lnTo>
                    <a:pt x="0" y="2686202"/>
                  </a:lnTo>
                  <a:lnTo>
                    <a:pt x="9423" y="2686202"/>
                  </a:lnTo>
                  <a:lnTo>
                    <a:pt x="9423" y="9448"/>
                  </a:lnTo>
                  <a:lnTo>
                    <a:pt x="4008259" y="9448"/>
                  </a:lnTo>
                  <a:lnTo>
                    <a:pt x="4008259" y="5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8346" y="3430777"/>
              <a:ext cx="3999229" cy="2677160"/>
            </a:xfrm>
            <a:custGeom>
              <a:avLst/>
              <a:gdLst/>
              <a:ahLst/>
              <a:cxnLst/>
              <a:rect l="l" t="t" r="r" b="b"/>
              <a:pathLst>
                <a:path w="3999229" h="2677160">
                  <a:moveTo>
                    <a:pt x="3998836" y="0"/>
                  </a:moveTo>
                  <a:lnTo>
                    <a:pt x="3989413" y="0"/>
                  </a:lnTo>
                  <a:lnTo>
                    <a:pt x="3989413" y="2667127"/>
                  </a:lnTo>
                  <a:lnTo>
                    <a:pt x="0" y="2667127"/>
                  </a:lnTo>
                  <a:lnTo>
                    <a:pt x="0" y="2676842"/>
                  </a:lnTo>
                  <a:lnTo>
                    <a:pt x="3989413" y="2676842"/>
                  </a:lnTo>
                  <a:lnTo>
                    <a:pt x="3998836" y="2676842"/>
                  </a:lnTo>
                  <a:lnTo>
                    <a:pt x="399883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98346" y="3430777"/>
              <a:ext cx="3989704" cy="2667635"/>
            </a:xfrm>
            <a:custGeom>
              <a:avLst/>
              <a:gdLst/>
              <a:ahLst/>
              <a:cxnLst/>
              <a:rect l="l" t="t" r="r" b="b"/>
              <a:pathLst>
                <a:path w="3989704" h="2667635">
                  <a:moveTo>
                    <a:pt x="3989451" y="0"/>
                  </a:moveTo>
                  <a:lnTo>
                    <a:pt x="9753" y="0"/>
                  </a:lnTo>
                  <a:lnTo>
                    <a:pt x="0" y="38"/>
                  </a:lnTo>
                  <a:lnTo>
                    <a:pt x="0" y="2667127"/>
                  </a:lnTo>
                  <a:lnTo>
                    <a:pt x="9753" y="2667127"/>
                  </a:lnTo>
                  <a:lnTo>
                    <a:pt x="9753" y="9715"/>
                  </a:lnTo>
                  <a:lnTo>
                    <a:pt x="3989451" y="9715"/>
                  </a:lnTo>
                  <a:lnTo>
                    <a:pt x="3989451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001000" y="3887110"/>
            <a:ext cx="4008754" cy="175496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85750" marR="1779905" indent="-191135">
              <a:lnSpc>
                <a:spcPts val="1650"/>
              </a:lnSpc>
              <a:spcBef>
                <a:spcPts val="204"/>
              </a:spcBef>
              <a:tabLst>
                <a:tab pos="963930" algn="l"/>
                <a:tab pos="1498600" algn="l"/>
              </a:tabLst>
            </a:pPr>
            <a:r>
              <a:rPr sz="1400" dirty="0">
                <a:latin typeface="Arial MT"/>
                <a:cs typeface="Arial MT"/>
              </a:rPr>
              <a:t>position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initial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+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rate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*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60 </a:t>
            </a:r>
            <a:r>
              <a:rPr sz="1400" dirty="0">
                <a:latin typeface="Arial MT"/>
                <a:cs typeface="Arial MT"/>
              </a:rPr>
              <a:t>id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1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25" dirty="0">
                <a:latin typeface="Arial MT"/>
                <a:cs typeface="Arial MT"/>
              </a:rPr>
              <a:t>id2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25" dirty="0">
                <a:latin typeface="Arial MT"/>
                <a:cs typeface="Arial MT"/>
              </a:rPr>
              <a:t>id3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Arial MT"/>
              <a:cs typeface="Arial MT"/>
            </a:endParaRPr>
          </a:p>
          <a:p>
            <a:pPr marL="94615" marR="2574290">
              <a:lnSpc>
                <a:spcPts val="1650"/>
              </a:lnSpc>
              <a:spcBef>
                <a:spcPts val="5"/>
              </a:spcBef>
            </a:pPr>
            <a:r>
              <a:rPr sz="1400" dirty="0">
                <a:latin typeface="Arial MT"/>
                <a:cs typeface="Arial MT"/>
              </a:rPr>
              <a:t>R1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id3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(rate) </a:t>
            </a:r>
            <a:r>
              <a:rPr sz="1400" dirty="0">
                <a:latin typeface="Arial MT"/>
                <a:cs typeface="Arial MT"/>
              </a:rPr>
              <a:t>R1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60.00</a:t>
            </a:r>
            <a:r>
              <a:rPr sz="1400" spc="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* </a:t>
            </a:r>
            <a:r>
              <a:rPr sz="1400" spc="-25" dirty="0">
                <a:latin typeface="Arial MT"/>
                <a:cs typeface="Arial MT"/>
              </a:rPr>
              <a:t>R1</a:t>
            </a:r>
            <a:endParaRPr sz="1400" dirty="0">
              <a:latin typeface="Arial MT"/>
              <a:cs typeface="Arial MT"/>
            </a:endParaRPr>
          </a:p>
          <a:p>
            <a:pPr marL="94615" marR="2632075">
              <a:lnSpc>
                <a:spcPts val="1650"/>
              </a:lnSpc>
            </a:pPr>
            <a:r>
              <a:rPr sz="1400" dirty="0">
                <a:latin typeface="Arial MT"/>
                <a:cs typeface="Arial MT"/>
              </a:rPr>
              <a:t>R2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id2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(initial) </a:t>
            </a:r>
            <a:r>
              <a:rPr sz="1400" dirty="0">
                <a:latin typeface="Arial MT"/>
                <a:cs typeface="Arial MT"/>
              </a:rPr>
              <a:t>R1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R2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+ </a:t>
            </a:r>
            <a:r>
              <a:rPr sz="1400" spc="-25" dirty="0">
                <a:latin typeface="Arial MT"/>
                <a:cs typeface="Arial MT"/>
              </a:rPr>
              <a:t>R1</a:t>
            </a:r>
            <a:endParaRPr sz="1400" dirty="0">
              <a:latin typeface="Arial MT"/>
              <a:cs typeface="Arial MT"/>
            </a:endParaRPr>
          </a:p>
          <a:p>
            <a:pPr marL="94615">
              <a:lnSpc>
                <a:spcPts val="1600"/>
              </a:lnSpc>
            </a:pPr>
            <a:r>
              <a:rPr sz="1400" dirty="0">
                <a:latin typeface="Arial MT"/>
                <a:cs typeface="Arial MT"/>
              </a:rPr>
              <a:t>id1(position)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R1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18;p39">
            <a:extLst>
              <a:ext uri="{FF2B5EF4-FFF2-40B4-BE49-F238E27FC236}">
                <a16:creationId xmlns:a16="http://schemas.microsoft.com/office/drawing/2014/main" id="{77D1CCE1-FCED-5FD5-DBA3-F8F359CEB0F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7600" y="762000"/>
            <a:ext cx="79248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492701B1-0251-77E0-B5C9-461E975278D1}"/>
              </a:ext>
            </a:extLst>
          </p:cNvPr>
          <p:cNvSpPr txBox="1"/>
          <p:nvPr/>
        </p:nvSpPr>
        <p:spPr>
          <a:xfrm>
            <a:off x="331724" y="2851784"/>
            <a:ext cx="1797685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39268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9505" cy="3599179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15"/>
              </a:spcBef>
            </a:pPr>
            <a:r>
              <a:rPr sz="2400" b="1" spc="-10" dirty="0">
                <a:latin typeface="Cambria"/>
                <a:cs typeface="Cambria"/>
              </a:rPr>
              <a:t>Symbol</a:t>
            </a:r>
            <a:r>
              <a:rPr sz="2400" b="1" spc="-95" dirty="0">
                <a:latin typeface="Cambria"/>
                <a:cs typeface="Cambria"/>
              </a:rPr>
              <a:t> </a:t>
            </a:r>
            <a:r>
              <a:rPr sz="2400" b="1" spc="-30" dirty="0">
                <a:latin typeface="Cambria"/>
                <a:cs typeface="Cambria"/>
              </a:rPr>
              <a:t>Table</a:t>
            </a:r>
            <a:r>
              <a:rPr sz="2400" b="1" spc="-85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195580" marR="8255" indent="-183515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6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symbol</a:t>
            </a:r>
            <a:r>
              <a:rPr sz="2400" spc="6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table</a:t>
            </a:r>
            <a:r>
              <a:rPr sz="2400" spc="6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665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data</a:t>
            </a:r>
            <a:r>
              <a:rPr sz="2400" b="1" spc="660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structure</a:t>
            </a:r>
            <a:r>
              <a:rPr sz="2400" b="1" spc="6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used</a:t>
            </a:r>
            <a:r>
              <a:rPr sz="2400" spc="66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by</a:t>
            </a:r>
            <a:r>
              <a:rPr sz="2400" spc="68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language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translators.</a:t>
            </a:r>
            <a:endParaRPr sz="2400">
              <a:latin typeface="Cambria"/>
              <a:cs typeface="Cambria"/>
            </a:endParaRPr>
          </a:p>
          <a:p>
            <a:pPr marL="195580" marR="5080" indent="-183515" algn="just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order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keep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track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identifiers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used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by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program,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mai</a:t>
            </a:r>
            <a:r>
              <a:rPr sz="2400" spc="-10" dirty="0">
                <a:latin typeface="Cambria"/>
                <a:cs typeface="Cambria"/>
              </a:rPr>
              <a:t>n</a:t>
            </a:r>
            <a:r>
              <a:rPr sz="2400" dirty="0">
                <a:latin typeface="Cambria"/>
                <a:cs typeface="Cambria"/>
              </a:rPr>
              <a:t>tains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record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same</a:t>
            </a:r>
            <a:r>
              <a:rPr sz="2400" spc="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wi</a:t>
            </a:r>
            <a:r>
              <a:rPr sz="2400" spc="5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h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their </a:t>
            </a:r>
            <a:r>
              <a:rPr sz="2400" spc="-15" dirty="0">
                <a:latin typeface="Cambria"/>
                <a:cs typeface="Cambria"/>
              </a:rPr>
              <a:t>various</a:t>
            </a:r>
            <a:r>
              <a:rPr sz="2400" spc="-10" dirty="0">
                <a:latin typeface="Cambria"/>
                <a:cs typeface="Cambria"/>
              </a:rPr>
              <a:t> attributes.</a:t>
            </a:r>
            <a:endParaRPr sz="2400">
              <a:latin typeface="Cambria"/>
              <a:cs typeface="Cambria"/>
            </a:endParaRPr>
          </a:p>
          <a:p>
            <a:pPr marL="195580" marR="5715" indent="-183515" algn="just">
              <a:lnSpc>
                <a:spcPct val="90100"/>
              </a:lnSpc>
              <a:spcBef>
                <a:spcPts val="116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Cambria"/>
                <a:cs typeface="Cambria"/>
              </a:rPr>
              <a:t>Symbol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table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stores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information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f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different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entities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spc="-140" dirty="0">
                <a:latin typeface="Cambria"/>
                <a:cs typeface="Cambria"/>
              </a:rPr>
              <a:t>: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Identifier,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55" dirty="0">
                <a:latin typeface="Cambria"/>
                <a:cs typeface="Cambria"/>
              </a:rPr>
              <a:t>F</a:t>
            </a:r>
            <a:r>
              <a:rPr sz="2400" spc="-5" dirty="0">
                <a:latin typeface="Cambria"/>
                <a:cs typeface="Cambria"/>
              </a:rPr>
              <a:t>unction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Procedure,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Constant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Label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Name,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Compiler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generated</a:t>
            </a:r>
            <a:r>
              <a:rPr sz="2400" spc="-15" dirty="0">
                <a:latin typeface="Cambria"/>
                <a:cs typeface="Cambria"/>
              </a:rPr>
              <a:t> temporaries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etc.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7954" y="389127"/>
            <a:ext cx="7468234" cy="131826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400" b="1" dirty="0">
                <a:latin typeface="Cambria"/>
                <a:cs typeface="Cambria"/>
              </a:rPr>
              <a:t>Error</a:t>
            </a:r>
            <a:r>
              <a:rPr sz="2400" b="1" spc="-6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Detection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and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spc="-25" dirty="0">
                <a:latin typeface="Cambria"/>
                <a:cs typeface="Cambria"/>
              </a:rPr>
              <a:t>Recovery</a:t>
            </a:r>
            <a:r>
              <a:rPr sz="2400" b="1" spc="-55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195580" marR="5080" indent="-183515">
              <a:lnSpc>
                <a:spcPts val="2590"/>
              </a:lnSpc>
              <a:spcBef>
                <a:spcPts val="1240"/>
              </a:spcBef>
              <a:tabLst>
                <a:tab pos="1057910" algn="l"/>
                <a:tab pos="2062480" algn="l"/>
                <a:tab pos="2753360" algn="l"/>
                <a:tab pos="4318000" algn="l"/>
                <a:tab pos="5431155" algn="l"/>
                <a:tab pos="6838950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Cambria"/>
                <a:cs typeface="Cambria"/>
              </a:rPr>
              <a:t>Each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phase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can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encounter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errors,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However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after </a:t>
            </a:r>
            <a:r>
              <a:rPr sz="2400" dirty="0">
                <a:latin typeface="Cambria"/>
                <a:cs typeface="Cambria"/>
              </a:rPr>
              <a:t>detecting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error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phase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some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how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deal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with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954" y="1645411"/>
            <a:ext cx="7468870" cy="41414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algn="just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Cambria"/>
                <a:cs typeface="Cambria"/>
              </a:rPr>
              <a:t>that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error.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Compilation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proceed,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allowing </a:t>
            </a:r>
            <a:r>
              <a:rPr sz="2400" dirty="0">
                <a:latin typeface="Cambria"/>
                <a:cs typeface="Cambria"/>
              </a:rPr>
              <a:t>further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errors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program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detected.</a:t>
            </a:r>
            <a:endParaRPr sz="2400">
              <a:latin typeface="Cambria"/>
              <a:cs typeface="Cambria"/>
            </a:endParaRPr>
          </a:p>
          <a:p>
            <a:pPr marL="195580" marR="5715" indent="-183515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Lexical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Analyzer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can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detect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errors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where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character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remaining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input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do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no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form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any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token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-10" dirty="0">
                <a:latin typeface="Cambria"/>
                <a:cs typeface="Cambria"/>
              </a:rPr>
              <a:t> language.</a:t>
            </a:r>
            <a:endParaRPr sz="2400">
              <a:latin typeface="Cambria"/>
              <a:cs typeface="Cambria"/>
            </a:endParaRPr>
          </a:p>
          <a:p>
            <a:pPr marL="195580" marR="6350" indent="-183515" algn="just">
              <a:lnSpc>
                <a:spcPts val="2590"/>
              </a:lnSpc>
              <a:spcBef>
                <a:spcPts val="120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Errors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where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token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stream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violates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structure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rule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(syntax)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language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determined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by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syntax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analysis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phase.</a:t>
            </a:r>
            <a:endParaRPr sz="2400">
              <a:latin typeface="Cambria"/>
              <a:cs typeface="Cambria"/>
            </a:endParaRPr>
          </a:p>
          <a:p>
            <a:pPr marL="195580" marR="5080" indent="-183515" algn="just">
              <a:lnSpc>
                <a:spcPts val="2590"/>
              </a:lnSpc>
              <a:spcBef>
                <a:spcPts val="12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During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Semantic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analysis,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tries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detect</a:t>
            </a:r>
            <a:r>
              <a:rPr sz="2400" spc="-15" dirty="0">
                <a:latin typeface="Cambria"/>
                <a:cs typeface="Cambria"/>
              </a:rPr>
              <a:t> constructs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that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have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right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syntactic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structure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bu</a:t>
            </a:r>
            <a:r>
              <a:rPr sz="2400" dirty="0">
                <a:latin typeface="Cambria"/>
                <a:cs typeface="Cambria"/>
              </a:rPr>
              <a:t>t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no </a:t>
            </a:r>
            <a:r>
              <a:rPr sz="2400" spc="-15" dirty="0">
                <a:latin typeface="Cambria"/>
                <a:cs typeface="Cambria"/>
              </a:rPr>
              <a:t>meaning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operation </a:t>
            </a:r>
            <a:r>
              <a:rPr sz="2400" spc="-30" dirty="0">
                <a:latin typeface="Cambria"/>
                <a:cs typeface="Cambria"/>
              </a:rPr>
              <a:t>involved.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1863978"/>
            <a:ext cx="2336165" cy="30302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43560">
              <a:lnSpc>
                <a:spcPts val="3890"/>
              </a:lnSpc>
              <a:spcBef>
                <a:spcPts val="58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r>
              <a:rPr sz="36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3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  <a:p>
            <a:pPr marL="12700">
              <a:lnSpc>
                <a:spcPts val="3615"/>
              </a:lnSpc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-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88800"/>
              </a:lnSpc>
              <a:spcBef>
                <a:spcPts val="270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Synthesis 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3600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9090" y="829817"/>
            <a:ext cx="1693545" cy="321945"/>
          </a:xfrm>
          <a:prstGeom prst="rect">
            <a:avLst/>
          </a:prstGeom>
          <a:solidFill>
            <a:srgbClr val="40B9D2"/>
          </a:solidFill>
          <a:ln w="10668">
            <a:solidFill>
              <a:srgbClr val="2C879A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60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Lexical</a:t>
            </a:r>
            <a:r>
              <a:rPr sz="18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analyzer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5270" y="1963673"/>
            <a:ext cx="2089785" cy="300355"/>
          </a:xfrm>
          <a:prstGeom prst="rect">
            <a:avLst/>
          </a:prstGeom>
          <a:solidFill>
            <a:srgbClr val="40B9D2"/>
          </a:solidFill>
          <a:ln w="10668">
            <a:solidFill>
              <a:srgbClr val="2C879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5275">
              <a:lnSpc>
                <a:spcPts val="2140"/>
              </a:lnSpc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Syntax</a:t>
            </a:r>
            <a:r>
              <a:rPr sz="18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analyzer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9090" y="4149090"/>
            <a:ext cx="2048510" cy="358140"/>
          </a:xfrm>
          <a:prstGeom prst="rect">
            <a:avLst/>
          </a:prstGeom>
          <a:solidFill>
            <a:srgbClr val="40B9D2"/>
          </a:solidFill>
          <a:ln w="10668">
            <a:solidFill>
              <a:srgbClr val="2C879A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210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Semantic</a:t>
            </a:r>
            <a:r>
              <a:rPr sz="1800" spc="-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analyzer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59985" y="208026"/>
            <a:ext cx="955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a=b+c*60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7509" y="1373251"/>
            <a:ext cx="147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Id1=id2+id3*60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3586" y="2452878"/>
            <a:ext cx="14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=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78373" y="2764028"/>
            <a:ext cx="14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+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70930" y="3206241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*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5546" y="3686302"/>
            <a:ext cx="1028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5970" algn="l"/>
              </a:tabLst>
            </a:pPr>
            <a:r>
              <a:rPr sz="1800" spc="-25" dirty="0">
                <a:latin typeface="Corbel"/>
                <a:cs typeface="Corbel"/>
              </a:rPr>
              <a:t>id3</a:t>
            </a:r>
            <a:r>
              <a:rPr sz="1800" dirty="0">
                <a:latin typeface="Corbel"/>
                <a:cs typeface="Corbel"/>
              </a:rPr>
              <a:t>	</a:t>
            </a:r>
            <a:r>
              <a:rPr sz="1800" spc="-25" dirty="0">
                <a:latin typeface="Corbel"/>
                <a:cs typeface="Corbel"/>
              </a:rPr>
              <a:t>60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5421" y="2903982"/>
            <a:ext cx="303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rbel"/>
                <a:cs typeface="Corbel"/>
              </a:rPr>
              <a:t>id1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11700" y="3216402"/>
            <a:ext cx="318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rbel"/>
                <a:cs typeface="Corbel"/>
              </a:rPr>
              <a:t>id2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01005" y="2692145"/>
            <a:ext cx="280035" cy="189865"/>
          </a:xfrm>
          <a:custGeom>
            <a:avLst/>
            <a:gdLst/>
            <a:ahLst/>
            <a:cxnLst/>
            <a:rect l="l" t="t" r="r" b="b"/>
            <a:pathLst>
              <a:path w="280035" h="189864">
                <a:moveTo>
                  <a:pt x="0" y="0"/>
                </a:moveTo>
                <a:lnTo>
                  <a:pt x="279781" y="189611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23153" y="3012185"/>
            <a:ext cx="234315" cy="226060"/>
          </a:xfrm>
          <a:custGeom>
            <a:avLst/>
            <a:gdLst/>
            <a:ahLst/>
            <a:cxnLst/>
            <a:rect l="l" t="t" r="r" b="b"/>
            <a:pathLst>
              <a:path w="234314" h="226060">
                <a:moveTo>
                  <a:pt x="0" y="0"/>
                </a:moveTo>
                <a:lnTo>
                  <a:pt x="233807" y="225678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11773" y="3423665"/>
            <a:ext cx="276225" cy="251460"/>
          </a:xfrm>
          <a:custGeom>
            <a:avLst/>
            <a:gdLst/>
            <a:ahLst/>
            <a:cxnLst/>
            <a:rect l="l" t="t" r="r" b="b"/>
            <a:pathLst>
              <a:path w="276225" h="251460">
                <a:moveTo>
                  <a:pt x="0" y="0"/>
                </a:moveTo>
                <a:lnTo>
                  <a:pt x="275971" y="251206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65141" y="2690622"/>
            <a:ext cx="237490" cy="264160"/>
          </a:xfrm>
          <a:custGeom>
            <a:avLst/>
            <a:gdLst/>
            <a:ahLst/>
            <a:cxnLst/>
            <a:rect l="l" t="t" r="r" b="b"/>
            <a:pathLst>
              <a:path w="237489" h="264160">
                <a:moveTo>
                  <a:pt x="237109" y="0"/>
                </a:moveTo>
                <a:lnTo>
                  <a:pt x="0" y="264032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81194" y="3024377"/>
            <a:ext cx="241300" cy="262255"/>
          </a:xfrm>
          <a:custGeom>
            <a:avLst/>
            <a:gdLst/>
            <a:ahLst/>
            <a:cxnLst/>
            <a:rect l="l" t="t" r="r" b="b"/>
            <a:pathLst>
              <a:path w="241300" h="262254">
                <a:moveTo>
                  <a:pt x="241045" y="0"/>
                </a:moveTo>
                <a:lnTo>
                  <a:pt x="0" y="262000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15534" y="3460241"/>
            <a:ext cx="241300" cy="262255"/>
          </a:xfrm>
          <a:custGeom>
            <a:avLst/>
            <a:gdLst/>
            <a:ahLst/>
            <a:cxnLst/>
            <a:rect l="l" t="t" r="r" b="b"/>
            <a:pathLst>
              <a:path w="241300" h="262254">
                <a:moveTo>
                  <a:pt x="241045" y="0"/>
                </a:moveTo>
                <a:lnTo>
                  <a:pt x="0" y="262001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72558" y="4717491"/>
            <a:ext cx="142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=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29758" y="5002529"/>
            <a:ext cx="14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+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22441" y="5444134"/>
            <a:ext cx="148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rbel"/>
                <a:cs typeface="Corbel"/>
              </a:rPr>
              <a:t>*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92977" y="6553606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rbel"/>
                <a:cs typeface="Corbel"/>
              </a:rPr>
              <a:t>60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16933" y="5142103"/>
            <a:ext cx="303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rbel"/>
                <a:cs typeface="Corbel"/>
              </a:rPr>
              <a:t>id1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63210" y="5454497"/>
            <a:ext cx="318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orbel"/>
                <a:cs typeface="Corbel"/>
              </a:rPr>
              <a:t>id2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53405" y="4929378"/>
            <a:ext cx="280035" cy="189865"/>
          </a:xfrm>
          <a:custGeom>
            <a:avLst/>
            <a:gdLst/>
            <a:ahLst/>
            <a:cxnLst/>
            <a:rect l="l" t="t" r="r" b="b"/>
            <a:pathLst>
              <a:path w="280035" h="189864">
                <a:moveTo>
                  <a:pt x="0" y="0"/>
                </a:moveTo>
                <a:lnTo>
                  <a:pt x="279781" y="189611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74029" y="5250941"/>
            <a:ext cx="234315" cy="226060"/>
          </a:xfrm>
          <a:custGeom>
            <a:avLst/>
            <a:gdLst/>
            <a:ahLst/>
            <a:cxnLst/>
            <a:rect l="l" t="t" r="r" b="b"/>
            <a:pathLst>
              <a:path w="234314" h="226060">
                <a:moveTo>
                  <a:pt x="0" y="0"/>
                </a:moveTo>
                <a:lnTo>
                  <a:pt x="233807" y="225679"/>
                </a:lnTo>
              </a:path>
            </a:pathLst>
          </a:custGeom>
          <a:ln w="32003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962650" y="5660897"/>
            <a:ext cx="276225" cy="251460"/>
          </a:xfrm>
          <a:custGeom>
            <a:avLst/>
            <a:gdLst/>
            <a:ahLst/>
            <a:cxnLst/>
            <a:rect l="l" t="t" r="r" b="b"/>
            <a:pathLst>
              <a:path w="276225" h="251460">
                <a:moveTo>
                  <a:pt x="0" y="0"/>
                </a:moveTo>
                <a:lnTo>
                  <a:pt x="275971" y="251155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16017" y="4927853"/>
            <a:ext cx="237490" cy="264160"/>
          </a:xfrm>
          <a:custGeom>
            <a:avLst/>
            <a:gdLst/>
            <a:ahLst/>
            <a:cxnLst/>
            <a:rect l="l" t="t" r="r" b="b"/>
            <a:pathLst>
              <a:path w="237489" h="264160">
                <a:moveTo>
                  <a:pt x="237109" y="0"/>
                </a:moveTo>
                <a:lnTo>
                  <a:pt x="0" y="264033"/>
                </a:lnTo>
              </a:path>
            </a:pathLst>
          </a:custGeom>
          <a:ln w="32003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132070" y="5263134"/>
            <a:ext cx="241300" cy="262255"/>
          </a:xfrm>
          <a:custGeom>
            <a:avLst/>
            <a:gdLst/>
            <a:ahLst/>
            <a:cxnLst/>
            <a:rect l="l" t="t" r="r" b="b"/>
            <a:pathLst>
              <a:path w="241300" h="262254">
                <a:moveTo>
                  <a:pt x="241045" y="0"/>
                </a:moveTo>
                <a:lnTo>
                  <a:pt x="0" y="262000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66409" y="5697473"/>
            <a:ext cx="241300" cy="262255"/>
          </a:xfrm>
          <a:custGeom>
            <a:avLst/>
            <a:gdLst/>
            <a:ahLst/>
            <a:cxnLst/>
            <a:rect l="l" t="t" r="r" b="b"/>
            <a:pathLst>
              <a:path w="241300" h="262254">
                <a:moveTo>
                  <a:pt x="241045" y="0"/>
                </a:moveTo>
                <a:lnTo>
                  <a:pt x="0" y="262026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417058" y="5924803"/>
            <a:ext cx="1503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2920" algn="l"/>
              </a:tabLst>
            </a:pPr>
            <a:r>
              <a:rPr sz="1800" spc="-25" dirty="0">
                <a:latin typeface="Corbel"/>
                <a:cs typeface="Corbel"/>
              </a:rPr>
              <a:t>id3</a:t>
            </a:r>
            <a:r>
              <a:rPr sz="1800" dirty="0">
                <a:latin typeface="Corbel"/>
                <a:cs typeface="Corbel"/>
              </a:rPr>
              <a:t>	</a:t>
            </a:r>
            <a:r>
              <a:rPr sz="1800" dirty="0">
                <a:solidFill>
                  <a:srgbClr val="A72227"/>
                </a:solidFill>
                <a:latin typeface="Corbel"/>
                <a:cs typeface="Corbel"/>
              </a:rPr>
              <a:t>Int</a:t>
            </a:r>
            <a:r>
              <a:rPr sz="1800" spc="-20" dirty="0">
                <a:solidFill>
                  <a:srgbClr val="A72227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A72227"/>
                </a:solidFill>
                <a:latin typeface="Corbel"/>
                <a:cs typeface="Corbel"/>
              </a:rPr>
              <a:t>to</a:t>
            </a:r>
            <a:r>
              <a:rPr sz="1800" spc="-20" dirty="0">
                <a:solidFill>
                  <a:srgbClr val="A72227"/>
                </a:solidFill>
                <a:latin typeface="Corbel"/>
                <a:cs typeface="Corbel"/>
              </a:rPr>
              <a:t> float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413753" y="6273546"/>
            <a:ext cx="11430" cy="260985"/>
          </a:xfrm>
          <a:custGeom>
            <a:avLst/>
            <a:gdLst/>
            <a:ahLst/>
            <a:cxnLst/>
            <a:rect l="l" t="t" r="r" b="b"/>
            <a:pathLst>
              <a:path w="11429" h="260984">
                <a:moveTo>
                  <a:pt x="0" y="0"/>
                </a:moveTo>
                <a:lnTo>
                  <a:pt x="11049" y="260883"/>
                </a:lnTo>
              </a:path>
            </a:pathLst>
          </a:custGeom>
          <a:ln w="32004">
            <a:solidFill>
              <a:srgbClr val="40B9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43855" y="560069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40">
                <a:moveTo>
                  <a:pt x="32004" y="173227"/>
                </a:moveTo>
                <a:lnTo>
                  <a:pt x="0" y="173227"/>
                </a:lnTo>
                <a:lnTo>
                  <a:pt x="48006" y="269239"/>
                </a:lnTo>
                <a:lnTo>
                  <a:pt x="88011" y="189229"/>
                </a:lnTo>
                <a:lnTo>
                  <a:pt x="32004" y="189229"/>
                </a:lnTo>
                <a:lnTo>
                  <a:pt x="32004" y="173227"/>
                </a:lnTo>
                <a:close/>
              </a:path>
              <a:path w="96520" h="269240">
                <a:moveTo>
                  <a:pt x="64008" y="0"/>
                </a:moveTo>
                <a:lnTo>
                  <a:pt x="32004" y="0"/>
                </a:lnTo>
                <a:lnTo>
                  <a:pt x="32004" y="189229"/>
                </a:lnTo>
                <a:lnTo>
                  <a:pt x="64008" y="189229"/>
                </a:lnTo>
                <a:lnTo>
                  <a:pt x="64008" y="0"/>
                </a:lnTo>
                <a:close/>
              </a:path>
              <a:path w="96520" h="269240">
                <a:moveTo>
                  <a:pt x="96012" y="173227"/>
                </a:moveTo>
                <a:lnTo>
                  <a:pt x="64008" y="173227"/>
                </a:lnTo>
                <a:lnTo>
                  <a:pt x="64008" y="189229"/>
                </a:lnTo>
                <a:lnTo>
                  <a:pt x="88011" y="189229"/>
                </a:lnTo>
                <a:lnTo>
                  <a:pt x="96012" y="173227"/>
                </a:lnTo>
                <a:close/>
              </a:path>
            </a:pathLst>
          </a:custGeom>
          <a:solidFill>
            <a:srgbClr val="D439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37759" y="1198625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40">
                <a:moveTo>
                  <a:pt x="32003" y="173227"/>
                </a:moveTo>
                <a:lnTo>
                  <a:pt x="0" y="173227"/>
                </a:lnTo>
                <a:lnTo>
                  <a:pt x="48005" y="269239"/>
                </a:lnTo>
                <a:lnTo>
                  <a:pt x="88011" y="189229"/>
                </a:lnTo>
                <a:lnTo>
                  <a:pt x="32003" y="189229"/>
                </a:lnTo>
                <a:lnTo>
                  <a:pt x="32003" y="173227"/>
                </a:lnTo>
                <a:close/>
              </a:path>
              <a:path w="96520" h="269240">
                <a:moveTo>
                  <a:pt x="64007" y="0"/>
                </a:moveTo>
                <a:lnTo>
                  <a:pt x="32003" y="0"/>
                </a:lnTo>
                <a:lnTo>
                  <a:pt x="32003" y="189229"/>
                </a:lnTo>
                <a:lnTo>
                  <a:pt x="64007" y="189229"/>
                </a:lnTo>
                <a:lnTo>
                  <a:pt x="64007" y="0"/>
                </a:lnTo>
                <a:close/>
              </a:path>
              <a:path w="96520" h="269240">
                <a:moveTo>
                  <a:pt x="96012" y="173227"/>
                </a:moveTo>
                <a:lnTo>
                  <a:pt x="64007" y="173227"/>
                </a:lnTo>
                <a:lnTo>
                  <a:pt x="64007" y="189229"/>
                </a:lnTo>
                <a:lnTo>
                  <a:pt x="88011" y="189229"/>
                </a:lnTo>
                <a:lnTo>
                  <a:pt x="96012" y="173227"/>
                </a:lnTo>
                <a:close/>
              </a:path>
            </a:pathLst>
          </a:custGeom>
          <a:solidFill>
            <a:srgbClr val="D439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49952" y="1709166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39">
                <a:moveTo>
                  <a:pt x="32003" y="173228"/>
                </a:moveTo>
                <a:lnTo>
                  <a:pt x="0" y="173228"/>
                </a:lnTo>
                <a:lnTo>
                  <a:pt x="48006" y="269239"/>
                </a:lnTo>
                <a:lnTo>
                  <a:pt x="88011" y="189230"/>
                </a:lnTo>
                <a:lnTo>
                  <a:pt x="32003" y="189230"/>
                </a:lnTo>
                <a:lnTo>
                  <a:pt x="32003" y="173228"/>
                </a:lnTo>
                <a:close/>
              </a:path>
              <a:path w="96520" h="269239">
                <a:moveTo>
                  <a:pt x="64008" y="0"/>
                </a:moveTo>
                <a:lnTo>
                  <a:pt x="32003" y="0"/>
                </a:lnTo>
                <a:lnTo>
                  <a:pt x="32003" y="189230"/>
                </a:lnTo>
                <a:lnTo>
                  <a:pt x="64008" y="189230"/>
                </a:lnTo>
                <a:lnTo>
                  <a:pt x="64008" y="0"/>
                </a:lnTo>
                <a:close/>
              </a:path>
              <a:path w="96520" h="269239">
                <a:moveTo>
                  <a:pt x="96012" y="173228"/>
                </a:moveTo>
                <a:lnTo>
                  <a:pt x="64008" y="173228"/>
                </a:lnTo>
                <a:lnTo>
                  <a:pt x="64008" y="189230"/>
                </a:lnTo>
                <a:lnTo>
                  <a:pt x="88011" y="189230"/>
                </a:lnTo>
                <a:lnTo>
                  <a:pt x="96012" y="173228"/>
                </a:lnTo>
                <a:close/>
              </a:path>
            </a:pathLst>
          </a:custGeom>
          <a:solidFill>
            <a:srgbClr val="D439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19471" y="2326385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39">
                <a:moveTo>
                  <a:pt x="32003" y="173227"/>
                </a:moveTo>
                <a:lnTo>
                  <a:pt x="0" y="173227"/>
                </a:lnTo>
                <a:lnTo>
                  <a:pt x="48005" y="269239"/>
                </a:lnTo>
                <a:lnTo>
                  <a:pt x="88011" y="189229"/>
                </a:lnTo>
                <a:lnTo>
                  <a:pt x="32003" y="189229"/>
                </a:lnTo>
                <a:lnTo>
                  <a:pt x="32003" y="173227"/>
                </a:lnTo>
                <a:close/>
              </a:path>
              <a:path w="96520" h="269239">
                <a:moveTo>
                  <a:pt x="64007" y="0"/>
                </a:moveTo>
                <a:lnTo>
                  <a:pt x="32003" y="0"/>
                </a:lnTo>
                <a:lnTo>
                  <a:pt x="32003" y="189229"/>
                </a:lnTo>
                <a:lnTo>
                  <a:pt x="64007" y="189229"/>
                </a:lnTo>
                <a:lnTo>
                  <a:pt x="64007" y="0"/>
                </a:lnTo>
                <a:close/>
              </a:path>
              <a:path w="96520" h="269239">
                <a:moveTo>
                  <a:pt x="96012" y="173227"/>
                </a:moveTo>
                <a:lnTo>
                  <a:pt x="64007" y="173227"/>
                </a:lnTo>
                <a:lnTo>
                  <a:pt x="64007" y="189229"/>
                </a:lnTo>
                <a:lnTo>
                  <a:pt x="88011" y="189229"/>
                </a:lnTo>
                <a:lnTo>
                  <a:pt x="96012" y="173227"/>
                </a:lnTo>
                <a:close/>
              </a:path>
            </a:pathLst>
          </a:custGeom>
          <a:solidFill>
            <a:srgbClr val="D439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024628" y="3879341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39">
                <a:moveTo>
                  <a:pt x="32004" y="173227"/>
                </a:moveTo>
                <a:lnTo>
                  <a:pt x="0" y="173227"/>
                </a:lnTo>
                <a:lnTo>
                  <a:pt x="48006" y="269239"/>
                </a:lnTo>
                <a:lnTo>
                  <a:pt x="88011" y="189229"/>
                </a:lnTo>
                <a:lnTo>
                  <a:pt x="32004" y="189229"/>
                </a:lnTo>
                <a:lnTo>
                  <a:pt x="32004" y="173227"/>
                </a:lnTo>
                <a:close/>
              </a:path>
              <a:path w="96520" h="269239">
                <a:moveTo>
                  <a:pt x="64008" y="0"/>
                </a:moveTo>
                <a:lnTo>
                  <a:pt x="32004" y="0"/>
                </a:lnTo>
                <a:lnTo>
                  <a:pt x="32004" y="189229"/>
                </a:lnTo>
                <a:lnTo>
                  <a:pt x="64008" y="189229"/>
                </a:lnTo>
                <a:lnTo>
                  <a:pt x="64008" y="0"/>
                </a:lnTo>
                <a:close/>
              </a:path>
              <a:path w="96520" h="269239">
                <a:moveTo>
                  <a:pt x="96012" y="173227"/>
                </a:moveTo>
                <a:lnTo>
                  <a:pt x="64008" y="173227"/>
                </a:lnTo>
                <a:lnTo>
                  <a:pt x="64008" y="189229"/>
                </a:lnTo>
                <a:lnTo>
                  <a:pt x="88011" y="189229"/>
                </a:lnTo>
                <a:lnTo>
                  <a:pt x="96012" y="173227"/>
                </a:lnTo>
                <a:close/>
              </a:path>
            </a:pathLst>
          </a:custGeom>
          <a:solidFill>
            <a:srgbClr val="D439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24628" y="4565141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39">
                <a:moveTo>
                  <a:pt x="32004" y="173227"/>
                </a:moveTo>
                <a:lnTo>
                  <a:pt x="0" y="173227"/>
                </a:lnTo>
                <a:lnTo>
                  <a:pt x="48006" y="269239"/>
                </a:lnTo>
                <a:lnTo>
                  <a:pt x="88011" y="189229"/>
                </a:lnTo>
                <a:lnTo>
                  <a:pt x="32004" y="189229"/>
                </a:lnTo>
                <a:lnTo>
                  <a:pt x="32004" y="173227"/>
                </a:lnTo>
                <a:close/>
              </a:path>
              <a:path w="96520" h="269239">
                <a:moveTo>
                  <a:pt x="64008" y="0"/>
                </a:moveTo>
                <a:lnTo>
                  <a:pt x="32004" y="0"/>
                </a:lnTo>
                <a:lnTo>
                  <a:pt x="32004" y="189229"/>
                </a:lnTo>
                <a:lnTo>
                  <a:pt x="64008" y="189229"/>
                </a:lnTo>
                <a:lnTo>
                  <a:pt x="64008" y="0"/>
                </a:lnTo>
                <a:close/>
              </a:path>
              <a:path w="96520" h="269239">
                <a:moveTo>
                  <a:pt x="96012" y="173227"/>
                </a:moveTo>
                <a:lnTo>
                  <a:pt x="64008" y="173227"/>
                </a:lnTo>
                <a:lnTo>
                  <a:pt x="64008" y="189229"/>
                </a:lnTo>
                <a:lnTo>
                  <a:pt x="88011" y="189229"/>
                </a:lnTo>
                <a:lnTo>
                  <a:pt x="96012" y="173227"/>
                </a:lnTo>
                <a:close/>
              </a:path>
            </a:pathLst>
          </a:custGeom>
          <a:solidFill>
            <a:srgbClr val="D439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8269223" y="268224"/>
            <a:ext cx="3291840" cy="495300"/>
            <a:chOff x="8269223" y="268224"/>
            <a:chExt cx="3291840" cy="495300"/>
          </a:xfrm>
        </p:grpSpPr>
        <p:sp>
          <p:nvSpPr>
            <p:cNvPr id="41" name="object 41"/>
            <p:cNvSpPr/>
            <p:nvPr/>
          </p:nvSpPr>
          <p:spPr>
            <a:xfrm>
              <a:off x="8274557" y="273558"/>
              <a:ext cx="3281679" cy="485140"/>
            </a:xfrm>
            <a:custGeom>
              <a:avLst/>
              <a:gdLst/>
              <a:ahLst/>
              <a:cxnLst/>
              <a:rect l="l" t="t" r="r" b="b"/>
              <a:pathLst>
                <a:path w="3281679" h="485140">
                  <a:moveTo>
                    <a:pt x="3281172" y="0"/>
                  </a:moveTo>
                  <a:lnTo>
                    <a:pt x="0" y="0"/>
                  </a:lnTo>
                  <a:lnTo>
                    <a:pt x="0" y="484632"/>
                  </a:lnTo>
                  <a:lnTo>
                    <a:pt x="3281172" y="484632"/>
                  </a:lnTo>
                  <a:lnTo>
                    <a:pt x="3281172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74557" y="273558"/>
              <a:ext cx="3281679" cy="485140"/>
            </a:xfrm>
            <a:custGeom>
              <a:avLst/>
              <a:gdLst/>
              <a:ahLst/>
              <a:cxnLst/>
              <a:rect l="l" t="t" r="r" b="b"/>
              <a:pathLst>
                <a:path w="3281679" h="485140">
                  <a:moveTo>
                    <a:pt x="0" y="484632"/>
                  </a:moveTo>
                  <a:lnTo>
                    <a:pt x="3281172" y="484632"/>
                  </a:lnTo>
                  <a:lnTo>
                    <a:pt x="3281172" y="0"/>
                  </a:lnTo>
                  <a:lnTo>
                    <a:pt x="0" y="0"/>
                  </a:lnTo>
                  <a:lnTo>
                    <a:pt x="0" y="484632"/>
                  </a:lnTo>
                  <a:close/>
                </a:path>
              </a:pathLst>
            </a:custGeom>
            <a:ln w="10668">
              <a:solidFill>
                <a:srgbClr val="2C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542401" y="349961"/>
            <a:ext cx="27444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Intermediate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code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generator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48647" y="1007440"/>
            <a:ext cx="174688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t1:=</a:t>
            </a:r>
            <a:r>
              <a:rPr sz="1800" spc="-1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inttofloat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20" dirty="0">
                <a:latin typeface="Corbel"/>
                <a:cs typeface="Corbel"/>
              </a:rPr>
              <a:t>(60)</a:t>
            </a:r>
            <a:endParaRPr sz="1800">
              <a:latin typeface="Corbel"/>
              <a:cs typeface="Corbel"/>
            </a:endParaRPr>
          </a:p>
          <a:p>
            <a:pPr marL="12700" marR="62103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rbel"/>
                <a:cs typeface="Corbel"/>
              </a:rPr>
              <a:t>t2:=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id3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*</a:t>
            </a:r>
            <a:r>
              <a:rPr sz="1800" spc="-25" dirty="0">
                <a:latin typeface="Corbel"/>
                <a:cs typeface="Corbel"/>
              </a:rPr>
              <a:t> t1 </a:t>
            </a:r>
            <a:r>
              <a:rPr sz="1800" dirty="0">
                <a:latin typeface="Corbel"/>
                <a:cs typeface="Corbel"/>
              </a:rPr>
              <a:t>t3:=</a:t>
            </a:r>
            <a:r>
              <a:rPr sz="1800" spc="-1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id2</a:t>
            </a:r>
            <a:r>
              <a:rPr sz="1800" spc="-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+</a:t>
            </a:r>
            <a:r>
              <a:rPr sz="1800" spc="-5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t2 </a:t>
            </a:r>
            <a:r>
              <a:rPr sz="1800" dirty="0">
                <a:latin typeface="Corbel"/>
                <a:cs typeface="Corbel"/>
              </a:rPr>
              <a:t>id1:=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t3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249411" y="2488692"/>
            <a:ext cx="3291840" cy="495300"/>
            <a:chOff x="8249411" y="2488692"/>
            <a:chExt cx="3291840" cy="495300"/>
          </a:xfrm>
        </p:grpSpPr>
        <p:sp>
          <p:nvSpPr>
            <p:cNvPr id="46" name="object 46"/>
            <p:cNvSpPr/>
            <p:nvPr/>
          </p:nvSpPr>
          <p:spPr>
            <a:xfrm>
              <a:off x="8254745" y="2494026"/>
              <a:ext cx="3281679" cy="485140"/>
            </a:xfrm>
            <a:custGeom>
              <a:avLst/>
              <a:gdLst/>
              <a:ahLst/>
              <a:cxnLst/>
              <a:rect l="l" t="t" r="r" b="b"/>
              <a:pathLst>
                <a:path w="3281679" h="485139">
                  <a:moveTo>
                    <a:pt x="3281172" y="0"/>
                  </a:moveTo>
                  <a:lnTo>
                    <a:pt x="0" y="0"/>
                  </a:lnTo>
                  <a:lnTo>
                    <a:pt x="0" y="484632"/>
                  </a:lnTo>
                  <a:lnTo>
                    <a:pt x="3281172" y="484632"/>
                  </a:lnTo>
                  <a:lnTo>
                    <a:pt x="3281172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254745" y="2494026"/>
              <a:ext cx="3281679" cy="485140"/>
            </a:xfrm>
            <a:custGeom>
              <a:avLst/>
              <a:gdLst/>
              <a:ahLst/>
              <a:cxnLst/>
              <a:rect l="l" t="t" r="r" b="b"/>
              <a:pathLst>
                <a:path w="3281679" h="485139">
                  <a:moveTo>
                    <a:pt x="0" y="484632"/>
                  </a:moveTo>
                  <a:lnTo>
                    <a:pt x="3281172" y="484632"/>
                  </a:lnTo>
                  <a:lnTo>
                    <a:pt x="3281172" y="0"/>
                  </a:lnTo>
                  <a:lnTo>
                    <a:pt x="0" y="0"/>
                  </a:lnTo>
                  <a:lnTo>
                    <a:pt x="0" y="484632"/>
                  </a:lnTo>
                  <a:close/>
                </a:path>
              </a:pathLst>
            </a:custGeom>
            <a:ln w="10668">
              <a:solidFill>
                <a:srgbClr val="2C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157843" y="2571369"/>
            <a:ext cx="1477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Code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optimizer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48647" y="3382771"/>
            <a:ext cx="1340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t1:=</a:t>
            </a:r>
            <a:r>
              <a:rPr sz="1800" spc="-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id3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*</a:t>
            </a:r>
            <a:r>
              <a:rPr sz="1800" spc="-10" dirty="0">
                <a:latin typeface="Corbel"/>
                <a:cs typeface="Corbel"/>
              </a:rPr>
              <a:t> </a:t>
            </a:r>
            <a:r>
              <a:rPr sz="1800" spc="-20" dirty="0">
                <a:latin typeface="Corbel"/>
                <a:cs typeface="Corbel"/>
              </a:rPr>
              <a:t>60.0 </a:t>
            </a:r>
            <a:r>
              <a:rPr sz="1800" dirty="0">
                <a:latin typeface="Corbel"/>
                <a:cs typeface="Corbel"/>
              </a:rPr>
              <a:t>id1:=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id2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+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t1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249411" y="4396740"/>
            <a:ext cx="3291840" cy="497205"/>
            <a:chOff x="8249411" y="4396740"/>
            <a:chExt cx="3291840" cy="497205"/>
          </a:xfrm>
        </p:grpSpPr>
        <p:sp>
          <p:nvSpPr>
            <p:cNvPr id="51" name="object 51"/>
            <p:cNvSpPr/>
            <p:nvPr/>
          </p:nvSpPr>
          <p:spPr>
            <a:xfrm>
              <a:off x="8254745" y="4402074"/>
              <a:ext cx="3281679" cy="486409"/>
            </a:xfrm>
            <a:custGeom>
              <a:avLst/>
              <a:gdLst/>
              <a:ahLst/>
              <a:cxnLst/>
              <a:rect l="l" t="t" r="r" b="b"/>
              <a:pathLst>
                <a:path w="3281679" h="486410">
                  <a:moveTo>
                    <a:pt x="3281172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3281172" y="486156"/>
                  </a:lnTo>
                  <a:lnTo>
                    <a:pt x="3281172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254745" y="4402074"/>
              <a:ext cx="3281679" cy="486409"/>
            </a:xfrm>
            <a:custGeom>
              <a:avLst/>
              <a:gdLst/>
              <a:ahLst/>
              <a:cxnLst/>
              <a:rect l="l" t="t" r="r" b="b"/>
              <a:pathLst>
                <a:path w="3281679" h="486410">
                  <a:moveTo>
                    <a:pt x="0" y="486156"/>
                  </a:moveTo>
                  <a:lnTo>
                    <a:pt x="3281172" y="486156"/>
                  </a:lnTo>
                  <a:lnTo>
                    <a:pt x="3281172" y="0"/>
                  </a:lnTo>
                  <a:lnTo>
                    <a:pt x="0" y="0"/>
                  </a:lnTo>
                  <a:lnTo>
                    <a:pt x="0" y="486156"/>
                  </a:lnTo>
                  <a:close/>
                </a:path>
              </a:pathLst>
            </a:custGeom>
            <a:ln w="10668">
              <a:solidFill>
                <a:srgbClr val="2C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145651" y="4480686"/>
            <a:ext cx="1501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Code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generator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248647" y="5326760"/>
            <a:ext cx="15252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MOVEF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id3,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R2 </a:t>
            </a:r>
            <a:r>
              <a:rPr sz="1800" dirty="0">
                <a:latin typeface="Corbel"/>
                <a:cs typeface="Corbel"/>
              </a:rPr>
              <a:t>MULF</a:t>
            </a:r>
            <a:r>
              <a:rPr sz="1800" spc="-7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#60.0,R2 </a:t>
            </a:r>
            <a:r>
              <a:rPr sz="1800" dirty="0">
                <a:latin typeface="Corbel"/>
                <a:cs typeface="Corbel"/>
              </a:rPr>
              <a:t>MOVF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id2,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R1 </a:t>
            </a:r>
            <a:r>
              <a:rPr sz="1800" dirty="0">
                <a:latin typeface="Corbel"/>
                <a:cs typeface="Corbel"/>
              </a:rPr>
              <a:t>ADDF</a:t>
            </a:r>
            <a:r>
              <a:rPr sz="1800" spc="-5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R2,R1 </a:t>
            </a:r>
            <a:r>
              <a:rPr sz="1800" dirty="0">
                <a:latin typeface="Corbel"/>
                <a:cs typeface="Corbel"/>
              </a:rPr>
              <a:t>MOVF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R1,id1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108697" y="28955"/>
            <a:ext cx="2853690" cy="6391910"/>
            <a:chOff x="7108697" y="28955"/>
            <a:chExt cx="2853690" cy="6391910"/>
          </a:xfrm>
        </p:grpSpPr>
        <p:sp>
          <p:nvSpPr>
            <p:cNvPr id="56" name="object 56"/>
            <p:cNvSpPr/>
            <p:nvPr/>
          </p:nvSpPr>
          <p:spPr>
            <a:xfrm>
              <a:off x="9866376" y="796289"/>
              <a:ext cx="96520" cy="4371975"/>
            </a:xfrm>
            <a:custGeom>
              <a:avLst/>
              <a:gdLst/>
              <a:ahLst/>
              <a:cxnLst/>
              <a:rect l="l" t="t" r="r" b="b"/>
              <a:pathLst>
                <a:path w="96520" h="4371975">
                  <a:moveTo>
                    <a:pt x="96012" y="4275836"/>
                  </a:moveTo>
                  <a:lnTo>
                    <a:pt x="64008" y="4275836"/>
                  </a:lnTo>
                  <a:lnTo>
                    <a:pt x="64008" y="4102608"/>
                  </a:lnTo>
                  <a:lnTo>
                    <a:pt x="32004" y="4102608"/>
                  </a:lnTo>
                  <a:lnTo>
                    <a:pt x="32004" y="4275836"/>
                  </a:lnTo>
                  <a:lnTo>
                    <a:pt x="0" y="4275836"/>
                  </a:lnTo>
                  <a:lnTo>
                    <a:pt x="48006" y="4371848"/>
                  </a:lnTo>
                  <a:lnTo>
                    <a:pt x="88011" y="4291838"/>
                  </a:lnTo>
                  <a:lnTo>
                    <a:pt x="96012" y="4275836"/>
                  </a:lnTo>
                  <a:close/>
                </a:path>
                <a:path w="96520" h="4371975">
                  <a:moveTo>
                    <a:pt x="96012" y="3510788"/>
                  </a:moveTo>
                  <a:lnTo>
                    <a:pt x="64008" y="3510788"/>
                  </a:lnTo>
                  <a:lnTo>
                    <a:pt x="64008" y="3337560"/>
                  </a:lnTo>
                  <a:lnTo>
                    <a:pt x="32004" y="3337560"/>
                  </a:lnTo>
                  <a:lnTo>
                    <a:pt x="32004" y="3510788"/>
                  </a:lnTo>
                  <a:lnTo>
                    <a:pt x="0" y="3510788"/>
                  </a:lnTo>
                  <a:lnTo>
                    <a:pt x="48006" y="3606800"/>
                  </a:lnTo>
                  <a:lnTo>
                    <a:pt x="88011" y="3526790"/>
                  </a:lnTo>
                  <a:lnTo>
                    <a:pt x="96012" y="3510788"/>
                  </a:lnTo>
                  <a:close/>
                </a:path>
                <a:path w="96520" h="4371975">
                  <a:moveTo>
                    <a:pt x="96012" y="2376932"/>
                  </a:moveTo>
                  <a:lnTo>
                    <a:pt x="64008" y="2376932"/>
                  </a:lnTo>
                  <a:lnTo>
                    <a:pt x="64008" y="2203704"/>
                  </a:lnTo>
                  <a:lnTo>
                    <a:pt x="32004" y="2203704"/>
                  </a:lnTo>
                  <a:lnTo>
                    <a:pt x="32004" y="2376932"/>
                  </a:lnTo>
                  <a:lnTo>
                    <a:pt x="0" y="2376932"/>
                  </a:lnTo>
                  <a:lnTo>
                    <a:pt x="48006" y="2472944"/>
                  </a:lnTo>
                  <a:lnTo>
                    <a:pt x="88011" y="2392934"/>
                  </a:lnTo>
                  <a:lnTo>
                    <a:pt x="96012" y="2376932"/>
                  </a:lnTo>
                  <a:close/>
                </a:path>
                <a:path w="96520" h="4371975">
                  <a:moveTo>
                    <a:pt x="96012" y="1601216"/>
                  </a:moveTo>
                  <a:lnTo>
                    <a:pt x="64008" y="1601216"/>
                  </a:lnTo>
                  <a:lnTo>
                    <a:pt x="64008" y="1427988"/>
                  </a:lnTo>
                  <a:lnTo>
                    <a:pt x="32004" y="1427988"/>
                  </a:lnTo>
                  <a:lnTo>
                    <a:pt x="32004" y="1601216"/>
                  </a:lnTo>
                  <a:lnTo>
                    <a:pt x="0" y="1601216"/>
                  </a:lnTo>
                  <a:lnTo>
                    <a:pt x="48006" y="1697228"/>
                  </a:lnTo>
                  <a:lnTo>
                    <a:pt x="88011" y="1617218"/>
                  </a:lnTo>
                  <a:lnTo>
                    <a:pt x="96012" y="1601216"/>
                  </a:lnTo>
                  <a:close/>
                </a:path>
                <a:path w="96520" h="4371975">
                  <a:moveTo>
                    <a:pt x="96012" y="173228"/>
                  </a:moveTo>
                  <a:lnTo>
                    <a:pt x="64008" y="173228"/>
                  </a:lnTo>
                  <a:lnTo>
                    <a:pt x="64008" y="0"/>
                  </a:lnTo>
                  <a:lnTo>
                    <a:pt x="32004" y="0"/>
                  </a:lnTo>
                  <a:lnTo>
                    <a:pt x="32004" y="173228"/>
                  </a:lnTo>
                  <a:lnTo>
                    <a:pt x="0" y="173228"/>
                  </a:lnTo>
                  <a:lnTo>
                    <a:pt x="48006" y="269240"/>
                  </a:lnTo>
                  <a:lnTo>
                    <a:pt x="88011" y="189230"/>
                  </a:lnTo>
                  <a:lnTo>
                    <a:pt x="96012" y="173228"/>
                  </a:lnTo>
                  <a:close/>
                </a:path>
              </a:pathLst>
            </a:custGeom>
            <a:solidFill>
              <a:srgbClr val="D439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450835" y="28955"/>
              <a:ext cx="2511425" cy="6376035"/>
            </a:xfrm>
            <a:custGeom>
              <a:avLst/>
              <a:gdLst/>
              <a:ahLst/>
              <a:cxnLst/>
              <a:rect l="l" t="t" r="r" b="b"/>
              <a:pathLst>
                <a:path w="2511425" h="6376035">
                  <a:moveTo>
                    <a:pt x="2472055" y="0"/>
                  </a:moveTo>
                  <a:lnTo>
                    <a:pt x="7112" y="0"/>
                  </a:lnTo>
                  <a:lnTo>
                    <a:pt x="0" y="7112"/>
                  </a:lnTo>
                  <a:lnTo>
                    <a:pt x="0" y="6375666"/>
                  </a:lnTo>
                  <a:lnTo>
                    <a:pt x="32004" y="6375666"/>
                  </a:lnTo>
                  <a:lnTo>
                    <a:pt x="32004" y="32003"/>
                  </a:lnTo>
                  <a:lnTo>
                    <a:pt x="16002" y="32003"/>
                  </a:lnTo>
                  <a:lnTo>
                    <a:pt x="32004" y="16001"/>
                  </a:lnTo>
                  <a:lnTo>
                    <a:pt x="2479167" y="16001"/>
                  </a:lnTo>
                  <a:lnTo>
                    <a:pt x="2479167" y="7112"/>
                  </a:lnTo>
                  <a:lnTo>
                    <a:pt x="2472055" y="0"/>
                  </a:lnTo>
                  <a:close/>
                </a:path>
                <a:path w="2511425" h="6376035">
                  <a:moveTo>
                    <a:pt x="2447163" y="148590"/>
                  </a:moveTo>
                  <a:lnTo>
                    <a:pt x="2415159" y="148590"/>
                  </a:lnTo>
                  <a:lnTo>
                    <a:pt x="2463165" y="244601"/>
                  </a:lnTo>
                  <a:lnTo>
                    <a:pt x="2503170" y="164592"/>
                  </a:lnTo>
                  <a:lnTo>
                    <a:pt x="2447163" y="164592"/>
                  </a:lnTo>
                  <a:lnTo>
                    <a:pt x="2447163" y="148590"/>
                  </a:lnTo>
                  <a:close/>
                </a:path>
                <a:path w="2511425" h="6376035">
                  <a:moveTo>
                    <a:pt x="2447163" y="16001"/>
                  </a:moveTo>
                  <a:lnTo>
                    <a:pt x="2447163" y="164592"/>
                  </a:lnTo>
                  <a:lnTo>
                    <a:pt x="2479167" y="164592"/>
                  </a:lnTo>
                  <a:lnTo>
                    <a:pt x="2479167" y="32003"/>
                  </a:lnTo>
                  <a:lnTo>
                    <a:pt x="2463165" y="32003"/>
                  </a:lnTo>
                  <a:lnTo>
                    <a:pt x="2447163" y="16001"/>
                  </a:lnTo>
                  <a:close/>
                </a:path>
                <a:path w="2511425" h="6376035">
                  <a:moveTo>
                    <a:pt x="2511171" y="148590"/>
                  </a:moveTo>
                  <a:lnTo>
                    <a:pt x="2479167" y="148590"/>
                  </a:lnTo>
                  <a:lnTo>
                    <a:pt x="2479167" y="164592"/>
                  </a:lnTo>
                  <a:lnTo>
                    <a:pt x="2503170" y="164592"/>
                  </a:lnTo>
                  <a:lnTo>
                    <a:pt x="2511171" y="148590"/>
                  </a:lnTo>
                  <a:close/>
                </a:path>
                <a:path w="2511425" h="6376035">
                  <a:moveTo>
                    <a:pt x="32004" y="16001"/>
                  </a:moveTo>
                  <a:lnTo>
                    <a:pt x="16002" y="32003"/>
                  </a:lnTo>
                  <a:lnTo>
                    <a:pt x="32004" y="32003"/>
                  </a:lnTo>
                  <a:lnTo>
                    <a:pt x="32004" y="16001"/>
                  </a:lnTo>
                  <a:close/>
                </a:path>
                <a:path w="2511425" h="6376035">
                  <a:moveTo>
                    <a:pt x="2447163" y="16001"/>
                  </a:moveTo>
                  <a:lnTo>
                    <a:pt x="32004" y="16001"/>
                  </a:lnTo>
                  <a:lnTo>
                    <a:pt x="32004" y="32003"/>
                  </a:lnTo>
                  <a:lnTo>
                    <a:pt x="2447163" y="32003"/>
                  </a:lnTo>
                  <a:lnTo>
                    <a:pt x="2447163" y="16001"/>
                  </a:lnTo>
                  <a:close/>
                </a:path>
                <a:path w="2511425" h="6376035">
                  <a:moveTo>
                    <a:pt x="2479167" y="16001"/>
                  </a:moveTo>
                  <a:lnTo>
                    <a:pt x="2447163" y="16001"/>
                  </a:lnTo>
                  <a:lnTo>
                    <a:pt x="2463165" y="32003"/>
                  </a:lnTo>
                  <a:lnTo>
                    <a:pt x="2479167" y="32003"/>
                  </a:lnTo>
                  <a:lnTo>
                    <a:pt x="2479167" y="16001"/>
                  </a:lnTo>
                  <a:close/>
                </a:path>
              </a:pathLst>
            </a:custGeom>
            <a:solidFill>
              <a:srgbClr val="A722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108697" y="6404609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358140" y="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A722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3084957"/>
            <a:ext cx="2607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Practice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Cambria"/>
                <a:cs typeface="Cambria"/>
              </a:rPr>
              <a:t>Time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7954" y="505205"/>
            <a:ext cx="1296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</a:rPr>
              <a:t>Example</a:t>
            </a:r>
            <a:r>
              <a:rPr sz="2400" spc="-100" dirty="0">
                <a:solidFill>
                  <a:srgbClr val="000000"/>
                </a:solidFill>
              </a:rPr>
              <a:t> </a:t>
            </a:r>
            <a:r>
              <a:rPr sz="2400" spc="-50" dirty="0">
                <a:solidFill>
                  <a:srgbClr val="000000"/>
                </a:solidFill>
              </a:rPr>
              <a:t>: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3957954" y="987044"/>
            <a:ext cx="7466330" cy="12020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Cambria"/>
                <a:cs typeface="Cambria"/>
              </a:rPr>
              <a:t>What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will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output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each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phase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following statement?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1823085" algn="l"/>
              </a:tabLst>
            </a:pPr>
            <a:r>
              <a:rPr sz="2400" spc="-10" dirty="0">
                <a:latin typeface="Cambria"/>
                <a:cs typeface="Cambria"/>
              </a:rPr>
              <a:t>Statement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x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51784"/>
            <a:ext cx="2248535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Grouping</a:t>
            </a:r>
            <a:r>
              <a:rPr sz="3600" spc="-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82390" y="517398"/>
            <a:ext cx="3700779" cy="6341745"/>
          </a:xfrm>
          <a:custGeom>
            <a:avLst/>
            <a:gdLst/>
            <a:ahLst/>
            <a:cxnLst/>
            <a:rect l="l" t="t" r="r" b="b"/>
            <a:pathLst>
              <a:path w="3700779" h="6341745">
                <a:moveTo>
                  <a:pt x="0" y="0"/>
                </a:moveTo>
                <a:lnTo>
                  <a:pt x="0" y="6341363"/>
                </a:lnTo>
                <a:lnTo>
                  <a:pt x="3700271" y="5073091"/>
                </a:lnTo>
                <a:lnTo>
                  <a:pt x="3700271" y="1268222"/>
                </a:lnTo>
                <a:lnTo>
                  <a:pt x="0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98416" y="1695958"/>
            <a:ext cx="196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Front</a:t>
            </a:r>
            <a:r>
              <a:rPr spc="-160" dirty="0"/>
              <a:t> </a:t>
            </a:r>
            <a:r>
              <a:rPr spc="-25" dirty="0"/>
              <a:t>End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98416" y="2874391"/>
            <a:ext cx="3254375" cy="9423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97815" marR="5080" indent="-285750">
              <a:lnSpc>
                <a:spcPts val="3370"/>
              </a:lnSpc>
              <a:spcBef>
                <a:spcPts val="605"/>
              </a:spcBef>
              <a:buChar char="•"/>
              <a:tabLst>
                <a:tab pos="299085" algn="l"/>
              </a:tabLst>
            </a:pPr>
            <a:r>
              <a:rPr sz="3200" dirty="0">
                <a:solidFill>
                  <a:srgbClr val="FFFFFF"/>
                </a:solidFill>
                <a:latin typeface="Cambria"/>
                <a:cs typeface="Cambria"/>
              </a:rPr>
              <a:t>Dependent</a:t>
            </a:r>
            <a:r>
              <a:rPr sz="3200" spc="-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Cambria"/>
                <a:cs typeface="Cambria"/>
              </a:rPr>
              <a:t>: 	</a:t>
            </a:r>
            <a:r>
              <a:rPr sz="3200" dirty="0">
                <a:solidFill>
                  <a:srgbClr val="FFFFFF"/>
                </a:solidFill>
                <a:latin typeface="Cambria"/>
                <a:cs typeface="Cambria"/>
              </a:rPr>
              <a:t>Source</a:t>
            </a:r>
            <a:r>
              <a:rPr sz="3200" spc="-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mbria"/>
                <a:cs typeface="Cambria"/>
              </a:rPr>
              <a:t>Language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8416" y="4304157"/>
            <a:ext cx="2987675" cy="9423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97815" marR="5080" indent="-285750">
              <a:lnSpc>
                <a:spcPts val="3370"/>
              </a:lnSpc>
              <a:spcBef>
                <a:spcPts val="605"/>
              </a:spcBef>
              <a:buChar char="•"/>
              <a:tabLst>
                <a:tab pos="299085" algn="l"/>
                <a:tab pos="2700655" algn="l"/>
              </a:tabLst>
            </a:pPr>
            <a:r>
              <a:rPr sz="3200" spc="-10" dirty="0">
                <a:solidFill>
                  <a:srgbClr val="FFFFFF"/>
                </a:solidFill>
                <a:latin typeface="Cambria"/>
                <a:cs typeface="Cambria"/>
              </a:rPr>
              <a:t>Independent</a:t>
            </a:r>
            <a:r>
              <a:rPr sz="32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3200" spc="-50" dirty="0">
                <a:solidFill>
                  <a:srgbClr val="FFFFFF"/>
                </a:solidFill>
                <a:latin typeface="Cambria"/>
                <a:cs typeface="Cambria"/>
              </a:rPr>
              <a:t>: 	</a:t>
            </a:r>
            <a:r>
              <a:rPr sz="3200" spc="-35" dirty="0">
                <a:solidFill>
                  <a:srgbClr val="FFFFFF"/>
                </a:solidFill>
                <a:latin typeface="Cambria"/>
                <a:cs typeface="Cambria"/>
              </a:rPr>
              <a:t>Target</a:t>
            </a:r>
            <a:r>
              <a:rPr sz="3200" spc="-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mbria"/>
                <a:cs typeface="Cambria"/>
              </a:rPr>
              <a:t>Machine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60030" y="517398"/>
            <a:ext cx="3700779" cy="6341745"/>
          </a:xfrm>
          <a:custGeom>
            <a:avLst/>
            <a:gdLst/>
            <a:ahLst/>
            <a:cxnLst/>
            <a:rect l="l" t="t" r="r" b="b"/>
            <a:pathLst>
              <a:path w="3700779" h="6341745">
                <a:moveTo>
                  <a:pt x="0" y="0"/>
                </a:moveTo>
                <a:lnTo>
                  <a:pt x="0" y="6341363"/>
                </a:lnTo>
                <a:lnTo>
                  <a:pt x="3700272" y="5073091"/>
                </a:lnTo>
                <a:lnTo>
                  <a:pt x="3700272" y="1268222"/>
                </a:lnTo>
                <a:lnTo>
                  <a:pt x="0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76438" y="1695958"/>
            <a:ext cx="1843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Back</a:t>
            </a: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End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76438" y="2821050"/>
            <a:ext cx="3202940" cy="82676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99085" marR="5080" indent="-287020">
              <a:lnSpc>
                <a:spcPts val="2950"/>
              </a:lnSpc>
              <a:spcBef>
                <a:spcPts val="535"/>
              </a:spcBef>
              <a:buChar char="•"/>
              <a:tabLst>
                <a:tab pos="299085" algn="l"/>
              </a:tabLst>
            </a:pPr>
            <a:r>
              <a:rPr sz="2800" dirty="0">
                <a:solidFill>
                  <a:srgbClr val="FFFFFF"/>
                </a:solidFill>
                <a:latin typeface="Cambria"/>
                <a:cs typeface="Cambria"/>
              </a:rPr>
              <a:t>Dependent</a:t>
            </a:r>
            <a:r>
              <a:rPr sz="2800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2800" spc="-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Cambria"/>
                <a:cs typeface="Cambria"/>
              </a:rPr>
              <a:t>Target </a:t>
            </a:r>
            <a:r>
              <a:rPr sz="2800" spc="-10" dirty="0">
                <a:solidFill>
                  <a:srgbClr val="FFFFFF"/>
                </a:solidFill>
                <a:latin typeface="Cambria"/>
                <a:cs typeface="Cambria"/>
              </a:rPr>
              <a:t>Machine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76438" y="4072509"/>
            <a:ext cx="2884805" cy="82676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99085" marR="5080" indent="-287020">
              <a:lnSpc>
                <a:spcPts val="2950"/>
              </a:lnSpc>
              <a:spcBef>
                <a:spcPts val="535"/>
              </a:spcBef>
              <a:buChar char="•"/>
              <a:tabLst>
                <a:tab pos="299085" algn="l"/>
              </a:tabLst>
            </a:pPr>
            <a:r>
              <a:rPr sz="2800" dirty="0">
                <a:solidFill>
                  <a:srgbClr val="FFFFFF"/>
                </a:solidFill>
                <a:latin typeface="Cambria"/>
                <a:cs typeface="Cambria"/>
              </a:rPr>
              <a:t>Independent</a:t>
            </a:r>
            <a:r>
              <a:rPr sz="28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Cambria"/>
                <a:cs typeface="Cambria"/>
              </a:rPr>
              <a:t>: </a:t>
            </a:r>
            <a:r>
              <a:rPr sz="2800" dirty="0">
                <a:solidFill>
                  <a:srgbClr val="FFFFFF"/>
                </a:solidFill>
                <a:latin typeface="Cambria"/>
                <a:cs typeface="Cambria"/>
              </a:rPr>
              <a:t>Source</a:t>
            </a:r>
            <a:r>
              <a:rPr sz="2800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mbria"/>
                <a:cs typeface="Cambria"/>
              </a:rPr>
              <a:t>Language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51784"/>
            <a:ext cx="2248535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Grouping</a:t>
            </a:r>
            <a:r>
              <a:rPr sz="3600" spc="-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8429" y="853185"/>
            <a:ext cx="1487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Front</a:t>
            </a:r>
            <a:r>
              <a:rPr sz="2400" b="1" spc="-125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End: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48429" y="1334465"/>
            <a:ext cx="71558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9980" algn="l"/>
                <a:tab pos="1797050" algn="l"/>
                <a:tab pos="2914650" algn="l"/>
                <a:tab pos="3368675" algn="l"/>
                <a:tab pos="4281805" algn="l"/>
                <a:tab pos="5311775" algn="l"/>
                <a:tab pos="6034405" algn="l"/>
              </a:tabLst>
            </a:pPr>
            <a:r>
              <a:rPr sz="2400" spc="-1250" dirty="0">
                <a:solidFill>
                  <a:srgbClr val="000000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Front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5" dirty="0">
                <a:solidFill>
                  <a:srgbClr val="000000"/>
                </a:solidFill>
              </a:rPr>
              <a:t>end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consist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5" dirty="0">
                <a:solidFill>
                  <a:srgbClr val="000000"/>
                </a:solidFill>
              </a:rPr>
              <a:t>of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those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phase,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0" dirty="0">
                <a:solidFill>
                  <a:srgbClr val="000000"/>
                </a:solidFill>
              </a:rPr>
              <a:t>that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depends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31309" y="1664334"/>
            <a:ext cx="697547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  <a:tabLst>
                <a:tab pos="1887220" algn="l"/>
                <a:tab pos="2550160" algn="l"/>
                <a:tab pos="3302000" algn="l"/>
                <a:tab pos="4499610" algn="l"/>
                <a:tab pos="6001385" algn="l"/>
                <a:tab pos="6542405" algn="l"/>
              </a:tabLst>
            </a:pPr>
            <a:r>
              <a:rPr sz="2400" spc="-10" dirty="0">
                <a:latin typeface="Cambria"/>
                <a:cs typeface="Cambria"/>
              </a:rPr>
              <a:t>preliminary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source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language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&amp;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30" dirty="0">
                <a:latin typeface="Cambria"/>
                <a:cs typeface="Cambria"/>
              </a:rPr>
              <a:t>are </a:t>
            </a:r>
            <a:r>
              <a:rPr sz="2400" dirty="0">
                <a:latin typeface="Cambria"/>
                <a:cs typeface="Cambria"/>
              </a:rPr>
              <a:t>independent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target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machine.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5580" marR="5080" indent="-182880" algn="just">
              <a:lnSpc>
                <a:spcPct val="90000"/>
              </a:lnSpc>
              <a:spcBef>
                <a:spcPts val="385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-95" dirty="0">
                <a:latin typeface="Arial MT"/>
                <a:cs typeface="Arial MT"/>
              </a:rPr>
              <a:t> </a:t>
            </a:r>
            <a:r>
              <a:rPr dirty="0"/>
              <a:t>It</a:t>
            </a:r>
            <a:r>
              <a:rPr spc="85" dirty="0"/>
              <a:t> </a:t>
            </a:r>
            <a:r>
              <a:rPr spc="-15" dirty="0"/>
              <a:t>includes</a:t>
            </a:r>
            <a:r>
              <a:rPr spc="114" dirty="0"/>
              <a:t> </a:t>
            </a:r>
            <a:r>
              <a:rPr spc="-15" dirty="0"/>
              <a:t>Lexical</a:t>
            </a:r>
            <a:r>
              <a:rPr spc="95" dirty="0"/>
              <a:t> </a:t>
            </a:r>
            <a:r>
              <a:rPr spc="-25" dirty="0"/>
              <a:t>analysis,</a:t>
            </a:r>
            <a:r>
              <a:rPr spc="105" dirty="0"/>
              <a:t> </a:t>
            </a:r>
            <a:r>
              <a:rPr spc="-25" dirty="0"/>
              <a:t>Syntax</a:t>
            </a:r>
            <a:r>
              <a:rPr spc="85" dirty="0"/>
              <a:t> </a:t>
            </a:r>
            <a:r>
              <a:rPr spc="-25" dirty="0"/>
              <a:t>analysis,</a:t>
            </a:r>
            <a:r>
              <a:rPr spc="105" dirty="0"/>
              <a:t> </a:t>
            </a:r>
            <a:r>
              <a:rPr spc="-35" dirty="0"/>
              <a:t>Semantic</a:t>
            </a:r>
            <a:r>
              <a:rPr spc="-10" dirty="0"/>
              <a:t> </a:t>
            </a:r>
            <a:r>
              <a:rPr spc="-25" dirty="0"/>
              <a:t>analysis,</a:t>
            </a:r>
            <a:r>
              <a:rPr spc="270" dirty="0"/>
              <a:t> </a:t>
            </a:r>
            <a:r>
              <a:rPr spc="-20" dirty="0"/>
              <a:t>Intermediate</a:t>
            </a:r>
            <a:r>
              <a:rPr spc="295" dirty="0"/>
              <a:t> </a:t>
            </a:r>
            <a:r>
              <a:rPr spc="-15" dirty="0"/>
              <a:t>code</a:t>
            </a:r>
            <a:r>
              <a:rPr spc="290" dirty="0"/>
              <a:t> </a:t>
            </a:r>
            <a:r>
              <a:rPr spc="-10" dirty="0"/>
              <a:t>generation</a:t>
            </a:r>
            <a:r>
              <a:rPr spc="295" dirty="0"/>
              <a:t> </a:t>
            </a:r>
            <a:r>
              <a:rPr spc="-20" dirty="0"/>
              <a:t>and</a:t>
            </a:r>
            <a:r>
              <a:rPr spc="295" dirty="0"/>
              <a:t> </a:t>
            </a:r>
            <a:r>
              <a:rPr spc="-15" dirty="0"/>
              <a:t>Creation</a:t>
            </a:r>
            <a:r>
              <a:rPr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-10" dirty="0"/>
              <a:t> </a:t>
            </a:r>
            <a:r>
              <a:rPr spc="-25" dirty="0"/>
              <a:t>Symbol</a:t>
            </a:r>
            <a:r>
              <a:rPr spc="20" dirty="0"/>
              <a:t> </a:t>
            </a:r>
            <a:r>
              <a:rPr spc="-10" dirty="0"/>
              <a:t>table.</a:t>
            </a:r>
          </a:p>
          <a:p>
            <a:pPr marL="195580" marR="8255" indent="-182880" algn="just">
              <a:lnSpc>
                <a:spcPts val="2590"/>
              </a:lnSpc>
              <a:spcBef>
                <a:spcPts val="1240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-95" dirty="0">
                <a:latin typeface="Arial MT"/>
                <a:cs typeface="Arial MT"/>
              </a:rPr>
              <a:t> </a:t>
            </a:r>
            <a:r>
              <a:rPr spc="-15" dirty="0"/>
              <a:t>A</a:t>
            </a:r>
            <a:r>
              <a:rPr spc="335" dirty="0"/>
              <a:t> </a:t>
            </a:r>
            <a:r>
              <a:rPr spc="-10" dirty="0"/>
              <a:t>certain</a:t>
            </a:r>
            <a:r>
              <a:rPr spc="340" dirty="0"/>
              <a:t> </a:t>
            </a:r>
            <a:r>
              <a:rPr spc="-15" dirty="0"/>
              <a:t>amount</a:t>
            </a:r>
            <a:r>
              <a:rPr spc="33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335" dirty="0"/>
              <a:t> </a:t>
            </a:r>
            <a:r>
              <a:rPr spc="-15" dirty="0"/>
              <a:t>code</a:t>
            </a:r>
            <a:r>
              <a:rPr spc="335" dirty="0"/>
              <a:t> </a:t>
            </a:r>
            <a:r>
              <a:rPr spc="-5" dirty="0"/>
              <a:t>optimization</a:t>
            </a:r>
            <a:r>
              <a:rPr spc="340" dirty="0"/>
              <a:t> </a:t>
            </a:r>
            <a:r>
              <a:rPr spc="-20" dirty="0"/>
              <a:t>can</a:t>
            </a:r>
            <a:r>
              <a:rPr spc="340" dirty="0"/>
              <a:t> </a:t>
            </a:r>
            <a:r>
              <a:rPr spc="-15" dirty="0"/>
              <a:t>be</a:t>
            </a:r>
            <a:r>
              <a:rPr spc="335" dirty="0"/>
              <a:t> </a:t>
            </a:r>
            <a:r>
              <a:rPr spc="-55" dirty="0"/>
              <a:t>done</a:t>
            </a:r>
            <a:r>
              <a:rPr spc="-10" dirty="0"/>
              <a:t> </a:t>
            </a:r>
            <a:r>
              <a:rPr spc="-45" dirty="0"/>
              <a:t>b</a:t>
            </a:r>
            <a:r>
              <a:rPr dirty="0"/>
              <a:t>y</a:t>
            </a:r>
            <a:r>
              <a:rPr spc="-5" dirty="0"/>
              <a:t> </a:t>
            </a:r>
            <a:r>
              <a:rPr spc="-15" dirty="0"/>
              <a:t>the</a:t>
            </a:r>
            <a:r>
              <a:rPr dirty="0"/>
              <a:t> f</a:t>
            </a:r>
            <a:r>
              <a:rPr spc="-35" dirty="0"/>
              <a:t>r</a:t>
            </a:r>
            <a:r>
              <a:rPr spc="-5" dirty="0"/>
              <a:t>on</a:t>
            </a:r>
            <a:r>
              <a:rPr dirty="0"/>
              <a:t>t</a:t>
            </a:r>
            <a:r>
              <a:rPr spc="-20" dirty="0"/>
              <a:t> </a:t>
            </a:r>
            <a:r>
              <a:rPr spc="-15" dirty="0"/>
              <a:t>end</a:t>
            </a:r>
            <a:r>
              <a:rPr spc="-5" dirty="0"/>
              <a:t> </a:t>
            </a:r>
            <a:r>
              <a:rPr spc="-15" dirty="0"/>
              <a:t>as</a:t>
            </a:r>
            <a:r>
              <a:rPr spc="-5" dirty="0"/>
              <a:t> </a:t>
            </a:r>
            <a:r>
              <a:rPr spc="-20" dirty="0"/>
              <a:t>well</a:t>
            </a:r>
          </a:p>
          <a:p>
            <a:pPr marL="195580" marR="6350" indent="-182880" algn="just">
              <a:lnSpc>
                <a:spcPts val="2590"/>
              </a:lnSpc>
              <a:spcBef>
                <a:spcPts val="1210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-95" dirty="0">
                <a:latin typeface="Arial MT"/>
                <a:cs typeface="Arial MT"/>
              </a:rPr>
              <a:t> </a:t>
            </a:r>
            <a:r>
              <a:rPr spc="-15" dirty="0"/>
              <a:t>The</a:t>
            </a:r>
            <a:r>
              <a:rPr spc="220" dirty="0"/>
              <a:t> </a:t>
            </a:r>
            <a:r>
              <a:rPr spc="-10" dirty="0"/>
              <a:t>front</a:t>
            </a:r>
            <a:r>
              <a:rPr spc="200" dirty="0"/>
              <a:t> </a:t>
            </a:r>
            <a:r>
              <a:rPr spc="-20" dirty="0"/>
              <a:t>end</a:t>
            </a:r>
            <a:r>
              <a:rPr spc="220" dirty="0"/>
              <a:t> </a:t>
            </a:r>
            <a:r>
              <a:rPr spc="-15" dirty="0"/>
              <a:t>also</a:t>
            </a:r>
            <a:r>
              <a:rPr spc="210" dirty="0"/>
              <a:t> </a:t>
            </a:r>
            <a:r>
              <a:rPr spc="-15" dirty="0"/>
              <a:t>includes</a:t>
            </a:r>
            <a:r>
              <a:rPr spc="220" dirty="0"/>
              <a:t> </a:t>
            </a:r>
            <a:r>
              <a:rPr dirty="0"/>
              <a:t>er</a:t>
            </a:r>
            <a:r>
              <a:rPr spc="-30" dirty="0"/>
              <a:t>r</a:t>
            </a:r>
            <a:r>
              <a:rPr dirty="0"/>
              <a:t>or</a:t>
            </a:r>
            <a:r>
              <a:rPr spc="200" dirty="0"/>
              <a:t> </a:t>
            </a:r>
            <a:r>
              <a:rPr spc="-5" dirty="0"/>
              <a:t>handling</a:t>
            </a:r>
            <a:r>
              <a:rPr spc="210" dirty="0"/>
              <a:t> </a:t>
            </a:r>
            <a:r>
              <a:rPr spc="-15" dirty="0"/>
              <a:t>that</a:t>
            </a:r>
            <a:r>
              <a:rPr spc="225" dirty="0"/>
              <a:t> </a:t>
            </a:r>
            <a:r>
              <a:rPr spc="-65" dirty="0"/>
              <a:t>goes</a:t>
            </a:r>
            <a:r>
              <a:rPr spc="-10" dirty="0"/>
              <a:t> </a:t>
            </a:r>
            <a:r>
              <a:rPr spc="-20" dirty="0"/>
              <a:t>along</a:t>
            </a:r>
            <a:r>
              <a:rPr spc="-5" dirty="0"/>
              <a:t> with </a:t>
            </a:r>
            <a:r>
              <a:rPr spc="-15" dirty="0"/>
              <a:t>each</a:t>
            </a:r>
            <a:r>
              <a:rPr spc="-5" dirty="0"/>
              <a:t> o</a:t>
            </a:r>
            <a:r>
              <a:rPr dirty="0"/>
              <a:t>f </a:t>
            </a:r>
            <a:r>
              <a:rPr spc="-15" dirty="0"/>
              <a:t>these</a:t>
            </a:r>
            <a:r>
              <a:rPr spc="10" dirty="0"/>
              <a:t> </a:t>
            </a:r>
            <a:r>
              <a:rPr spc="-15" dirty="0"/>
              <a:t>phases.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51784"/>
            <a:ext cx="2248535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70" dirty="0">
                <a:solidFill>
                  <a:srgbClr val="FFFFFF"/>
                </a:solidFill>
                <a:latin typeface="Cambria"/>
                <a:cs typeface="Cambria"/>
              </a:rPr>
              <a:t>Grouping</a:t>
            </a:r>
            <a:r>
              <a:rPr sz="3600" spc="-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Phases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8429" y="853185"/>
            <a:ext cx="1406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Back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spc="-20" dirty="0">
                <a:latin typeface="Cambria"/>
                <a:cs typeface="Cambria"/>
              </a:rPr>
              <a:t>End: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48429" y="1334465"/>
            <a:ext cx="7155815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5580" marR="5080" indent="-182880" algn="just">
              <a:lnSpc>
                <a:spcPct val="90100"/>
              </a:lnSpc>
              <a:spcBef>
                <a:spcPts val="385"/>
              </a:spcBef>
            </a:pPr>
            <a:r>
              <a:rPr sz="2400" spc="-1250" dirty="0">
                <a:solidFill>
                  <a:srgbClr val="000000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Back</a:t>
            </a:r>
            <a:r>
              <a:rPr sz="2400" spc="16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includes</a:t>
            </a:r>
            <a:r>
              <a:rPr sz="2400" spc="175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those</a:t>
            </a:r>
            <a:r>
              <a:rPr sz="2400" spc="17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portio</a:t>
            </a:r>
            <a:r>
              <a:rPr sz="2400" dirty="0">
                <a:solidFill>
                  <a:srgbClr val="000000"/>
                </a:solidFill>
              </a:rPr>
              <a:t>n</a:t>
            </a:r>
            <a:r>
              <a:rPr sz="2400" spc="17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</a:t>
            </a:r>
            <a:r>
              <a:rPr sz="2400" dirty="0">
                <a:solidFill>
                  <a:srgbClr val="000000"/>
                </a:solidFill>
              </a:rPr>
              <a:t>f</a:t>
            </a:r>
            <a:r>
              <a:rPr sz="2400" spc="170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compiler</a:t>
            </a:r>
            <a:r>
              <a:rPr sz="2400" spc="17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that</a:t>
            </a:r>
            <a:r>
              <a:rPr sz="2400" spc="155" dirty="0">
                <a:solidFill>
                  <a:srgbClr val="000000"/>
                </a:solidFill>
              </a:rPr>
              <a:t> </a:t>
            </a:r>
            <a:r>
              <a:rPr sz="2400" spc="-50" dirty="0">
                <a:solidFill>
                  <a:srgbClr val="000000"/>
                </a:solidFill>
              </a:rPr>
              <a:t>depend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</a:t>
            </a:r>
            <a:r>
              <a:rPr sz="2400" dirty="0">
                <a:solidFill>
                  <a:srgbClr val="000000"/>
                </a:solidFill>
              </a:rPr>
              <a:t>n</a:t>
            </a:r>
            <a:r>
              <a:rPr sz="2400" spc="240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the</a:t>
            </a:r>
            <a:r>
              <a:rPr sz="2400" spc="245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target</a:t>
            </a:r>
            <a:r>
              <a:rPr sz="2400" spc="245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machine</a:t>
            </a:r>
            <a:r>
              <a:rPr sz="2400" spc="229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and</a:t>
            </a:r>
            <a:r>
              <a:rPr sz="2400" spc="235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do</a:t>
            </a:r>
            <a:r>
              <a:rPr sz="2400" spc="23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no</a:t>
            </a:r>
            <a:r>
              <a:rPr sz="2400" dirty="0">
                <a:solidFill>
                  <a:srgbClr val="000000"/>
                </a:solidFill>
              </a:rPr>
              <a:t>t</a:t>
            </a:r>
            <a:r>
              <a:rPr sz="2400" spc="235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depend</a:t>
            </a:r>
            <a:r>
              <a:rPr sz="2400" spc="24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</a:t>
            </a:r>
            <a:r>
              <a:rPr sz="2400" dirty="0">
                <a:solidFill>
                  <a:srgbClr val="000000"/>
                </a:solidFill>
              </a:rPr>
              <a:t>n</a:t>
            </a:r>
            <a:r>
              <a:rPr sz="2400" spc="240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source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language.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8429" y="2475103"/>
            <a:ext cx="7155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0290" algn="l"/>
                <a:tab pos="1765300" algn="l"/>
                <a:tab pos="3082290" algn="l"/>
                <a:tab pos="3921760" algn="l"/>
                <a:tab pos="5815330" algn="l"/>
                <a:tab pos="6528434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Cambria"/>
                <a:cs typeface="Cambria"/>
              </a:rPr>
              <a:t>Back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end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includes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code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optimization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code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31309" y="2803982"/>
            <a:ext cx="697610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9100" algn="l"/>
                <a:tab pos="2548890" algn="l"/>
                <a:tab pos="4110990" algn="l"/>
                <a:tab pos="5062220" algn="l"/>
                <a:tab pos="6475095" algn="l"/>
              </a:tabLst>
            </a:pPr>
            <a:r>
              <a:rPr sz="2400" spc="-10" dirty="0">
                <a:latin typeface="Cambria"/>
                <a:cs typeface="Cambria"/>
              </a:rPr>
              <a:t>generation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with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necessary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error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handling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and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31309" y="3133725"/>
            <a:ext cx="3093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symbol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table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8429" y="4578857"/>
            <a:ext cx="715835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5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has</a:t>
            </a:r>
            <a:r>
              <a:rPr sz="2400" spc="5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become</a:t>
            </a:r>
            <a:r>
              <a:rPr sz="2400" spc="5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fairly</a:t>
            </a:r>
            <a:r>
              <a:rPr sz="2400" spc="5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routine</a:t>
            </a:r>
            <a:r>
              <a:rPr sz="2400" spc="5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5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take</a:t>
            </a:r>
            <a:r>
              <a:rPr sz="2400" spc="5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front</a:t>
            </a:r>
            <a:r>
              <a:rPr sz="2400" spc="5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end</a:t>
            </a:r>
            <a:r>
              <a:rPr sz="2400" spc="5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56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&amp;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redo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back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end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produce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for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same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language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different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machine.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51784"/>
            <a:ext cx="1769110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85" dirty="0">
                <a:solidFill>
                  <a:srgbClr val="FFFFFF"/>
                </a:solidFill>
                <a:latin typeface="Cambria"/>
                <a:cs typeface="Cambria"/>
              </a:rPr>
              <a:t>Pass</a:t>
            </a:r>
            <a:r>
              <a:rPr sz="3600" spc="-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05173" y="156159"/>
            <a:ext cx="70446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5819" algn="l"/>
              </a:tabLst>
            </a:pPr>
            <a:r>
              <a:rPr sz="2400" spc="-1250" dirty="0">
                <a:solidFill>
                  <a:srgbClr val="000000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One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Complete</a:t>
            </a:r>
            <a:r>
              <a:rPr sz="2400" spc="-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scan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of</a:t>
            </a:r>
            <a:r>
              <a:rPr sz="2400" spc="-7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Source</a:t>
            </a:r>
            <a:r>
              <a:rPr sz="2400" spc="-6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program</a:t>
            </a:r>
            <a:r>
              <a:rPr sz="2400" spc="-7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is</a:t>
            </a:r>
            <a:r>
              <a:rPr sz="2400" spc="-7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called</a:t>
            </a:r>
            <a:r>
              <a:rPr sz="2400" spc="-6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Pass.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5173" y="522478"/>
            <a:ext cx="7158355" cy="34220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Difficulty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single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pass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194945" marR="7620" indent="-182880">
              <a:lnSpc>
                <a:spcPts val="2590"/>
              </a:lnSpc>
              <a:spcBef>
                <a:spcPts val="1240"/>
              </a:spcBef>
              <a:tabLst>
                <a:tab pos="1693545" algn="l"/>
                <a:tab pos="3227070" algn="l"/>
                <a:tab pos="3435350" algn="l"/>
                <a:tab pos="3754120" algn="l"/>
                <a:tab pos="4927600" algn="l"/>
                <a:tab pos="6289040" algn="l"/>
              </a:tabLst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Forward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10" dirty="0">
                <a:latin typeface="Cambria"/>
                <a:cs typeface="Cambria"/>
              </a:rPr>
              <a:t>Reference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forward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reference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means variable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label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referenced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before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declared.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leads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Multi-</a:t>
            </a:r>
            <a:r>
              <a:rPr sz="2400" dirty="0">
                <a:latin typeface="Cambria"/>
                <a:cs typeface="Cambria"/>
              </a:rPr>
              <a:t>Pass</a:t>
            </a:r>
            <a:r>
              <a:rPr sz="2400" spc="-10" dirty="0">
                <a:latin typeface="Cambria"/>
                <a:cs typeface="Cambria"/>
              </a:rPr>
              <a:t> model.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2590"/>
              </a:lnSpc>
              <a:spcBef>
                <a:spcPts val="1240"/>
              </a:spcBef>
            </a:pPr>
            <a:r>
              <a:rPr sz="2400" dirty="0">
                <a:latin typeface="Cambria"/>
                <a:cs typeface="Cambria"/>
              </a:rPr>
              <a:t>Pass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1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Perform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analysis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program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20" dirty="0">
                <a:latin typeface="Cambria"/>
                <a:cs typeface="Cambria"/>
              </a:rPr>
              <a:t> note </a:t>
            </a:r>
            <a:r>
              <a:rPr sz="2400" spc="-10" dirty="0">
                <a:latin typeface="Cambria"/>
                <a:cs typeface="Cambria"/>
              </a:rPr>
              <a:t>relevant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information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2590"/>
              </a:lnSpc>
              <a:spcBef>
                <a:spcPts val="1205"/>
              </a:spcBef>
              <a:tabLst>
                <a:tab pos="757555" algn="l"/>
                <a:tab pos="1076325" algn="l"/>
                <a:tab pos="1411605" algn="l"/>
                <a:tab pos="1656714" algn="l"/>
                <a:tab pos="2995295" algn="l"/>
                <a:tab pos="3941445" algn="l"/>
                <a:tab pos="4721860" algn="l"/>
                <a:tab pos="5592445" algn="l"/>
              </a:tabLst>
            </a:pPr>
            <a:r>
              <a:rPr sz="2400" spc="-20" dirty="0">
                <a:latin typeface="Cambria"/>
                <a:cs typeface="Cambria"/>
              </a:rPr>
              <a:t>Pass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–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2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Generate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target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code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using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information </a:t>
            </a:r>
            <a:r>
              <a:rPr sz="2400" dirty="0">
                <a:latin typeface="Cambria"/>
                <a:cs typeface="Cambria"/>
              </a:rPr>
              <a:t>noted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pass-</a:t>
            </a:r>
            <a:r>
              <a:rPr sz="2400" spc="-25" dirty="0">
                <a:latin typeface="Cambria"/>
                <a:cs typeface="Cambria"/>
              </a:rPr>
              <a:t>1.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75303" y="3957763"/>
            <a:ext cx="7932420" cy="2693035"/>
            <a:chOff x="3575303" y="3957763"/>
            <a:chExt cx="7932420" cy="2693035"/>
          </a:xfrm>
        </p:grpSpPr>
        <p:sp>
          <p:nvSpPr>
            <p:cNvPr id="6" name="object 6"/>
            <p:cNvSpPr/>
            <p:nvPr/>
          </p:nvSpPr>
          <p:spPr>
            <a:xfrm>
              <a:off x="3575291" y="3957764"/>
              <a:ext cx="7932420" cy="2693035"/>
            </a:xfrm>
            <a:custGeom>
              <a:avLst/>
              <a:gdLst/>
              <a:ahLst/>
              <a:cxnLst/>
              <a:rect l="l" t="t" r="r" b="b"/>
              <a:pathLst>
                <a:path w="7932420" h="2693034">
                  <a:moveTo>
                    <a:pt x="7932179" y="0"/>
                  </a:moveTo>
                  <a:lnTo>
                    <a:pt x="9436" y="0"/>
                  </a:lnTo>
                  <a:lnTo>
                    <a:pt x="0" y="76"/>
                  </a:lnTo>
                  <a:lnTo>
                    <a:pt x="0" y="2692412"/>
                  </a:lnTo>
                  <a:lnTo>
                    <a:pt x="9436" y="2692412"/>
                  </a:lnTo>
                  <a:lnTo>
                    <a:pt x="9436" y="9385"/>
                  </a:lnTo>
                  <a:lnTo>
                    <a:pt x="7932179" y="9385"/>
                  </a:lnTo>
                  <a:lnTo>
                    <a:pt x="793217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84727" y="3967187"/>
              <a:ext cx="7922895" cy="2683510"/>
            </a:xfrm>
            <a:custGeom>
              <a:avLst/>
              <a:gdLst/>
              <a:ahLst/>
              <a:cxnLst/>
              <a:rect l="l" t="t" r="r" b="b"/>
              <a:pathLst>
                <a:path w="7922895" h="2683509">
                  <a:moveTo>
                    <a:pt x="7922742" y="0"/>
                  </a:moveTo>
                  <a:lnTo>
                    <a:pt x="7913306" y="0"/>
                  </a:lnTo>
                  <a:lnTo>
                    <a:pt x="7913306" y="2673286"/>
                  </a:lnTo>
                  <a:lnTo>
                    <a:pt x="0" y="2673286"/>
                  </a:lnTo>
                  <a:lnTo>
                    <a:pt x="0" y="2682989"/>
                  </a:lnTo>
                  <a:lnTo>
                    <a:pt x="7913319" y="2682989"/>
                  </a:lnTo>
                  <a:lnTo>
                    <a:pt x="7922742" y="2682989"/>
                  </a:lnTo>
                  <a:lnTo>
                    <a:pt x="7922742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84727" y="3967187"/>
              <a:ext cx="7913370" cy="2673350"/>
            </a:xfrm>
            <a:custGeom>
              <a:avLst/>
              <a:gdLst/>
              <a:ahLst/>
              <a:cxnLst/>
              <a:rect l="l" t="t" r="r" b="b"/>
              <a:pathLst>
                <a:path w="7913370" h="2673350">
                  <a:moveTo>
                    <a:pt x="7913344" y="0"/>
                  </a:moveTo>
                  <a:lnTo>
                    <a:pt x="9766" y="0"/>
                  </a:lnTo>
                  <a:lnTo>
                    <a:pt x="0" y="50"/>
                  </a:lnTo>
                  <a:lnTo>
                    <a:pt x="0" y="2673286"/>
                  </a:lnTo>
                  <a:lnTo>
                    <a:pt x="9766" y="2673286"/>
                  </a:lnTo>
                  <a:lnTo>
                    <a:pt x="9766" y="9715"/>
                  </a:lnTo>
                  <a:lnTo>
                    <a:pt x="7913344" y="9715"/>
                  </a:lnTo>
                  <a:lnTo>
                    <a:pt x="7913344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689484" y="4391842"/>
            <a:ext cx="52387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spc="-20" dirty="0">
                <a:latin typeface="Arial MT"/>
                <a:cs typeface="Arial MT"/>
              </a:rPr>
              <a:t>LOOP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1317" y="5019817"/>
            <a:ext cx="9232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 MT"/>
                <a:cs typeface="Arial MT"/>
              </a:rPr>
              <a:t>GT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LOOP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01980" y="3973279"/>
            <a:ext cx="1836420" cy="14992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ts val="1664"/>
              </a:lnSpc>
              <a:spcBef>
                <a:spcPts val="125"/>
              </a:spcBef>
              <a:tabLst>
                <a:tab pos="845819" algn="l"/>
              </a:tabLst>
            </a:pPr>
            <a:r>
              <a:rPr sz="1400" spc="-10" dirty="0">
                <a:latin typeface="Arial MT"/>
                <a:cs typeface="Arial MT"/>
              </a:rPr>
              <a:t>START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25" dirty="0">
                <a:latin typeface="Arial MT"/>
                <a:cs typeface="Arial MT"/>
              </a:rPr>
              <a:t>100</a:t>
            </a:r>
            <a:endParaRPr sz="1400">
              <a:latin typeface="Arial MT"/>
              <a:cs typeface="Arial MT"/>
            </a:endParaRPr>
          </a:p>
          <a:p>
            <a:pPr>
              <a:lnSpc>
                <a:spcPts val="1650"/>
              </a:lnSpc>
              <a:tabLst>
                <a:tab pos="893444" algn="l"/>
              </a:tabLst>
            </a:pPr>
            <a:r>
              <a:rPr sz="1400" spc="-20" dirty="0">
                <a:latin typeface="Arial MT"/>
                <a:cs typeface="Arial MT"/>
              </a:rPr>
              <a:t>READ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  <a:p>
            <a:pPr marL="85725">
              <a:lnSpc>
                <a:spcPts val="1650"/>
              </a:lnSpc>
              <a:tabLst>
                <a:tab pos="941069" algn="l"/>
              </a:tabLst>
            </a:pPr>
            <a:r>
              <a:rPr sz="1400" spc="-10" dirty="0">
                <a:latin typeface="Arial MT"/>
                <a:cs typeface="Arial MT"/>
              </a:rPr>
              <a:t>MOVER</a:t>
            </a:r>
            <a:r>
              <a:rPr sz="1400" dirty="0">
                <a:latin typeface="Arial MT"/>
                <a:cs typeface="Arial MT"/>
              </a:rPr>
              <a:t>	AREG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38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  <a:p>
            <a:pPr marL="189865">
              <a:lnSpc>
                <a:spcPts val="1650"/>
              </a:lnSpc>
            </a:pPr>
            <a:r>
              <a:rPr sz="1400" spc="-10" dirty="0">
                <a:latin typeface="Arial MT"/>
                <a:cs typeface="Arial MT"/>
              </a:rPr>
              <a:t>........</a:t>
            </a:r>
            <a:endParaRPr sz="1400">
              <a:latin typeface="Arial MT"/>
              <a:cs typeface="Arial MT"/>
            </a:endParaRPr>
          </a:p>
          <a:p>
            <a:pPr marL="94615" marR="1231900" indent="94615">
              <a:lnSpc>
                <a:spcPts val="1650"/>
              </a:lnSpc>
              <a:spcBef>
                <a:spcPts val="65"/>
              </a:spcBef>
            </a:pPr>
            <a:r>
              <a:rPr sz="1400" spc="-10" dirty="0">
                <a:latin typeface="Arial MT"/>
                <a:cs typeface="Arial MT"/>
              </a:rPr>
              <a:t>........ </a:t>
            </a:r>
            <a:r>
              <a:rPr sz="1400" spc="-25" dirty="0">
                <a:latin typeface="Arial MT"/>
                <a:cs typeface="Arial MT"/>
              </a:rPr>
              <a:t>BC </a:t>
            </a:r>
            <a:r>
              <a:rPr sz="1400" spc="-20" dirty="0">
                <a:latin typeface="Arial MT"/>
                <a:cs typeface="Arial MT"/>
              </a:rPr>
              <a:t>STOP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9484" y="5647437"/>
            <a:ext cx="1339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56793" y="5647437"/>
            <a:ext cx="1143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81966" y="3973279"/>
            <a:ext cx="1701164" cy="19170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1925">
              <a:lnSpc>
                <a:spcPts val="1664"/>
              </a:lnSpc>
              <a:spcBef>
                <a:spcPts val="125"/>
              </a:spcBef>
              <a:tabLst>
                <a:tab pos="1075690" algn="l"/>
              </a:tabLst>
            </a:pPr>
            <a:r>
              <a:rPr sz="1400" spc="-10" dirty="0">
                <a:latin typeface="Arial MT"/>
                <a:cs typeface="Arial MT"/>
              </a:rPr>
              <a:t>(AD,01)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10" dirty="0">
                <a:latin typeface="Arial MT"/>
                <a:cs typeface="Arial MT"/>
              </a:rPr>
              <a:t>(C,200)</a:t>
            </a:r>
            <a:endParaRPr sz="1400">
              <a:latin typeface="Arial MT"/>
              <a:cs typeface="Arial MT"/>
            </a:endParaRPr>
          </a:p>
          <a:p>
            <a:pPr marL="161925">
              <a:lnSpc>
                <a:spcPts val="1650"/>
              </a:lnSpc>
              <a:tabLst>
                <a:tab pos="1046480" algn="l"/>
              </a:tabLst>
            </a:pPr>
            <a:r>
              <a:rPr sz="1400" spc="-10" dirty="0">
                <a:latin typeface="Arial MT"/>
                <a:cs typeface="Arial MT"/>
              </a:rPr>
              <a:t>(IS,09)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10" dirty="0">
                <a:latin typeface="Arial MT"/>
                <a:cs typeface="Arial MT"/>
              </a:rPr>
              <a:t>(S,01)</a:t>
            </a:r>
            <a:endParaRPr sz="1400">
              <a:latin typeface="Arial MT"/>
              <a:cs typeface="Arial MT"/>
            </a:endParaRPr>
          </a:p>
          <a:p>
            <a:pPr marL="257810">
              <a:lnSpc>
                <a:spcPts val="1650"/>
              </a:lnSpc>
            </a:pPr>
            <a:r>
              <a:rPr sz="1400" spc="-10" dirty="0">
                <a:latin typeface="Arial MT"/>
                <a:cs typeface="Arial MT"/>
              </a:rPr>
              <a:t>..............</a:t>
            </a:r>
            <a:endParaRPr sz="1400">
              <a:latin typeface="Arial MT"/>
              <a:cs typeface="Arial MT"/>
            </a:endParaRPr>
          </a:p>
          <a:p>
            <a:pPr>
              <a:lnSpc>
                <a:spcPts val="1650"/>
              </a:lnSpc>
            </a:pPr>
            <a:r>
              <a:rPr sz="1400" spc="-10" dirty="0">
                <a:latin typeface="Arial MT"/>
                <a:cs typeface="Arial MT"/>
              </a:rPr>
              <a:t>...............</a:t>
            </a:r>
            <a:endParaRPr sz="1400">
              <a:latin typeface="Arial MT"/>
              <a:cs typeface="Arial MT"/>
            </a:endParaRPr>
          </a:p>
          <a:p>
            <a:pPr>
              <a:lnSpc>
                <a:spcPts val="1650"/>
              </a:lnSpc>
            </a:pPr>
            <a:r>
              <a:rPr sz="1400" spc="-10" dirty="0">
                <a:latin typeface="Arial MT"/>
                <a:cs typeface="Arial MT"/>
              </a:rPr>
              <a:t>...............</a:t>
            </a:r>
            <a:endParaRPr sz="1400">
              <a:latin typeface="Arial MT"/>
              <a:cs typeface="Arial MT"/>
            </a:endParaRPr>
          </a:p>
          <a:p>
            <a:pPr marL="123825" marR="808355" indent="47625">
              <a:lnSpc>
                <a:spcPts val="1650"/>
              </a:lnSpc>
              <a:spcBef>
                <a:spcPts val="65"/>
              </a:spcBef>
            </a:pPr>
            <a:r>
              <a:rPr sz="1400" spc="-25" dirty="0">
                <a:latin typeface="Arial MT"/>
                <a:cs typeface="Arial MT"/>
              </a:rPr>
              <a:t>............... </a:t>
            </a:r>
            <a:r>
              <a:rPr sz="1400" dirty="0">
                <a:latin typeface="Arial MT"/>
                <a:cs typeface="Arial MT"/>
              </a:rPr>
              <a:t>(IS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00)</a:t>
            </a:r>
            <a:endParaRPr sz="1400">
              <a:latin typeface="Arial MT"/>
              <a:cs typeface="Arial MT"/>
            </a:endParaRPr>
          </a:p>
          <a:p>
            <a:pPr marL="198120">
              <a:lnSpc>
                <a:spcPct val="100000"/>
              </a:lnSpc>
              <a:spcBef>
                <a:spcPts val="1560"/>
              </a:spcBef>
              <a:tabLst>
                <a:tab pos="1091565" algn="l"/>
              </a:tabLst>
            </a:pPr>
            <a:r>
              <a:rPr sz="1400" spc="-10" dirty="0">
                <a:latin typeface="Arial MT"/>
                <a:cs typeface="Arial MT"/>
              </a:rPr>
              <a:t>(DL,02)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20" dirty="0">
                <a:latin typeface="Arial MT"/>
                <a:cs typeface="Arial MT"/>
              </a:rPr>
              <a:t>(C,1)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7775" y="5647437"/>
            <a:ext cx="507365" cy="452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ts val="1664"/>
              </a:lnSpc>
              <a:spcBef>
                <a:spcPts val="125"/>
              </a:spcBef>
            </a:pPr>
            <a:r>
              <a:rPr sz="1400" spc="-25" dirty="0">
                <a:latin typeface="Arial MT"/>
                <a:cs typeface="Arial MT"/>
              </a:rPr>
              <a:t>DS</a:t>
            </a:r>
            <a:endParaRPr sz="1400">
              <a:latin typeface="Arial MT"/>
              <a:cs typeface="Arial MT"/>
            </a:endParaRPr>
          </a:p>
          <a:p>
            <a:pPr marL="161290">
              <a:lnSpc>
                <a:spcPts val="1664"/>
              </a:lnSpc>
            </a:pPr>
            <a:r>
              <a:rPr sz="1400" spc="-10" dirty="0">
                <a:latin typeface="Arial MT"/>
                <a:cs typeface="Arial MT"/>
              </a:rPr>
              <a:t>.......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3084957"/>
            <a:ext cx="2607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Pass</a:t>
            </a:r>
            <a:r>
              <a:rPr spc="-100" dirty="0"/>
              <a:t> </a:t>
            </a:r>
            <a:r>
              <a:rPr spc="-145" dirty="0"/>
              <a:t>Vs</a:t>
            </a:r>
            <a:r>
              <a:rPr spc="-120" dirty="0"/>
              <a:t> </a:t>
            </a:r>
            <a:r>
              <a:rPr spc="-25" dirty="0"/>
              <a:t>Phase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59200" y="746633"/>
          <a:ext cx="7404100" cy="2759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Pass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Phase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Various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phases</a:t>
                      </a:r>
                      <a:r>
                        <a:rPr sz="18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are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logically</a:t>
                      </a:r>
                      <a:r>
                        <a:rPr sz="1800" spc="-5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grouped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together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to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form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pass.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process</a:t>
                      </a:r>
                      <a:r>
                        <a:rPr sz="18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compilation</a:t>
                      </a:r>
                      <a:r>
                        <a:rPr sz="18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carried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out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in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various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step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called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Phase.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Require</a:t>
                      </a:r>
                      <a:r>
                        <a:rPr sz="1800" spc="-7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Less</a:t>
                      </a:r>
                      <a:r>
                        <a:rPr sz="1800" spc="-5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Memory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Require</a:t>
                      </a:r>
                      <a:r>
                        <a:rPr sz="1800" spc="-6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More</a:t>
                      </a:r>
                      <a:r>
                        <a:rPr sz="18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Memory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Execution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faster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Execution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is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slower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Less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memory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operation(read/write)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to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be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performed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More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memory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operations</a:t>
                      </a:r>
                      <a:r>
                        <a:rPr sz="18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to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be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performed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2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Passes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800" spc="-7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Compiler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6</a:t>
                      </a:r>
                      <a:r>
                        <a:rPr sz="18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Phases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800" spc="-9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Compiler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pc="-80" dirty="0"/>
              <a:t>Types</a:t>
            </a:r>
            <a:r>
              <a:rPr spc="-110" dirty="0"/>
              <a:t> </a:t>
            </a:r>
            <a:r>
              <a:rPr spc="-25" dirty="0"/>
              <a:t>of </a:t>
            </a:r>
            <a:r>
              <a:rPr spc="-65" dirty="0"/>
              <a:t>Compiler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8778" y="959358"/>
            <a:ext cx="3260090" cy="115062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611505">
              <a:lnSpc>
                <a:spcPct val="100000"/>
              </a:lnSpc>
            </a:pP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Native</a:t>
            </a:r>
            <a:r>
              <a:rPr sz="2400" spc="-9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66126" y="959358"/>
            <a:ext cx="3260090" cy="115062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683895">
              <a:lnSpc>
                <a:spcPct val="100000"/>
              </a:lnSpc>
            </a:pP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Cross</a:t>
            </a:r>
            <a:r>
              <a:rPr sz="24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8778" y="2850642"/>
            <a:ext cx="3260090" cy="114935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189230" rIns="0" bIns="0" rtlCol="0">
            <a:spAutoFit/>
          </a:bodyPr>
          <a:lstStyle/>
          <a:p>
            <a:pPr marL="1053465" marR="558165" indent="-490855">
              <a:lnSpc>
                <a:spcPct val="100000"/>
              </a:lnSpc>
              <a:spcBef>
                <a:spcPts val="1490"/>
              </a:spcBef>
            </a:pP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Source</a:t>
            </a:r>
            <a:r>
              <a:rPr sz="24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24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Source Compiler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66126" y="2850642"/>
            <a:ext cx="3260090" cy="114935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endParaRPr sz="2400">
              <a:latin typeface="Times New Roman"/>
              <a:cs typeface="Times New Roman"/>
            </a:endParaRPr>
          </a:p>
          <a:p>
            <a:pPr marL="29083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Corbel"/>
                <a:cs typeface="Corbel"/>
              </a:rPr>
              <a:t>Just</a:t>
            </a:r>
            <a:r>
              <a:rPr sz="24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sz="2400" spc="-1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Time</a:t>
            </a:r>
            <a:r>
              <a:rPr sz="2400" spc="-1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8778" y="4630673"/>
            <a:ext cx="3260090" cy="114935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271780">
              <a:lnSpc>
                <a:spcPct val="100000"/>
              </a:lnSpc>
            </a:pP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Incremental</a:t>
            </a:r>
            <a:r>
              <a:rPr sz="24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66126" y="4630673"/>
            <a:ext cx="3260090" cy="1149350"/>
          </a:xfrm>
          <a:prstGeom prst="rect">
            <a:avLst/>
          </a:prstGeom>
          <a:solidFill>
            <a:srgbClr val="40B9D2"/>
          </a:solidFill>
          <a:ln w="10667">
            <a:solidFill>
              <a:srgbClr val="2C879A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259079">
              <a:lnSpc>
                <a:spcPct val="100000"/>
              </a:lnSpc>
            </a:pP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Parallelizing</a:t>
            </a:r>
            <a:r>
              <a:rPr sz="24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Compiler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51784"/>
            <a:ext cx="1769110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Types</a:t>
            </a:r>
            <a:r>
              <a:rPr sz="3600" spc="-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8429" y="853185"/>
            <a:ext cx="2419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mbria"/>
                <a:cs typeface="Cambria"/>
              </a:rPr>
              <a:t>Native</a:t>
            </a:r>
            <a:r>
              <a:rPr sz="2400" b="1" spc="-10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Compiler</a:t>
            </a:r>
            <a:r>
              <a:rPr sz="2400" b="1" spc="-9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48429" y="1334465"/>
            <a:ext cx="71596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9790" algn="l"/>
                <a:tab pos="2188845" algn="l"/>
                <a:tab pos="2972435" algn="l"/>
                <a:tab pos="3401060" algn="l"/>
                <a:tab pos="4639945" algn="l"/>
                <a:tab pos="4953635" algn="l"/>
                <a:tab pos="5986145" algn="l"/>
                <a:tab pos="6767830" algn="l"/>
              </a:tabLst>
            </a:pPr>
            <a:r>
              <a:rPr sz="2400" spc="-1250" dirty="0">
                <a:solidFill>
                  <a:srgbClr val="000000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The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compiler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0" dirty="0">
                <a:solidFill>
                  <a:srgbClr val="000000"/>
                </a:solidFill>
              </a:rPr>
              <a:t>used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5" dirty="0">
                <a:solidFill>
                  <a:srgbClr val="000000"/>
                </a:solidFill>
              </a:rPr>
              <a:t>to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Compile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50" dirty="0">
                <a:solidFill>
                  <a:srgbClr val="000000"/>
                </a:solidFill>
              </a:rPr>
              <a:t>a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source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0" dirty="0">
                <a:solidFill>
                  <a:srgbClr val="000000"/>
                </a:solidFill>
              </a:rPr>
              <a:t>code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5" dirty="0">
                <a:solidFill>
                  <a:srgbClr val="000000"/>
                </a:solidFill>
              </a:rPr>
              <a:t>for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8429" y="1548510"/>
            <a:ext cx="7158990" cy="40805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95580" algn="just">
              <a:lnSpc>
                <a:spcPct val="100000"/>
              </a:lnSpc>
              <a:spcBef>
                <a:spcPts val="1010"/>
              </a:spcBef>
            </a:pPr>
            <a:r>
              <a:rPr sz="2400" b="1" dirty="0">
                <a:latin typeface="Cambria"/>
                <a:cs typeface="Cambria"/>
              </a:rPr>
              <a:t>same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type</a:t>
            </a:r>
            <a:r>
              <a:rPr sz="2400" b="1" spc="-6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of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platform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only.</a:t>
            </a:r>
            <a:endParaRPr sz="2400">
              <a:latin typeface="Cambria"/>
              <a:cs typeface="Cambria"/>
            </a:endParaRPr>
          </a:p>
          <a:p>
            <a:pPr marL="195580" marR="5715" indent="-182880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output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generated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by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this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type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spc="-80" dirty="0">
                <a:latin typeface="Cambria"/>
                <a:cs typeface="Cambria"/>
              </a:rPr>
              <a:t>can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only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be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ru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n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same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type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 </a:t>
            </a:r>
            <a:r>
              <a:rPr sz="2400" spc="-15" dirty="0">
                <a:latin typeface="Cambria"/>
                <a:cs typeface="Cambria"/>
              </a:rPr>
              <a:t>computer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system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and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that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itself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runs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on.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880"/>
              </a:spcBef>
            </a:pPr>
            <a:r>
              <a:rPr sz="2400" b="1" dirty="0">
                <a:latin typeface="Cambria"/>
                <a:cs typeface="Cambria"/>
              </a:rPr>
              <a:t>Cross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Compiler</a:t>
            </a:r>
            <a:r>
              <a:rPr sz="2400" b="1" spc="-85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ts val="2735"/>
              </a:lnSpc>
              <a:spcBef>
                <a:spcPts val="9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0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1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compile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12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120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for</a:t>
            </a:r>
            <a:endParaRPr sz="2400">
              <a:latin typeface="Cambria"/>
              <a:cs typeface="Cambria"/>
            </a:endParaRPr>
          </a:p>
          <a:p>
            <a:pPr marL="195580" algn="just">
              <a:lnSpc>
                <a:spcPts val="2735"/>
              </a:lnSpc>
            </a:pPr>
            <a:r>
              <a:rPr sz="2400" b="1" dirty="0">
                <a:latin typeface="Cambria"/>
                <a:cs typeface="Cambria"/>
              </a:rPr>
              <a:t>different</a:t>
            </a:r>
            <a:r>
              <a:rPr sz="2400" b="1" spc="-9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kinds</a:t>
            </a:r>
            <a:r>
              <a:rPr sz="2400" b="1" spc="-10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platform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195580" marR="5715" indent="-182880" algn="just">
              <a:lnSpc>
                <a:spcPts val="2590"/>
              </a:lnSpc>
              <a:spcBef>
                <a:spcPts val="124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Cross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484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capable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</a:t>
            </a:r>
            <a:r>
              <a:rPr sz="2400" dirty="0">
                <a:latin typeface="Cambria"/>
                <a:cs typeface="Cambria"/>
              </a:rPr>
              <a:t>f</a:t>
            </a:r>
            <a:r>
              <a:rPr sz="2400" spc="49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creating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executable</a:t>
            </a:r>
            <a:r>
              <a:rPr sz="2400" spc="6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code</a:t>
            </a:r>
            <a:r>
              <a:rPr sz="2400" spc="6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f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6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</a:t>
            </a:r>
            <a:r>
              <a:rPr sz="2400" spc="6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platform</a:t>
            </a:r>
            <a:r>
              <a:rPr sz="2400" spc="61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other</a:t>
            </a:r>
            <a:r>
              <a:rPr sz="2400" spc="6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than</a:t>
            </a:r>
            <a:r>
              <a:rPr sz="2400" spc="62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one</a:t>
            </a:r>
            <a:r>
              <a:rPr sz="2400" spc="6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on </a:t>
            </a:r>
            <a:r>
              <a:rPr sz="2400" spc="-10" dirty="0">
                <a:latin typeface="Cambria"/>
                <a:cs typeface="Cambria"/>
              </a:rPr>
              <a:t>which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running.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51784"/>
            <a:ext cx="1769110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Types</a:t>
            </a:r>
            <a:r>
              <a:rPr sz="3600" spc="-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8429" y="853185"/>
            <a:ext cx="3858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Source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to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Source</a:t>
            </a:r>
            <a:r>
              <a:rPr sz="2400" b="1" spc="-7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Compiler</a:t>
            </a:r>
            <a:r>
              <a:rPr sz="2400" b="1" spc="-9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48429" y="1334465"/>
            <a:ext cx="7158355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5580" marR="5080" indent="-182880" algn="just">
              <a:lnSpc>
                <a:spcPct val="90100"/>
              </a:lnSpc>
              <a:spcBef>
                <a:spcPts val="385"/>
              </a:spcBef>
            </a:pPr>
            <a:r>
              <a:rPr sz="2400" spc="-1250" dirty="0">
                <a:solidFill>
                  <a:srgbClr val="000000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The</a:t>
            </a:r>
            <a:r>
              <a:rPr sz="2400" spc="29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compiler</a:t>
            </a:r>
            <a:r>
              <a:rPr sz="2400" spc="280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that</a:t>
            </a:r>
            <a:r>
              <a:rPr sz="2400" spc="290" dirty="0">
                <a:solidFill>
                  <a:srgbClr val="000000"/>
                </a:solidFill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takes</a:t>
            </a:r>
            <a:r>
              <a:rPr sz="2400" spc="30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high-</a:t>
            </a:r>
            <a:r>
              <a:rPr sz="2400" spc="-30" dirty="0">
                <a:solidFill>
                  <a:srgbClr val="000000"/>
                </a:solidFill>
              </a:rPr>
              <a:t>level</a:t>
            </a:r>
            <a:r>
              <a:rPr sz="2400" spc="29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language</a:t>
            </a:r>
            <a:r>
              <a:rPr sz="2400" spc="285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code</a:t>
            </a:r>
            <a:r>
              <a:rPr sz="2400" spc="300" dirty="0">
                <a:solidFill>
                  <a:srgbClr val="000000"/>
                </a:solidFill>
              </a:rPr>
              <a:t> </a:t>
            </a:r>
            <a:r>
              <a:rPr sz="2400" spc="-100" dirty="0">
                <a:solidFill>
                  <a:srgbClr val="000000"/>
                </a:solidFill>
              </a:rPr>
              <a:t>as</a:t>
            </a:r>
            <a:r>
              <a:rPr sz="2400" spc="-10" dirty="0">
                <a:solidFill>
                  <a:srgbClr val="000000"/>
                </a:solidFill>
              </a:rPr>
              <a:t> input</a:t>
            </a:r>
            <a:r>
              <a:rPr sz="2400" spc="185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and</a:t>
            </a:r>
            <a:r>
              <a:rPr sz="2400" spc="180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outputs</a:t>
            </a:r>
            <a:r>
              <a:rPr sz="2400" spc="180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source</a:t>
            </a:r>
            <a:r>
              <a:rPr sz="2400" spc="185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code</a:t>
            </a:r>
            <a:r>
              <a:rPr sz="2400" spc="18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</a:t>
            </a:r>
            <a:r>
              <a:rPr sz="2400" dirty="0">
                <a:solidFill>
                  <a:srgbClr val="000000"/>
                </a:solidFill>
              </a:rPr>
              <a:t>f</a:t>
            </a:r>
            <a:r>
              <a:rPr sz="2400" spc="180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another</a:t>
            </a:r>
            <a:r>
              <a:rPr sz="2400" spc="170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high-</a:t>
            </a:r>
            <a:r>
              <a:rPr sz="2400" spc="170" dirty="0">
                <a:solidFill>
                  <a:srgbClr val="000000"/>
                </a:solidFill>
              </a:rPr>
              <a:t> </a:t>
            </a:r>
            <a:r>
              <a:rPr sz="2400" spc="-30" dirty="0">
                <a:solidFill>
                  <a:srgbClr val="000000"/>
                </a:solidFill>
              </a:rPr>
              <a:t>level</a:t>
            </a:r>
            <a:r>
              <a:rPr sz="2400" spc="-15" dirty="0">
                <a:solidFill>
                  <a:srgbClr val="000000"/>
                </a:solidFill>
              </a:rPr>
              <a:t> language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sz="2400" spc="-55" dirty="0">
                <a:solidFill>
                  <a:srgbClr val="000000"/>
                </a:solidFill>
              </a:rPr>
              <a:t>only.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5580" marR="5080" indent="-182880" algn="just">
              <a:lnSpc>
                <a:spcPct val="90000"/>
              </a:lnSpc>
              <a:spcBef>
                <a:spcPts val="385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-95" dirty="0">
                <a:latin typeface="Arial MT"/>
                <a:cs typeface="Arial MT"/>
              </a:rPr>
              <a:t> </a:t>
            </a:r>
            <a:r>
              <a:rPr spc="-15" dirty="0"/>
              <a:t>Unlike</a:t>
            </a:r>
            <a:r>
              <a:rPr spc="985" dirty="0"/>
              <a:t> </a:t>
            </a:r>
            <a:r>
              <a:rPr spc="-10" dirty="0"/>
              <a:t>other</a:t>
            </a:r>
            <a:r>
              <a:rPr spc="980" dirty="0"/>
              <a:t> </a:t>
            </a:r>
            <a:r>
              <a:rPr spc="-15" dirty="0"/>
              <a:t>compilers</a:t>
            </a:r>
            <a:r>
              <a:rPr spc="990" dirty="0"/>
              <a:t> </a:t>
            </a:r>
            <a:r>
              <a:rPr spc="-20" dirty="0"/>
              <a:t>which</a:t>
            </a:r>
            <a:r>
              <a:rPr spc="965" dirty="0"/>
              <a:t> </a:t>
            </a:r>
            <a:r>
              <a:rPr spc="-25" dirty="0"/>
              <a:t>convert</a:t>
            </a:r>
            <a:r>
              <a:rPr spc="1005" dirty="0"/>
              <a:t> </a:t>
            </a:r>
            <a:r>
              <a:rPr spc="-20" dirty="0"/>
              <a:t>high</a:t>
            </a:r>
            <a:r>
              <a:rPr spc="985" dirty="0"/>
              <a:t> </a:t>
            </a:r>
            <a:r>
              <a:rPr spc="-60" dirty="0"/>
              <a:t>level</a:t>
            </a:r>
            <a:r>
              <a:rPr spc="-15" dirty="0"/>
              <a:t> language</a:t>
            </a:r>
            <a:r>
              <a:rPr spc="85" dirty="0"/>
              <a:t> </a:t>
            </a:r>
            <a:r>
              <a:rPr spc="-10" dirty="0"/>
              <a:t>in</a:t>
            </a:r>
            <a:r>
              <a:rPr spc="-25" dirty="0"/>
              <a:t>t</a:t>
            </a:r>
            <a:r>
              <a:rPr dirty="0"/>
              <a:t>o</a:t>
            </a:r>
            <a:r>
              <a:rPr spc="90" dirty="0"/>
              <a:t> </a:t>
            </a:r>
            <a:r>
              <a:rPr spc="-15" dirty="0"/>
              <a:t>low</a:t>
            </a:r>
            <a:r>
              <a:rPr spc="90" dirty="0"/>
              <a:t> </a:t>
            </a:r>
            <a:r>
              <a:rPr spc="-30" dirty="0"/>
              <a:t>level</a:t>
            </a:r>
            <a:r>
              <a:rPr spc="105" dirty="0"/>
              <a:t> </a:t>
            </a:r>
            <a:r>
              <a:rPr spc="-10" dirty="0"/>
              <a:t>machine</a:t>
            </a:r>
            <a:r>
              <a:rPr spc="90" dirty="0"/>
              <a:t> </a:t>
            </a:r>
            <a:r>
              <a:rPr spc="-5" dirty="0"/>
              <a:t>l</a:t>
            </a:r>
            <a:r>
              <a:rPr spc="-15" dirty="0"/>
              <a:t>a</a:t>
            </a:r>
            <a:r>
              <a:rPr spc="-5" dirty="0"/>
              <a:t>nguage</a:t>
            </a:r>
            <a:r>
              <a:rPr dirty="0"/>
              <a:t>,</a:t>
            </a:r>
            <a:r>
              <a:rPr spc="90" dirty="0"/>
              <a:t> </a:t>
            </a:r>
            <a:r>
              <a:rPr dirty="0"/>
              <a:t>it</a:t>
            </a:r>
            <a:r>
              <a:rPr spc="95" dirty="0"/>
              <a:t> </a:t>
            </a:r>
            <a:r>
              <a:rPr spc="-20" dirty="0"/>
              <a:t>can</a:t>
            </a:r>
            <a:r>
              <a:rPr spc="95" dirty="0"/>
              <a:t> </a:t>
            </a:r>
            <a:r>
              <a:rPr spc="-25" dirty="0"/>
              <a:t>take</a:t>
            </a:r>
            <a:r>
              <a:rPr spc="-10" dirty="0"/>
              <a:t> </a:t>
            </a:r>
            <a:r>
              <a:rPr spc="-20" dirty="0"/>
              <a:t>up</a:t>
            </a:r>
            <a:r>
              <a:rPr spc="140" dirty="0"/>
              <a:t> </a:t>
            </a:r>
            <a:r>
              <a:rPr spc="-15" dirty="0"/>
              <a:t>a</a:t>
            </a:r>
            <a:r>
              <a:rPr spc="155" dirty="0"/>
              <a:t> </a:t>
            </a:r>
            <a:r>
              <a:rPr spc="-15" dirty="0"/>
              <a:t>code</a:t>
            </a:r>
            <a:r>
              <a:rPr spc="170" dirty="0"/>
              <a:t> </a:t>
            </a:r>
            <a:r>
              <a:rPr spc="-10" dirty="0"/>
              <a:t>written</a:t>
            </a:r>
            <a:r>
              <a:rPr spc="140" dirty="0"/>
              <a:t> </a:t>
            </a:r>
            <a:r>
              <a:rPr dirty="0"/>
              <a:t>in</a:t>
            </a:r>
            <a:r>
              <a:rPr spc="135" dirty="0"/>
              <a:t> </a:t>
            </a:r>
            <a:r>
              <a:rPr spc="-20" dirty="0"/>
              <a:t>Pascal</a:t>
            </a:r>
            <a:r>
              <a:rPr spc="150" dirty="0"/>
              <a:t> </a:t>
            </a:r>
            <a:r>
              <a:rPr spc="-10" dirty="0"/>
              <a:t>and</a:t>
            </a:r>
            <a:r>
              <a:rPr spc="150" dirty="0"/>
              <a:t> </a:t>
            </a:r>
            <a:r>
              <a:rPr spc="-20" dirty="0"/>
              <a:t>can</a:t>
            </a:r>
            <a:r>
              <a:rPr spc="150" dirty="0"/>
              <a:t> </a:t>
            </a:r>
            <a:r>
              <a:rPr spc="-15" dirty="0"/>
              <a:t>transform</a:t>
            </a:r>
            <a:r>
              <a:rPr spc="140" dirty="0"/>
              <a:t> </a:t>
            </a:r>
            <a:r>
              <a:rPr dirty="0"/>
              <a:t>it</a:t>
            </a:r>
            <a:r>
              <a:rPr spc="135" dirty="0"/>
              <a:t> </a:t>
            </a:r>
            <a:r>
              <a:rPr spc="-15" dirty="0"/>
              <a:t>into</a:t>
            </a:r>
            <a:r>
              <a:rPr spc="-10" dirty="0"/>
              <a:t> </a:t>
            </a:r>
            <a:r>
              <a:rPr spc="-5" dirty="0"/>
              <a:t>C-</a:t>
            </a:r>
            <a:r>
              <a:rPr spc="-20" dirty="0"/>
              <a:t>conversion</a:t>
            </a:r>
            <a:r>
              <a:rPr spc="17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170" dirty="0"/>
              <a:t> </a:t>
            </a:r>
            <a:r>
              <a:rPr spc="-10" dirty="0"/>
              <a:t>one</a:t>
            </a:r>
            <a:r>
              <a:rPr spc="170" dirty="0"/>
              <a:t> </a:t>
            </a:r>
            <a:r>
              <a:rPr spc="-15" dirty="0"/>
              <a:t>high</a:t>
            </a:r>
            <a:r>
              <a:rPr spc="165" dirty="0"/>
              <a:t> </a:t>
            </a:r>
            <a:r>
              <a:rPr spc="-30" dirty="0"/>
              <a:t>level</a:t>
            </a:r>
            <a:r>
              <a:rPr spc="165" dirty="0"/>
              <a:t> </a:t>
            </a:r>
            <a:r>
              <a:rPr spc="-15" dirty="0"/>
              <a:t>language</a:t>
            </a:r>
            <a:r>
              <a:rPr spc="170" dirty="0"/>
              <a:t> </a:t>
            </a:r>
            <a:r>
              <a:rPr spc="-15" dirty="0"/>
              <a:t>into</a:t>
            </a:r>
            <a:r>
              <a:rPr spc="155" dirty="0"/>
              <a:t> </a:t>
            </a:r>
            <a:r>
              <a:rPr spc="-15" dirty="0"/>
              <a:t>another</a:t>
            </a:r>
            <a:r>
              <a:rPr dirty="0"/>
              <a:t> </a:t>
            </a:r>
            <a:r>
              <a:rPr spc="-10" dirty="0"/>
              <a:t>high</a:t>
            </a:r>
            <a:r>
              <a:rPr spc="-20" dirty="0"/>
              <a:t> </a:t>
            </a:r>
            <a:r>
              <a:rPr spc="-25" dirty="0"/>
              <a:t>level</a:t>
            </a:r>
            <a:r>
              <a:rPr spc="-10" dirty="0"/>
              <a:t> </a:t>
            </a:r>
            <a:r>
              <a:rPr spc="-15" dirty="0"/>
              <a:t>language</a:t>
            </a:r>
            <a:r>
              <a:rPr spc="5" dirty="0"/>
              <a:t> </a:t>
            </a:r>
            <a:r>
              <a:rPr spc="-20" dirty="0"/>
              <a:t>having</a:t>
            </a:r>
            <a:r>
              <a:rPr spc="-5" dirty="0"/>
              <a:t> </a:t>
            </a:r>
            <a:r>
              <a:rPr spc="-15" dirty="0"/>
              <a:t>same</a:t>
            </a:r>
            <a:r>
              <a:rPr dirty="0"/>
              <a:t> </a:t>
            </a:r>
            <a:r>
              <a:rPr spc="-15" dirty="0"/>
              <a:t>type</a:t>
            </a:r>
            <a:r>
              <a:rPr dirty="0"/>
              <a:t> </a:t>
            </a:r>
            <a:r>
              <a:rPr spc="-5" dirty="0"/>
              <a:t>o</a:t>
            </a:r>
            <a:r>
              <a:rPr dirty="0"/>
              <a:t>f </a:t>
            </a:r>
            <a:r>
              <a:rPr spc="-15" dirty="0"/>
              <a:t>abstraction</a:t>
            </a:r>
            <a:r>
              <a:rPr spc="-20" dirty="0"/>
              <a:t> </a:t>
            </a:r>
            <a:r>
              <a:rPr dirty="0"/>
              <a:t>.</a:t>
            </a:r>
          </a:p>
          <a:p>
            <a:pPr marL="12700" algn="just">
              <a:lnSpc>
                <a:spcPct val="100000"/>
              </a:lnSpc>
              <a:spcBef>
                <a:spcPts val="915"/>
              </a:spcBef>
            </a:pPr>
            <a:r>
              <a:rPr spc="-1250" dirty="0">
                <a:latin typeface="Arial MT"/>
                <a:cs typeface="Arial MT"/>
              </a:rPr>
              <a:t>🞄</a:t>
            </a:r>
            <a:r>
              <a:rPr spc="-95" dirty="0">
                <a:latin typeface="Arial MT"/>
                <a:cs typeface="Arial MT"/>
              </a:rPr>
              <a:t> </a:t>
            </a:r>
            <a:r>
              <a:rPr dirty="0"/>
              <a:t>Thus,</a:t>
            </a:r>
            <a:r>
              <a:rPr spc="-75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also</a:t>
            </a:r>
            <a:r>
              <a:rPr spc="-30" dirty="0"/>
              <a:t> </a:t>
            </a:r>
            <a:r>
              <a:rPr dirty="0"/>
              <a:t>known</a:t>
            </a:r>
            <a:r>
              <a:rPr spc="-35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spc="-10" dirty="0"/>
              <a:t>transpiler</a:t>
            </a:r>
            <a:r>
              <a:rPr spc="-65" dirty="0"/>
              <a:t> </a:t>
            </a:r>
            <a:r>
              <a:rPr spc="-50" dirty="0"/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51784"/>
            <a:ext cx="1769110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Types</a:t>
            </a:r>
            <a:r>
              <a:rPr sz="3600" spc="-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8429" y="853185"/>
            <a:ext cx="3209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Just</a:t>
            </a:r>
            <a:r>
              <a:rPr sz="2400" b="1" spc="-4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in</a:t>
            </a:r>
            <a:r>
              <a:rPr sz="2400" b="1" spc="-4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Time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Compiler</a:t>
            </a:r>
            <a:r>
              <a:rPr sz="2400" b="1" spc="-4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48429" y="1334465"/>
            <a:ext cx="7158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025" algn="l"/>
                <a:tab pos="2139950" algn="l"/>
                <a:tab pos="3069590" algn="l"/>
                <a:tab pos="4330700" algn="l"/>
                <a:tab pos="4621530" algn="l"/>
                <a:tab pos="5375910" algn="l"/>
                <a:tab pos="6036310" algn="l"/>
              </a:tabLst>
            </a:pPr>
            <a:r>
              <a:rPr sz="2400" spc="-1250" dirty="0">
                <a:solidFill>
                  <a:srgbClr val="000000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The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compiler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which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converts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50" dirty="0">
                <a:solidFill>
                  <a:srgbClr val="000000"/>
                </a:solidFill>
              </a:rPr>
              <a:t>a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0" dirty="0">
                <a:solidFill>
                  <a:srgbClr val="000000"/>
                </a:solidFill>
              </a:rPr>
              <a:t>code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0" dirty="0">
                <a:solidFill>
                  <a:srgbClr val="000000"/>
                </a:solidFill>
              </a:rPr>
              <a:t>into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machine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8429" y="1548510"/>
            <a:ext cx="5391150" cy="98869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Cambria"/>
                <a:cs typeface="Cambria"/>
              </a:rPr>
              <a:t>code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after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program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starts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execution.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Convert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.java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file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.class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file.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8585" y="2899419"/>
            <a:ext cx="5125050" cy="33390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51784"/>
            <a:ext cx="1769110" cy="10541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</a:pPr>
            <a:r>
              <a:rPr sz="3600" spc="-80" dirty="0">
                <a:solidFill>
                  <a:srgbClr val="FFFFFF"/>
                </a:solidFill>
                <a:latin typeface="Cambria"/>
                <a:cs typeface="Cambria"/>
              </a:rPr>
              <a:t>Types</a:t>
            </a:r>
            <a:r>
              <a:rPr sz="3600" spc="-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8429" y="853185"/>
            <a:ext cx="3253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mbria"/>
                <a:cs typeface="Cambria"/>
              </a:rPr>
              <a:t>Incremental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Compiler</a:t>
            </a:r>
            <a:r>
              <a:rPr sz="2400" b="1" spc="-85" dirty="0">
                <a:latin typeface="Cambria"/>
                <a:cs typeface="Cambria"/>
              </a:rPr>
              <a:t> </a:t>
            </a:r>
            <a:r>
              <a:rPr sz="2400" b="1" spc="-6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48429" y="1334465"/>
            <a:ext cx="71589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50" dirty="0">
                <a:solidFill>
                  <a:srgbClr val="000000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The</a:t>
            </a:r>
            <a:r>
              <a:rPr sz="2400" spc="8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compiler</a:t>
            </a:r>
            <a:r>
              <a:rPr sz="2400" spc="12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which</a:t>
            </a:r>
            <a:r>
              <a:rPr sz="2400" spc="12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compiles</a:t>
            </a:r>
            <a:r>
              <a:rPr sz="2400" spc="13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only</a:t>
            </a:r>
            <a:r>
              <a:rPr sz="2400" spc="15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the</a:t>
            </a:r>
            <a:r>
              <a:rPr sz="2400" spc="13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changed</a:t>
            </a:r>
            <a:r>
              <a:rPr sz="2400" spc="14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lines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8429" y="1548510"/>
            <a:ext cx="6566534" cy="98869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Cambria"/>
                <a:cs typeface="Cambria"/>
              </a:rPr>
              <a:t>from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source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update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object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code.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b="1" spc="-10" dirty="0">
                <a:latin typeface="Cambria"/>
                <a:cs typeface="Cambria"/>
              </a:rPr>
              <a:t>Parallelizing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Compiler</a:t>
            </a:r>
            <a:r>
              <a:rPr sz="2400" b="1" spc="-45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8429" y="2627198"/>
            <a:ext cx="71577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4195" algn="l"/>
                <a:tab pos="1901189" algn="l"/>
                <a:tab pos="2847340" algn="l"/>
                <a:tab pos="3221990" algn="l"/>
                <a:tab pos="4511675" algn="l"/>
                <a:tab pos="5847080" algn="l"/>
                <a:tab pos="6266180" algn="l"/>
                <a:tab pos="6887845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Compiler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which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specially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designed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run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31309" y="2956940"/>
            <a:ext cx="697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3025" algn="l"/>
                <a:tab pos="2950845" algn="l"/>
                <a:tab pos="4879340" algn="l"/>
                <a:tab pos="5440045" algn="l"/>
                <a:tab pos="6680834" algn="l"/>
              </a:tabLst>
            </a:pPr>
            <a:r>
              <a:rPr sz="2400" spc="-10" dirty="0">
                <a:latin typeface="Cambria"/>
                <a:cs typeface="Cambria"/>
              </a:rPr>
              <a:t>parallel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computer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architecture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known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1309" y="3286125"/>
            <a:ext cx="2898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parallelizing</a:t>
            </a:r>
            <a:r>
              <a:rPr sz="2400" spc="-1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compiler.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82796" y="4256498"/>
            <a:ext cx="7089140" cy="2131060"/>
            <a:chOff x="4082796" y="4256498"/>
            <a:chExt cx="7089140" cy="2131060"/>
          </a:xfrm>
        </p:grpSpPr>
        <p:sp>
          <p:nvSpPr>
            <p:cNvPr id="10" name="object 10"/>
            <p:cNvSpPr/>
            <p:nvPr/>
          </p:nvSpPr>
          <p:spPr>
            <a:xfrm>
              <a:off x="4082796" y="4256506"/>
              <a:ext cx="7089140" cy="2131060"/>
            </a:xfrm>
            <a:custGeom>
              <a:avLst/>
              <a:gdLst/>
              <a:ahLst/>
              <a:cxnLst/>
              <a:rect l="l" t="t" r="r" b="b"/>
              <a:pathLst>
                <a:path w="7089140" h="2131060">
                  <a:moveTo>
                    <a:pt x="7088784" y="63"/>
                  </a:moveTo>
                  <a:lnTo>
                    <a:pt x="9423" y="63"/>
                  </a:lnTo>
                  <a:lnTo>
                    <a:pt x="0" y="0"/>
                  </a:lnTo>
                  <a:lnTo>
                    <a:pt x="0" y="2131009"/>
                  </a:lnTo>
                  <a:lnTo>
                    <a:pt x="9423" y="2131009"/>
                  </a:lnTo>
                  <a:lnTo>
                    <a:pt x="9423" y="9461"/>
                  </a:lnTo>
                  <a:lnTo>
                    <a:pt x="7088784" y="9461"/>
                  </a:lnTo>
                  <a:lnTo>
                    <a:pt x="7088784" y="63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92219" y="4265878"/>
              <a:ext cx="7079615" cy="2122170"/>
            </a:xfrm>
            <a:custGeom>
              <a:avLst/>
              <a:gdLst/>
              <a:ahLst/>
              <a:cxnLst/>
              <a:rect l="l" t="t" r="r" b="b"/>
              <a:pathLst>
                <a:path w="7079615" h="2122170">
                  <a:moveTo>
                    <a:pt x="7069849" y="2111895"/>
                  </a:moveTo>
                  <a:lnTo>
                    <a:pt x="0" y="2111895"/>
                  </a:lnTo>
                  <a:lnTo>
                    <a:pt x="0" y="2121636"/>
                  </a:lnTo>
                  <a:lnTo>
                    <a:pt x="7069849" y="2121636"/>
                  </a:lnTo>
                  <a:lnTo>
                    <a:pt x="7069849" y="2111895"/>
                  </a:lnTo>
                  <a:close/>
                </a:path>
                <a:path w="7079615" h="2122170">
                  <a:moveTo>
                    <a:pt x="7079361" y="0"/>
                  </a:moveTo>
                  <a:lnTo>
                    <a:pt x="7069925" y="0"/>
                  </a:lnTo>
                  <a:lnTo>
                    <a:pt x="7069925" y="2121636"/>
                  </a:lnTo>
                  <a:lnTo>
                    <a:pt x="7079361" y="2121636"/>
                  </a:lnTo>
                  <a:lnTo>
                    <a:pt x="707936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2219" y="4265878"/>
              <a:ext cx="7070090" cy="2112010"/>
            </a:xfrm>
            <a:custGeom>
              <a:avLst/>
              <a:gdLst/>
              <a:ahLst/>
              <a:cxnLst/>
              <a:rect l="l" t="t" r="r" b="b"/>
              <a:pathLst>
                <a:path w="7070090" h="2112010">
                  <a:moveTo>
                    <a:pt x="7069823" y="0"/>
                  </a:moveTo>
                  <a:lnTo>
                    <a:pt x="9753" y="0"/>
                  </a:lnTo>
                  <a:lnTo>
                    <a:pt x="0" y="38"/>
                  </a:lnTo>
                  <a:lnTo>
                    <a:pt x="0" y="2111908"/>
                  </a:lnTo>
                  <a:lnTo>
                    <a:pt x="9753" y="2111908"/>
                  </a:lnTo>
                  <a:lnTo>
                    <a:pt x="9753" y="9728"/>
                  </a:lnTo>
                  <a:lnTo>
                    <a:pt x="7069823" y="9728"/>
                  </a:lnTo>
                  <a:lnTo>
                    <a:pt x="7069823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01984" y="4272000"/>
            <a:ext cx="7060565" cy="14986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94615" marR="6364605">
              <a:lnSpc>
                <a:spcPts val="1650"/>
              </a:lnSpc>
              <a:spcBef>
                <a:spcPts val="204"/>
              </a:spcBef>
            </a:pPr>
            <a:r>
              <a:rPr sz="1400" dirty="0">
                <a:latin typeface="Arial MT"/>
                <a:cs typeface="Arial MT"/>
              </a:rPr>
              <a:t>int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a=0; </a:t>
            </a:r>
            <a:r>
              <a:rPr sz="1400" dirty="0">
                <a:latin typeface="Arial MT"/>
                <a:cs typeface="Arial MT"/>
              </a:rPr>
              <a:t>int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b=1;</a:t>
            </a:r>
            <a:endParaRPr sz="1400">
              <a:latin typeface="Arial MT"/>
              <a:cs typeface="Arial MT"/>
            </a:endParaRPr>
          </a:p>
          <a:p>
            <a:pPr marL="94615">
              <a:lnSpc>
                <a:spcPts val="1580"/>
              </a:lnSpc>
            </a:pPr>
            <a:r>
              <a:rPr sz="1400" dirty="0">
                <a:latin typeface="Arial MT"/>
                <a:cs typeface="Arial MT"/>
              </a:rPr>
              <a:t>printf("Enter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Input");</a:t>
            </a:r>
            <a:endParaRPr sz="1400">
              <a:latin typeface="Arial MT"/>
              <a:cs typeface="Arial MT"/>
            </a:endParaRPr>
          </a:p>
          <a:p>
            <a:pPr marL="94615">
              <a:lnSpc>
                <a:spcPts val="1664"/>
              </a:lnSpc>
            </a:pPr>
            <a:r>
              <a:rPr sz="1400" spc="-10" dirty="0">
                <a:latin typeface="Arial MT"/>
                <a:cs typeface="Arial MT"/>
              </a:rPr>
              <a:t>Scanf();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>
              <a:latin typeface="Arial MT"/>
              <a:cs typeface="Arial MT"/>
            </a:endParaRPr>
          </a:p>
          <a:p>
            <a:pPr marL="94615" marR="6230620">
              <a:lnSpc>
                <a:spcPts val="1650"/>
              </a:lnSpc>
            </a:pPr>
            <a:r>
              <a:rPr sz="1400" spc="-10" dirty="0">
                <a:latin typeface="Arial MT"/>
                <a:cs typeface="Arial MT"/>
              </a:rPr>
              <a:t>if(a==10) printf();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604338"/>
            <a:ext cx="2470150" cy="15487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ct val="88800"/>
              </a:lnSpc>
              <a:spcBef>
                <a:spcPts val="585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Construction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Tools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15485" y="853185"/>
            <a:ext cx="38849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Construction</a:t>
            </a:r>
            <a:r>
              <a:rPr sz="2400" spc="-11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Tools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48429" y="1334465"/>
            <a:ext cx="30454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spc="-25" dirty="0">
                <a:solidFill>
                  <a:srgbClr val="000000"/>
                </a:solidFill>
              </a:rPr>
              <a:t>1)</a:t>
            </a:r>
            <a:r>
              <a:rPr sz="2400" dirty="0">
                <a:solidFill>
                  <a:srgbClr val="000000"/>
                </a:solidFill>
              </a:rPr>
              <a:t>	Scanner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Generators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3948429" y="1700910"/>
            <a:ext cx="5281930" cy="1951989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10"/>
              </a:spcBef>
              <a:buAutoNum type="arabicParenR" startAt="2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Parser</a:t>
            </a:r>
            <a:r>
              <a:rPr sz="2400" spc="-1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Generators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915"/>
              </a:spcBef>
              <a:buAutoNum type="arabicParenR" startAt="2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Syntax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directed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translation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engines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910"/>
              </a:spcBef>
              <a:buAutoNum type="arabicParenR" startAt="2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Automatic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Generators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915"/>
              </a:spcBef>
              <a:buAutoNum type="arabicParenR" startAt="2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Data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Flow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Engine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604338"/>
            <a:ext cx="2470150" cy="15487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ct val="88800"/>
              </a:lnSpc>
              <a:spcBef>
                <a:spcPts val="585"/>
              </a:spcBef>
            </a:pP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 </a:t>
            </a:r>
            <a:r>
              <a:rPr sz="3600" spc="-65" dirty="0">
                <a:solidFill>
                  <a:srgbClr val="FFFFFF"/>
                </a:solidFill>
                <a:latin typeface="Cambria"/>
                <a:cs typeface="Cambria"/>
              </a:rPr>
              <a:t>Construction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Tools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1221" y="466725"/>
            <a:ext cx="7865109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6675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Cambria"/>
                <a:cs typeface="Cambria"/>
              </a:rPr>
              <a:t>Scanner</a:t>
            </a:r>
            <a:r>
              <a:rPr sz="2400" b="1" spc="-5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generators</a:t>
            </a:r>
            <a:r>
              <a:rPr sz="2400" spc="-10" dirty="0">
                <a:latin typeface="Cambria"/>
                <a:cs typeface="Cambria"/>
              </a:rPr>
              <a:t>: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tool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takes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regular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expressions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as </a:t>
            </a:r>
            <a:r>
              <a:rPr sz="2400" dirty="0">
                <a:latin typeface="Cambria"/>
                <a:cs typeface="Cambria"/>
              </a:rPr>
              <a:t>input.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example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LEX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Unix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Operating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System.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81221" y="1277188"/>
            <a:ext cx="7866380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385"/>
              </a:spcBef>
            </a:pPr>
            <a:r>
              <a:rPr sz="2400" b="1" dirty="0">
                <a:solidFill>
                  <a:srgbClr val="000000"/>
                </a:solidFill>
                <a:latin typeface="Cambria"/>
                <a:cs typeface="Cambria"/>
              </a:rPr>
              <a:t>Parser</a:t>
            </a:r>
            <a:r>
              <a:rPr sz="2400" b="1" spc="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ambria"/>
                <a:cs typeface="Cambria"/>
              </a:rPr>
              <a:t>generators</a:t>
            </a:r>
            <a:r>
              <a:rPr sz="2400" dirty="0">
                <a:solidFill>
                  <a:srgbClr val="000000"/>
                </a:solidFill>
              </a:rPr>
              <a:t>: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parser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generator</a:t>
            </a:r>
            <a:r>
              <a:rPr sz="2400" spc="2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takes</a:t>
            </a:r>
            <a:r>
              <a:rPr sz="2400" spc="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grammar</a:t>
            </a:r>
            <a:r>
              <a:rPr sz="2400" spc="15" dirty="0">
                <a:solidFill>
                  <a:srgbClr val="000000"/>
                </a:solidFill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as </a:t>
            </a:r>
            <a:r>
              <a:rPr sz="2400" dirty="0">
                <a:solidFill>
                  <a:srgbClr val="000000"/>
                </a:solidFill>
              </a:rPr>
              <a:t>input</a:t>
            </a:r>
            <a:r>
              <a:rPr sz="2400" spc="38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and</a:t>
            </a:r>
            <a:r>
              <a:rPr sz="2400" spc="37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automatically</a:t>
            </a:r>
            <a:r>
              <a:rPr sz="2400" spc="37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generates</a:t>
            </a:r>
            <a:r>
              <a:rPr sz="2400" spc="38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source</a:t>
            </a:r>
            <a:r>
              <a:rPr sz="2400" spc="39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code</a:t>
            </a:r>
            <a:r>
              <a:rPr sz="2400" spc="39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which</a:t>
            </a:r>
            <a:r>
              <a:rPr sz="2400" spc="375" dirty="0">
                <a:solidFill>
                  <a:srgbClr val="000000"/>
                </a:solidFill>
              </a:rPr>
              <a:t> </a:t>
            </a:r>
            <a:r>
              <a:rPr sz="2400" spc="-25" dirty="0">
                <a:solidFill>
                  <a:srgbClr val="000000"/>
                </a:solidFill>
              </a:rPr>
              <a:t>can </a:t>
            </a:r>
            <a:r>
              <a:rPr sz="2400" dirty="0">
                <a:solidFill>
                  <a:srgbClr val="000000"/>
                </a:solidFill>
              </a:rPr>
              <a:t>parse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streams</a:t>
            </a:r>
            <a:r>
              <a:rPr sz="2400" spc="-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of</a:t>
            </a:r>
            <a:r>
              <a:rPr sz="2400" spc="-5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characters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with</a:t>
            </a:r>
            <a:r>
              <a:rPr sz="2400" spc="-6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the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help</a:t>
            </a:r>
            <a:r>
              <a:rPr sz="2400" spc="-3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of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grammar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1221" y="2417521"/>
            <a:ext cx="7865745" cy="13798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66675" algn="just">
              <a:lnSpc>
                <a:spcPct val="90000"/>
              </a:lnSpc>
              <a:spcBef>
                <a:spcPts val="390"/>
              </a:spcBef>
            </a:pPr>
            <a:r>
              <a:rPr sz="2400" b="1" spc="-20" dirty="0">
                <a:latin typeface="Cambria"/>
                <a:cs typeface="Cambria"/>
              </a:rPr>
              <a:t>Syntax-</a:t>
            </a:r>
            <a:r>
              <a:rPr sz="2400" b="1" dirty="0">
                <a:latin typeface="Cambria"/>
                <a:cs typeface="Cambria"/>
              </a:rPr>
              <a:t>directed</a:t>
            </a:r>
            <a:r>
              <a:rPr sz="2400" b="1" spc="335" dirty="0">
                <a:latin typeface="Cambria"/>
                <a:cs typeface="Cambria"/>
              </a:rPr>
              <a:t>  </a:t>
            </a:r>
            <a:r>
              <a:rPr sz="2400" b="1" dirty="0">
                <a:latin typeface="Cambria"/>
                <a:cs typeface="Cambria"/>
              </a:rPr>
              <a:t>translation</a:t>
            </a:r>
            <a:r>
              <a:rPr sz="2400" b="1" spc="340" dirty="0">
                <a:latin typeface="Cambria"/>
                <a:cs typeface="Cambria"/>
              </a:rPr>
              <a:t>  </a:t>
            </a:r>
            <a:r>
              <a:rPr sz="2400" b="1" dirty="0">
                <a:latin typeface="Cambria"/>
                <a:cs typeface="Cambria"/>
              </a:rPr>
              <a:t>engines:</a:t>
            </a:r>
            <a:r>
              <a:rPr sz="2400" b="1" spc="3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These</a:t>
            </a:r>
            <a:r>
              <a:rPr sz="2400" spc="345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software </a:t>
            </a:r>
            <a:r>
              <a:rPr sz="2400" dirty="0">
                <a:latin typeface="Cambria"/>
                <a:cs typeface="Cambria"/>
              </a:rPr>
              <a:t>tools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offer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intermediate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using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parse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tree.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It </a:t>
            </a:r>
            <a:r>
              <a:rPr sz="2400" dirty="0">
                <a:latin typeface="Cambria"/>
                <a:cs typeface="Cambria"/>
              </a:rPr>
              <a:t>has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goal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associating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more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translations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each </a:t>
            </a:r>
            <a:r>
              <a:rPr sz="2400" dirty="0">
                <a:latin typeface="Cambria"/>
                <a:cs typeface="Cambria"/>
              </a:rPr>
              <a:t>node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parse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tree.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1221" y="3886911"/>
            <a:ext cx="786701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Automatic</a:t>
            </a:r>
            <a:r>
              <a:rPr sz="2400" b="1" spc="12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code</a:t>
            </a:r>
            <a:r>
              <a:rPr sz="2400" b="1" spc="114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generators:</a:t>
            </a:r>
            <a:r>
              <a:rPr sz="2400" b="1" spc="1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Takes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intermediate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and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735"/>
              </a:lnSpc>
            </a:pPr>
            <a:r>
              <a:rPr sz="2400" spc="-10" dirty="0">
                <a:latin typeface="Cambria"/>
                <a:cs typeface="Cambria"/>
              </a:rPr>
              <a:t>converts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them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Machine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Language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1221" y="4698238"/>
            <a:ext cx="7868284" cy="203771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66675" algn="just">
              <a:lnSpc>
                <a:spcPct val="90000"/>
              </a:lnSpc>
              <a:spcBef>
                <a:spcPts val="385"/>
              </a:spcBef>
            </a:pPr>
            <a:r>
              <a:rPr sz="2400" b="1" spc="-25" dirty="0">
                <a:latin typeface="Cambria"/>
                <a:cs typeface="Cambria"/>
              </a:rPr>
              <a:t>Data-</a:t>
            </a:r>
            <a:r>
              <a:rPr sz="2400" b="1" dirty="0">
                <a:latin typeface="Cambria"/>
                <a:cs typeface="Cambria"/>
              </a:rPr>
              <a:t>flow</a:t>
            </a:r>
            <a:r>
              <a:rPr sz="2400" b="1" spc="590" dirty="0">
                <a:latin typeface="Cambria"/>
                <a:cs typeface="Cambria"/>
              </a:rPr>
              <a:t>  </a:t>
            </a:r>
            <a:r>
              <a:rPr sz="2400" b="1" dirty="0">
                <a:latin typeface="Cambria"/>
                <a:cs typeface="Cambria"/>
              </a:rPr>
              <a:t>engines:</a:t>
            </a:r>
            <a:r>
              <a:rPr sz="2400" b="1" spc="225" dirty="0">
                <a:latin typeface="Cambria"/>
                <a:cs typeface="Cambria"/>
              </a:rPr>
              <a:t>   </a:t>
            </a:r>
            <a:r>
              <a:rPr sz="2400" dirty="0">
                <a:latin typeface="Cambria"/>
                <a:cs typeface="Cambria"/>
              </a:rPr>
              <a:t>This</a:t>
            </a:r>
            <a:r>
              <a:rPr sz="2400" spc="225" dirty="0">
                <a:latin typeface="Cambria"/>
                <a:cs typeface="Cambria"/>
              </a:rPr>
              <a:t>   </a:t>
            </a:r>
            <a:r>
              <a:rPr sz="2400" dirty="0">
                <a:latin typeface="Cambria"/>
                <a:cs typeface="Cambria"/>
              </a:rPr>
              <a:t>tool</a:t>
            </a:r>
            <a:r>
              <a:rPr sz="2400" spc="59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225" dirty="0">
                <a:latin typeface="Cambria"/>
                <a:cs typeface="Cambria"/>
              </a:rPr>
              <a:t>   </a:t>
            </a:r>
            <a:r>
              <a:rPr sz="2400" dirty="0">
                <a:latin typeface="Cambria"/>
                <a:cs typeface="Cambria"/>
              </a:rPr>
              <a:t>helpful</a:t>
            </a:r>
            <a:r>
              <a:rPr sz="2400" spc="225" dirty="0">
                <a:latin typeface="Cambria"/>
                <a:cs typeface="Cambria"/>
              </a:rPr>
              <a:t>  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595" dirty="0">
                <a:latin typeface="Cambria"/>
                <a:cs typeface="Cambria"/>
              </a:rPr>
              <a:t>  </a:t>
            </a:r>
            <a:r>
              <a:rPr sz="2400" spc="-20" dirty="0">
                <a:latin typeface="Cambria"/>
                <a:cs typeface="Cambria"/>
              </a:rPr>
              <a:t>code </a:t>
            </a:r>
            <a:r>
              <a:rPr sz="2400" dirty="0">
                <a:latin typeface="Cambria"/>
                <a:cs typeface="Cambria"/>
              </a:rPr>
              <a:t>optimization.</a:t>
            </a:r>
            <a:r>
              <a:rPr sz="2400" spc="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Here,</a:t>
            </a:r>
            <a:r>
              <a:rPr sz="2400" spc="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information</a:t>
            </a:r>
            <a:r>
              <a:rPr sz="2400" spc="9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supplied</a:t>
            </a:r>
            <a:r>
              <a:rPr sz="2400" spc="9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9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user</a:t>
            </a:r>
            <a:r>
              <a:rPr sz="2400" spc="90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and </a:t>
            </a:r>
            <a:r>
              <a:rPr sz="2400" dirty="0">
                <a:latin typeface="Cambria"/>
                <a:cs typeface="Cambria"/>
              </a:rPr>
              <a:t>intermediate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compared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analyze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any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relation.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 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known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data-</a:t>
            </a:r>
            <a:r>
              <a:rPr sz="2400" dirty="0">
                <a:latin typeface="Cambria"/>
                <a:cs typeface="Cambria"/>
              </a:rPr>
              <a:t>flow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analysis.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helps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you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find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out </a:t>
            </a:r>
            <a:r>
              <a:rPr sz="2400" dirty="0">
                <a:latin typeface="Cambria"/>
                <a:cs typeface="Cambria"/>
              </a:rPr>
              <a:t>how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values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 transmitted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part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program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 </a:t>
            </a:r>
            <a:r>
              <a:rPr sz="2400" dirty="0">
                <a:latin typeface="Cambria"/>
                <a:cs typeface="Cambria"/>
              </a:rPr>
              <a:t>another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part.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352" y="2797302"/>
            <a:ext cx="214820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60" dirty="0">
                <a:solidFill>
                  <a:srgbClr val="FFFFFF"/>
                </a:solidFill>
                <a:latin typeface="Cambria"/>
                <a:cs typeface="Cambria"/>
              </a:rPr>
              <a:t>Qualities</a:t>
            </a:r>
            <a:r>
              <a:rPr sz="3600" spc="-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Compiler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4938" y="636270"/>
            <a:ext cx="4498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itself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bug</a:t>
            </a:r>
            <a:r>
              <a:rPr sz="2400" b="1" spc="-30" dirty="0">
                <a:latin typeface="Cambria"/>
                <a:cs typeface="Cambria"/>
              </a:rPr>
              <a:t> </a:t>
            </a:r>
            <a:r>
              <a:rPr sz="2400" b="1" spc="-25" dirty="0">
                <a:latin typeface="Cambria"/>
                <a:cs typeface="Cambria"/>
              </a:rPr>
              <a:t>free</a:t>
            </a:r>
            <a:r>
              <a:rPr sz="2400" spc="-2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94938" y="1117549"/>
            <a:ext cx="5469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50" dirty="0">
                <a:solidFill>
                  <a:srgbClr val="000000"/>
                </a:solidFill>
                <a:latin typeface="Arial MT"/>
                <a:cs typeface="Arial MT"/>
              </a:rPr>
              <a:t>🞄</a:t>
            </a:r>
            <a:r>
              <a:rPr sz="2400" spc="-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It</a:t>
            </a:r>
            <a:r>
              <a:rPr sz="2400" spc="-12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must</a:t>
            </a:r>
            <a:r>
              <a:rPr sz="2400" spc="-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generate</a:t>
            </a:r>
            <a:r>
              <a:rPr sz="2400" spc="-65" dirty="0">
                <a:solidFill>
                  <a:srgbClr val="000000"/>
                </a:solidFill>
              </a:rPr>
              <a:t> </a:t>
            </a:r>
            <a:r>
              <a:rPr sz="2400" b="1" dirty="0">
                <a:solidFill>
                  <a:srgbClr val="000000"/>
                </a:solidFill>
                <a:latin typeface="Cambria"/>
                <a:cs typeface="Cambria"/>
              </a:rPr>
              <a:t>correct</a:t>
            </a:r>
            <a:r>
              <a:rPr sz="2400" b="1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ambria"/>
                <a:cs typeface="Cambria"/>
              </a:rPr>
              <a:t>machine</a:t>
            </a:r>
            <a:r>
              <a:rPr sz="2400" b="1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Cambria"/>
                <a:cs typeface="Cambria"/>
              </a:rPr>
              <a:t>code</a:t>
            </a:r>
            <a:r>
              <a:rPr sz="2400" spc="-10" dirty="0">
                <a:solidFill>
                  <a:srgbClr val="000000"/>
                </a:solidFill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4938" y="1599691"/>
            <a:ext cx="7746365" cy="31292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080" indent="-182880">
              <a:lnSpc>
                <a:spcPts val="2590"/>
              </a:lnSpc>
              <a:spcBef>
                <a:spcPts val="425"/>
              </a:spcBef>
              <a:tabLst>
                <a:tab pos="1762125" algn="l"/>
                <a:tab pos="3094355" algn="l"/>
                <a:tab pos="3932554" algn="l"/>
                <a:tab pos="4862195" algn="l"/>
                <a:tab pos="5592445" algn="l"/>
                <a:tab pos="6331585" algn="l"/>
              </a:tabLst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mbria"/>
                <a:cs typeface="Cambria"/>
              </a:rPr>
              <a:t>Generated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machine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code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b="1" spc="-20" dirty="0">
                <a:latin typeface="Cambria"/>
                <a:cs typeface="Cambria"/>
              </a:rPr>
              <a:t>must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25" dirty="0">
                <a:latin typeface="Cambria"/>
                <a:cs typeface="Cambria"/>
              </a:rPr>
              <a:t>run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b="1" spc="-20" dirty="0">
                <a:latin typeface="Cambria"/>
                <a:cs typeface="Cambria"/>
              </a:rPr>
              <a:t>fast</a:t>
            </a:r>
            <a:r>
              <a:rPr sz="2400" b="1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(Execution speed).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b="1" dirty="0">
                <a:latin typeface="Cambria"/>
                <a:cs typeface="Cambria"/>
              </a:rPr>
              <a:t>Compilation</a:t>
            </a:r>
            <a:r>
              <a:rPr sz="2400" b="1" spc="-8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time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less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Compilation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portable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print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good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diagnostics</a:t>
            </a:r>
            <a:r>
              <a:rPr sz="2400" b="1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Error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message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spc="-1250" dirty="0">
                <a:latin typeface="Arial MT"/>
                <a:cs typeface="Arial MT"/>
              </a:rPr>
              <a:t>🞄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"/>
                <a:cs typeface="Cambria"/>
              </a:rPr>
              <a:t>Generated</a:t>
            </a:r>
            <a:r>
              <a:rPr sz="2400" spc="-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work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well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existing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debugger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  <a:tabLst>
                <a:tab pos="262255" algn="l"/>
              </a:tabLst>
            </a:pPr>
            <a:r>
              <a:rPr sz="2400" spc="-1300" dirty="0">
                <a:latin typeface="Arial MT"/>
                <a:cs typeface="Arial MT"/>
              </a:rPr>
              <a:t>🞄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have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consistent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Predictable</a:t>
            </a:r>
            <a:r>
              <a:rPr sz="2400" b="1" spc="-4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optimization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3098672"/>
            <a:ext cx="2657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mbria"/>
                <a:cs typeface="Cambria"/>
              </a:rPr>
              <a:t>Questions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48429" y="816609"/>
            <a:ext cx="7158355" cy="9766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69900" marR="5080" indent="-457200" algn="just">
              <a:lnSpc>
                <a:spcPts val="2300"/>
              </a:lnSpc>
              <a:spcBef>
                <a:spcPts val="660"/>
              </a:spcBef>
            </a:pPr>
            <a:r>
              <a:rPr sz="2400" dirty="0">
                <a:solidFill>
                  <a:srgbClr val="000000"/>
                </a:solidFill>
              </a:rPr>
              <a:t>1)</a:t>
            </a:r>
            <a:r>
              <a:rPr sz="2400" spc="80" dirty="0">
                <a:solidFill>
                  <a:srgbClr val="000000"/>
                </a:solidFill>
              </a:rPr>
              <a:t>  </a:t>
            </a:r>
            <a:r>
              <a:rPr sz="2400" spc="-10" dirty="0">
                <a:solidFill>
                  <a:srgbClr val="000000"/>
                </a:solidFill>
              </a:rPr>
              <a:t>Develop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Analysis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–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Synthesis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model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of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Compiler</a:t>
            </a:r>
            <a:r>
              <a:rPr sz="2400" spc="-25" dirty="0">
                <a:solidFill>
                  <a:srgbClr val="000000"/>
                </a:solidFill>
              </a:rPr>
              <a:t> for </a:t>
            </a:r>
            <a:r>
              <a:rPr sz="2400" dirty="0">
                <a:solidFill>
                  <a:srgbClr val="000000"/>
                </a:solidFill>
              </a:rPr>
              <a:t>a</a:t>
            </a:r>
            <a:r>
              <a:rPr sz="2400" spc="1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=</a:t>
            </a:r>
            <a:r>
              <a:rPr sz="2400" spc="15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b</a:t>
            </a:r>
            <a:r>
              <a:rPr sz="2400" spc="13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+</a:t>
            </a:r>
            <a:r>
              <a:rPr sz="2400" spc="1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c</a:t>
            </a:r>
            <a:r>
              <a:rPr sz="2400" spc="13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*</a:t>
            </a:r>
            <a:r>
              <a:rPr sz="2400" spc="15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20.</a:t>
            </a:r>
            <a:r>
              <a:rPr sz="2400" spc="13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Write</a:t>
            </a:r>
            <a:r>
              <a:rPr sz="2400" spc="15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down</a:t>
            </a:r>
            <a:r>
              <a:rPr sz="2400" spc="1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explanation</a:t>
            </a:r>
            <a:r>
              <a:rPr sz="2400" spc="1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and</a:t>
            </a:r>
            <a:r>
              <a:rPr sz="2400" spc="13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output </a:t>
            </a:r>
            <a:r>
              <a:rPr sz="2400" dirty="0">
                <a:solidFill>
                  <a:srgbClr val="000000"/>
                </a:solidFill>
              </a:rPr>
              <a:t>for</a:t>
            </a:r>
            <a:r>
              <a:rPr sz="2400" spc="-6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each</a:t>
            </a:r>
            <a:r>
              <a:rPr sz="2400" spc="-3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phase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of</a:t>
            </a:r>
            <a:r>
              <a:rPr sz="2400" spc="-4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compiler.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3948429" y="1767967"/>
            <a:ext cx="7159625" cy="38671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467995" indent="-455295" algn="just">
              <a:lnSpc>
                <a:spcPct val="100000"/>
              </a:lnSpc>
              <a:spcBef>
                <a:spcPts val="720"/>
              </a:spcBef>
              <a:buAutoNum type="arabicParenR" startAt="2"/>
              <a:tabLst>
                <a:tab pos="467995" algn="l"/>
              </a:tabLst>
            </a:pPr>
            <a:r>
              <a:rPr sz="2400" dirty="0">
                <a:latin typeface="Cambria"/>
                <a:cs typeface="Cambria"/>
              </a:rPr>
              <a:t>Difference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between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Interpreter.</a:t>
            </a:r>
            <a:endParaRPr sz="2400">
              <a:latin typeface="Cambria"/>
              <a:cs typeface="Cambria"/>
            </a:endParaRPr>
          </a:p>
          <a:p>
            <a:pPr marL="467995" indent="-455295" algn="just">
              <a:lnSpc>
                <a:spcPct val="100000"/>
              </a:lnSpc>
              <a:spcBef>
                <a:spcPts val="625"/>
              </a:spcBef>
              <a:buAutoNum type="arabicParenR" startAt="2"/>
              <a:tabLst>
                <a:tab pos="467995" algn="l"/>
              </a:tabLst>
            </a:pPr>
            <a:r>
              <a:rPr sz="2400" dirty="0">
                <a:latin typeface="Cambria"/>
                <a:cs typeface="Cambria"/>
              </a:rPr>
              <a:t>Explain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Cousins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compiler.</a:t>
            </a:r>
            <a:endParaRPr sz="2400">
              <a:latin typeface="Cambria"/>
              <a:cs typeface="Cambria"/>
            </a:endParaRPr>
          </a:p>
          <a:p>
            <a:pPr marL="467995" marR="5080" indent="-455295" algn="just">
              <a:lnSpc>
                <a:spcPts val="2310"/>
              </a:lnSpc>
              <a:spcBef>
                <a:spcPts val="1175"/>
              </a:spcBef>
              <a:buAutoNum type="arabicParenR" startAt="2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Give</a:t>
            </a:r>
            <a:r>
              <a:rPr sz="2400" spc="5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5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5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5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Front</a:t>
            </a:r>
            <a:r>
              <a:rPr sz="2400" spc="5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End</a:t>
            </a:r>
            <a:r>
              <a:rPr sz="2400" spc="5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5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Back</a:t>
            </a:r>
            <a:r>
              <a:rPr sz="2400" spc="5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End</a:t>
            </a:r>
            <a:r>
              <a:rPr sz="2400" spc="5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with 	</a:t>
            </a:r>
            <a:r>
              <a:rPr sz="2400" dirty="0">
                <a:latin typeface="Cambria"/>
                <a:cs typeface="Cambria"/>
              </a:rPr>
              <a:t>explanation,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3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take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example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show</a:t>
            </a:r>
            <a:r>
              <a:rPr sz="2400" spc="40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the 	</a:t>
            </a:r>
            <a:r>
              <a:rPr sz="2400" dirty="0">
                <a:latin typeface="Cambria"/>
                <a:cs typeface="Cambria"/>
              </a:rPr>
              <a:t>output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every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phase.</a:t>
            </a:r>
            <a:endParaRPr sz="2400">
              <a:latin typeface="Cambria"/>
              <a:cs typeface="Cambria"/>
            </a:endParaRPr>
          </a:p>
          <a:p>
            <a:pPr marL="469900" marR="5715" indent="-457200">
              <a:lnSpc>
                <a:spcPts val="2300"/>
              </a:lnSpc>
              <a:spcBef>
                <a:spcPts val="1195"/>
              </a:spcBef>
              <a:buAutoNum type="arabicParenR" startAt="2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List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out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different types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compiler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 explain </a:t>
            </a:r>
            <a:r>
              <a:rPr sz="2400" spc="-25" dirty="0">
                <a:latin typeface="Cambria"/>
                <a:cs typeface="Cambria"/>
              </a:rPr>
              <a:t>any </a:t>
            </a:r>
            <a:r>
              <a:rPr sz="2400" dirty="0">
                <a:latin typeface="Cambria"/>
                <a:cs typeface="Cambria"/>
              </a:rPr>
              <a:t>two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them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detail.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AutoNum type="arabicParenR" startAt="2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Explain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Language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processor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detail.</a:t>
            </a:r>
            <a:endParaRPr sz="2400">
              <a:latin typeface="Cambria"/>
              <a:cs typeface="Cambria"/>
            </a:endParaRPr>
          </a:p>
          <a:p>
            <a:pPr marL="469900" marR="6350" indent="-457200">
              <a:lnSpc>
                <a:spcPts val="2300"/>
              </a:lnSpc>
              <a:spcBef>
                <a:spcPts val="1185"/>
              </a:spcBef>
              <a:buAutoNum type="arabicParenR" startAt="2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Define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term: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Compiler,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Interpreter,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Assembler, Translator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62000"/>
            <a:ext cx="9141460" cy="5334000"/>
          </a:xfrm>
          <a:custGeom>
            <a:avLst/>
            <a:gdLst/>
            <a:ahLst/>
            <a:cxnLst/>
            <a:rect l="l" t="t" r="r" b="b"/>
            <a:pathLst>
              <a:path w="9141460" h="5334000">
                <a:moveTo>
                  <a:pt x="9140952" y="0"/>
                </a:moveTo>
                <a:lnTo>
                  <a:pt x="0" y="0"/>
                </a:lnTo>
                <a:lnTo>
                  <a:pt x="0" y="5334000"/>
                </a:lnTo>
                <a:lnTo>
                  <a:pt x="9140952" y="5334000"/>
                </a:lnTo>
                <a:lnTo>
                  <a:pt x="9140952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09292" y="2151380"/>
            <a:ext cx="5900420" cy="2298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900" spc="-100" dirty="0"/>
              <a:t>Thanks</a:t>
            </a:r>
            <a:endParaRPr sz="14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3380</Words>
  <Application>Microsoft Office PowerPoint</Application>
  <PresentationFormat>Widescreen</PresentationFormat>
  <Paragraphs>547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Arial MT</vt:lpstr>
      <vt:lpstr>Cambria</vt:lpstr>
      <vt:lpstr>Candara</vt:lpstr>
      <vt:lpstr>Corbel</vt:lpstr>
      <vt:lpstr>Times New Roman</vt:lpstr>
      <vt:lpstr>Wingdings</vt:lpstr>
      <vt:lpstr>Office Theme</vt:lpstr>
      <vt:lpstr>PCD : PRINCIPALS   OF COMPILER DESIGN Introduction to Compilers &amp; Phases of Compiler </vt:lpstr>
      <vt:lpstr>Outline :</vt:lpstr>
      <vt:lpstr>What is Compiler?</vt:lpstr>
      <vt:lpstr>Translator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Compiler Vs Interpreter</vt:lpstr>
      <vt:lpstr>Compiler Vs Assembler</vt:lpstr>
      <vt:lpstr>Language Processing System / Translation Processor</vt:lpstr>
      <vt:lpstr>Language Processing System / Translation Processor</vt:lpstr>
      <vt:lpstr>Language Processing System / Translation Processor</vt:lpstr>
      <vt:lpstr>Language Processing System / Translation Processor</vt:lpstr>
      <vt:lpstr>PowerPoint Presentation</vt:lpstr>
      <vt:lpstr>PowerPoint Presentation</vt:lpstr>
      <vt:lpstr>PowerPoint Presentation</vt:lpstr>
      <vt:lpstr>Lexical Analyzer</vt:lpstr>
      <vt:lpstr>PowerPoint Presentation</vt:lpstr>
      <vt:lpstr>PowerPoint Presentation</vt:lpstr>
      <vt:lpstr>Phases of Compiler</vt:lpstr>
      <vt:lpstr>PowerPoint Presentation</vt:lpstr>
      <vt:lpstr>PowerPoint Presentation</vt:lpstr>
      <vt:lpstr>Phases of Compiler</vt:lpstr>
      <vt:lpstr>PowerPoint Presentation</vt:lpstr>
      <vt:lpstr>Phases of Compiler / Analysis –</vt:lpstr>
      <vt:lpstr>Phases of Compiler</vt:lpstr>
      <vt:lpstr>PowerPoint Presentation</vt:lpstr>
      <vt:lpstr>PowerPoint Presentation</vt:lpstr>
      <vt:lpstr>Phases of Compiler</vt:lpstr>
      <vt:lpstr>PowerPoint Presentation</vt:lpstr>
      <vt:lpstr>PowerPoint Presentation</vt:lpstr>
      <vt:lpstr>Phases of Compiler</vt:lpstr>
      <vt:lpstr>PowerPoint Presentation</vt:lpstr>
      <vt:lpstr>Lexical Analyzer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:</vt:lpstr>
      <vt:lpstr>Front End</vt:lpstr>
      <vt:lpstr>🞄 Front end consist of those phase, that depends</vt:lpstr>
      <vt:lpstr>🞄 Back includes those portion of compiler that depend on the target machine and do not depend on source language.</vt:lpstr>
      <vt:lpstr>🞄 One Complete scan of Source program is called Pass.</vt:lpstr>
      <vt:lpstr>Pass Vs Phase</vt:lpstr>
      <vt:lpstr>Types of Compiler</vt:lpstr>
      <vt:lpstr>🞄 The compiler used to Compile a source code for</vt:lpstr>
      <vt:lpstr>🞄 The compiler that takes high-level language code as input and outputs source code of another high- level language only.</vt:lpstr>
      <vt:lpstr>🞄 The compiler which converts a code into machine</vt:lpstr>
      <vt:lpstr>🞄 The compiler which compiles only the changed lines</vt:lpstr>
      <vt:lpstr>1) Scanner Generators</vt:lpstr>
      <vt:lpstr>Parser generators: A parser generator takes a grammar as input and automatically generates source code which can parse streams of characters with the help of a grammar</vt:lpstr>
      <vt:lpstr>🞄 It must generate correct machine code.</vt:lpstr>
      <vt:lpstr>1)  Develop Analysis – Synthesis model of Compiler for a = b + c * 20. Write down explanation and output for each phase of compiler.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Dhara</dc:creator>
  <cp:lastModifiedBy>2515012_ Vidyasree</cp:lastModifiedBy>
  <cp:revision>9</cp:revision>
  <dcterms:created xsi:type="dcterms:W3CDTF">2026-02-16T06:16:45Z</dcterms:created>
  <dcterms:modified xsi:type="dcterms:W3CDTF">2026-02-16T18:21:13Z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2026-02-16T00:00:00Z</vt:filetime>
  </property>
  <property fmtid="{D5CDD505-2E9C-101B-9397-08002B2CF9AE}" pid="5" name="Producer">
    <vt:lpwstr>Microsoft® PowerPoint® 2016</vt:lpwstr>
  </property>
</Properties>
</file>